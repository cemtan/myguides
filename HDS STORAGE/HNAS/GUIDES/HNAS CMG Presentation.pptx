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 id="2147483678" r:id="rId4"/>
  </p:sldMasterIdLst>
  <p:notesMasterIdLst>
    <p:notesMasterId r:id="rId6"/>
  </p:notesMasterIdLst>
  <p:handoutMasterIdLst>
    <p:handoutMasterId r:id="rId50"/>
  </p:handoutMasterIdLst>
  <p:sldIdLst>
    <p:sldId id="431" r:id="rId5"/>
    <p:sldId id="356" r:id="rId7"/>
    <p:sldId id="467" r:id="rId8"/>
    <p:sldId id="358" r:id="rId9"/>
    <p:sldId id="496" r:id="rId10"/>
    <p:sldId id="359" r:id="rId11"/>
    <p:sldId id="360" r:id="rId12"/>
    <p:sldId id="362" r:id="rId13"/>
    <p:sldId id="363" r:id="rId14"/>
    <p:sldId id="546" r:id="rId15"/>
    <p:sldId id="365" r:id="rId16"/>
    <p:sldId id="541" r:id="rId17"/>
    <p:sldId id="374" r:id="rId18"/>
    <p:sldId id="491" r:id="rId19"/>
    <p:sldId id="517" r:id="rId20"/>
    <p:sldId id="547" r:id="rId21"/>
    <p:sldId id="376" r:id="rId22"/>
    <p:sldId id="377" r:id="rId23"/>
    <p:sldId id="378" r:id="rId24"/>
    <p:sldId id="379" r:id="rId25"/>
    <p:sldId id="434" r:id="rId26"/>
    <p:sldId id="381" r:id="rId27"/>
    <p:sldId id="382" r:id="rId28"/>
    <p:sldId id="383" r:id="rId29"/>
    <p:sldId id="384" r:id="rId30"/>
    <p:sldId id="527" r:id="rId31"/>
    <p:sldId id="548" r:id="rId32"/>
    <p:sldId id="385" r:id="rId33"/>
    <p:sldId id="386" r:id="rId34"/>
    <p:sldId id="549" r:id="rId35"/>
    <p:sldId id="387" r:id="rId36"/>
    <p:sldId id="388" r:id="rId37"/>
    <p:sldId id="389" r:id="rId38"/>
    <p:sldId id="390" r:id="rId39"/>
    <p:sldId id="500" r:id="rId40"/>
    <p:sldId id="391" r:id="rId41"/>
    <p:sldId id="454" r:id="rId42"/>
    <p:sldId id="393" r:id="rId43"/>
    <p:sldId id="394" r:id="rId44"/>
    <p:sldId id="395" r:id="rId45"/>
    <p:sldId id="550" r:id="rId46"/>
    <p:sldId id="396" r:id="rId47"/>
    <p:sldId id="435" r:id="rId48"/>
    <p:sldId id="397" r:id="rId49"/>
  </p:sldIdLst>
  <p:sldSz cx="9144000" cy="6858000" type="screen4x3"/>
  <p:notesSz cx="6997700" cy="9271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333333"/>
        </a:solidFill>
        <a:latin typeface="Arial" panose="020B0604020202020204" pitchFamily="34" charset="0"/>
        <a:ea typeface="MS PGothic"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006699"/>
    <a:srgbClr val="DDDDDD"/>
    <a:srgbClr val="CCCCCC"/>
    <a:srgbClr val="999999"/>
    <a:srgbClr val="666666"/>
    <a:srgbClr val="FFCC33"/>
    <a:srgbClr val="B7F3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90" d="100"/>
          <a:sy n="90" d="100"/>
        </p:scale>
        <p:origin x="-2056" y="-344"/>
      </p:cViewPr>
      <p:guideLst>
        <p:guide orient="horz" pos="2160"/>
        <p:guide pos="2880"/>
      </p:guideLst>
    </p:cSldViewPr>
  </p:slideViewPr>
  <p:notesTextViewPr>
    <p:cViewPr>
      <p:scale>
        <a:sx n="100" d="100"/>
        <a:sy n="100" d="100"/>
      </p:scale>
      <p:origin x="0" y="0"/>
    </p:cViewPr>
  </p:notesTextViewPr>
  <p:sorterViewPr showFormatting="0">
    <p:cViewPr>
      <p:scale>
        <a:sx n="100" d="100"/>
        <a:sy n="100" d="100"/>
      </p:scale>
      <p:origin x="0" y="457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2075" tIns="46038" rIns="92075" bIns="46038" numCol="1" anchor="t" anchorCtr="0" compatLnSpc="1"/>
          <a:lstStyle>
            <a:lvl1pPr>
              <a:defRPr kumimoji="0" sz="1200" smtClean="0">
                <a:solidFill>
                  <a:schemeClr val="tx1"/>
                </a:solidFill>
                <a:ea typeface="MS PGothic"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S PGothic" charset="0"/>
              <a:cs typeface="MS PGothic" charset="0"/>
            </a:endParaRPr>
          </a:p>
        </p:txBody>
      </p:sp>
      <p:sp>
        <p:nvSpPr>
          <p:cNvPr id="4099" name="Rectangle 3"/>
          <p:cNvSpPr>
            <a:spLocks noGrp="1" noChangeArrowheads="1"/>
          </p:cNvSpPr>
          <p:nvPr>
            <p:ph type="dt" sz="quarter" idx="1"/>
          </p:nvPr>
        </p:nvSpPr>
        <p:spPr bwMode="auto">
          <a:xfrm>
            <a:off x="3963988" y="0"/>
            <a:ext cx="3032125" cy="463550"/>
          </a:xfrm>
          <a:prstGeom prst="rect">
            <a:avLst/>
          </a:prstGeom>
          <a:noFill/>
          <a:ln w="9525">
            <a:noFill/>
            <a:miter lim="800000"/>
          </a:ln>
          <a:effectLst/>
        </p:spPr>
        <p:txBody>
          <a:bodyPr vert="horz" wrap="square" lIns="92075" tIns="46038" rIns="92075" bIns="46038" numCol="1" anchor="t" anchorCtr="0" compatLnSpc="1"/>
          <a:p>
            <a:pPr lvl="0" algn="r" eaLnBrk="1" hangingPunct="1"/>
            <a:fld id="{BB962C8B-B14F-4D97-AF65-F5344CB8AC3E}" type="datetime1">
              <a:rPr lang="en-US" sz="1200" dirty="0">
                <a:solidFill>
                  <a:schemeClr val="tx1"/>
                </a:solidFill>
              </a:rPr>
            </a:fld>
            <a:endParaRPr lang="en-US" sz="1200" dirty="0">
              <a:solidFill>
                <a:schemeClr val="tx1"/>
              </a:solidFill>
            </a:endParaRPr>
          </a:p>
        </p:txBody>
      </p:sp>
      <p:sp>
        <p:nvSpPr>
          <p:cNvPr id="4100" name="Rectangle 4"/>
          <p:cNvSpPr>
            <a:spLocks noGrp="1" noChangeArrowheads="1"/>
          </p:cNvSpPr>
          <p:nvPr>
            <p:ph type="ftr" sz="quarter" idx="2"/>
          </p:nvPr>
        </p:nvSpPr>
        <p:spPr bwMode="auto">
          <a:xfrm>
            <a:off x="0" y="8805863"/>
            <a:ext cx="3032125" cy="463550"/>
          </a:xfrm>
          <a:prstGeom prst="rect">
            <a:avLst/>
          </a:prstGeom>
          <a:noFill/>
          <a:ln w="9525">
            <a:noFill/>
            <a:miter lim="800000"/>
          </a:ln>
          <a:effectLst/>
        </p:spPr>
        <p:txBody>
          <a:bodyPr vert="horz" wrap="square" lIns="92075" tIns="46038" rIns="92075" bIns="46038" numCol="1" anchor="b" anchorCtr="0" compatLnSpc="1"/>
          <a:lstStyle>
            <a:lvl1pPr>
              <a:defRPr kumimoji="0" sz="1200" smtClean="0">
                <a:solidFill>
                  <a:schemeClr val="tx1"/>
                </a:solidFill>
                <a:ea typeface="MS PGothic"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S PGothic" charset="0"/>
              <a:cs typeface="MS PGothic" charset="0"/>
            </a:endParaRPr>
          </a:p>
        </p:txBody>
      </p:sp>
      <p:sp>
        <p:nvSpPr>
          <p:cNvPr id="4101" name="Rectangle 5"/>
          <p:cNvSpPr>
            <a:spLocks noGrp="1" noChangeArrowheads="1"/>
          </p:cNvSpPr>
          <p:nvPr>
            <p:ph type="sldNum" sz="quarter" idx="3"/>
          </p:nvPr>
        </p:nvSpPr>
        <p:spPr bwMode="auto">
          <a:xfrm>
            <a:off x="3963988" y="8805863"/>
            <a:ext cx="3032125" cy="463550"/>
          </a:xfrm>
          <a:prstGeom prst="rect">
            <a:avLst/>
          </a:prstGeom>
          <a:noFill/>
          <a:ln w="9525">
            <a:noFill/>
            <a:miter lim="800000"/>
          </a:ln>
          <a:effectLst/>
        </p:spPr>
        <p:txBody>
          <a:bodyPr vert="horz" wrap="square" lIns="92075" tIns="46038" rIns="92075" bIns="46038" numCol="1" anchor="b" anchorCtr="0" compatLnSpc="1"/>
          <a:p>
            <a:pPr lvl="0" algn="r" eaLnBrk="1" hangingPunct="1"/>
            <a:fld id="{9A0DB2DC-4C9A-4742-B13C-FB6460FD3503}" type="slidenum">
              <a:rPr lang="en-US" sz="1200" dirty="0">
                <a:solidFill>
                  <a:schemeClr val="tx1"/>
                </a:solidFill>
              </a:rPr>
            </a:fld>
            <a:endParaRPr lang="en-US" sz="1200" dirty="0">
              <a:solidFill>
                <a:schemeClr val="tx1"/>
              </a:solidFill>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3032125" cy="461963"/>
          </a:xfrm>
          <a:prstGeom prst="rect">
            <a:avLst/>
          </a:prstGeom>
          <a:noFill/>
          <a:ln w="9525">
            <a:noFill/>
            <a:miter lim="800000"/>
          </a:ln>
          <a:effectLst/>
        </p:spPr>
        <p:txBody>
          <a:bodyPr vert="horz" wrap="square" lIns="93663" tIns="46038" rIns="93663" bIns="46038" numCol="1" anchor="t" anchorCtr="0" compatLnSpc="1"/>
          <a:lstStyle>
            <a:lvl1pPr defTabSz="930275">
              <a:defRPr kumimoji="0" sz="1200" smtClean="0">
                <a:solidFill>
                  <a:schemeClr val="tx1"/>
                </a:solidFill>
                <a:ea typeface="MS PGothic" charset="0"/>
              </a:defRPr>
            </a:lvl1pPr>
          </a:lstStyle>
          <a:p>
            <a:pPr marL="0" marR="0" lvl="0" indent="0" algn="l" defTabSz="930275"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S PGothic" charset="0"/>
              <a:cs typeface="MS PGothic" charset="0"/>
            </a:endParaRPr>
          </a:p>
        </p:txBody>
      </p:sp>
      <p:sp>
        <p:nvSpPr>
          <p:cNvPr id="3075" name="Rectangle 3"/>
          <p:cNvSpPr>
            <a:spLocks noGrp="1" noChangeArrowheads="1"/>
          </p:cNvSpPr>
          <p:nvPr>
            <p:ph type="dt" idx="1"/>
          </p:nvPr>
        </p:nvSpPr>
        <p:spPr bwMode="auto">
          <a:xfrm>
            <a:off x="3963988" y="0"/>
            <a:ext cx="3032125" cy="461963"/>
          </a:xfrm>
          <a:prstGeom prst="rect">
            <a:avLst/>
          </a:prstGeom>
          <a:noFill/>
          <a:ln w="9525">
            <a:noFill/>
            <a:miter lim="800000"/>
          </a:ln>
          <a:effectLst/>
        </p:spPr>
        <p:txBody>
          <a:bodyPr vert="horz" wrap="square" lIns="93663" tIns="46038" rIns="93663" bIns="46038" numCol="1" anchor="t" anchorCtr="0" compatLnSpc="1"/>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6148" name="Rectangle 4"/>
          <p:cNvSpPr>
            <a:spLocks noGrp="1" noRot="1" noChangeAspect="1" noTextEdit="1"/>
          </p:cNvSpPr>
          <p:nvPr>
            <p:ph type="sldImg" idx="2"/>
          </p:nvPr>
        </p:nvSpPr>
        <p:spPr>
          <a:xfrm>
            <a:off x="1182688" y="698500"/>
            <a:ext cx="4632325" cy="3473450"/>
          </a:xfrm>
          <a:prstGeom prst="rect">
            <a:avLst/>
          </a:prstGeom>
          <a:noFill/>
          <a:ln w="12700"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0088" y="4403725"/>
            <a:ext cx="5597525" cy="4170363"/>
          </a:xfrm>
          <a:prstGeom prst="rect">
            <a:avLst/>
          </a:prstGeom>
          <a:noFill/>
          <a:ln w="9525">
            <a:noFill/>
            <a:miter lim="800000"/>
          </a:ln>
          <a:effectLst/>
        </p:spPr>
        <p:txBody>
          <a:bodyPr vert="horz" wrap="square" lIns="93663" tIns="46038" rIns="93663" bIns="46038"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S PGothic" charset="0"/>
              </a:rPr>
              <a:t>Click to edit Master text styles</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S PGothic" charset="0"/>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n-cs"/>
              </a:rPr>
              <a:t>Second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n-cs"/>
              </a:rPr>
              <a:t>Third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n-cs"/>
              </a:rPr>
              <a:t>Fourth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n-cs"/>
              </a:rPr>
              <a:t>Fifth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S PGothic" charset="0"/>
              <a:cs typeface="+mn-cs"/>
            </a:endParaRPr>
          </a:p>
        </p:txBody>
      </p:sp>
      <p:sp>
        <p:nvSpPr>
          <p:cNvPr id="3078" name="Rectangle 6"/>
          <p:cNvSpPr>
            <a:spLocks noGrp="1" noChangeArrowheads="1"/>
          </p:cNvSpPr>
          <p:nvPr>
            <p:ph type="ftr" sz="quarter" idx="4"/>
          </p:nvPr>
        </p:nvSpPr>
        <p:spPr bwMode="auto">
          <a:xfrm>
            <a:off x="0" y="8807450"/>
            <a:ext cx="3032125" cy="461963"/>
          </a:xfrm>
          <a:prstGeom prst="rect">
            <a:avLst/>
          </a:prstGeom>
          <a:noFill/>
          <a:ln w="9525">
            <a:noFill/>
            <a:miter lim="800000"/>
          </a:ln>
          <a:effectLst/>
        </p:spPr>
        <p:txBody>
          <a:bodyPr vert="horz" wrap="square" lIns="93663" tIns="46038" rIns="93663" bIns="46038" numCol="1" anchor="b" anchorCtr="0" compatLnSpc="1"/>
          <a:lstStyle>
            <a:lvl1pPr defTabSz="930275">
              <a:defRPr kumimoji="0" sz="1200" smtClean="0">
                <a:solidFill>
                  <a:schemeClr val="tx1"/>
                </a:solidFill>
                <a:ea typeface="MS PGothic" charset="0"/>
              </a:defRPr>
            </a:lvl1pPr>
          </a:lstStyle>
          <a:p>
            <a:pPr marL="0" marR="0" lvl="0" indent="0" algn="l" defTabSz="930275"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S PGothic" charset="0"/>
              <a:cs typeface="MS PGothic" charset="0"/>
            </a:endParaRPr>
          </a:p>
        </p:txBody>
      </p:sp>
      <p:sp>
        <p:nvSpPr>
          <p:cNvPr id="3079" name="Rectangle 7"/>
          <p:cNvSpPr>
            <a:spLocks noGrp="1" noChangeArrowheads="1"/>
          </p:cNvSpPr>
          <p:nvPr>
            <p:ph type="sldNum" sz="quarter" idx="5"/>
          </p:nvPr>
        </p:nvSpPr>
        <p:spPr bwMode="auto">
          <a:xfrm>
            <a:off x="3963988" y="8807450"/>
            <a:ext cx="3032125" cy="461963"/>
          </a:xfrm>
          <a:prstGeom prst="rect">
            <a:avLst/>
          </a:prstGeom>
          <a:noFill/>
          <a:ln w="9525">
            <a:noFill/>
            <a:miter lim="800000"/>
          </a:ln>
          <a:effectLst/>
        </p:spPr>
        <p:txBody>
          <a:bodyPr vert="horz" wrap="square" lIns="93663" tIns="46038" rIns="93663" bIns="46038" numCol="1" anchor="b" anchorCtr="0" compatLnSpc="1"/>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S PGothic" charset="0"/>
        <a:cs typeface="MS PGothic"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S PGothic" charset="0"/>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S PGothic" charset="0"/>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S PGothic" charset="0"/>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S PGothic"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8194"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8195" name="Rectangle 2"/>
          <p:cNvSpPr>
            <a:spLocks noGrp="1" noRot="1" noChangeAspect="1" noTextEdit="1"/>
          </p:cNvSpPr>
          <p:nvPr>
            <p:ph type="sldImg"/>
          </p:nvPr>
        </p:nvSpPr>
        <p:spPr>
          <a:ln/>
        </p:spPr>
      </p:sp>
      <p:sp>
        <p:nvSpPr>
          <p:cNvPr id="8196"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10242"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10243" name="Rectangle 2"/>
          <p:cNvSpPr>
            <a:spLocks noGrp="1" noRot="1" noChangeAspect="1" noTextEdit="1"/>
          </p:cNvSpPr>
          <p:nvPr>
            <p:ph type="sldImg"/>
          </p:nvPr>
        </p:nvSpPr>
        <p:spPr>
          <a:ln/>
        </p:spPr>
      </p:sp>
      <p:sp>
        <p:nvSpPr>
          <p:cNvPr id="10244"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1229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12291" name="Rectangle 3"/>
          <p:cNvSpPr txBox="1">
            <a:spLocks noGrp="1"/>
          </p:cNvSpPr>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12292" name="Rectangle 7"/>
          <p:cNvSpPr txBox="1">
            <a:spLocks noGrp="1"/>
          </p:cNvSpP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12293" name="Rectangle 2"/>
          <p:cNvSpPr>
            <a:spLocks noGrp="1" noRot="1" noChangeAspect="1" noTextEdit="1"/>
          </p:cNvSpPr>
          <p:nvPr>
            <p:ph type="sldImg"/>
          </p:nvPr>
        </p:nvSpPr>
        <p:spPr>
          <a:xfrm>
            <a:off x="1182688" y="695325"/>
            <a:ext cx="4635500" cy="3476625"/>
          </a:xfrm>
          <a:ln/>
        </p:spPr>
      </p:sp>
      <p:sp>
        <p:nvSpPr>
          <p:cNvPr id="12294"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1433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14339" name="Rectangle 2"/>
          <p:cNvSpPr>
            <a:spLocks noGrp="1" noRot="1" noChangeAspect="1" noTextEdit="1"/>
          </p:cNvSpPr>
          <p:nvPr>
            <p:ph type="sldImg"/>
          </p:nvPr>
        </p:nvSpPr>
        <p:spPr>
          <a:ln/>
        </p:spPr>
      </p:sp>
      <p:sp>
        <p:nvSpPr>
          <p:cNvPr id="14340"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noRot="1" noChangeAspect="1" noTextEdit="1"/>
          </p:cNvSpPr>
          <p:nvPr>
            <p:ph type="sldImg"/>
          </p:nvPr>
        </p:nvSpPr>
        <p:spPr>
          <a:ln/>
        </p:spPr>
      </p:sp>
      <p:sp>
        <p:nvSpPr>
          <p:cNvPr id="16386" name="Rectangle 3"/>
          <p:cNvSpPr>
            <a:spLocks noGrp="1"/>
          </p:cNvSpPr>
          <p:nvPr>
            <p:ph type="body" idx="1"/>
          </p:nvPr>
        </p:nvSpPr>
        <p:spPr>
          <a:ln/>
        </p:spPr>
        <p:txBody>
          <a:bodyPr wrap="square" lIns="93663" tIns="46038" rIns="93663" bIns="46038" anchor="t" anchorCtr="0"/>
          <a:p>
            <a:pPr lvl="0"/>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18434"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18435" name="Rectangle 2"/>
          <p:cNvSpPr>
            <a:spLocks noGrp="1" noRot="1" noChangeAspect="1" noTextEdit="1"/>
          </p:cNvSpPr>
          <p:nvPr>
            <p:ph type="sldImg"/>
          </p:nvPr>
        </p:nvSpPr>
        <p:spPr>
          <a:xfrm>
            <a:off x="1181100" y="695325"/>
            <a:ext cx="4635500" cy="3476625"/>
          </a:xfrm>
          <a:ln/>
        </p:spPr>
      </p:sp>
      <p:sp>
        <p:nvSpPr>
          <p:cNvPr id="18436"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20482"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20483" name="Rectangle 2"/>
          <p:cNvSpPr>
            <a:spLocks noGrp="1" noRot="1" noChangeAspect="1" noTextEdit="1"/>
          </p:cNvSpPr>
          <p:nvPr>
            <p:ph type="sldImg"/>
          </p:nvPr>
        </p:nvSpPr>
        <p:spPr>
          <a:xfrm>
            <a:off x="1182688" y="695325"/>
            <a:ext cx="4635500" cy="3476625"/>
          </a:xfrm>
          <a:ln/>
        </p:spPr>
      </p:sp>
      <p:sp>
        <p:nvSpPr>
          <p:cNvPr id="20484"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2253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22531" name="Rectangle 2"/>
          <p:cNvSpPr>
            <a:spLocks noGrp="1" noRot="1" noChangeAspect="1" noTextEdit="1"/>
          </p:cNvSpPr>
          <p:nvPr>
            <p:ph type="sldImg"/>
          </p:nvPr>
        </p:nvSpPr>
        <p:spPr>
          <a:xfrm>
            <a:off x="1182688" y="693738"/>
            <a:ext cx="4635500" cy="3476625"/>
          </a:xfrm>
          <a:ln/>
        </p:spPr>
      </p:sp>
      <p:sp>
        <p:nvSpPr>
          <p:cNvPr id="22532" name="Rectangle 3"/>
          <p:cNvSpPr>
            <a:spLocks noGrp="1"/>
          </p:cNvSpPr>
          <p:nvPr>
            <p:ph type="body" idx="1"/>
          </p:nvPr>
        </p:nvSpPr>
        <p:spPr>
          <a:xfrm>
            <a:off x="933450" y="4403725"/>
            <a:ext cx="5130800" cy="4173538"/>
          </a:xfrm>
          <a:ln/>
        </p:spPr>
        <p:txBody>
          <a:bodyPr wrap="square" lIns="93663" tIns="46038" rIns="93663" bIns="46038" anchor="t" anchorCtr="0"/>
          <a:p>
            <a:pPr lvl="0" eaLnBrk="1" hangingPunct="1"/>
            <a:endParaRPr lang="en-GB" altLang="x-none"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2457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24579" name="Rectangle 2"/>
          <p:cNvSpPr>
            <a:spLocks noGrp="1" noRot="1" noChangeAspect="1" noTextEdit="1"/>
          </p:cNvSpPr>
          <p:nvPr>
            <p:ph type="sldImg"/>
          </p:nvPr>
        </p:nvSpPr>
        <p:spPr>
          <a:xfrm>
            <a:off x="1182688" y="693738"/>
            <a:ext cx="4635500" cy="3476625"/>
          </a:xfrm>
          <a:ln/>
        </p:spPr>
      </p:sp>
      <p:sp>
        <p:nvSpPr>
          <p:cNvPr id="24580" name="Rectangle 3"/>
          <p:cNvSpPr>
            <a:spLocks noGrp="1"/>
          </p:cNvSpPr>
          <p:nvPr>
            <p:ph type="body" idx="1"/>
          </p:nvPr>
        </p:nvSpPr>
        <p:spPr>
          <a:xfrm>
            <a:off x="933450" y="4403725"/>
            <a:ext cx="5130800" cy="4173538"/>
          </a:xfrm>
          <a:ln/>
        </p:spPr>
        <p:txBody>
          <a:bodyPr wrap="square" lIns="93663" tIns="46038" rIns="93663" bIns="46038" anchor="t" anchorCtr="0"/>
          <a:p>
            <a:pPr lvl="0" eaLnBrk="1" hangingPunct="1"/>
            <a:endParaRPr lang="en-GB" altLang="x-none"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noRot="1" noChangeAspect="1" noTextEdit="1"/>
          </p:cNvSpPr>
          <p:nvPr>
            <p:ph type="sldImg"/>
          </p:nvPr>
        </p:nvSpPr>
        <p:spPr>
          <a:ln/>
        </p:spPr>
      </p:sp>
      <p:sp>
        <p:nvSpPr>
          <p:cNvPr id="26626" name="Rectangle 3"/>
          <p:cNvSpPr>
            <a:spLocks noGrp="1"/>
          </p:cNvSpPr>
          <p:nvPr>
            <p:ph type="body" idx="1"/>
          </p:nvPr>
        </p:nvSpPr>
        <p:spPr>
          <a:ln/>
        </p:spPr>
        <p:txBody>
          <a:bodyPr wrap="square" lIns="93663" tIns="46038" rIns="93663" bIns="46038" anchor="t" anchorCtr="0"/>
          <a:p>
            <a:pPr lvl="0"/>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28674"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28675" name="Rectangle 2"/>
          <p:cNvSpPr>
            <a:spLocks noGrp="1" noRot="1" noChangeAspect="1" noTextEdit="1"/>
          </p:cNvSpPr>
          <p:nvPr>
            <p:ph type="sldImg"/>
          </p:nvPr>
        </p:nvSpPr>
        <p:spPr>
          <a:xfrm>
            <a:off x="1181100" y="693738"/>
            <a:ext cx="4635500" cy="3476625"/>
          </a:xfrm>
          <a:ln/>
        </p:spPr>
      </p:sp>
      <p:sp>
        <p:nvSpPr>
          <p:cNvPr id="28676"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noRot="1" noChangeAspect="1" noTextEdit="1"/>
          </p:cNvSpPr>
          <p:nvPr>
            <p:ph type="sldImg"/>
          </p:nvPr>
        </p:nvSpPr>
        <p:spPr>
          <a:ln/>
        </p:spPr>
      </p:sp>
      <p:sp>
        <p:nvSpPr>
          <p:cNvPr id="30722" name="Rectangle 3"/>
          <p:cNvSpPr>
            <a:spLocks noGrp="1"/>
          </p:cNvSpPr>
          <p:nvPr>
            <p:ph type="body" idx="1"/>
          </p:nvPr>
        </p:nvSpPr>
        <p:spPr>
          <a:ln/>
        </p:spPr>
        <p:txBody>
          <a:bodyPr wrap="square" lIns="93663" tIns="46038" rIns="93663" bIns="46038" anchor="t" anchorCtr="0"/>
          <a:p>
            <a:pPr lvl="0"/>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3277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32771" name="Rectangle 2"/>
          <p:cNvSpPr>
            <a:spLocks noGrp="1" noRot="1" noChangeAspect="1" noTextEdit="1"/>
          </p:cNvSpPr>
          <p:nvPr>
            <p:ph type="sldImg"/>
          </p:nvPr>
        </p:nvSpPr>
        <p:spPr>
          <a:xfrm>
            <a:off x="1181100" y="693738"/>
            <a:ext cx="4635500" cy="3476625"/>
          </a:xfrm>
          <a:ln/>
        </p:spPr>
      </p:sp>
      <p:sp>
        <p:nvSpPr>
          <p:cNvPr id="32772" name="Rectangle 3"/>
          <p:cNvSpPr>
            <a:spLocks noGrp="1"/>
          </p:cNvSpPr>
          <p:nvPr>
            <p:ph type="body" idx="1"/>
          </p:nvPr>
        </p:nvSpPr>
        <p:spPr>
          <a:xfrm>
            <a:off x="700088" y="4403725"/>
            <a:ext cx="5597525" cy="4173538"/>
          </a:xfrm>
          <a:ln/>
        </p:spPr>
        <p:txBody>
          <a:bodyPr wrap="square" lIns="93663" tIns="46038" rIns="93663" bIns="46038" anchor="t" anchorCtr="0"/>
          <a:p>
            <a:pPr lvl="0" eaLnBrk="1" hangingPunct="1"/>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3481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34819" name="Rectangle 2"/>
          <p:cNvSpPr>
            <a:spLocks noGrp="1" noRot="1" noChangeAspect="1" noTextEdit="1"/>
          </p:cNvSpPr>
          <p:nvPr>
            <p:ph type="sldImg"/>
          </p:nvPr>
        </p:nvSpPr>
        <p:spPr>
          <a:ln/>
        </p:spPr>
      </p:sp>
      <p:sp>
        <p:nvSpPr>
          <p:cNvPr id="34820"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7"/>
          <p:cNvSpPr txBox="1">
            <a:spLocks noGrp="1"/>
          </p:cNvSpPr>
          <p:nvPr/>
        </p:nvSpPr>
        <p:spPr>
          <a:xfrm>
            <a:off x="3963988" y="8805863"/>
            <a:ext cx="3032125" cy="463550"/>
          </a:xfrm>
          <a:prstGeom prst="rect">
            <a:avLst/>
          </a:prstGeom>
          <a:noFill/>
          <a:ln w="9525">
            <a:noFill/>
          </a:ln>
        </p:spPr>
        <p:txBody>
          <a:bodyPr lIns="92958" tIns="46479" rIns="92958" bIns="46479"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36866" name="Rectangle 2"/>
          <p:cNvSpPr>
            <a:spLocks noGrp="1" noRot="1" noChangeAspect="1" noTextEdit="1"/>
          </p:cNvSpPr>
          <p:nvPr>
            <p:ph type="sldImg"/>
          </p:nvPr>
        </p:nvSpPr>
        <p:spPr>
          <a:xfrm>
            <a:off x="1181100" y="695325"/>
            <a:ext cx="4635500" cy="3476625"/>
          </a:xfrm>
          <a:ln/>
        </p:spPr>
      </p:sp>
      <p:sp>
        <p:nvSpPr>
          <p:cNvPr id="36867" name="Rectangle 3"/>
          <p:cNvSpPr>
            <a:spLocks noGrp="1"/>
          </p:cNvSpPr>
          <p:nvPr>
            <p:ph type="body" idx="1"/>
          </p:nvPr>
        </p:nvSpPr>
        <p:spPr>
          <a:xfrm>
            <a:off x="700088" y="4403725"/>
            <a:ext cx="5597525" cy="4171950"/>
          </a:xfrm>
          <a:ln/>
        </p:spPr>
        <p:txBody>
          <a:bodyPr wrap="square" lIns="92958" tIns="46479" rIns="92958" bIns="46479" anchor="t" anchorCtr="0"/>
          <a:p>
            <a:pPr lvl="0" eaLnBrk="1" hangingPunct="1"/>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noRot="1" noChangeAspect="1" noTextEdit="1"/>
          </p:cNvSpPr>
          <p:nvPr>
            <p:ph type="sldImg"/>
          </p:nvPr>
        </p:nvSpPr>
        <p:spPr>
          <a:ln/>
        </p:spPr>
      </p:sp>
      <p:sp>
        <p:nvSpPr>
          <p:cNvPr id="38914" name="Rectangle 3"/>
          <p:cNvSpPr>
            <a:spLocks noGrp="1"/>
          </p:cNvSpPr>
          <p:nvPr>
            <p:ph type="body" idx="1"/>
          </p:nvPr>
        </p:nvSpPr>
        <p:spPr>
          <a:ln/>
        </p:spPr>
        <p:txBody>
          <a:bodyPr wrap="square" lIns="93663" tIns="46038" rIns="93663" bIns="46038" anchor="t" anchorCtr="0"/>
          <a:p>
            <a:pPr lvl="0"/>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40962"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40963" name="Rectangle 2"/>
          <p:cNvSpPr>
            <a:spLocks noGrp="1" noRot="1" noChangeAspect="1" noTextEdit="1"/>
          </p:cNvSpPr>
          <p:nvPr>
            <p:ph type="sldImg"/>
          </p:nvPr>
        </p:nvSpPr>
        <p:spPr>
          <a:xfrm>
            <a:off x="1181100" y="695325"/>
            <a:ext cx="4635500" cy="3476625"/>
          </a:xfrm>
          <a:ln/>
        </p:spPr>
      </p:sp>
      <p:sp>
        <p:nvSpPr>
          <p:cNvPr id="40964"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4301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43011" name="Rectangle 2"/>
          <p:cNvSpPr>
            <a:spLocks noGrp="1" noRot="1" noChangeAspect="1" noTextEdit="1"/>
          </p:cNvSpPr>
          <p:nvPr>
            <p:ph type="sldImg"/>
          </p:nvPr>
        </p:nvSpPr>
        <p:spPr>
          <a:xfrm>
            <a:off x="1182688" y="695325"/>
            <a:ext cx="4635500" cy="3476625"/>
          </a:xfrm>
          <a:ln/>
        </p:spPr>
      </p:sp>
      <p:sp>
        <p:nvSpPr>
          <p:cNvPr id="43012"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4505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45059" name="Rectangle 2"/>
          <p:cNvSpPr>
            <a:spLocks noGrp="1" noRot="1" noChangeAspect="1" noTextEdit="1"/>
          </p:cNvSpPr>
          <p:nvPr>
            <p:ph type="sldImg"/>
          </p:nvPr>
        </p:nvSpPr>
        <p:spPr>
          <a:xfrm>
            <a:off x="1181100" y="695325"/>
            <a:ext cx="4635500" cy="3476625"/>
          </a:xfrm>
          <a:ln/>
        </p:spPr>
      </p:sp>
      <p:sp>
        <p:nvSpPr>
          <p:cNvPr id="45060"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47106"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47107" name="Rectangle 2"/>
          <p:cNvSpPr>
            <a:spLocks noGrp="1" noRot="1" noChangeAspect="1" noTextEdit="1"/>
          </p:cNvSpPr>
          <p:nvPr>
            <p:ph type="sldImg"/>
          </p:nvPr>
        </p:nvSpPr>
        <p:spPr>
          <a:xfrm>
            <a:off x="1182688" y="693738"/>
            <a:ext cx="4635500" cy="3476625"/>
          </a:xfrm>
          <a:ln/>
        </p:spPr>
      </p:sp>
      <p:sp>
        <p:nvSpPr>
          <p:cNvPr id="47108" name="Rectangle 3"/>
          <p:cNvSpPr>
            <a:spLocks noGrp="1"/>
          </p:cNvSpPr>
          <p:nvPr>
            <p:ph type="body" idx="1"/>
          </p:nvPr>
        </p:nvSpPr>
        <p:spPr>
          <a:xfrm>
            <a:off x="933450" y="4403725"/>
            <a:ext cx="5130800" cy="4173538"/>
          </a:xfrm>
          <a:ln/>
        </p:spPr>
        <p:txBody>
          <a:bodyPr wrap="square" lIns="93663" tIns="46038" rIns="93663" bIns="46038" anchor="t" anchorCtr="0"/>
          <a:p>
            <a:pPr lvl="0" eaLnBrk="1" hangingPunct="1"/>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49154"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49155" name="Rectangle 2"/>
          <p:cNvSpPr>
            <a:spLocks noGrp="1" noRot="1" noChangeAspect="1" noTextEdit="1"/>
          </p:cNvSpPr>
          <p:nvPr>
            <p:ph type="sldImg"/>
          </p:nvPr>
        </p:nvSpPr>
        <p:spPr>
          <a:xfrm>
            <a:off x="1182688" y="695325"/>
            <a:ext cx="4635500" cy="3476625"/>
          </a:xfrm>
          <a:ln/>
        </p:spPr>
      </p:sp>
      <p:sp>
        <p:nvSpPr>
          <p:cNvPr id="49156"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51202"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51203" name="Rectangle 2"/>
          <p:cNvSpPr>
            <a:spLocks noGrp="1" noRot="1" noChangeAspect="1" noTextEdit="1"/>
          </p:cNvSpPr>
          <p:nvPr>
            <p:ph type="sldImg"/>
          </p:nvPr>
        </p:nvSpPr>
        <p:spPr>
          <a:xfrm>
            <a:off x="1182688" y="695325"/>
            <a:ext cx="4635500" cy="3476625"/>
          </a:xfrm>
          <a:ln/>
        </p:spPr>
      </p:sp>
      <p:sp>
        <p:nvSpPr>
          <p:cNvPr id="51204"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5325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53251" name="Rectangle 2"/>
          <p:cNvSpPr>
            <a:spLocks noGrp="1" noRot="1" noChangeAspect="1" noTextEdit="1"/>
          </p:cNvSpPr>
          <p:nvPr>
            <p:ph type="sldImg"/>
          </p:nvPr>
        </p:nvSpPr>
        <p:spPr>
          <a:xfrm>
            <a:off x="1181100" y="693738"/>
            <a:ext cx="4635500" cy="3476625"/>
          </a:xfrm>
          <a:ln/>
        </p:spPr>
      </p:sp>
      <p:sp>
        <p:nvSpPr>
          <p:cNvPr id="53252" name="Rectangle 3"/>
          <p:cNvSpPr>
            <a:spLocks noGrp="1"/>
          </p:cNvSpPr>
          <p:nvPr>
            <p:ph type="body" idx="1"/>
          </p:nvPr>
        </p:nvSpPr>
        <p:spPr>
          <a:xfrm>
            <a:off x="700088" y="4403725"/>
            <a:ext cx="5597525" cy="4173538"/>
          </a:xfrm>
          <a:ln/>
        </p:spPr>
        <p:txBody>
          <a:bodyPr wrap="square" lIns="93663" tIns="46038" rIns="93663" bIns="46038" anchor="t" anchorCtr="0"/>
          <a:p>
            <a:pPr lvl="0" eaLnBrk="1" hangingPunct="1"/>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5529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55299" name="Rectangle 2"/>
          <p:cNvSpPr>
            <a:spLocks noGrp="1" noRot="1" noChangeAspect="1" noTextEdit="1"/>
          </p:cNvSpPr>
          <p:nvPr>
            <p:ph type="sldImg"/>
          </p:nvPr>
        </p:nvSpPr>
        <p:spPr>
          <a:xfrm>
            <a:off x="1181100" y="695325"/>
            <a:ext cx="4635500" cy="3476625"/>
          </a:xfrm>
          <a:ln/>
        </p:spPr>
      </p:sp>
      <p:sp>
        <p:nvSpPr>
          <p:cNvPr id="55300"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57346"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57347" name="Rectangle 2"/>
          <p:cNvSpPr>
            <a:spLocks noGrp="1" noRot="1" noChangeAspect="1" noTextEdit="1"/>
          </p:cNvSpPr>
          <p:nvPr>
            <p:ph type="sldImg"/>
          </p:nvPr>
        </p:nvSpPr>
        <p:spPr>
          <a:ln/>
        </p:spPr>
      </p:sp>
      <p:sp>
        <p:nvSpPr>
          <p:cNvPr id="57348"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7"/>
          <p:cNvSpPr txBox="1">
            <a:spLocks noGrp="1"/>
          </p:cNvSpPr>
          <p:nvPr/>
        </p:nvSpPr>
        <p:spPr>
          <a:xfrm>
            <a:off x="3963988" y="8805863"/>
            <a:ext cx="3032125" cy="463550"/>
          </a:xfrm>
          <a:prstGeom prst="rect">
            <a:avLst/>
          </a:prstGeom>
          <a:noFill/>
          <a:ln w="9525">
            <a:noFill/>
          </a:ln>
        </p:spPr>
        <p:txBody>
          <a:bodyPr lIns="92958" tIns="46479" rIns="92958" bIns="46479"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59394" name="Rectangle 2"/>
          <p:cNvSpPr>
            <a:spLocks noGrp="1" noRot="1" noChangeAspect="1" noTextEdit="1"/>
          </p:cNvSpPr>
          <p:nvPr>
            <p:ph type="sldImg"/>
          </p:nvPr>
        </p:nvSpPr>
        <p:spPr>
          <a:xfrm>
            <a:off x="1181100" y="695325"/>
            <a:ext cx="4635500" cy="3476625"/>
          </a:xfrm>
          <a:ln/>
        </p:spPr>
      </p:sp>
      <p:sp>
        <p:nvSpPr>
          <p:cNvPr id="59395" name="Rectangle 3"/>
          <p:cNvSpPr>
            <a:spLocks noGrp="1"/>
          </p:cNvSpPr>
          <p:nvPr>
            <p:ph type="body" idx="1"/>
          </p:nvPr>
        </p:nvSpPr>
        <p:spPr>
          <a:xfrm>
            <a:off x="700088" y="4403725"/>
            <a:ext cx="5597525" cy="4171950"/>
          </a:xfrm>
          <a:ln/>
        </p:spPr>
        <p:txBody>
          <a:bodyPr wrap="square" lIns="92958" tIns="46479" rIns="92958" bIns="46479" anchor="t" anchorCtr="0"/>
          <a:p>
            <a:pPr lvl="0" eaLnBrk="1" hangingPunct="1"/>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noRot="1" noChangeAspect="1" noTextEdit="1"/>
          </p:cNvSpPr>
          <p:nvPr>
            <p:ph type="sldImg"/>
          </p:nvPr>
        </p:nvSpPr>
        <p:spPr>
          <a:ln/>
        </p:spPr>
      </p:sp>
      <p:sp>
        <p:nvSpPr>
          <p:cNvPr id="61442" name="Rectangle 3"/>
          <p:cNvSpPr>
            <a:spLocks noGrp="1"/>
          </p:cNvSpPr>
          <p:nvPr>
            <p:ph type="body" idx="1"/>
          </p:nvPr>
        </p:nvSpPr>
        <p:spPr>
          <a:ln/>
        </p:spPr>
        <p:txBody>
          <a:bodyPr wrap="square" lIns="93663" tIns="46038" rIns="93663" bIns="46038" anchor="t" anchorCtr="0"/>
          <a:p>
            <a:pPr lvl="0"/>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6349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63491" name="Rectangle 2"/>
          <p:cNvSpPr>
            <a:spLocks noGrp="1" noRot="1" noChangeAspect="1" noTextEdit="1"/>
          </p:cNvSpPr>
          <p:nvPr>
            <p:ph type="sldImg"/>
          </p:nvPr>
        </p:nvSpPr>
        <p:spPr>
          <a:ln/>
        </p:spPr>
      </p:sp>
      <p:sp>
        <p:nvSpPr>
          <p:cNvPr id="63492"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6553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65539" name="Rectangle 2"/>
          <p:cNvSpPr>
            <a:spLocks noGrp="1" noRot="1" noChangeAspect="1" noTextEdit="1"/>
          </p:cNvSpPr>
          <p:nvPr>
            <p:ph type="sldImg"/>
          </p:nvPr>
        </p:nvSpPr>
        <p:spPr>
          <a:ln/>
        </p:spPr>
      </p:sp>
      <p:sp>
        <p:nvSpPr>
          <p:cNvPr id="65540"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noRot="1" noChangeAspect="1" noTextEdit="1"/>
          </p:cNvSpPr>
          <p:nvPr>
            <p:ph type="sldImg"/>
          </p:nvPr>
        </p:nvSpPr>
        <p:spPr>
          <a:ln/>
        </p:spPr>
      </p:sp>
      <p:sp>
        <p:nvSpPr>
          <p:cNvPr id="67586" name="Rectangle 3"/>
          <p:cNvSpPr>
            <a:spLocks noGrp="1"/>
          </p:cNvSpPr>
          <p:nvPr>
            <p:ph type="body" idx="1"/>
          </p:nvPr>
        </p:nvSpPr>
        <p:spPr>
          <a:ln/>
        </p:spPr>
        <p:txBody>
          <a:bodyPr wrap="square" lIns="93663" tIns="46038" rIns="93663" bIns="46038" anchor="t" anchorCtr="0"/>
          <a:p>
            <a:pPr lvl="0"/>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69634"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69635" name="Rectangle 2"/>
          <p:cNvSpPr>
            <a:spLocks noGrp="1" noRot="1" noChangeAspect="1" noTextEdit="1"/>
          </p:cNvSpPr>
          <p:nvPr>
            <p:ph type="sldImg"/>
          </p:nvPr>
        </p:nvSpPr>
        <p:spPr>
          <a:ln/>
        </p:spPr>
      </p:sp>
      <p:sp>
        <p:nvSpPr>
          <p:cNvPr id="69636"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71682"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71683" name="Rectangle 2"/>
          <p:cNvSpPr>
            <a:spLocks noGrp="1" noRot="1" noChangeAspect="1" noTextEdit="1"/>
          </p:cNvSpPr>
          <p:nvPr>
            <p:ph type="sldImg"/>
          </p:nvPr>
        </p:nvSpPr>
        <p:spPr>
          <a:ln/>
        </p:spPr>
      </p:sp>
      <p:sp>
        <p:nvSpPr>
          <p:cNvPr id="71684"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7373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73731" name="Rectangle 2"/>
          <p:cNvSpPr>
            <a:spLocks noGrp="1" noRot="1" noChangeAspect="1" noTextEdit="1"/>
          </p:cNvSpPr>
          <p:nvPr>
            <p:ph type="sldImg"/>
          </p:nvPr>
        </p:nvSpPr>
        <p:spPr>
          <a:xfrm>
            <a:off x="1182688" y="695325"/>
            <a:ext cx="4635500" cy="3476625"/>
          </a:xfrm>
          <a:ln/>
        </p:spPr>
      </p:sp>
      <p:sp>
        <p:nvSpPr>
          <p:cNvPr id="73732"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7577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75779" name="Rectangle 2"/>
          <p:cNvSpPr>
            <a:spLocks noGrp="1" noRot="1" noChangeAspect="1" noTextEdit="1"/>
          </p:cNvSpPr>
          <p:nvPr>
            <p:ph type="sldImg"/>
          </p:nvPr>
        </p:nvSpPr>
        <p:spPr>
          <a:xfrm>
            <a:off x="1181100" y="693738"/>
            <a:ext cx="4635500" cy="3476625"/>
          </a:xfrm>
          <a:ln/>
        </p:spPr>
      </p:sp>
      <p:sp>
        <p:nvSpPr>
          <p:cNvPr id="75780" name="Rectangle 3"/>
          <p:cNvSpPr>
            <a:spLocks noGrp="1"/>
          </p:cNvSpPr>
          <p:nvPr>
            <p:ph type="body" idx="1"/>
          </p:nvPr>
        </p:nvSpPr>
        <p:spPr>
          <a:xfrm>
            <a:off x="700088" y="4403725"/>
            <a:ext cx="5597525" cy="4173538"/>
          </a:xfrm>
          <a:ln/>
        </p:spPr>
        <p:txBody>
          <a:bodyPr wrap="square" lIns="93663" tIns="46038" rIns="93663" bIns="46038" anchor="t" anchorCtr="0"/>
          <a:p>
            <a:pPr lvl="0" eaLnBrk="1" hangingPunct="1"/>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noRot="1" noChangeAspect="1" noTextEdit="1"/>
          </p:cNvSpPr>
          <p:nvPr>
            <p:ph type="sldImg"/>
          </p:nvPr>
        </p:nvSpPr>
        <p:spPr>
          <a:ln/>
        </p:spPr>
      </p:sp>
      <p:sp>
        <p:nvSpPr>
          <p:cNvPr id="77826" name="Rectangle 3"/>
          <p:cNvSpPr>
            <a:spLocks noGrp="1"/>
          </p:cNvSpPr>
          <p:nvPr>
            <p:ph type="body" idx="1"/>
          </p:nvPr>
        </p:nvSpPr>
        <p:spPr>
          <a:ln/>
        </p:spPr>
        <p:txBody>
          <a:bodyPr wrap="square" lIns="93663" tIns="46038" rIns="93663" bIns="46038" anchor="t" anchorCtr="0"/>
          <a:p>
            <a:pPr lvl="0"/>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79874"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79875" name="Rectangle 2"/>
          <p:cNvSpPr>
            <a:spLocks noGrp="1" noRot="1" noChangeAspect="1" noTextEdit="1"/>
          </p:cNvSpPr>
          <p:nvPr>
            <p:ph type="sldImg"/>
          </p:nvPr>
        </p:nvSpPr>
        <p:spPr>
          <a:xfrm>
            <a:off x="1181100" y="693738"/>
            <a:ext cx="4635500" cy="3476625"/>
          </a:xfrm>
          <a:ln/>
        </p:spPr>
      </p:sp>
      <p:sp>
        <p:nvSpPr>
          <p:cNvPr id="79876" name="Rectangle 3"/>
          <p:cNvSpPr>
            <a:spLocks noGrp="1"/>
          </p:cNvSpPr>
          <p:nvPr>
            <p:ph type="body" idx="1"/>
          </p:nvPr>
        </p:nvSpPr>
        <p:spPr>
          <a:xfrm>
            <a:off x="700088" y="4403725"/>
            <a:ext cx="5597525" cy="4173538"/>
          </a:xfrm>
          <a:ln/>
        </p:spPr>
        <p:txBody>
          <a:bodyPr wrap="square" lIns="93663" tIns="46038" rIns="93663" bIns="46038" anchor="t" anchorCtr="0"/>
          <a:p>
            <a:pPr lvl="0" eaLnBrk="1" hangingPunct="1"/>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81922"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81923" name="Rectangle 2"/>
          <p:cNvSpPr>
            <a:spLocks noGrp="1" noRot="1" noChangeAspect="1" noTextEdit="1"/>
          </p:cNvSpPr>
          <p:nvPr>
            <p:ph type="sldImg"/>
          </p:nvPr>
        </p:nvSpPr>
        <p:spPr>
          <a:xfrm>
            <a:off x="1181100" y="693738"/>
            <a:ext cx="4635500" cy="3476625"/>
          </a:xfrm>
          <a:ln/>
        </p:spPr>
      </p:sp>
      <p:sp>
        <p:nvSpPr>
          <p:cNvPr id="81924" name="Rectangle 3"/>
          <p:cNvSpPr>
            <a:spLocks noGrp="1"/>
          </p:cNvSpPr>
          <p:nvPr>
            <p:ph type="body" idx="1"/>
          </p:nvPr>
        </p:nvSpPr>
        <p:spPr>
          <a:xfrm>
            <a:off x="700088" y="4403725"/>
            <a:ext cx="5597525" cy="4173538"/>
          </a:xfrm>
          <a:ln/>
        </p:spPr>
        <p:txBody>
          <a:bodyPr wrap="square" lIns="93663" tIns="46038" rIns="93663" bIns="46038" anchor="t" anchorCtr="0"/>
          <a:p>
            <a:pPr lvl="0" eaLnBrk="1" hangingPunct="1"/>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8397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83971" name="Rectangle 2"/>
          <p:cNvSpPr>
            <a:spLocks noGrp="1" noRot="1" noChangeAspect="1" noTextEdit="1"/>
          </p:cNvSpPr>
          <p:nvPr>
            <p:ph type="sldImg"/>
          </p:nvPr>
        </p:nvSpPr>
        <p:spPr>
          <a:xfrm>
            <a:off x="1181100" y="693738"/>
            <a:ext cx="4635500" cy="3476625"/>
          </a:xfrm>
          <a:ln/>
        </p:spPr>
      </p:sp>
      <p:sp>
        <p:nvSpPr>
          <p:cNvPr id="83972" name="Rectangle 3"/>
          <p:cNvSpPr>
            <a:spLocks noGrp="1"/>
          </p:cNvSpPr>
          <p:nvPr>
            <p:ph type="body" idx="1"/>
          </p:nvPr>
        </p:nvSpPr>
        <p:spPr>
          <a:xfrm>
            <a:off x="700088" y="4403725"/>
            <a:ext cx="5597525" cy="4173538"/>
          </a:xfrm>
          <a:ln/>
        </p:spPr>
        <p:txBody>
          <a:bodyPr wrap="square" lIns="93663" tIns="46038" rIns="93663" bIns="46038" anchor="t" anchorCtr="0"/>
          <a:p>
            <a:pPr lvl="0" eaLnBrk="1" hangingPunct="1"/>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8601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86019" name="Rectangle 2"/>
          <p:cNvSpPr>
            <a:spLocks noGrp="1" noRot="1" noChangeAspect="1" noTextEdit="1"/>
          </p:cNvSpPr>
          <p:nvPr>
            <p:ph type="sldImg"/>
          </p:nvPr>
        </p:nvSpPr>
        <p:spPr>
          <a:xfrm>
            <a:off x="1184275" y="695325"/>
            <a:ext cx="4635500" cy="3476625"/>
          </a:xfrm>
          <a:ln/>
        </p:spPr>
      </p:sp>
      <p:sp>
        <p:nvSpPr>
          <p:cNvPr id="86020"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88066"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88067" name="Rectangle 2"/>
          <p:cNvSpPr>
            <a:spLocks noGrp="1" noRot="1" noChangeAspect="1" noTextEdit="1"/>
          </p:cNvSpPr>
          <p:nvPr>
            <p:ph type="sldImg"/>
          </p:nvPr>
        </p:nvSpPr>
        <p:spPr>
          <a:xfrm>
            <a:off x="1181100" y="693738"/>
            <a:ext cx="4635500" cy="3476625"/>
          </a:xfrm>
          <a:ln/>
        </p:spPr>
      </p:sp>
      <p:sp>
        <p:nvSpPr>
          <p:cNvPr id="88068" name="Rectangle 3"/>
          <p:cNvSpPr>
            <a:spLocks noGrp="1"/>
          </p:cNvSpPr>
          <p:nvPr>
            <p:ph type="body" idx="1"/>
          </p:nvPr>
        </p:nvSpPr>
        <p:spPr>
          <a:xfrm>
            <a:off x="700088" y="4403725"/>
            <a:ext cx="5597525" cy="4173538"/>
          </a:xfrm>
          <a:ln/>
        </p:spPr>
        <p:txBody>
          <a:bodyPr wrap="square" lIns="93663" tIns="46038" rIns="93663" bIns="46038" anchor="t" anchorCtr="0"/>
          <a:p>
            <a:pPr lvl="0" eaLnBrk="1" hangingPunct="1"/>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a:spLocks noGrp="1" noRot="1" noChangeAspect="1" noTextEdit="1"/>
          </p:cNvSpPr>
          <p:nvPr>
            <p:ph type="sldImg"/>
          </p:nvPr>
        </p:nvSpPr>
        <p:spPr>
          <a:ln/>
        </p:spPr>
      </p:sp>
      <p:sp>
        <p:nvSpPr>
          <p:cNvPr id="90114" name="Rectangle 3"/>
          <p:cNvSpPr>
            <a:spLocks noGrp="1"/>
          </p:cNvSpPr>
          <p:nvPr>
            <p:ph type="body" idx="1"/>
          </p:nvPr>
        </p:nvSpPr>
        <p:spPr>
          <a:ln/>
        </p:spPr>
        <p:txBody>
          <a:bodyPr wrap="square" lIns="93663" tIns="46038" rIns="93663" bIns="46038" anchor="t" anchorCtr="0"/>
          <a:p>
            <a:pPr lvl="0"/>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92162"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92163" name="Rectangle 2"/>
          <p:cNvSpPr>
            <a:spLocks noGrp="1" noRot="1" noChangeAspect="1" noTextEdit="1"/>
          </p:cNvSpPr>
          <p:nvPr>
            <p:ph type="sldImg"/>
          </p:nvPr>
        </p:nvSpPr>
        <p:spPr>
          <a:xfrm>
            <a:off x="1182688" y="693738"/>
            <a:ext cx="4635500" cy="3476625"/>
          </a:xfrm>
          <a:ln/>
        </p:spPr>
      </p:sp>
      <p:sp>
        <p:nvSpPr>
          <p:cNvPr id="92164"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94210"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94211" name="Rectangle 2"/>
          <p:cNvSpPr>
            <a:spLocks noGrp="1" noRot="1" noChangeAspect="1" noTextEdit="1"/>
          </p:cNvSpPr>
          <p:nvPr>
            <p:ph type="sldImg"/>
          </p:nvPr>
        </p:nvSpPr>
        <p:spPr>
          <a:xfrm>
            <a:off x="1181100" y="695325"/>
            <a:ext cx="4635500" cy="3476625"/>
          </a:xfrm>
          <a:ln/>
        </p:spPr>
      </p:sp>
      <p:sp>
        <p:nvSpPr>
          <p:cNvPr id="94212" name="Rectangle 3"/>
          <p:cNvSpPr>
            <a:spLocks noGrp="1"/>
          </p:cNvSpPr>
          <p:nvPr>
            <p:ph type="body" idx="1"/>
          </p:nvPr>
        </p:nvSpPr>
        <p:spPr>
          <a:xfrm>
            <a:off x="700088" y="4403725"/>
            <a:ext cx="5597525" cy="4171950"/>
          </a:xfrm>
          <a:ln/>
        </p:spPr>
        <p:txBody>
          <a:bodyPr wrap="square" lIns="93663" tIns="46038" rIns="93663" bIns="46038" anchor="t" anchorCtr="0"/>
          <a:p>
            <a:pPr lvl="0" eaLnBrk="1" hangingPunct="1"/>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3"/>
          <p:cNvSpPr txBox="1">
            <a:spLocks noGrp="1"/>
          </p:cNvSpPr>
          <p:nvPr>
            <p:ph type="dt" sz="half"/>
          </p:nvPr>
        </p:nvSpPr>
        <p:spPr>
          <a:xfrm>
            <a:off x="3963988" y="0"/>
            <a:ext cx="3032125" cy="461963"/>
          </a:xfrm>
          <a:prstGeom prst="rect">
            <a:avLst/>
          </a:prstGeom>
          <a:noFill/>
          <a:ln w="9525">
            <a:noFill/>
          </a:ln>
        </p:spPr>
        <p:txBody>
          <a:bodyPr lIns="93663" tIns="46038" rIns="93663" bIns="46038"/>
          <a:p>
            <a:pPr lvl="0" algn="r" defTabSz="930275" eaLnBrk="1" hangingPunct="1"/>
            <a:fld id="{BB962C8B-B14F-4D97-AF65-F5344CB8AC3E}" type="datetime1">
              <a:rPr lang="en-US" sz="1200" dirty="0">
                <a:solidFill>
                  <a:schemeClr val="tx1"/>
                </a:solidFill>
              </a:rPr>
            </a:fld>
            <a:endParaRPr lang="en-US" sz="1200" dirty="0">
              <a:solidFill>
                <a:schemeClr val="tx1"/>
              </a:solidFill>
            </a:endParaRPr>
          </a:p>
        </p:txBody>
      </p:sp>
      <p:sp>
        <p:nvSpPr>
          <p:cNvPr id="96258" name="Rectangle 7"/>
          <p:cNvSpPr txBox="1">
            <a:spLocks noGrp="1"/>
          </p:cNvSpPr>
          <p:nvPr>
            <p:ph type="sldNum" sz="quarter"/>
          </p:nvPr>
        </p:nvSpPr>
        <p:spPr>
          <a:xfrm>
            <a:off x="3963988" y="8807450"/>
            <a:ext cx="3032125" cy="461963"/>
          </a:xfrm>
          <a:prstGeom prst="rect">
            <a:avLst/>
          </a:prstGeom>
          <a:noFill/>
          <a:ln w="9525">
            <a:noFill/>
          </a:ln>
        </p:spPr>
        <p:txBody>
          <a:bodyPr lIns="93663" tIns="46038" rIns="93663" bIns="46038" anchor="b" anchorCtr="0"/>
          <a:p>
            <a:pPr lvl="0" algn="r" defTabSz="930275" eaLnBrk="1" hangingPunct="1"/>
            <a:fld id="{9A0DB2DC-4C9A-4742-B13C-FB6460FD3503}" type="slidenum">
              <a:rPr lang="en-US" sz="1200" dirty="0">
                <a:solidFill>
                  <a:schemeClr val="tx1"/>
                </a:solidFill>
              </a:rPr>
            </a:fld>
            <a:endParaRPr lang="en-US" sz="1200" dirty="0">
              <a:solidFill>
                <a:schemeClr val="tx1"/>
              </a:solidFill>
            </a:endParaRPr>
          </a:p>
        </p:txBody>
      </p:sp>
      <p:sp>
        <p:nvSpPr>
          <p:cNvPr id="96259" name="Rectangle 2"/>
          <p:cNvSpPr>
            <a:spLocks noGrp="1" noRot="1" noChangeAspect="1" noTextEdit="1"/>
          </p:cNvSpPr>
          <p:nvPr>
            <p:ph type="sldImg"/>
          </p:nvPr>
        </p:nvSpPr>
        <p:spPr>
          <a:xfrm>
            <a:off x="1182688" y="693738"/>
            <a:ext cx="4635500" cy="3476625"/>
          </a:xfrm>
          <a:ln/>
        </p:spPr>
      </p:sp>
      <p:sp>
        <p:nvSpPr>
          <p:cNvPr id="96260" name="Rectangle 3"/>
          <p:cNvSpPr>
            <a:spLocks noGrp="1"/>
          </p:cNvSpPr>
          <p:nvPr>
            <p:ph type="body" idx="1"/>
          </p:nvPr>
        </p:nvSpPr>
        <p:spPr>
          <a:ln/>
        </p:spPr>
        <p:txBody>
          <a:bodyPr wrap="square" lIns="93663" tIns="46038" rIns="93663" bIns="46038" anchor="t" anchorCtr="0"/>
          <a:p>
            <a:pPr lvl="0" eaLnBrk="1" hangingPunct="1"/>
            <a:endParaRPr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97282" name="Picture 190"/>
          <p:cNvPicPr>
            <a:picLocks noChangeAspect="1"/>
          </p:cNvPicPr>
          <p:nvPr/>
        </p:nvPicPr>
        <p:blipFill>
          <a:blip r:embed="rId2"/>
          <a:stretch>
            <a:fillRect/>
          </a:stretch>
        </p:blipFill>
        <p:spPr>
          <a:xfrm>
            <a:off x="7021513" y="496888"/>
            <a:ext cx="1814512" cy="528637"/>
          </a:xfrm>
          <a:prstGeom prst="rect">
            <a:avLst/>
          </a:prstGeom>
          <a:noFill/>
          <a:ln w="9525">
            <a:noFill/>
          </a:ln>
        </p:spPr>
      </p:pic>
      <p:sp>
        <p:nvSpPr>
          <p:cNvPr id="97283" name="Rectangle 128"/>
          <p:cNvSpPr/>
          <p:nvPr/>
        </p:nvSpPr>
        <p:spPr>
          <a:xfrm>
            <a:off x="0" y="0"/>
            <a:ext cx="6705600" cy="1481138"/>
          </a:xfrm>
          <a:prstGeom prst="rect">
            <a:avLst/>
          </a:prstGeom>
          <a:solidFill>
            <a:srgbClr val="BBBBBB"/>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sp>
        <p:nvSpPr>
          <p:cNvPr id="97284" name="Rectangle 131"/>
          <p:cNvSpPr/>
          <p:nvPr/>
        </p:nvSpPr>
        <p:spPr>
          <a:xfrm flipH="1">
            <a:off x="6702425" y="1196975"/>
            <a:ext cx="2441575" cy="284163"/>
          </a:xfrm>
          <a:prstGeom prst="rect">
            <a:avLst/>
          </a:prstGeom>
          <a:solidFill>
            <a:schemeClr val="accent1"/>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sp>
        <p:nvSpPr>
          <p:cNvPr id="97285" name="Rectangle 132"/>
          <p:cNvSpPr/>
          <p:nvPr/>
        </p:nvSpPr>
        <p:spPr>
          <a:xfrm>
            <a:off x="0" y="1200150"/>
            <a:ext cx="6705600" cy="280988"/>
          </a:xfrm>
          <a:prstGeom prst="rect">
            <a:avLst/>
          </a:prstGeom>
          <a:solidFill>
            <a:srgbClr val="868686"/>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pic>
        <p:nvPicPr>
          <p:cNvPr id="97286" name="Picture 133" descr="hds with sunrise"/>
          <p:cNvPicPr>
            <a:picLocks noChangeAspect="1"/>
          </p:cNvPicPr>
          <p:nvPr/>
        </p:nvPicPr>
        <p:blipFill>
          <a:blip r:embed="rId3"/>
          <a:stretch>
            <a:fillRect/>
          </a:stretch>
        </p:blipFill>
        <p:spPr>
          <a:xfrm>
            <a:off x="6605588" y="6477000"/>
            <a:ext cx="2206625" cy="219075"/>
          </a:xfrm>
          <a:prstGeom prst="rect">
            <a:avLst/>
          </a:prstGeom>
          <a:noFill/>
          <a:ln w="9525">
            <a:noFill/>
          </a:ln>
        </p:spPr>
      </p:pic>
      <p:pic>
        <p:nvPicPr>
          <p:cNvPr id="97287" name="Picture 134"/>
          <p:cNvPicPr>
            <a:picLocks noChangeAspect="1"/>
          </p:cNvPicPr>
          <p:nvPr/>
        </p:nvPicPr>
        <p:blipFill>
          <a:blip r:embed="rId4"/>
          <a:stretch>
            <a:fillRect/>
          </a:stretch>
        </p:blipFill>
        <p:spPr>
          <a:xfrm>
            <a:off x="396875" y="6477000"/>
            <a:ext cx="1854200" cy="203200"/>
          </a:xfrm>
          <a:prstGeom prst="rect">
            <a:avLst/>
          </a:prstGeom>
          <a:noFill/>
          <a:ln w="9525">
            <a:noFill/>
          </a:ln>
        </p:spPr>
      </p:pic>
      <p:sp>
        <p:nvSpPr>
          <p:cNvPr id="97288" name="Rectangle 135"/>
          <p:cNvSpPr/>
          <p:nvPr/>
        </p:nvSpPr>
        <p:spPr>
          <a:xfrm>
            <a:off x="3124200" y="6553200"/>
            <a:ext cx="2895600" cy="244475"/>
          </a:xfrm>
          <a:prstGeom prst="rect">
            <a:avLst/>
          </a:prstGeom>
          <a:noFill/>
          <a:ln w="9525">
            <a:noFill/>
          </a:ln>
        </p:spPr>
        <p:txBody>
          <a:bodyPr lIns="0" tIns="0" rIns="0" bIns="0">
            <a:spAutoFit/>
          </a:bodyPr>
          <a:p>
            <a:pPr lvl="0" algn="ctr" eaLnBrk="1" hangingPunct="1"/>
            <a:r>
              <a:rPr lang="en-US" altLang="ja-JP" sz="800" dirty="0">
                <a:latin typeface="Helvetica" charset="0"/>
              </a:rPr>
              <a:t>© 2009 Hitachi Data Systems</a:t>
            </a:r>
            <a:endParaRPr lang="en-US" altLang="ja-JP" sz="800" dirty="0">
              <a:latin typeface="Helvetica" charset="0"/>
            </a:endParaRPr>
          </a:p>
          <a:p>
            <a:pPr lvl="0" algn="ctr" eaLnBrk="1" hangingPunct="1"/>
            <a:endParaRPr lang="en-US" altLang="ja-JP" sz="800" dirty="0">
              <a:latin typeface="Arial" panose="020B0604020202020204" pitchFamily="34" charset="0"/>
            </a:endParaRPr>
          </a:p>
        </p:txBody>
      </p:sp>
      <p:sp>
        <p:nvSpPr>
          <p:cNvPr id="31748" name="Rectangle 4"/>
          <p:cNvSpPr>
            <a:spLocks noGrp="1" noChangeArrowheads="1"/>
          </p:cNvSpPr>
          <p:nvPr>
            <p:ph type="ctrTitle" hasCustomPrompt="1"/>
          </p:nvPr>
        </p:nvSpPr>
        <p:spPr>
          <a:xfrm>
            <a:off x="3505200" y="2209800"/>
            <a:ext cx="5334000" cy="384175"/>
          </a:xfrm>
        </p:spPr>
        <p:txBody>
          <a:bodyPr lIns="0" rIns="0" anchor="t"/>
          <a:lstStyle>
            <a:lvl1pPr>
              <a:defRPr sz="2800"/>
            </a:lvl1pPr>
          </a:lstStyle>
          <a:p>
            <a:r>
              <a:rPr lang="en-US" altLang="ja-JP"/>
              <a:t>Presentation Title</a:t>
            </a:r>
            <a:endParaRPr lang="en-US" altLang="ja-JP"/>
          </a:p>
        </p:txBody>
      </p:sp>
      <p:sp>
        <p:nvSpPr>
          <p:cNvPr id="31749" name="Rectangle 5"/>
          <p:cNvSpPr>
            <a:spLocks noGrp="1" noChangeArrowheads="1"/>
          </p:cNvSpPr>
          <p:nvPr>
            <p:ph type="subTitle" idx="1" hasCustomPrompt="1"/>
          </p:nvPr>
        </p:nvSpPr>
        <p:spPr>
          <a:xfrm>
            <a:off x="3505200" y="3535363"/>
            <a:ext cx="5334000" cy="304800"/>
          </a:xfrm>
        </p:spPr>
        <p:txBody>
          <a:bodyPr lIns="0" tIns="0" rIns="0" bIns="0">
            <a:spAutoFit/>
          </a:bodyPr>
          <a:lstStyle>
            <a:lvl1pPr marL="0" indent="0">
              <a:buFontTx/>
              <a:buNone/>
              <a:defRPr b="1"/>
            </a:lvl1pPr>
          </a:lstStyle>
          <a:p>
            <a:r>
              <a:rPr lang="en-US" altLang="ja-JP"/>
              <a:t>Presentation Sub-Title</a:t>
            </a:r>
            <a:endParaRPr lang="en-US" altLang="ja-JP"/>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7013" y="1066800"/>
            <a:ext cx="4305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84713" y="1066800"/>
            <a:ext cx="4305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tabLst>
                <a:tab pos="2245995" algn="l"/>
                <a:tab pos="2514600" algn="l"/>
              </a:tabLst>
              <a:defRPr/>
            </a:pPr>
            <a:endParaRPr kumimoji="1" lang="en-US" sz="3200" b="0" i="0" u="none" strike="noStrike" kern="0" cap="none" spc="0" normalizeH="0" baseline="0" noProof="0" smtClean="0">
              <a:ln>
                <a:noFill/>
              </a:ln>
              <a:solidFill>
                <a:srgbClr val="333333"/>
              </a:solidFill>
              <a:effectLst/>
              <a:uLnTx/>
              <a:uFillTx/>
              <a:latin typeface="+mn-lt"/>
              <a:ea typeface="MS PGothic" charset="0"/>
              <a:cs typeface="MS PGothic"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99263" y="254000"/>
            <a:ext cx="2190750" cy="599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7013" y="254000"/>
            <a:ext cx="6419850" cy="599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254000"/>
            <a:ext cx="7086600" cy="328613"/>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227013" y="1066800"/>
            <a:ext cx="4305300" cy="5181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684713" y="1066800"/>
            <a:ext cx="4305300" cy="5181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54000"/>
            <a:ext cx="7086600" cy="32861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7013" y="1066800"/>
            <a:ext cx="4305300" cy="5181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684713" y="1066800"/>
            <a:ext cx="4305300" cy="2514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4684713" y="3733800"/>
            <a:ext cx="4305300" cy="2514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54000"/>
            <a:ext cx="7086600" cy="32861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7013" y="1066800"/>
            <a:ext cx="4305300" cy="5181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84713" y="1066800"/>
            <a:ext cx="4305300" cy="5181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228600" y="254000"/>
            <a:ext cx="7086600" cy="32861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7013" y="1066800"/>
            <a:ext cx="4305300" cy="5181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lipArt Placeholder 3"/>
          <p:cNvSpPr>
            <a:spLocks noGrp="1"/>
          </p:cNvSpPr>
          <p:nvPr>
            <p:ph type="clipArt" sz="half" idx="2"/>
          </p:nvPr>
        </p:nvSpPr>
        <p:spPr>
          <a:xfrm>
            <a:off x="4684713" y="1066800"/>
            <a:ext cx="4305300" cy="5181600"/>
          </a:xfrm>
        </p:spPr>
        <p:txBody>
          <a:bodyPr vert="horz" wrap="square" lIns="91440" tIns="45720" rIns="91440" bIns="45720" numCol="1" anchor="t" anchorCtr="0" compatLnSpc="1"/>
          <a:lstStyle/>
          <a:p>
            <a:pPr marL="228600" marR="0" lvl="0" indent="-228600" algn="l" defTabSz="914400" rtl="0" eaLnBrk="0" fontAlgn="base" latinLnBrk="0" hangingPunct="0">
              <a:lnSpc>
                <a:spcPct val="100000"/>
              </a:lnSpc>
              <a:spcBef>
                <a:spcPct val="20000"/>
              </a:spcBef>
              <a:spcAft>
                <a:spcPct val="0"/>
              </a:spcAft>
              <a:buClrTx/>
              <a:buSzTx/>
              <a:buFontTx/>
              <a:buChar char="•"/>
              <a:tabLst>
                <a:tab pos="2245995" algn="l"/>
                <a:tab pos="2514600" algn="l"/>
              </a:tabLst>
              <a:defRPr/>
            </a:pPr>
            <a:endParaRPr kumimoji="1" lang="en-US" sz="2000" b="0" i="0" u="none" strike="noStrike" kern="0" cap="none" spc="0" normalizeH="0" baseline="0" noProof="0" smtClean="0">
              <a:ln>
                <a:noFill/>
              </a:ln>
              <a:solidFill>
                <a:srgbClr val="333333"/>
              </a:solidFill>
              <a:effectLst/>
              <a:uLnTx/>
              <a:uFillTx/>
              <a:latin typeface="+mn-lt"/>
              <a:ea typeface="MS PGothic" charset="0"/>
              <a:cs typeface="MS PGothic"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28600" y="254000"/>
            <a:ext cx="7086600" cy="328613"/>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227013" y="1066800"/>
            <a:ext cx="4305300" cy="2514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684713" y="1066800"/>
            <a:ext cx="4305300" cy="2514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227013" y="3733800"/>
            <a:ext cx="4305300" cy="2514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Content Placeholder 5"/>
          <p:cNvSpPr>
            <a:spLocks noGrp="1"/>
          </p:cNvSpPr>
          <p:nvPr>
            <p:ph sz="quarter" idx="4"/>
          </p:nvPr>
        </p:nvSpPr>
        <p:spPr>
          <a:xfrm>
            <a:off x="4684713" y="3733800"/>
            <a:ext cx="4305300" cy="2514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254000"/>
            <a:ext cx="7086600" cy="32861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227013" y="1066800"/>
            <a:ext cx="8763000" cy="5181600"/>
          </a:xfrm>
        </p:spPr>
        <p:txBody>
          <a:bodyPr vert="horz" wrap="square" lIns="91440" tIns="45720" rIns="91440" bIns="45720" numCol="1" anchor="t" anchorCtr="0" compatLnSpc="1"/>
          <a:lstStyle/>
          <a:p>
            <a:pPr marL="228600" marR="0" lvl="0" indent="-228600" algn="l" defTabSz="914400" rtl="0" eaLnBrk="0" fontAlgn="base" latinLnBrk="0" hangingPunct="0">
              <a:lnSpc>
                <a:spcPct val="100000"/>
              </a:lnSpc>
              <a:spcBef>
                <a:spcPct val="20000"/>
              </a:spcBef>
              <a:spcAft>
                <a:spcPct val="0"/>
              </a:spcAft>
              <a:buClrTx/>
              <a:buSzTx/>
              <a:buFontTx/>
              <a:buChar char="•"/>
              <a:tabLst>
                <a:tab pos="2245995" algn="l"/>
                <a:tab pos="2514600" algn="l"/>
              </a:tabLst>
              <a:defRPr/>
            </a:pPr>
            <a:endParaRPr kumimoji="1" lang="en-US" sz="2000" b="0" i="0" u="none" strike="noStrike" kern="0" cap="none" spc="0" normalizeH="0" baseline="0" noProof="0" smtClean="0">
              <a:ln>
                <a:noFill/>
              </a:ln>
              <a:solidFill>
                <a:srgbClr val="333333"/>
              </a:solidFill>
              <a:effectLst/>
              <a:uLnTx/>
              <a:uFillTx/>
              <a:latin typeface="+mn-lt"/>
              <a:ea typeface="MS PGothic" charset="0"/>
              <a:cs typeface="MS PGothic"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smtClean="0">
              <a:ln>
                <a:noFill/>
              </a:ln>
              <a:solidFill>
                <a:schemeClr val="tx1"/>
              </a:solidFill>
              <a:effectLst/>
              <a:uLnTx/>
              <a:uFillTx/>
              <a:latin typeface="+mn-lt"/>
              <a:ea typeface="MS PGothic" charset="0"/>
              <a:cs typeface="MS PGothic" charset="0"/>
            </a:endParaRP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smtClean="0">
              <a:ln>
                <a:noFill/>
              </a:ln>
              <a:solidFill>
                <a:schemeClr val="tx1"/>
              </a:solidFill>
              <a:effectLst/>
              <a:uLnTx/>
              <a:uFillTx/>
              <a:latin typeface="+mn-lt"/>
              <a:ea typeface="MS PGothic" charset="0"/>
              <a:cs typeface="MS PGothic" charset="0"/>
            </a:endParaRP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4.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4" Type="http://schemas.openxmlformats.org/officeDocument/2006/relationships/theme" Target="../theme/theme2.xml"/><Relationship Id="rId13" Type="http://schemas.openxmlformats.org/officeDocument/2006/relationships/image" Target="../media/image2.png"/><Relationship Id="rId12" Type="http://schemas.openxmlformats.org/officeDocument/2006/relationships/image" Target="../media/image4.png"/><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7.xml"/><Relationship Id="rId8" Type="http://schemas.openxmlformats.org/officeDocument/2006/relationships/slideLayout" Target="../slideLayouts/slideLayout36.xml"/><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 Type="http://schemas.openxmlformats.org/officeDocument/2006/relationships/slideLayout" Target="../slideLayouts/slideLayout30.xml"/><Relationship Id="rId14" Type="http://schemas.openxmlformats.org/officeDocument/2006/relationships/theme" Target="../theme/theme3.xml"/><Relationship Id="rId13" Type="http://schemas.openxmlformats.org/officeDocument/2006/relationships/image" Target="../media/image2.png"/><Relationship Id="rId12" Type="http://schemas.openxmlformats.org/officeDocument/2006/relationships/image" Target="../media/image4.png"/><Relationship Id="rId11" Type="http://schemas.openxmlformats.org/officeDocument/2006/relationships/slideLayout" Target="../slideLayouts/slideLayout39.xml"/><Relationship Id="rId10" Type="http://schemas.openxmlformats.org/officeDocument/2006/relationships/slideLayout" Target="../slideLayouts/slideLayout38.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grpSp>
        <p:nvGrpSpPr>
          <p:cNvPr id="1026" name="Group 68"/>
          <p:cNvGrpSpPr/>
          <p:nvPr/>
        </p:nvGrpSpPr>
        <p:grpSpPr>
          <a:xfrm>
            <a:off x="0" y="0"/>
            <a:ext cx="9142413" cy="930275"/>
            <a:chOff x="0" y="0"/>
            <a:chExt cx="5759" cy="586"/>
          </a:xfrm>
        </p:grpSpPr>
        <p:sp>
          <p:nvSpPr>
            <p:cNvPr id="1031" name="Rectangle 38"/>
            <p:cNvSpPr/>
            <p:nvPr/>
          </p:nvSpPr>
          <p:spPr>
            <a:xfrm>
              <a:off x="0" y="0"/>
              <a:ext cx="4797" cy="490"/>
            </a:xfrm>
            <a:prstGeom prst="rect">
              <a:avLst/>
            </a:prstGeom>
            <a:solidFill>
              <a:srgbClr val="BBBBBB"/>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sp>
          <p:nvSpPr>
            <p:cNvPr id="1032" name="Rectangle 39"/>
            <p:cNvSpPr/>
            <p:nvPr/>
          </p:nvSpPr>
          <p:spPr>
            <a:xfrm flipH="1">
              <a:off x="0" y="489"/>
              <a:ext cx="4796" cy="97"/>
            </a:xfrm>
            <a:prstGeom prst="rect">
              <a:avLst/>
            </a:prstGeom>
            <a:solidFill>
              <a:srgbClr val="868686"/>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sp>
          <p:nvSpPr>
            <p:cNvPr id="1033" name="Rectangle 65"/>
            <p:cNvSpPr/>
            <p:nvPr userDrawn="1"/>
          </p:nvSpPr>
          <p:spPr>
            <a:xfrm flipH="1">
              <a:off x="4795" y="489"/>
              <a:ext cx="964" cy="97"/>
            </a:xfrm>
            <a:prstGeom prst="rect">
              <a:avLst/>
            </a:prstGeom>
            <a:solidFill>
              <a:schemeClr val="accent1"/>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pic>
          <p:nvPicPr>
            <p:cNvPr id="1034" name="Picture 67" descr="hitachi_inspireLogo"/>
            <p:cNvPicPr>
              <a:picLocks noChangeAspect="1"/>
            </p:cNvPicPr>
            <p:nvPr userDrawn="1"/>
          </p:nvPicPr>
          <p:blipFill>
            <a:blip r:embed="rId18"/>
            <a:stretch>
              <a:fillRect/>
            </a:stretch>
          </p:blipFill>
          <p:spPr>
            <a:xfrm>
              <a:off x="4904" y="193"/>
              <a:ext cx="760" cy="219"/>
            </a:xfrm>
            <a:prstGeom prst="rect">
              <a:avLst/>
            </a:prstGeom>
            <a:noFill/>
            <a:ln w="9525">
              <a:noFill/>
            </a:ln>
          </p:spPr>
        </p:pic>
      </p:grpSp>
      <p:sp>
        <p:nvSpPr>
          <p:cNvPr id="1027" name="Rectangle 10"/>
          <p:cNvSpPr>
            <a:spLocks noGrp="1"/>
          </p:cNvSpPr>
          <p:nvPr>
            <p:ph type="title"/>
          </p:nvPr>
        </p:nvSpPr>
        <p:spPr>
          <a:xfrm>
            <a:off x="228600" y="254000"/>
            <a:ext cx="7086600" cy="328613"/>
          </a:xfrm>
          <a:prstGeom prst="rect">
            <a:avLst/>
          </a:prstGeom>
          <a:noFill/>
          <a:ln w="9525">
            <a:noFill/>
          </a:ln>
        </p:spPr>
        <p:txBody>
          <a:bodyPr tIns="0" bIns="0" anchor="ctr" anchorCtr="0">
            <a:spAutoFit/>
          </a:bodyPr>
          <a:p>
            <a:pPr lvl="0"/>
            <a:r>
              <a:rPr lang="en-US" altLang="ja-JP" dirty="0"/>
              <a:t>Master title</a:t>
            </a:r>
            <a:endParaRPr lang="en-US" altLang="ja-JP" dirty="0"/>
          </a:p>
        </p:txBody>
      </p:sp>
      <p:sp>
        <p:nvSpPr>
          <p:cNvPr id="1028" name="Rectangle 11"/>
          <p:cNvSpPr>
            <a:spLocks noGrp="1"/>
          </p:cNvSpPr>
          <p:nvPr>
            <p:ph type="body" idx="1"/>
          </p:nvPr>
        </p:nvSpPr>
        <p:spPr>
          <a:xfrm>
            <a:off x="227013" y="1066800"/>
            <a:ext cx="8763000" cy="51816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029" name="Rectangle 12"/>
          <p:cNvSpPr/>
          <p:nvPr/>
        </p:nvSpPr>
        <p:spPr>
          <a:xfrm>
            <a:off x="106363" y="6540500"/>
            <a:ext cx="261937" cy="122238"/>
          </a:xfrm>
          <a:prstGeom prst="rect">
            <a:avLst/>
          </a:prstGeom>
          <a:noFill/>
          <a:ln w="9525">
            <a:noFill/>
          </a:ln>
        </p:spPr>
        <p:txBody>
          <a:bodyPr lIns="0" tIns="0" rIns="0" bIns="0"/>
          <a:p>
            <a:pPr lvl="0" algn="r" eaLnBrk="1" hangingPunct="1"/>
            <a:fld id="{9A0DB2DC-4C9A-4742-B13C-FB6460FD3503}" type="slidenum">
              <a:rPr lang="en-US" sz="900" dirty="0">
                <a:latin typeface="Helvetica" charset="0"/>
              </a:rPr>
            </a:fld>
            <a:endParaRPr lang="en-US" sz="900" dirty="0">
              <a:latin typeface="Helvetica" charset="0"/>
            </a:endParaRPr>
          </a:p>
        </p:txBody>
      </p:sp>
      <p:pic>
        <p:nvPicPr>
          <p:cNvPr id="1030" name="Picture 55" descr="hds with sunrise"/>
          <p:cNvPicPr>
            <a:picLocks noChangeAspect="1"/>
          </p:cNvPicPr>
          <p:nvPr/>
        </p:nvPicPr>
        <p:blipFill>
          <a:blip r:embed="rId19"/>
          <a:stretch>
            <a:fillRect/>
          </a:stretch>
        </p:blipFill>
        <p:spPr>
          <a:xfrm>
            <a:off x="6781800" y="6477000"/>
            <a:ext cx="2206625" cy="2190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rtl="0" eaLnBrk="0" fontAlgn="base" hangingPunct="0">
        <a:lnSpc>
          <a:spcPct val="90000"/>
        </a:lnSpc>
        <a:spcBef>
          <a:spcPct val="0"/>
        </a:spcBef>
        <a:spcAft>
          <a:spcPct val="0"/>
        </a:spcAft>
        <a:defRPr kumimoji="1" sz="2400" b="1">
          <a:solidFill>
            <a:srgbClr val="333333"/>
          </a:solidFill>
          <a:latin typeface="+mj-lt"/>
          <a:ea typeface="MS PGothic" charset="0"/>
          <a:cs typeface="HGP創英角ｺﾞｼｯｸUB"/>
        </a:defRPr>
      </a:lvl1pPr>
      <a:lvl2pPr algn="l" rtl="0" eaLnBrk="0" fontAlgn="base" hangingPunct="0">
        <a:lnSpc>
          <a:spcPct val="90000"/>
        </a:lnSpc>
        <a:spcBef>
          <a:spcPct val="0"/>
        </a:spcBef>
        <a:spcAft>
          <a:spcPct val="0"/>
        </a:spcAft>
        <a:defRPr kumimoji="1" sz="2400" b="1">
          <a:solidFill>
            <a:srgbClr val="333333"/>
          </a:solidFill>
          <a:latin typeface="Helvetica" charset="0"/>
          <a:ea typeface="MS PGothic" charset="0"/>
          <a:cs typeface="HGP創英角ｺﾞｼｯｸUB"/>
        </a:defRPr>
      </a:lvl2pPr>
      <a:lvl3pPr algn="l" rtl="0" eaLnBrk="0" fontAlgn="base" hangingPunct="0">
        <a:lnSpc>
          <a:spcPct val="90000"/>
        </a:lnSpc>
        <a:spcBef>
          <a:spcPct val="0"/>
        </a:spcBef>
        <a:spcAft>
          <a:spcPct val="0"/>
        </a:spcAft>
        <a:defRPr kumimoji="1" sz="2400" b="1">
          <a:solidFill>
            <a:srgbClr val="333333"/>
          </a:solidFill>
          <a:latin typeface="Helvetica" charset="0"/>
          <a:ea typeface="MS PGothic" charset="0"/>
          <a:cs typeface="HGP創英角ｺﾞｼｯｸUB"/>
        </a:defRPr>
      </a:lvl3pPr>
      <a:lvl4pPr algn="l" rtl="0" eaLnBrk="0" fontAlgn="base" hangingPunct="0">
        <a:lnSpc>
          <a:spcPct val="90000"/>
        </a:lnSpc>
        <a:spcBef>
          <a:spcPct val="0"/>
        </a:spcBef>
        <a:spcAft>
          <a:spcPct val="0"/>
        </a:spcAft>
        <a:defRPr kumimoji="1" sz="2400" b="1">
          <a:solidFill>
            <a:srgbClr val="333333"/>
          </a:solidFill>
          <a:latin typeface="Helvetica" charset="0"/>
          <a:ea typeface="MS PGothic" charset="0"/>
          <a:cs typeface="HGP創英角ｺﾞｼｯｸUB"/>
        </a:defRPr>
      </a:lvl4pPr>
      <a:lvl5pPr algn="l" rtl="0" eaLnBrk="0" fontAlgn="base" hangingPunct="0">
        <a:lnSpc>
          <a:spcPct val="90000"/>
        </a:lnSpc>
        <a:spcBef>
          <a:spcPct val="0"/>
        </a:spcBef>
        <a:spcAft>
          <a:spcPct val="0"/>
        </a:spcAft>
        <a:defRPr kumimoji="1" sz="2400" b="1">
          <a:solidFill>
            <a:srgbClr val="333333"/>
          </a:solidFill>
          <a:latin typeface="Helvetica" charset="0"/>
          <a:ea typeface="MS PGothic" charset="0"/>
          <a:cs typeface="HGP創英角ｺﾞｼｯｸUB"/>
        </a:defRPr>
      </a:lvl5pPr>
      <a:lvl6pPr marL="457200" algn="l" rtl="0" fontAlgn="base">
        <a:lnSpc>
          <a:spcPct val="90000"/>
        </a:lnSpc>
        <a:spcBef>
          <a:spcPct val="0"/>
        </a:spcBef>
        <a:spcAft>
          <a:spcPct val="0"/>
        </a:spcAft>
        <a:defRPr kumimoji="1" sz="2400" b="1">
          <a:solidFill>
            <a:srgbClr val="333333"/>
          </a:solidFill>
          <a:latin typeface="Helvetica" charset="0"/>
          <a:ea typeface="HGPSoeiKakugothicUB" pitchFamily="50" charset="-128"/>
        </a:defRPr>
      </a:lvl6pPr>
      <a:lvl7pPr marL="914400" algn="l" rtl="0" fontAlgn="base">
        <a:lnSpc>
          <a:spcPct val="90000"/>
        </a:lnSpc>
        <a:spcBef>
          <a:spcPct val="0"/>
        </a:spcBef>
        <a:spcAft>
          <a:spcPct val="0"/>
        </a:spcAft>
        <a:defRPr kumimoji="1" sz="2400" b="1">
          <a:solidFill>
            <a:srgbClr val="333333"/>
          </a:solidFill>
          <a:latin typeface="Helvetica" charset="0"/>
          <a:ea typeface="HGPSoeiKakugothicUB" pitchFamily="50" charset="-128"/>
        </a:defRPr>
      </a:lvl7pPr>
      <a:lvl8pPr marL="1371600" algn="l" rtl="0" fontAlgn="base">
        <a:lnSpc>
          <a:spcPct val="90000"/>
        </a:lnSpc>
        <a:spcBef>
          <a:spcPct val="0"/>
        </a:spcBef>
        <a:spcAft>
          <a:spcPct val="0"/>
        </a:spcAft>
        <a:defRPr kumimoji="1" sz="2400" b="1">
          <a:solidFill>
            <a:srgbClr val="333333"/>
          </a:solidFill>
          <a:latin typeface="Helvetica" charset="0"/>
          <a:ea typeface="HGPSoeiKakugothicUB" pitchFamily="50" charset="-128"/>
        </a:defRPr>
      </a:lvl8pPr>
      <a:lvl9pPr marL="1828800" algn="l" rtl="0" fontAlgn="base">
        <a:lnSpc>
          <a:spcPct val="90000"/>
        </a:lnSpc>
        <a:spcBef>
          <a:spcPct val="0"/>
        </a:spcBef>
        <a:spcAft>
          <a:spcPct val="0"/>
        </a:spcAft>
        <a:defRPr kumimoji="1" sz="2400" b="1">
          <a:solidFill>
            <a:srgbClr val="333333"/>
          </a:solidFill>
          <a:latin typeface="Helvetica" charset="0"/>
          <a:ea typeface="HGPSoeiKakugothicUB" pitchFamily="50" charset="-128"/>
        </a:defRPr>
      </a:lvl9pPr>
    </p:titleStyle>
    <p:bodyStyle>
      <a:lvl1pPr marL="228600" indent="-228600" algn="l" rtl="0" eaLnBrk="0" fontAlgn="base" hangingPunct="0">
        <a:spcBef>
          <a:spcPct val="20000"/>
        </a:spcBef>
        <a:spcAft>
          <a:spcPct val="0"/>
        </a:spcAft>
        <a:buChar char="•"/>
        <a:tabLst>
          <a:tab pos="2245995" algn="l"/>
          <a:tab pos="2514600" algn="l"/>
        </a:tabLst>
        <a:defRPr kumimoji="1" sz="2000">
          <a:solidFill>
            <a:srgbClr val="333333"/>
          </a:solidFill>
          <a:latin typeface="+mn-lt"/>
          <a:ea typeface="MS PGothic" charset="0"/>
          <a:cs typeface="MS PGothic" charset="0"/>
        </a:defRPr>
      </a:lvl1pPr>
      <a:lvl2pPr marL="685800" indent="-228600" algn="l" rtl="0" eaLnBrk="0" fontAlgn="base" hangingPunct="0">
        <a:spcBef>
          <a:spcPct val="20000"/>
        </a:spcBef>
        <a:spcAft>
          <a:spcPct val="0"/>
        </a:spcAft>
        <a:buChar char="–"/>
        <a:tabLst>
          <a:tab pos="2245995" algn="l"/>
          <a:tab pos="2514600" algn="l"/>
        </a:tabLst>
        <a:defRPr kumimoji="1">
          <a:solidFill>
            <a:srgbClr val="333333"/>
          </a:solidFill>
          <a:latin typeface="+mn-lt"/>
          <a:ea typeface="+mn-ea"/>
          <a:cs typeface="MS PGothic" charset="0"/>
        </a:defRPr>
      </a:lvl2pPr>
      <a:lvl3pPr marL="1143000" indent="-228600" algn="l" rtl="0" eaLnBrk="0" fontAlgn="base" hangingPunct="0">
        <a:spcBef>
          <a:spcPct val="20000"/>
        </a:spcBef>
        <a:spcAft>
          <a:spcPct val="0"/>
        </a:spcAft>
        <a:buChar char="•"/>
        <a:tabLst>
          <a:tab pos="2245995" algn="l"/>
          <a:tab pos="2514600" algn="l"/>
        </a:tabLst>
        <a:defRPr kumimoji="1">
          <a:solidFill>
            <a:srgbClr val="333333"/>
          </a:solidFill>
          <a:latin typeface="+mn-lt"/>
          <a:ea typeface="+mn-ea"/>
          <a:cs typeface="MS PGothic" charset="0"/>
        </a:defRPr>
      </a:lvl3pPr>
      <a:lvl4pPr marL="1600200" indent="-228600" algn="l" rtl="0" eaLnBrk="0" fontAlgn="base" hangingPunct="0">
        <a:spcBef>
          <a:spcPct val="20000"/>
        </a:spcBef>
        <a:spcAft>
          <a:spcPct val="0"/>
        </a:spcAft>
        <a:buChar char="–"/>
        <a:tabLst>
          <a:tab pos="2245995" algn="l"/>
          <a:tab pos="2514600" algn="l"/>
        </a:tabLst>
        <a:defRPr kumimoji="1" sz="1600">
          <a:solidFill>
            <a:srgbClr val="333333"/>
          </a:solidFill>
          <a:latin typeface="+mn-lt"/>
          <a:ea typeface="+mn-ea"/>
          <a:cs typeface="MS PGothic" charset="0"/>
        </a:defRPr>
      </a:lvl4pPr>
      <a:lvl5pPr marL="2057400" indent="-228600" algn="l" rtl="0" eaLnBrk="0" fontAlgn="base" hangingPunct="0">
        <a:spcBef>
          <a:spcPct val="20000"/>
        </a:spcBef>
        <a:spcAft>
          <a:spcPct val="0"/>
        </a:spcAft>
        <a:buChar char="»"/>
        <a:tabLst>
          <a:tab pos="2245995" algn="l"/>
          <a:tab pos="2514600" algn="l"/>
        </a:tabLst>
        <a:defRPr kumimoji="1" sz="1600">
          <a:solidFill>
            <a:srgbClr val="333333"/>
          </a:solidFill>
          <a:latin typeface="+mn-lt"/>
          <a:ea typeface="+mn-ea"/>
          <a:cs typeface="MS PGothic" charset="0"/>
        </a:defRPr>
      </a:lvl5pPr>
      <a:lvl6pPr marL="2514600" indent="-228600" algn="l" rtl="0" fontAlgn="base">
        <a:spcBef>
          <a:spcPct val="20000"/>
        </a:spcBef>
        <a:spcAft>
          <a:spcPct val="0"/>
        </a:spcAft>
        <a:buChar char="»"/>
        <a:tabLst>
          <a:tab pos="2245995" algn="l"/>
          <a:tab pos="2514600" algn="l"/>
        </a:tabLst>
        <a:defRPr kumimoji="1" sz="1600">
          <a:solidFill>
            <a:srgbClr val="333333"/>
          </a:solidFill>
          <a:latin typeface="+mn-lt"/>
          <a:ea typeface="+mn-ea"/>
        </a:defRPr>
      </a:lvl6pPr>
      <a:lvl7pPr marL="2971800" indent="-228600" algn="l" rtl="0" fontAlgn="base">
        <a:spcBef>
          <a:spcPct val="20000"/>
        </a:spcBef>
        <a:spcAft>
          <a:spcPct val="0"/>
        </a:spcAft>
        <a:buChar char="»"/>
        <a:tabLst>
          <a:tab pos="2245995" algn="l"/>
          <a:tab pos="2514600" algn="l"/>
        </a:tabLst>
        <a:defRPr kumimoji="1" sz="1600">
          <a:solidFill>
            <a:srgbClr val="333333"/>
          </a:solidFill>
          <a:latin typeface="+mn-lt"/>
          <a:ea typeface="+mn-ea"/>
        </a:defRPr>
      </a:lvl7pPr>
      <a:lvl8pPr marL="3429000" indent="-228600" algn="l" rtl="0" fontAlgn="base">
        <a:spcBef>
          <a:spcPct val="20000"/>
        </a:spcBef>
        <a:spcAft>
          <a:spcPct val="0"/>
        </a:spcAft>
        <a:buChar char="»"/>
        <a:tabLst>
          <a:tab pos="2245995" algn="l"/>
          <a:tab pos="2514600" algn="l"/>
        </a:tabLst>
        <a:defRPr kumimoji="1" sz="1600">
          <a:solidFill>
            <a:srgbClr val="333333"/>
          </a:solidFill>
          <a:latin typeface="+mn-lt"/>
          <a:ea typeface="+mn-ea"/>
        </a:defRPr>
      </a:lvl8pPr>
      <a:lvl9pPr marL="3886200" indent="-228600" algn="l" rtl="0" fontAlgn="base">
        <a:spcBef>
          <a:spcPct val="20000"/>
        </a:spcBef>
        <a:spcAft>
          <a:spcPct val="0"/>
        </a:spcAft>
        <a:buChar char="»"/>
        <a:tabLst>
          <a:tab pos="2245995" algn="l"/>
          <a:tab pos="2514600" algn="l"/>
        </a:tabLst>
        <a:defRPr kumimoji="1" sz="1600">
          <a:solidFill>
            <a:srgbClr val="333333"/>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grpSp>
        <p:nvGrpSpPr>
          <p:cNvPr id="3074" name="Group 122"/>
          <p:cNvGrpSpPr/>
          <p:nvPr/>
        </p:nvGrpSpPr>
        <p:grpSpPr>
          <a:xfrm>
            <a:off x="0" y="0"/>
            <a:ext cx="9142413" cy="930275"/>
            <a:chOff x="0" y="0"/>
            <a:chExt cx="5759" cy="586"/>
          </a:xfrm>
        </p:grpSpPr>
        <p:sp>
          <p:nvSpPr>
            <p:cNvPr id="3078" name="Rectangle 123"/>
            <p:cNvSpPr/>
            <p:nvPr/>
          </p:nvSpPr>
          <p:spPr>
            <a:xfrm>
              <a:off x="0" y="0"/>
              <a:ext cx="4797" cy="490"/>
            </a:xfrm>
            <a:prstGeom prst="rect">
              <a:avLst/>
            </a:prstGeom>
            <a:solidFill>
              <a:srgbClr val="BBBBBB"/>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sp>
          <p:nvSpPr>
            <p:cNvPr id="3079" name="Rectangle 124"/>
            <p:cNvSpPr/>
            <p:nvPr/>
          </p:nvSpPr>
          <p:spPr>
            <a:xfrm flipH="1">
              <a:off x="0" y="489"/>
              <a:ext cx="4796" cy="97"/>
            </a:xfrm>
            <a:prstGeom prst="rect">
              <a:avLst/>
            </a:prstGeom>
            <a:solidFill>
              <a:srgbClr val="868686"/>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sp>
          <p:nvSpPr>
            <p:cNvPr id="3080" name="Rectangle 125"/>
            <p:cNvSpPr/>
            <p:nvPr userDrawn="1"/>
          </p:nvSpPr>
          <p:spPr>
            <a:xfrm flipH="1">
              <a:off x="4795" y="489"/>
              <a:ext cx="964" cy="97"/>
            </a:xfrm>
            <a:prstGeom prst="rect">
              <a:avLst/>
            </a:prstGeom>
            <a:solidFill>
              <a:srgbClr val="CC0000"/>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pic>
          <p:nvPicPr>
            <p:cNvPr id="3081" name="Picture 126" descr="hitachi_inspireLogo"/>
            <p:cNvPicPr>
              <a:picLocks noChangeAspect="1"/>
            </p:cNvPicPr>
            <p:nvPr userDrawn="1"/>
          </p:nvPicPr>
          <p:blipFill>
            <a:blip r:embed="rId12"/>
            <a:stretch>
              <a:fillRect/>
            </a:stretch>
          </p:blipFill>
          <p:spPr>
            <a:xfrm>
              <a:off x="4904" y="193"/>
              <a:ext cx="760" cy="219"/>
            </a:xfrm>
            <a:prstGeom prst="rect">
              <a:avLst/>
            </a:prstGeom>
            <a:noFill/>
            <a:ln w="9525">
              <a:noFill/>
            </a:ln>
          </p:spPr>
        </p:pic>
      </p:grpSp>
      <p:sp>
        <p:nvSpPr>
          <p:cNvPr id="3075" name="Rectangle 82"/>
          <p:cNvSpPr/>
          <p:nvPr/>
        </p:nvSpPr>
        <p:spPr>
          <a:xfrm>
            <a:off x="2438400" y="2751138"/>
            <a:ext cx="4073525" cy="365125"/>
          </a:xfrm>
          <a:prstGeom prst="rect">
            <a:avLst/>
          </a:prstGeom>
          <a:noFill/>
          <a:ln w="9525">
            <a:noFill/>
          </a:ln>
        </p:spPr>
        <p:txBody>
          <a:bodyPr lIns="0" tIns="0" rIns="0" bIns="0">
            <a:spAutoFit/>
          </a:bodyPr>
          <a:p>
            <a:pPr lvl="0" algn="ctr" eaLnBrk="1" hangingPunct="1"/>
            <a:r>
              <a:rPr lang="en-US" altLang="ja-JP" sz="2400" b="1" dirty="0">
                <a:solidFill>
                  <a:schemeClr val="tx2"/>
                </a:solidFill>
                <a:latin typeface="Helvetica" charset="0"/>
              </a:rPr>
              <a:t>Questions/Discussion</a:t>
            </a:r>
            <a:endParaRPr lang="en-US" altLang="ja-JP" sz="2400" b="1" dirty="0">
              <a:solidFill>
                <a:schemeClr val="tx2"/>
              </a:solidFill>
              <a:latin typeface="Helvetica" charset="0"/>
            </a:endParaRPr>
          </a:p>
        </p:txBody>
      </p:sp>
      <p:pic>
        <p:nvPicPr>
          <p:cNvPr id="3076" name="Picture 105" descr="hds with sunrise"/>
          <p:cNvPicPr>
            <a:picLocks noChangeAspect="1"/>
          </p:cNvPicPr>
          <p:nvPr/>
        </p:nvPicPr>
        <p:blipFill>
          <a:blip r:embed="rId13"/>
          <a:stretch>
            <a:fillRect/>
          </a:stretch>
        </p:blipFill>
        <p:spPr>
          <a:xfrm>
            <a:off x="6781800" y="6477000"/>
            <a:ext cx="2206625" cy="219075"/>
          </a:xfrm>
          <a:prstGeom prst="rect">
            <a:avLst/>
          </a:prstGeom>
          <a:noFill/>
          <a:ln w="9525">
            <a:noFill/>
          </a:ln>
        </p:spPr>
      </p:pic>
      <p:sp>
        <p:nvSpPr>
          <p:cNvPr id="3077" name="Rectangle 127"/>
          <p:cNvSpPr/>
          <p:nvPr/>
        </p:nvSpPr>
        <p:spPr>
          <a:xfrm>
            <a:off x="106363" y="6540500"/>
            <a:ext cx="261937" cy="122238"/>
          </a:xfrm>
          <a:prstGeom prst="rect">
            <a:avLst/>
          </a:prstGeom>
          <a:noFill/>
          <a:ln w="9525">
            <a:noFill/>
          </a:ln>
        </p:spPr>
        <p:txBody>
          <a:bodyPr lIns="0" tIns="0" rIns="0" bIns="0"/>
          <a:p>
            <a:pPr lvl="0" algn="r" eaLnBrk="1" hangingPunct="1"/>
            <a:fld id="{9A0DB2DC-4C9A-4742-B13C-FB6460FD3503}" type="slidenum">
              <a:rPr lang="en-US" sz="900" dirty="0">
                <a:latin typeface="Helvetica" charset="0"/>
              </a:rPr>
            </a:fld>
            <a:endParaRPr lang="en-US" sz="900" dirty="0">
              <a:latin typeface="Helvetica" charset="0"/>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2"/>
          </a:solidFill>
          <a:latin typeface="+mj-lt"/>
          <a:ea typeface="MS PGothic" charset="0"/>
          <a:cs typeface="MS PGothic"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charset="0"/>
          <a:cs typeface="MS PGothic"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charset="0"/>
          <a:cs typeface="MS PGothic"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charset="0"/>
          <a:cs typeface="MS PGothic"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charset="0"/>
          <a:cs typeface="MS PGothic"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charset="0"/>
          <a:cs typeface="MS PGothic"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charset="0"/>
        </a:defRPr>
      </a:lvl2pPr>
      <a:lvl3pPr marL="1143000" indent="-228600" algn="l" rtl="0" eaLnBrk="0" fontAlgn="base" hangingPunct="0">
        <a:spcBef>
          <a:spcPct val="20000"/>
        </a:spcBef>
        <a:spcAft>
          <a:spcPct val="0"/>
        </a:spcAft>
        <a:buChar char="•"/>
        <a:defRPr sz="2400">
          <a:solidFill>
            <a:schemeClr val="tx1"/>
          </a:solidFill>
          <a:latin typeface="+mn-lt"/>
          <a:ea typeface="MS PGothic" charset="0"/>
        </a:defRPr>
      </a:lvl3pPr>
      <a:lvl4pPr marL="1600200" indent="-228600" algn="l" rtl="0" eaLnBrk="0" fontAlgn="base" hangingPunct="0">
        <a:spcBef>
          <a:spcPct val="20000"/>
        </a:spcBef>
        <a:spcAft>
          <a:spcPct val="0"/>
        </a:spcAft>
        <a:buChar char="–"/>
        <a:defRPr sz="2000">
          <a:solidFill>
            <a:schemeClr val="tx1"/>
          </a:solidFill>
          <a:latin typeface="+mn-lt"/>
          <a:ea typeface="MS PGothic" charset="0"/>
        </a:defRPr>
      </a:lvl4pPr>
      <a:lvl5pPr marL="2057400" indent="-228600" algn="l" rtl="0" eaLnBrk="0" fontAlgn="base" hangingPunct="0">
        <a:spcBef>
          <a:spcPct val="20000"/>
        </a:spcBef>
        <a:spcAft>
          <a:spcPct val="0"/>
        </a:spcAft>
        <a:buChar char="»"/>
        <a:defRPr sz="2000">
          <a:solidFill>
            <a:schemeClr val="tx1"/>
          </a:solidFill>
          <a:latin typeface="+mn-lt"/>
          <a:ea typeface="MS PGothic"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grpSp>
        <p:nvGrpSpPr>
          <p:cNvPr id="4098" name="Group 21"/>
          <p:cNvGrpSpPr/>
          <p:nvPr/>
        </p:nvGrpSpPr>
        <p:grpSpPr>
          <a:xfrm>
            <a:off x="0" y="0"/>
            <a:ext cx="9142413" cy="930275"/>
            <a:chOff x="0" y="0"/>
            <a:chExt cx="5759" cy="586"/>
          </a:xfrm>
        </p:grpSpPr>
        <p:sp>
          <p:nvSpPr>
            <p:cNvPr id="4102" name="Rectangle 22"/>
            <p:cNvSpPr/>
            <p:nvPr/>
          </p:nvSpPr>
          <p:spPr>
            <a:xfrm>
              <a:off x="0" y="0"/>
              <a:ext cx="4797" cy="490"/>
            </a:xfrm>
            <a:prstGeom prst="rect">
              <a:avLst/>
            </a:prstGeom>
            <a:solidFill>
              <a:srgbClr val="BBBBBB"/>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sp>
          <p:nvSpPr>
            <p:cNvPr id="4103" name="Rectangle 23"/>
            <p:cNvSpPr/>
            <p:nvPr/>
          </p:nvSpPr>
          <p:spPr>
            <a:xfrm flipH="1">
              <a:off x="0" y="489"/>
              <a:ext cx="4796" cy="97"/>
            </a:xfrm>
            <a:prstGeom prst="rect">
              <a:avLst/>
            </a:prstGeom>
            <a:solidFill>
              <a:srgbClr val="868686"/>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sp>
          <p:nvSpPr>
            <p:cNvPr id="4104" name="Rectangle 24"/>
            <p:cNvSpPr/>
            <p:nvPr userDrawn="1"/>
          </p:nvSpPr>
          <p:spPr>
            <a:xfrm flipH="1">
              <a:off x="4795" y="489"/>
              <a:ext cx="964" cy="97"/>
            </a:xfrm>
            <a:prstGeom prst="rect">
              <a:avLst/>
            </a:prstGeom>
            <a:solidFill>
              <a:srgbClr val="CC0000"/>
            </a:solidFill>
            <a:ln w="9525">
              <a:noFill/>
            </a:ln>
          </p:spPr>
          <p:txBody>
            <a:bodyPr wrap="none" anchor="ctr" anchorCtr="0"/>
            <a:p>
              <a:pPr lvl="0" eaLnBrk="1" hangingPunct="1">
                <a:spcBef>
                  <a:spcPct val="20000"/>
                </a:spcBef>
                <a:buChar char="•"/>
              </a:pPr>
              <a:endParaRPr sz="1800" dirty="0">
                <a:latin typeface="Arial" panose="020B0604020202020204" pitchFamily="34" charset="0"/>
              </a:endParaRPr>
            </a:p>
          </p:txBody>
        </p:sp>
        <p:pic>
          <p:nvPicPr>
            <p:cNvPr id="4105" name="Picture 25" descr="hitachi_inspireLogo"/>
            <p:cNvPicPr>
              <a:picLocks noChangeAspect="1"/>
            </p:cNvPicPr>
            <p:nvPr userDrawn="1"/>
          </p:nvPicPr>
          <p:blipFill>
            <a:blip r:embed="rId12"/>
            <a:stretch>
              <a:fillRect/>
            </a:stretch>
          </p:blipFill>
          <p:spPr>
            <a:xfrm>
              <a:off x="4904" y="193"/>
              <a:ext cx="760" cy="219"/>
            </a:xfrm>
            <a:prstGeom prst="rect">
              <a:avLst/>
            </a:prstGeom>
            <a:noFill/>
            <a:ln w="9525">
              <a:noFill/>
            </a:ln>
          </p:spPr>
        </p:pic>
      </p:grpSp>
      <p:sp>
        <p:nvSpPr>
          <p:cNvPr id="4099" name="Rectangle 2"/>
          <p:cNvSpPr/>
          <p:nvPr/>
        </p:nvSpPr>
        <p:spPr>
          <a:xfrm>
            <a:off x="3640138" y="2751138"/>
            <a:ext cx="4073525" cy="365125"/>
          </a:xfrm>
          <a:prstGeom prst="rect">
            <a:avLst/>
          </a:prstGeom>
          <a:noFill/>
          <a:ln w="9525">
            <a:noFill/>
          </a:ln>
        </p:spPr>
        <p:txBody>
          <a:bodyPr lIns="0" tIns="0" rIns="0" bIns="0">
            <a:spAutoFit/>
          </a:bodyPr>
          <a:p>
            <a:pPr lvl="0" eaLnBrk="1" hangingPunct="1"/>
            <a:r>
              <a:rPr lang="en-US" altLang="ja-JP" sz="2400" b="1" dirty="0">
                <a:solidFill>
                  <a:schemeClr val="tx2"/>
                </a:solidFill>
                <a:latin typeface="Helvetica" charset="0"/>
              </a:rPr>
              <a:t>Thank You</a:t>
            </a:r>
            <a:endParaRPr lang="en-US" altLang="ja-JP" sz="2400" b="1" dirty="0">
              <a:solidFill>
                <a:schemeClr val="tx2"/>
              </a:solidFill>
              <a:latin typeface="Helvetica" charset="0"/>
            </a:endParaRPr>
          </a:p>
        </p:txBody>
      </p:sp>
      <p:pic>
        <p:nvPicPr>
          <p:cNvPr id="4100" name="Picture 14" descr="hds with sunrise"/>
          <p:cNvPicPr>
            <a:picLocks noChangeAspect="1"/>
          </p:cNvPicPr>
          <p:nvPr/>
        </p:nvPicPr>
        <p:blipFill>
          <a:blip r:embed="rId13"/>
          <a:stretch>
            <a:fillRect/>
          </a:stretch>
        </p:blipFill>
        <p:spPr>
          <a:xfrm>
            <a:off x="6781800" y="6477000"/>
            <a:ext cx="2206625" cy="219075"/>
          </a:xfrm>
          <a:prstGeom prst="rect">
            <a:avLst/>
          </a:prstGeom>
          <a:noFill/>
          <a:ln w="9525">
            <a:noFill/>
          </a:ln>
        </p:spPr>
      </p:pic>
      <p:sp>
        <p:nvSpPr>
          <p:cNvPr id="4101" name="Rectangle 26"/>
          <p:cNvSpPr/>
          <p:nvPr/>
        </p:nvSpPr>
        <p:spPr>
          <a:xfrm>
            <a:off x="106363" y="6540500"/>
            <a:ext cx="261937" cy="122238"/>
          </a:xfrm>
          <a:prstGeom prst="rect">
            <a:avLst/>
          </a:prstGeom>
          <a:noFill/>
          <a:ln w="9525">
            <a:noFill/>
          </a:ln>
        </p:spPr>
        <p:txBody>
          <a:bodyPr lIns="0" tIns="0" rIns="0" bIns="0"/>
          <a:p>
            <a:pPr lvl="0" algn="r" eaLnBrk="1" hangingPunct="1"/>
            <a:fld id="{9A0DB2DC-4C9A-4742-B13C-FB6460FD3503}" type="slidenum">
              <a:rPr lang="en-US" sz="900" dirty="0">
                <a:latin typeface="Helvetica" charset="0"/>
              </a:rPr>
            </a:fld>
            <a:endParaRPr lang="en-US" sz="900" dirty="0">
              <a:latin typeface="Helvetica" charset="0"/>
            </a:endParaRP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ftr="0" dt="0"/>
  <p:txStyles>
    <p:titleStyle>
      <a:lvl1pPr algn="ctr" rtl="0" eaLnBrk="0" fontAlgn="base" hangingPunct="0">
        <a:spcBef>
          <a:spcPct val="0"/>
        </a:spcBef>
        <a:spcAft>
          <a:spcPct val="0"/>
        </a:spcAft>
        <a:defRPr sz="4400">
          <a:solidFill>
            <a:schemeClr val="tx2"/>
          </a:solidFill>
          <a:latin typeface="+mj-lt"/>
          <a:ea typeface="MS PGothic" charset="0"/>
          <a:cs typeface="MS PGothic"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charset="0"/>
          <a:cs typeface="MS PGothic"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charset="0"/>
          <a:cs typeface="MS PGothic"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charset="0"/>
          <a:cs typeface="MS PGothic"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charset="0"/>
          <a:cs typeface="MS PGothic"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charset="0"/>
          <a:cs typeface="MS PGothic"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charset="0"/>
        </a:defRPr>
      </a:lvl2pPr>
      <a:lvl3pPr marL="1143000" indent="-228600" algn="l" rtl="0" eaLnBrk="0" fontAlgn="base" hangingPunct="0">
        <a:spcBef>
          <a:spcPct val="20000"/>
        </a:spcBef>
        <a:spcAft>
          <a:spcPct val="0"/>
        </a:spcAft>
        <a:buChar char="•"/>
        <a:defRPr sz="2400">
          <a:solidFill>
            <a:schemeClr val="tx1"/>
          </a:solidFill>
          <a:latin typeface="+mn-lt"/>
          <a:ea typeface="MS PGothic" charset="0"/>
        </a:defRPr>
      </a:lvl3pPr>
      <a:lvl4pPr marL="1600200" indent="-228600" algn="l" rtl="0" eaLnBrk="0" fontAlgn="base" hangingPunct="0">
        <a:spcBef>
          <a:spcPct val="20000"/>
        </a:spcBef>
        <a:spcAft>
          <a:spcPct val="0"/>
        </a:spcAft>
        <a:buChar char="–"/>
        <a:defRPr sz="2000">
          <a:solidFill>
            <a:schemeClr val="tx1"/>
          </a:solidFill>
          <a:latin typeface="+mn-lt"/>
          <a:ea typeface="MS PGothic" charset="0"/>
        </a:defRPr>
      </a:lvl4pPr>
      <a:lvl5pPr marL="2057400" indent="-228600" algn="l" rtl="0" eaLnBrk="0" fontAlgn="base" hangingPunct="0">
        <a:spcBef>
          <a:spcPct val="20000"/>
        </a:spcBef>
        <a:spcAft>
          <a:spcPct val="0"/>
        </a:spcAft>
        <a:buChar char="»"/>
        <a:defRPr sz="2000">
          <a:solidFill>
            <a:schemeClr val="tx1"/>
          </a:solidFill>
          <a:latin typeface="+mn-lt"/>
          <a:ea typeface="MS PGothic"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image" Target="../media/image11.jpeg"/><Relationship Id="rId2" Type="http://schemas.openxmlformats.org/officeDocument/2006/relationships/image" Target="../media/image10.wmf"/><Relationship Id="rId1"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emf"/></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22.jpe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0" Type="http://schemas.openxmlformats.org/officeDocument/2006/relationships/notesSlide" Target="../notesSlides/notesSlide19.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4.xml"/><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image" Target="../media/image31.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33.jpeg"/><Relationship Id="rId2" Type="http://schemas.openxmlformats.org/officeDocument/2006/relationships/image" Target="../media/image34.jpeg"/><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33.jpeg"/><Relationship Id="rId2" Type="http://schemas.openxmlformats.org/officeDocument/2006/relationships/image" Target="../media/image34.jpeg"/><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image" Target="../media/image36.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2.xml"/><Relationship Id="rId3" Type="http://schemas.openxmlformats.org/officeDocument/2006/relationships/image" Target="../media/image39.jpeg"/><Relationship Id="rId2" Type="http://schemas.openxmlformats.org/officeDocument/2006/relationships/image" Target="../media/image8.png"/><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image" Target="../media/image38.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image" Target="../media/image40.jpe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12.xml"/><Relationship Id="rId5" Type="http://schemas.openxmlformats.org/officeDocument/2006/relationships/image" Target="../media/image39.jpeg"/><Relationship Id="rId4" Type="http://schemas.openxmlformats.org/officeDocument/2006/relationships/image" Target="../media/image8.png"/><Relationship Id="rId3" Type="http://schemas.openxmlformats.org/officeDocument/2006/relationships/image" Target="../media/image6.png"/><Relationship Id="rId2" Type="http://schemas.openxmlformats.org/officeDocument/2006/relationships/image" Target="../media/image42.wmf"/><Relationship Id="rId1" Type="http://schemas.openxmlformats.org/officeDocument/2006/relationships/image" Target="../media/image41.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image" Target="../media/image39.jpeg"/><Relationship Id="rId3" Type="http://schemas.openxmlformats.org/officeDocument/2006/relationships/image" Target="../media/image38.jpeg"/><Relationship Id="rId2" Type="http://schemas.openxmlformats.org/officeDocument/2006/relationships/image" Target="../media/image44.png"/><Relationship Id="rId1" Type="http://schemas.openxmlformats.org/officeDocument/2006/relationships/image" Target="../media/image43.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2.xml"/><Relationship Id="rId6" Type="http://schemas.openxmlformats.org/officeDocument/2006/relationships/hyperlink" Target="http://www.hds.com/assets/pdf/tiered-storage-economics-defining-and-calculating-the-economic-benefit-of-tiered-storage-solutions-wp.pdf" TargetMode="External"/><Relationship Id="rId5" Type="http://schemas.openxmlformats.org/officeDocument/2006/relationships/image" Target="../media/image38.jpeg"/><Relationship Id="rId4" Type="http://schemas.openxmlformats.org/officeDocument/2006/relationships/image" Target="../media/image44.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xml"/><Relationship Id="rId3" Type="http://schemas.openxmlformats.org/officeDocument/2006/relationships/image" Target="../media/image49.GIF"/><Relationship Id="rId2" Type="http://schemas.openxmlformats.org/officeDocument/2006/relationships/image" Target="../media/image48.jpeg"/><Relationship Id="rId1" Type="http://schemas.openxmlformats.org/officeDocument/2006/relationships/image" Target="../media/image44.png"/></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2.xml"/><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image" Target="../media/image54.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57.jpe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5.xml"/><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image" Target="../media/image38.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2.xml"/><Relationship Id="rId4" Type="http://schemas.openxmlformats.org/officeDocument/2006/relationships/image" Target="../media/image63.jpeg"/><Relationship Id="rId3" Type="http://schemas.openxmlformats.org/officeDocument/2006/relationships/image" Target="../media/image18.jpeg"/><Relationship Id="rId2" Type="http://schemas.openxmlformats.org/officeDocument/2006/relationships/image" Target="../media/image62.png"/><Relationship Id="rId1"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6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4"/>
          <p:cNvSpPr>
            <a:spLocks noGrp="1"/>
          </p:cNvSpPr>
          <p:nvPr>
            <p:ph type="ctrTitle" hasCustomPrompt="1"/>
          </p:nvPr>
        </p:nvSpPr>
        <p:spPr>
          <a:xfrm>
            <a:off x="3505200" y="2209800"/>
            <a:ext cx="5486400" cy="1152525"/>
          </a:xfrm>
          <a:ln/>
        </p:spPr>
        <p:txBody>
          <a:bodyPr vert="horz" wrap="square" lIns="0" tIns="0" rIns="0" bIns="0" anchor="t" anchorCtr="0">
            <a:spAutoFit/>
          </a:bodyPr>
          <a:p>
            <a:pPr eaLnBrk="1" hangingPunct="1">
              <a:buClrTx/>
              <a:buSzTx/>
              <a:buFontTx/>
            </a:pPr>
            <a:r>
              <a:rPr kumimoji="1" dirty="0">
                <a:latin typeface="+mj-lt"/>
                <a:ea typeface="MS PGothic" charset="0"/>
                <a:cs typeface="HGP創英角ｺﾞｼｯｸUB"/>
              </a:rPr>
              <a:t>Hitachi NAS Platform, powered by BlueArc®</a:t>
            </a:r>
            <a:r>
              <a:rPr kumimoji="1" baseline="30000" dirty="0">
                <a:latin typeface="+mj-lt"/>
                <a:ea typeface="MS PGothic" charset="0"/>
                <a:cs typeface="HGP創英角ｺﾞｼｯｸUB"/>
              </a:rPr>
              <a:t> </a:t>
            </a:r>
            <a:br>
              <a:rPr kumimoji="1" baseline="30000" dirty="0">
                <a:latin typeface="+mj-lt"/>
                <a:ea typeface="MS PGothic" charset="0"/>
                <a:cs typeface="HGP創英角ｺﾞｼｯｸUB"/>
              </a:rPr>
            </a:br>
            <a:r>
              <a:rPr kumimoji="1" dirty="0">
                <a:latin typeface="+mj-lt"/>
                <a:ea typeface="MS PGothic" charset="0"/>
                <a:cs typeface="HGP創英角ｺﾞｼｯｸUB"/>
              </a:rPr>
              <a:t>Technical Presentation</a:t>
            </a:r>
            <a:endParaRPr kumimoji="1" dirty="0">
              <a:latin typeface="+mj-lt"/>
              <a:ea typeface="MS PGothic" charset="0"/>
              <a:cs typeface="HGP創英角ｺﾞｼｯｸUB"/>
            </a:endParaRPr>
          </a:p>
        </p:txBody>
      </p:sp>
      <p:sp>
        <p:nvSpPr>
          <p:cNvPr id="7170" name="Rectangle 5"/>
          <p:cNvSpPr>
            <a:spLocks noGrp="1"/>
          </p:cNvSpPr>
          <p:nvPr>
            <p:ph type="subTitle" idx="1" hasCustomPrompt="1"/>
          </p:nvPr>
        </p:nvSpPr>
        <p:spPr>
          <a:ln/>
        </p:spPr>
        <p:txBody>
          <a:bodyPr vert="horz" wrap="square" lIns="0" tIns="0" rIns="0" bIns="0" anchor="t" anchorCtr="0">
            <a:spAutoFit/>
          </a:bodyPr>
          <a:p>
            <a:pPr eaLnBrk="1" hangingPunct="1">
              <a:buClrTx/>
              <a:buSzTx/>
              <a:tabLst>
                <a:tab pos="2245995" algn="l"/>
                <a:tab pos="2514600" algn="l"/>
              </a:tabLst>
            </a:pPr>
            <a:r>
              <a:rPr kumimoji="1" dirty="0">
                <a:latin typeface="+mn-lt"/>
                <a:ea typeface="MS PGothic" charset="0"/>
                <a:cs typeface="MS PGothic" charset="0"/>
              </a:rPr>
              <a:t>NAS Product Management</a:t>
            </a:r>
            <a:endParaRPr kumimoji="1" dirty="0">
              <a:latin typeface="+mn-lt"/>
              <a:ea typeface="MS PGothic" charset="0"/>
              <a:cs typeface="MS PGothic" charset="0"/>
            </a:endParaRPr>
          </a:p>
        </p:txBody>
      </p:sp>
      <p:sp>
        <p:nvSpPr>
          <p:cNvPr id="7171" name="Rectangle 10"/>
          <p:cNvSpPr/>
          <p:nvPr/>
        </p:nvSpPr>
        <p:spPr>
          <a:xfrm>
            <a:off x="3505200" y="4419600"/>
            <a:ext cx="3248025" cy="177800"/>
          </a:xfrm>
          <a:prstGeom prst="rect">
            <a:avLst/>
          </a:prstGeom>
          <a:noFill/>
          <a:ln w="9525">
            <a:noFill/>
          </a:ln>
        </p:spPr>
        <p:txBody>
          <a:bodyPr lIns="0" tIns="0" rIns="0" bIns="0"/>
          <a:p>
            <a:r>
              <a:rPr sz="1200" dirty="0">
                <a:solidFill>
                  <a:srgbClr val="000000"/>
                </a:solidFill>
                <a:latin typeface="Helvetica" charset="0"/>
              </a:rPr>
              <a:t>October, 2010</a:t>
            </a:r>
            <a:endParaRPr sz="1200" dirty="0">
              <a:solidFill>
                <a:srgbClr val="000000"/>
              </a:solidFill>
              <a:latin typeface="Helvetica"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1221" name="Rectangle 5"/>
          <p:cNvSpPr/>
          <p:nvPr/>
        </p:nvSpPr>
        <p:spPr>
          <a:xfrm>
            <a:off x="152400" y="1039813"/>
            <a:ext cx="5548313" cy="636587"/>
          </a:xfrm>
          <a:prstGeom prst="rect">
            <a:avLst/>
          </a:prstGeom>
          <a:solidFill>
            <a:schemeClr val="accent1">
              <a:alpha val="23921"/>
            </a:schemeClr>
          </a:solidFill>
          <a:ln w="12700"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9218"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Agenda</a:t>
            </a:r>
            <a:endParaRPr dirty="0">
              <a:solidFill>
                <a:schemeClr val="tx1"/>
              </a:solidFill>
            </a:endParaRPr>
          </a:p>
        </p:txBody>
      </p:sp>
      <p:sp>
        <p:nvSpPr>
          <p:cNvPr id="9219" name="Rectangle 6"/>
          <p:cNvSpPr txBox="1">
            <a:spLocks noChangeArrowheads="1"/>
          </p:cNvSpPr>
          <p:nvPr/>
        </p:nvSpPr>
        <p:spPr bwMode="auto">
          <a:xfrm>
            <a:off x="227013" y="1066800"/>
            <a:ext cx="8763000" cy="5181600"/>
          </a:xfrm>
          <a:prstGeom prst="rect">
            <a:avLst/>
          </a:prstGeom>
          <a:noFill/>
          <a:ln>
            <a:noFill/>
          </a:ln>
        </p:spPr>
        <p:txBody>
          <a:bodyPr/>
          <a:lstStyle>
            <a:lvl1pPr marL="228600" indent="-228600" eaLnBrk="0" hangingPunct="0">
              <a:tabLst>
                <a:tab pos="2245995" algn="l"/>
                <a:tab pos="2514600" algn="l"/>
              </a:tabLst>
              <a:defRPr kumimoji="1" sz="2400">
                <a:solidFill>
                  <a:srgbClr val="333333"/>
                </a:solidFill>
                <a:latin typeface="Arial" panose="020B0604020202020204" pitchFamily="34" charset="0"/>
                <a:ea typeface="MS PGothic" charset="0"/>
                <a:cs typeface="MS PGothic" charset="0"/>
              </a:defRPr>
            </a:lvl1pPr>
            <a:lvl2pPr marL="742950" indent="-285750" eaLnBrk="0" hangingPunct="0">
              <a:tabLst>
                <a:tab pos="2245995" algn="l"/>
                <a:tab pos="2514600" algn="l"/>
              </a:tabLst>
              <a:defRPr kumimoji="1" sz="2400">
                <a:solidFill>
                  <a:srgbClr val="333333"/>
                </a:solidFill>
                <a:latin typeface="Arial" panose="020B0604020202020204" pitchFamily="34" charset="0"/>
                <a:ea typeface="MS PGothic" charset="0"/>
                <a:cs typeface="MS PGothic" charset="0"/>
              </a:defRPr>
            </a:lvl2pPr>
            <a:lvl3pPr marL="1143000" indent="-228600" eaLnBrk="0" hangingPunct="0">
              <a:tabLst>
                <a:tab pos="2245995" algn="l"/>
                <a:tab pos="2514600" algn="l"/>
              </a:tabLst>
              <a:defRPr kumimoji="1" sz="2400">
                <a:solidFill>
                  <a:srgbClr val="333333"/>
                </a:solidFill>
                <a:latin typeface="Arial" panose="020B0604020202020204" pitchFamily="34" charset="0"/>
                <a:ea typeface="MS PGothic" charset="0"/>
                <a:cs typeface="MS PGothic" charset="0"/>
              </a:defRPr>
            </a:lvl3pPr>
            <a:lvl4pPr marL="1600200" indent="-228600" eaLnBrk="0" hangingPunct="0">
              <a:tabLst>
                <a:tab pos="2245995" algn="l"/>
                <a:tab pos="2514600" algn="l"/>
              </a:tabLst>
              <a:defRPr kumimoji="1" sz="2400">
                <a:solidFill>
                  <a:srgbClr val="333333"/>
                </a:solidFill>
                <a:latin typeface="Arial" panose="020B0604020202020204" pitchFamily="34" charset="0"/>
                <a:ea typeface="MS PGothic" charset="0"/>
                <a:cs typeface="MS PGothic" charset="0"/>
              </a:defRPr>
            </a:lvl4pPr>
            <a:lvl5pPr marL="2057400" indent="-228600" eaLnBrk="0" hangingPunct="0">
              <a:tabLst>
                <a:tab pos="2245995" algn="l"/>
                <a:tab pos="2514600" algn="l"/>
              </a:tabLst>
              <a:defRPr kumimoji="1" sz="2400">
                <a:solidFill>
                  <a:srgbClr val="333333"/>
                </a:solidFill>
                <a:latin typeface="Arial" panose="020B0604020202020204" pitchFamily="34" charset="0"/>
                <a:ea typeface="MS PGothic" charset="0"/>
                <a:cs typeface="MS PGothic" charset="0"/>
              </a:defRPr>
            </a:lvl5pPr>
            <a:lvl6pPr marL="2514600" indent="-228600" eaLnBrk="0" fontAlgn="base" hangingPunct="0">
              <a:spcBef>
                <a:spcPct val="0"/>
              </a:spcBef>
              <a:spcAft>
                <a:spcPct val="0"/>
              </a:spcAft>
              <a:tabLst>
                <a:tab pos="2245995" algn="l"/>
                <a:tab pos="2514600" algn="l"/>
              </a:tabLst>
              <a:defRPr kumimoji="1" sz="2400">
                <a:solidFill>
                  <a:srgbClr val="333333"/>
                </a:solidFill>
                <a:latin typeface="Arial" panose="020B0604020202020204" pitchFamily="34" charset="0"/>
                <a:ea typeface="MS PGothic" charset="0"/>
                <a:cs typeface="MS PGothic" charset="0"/>
              </a:defRPr>
            </a:lvl6pPr>
            <a:lvl7pPr marL="2971800" indent="-228600" eaLnBrk="0" fontAlgn="base" hangingPunct="0">
              <a:spcBef>
                <a:spcPct val="0"/>
              </a:spcBef>
              <a:spcAft>
                <a:spcPct val="0"/>
              </a:spcAft>
              <a:tabLst>
                <a:tab pos="2245995" algn="l"/>
                <a:tab pos="2514600" algn="l"/>
              </a:tabLst>
              <a:defRPr kumimoji="1" sz="2400">
                <a:solidFill>
                  <a:srgbClr val="333333"/>
                </a:solidFill>
                <a:latin typeface="Arial" panose="020B0604020202020204" pitchFamily="34" charset="0"/>
                <a:ea typeface="MS PGothic" charset="0"/>
                <a:cs typeface="MS PGothic" charset="0"/>
              </a:defRPr>
            </a:lvl7pPr>
            <a:lvl8pPr marL="3429000" indent="-228600" eaLnBrk="0" fontAlgn="base" hangingPunct="0">
              <a:spcBef>
                <a:spcPct val="0"/>
              </a:spcBef>
              <a:spcAft>
                <a:spcPct val="0"/>
              </a:spcAft>
              <a:tabLst>
                <a:tab pos="2245995" algn="l"/>
                <a:tab pos="2514600" algn="l"/>
              </a:tabLst>
              <a:defRPr kumimoji="1" sz="2400">
                <a:solidFill>
                  <a:srgbClr val="333333"/>
                </a:solidFill>
                <a:latin typeface="Arial" panose="020B0604020202020204" pitchFamily="34" charset="0"/>
                <a:ea typeface="MS PGothic" charset="0"/>
                <a:cs typeface="MS PGothic" charset="0"/>
              </a:defRPr>
            </a:lvl8pPr>
            <a:lvl9pPr marL="3886200" indent="-228600" eaLnBrk="0" fontAlgn="base" hangingPunct="0">
              <a:spcBef>
                <a:spcPct val="0"/>
              </a:spcBef>
              <a:spcAft>
                <a:spcPct val="0"/>
              </a:spcAft>
              <a:tabLst>
                <a:tab pos="2245995" algn="l"/>
                <a:tab pos="2514600" algn="l"/>
              </a:tabLst>
              <a:defRPr kumimoji="1" sz="2400">
                <a:solidFill>
                  <a:srgbClr val="333333"/>
                </a:solidFill>
                <a:latin typeface="Arial" panose="020B0604020202020204" pitchFamily="34" charset="0"/>
                <a:ea typeface="MS PGothic" charset="0"/>
                <a:cs typeface="MS PGothic" charset="0"/>
              </a:defRPr>
            </a:lvl9pPr>
          </a:lstStyle>
          <a:p>
            <a:pPr marL="228600" marR="0" lvl="0" indent="-2286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r>
              <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rPr>
              <a:t>Hardware Overview</a:t>
            </a:r>
            <a:endPar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endParaRPr>
          </a:p>
          <a:p>
            <a:pPr marL="228600" marR="0" lvl="0" indent="-2286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endParaRPr>
          </a:p>
          <a:p>
            <a:pPr marL="228600" marR="0" lvl="0" indent="-2286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r>
              <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rPr>
              <a:t>Software Overview</a:t>
            </a:r>
            <a:endPar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endParaRPr>
          </a:p>
          <a:p>
            <a:pPr marL="0" marR="0" lvl="0" indent="0" algn="l" defTabSz="914400" rtl="0" eaLnBrk="1" fontAlgn="base" latinLnBrk="0" hangingPunct="1">
              <a:lnSpc>
                <a:spcPct val="100000"/>
              </a:lnSpc>
              <a:spcBef>
                <a:spcPct val="20000"/>
              </a:spcBef>
              <a:spcAft>
                <a:spcPct val="0"/>
              </a:spcAft>
              <a:buClrTx/>
              <a:buSzTx/>
              <a:buFontTx/>
              <a:buNone/>
              <a:tabLst>
                <a:tab pos="2245995" algn="l"/>
                <a:tab pos="2514600" algn="l"/>
              </a:tabLst>
              <a:defRPr/>
            </a:pPr>
            <a:endPar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endParaRPr>
          </a:p>
          <a:p>
            <a:pPr marL="228600" marR="0" lvl="0" indent="-2286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endParaRPr>
          </a:p>
          <a:p>
            <a:pPr marL="228600" marR="0" lvl="0" indent="-2286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endParaRPr>
          </a:p>
          <a:p>
            <a:pPr marL="228600" marR="0" lvl="0" indent="-228600" algn="l" defTabSz="914400" rtl="0" eaLnBrk="1" fontAlgn="base" latinLnBrk="0" hangingPunct="1">
              <a:lnSpc>
                <a:spcPct val="100000"/>
              </a:lnSpc>
              <a:spcBef>
                <a:spcPct val="20000"/>
              </a:spcBef>
              <a:spcAft>
                <a:spcPct val="0"/>
              </a:spcAft>
              <a:buClrTx/>
              <a:buSzTx/>
              <a:buFontTx/>
              <a:buNone/>
              <a:tabLst>
                <a:tab pos="2245995" algn="l"/>
                <a:tab pos="2514600" algn="l"/>
              </a:tabLst>
              <a:defRPr/>
            </a:pPr>
            <a:endParaRPr kumimoji="1" lang="en-US" sz="2000" b="0" i="0" u="none" strike="noStrike" kern="1200" cap="none" spc="0" normalizeH="0" baseline="0" noProof="0" dirty="0" smtClean="0">
              <a:ln>
                <a:noFill/>
              </a:ln>
              <a:solidFill>
                <a:srgbClr val="333333"/>
              </a:solidFill>
              <a:effectLst/>
              <a:uLnTx/>
              <a:uFillTx/>
              <a:latin typeface="Helvetica" charset="0"/>
              <a:ea typeface="MS PGothic" charset="0"/>
              <a:cs typeface="MS PGothic"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1221"/>
                                        </p:tgtEl>
                                        <p:attrNameLst>
                                          <p:attrName>style.visibility</p:attrName>
                                        </p:attrNameLst>
                                      </p:cBhvr>
                                      <p:to>
                                        <p:strVal val="visible"/>
                                      </p:to>
                                    </p:set>
                                    <p:animEffect transition="in" filter="blinds(horizontal)">
                                      <p:cBhvr>
                                        <p:cTn id="7" dur="500"/>
                                        <p:tgtEl>
                                          <p:spTgt spid="521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5" name="Picture 86"/>
          <p:cNvPicPr>
            <a:picLocks noChangeAspect="1"/>
          </p:cNvPicPr>
          <p:nvPr/>
        </p:nvPicPr>
        <p:blipFill>
          <a:blip r:embed="rId1">
            <a:clrChange>
              <a:clrFrom>
                <a:srgbClr val="FFFFFF"/>
              </a:clrFrom>
              <a:clrTo>
                <a:srgbClr val="FFFFFF">
                  <a:alpha val="0"/>
                </a:srgbClr>
              </a:clrTo>
            </a:clrChange>
          </a:blip>
          <a:srcRect l="7292" t="26471" r="4167" b="9216"/>
          <a:stretch>
            <a:fillRect/>
          </a:stretch>
        </p:blipFill>
        <p:spPr>
          <a:xfrm>
            <a:off x="1828800" y="1676400"/>
            <a:ext cx="2057400" cy="1000125"/>
          </a:xfrm>
          <a:prstGeom prst="rect">
            <a:avLst/>
          </a:prstGeom>
          <a:noFill/>
          <a:ln w="9525">
            <a:noFill/>
          </a:ln>
        </p:spPr>
      </p:pic>
      <p:sp>
        <p:nvSpPr>
          <p:cNvPr id="11266" name="Rectangle 3"/>
          <p:cNvSpPr>
            <a:spLocks noGrp="1"/>
          </p:cNvSpPr>
          <p:nvPr>
            <p:ph type="title" idx="4294967295"/>
          </p:nvPr>
        </p:nvSpPr>
        <p:spPr>
          <a:ln/>
        </p:spPr>
        <p:txBody>
          <a:bodyPr vert="horz" wrap="square" lIns="91440" tIns="0" rIns="91440" bIns="0" anchor="ctr" anchorCtr="0">
            <a:spAutoFit/>
          </a:bodyPr>
          <a:p>
            <a:pPr eaLnBrk="1" hangingPunct="1"/>
            <a:r>
              <a:rPr dirty="0">
                <a:solidFill>
                  <a:schemeClr val="tx1"/>
                </a:solidFill>
              </a:rPr>
              <a:t>Model Comparison</a:t>
            </a:r>
            <a:endParaRPr dirty="0">
              <a:solidFill>
                <a:schemeClr val="tx1"/>
              </a:solidFill>
            </a:endParaRPr>
          </a:p>
        </p:txBody>
      </p:sp>
      <p:sp>
        <p:nvSpPr>
          <p:cNvPr id="11267" name="Text Box 62"/>
          <p:cNvSpPr txBox="1"/>
          <p:nvPr/>
        </p:nvSpPr>
        <p:spPr>
          <a:xfrm>
            <a:off x="228600" y="6172200"/>
            <a:ext cx="7467600" cy="400050"/>
          </a:xfrm>
          <a:prstGeom prst="rect">
            <a:avLst/>
          </a:prstGeom>
          <a:noFill/>
          <a:ln w="9525">
            <a:noFill/>
          </a:ln>
        </p:spPr>
        <p:txBody>
          <a:bodyPr>
            <a:spAutoFit/>
          </a:bodyPr>
          <a:p>
            <a:pPr marL="342900" indent="-342900">
              <a:spcBef>
                <a:spcPct val="50000"/>
              </a:spcBef>
            </a:pPr>
            <a:r>
              <a:rPr sz="800" dirty="0">
                <a:solidFill>
                  <a:schemeClr val="accent1"/>
                </a:solidFill>
                <a:latin typeface="Arial" panose="020B0604020202020204" pitchFamily="34" charset="0"/>
              </a:rPr>
              <a:t>Require storage LUN size greater than 4TB     </a:t>
            </a:r>
            <a:r>
              <a:rPr sz="800" baseline="30000" dirty="0">
                <a:solidFill>
                  <a:schemeClr val="accent1"/>
                </a:solidFill>
                <a:latin typeface="Arial" panose="020B0604020202020204" pitchFamily="34" charset="0"/>
              </a:rPr>
              <a:t>(2)</a:t>
            </a:r>
            <a:r>
              <a:rPr sz="800" dirty="0">
                <a:solidFill>
                  <a:schemeClr val="accent1"/>
                </a:solidFill>
                <a:latin typeface="Arial" panose="020B0604020202020204" pitchFamily="34" charset="0"/>
              </a:rPr>
              <a:t> Require storage LUN size greater than 8TB     </a:t>
            </a:r>
            <a:r>
              <a:rPr sz="800" baseline="30000" dirty="0">
                <a:solidFill>
                  <a:schemeClr val="accent1"/>
                </a:solidFill>
                <a:latin typeface="Arial" panose="020B0604020202020204" pitchFamily="34" charset="0"/>
              </a:rPr>
              <a:t>(3)</a:t>
            </a:r>
            <a:r>
              <a:rPr sz="800" dirty="0">
                <a:solidFill>
                  <a:schemeClr val="accent1"/>
                </a:solidFill>
                <a:latin typeface="Arial" panose="020B0604020202020204" pitchFamily="34" charset="0"/>
              </a:rPr>
              <a:t> Require storage LUN size greater than 16TB.</a:t>
            </a:r>
            <a:endParaRPr sz="800" dirty="0">
              <a:solidFill>
                <a:schemeClr val="accent1"/>
              </a:solidFill>
              <a:latin typeface="Arial" panose="020B0604020202020204" pitchFamily="34" charset="0"/>
            </a:endParaRPr>
          </a:p>
          <a:p>
            <a:pPr marL="342900" indent="-342900">
              <a:spcBef>
                <a:spcPct val="50000"/>
              </a:spcBef>
            </a:pPr>
            <a:r>
              <a:rPr sz="800" baseline="30000" dirty="0">
                <a:solidFill>
                  <a:schemeClr val="accent1"/>
                </a:solidFill>
                <a:latin typeface="Arial" panose="020B0604020202020204" pitchFamily="34" charset="0"/>
              </a:rPr>
              <a:t> (4)</a:t>
            </a:r>
            <a:r>
              <a:rPr sz="800" dirty="0">
                <a:solidFill>
                  <a:schemeClr val="accent1"/>
                </a:solidFill>
                <a:latin typeface="Arial" panose="020B0604020202020204" pitchFamily="34" charset="0"/>
              </a:rPr>
              <a:t> Available with later build release</a:t>
            </a:r>
            <a:endParaRPr sz="800" dirty="0">
              <a:solidFill>
                <a:schemeClr val="accent1"/>
              </a:solidFill>
              <a:latin typeface="Arial" panose="020B0604020202020204" pitchFamily="34" charset="0"/>
            </a:endParaRPr>
          </a:p>
        </p:txBody>
      </p:sp>
      <p:graphicFrame>
        <p:nvGraphicFramePr>
          <p:cNvPr id="23633" name="Group 81"/>
          <p:cNvGraphicFramePr>
            <a:graphicFrameLocks noGrp="1"/>
          </p:cNvGraphicFramePr>
          <p:nvPr/>
        </p:nvGraphicFramePr>
        <p:xfrm>
          <a:off x="304800" y="2605088"/>
          <a:ext cx="7162800" cy="3441700"/>
        </p:xfrm>
        <a:graphic>
          <a:graphicData uri="http://schemas.openxmlformats.org/drawingml/2006/table">
            <a:tbl>
              <a:tblPr/>
              <a:tblGrid>
                <a:gridCol w="1295400"/>
                <a:gridCol w="1524000"/>
                <a:gridCol w="1447800"/>
                <a:gridCol w="1447800"/>
                <a:gridCol w="1447800"/>
              </a:tblGrid>
              <a:tr h="396167">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000" b="0" i="0" u="none" strike="noStrike" cap="none" normalizeH="0" baseline="0">
                        <a:ln>
                          <a:noFill/>
                        </a:ln>
                        <a:solidFill>
                          <a:srgbClr val="FFFFFF"/>
                        </a:solidFill>
                        <a:effectLst/>
                        <a:latin typeface="Helvetica" charset="0"/>
                        <a:ea typeface="MS PGothic" charset="0"/>
                        <a:cs typeface="MS PGothic"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bg1"/>
                          </a:solidFill>
                          <a:effectLst/>
                          <a:latin typeface="Helvetica" charset="0"/>
                          <a:ea typeface="MS PGothic" charset="0"/>
                          <a:cs typeface="MS PGothic" charset="0"/>
                        </a:rPr>
                        <a:t>Hitachi NAS</a:t>
                      </a:r>
                      <a:endParaRPr kumimoji="0" lang="en-US" sz="1000" b="1" i="0" u="none" strike="noStrike" cap="none" normalizeH="0" baseline="0">
                        <a:ln>
                          <a:noFill/>
                        </a:ln>
                        <a:solidFill>
                          <a:schemeClr val="bg1"/>
                        </a:solidFill>
                        <a:effectLst/>
                        <a:latin typeface="Helvetica" charset="0"/>
                        <a:ea typeface="MS PGothic" charset="0"/>
                        <a:cs typeface="MS PGothic"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bg1"/>
                          </a:solidFill>
                          <a:effectLst/>
                          <a:latin typeface="Helvetica" charset="0"/>
                          <a:ea typeface="MS PGothic" charset="0"/>
                          <a:cs typeface="MS PGothic" charset="0"/>
                        </a:rPr>
                        <a:t>3080</a:t>
                      </a:r>
                      <a:endParaRPr kumimoji="0" lang="en-US" sz="1000" b="1" i="0" u="none" strike="noStrike" cap="none" normalizeH="0" baseline="0">
                        <a:ln>
                          <a:noFill/>
                        </a:ln>
                        <a:solidFill>
                          <a:schemeClr val="bg1"/>
                        </a:solidFill>
                        <a:effectLst/>
                        <a:latin typeface="Helvetica" charset="0"/>
                        <a:ea typeface="MS PGothic" charset="0"/>
                        <a:cs typeface="MS PGothic"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bg1"/>
                          </a:solidFill>
                          <a:effectLst/>
                          <a:latin typeface="Helvetica" charset="0"/>
                          <a:ea typeface="MS PGothic" charset="0"/>
                          <a:cs typeface="MS PGothic" charset="0"/>
                        </a:rPr>
                        <a:t>Hitachi NAS</a:t>
                      </a:r>
                      <a:endParaRPr kumimoji="0" lang="en-US" sz="1000" b="1" i="0" u="none" strike="noStrike" cap="none" normalizeH="0" baseline="0">
                        <a:ln>
                          <a:noFill/>
                        </a:ln>
                        <a:solidFill>
                          <a:schemeClr val="bg1"/>
                        </a:solidFill>
                        <a:effectLst/>
                        <a:latin typeface="Helvetica" charset="0"/>
                        <a:ea typeface="MS PGothic" charset="0"/>
                        <a:cs typeface="MS PGothic"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bg1"/>
                          </a:solidFill>
                          <a:effectLst/>
                          <a:latin typeface="Helvetica" charset="0"/>
                          <a:ea typeface="MS PGothic" charset="0"/>
                          <a:cs typeface="MS PGothic" charset="0"/>
                        </a:rPr>
                        <a:t>3090</a:t>
                      </a:r>
                      <a:endParaRPr kumimoji="0" lang="en-US" sz="1000" b="1" i="0" u="none" strike="noStrike" cap="none" normalizeH="0" baseline="0">
                        <a:ln>
                          <a:noFill/>
                        </a:ln>
                        <a:solidFill>
                          <a:schemeClr val="bg1"/>
                        </a:solidFill>
                        <a:effectLst/>
                        <a:latin typeface="Helvetica" charset="0"/>
                        <a:ea typeface="MS PGothic" charset="0"/>
                        <a:cs typeface="MS PGothic"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accent1"/>
                          </a:solidFill>
                          <a:effectLst/>
                          <a:latin typeface="Helvetica" charset="0"/>
                          <a:ea typeface="MS PGothic" charset="0"/>
                          <a:cs typeface="MS PGothic" charset="0"/>
                        </a:rPr>
                        <a:t>HNAS 3100</a:t>
                      </a:r>
                      <a:endParaRPr kumimoji="0" lang="en-US" sz="1000" b="1" i="0" u="none" strike="noStrike" cap="none" normalizeH="0" baseline="0">
                        <a:ln>
                          <a:noFill/>
                        </a:ln>
                        <a:solidFill>
                          <a:schemeClr val="accent1"/>
                        </a:solidFill>
                        <a:effectLst/>
                        <a:latin typeface="Helvetica" charset="0"/>
                        <a:ea typeface="MS PGothic" charset="0"/>
                        <a:cs typeface="MS PGothic"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accent1"/>
                          </a:solidFill>
                          <a:effectLst/>
                          <a:latin typeface="Helvetica" charset="0"/>
                          <a:ea typeface="MS PGothic" charset="0"/>
                          <a:cs typeface="MS PGothic" charset="0"/>
                        </a:rPr>
                        <a:t>(FSX)</a:t>
                      </a:r>
                      <a:endParaRPr kumimoji="0" lang="en-US" sz="1000" b="1" i="0" u="none" strike="noStrike" cap="none" normalizeH="0" baseline="0">
                        <a:ln>
                          <a:noFill/>
                        </a:ln>
                        <a:solidFill>
                          <a:schemeClr val="accent1"/>
                        </a:solidFill>
                        <a:effectLst/>
                        <a:latin typeface="Helvetica" charset="0"/>
                        <a:ea typeface="MS PGothic" charset="0"/>
                        <a:cs typeface="MS PGothic"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accent1"/>
                          </a:solidFill>
                          <a:effectLst/>
                          <a:latin typeface="Helvetica" charset="0"/>
                          <a:ea typeface="MS PGothic" charset="0"/>
                          <a:cs typeface="MS PGothic" charset="0"/>
                        </a:rPr>
                        <a:t>HNAS 3200</a:t>
                      </a:r>
                      <a:endParaRPr kumimoji="0" lang="en-US" sz="1000" b="1" i="0" u="none" strike="noStrike" cap="none" normalizeH="0" baseline="0">
                        <a:ln>
                          <a:noFill/>
                        </a:ln>
                        <a:solidFill>
                          <a:schemeClr val="accent1"/>
                        </a:solidFill>
                        <a:effectLst/>
                        <a:latin typeface="Helvetica" charset="0"/>
                        <a:ea typeface="MS PGothic" charset="0"/>
                        <a:cs typeface="MS PGothic"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accent1"/>
                          </a:solidFill>
                          <a:effectLst/>
                          <a:latin typeface="Helvetica" charset="0"/>
                          <a:ea typeface="MS PGothic" charset="0"/>
                          <a:cs typeface="MS PGothic" charset="0"/>
                        </a:rPr>
                        <a:t>(FSX)</a:t>
                      </a:r>
                      <a:endParaRPr kumimoji="0" lang="en-US" sz="1000" b="1" i="0" u="none" strike="noStrike" cap="none" normalizeH="0" baseline="0">
                        <a:ln>
                          <a:noFill/>
                        </a:ln>
                        <a:solidFill>
                          <a:schemeClr val="accent1"/>
                        </a:solidFill>
                        <a:effectLst/>
                        <a:latin typeface="Helvetica" charset="0"/>
                        <a:ea typeface="MS PGothic" charset="0"/>
                        <a:cs typeface="MS PGothic"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DDDDDD"/>
                    </a:solidFill>
                  </a:tcPr>
                </a:tc>
              </a:tr>
              <a:tr h="39616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a:ln>
                            <a:noFill/>
                          </a:ln>
                          <a:solidFill>
                            <a:srgbClr val="000000"/>
                          </a:solidFill>
                          <a:effectLst/>
                          <a:latin typeface="Helvetica" charset="0"/>
                          <a:ea typeface="MS PGothic" charset="0"/>
                          <a:cs typeface="MS PGothic" charset="0"/>
                        </a:rPr>
                        <a:t>File System Object</a:t>
                      </a:r>
                      <a:endParaRPr kumimoji="0" lang="en-US" sz="1000" b="0" i="0" u="none" strike="noStrike" cap="none" normalizeH="0" baseline="-25000">
                        <a:ln>
                          <a:noFill/>
                        </a:ln>
                        <a:solidFill>
                          <a:schemeClr val="tx1"/>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16 Million per Directory</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16 Million per Directory</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tx1"/>
                          </a:solidFill>
                          <a:effectLst/>
                          <a:latin typeface="Helvetica" charset="0"/>
                          <a:ea typeface="MS PGothic" charset="0"/>
                          <a:cs typeface="MS PGothic" charset="0"/>
                        </a:rPr>
                        <a:t>16 Million per Directory</a:t>
                      </a:r>
                      <a:endParaRPr kumimoji="0" lang="en-US" sz="1000" b="1" i="0" u="none" strike="noStrike" cap="none" normalizeH="0" baseline="0">
                        <a:ln>
                          <a:noFill/>
                        </a:ln>
                        <a:solidFill>
                          <a:schemeClr val="tx1"/>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chemeClr val="tx1"/>
                          </a:solidFill>
                          <a:effectLst/>
                          <a:latin typeface="Helvetica" charset="0"/>
                          <a:ea typeface="MS PGothic" charset="0"/>
                          <a:cs typeface="MS PGothic" charset="0"/>
                        </a:rPr>
                        <a:t>16 Million per Directory</a:t>
                      </a:r>
                      <a:endParaRPr kumimoji="0" lang="en-US" sz="1000" b="1" i="0" u="none" strike="noStrike" cap="none" normalizeH="0" baseline="0">
                        <a:ln>
                          <a:noFill/>
                        </a:ln>
                        <a:solidFill>
                          <a:schemeClr val="tx1"/>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r>
              <a:tr h="37140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a:ln>
                            <a:noFill/>
                          </a:ln>
                          <a:solidFill>
                            <a:srgbClr val="000000"/>
                          </a:solidFill>
                          <a:effectLst/>
                          <a:latin typeface="Helvetica" charset="0"/>
                          <a:ea typeface="MS PGothic" charset="0"/>
                          <a:cs typeface="MS PGothic" charset="0"/>
                        </a:rPr>
                        <a:t>SpecSFS IOPs</a:t>
                      </a:r>
                      <a:endParaRPr kumimoji="0" lang="en-US" sz="1000" b="0" i="0" u="none" strike="noStrike" cap="none" normalizeH="0" baseline="-25000">
                        <a:ln>
                          <a:noFill/>
                        </a:ln>
                        <a:solidFill>
                          <a:schemeClr val="tx1"/>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60,000</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100,000</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100,000</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193,000</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r>
              <a:tr h="37140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a:ln>
                            <a:noFill/>
                          </a:ln>
                          <a:solidFill>
                            <a:srgbClr val="000000"/>
                          </a:solidFill>
                          <a:effectLst/>
                          <a:latin typeface="Helvetica" charset="0"/>
                          <a:ea typeface="MS PGothic" charset="0"/>
                          <a:cs typeface="MS PGothic" charset="0"/>
                        </a:rPr>
                        <a:t>Throughput</a:t>
                      </a:r>
                      <a:endParaRPr kumimoji="0" lang="en-US" sz="1000" b="0" i="0" u="none" strike="noStrike" cap="none" normalizeH="0" baseline="-25000">
                        <a:ln>
                          <a:noFill/>
                        </a:ln>
                        <a:solidFill>
                          <a:schemeClr val="tx1"/>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Up to 700 MB/Sec *</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Up to 1,100 MB/Sec *</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Up to 850MB/sec</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Up to 1600  MB/Sec</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r>
              <a:tr h="37140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a:ln>
                            <a:noFill/>
                          </a:ln>
                          <a:solidFill>
                            <a:srgbClr val="000000"/>
                          </a:solidFill>
                          <a:effectLst/>
                          <a:latin typeface="Helvetica" charset="0"/>
                          <a:ea typeface="MS PGothic" charset="0"/>
                          <a:cs typeface="MS PGothic" charset="0"/>
                        </a:rPr>
                        <a:t>Scalability</a:t>
                      </a:r>
                      <a:endParaRPr kumimoji="0" lang="en-US" sz="1000" b="0"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4 Petabyte(</a:t>
                      </a:r>
                      <a:r>
                        <a:rPr kumimoji="0" lang="en-US" sz="1000" b="1" i="0" u="none" strike="noStrike" cap="none" normalizeH="0" baseline="30000">
                          <a:ln>
                            <a:noFill/>
                          </a:ln>
                          <a:solidFill>
                            <a:srgbClr val="000000"/>
                          </a:solidFill>
                          <a:effectLst/>
                          <a:latin typeface="Helvetica" charset="0"/>
                          <a:ea typeface="MS PGothic" charset="0"/>
                          <a:cs typeface="MS PGothic" charset="0"/>
                        </a:rPr>
                        <a:t>1</a:t>
                      </a:r>
                      <a:r>
                        <a:rPr kumimoji="0" lang="en-US" sz="1000" b="1" i="0" u="none" strike="noStrike" cap="none" normalizeH="0" baseline="0">
                          <a:ln>
                            <a:noFill/>
                          </a:ln>
                          <a:solidFill>
                            <a:srgbClr val="000000"/>
                          </a:solidFill>
                          <a:effectLst/>
                          <a:latin typeface="Helvetica" charset="0"/>
                          <a:ea typeface="MS PGothic" charset="0"/>
                          <a:cs typeface="MS PGothic" charset="0"/>
                        </a:rPr>
                        <a:t>)</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8 Petabytes(</a:t>
                      </a:r>
                      <a:r>
                        <a:rPr kumimoji="0" lang="en-US" sz="1000" b="1" i="0" u="none" strike="noStrike" cap="none" normalizeH="0" baseline="30000">
                          <a:ln>
                            <a:noFill/>
                          </a:ln>
                          <a:solidFill>
                            <a:srgbClr val="000000"/>
                          </a:solidFill>
                          <a:effectLst/>
                          <a:latin typeface="Helvetica" charset="0"/>
                          <a:ea typeface="MS PGothic" charset="0"/>
                          <a:cs typeface="MS PGothic" charset="0"/>
                        </a:rPr>
                        <a:t>2</a:t>
                      </a:r>
                      <a:r>
                        <a:rPr kumimoji="0" lang="en-US" sz="1000" b="1" i="0" u="none" strike="noStrike" cap="none" normalizeH="0" baseline="0">
                          <a:ln>
                            <a:noFill/>
                          </a:ln>
                          <a:solidFill>
                            <a:srgbClr val="000000"/>
                          </a:solidFill>
                          <a:effectLst/>
                          <a:latin typeface="Helvetica" charset="0"/>
                          <a:ea typeface="MS PGothic" charset="0"/>
                          <a:cs typeface="MS PGothic" charset="0"/>
                        </a:rPr>
                        <a:t>)</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8 Petabytes(</a:t>
                      </a:r>
                      <a:r>
                        <a:rPr kumimoji="0" lang="en-US" sz="1000" b="1" i="0" u="none" strike="noStrike" cap="none" normalizeH="0" baseline="30000">
                          <a:ln>
                            <a:noFill/>
                          </a:ln>
                          <a:solidFill>
                            <a:srgbClr val="000000"/>
                          </a:solidFill>
                          <a:effectLst/>
                          <a:latin typeface="Helvetica" charset="0"/>
                          <a:ea typeface="MS PGothic" charset="0"/>
                          <a:cs typeface="MS PGothic" charset="0"/>
                        </a:rPr>
                        <a:t>2</a:t>
                      </a:r>
                      <a:r>
                        <a:rPr kumimoji="0" lang="en-US" sz="1000" b="1" i="0" u="none" strike="noStrike" cap="none" normalizeH="0" baseline="0">
                          <a:ln>
                            <a:noFill/>
                          </a:ln>
                          <a:solidFill>
                            <a:srgbClr val="000000"/>
                          </a:solidFill>
                          <a:effectLst/>
                          <a:latin typeface="Helvetica" charset="0"/>
                          <a:ea typeface="MS PGothic" charset="0"/>
                          <a:cs typeface="MS PGothic" charset="0"/>
                        </a:rPr>
                        <a:t>)</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16 Petabytes(</a:t>
                      </a:r>
                      <a:r>
                        <a:rPr kumimoji="0" lang="en-US" sz="1000" b="1" i="0" u="none" strike="noStrike" cap="none" normalizeH="0" baseline="30000">
                          <a:ln>
                            <a:noFill/>
                          </a:ln>
                          <a:solidFill>
                            <a:srgbClr val="000000"/>
                          </a:solidFill>
                          <a:effectLst/>
                          <a:latin typeface="Helvetica" charset="0"/>
                          <a:ea typeface="MS PGothic" charset="0"/>
                          <a:cs typeface="MS PGothic" charset="0"/>
                        </a:rPr>
                        <a:t>3</a:t>
                      </a:r>
                      <a:r>
                        <a:rPr kumimoji="0" lang="en-US" sz="1000" b="1" i="0" u="none" strike="noStrike" cap="none" normalizeH="0" baseline="0">
                          <a:ln>
                            <a:noFill/>
                          </a:ln>
                          <a:solidFill>
                            <a:srgbClr val="000000"/>
                          </a:solidFill>
                          <a:effectLst/>
                          <a:latin typeface="Helvetica" charset="0"/>
                          <a:ea typeface="MS PGothic" charset="0"/>
                          <a:cs typeface="MS PGothic" charset="0"/>
                        </a:rPr>
                        <a:t>)</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r>
              <a:tr h="37140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a:ln>
                            <a:noFill/>
                          </a:ln>
                          <a:solidFill>
                            <a:srgbClr val="000000"/>
                          </a:solidFill>
                          <a:effectLst/>
                          <a:latin typeface="Helvetica" charset="0"/>
                          <a:ea typeface="MS PGothic" charset="0"/>
                          <a:cs typeface="MS PGothic" charset="0"/>
                        </a:rPr>
                        <a:t>File System Size</a:t>
                      </a:r>
                      <a:endParaRPr kumimoji="0" lang="en-US" sz="1000" b="0"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256 Terabytes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256 Terabytes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256 Terabytes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256 Terabytes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r>
              <a:tr h="39616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a:ln>
                            <a:noFill/>
                          </a:ln>
                          <a:solidFill>
                            <a:srgbClr val="000000"/>
                          </a:solidFill>
                          <a:effectLst/>
                          <a:latin typeface="Helvetica" charset="0"/>
                          <a:ea typeface="MS PGothic" charset="0"/>
                          <a:cs typeface="MS PGothic" charset="0"/>
                        </a:rPr>
                        <a:t>Ethernet Ports</a:t>
                      </a:r>
                      <a:endParaRPr kumimoji="0" lang="en-US" sz="1000" b="0"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228600" marR="0" lvl="0" indent="-228600" algn="l" defTabSz="914400" rtl="0" eaLnBrk="1" fontAlgn="base" latinLnBrk="0" hangingPunct="1">
                        <a:lnSpc>
                          <a:spcPct val="100000"/>
                        </a:lnSpc>
                        <a:spcBef>
                          <a:spcPct val="0"/>
                        </a:spcBef>
                        <a:spcAft>
                          <a:spcPct val="0"/>
                        </a:spcAft>
                        <a:buClrTx/>
                        <a:buSzTx/>
                        <a:buFontTx/>
                        <a:buAutoNum type="arabicPlain" startAt="6"/>
                      </a:pPr>
                      <a:r>
                        <a:rPr kumimoji="0" lang="en-US" sz="1000" b="1" i="0" u="none" strike="noStrike" cap="none" normalizeH="0" baseline="0">
                          <a:ln>
                            <a:noFill/>
                          </a:ln>
                          <a:solidFill>
                            <a:srgbClr val="000000"/>
                          </a:solidFill>
                          <a:effectLst/>
                          <a:latin typeface="Helvetica" charset="0"/>
                          <a:ea typeface="MS PGothic" charset="0"/>
                          <a:cs typeface="MS PGothic" charset="0"/>
                        </a:rPr>
                        <a:t>x 1 Gigabits and</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p>
                      <a:pPr marL="228600" marR="0" lvl="0" indent="-22860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2x 10Gb</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6  x 1 Gigabits and</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2x 10Gb</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6  x 1 Gigabits or </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2x 10Gb</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6  x 1 Gigabits or</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2x 10Gb</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r>
              <a:tr h="39616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a:ln>
                            <a:noFill/>
                          </a:ln>
                          <a:solidFill>
                            <a:srgbClr val="000000"/>
                          </a:solidFill>
                          <a:effectLst/>
                          <a:latin typeface="Helvetica" charset="0"/>
                          <a:ea typeface="MS PGothic" charset="0"/>
                          <a:cs typeface="MS PGothic" charset="0"/>
                        </a:rPr>
                        <a:t>Fire Channel Ports</a:t>
                      </a:r>
                      <a:endParaRPr kumimoji="0" lang="en-US" sz="1000" b="0"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4x 4/2/1 Gigabits Ports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4x 4/2/1 Gigabits Ports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4x 4/2/1 Gigabits Ports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8x 4/2/1 Gigabits Ports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CBCB"/>
                    </a:solidFill>
                  </a:tcPr>
                </a:tc>
              </a:tr>
              <a:tr h="37140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a:ln>
                            <a:noFill/>
                          </a:ln>
                          <a:solidFill>
                            <a:srgbClr val="000000"/>
                          </a:solidFill>
                          <a:effectLst/>
                          <a:latin typeface="Helvetica" charset="0"/>
                          <a:ea typeface="MS PGothic" charset="0"/>
                          <a:cs typeface="MS PGothic" charset="0"/>
                        </a:rPr>
                        <a:t># Nodes / Cluster</a:t>
                      </a:r>
                      <a:endParaRPr kumimoji="0" lang="en-US" sz="1000" b="0"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Up to 2 Nodes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Up to 4 Nodes(</a:t>
                      </a:r>
                      <a:r>
                        <a:rPr kumimoji="0" lang="en-US" sz="1000" b="1" i="0" u="none" strike="noStrike" cap="none" normalizeH="0" baseline="30000">
                          <a:ln>
                            <a:noFill/>
                          </a:ln>
                          <a:solidFill>
                            <a:srgbClr val="000000"/>
                          </a:solidFill>
                          <a:effectLst/>
                          <a:latin typeface="Helvetica" charset="0"/>
                          <a:ea typeface="MS PGothic" charset="0"/>
                          <a:cs typeface="MS PGothic" charset="0"/>
                        </a:rPr>
                        <a:t>4</a:t>
                      </a:r>
                      <a:r>
                        <a:rPr kumimoji="0" lang="en-US" sz="1000" b="1" i="0" u="none" strike="noStrike" cap="none" normalizeH="0" baseline="0">
                          <a:ln>
                            <a:noFill/>
                          </a:ln>
                          <a:solidFill>
                            <a:srgbClr val="000000"/>
                          </a:solidFill>
                          <a:effectLst/>
                          <a:latin typeface="Helvetica" charset="0"/>
                          <a:ea typeface="MS PGothic" charset="0"/>
                          <a:cs typeface="MS PGothic" charset="0"/>
                        </a:rPr>
                        <a:t>)</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Up to 8 Nodes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000" b="1" i="0" u="none" strike="noStrike" cap="none" normalizeH="0" baseline="0">
                          <a:ln>
                            <a:noFill/>
                          </a:ln>
                          <a:solidFill>
                            <a:srgbClr val="000000"/>
                          </a:solidFill>
                          <a:effectLst/>
                          <a:latin typeface="Helvetica" charset="0"/>
                          <a:ea typeface="MS PGothic" charset="0"/>
                          <a:cs typeface="MS PGothic" charset="0"/>
                        </a:rPr>
                        <a:t>Up to 8 Nodes</a:t>
                      </a:r>
                      <a:endParaRPr kumimoji="0" lang="en-US" sz="1000" b="1" i="0" u="none" strike="noStrike" cap="none" normalizeH="0" baseline="0">
                        <a:ln>
                          <a:noFill/>
                        </a:ln>
                        <a:solidFill>
                          <a:srgbClr val="000000"/>
                        </a:solidFill>
                        <a:effectLst/>
                        <a:latin typeface="Helvetica" charset="0"/>
                        <a:ea typeface="MS PGothic" charset="0"/>
                        <a:cs typeface="MS PGothic" charset="0"/>
                      </a:endParaRPr>
                    </a:p>
                  </a:txBody>
                  <a:tcPr marT="45712" marB="4571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7E7"/>
                    </a:solidFill>
                  </a:tcPr>
                </a:tc>
              </a:tr>
            </a:tbl>
          </a:graphicData>
        </a:graphic>
      </p:graphicFrame>
      <p:sp>
        <p:nvSpPr>
          <p:cNvPr id="11330" name="Text Box 4"/>
          <p:cNvSpPr txBox="1"/>
          <p:nvPr/>
        </p:nvSpPr>
        <p:spPr>
          <a:xfrm>
            <a:off x="0" y="990600"/>
            <a:ext cx="4267200" cy="701675"/>
          </a:xfrm>
          <a:prstGeom prst="rect">
            <a:avLst/>
          </a:prstGeom>
          <a:noFill/>
          <a:ln w="9525">
            <a:noFill/>
          </a:ln>
        </p:spPr>
        <p:txBody>
          <a:bodyPr>
            <a:spAutoFit/>
          </a:bodyPr>
          <a:p>
            <a:r>
              <a:rPr sz="2000" b="1" dirty="0">
                <a:solidFill>
                  <a:schemeClr val="tx1"/>
                </a:solidFill>
                <a:latin typeface="Arial" panose="020B0604020202020204" pitchFamily="34" charset="0"/>
              </a:rPr>
              <a:t>Scaled performance and greater connectivity options …</a:t>
            </a:r>
            <a:endParaRPr sz="2000" b="1" dirty="0">
              <a:solidFill>
                <a:schemeClr val="tx1"/>
              </a:solidFill>
              <a:latin typeface="Arial" panose="020B0604020202020204" pitchFamily="34" charset="0"/>
            </a:endParaRPr>
          </a:p>
        </p:txBody>
      </p:sp>
      <p:pic>
        <p:nvPicPr>
          <p:cNvPr id="11331" name="Picture 86"/>
          <p:cNvPicPr>
            <a:picLocks noChangeAspect="1"/>
          </p:cNvPicPr>
          <p:nvPr/>
        </p:nvPicPr>
        <p:blipFill>
          <a:blip r:embed="rId1">
            <a:clrChange>
              <a:clrFrom>
                <a:srgbClr val="FFFFFF"/>
              </a:clrFrom>
              <a:clrTo>
                <a:srgbClr val="FFFFFF">
                  <a:alpha val="0"/>
                </a:srgbClr>
              </a:clrTo>
            </a:clrChange>
          </a:blip>
          <a:srcRect l="7292" t="26471" r="4167" b="9216"/>
          <a:stretch>
            <a:fillRect/>
          </a:stretch>
        </p:blipFill>
        <p:spPr>
          <a:xfrm>
            <a:off x="4724400" y="1371600"/>
            <a:ext cx="2590800" cy="1258888"/>
          </a:xfrm>
          <a:prstGeom prst="rect">
            <a:avLst/>
          </a:prstGeom>
          <a:noFill/>
          <a:ln w="9525">
            <a:noFill/>
          </a:ln>
        </p:spPr>
      </p:pic>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5314" name="Rectangle 2"/>
          <p:cNvSpPr/>
          <p:nvPr/>
        </p:nvSpPr>
        <p:spPr>
          <a:xfrm>
            <a:off x="228600" y="1219200"/>
            <a:ext cx="4419600" cy="5029200"/>
          </a:xfrm>
          <a:prstGeom prst="rect">
            <a:avLst/>
          </a:prstGeom>
          <a:solidFill>
            <a:schemeClr val="bg1"/>
          </a:solidFill>
          <a:ln w="9525" cap="flat" cmpd="sng">
            <a:solidFill>
              <a:srgbClr val="FFCC33"/>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25315" name="Rectangle 3"/>
          <p:cNvSpPr/>
          <p:nvPr/>
        </p:nvSpPr>
        <p:spPr>
          <a:xfrm>
            <a:off x="381000" y="3124200"/>
            <a:ext cx="4114800" cy="609600"/>
          </a:xfrm>
          <a:prstGeom prst="rect">
            <a:avLst/>
          </a:prstGeom>
          <a:solidFill>
            <a:schemeClr val="bg2"/>
          </a:solidFill>
          <a:ln w="9525" cap="flat" cmpd="sng">
            <a:solidFill>
              <a:schemeClr val="bg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25316" name="AutoShape 4"/>
          <p:cNvSpPr/>
          <p:nvPr/>
        </p:nvSpPr>
        <p:spPr>
          <a:xfrm>
            <a:off x="865188" y="2209800"/>
            <a:ext cx="3257550" cy="906463"/>
          </a:xfrm>
          <a:prstGeom prst="upArrow">
            <a:avLst>
              <a:gd name="adj1" fmla="val 68620"/>
              <a:gd name="adj2" fmla="val 48050"/>
            </a:avLst>
          </a:prstGeom>
          <a:solidFill>
            <a:srgbClr val="666699">
              <a:alpha val="50195"/>
            </a:srgbClr>
          </a:solidFill>
          <a:ln w="9525">
            <a:noFill/>
          </a:ln>
        </p:spPr>
        <p:txBody>
          <a:bodyPr wrap="none" anchor="ctr" anchorCtr="0"/>
          <a:p>
            <a:pPr algn="ctr"/>
            <a:endParaRPr dirty="0">
              <a:latin typeface="Arial" panose="020B0604020202020204" pitchFamily="34" charset="0"/>
            </a:endParaRPr>
          </a:p>
        </p:txBody>
      </p:sp>
      <p:sp>
        <p:nvSpPr>
          <p:cNvPr id="525317" name="Text Box 5"/>
          <p:cNvSpPr txBox="1"/>
          <p:nvPr/>
        </p:nvSpPr>
        <p:spPr>
          <a:xfrm>
            <a:off x="869950" y="5103813"/>
            <a:ext cx="3143250" cy="915987"/>
          </a:xfrm>
          <a:prstGeom prst="rect">
            <a:avLst/>
          </a:prstGeom>
          <a:noFill/>
          <a:ln w="9525">
            <a:noFill/>
          </a:ln>
        </p:spPr>
        <p:txBody>
          <a:bodyPr wrap="none">
            <a:spAutoFit/>
          </a:bodyPr>
          <a:p>
            <a:pPr algn="ctr"/>
            <a:r>
              <a:rPr dirty="0">
                <a:solidFill>
                  <a:schemeClr val="tx1"/>
                </a:solidFill>
                <a:latin typeface="Arial" panose="020B0604020202020204" pitchFamily="34" charset="0"/>
              </a:rPr>
              <a:t>10 Gigabit Ethernet Links for </a:t>
            </a:r>
            <a:endParaRPr dirty="0">
              <a:solidFill>
                <a:schemeClr val="tx1"/>
              </a:solidFill>
              <a:latin typeface="Arial" panose="020B0604020202020204" pitchFamily="34" charset="0"/>
            </a:endParaRPr>
          </a:p>
          <a:p>
            <a:pPr algn="ctr"/>
            <a:r>
              <a:rPr dirty="0">
                <a:solidFill>
                  <a:schemeClr val="tx1"/>
                </a:solidFill>
                <a:latin typeface="Arial" panose="020B0604020202020204" pitchFamily="34" charset="0"/>
              </a:rPr>
              <a:t>cluster interconnects +</a:t>
            </a:r>
            <a:endParaRPr dirty="0">
              <a:solidFill>
                <a:schemeClr val="tx1"/>
              </a:solidFill>
              <a:latin typeface="Arial" panose="020B0604020202020204" pitchFamily="34" charset="0"/>
            </a:endParaRPr>
          </a:p>
          <a:p>
            <a:pPr algn="ctr"/>
            <a:r>
              <a:rPr dirty="0">
                <a:solidFill>
                  <a:schemeClr val="tx1"/>
                </a:solidFill>
                <a:latin typeface="Arial" panose="020B0604020202020204" pitchFamily="34" charset="0"/>
              </a:rPr>
              <a:t>Shared SAN Back-End</a:t>
            </a:r>
            <a:endParaRPr dirty="0">
              <a:solidFill>
                <a:schemeClr val="tx1"/>
              </a:solidFill>
              <a:latin typeface="Arial" panose="020B0604020202020204" pitchFamily="34" charset="0"/>
            </a:endParaRPr>
          </a:p>
        </p:txBody>
      </p:sp>
      <p:sp>
        <p:nvSpPr>
          <p:cNvPr id="525318" name="Text Box 6"/>
          <p:cNvSpPr txBox="1"/>
          <p:nvPr/>
        </p:nvSpPr>
        <p:spPr>
          <a:xfrm>
            <a:off x="1322388" y="1828800"/>
            <a:ext cx="2301875" cy="457200"/>
          </a:xfrm>
          <a:prstGeom prst="rect">
            <a:avLst/>
          </a:prstGeom>
          <a:noFill/>
          <a:ln w="9525">
            <a:noFill/>
          </a:ln>
        </p:spPr>
        <p:txBody>
          <a:bodyPr wrap="none">
            <a:spAutoFit/>
          </a:bodyPr>
          <a:p>
            <a:pPr algn="ctr"/>
            <a:r>
              <a:rPr sz="2400" b="1" dirty="0">
                <a:solidFill>
                  <a:schemeClr val="tx1"/>
                </a:solidFill>
                <a:latin typeface="Arial" panose="020B0604020202020204" pitchFamily="34" charset="0"/>
              </a:rPr>
              <a:t>- Way Clusters</a:t>
            </a:r>
            <a:endParaRPr sz="2400" b="1" dirty="0">
              <a:solidFill>
                <a:schemeClr val="tx1"/>
              </a:solidFill>
              <a:latin typeface="Arial" panose="020B0604020202020204" pitchFamily="34" charset="0"/>
            </a:endParaRPr>
          </a:p>
        </p:txBody>
      </p:sp>
      <p:grpSp>
        <p:nvGrpSpPr>
          <p:cNvPr id="2" name="Group 7"/>
          <p:cNvGrpSpPr/>
          <p:nvPr/>
        </p:nvGrpSpPr>
        <p:grpSpPr>
          <a:xfrm>
            <a:off x="457200" y="3255963"/>
            <a:ext cx="1981200" cy="325437"/>
            <a:chOff x="288" y="2059"/>
            <a:chExt cx="1248" cy="205"/>
          </a:xfrm>
        </p:grpSpPr>
        <p:pic>
          <p:nvPicPr>
            <p:cNvPr id="13330" name="Picture 8" descr="Jumbo_bezel"/>
            <p:cNvPicPr>
              <a:picLocks noChangeAspect="1"/>
            </p:cNvPicPr>
            <p:nvPr/>
          </p:nvPicPr>
          <p:blipFill>
            <a:blip r:embed="rId1"/>
            <a:stretch>
              <a:fillRect/>
            </a:stretch>
          </p:blipFill>
          <p:spPr>
            <a:xfrm>
              <a:off x="948" y="2059"/>
              <a:ext cx="588" cy="205"/>
            </a:xfrm>
            <a:prstGeom prst="rect">
              <a:avLst/>
            </a:prstGeom>
            <a:noFill/>
            <a:ln w="9525">
              <a:noFill/>
            </a:ln>
          </p:spPr>
        </p:pic>
        <p:pic>
          <p:nvPicPr>
            <p:cNvPr id="13331" name="Picture 9" descr="Jumbo_bezel"/>
            <p:cNvPicPr>
              <a:picLocks noChangeAspect="1"/>
            </p:cNvPicPr>
            <p:nvPr/>
          </p:nvPicPr>
          <p:blipFill>
            <a:blip r:embed="rId1"/>
            <a:stretch>
              <a:fillRect/>
            </a:stretch>
          </p:blipFill>
          <p:spPr>
            <a:xfrm>
              <a:off x="288" y="2059"/>
              <a:ext cx="588" cy="205"/>
            </a:xfrm>
            <a:prstGeom prst="rect">
              <a:avLst/>
            </a:prstGeom>
            <a:noFill/>
            <a:ln w="9525">
              <a:noFill/>
            </a:ln>
          </p:spPr>
        </p:pic>
      </p:grpSp>
      <p:sp>
        <p:nvSpPr>
          <p:cNvPr id="13319" name="Rectangle 10"/>
          <p:cNvSpPr>
            <a:spLocks noGrp="1"/>
          </p:cNvSpPr>
          <p:nvPr>
            <p:ph type="title"/>
          </p:nvPr>
        </p:nvSpPr>
        <p:spPr>
          <a:xfrm>
            <a:off x="228600" y="254000"/>
            <a:ext cx="7086600" cy="331788"/>
          </a:xfrm>
          <a:ln/>
        </p:spPr>
        <p:txBody>
          <a:bodyPr vert="horz" wrap="square" lIns="91440" tIns="0" rIns="91440" bIns="0" anchor="ctr" anchorCtr="0">
            <a:spAutoFit/>
          </a:bodyPr>
          <a:p>
            <a:pPr eaLnBrk="1" hangingPunct="1"/>
            <a:r>
              <a:rPr dirty="0">
                <a:solidFill>
                  <a:schemeClr val="tx1"/>
                </a:solidFill>
              </a:rPr>
              <a:t>Up to 4 Way Clustering Support (later release)</a:t>
            </a:r>
            <a:endParaRPr dirty="0">
              <a:solidFill>
                <a:schemeClr val="tx1"/>
              </a:solidFill>
            </a:endParaRPr>
          </a:p>
        </p:txBody>
      </p:sp>
      <p:sp>
        <p:nvSpPr>
          <p:cNvPr id="525323" name="Rectangle 11"/>
          <p:cNvSpPr>
            <a:spLocks noGrp="1"/>
          </p:cNvSpPr>
          <p:nvPr>
            <p:ph type="body" sz="half" idx="2"/>
          </p:nvPr>
        </p:nvSpPr>
        <p:spPr>
          <a:xfrm>
            <a:off x="4724400" y="1143000"/>
            <a:ext cx="4267200" cy="4953000"/>
          </a:xfrm>
          <a:ln/>
        </p:spPr>
        <p:txBody>
          <a:bodyPr vert="horz" wrap="square" lIns="91440" tIns="45720" rIns="91440" bIns="45720" anchor="t" anchorCtr="0"/>
          <a:p>
            <a:pPr eaLnBrk="1" hangingPunct="1">
              <a:lnSpc>
                <a:spcPct val="90000"/>
              </a:lnSpc>
              <a:buClrTx/>
              <a:buSzTx/>
              <a:buFontTx/>
              <a:buNone/>
            </a:pPr>
            <a:r>
              <a:rPr dirty="0">
                <a:solidFill>
                  <a:schemeClr val="tx1"/>
                </a:solidFill>
                <a:latin typeface="Arial" panose="020B0604020202020204" pitchFamily="34" charset="0"/>
              </a:rPr>
              <a:t>Features:</a:t>
            </a:r>
            <a:endParaRPr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Clusters Now Scale from 2, 3, 4 Nodes </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Read Caching Capability</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64 </a:t>
            </a:r>
            <a:r>
              <a:rPr sz="1200" b="1" dirty="0">
                <a:solidFill>
                  <a:schemeClr val="tx1"/>
                </a:solidFill>
                <a:latin typeface="Arial" panose="020B0604020202020204" pitchFamily="34" charset="0"/>
              </a:rPr>
              <a:t>E</a:t>
            </a:r>
            <a:r>
              <a:rPr sz="1200" dirty="0">
                <a:solidFill>
                  <a:schemeClr val="tx1"/>
                </a:solidFill>
                <a:latin typeface="Arial" panose="020B0604020202020204" pitchFamily="34" charset="0"/>
              </a:rPr>
              <a:t>nterprise </a:t>
            </a:r>
            <a:r>
              <a:rPr sz="1200" b="1" dirty="0">
                <a:solidFill>
                  <a:schemeClr val="tx1"/>
                </a:solidFill>
                <a:latin typeface="Arial" panose="020B0604020202020204" pitchFamily="34" charset="0"/>
              </a:rPr>
              <a:t>V</a:t>
            </a:r>
            <a:r>
              <a:rPr sz="1200" dirty="0">
                <a:solidFill>
                  <a:schemeClr val="tx1"/>
                </a:solidFill>
                <a:latin typeface="Arial" panose="020B0604020202020204" pitchFamily="34" charset="0"/>
              </a:rPr>
              <a:t>irtual </a:t>
            </a:r>
            <a:r>
              <a:rPr sz="1200" b="1" dirty="0">
                <a:solidFill>
                  <a:schemeClr val="tx1"/>
                </a:solidFill>
                <a:latin typeface="Arial" panose="020B0604020202020204" pitchFamily="34" charset="0"/>
              </a:rPr>
              <a:t>S</a:t>
            </a:r>
            <a:r>
              <a:rPr sz="1200" dirty="0">
                <a:solidFill>
                  <a:schemeClr val="tx1"/>
                </a:solidFill>
                <a:latin typeface="Arial" panose="020B0604020202020204" pitchFamily="34" charset="0"/>
              </a:rPr>
              <a:t>ervers Per node or Cluster (optional Virtual Server Security for each EVS)</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Rolling Upgrades</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512 TB of Shared Storage 2TB LUN; supports up to 2PB capacity with LUN size greater than 8TB</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Supports Cluster Name Space</a:t>
            </a:r>
            <a:endParaRPr sz="1200" dirty="0">
              <a:solidFill>
                <a:schemeClr val="tx1"/>
              </a:solidFill>
              <a:latin typeface="Arial" panose="020B0604020202020204" pitchFamily="34" charset="0"/>
            </a:endParaRPr>
          </a:p>
          <a:p>
            <a:pPr eaLnBrk="1" hangingPunct="1">
              <a:lnSpc>
                <a:spcPct val="90000"/>
              </a:lnSpc>
              <a:buClrTx/>
              <a:buSzTx/>
              <a:buFontTx/>
              <a:buNone/>
            </a:pPr>
            <a:r>
              <a:rPr dirty="0">
                <a:solidFill>
                  <a:schemeClr val="tx1"/>
                </a:solidFill>
                <a:latin typeface="Arial" panose="020B0604020202020204" pitchFamily="34" charset="0"/>
              </a:rPr>
              <a:t>Benefits:</a:t>
            </a:r>
            <a:endParaRPr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Near linear scaling aggregate Performance</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Sharing a Large Centralized Storage Pool</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More Effective Distribution and Migration of Virtual Servers</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Excellent for HPC or Large Clusters Which Need Higher Random Access Performance to Several File System Data Sets</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Acceleration of NFS Read Workload Profiles</a:t>
            </a:r>
            <a:endParaRPr sz="1200" dirty="0">
              <a:solidFill>
                <a:schemeClr val="tx1"/>
              </a:solidFill>
              <a:latin typeface="Arial" panose="020B0604020202020204" pitchFamily="34" charset="0"/>
            </a:endParaRPr>
          </a:p>
          <a:p>
            <a:pPr lvl="1" eaLnBrk="1" hangingPunct="1">
              <a:lnSpc>
                <a:spcPct val="90000"/>
              </a:lnSpc>
            </a:pPr>
            <a:r>
              <a:rPr sz="1200" dirty="0">
                <a:solidFill>
                  <a:schemeClr val="tx1"/>
                </a:solidFill>
                <a:latin typeface="Arial" panose="020B0604020202020204" pitchFamily="34" charset="0"/>
              </a:rPr>
              <a:t>Supports Redirection for CIFS Workload Profiles</a:t>
            </a:r>
            <a:endParaRPr sz="1200" dirty="0">
              <a:solidFill>
                <a:schemeClr val="tx1"/>
              </a:solidFill>
              <a:latin typeface="Arial" panose="020B0604020202020204" pitchFamily="34" charset="0"/>
            </a:endParaRPr>
          </a:p>
        </p:txBody>
      </p:sp>
      <p:sp>
        <p:nvSpPr>
          <p:cNvPr id="525324" name="Text Box 12"/>
          <p:cNvSpPr txBox="1"/>
          <p:nvPr/>
        </p:nvSpPr>
        <p:spPr>
          <a:xfrm>
            <a:off x="1117600" y="1828800"/>
            <a:ext cx="685800" cy="457200"/>
          </a:xfrm>
          <a:prstGeom prst="rect">
            <a:avLst/>
          </a:prstGeom>
          <a:noFill/>
          <a:ln w="9525">
            <a:noFill/>
          </a:ln>
        </p:spPr>
        <p:txBody>
          <a:bodyPr>
            <a:spAutoFit/>
          </a:bodyPr>
          <a:p>
            <a:pPr marL="342900" indent="-342900">
              <a:spcBef>
                <a:spcPct val="50000"/>
              </a:spcBef>
            </a:pPr>
            <a:r>
              <a:rPr sz="2400" b="1" dirty="0">
                <a:solidFill>
                  <a:schemeClr val="tx1"/>
                </a:solidFill>
                <a:latin typeface="Arial" panose="020B0604020202020204" pitchFamily="34" charset="0"/>
              </a:rPr>
              <a:t>2</a:t>
            </a:r>
            <a:endParaRPr sz="2400" b="1" dirty="0">
              <a:solidFill>
                <a:schemeClr val="tx1"/>
              </a:solidFill>
              <a:latin typeface="Arial" panose="020B0604020202020204" pitchFamily="34" charset="0"/>
            </a:endParaRPr>
          </a:p>
        </p:txBody>
      </p:sp>
      <p:sp>
        <p:nvSpPr>
          <p:cNvPr id="525325" name="Text Box 13"/>
          <p:cNvSpPr txBox="1"/>
          <p:nvPr/>
        </p:nvSpPr>
        <p:spPr>
          <a:xfrm>
            <a:off x="1143000" y="1828800"/>
            <a:ext cx="685800" cy="457200"/>
          </a:xfrm>
          <a:prstGeom prst="rect">
            <a:avLst/>
          </a:prstGeom>
          <a:noFill/>
          <a:ln w="9525">
            <a:noFill/>
          </a:ln>
        </p:spPr>
        <p:txBody>
          <a:bodyPr>
            <a:spAutoFit/>
          </a:bodyPr>
          <a:p>
            <a:pPr marL="342900" indent="-342900">
              <a:spcBef>
                <a:spcPct val="50000"/>
              </a:spcBef>
            </a:pPr>
            <a:r>
              <a:rPr sz="2400" b="1" dirty="0">
                <a:solidFill>
                  <a:schemeClr val="tx1"/>
                </a:solidFill>
                <a:latin typeface="Arial" panose="020B0604020202020204" pitchFamily="34" charset="0"/>
              </a:rPr>
              <a:t>4</a:t>
            </a:r>
            <a:endParaRPr sz="2400" b="1" dirty="0">
              <a:solidFill>
                <a:schemeClr val="tx1"/>
              </a:solidFill>
              <a:latin typeface="Arial" panose="020B0604020202020204" pitchFamily="34" charset="0"/>
            </a:endParaRPr>
          </a:p>
        </p:txBody>
      </p:sp>
      <p:grpSp>
        <p:nvGrpSpPr>
          <p:cNvPr id="3" name="Group 15"/>
          <p:cNvGrpSpPr/>
          <p:nvPr/>
        </p:nvGrpSpPr>
        <p:grpSpPr>
          <a:xfrm>
            <a:off x="2514600" y="3243263"/>
            <a:ext cx="1981200" cy="325437"/>
            <a:chOff x="288" y="2059"/>
            <a:chExt cx="1248" cy="205"/>
          </a:xfrm>
        </p:grpSpPr>
        <p:pic>
          <p:nvPicPr>
            <p:cNvPr id="13328" name="Picture 16" descr="Jumbo_bezel"/>
            <p:cNvPicPr>
              <a:picLocks noChangeAspect="1"/>
            </p:cNvPicPr>
            <p:nvPr/>
          </p:nvPicPr>
          <p:blipFill>
            <a:blip r:embed="rId1"/>
            <a:stretch>
              <a:fillRect/>
            </a:stretch>
          </p:blipFill>
          <p:spPr>
            <a:xfrm>
              <a:off x="948" y="2059"/>
              <a:ext cx="588" cy="205"/>
            </a:xfrm>
            <a:prstGeom prst="rect">
              <a:avLst/>
            </a:prstGeom>
            <a:noFill/>
            <a:ln w="9525">
              <a:noFill/>
            </a:ln>
          </p:spPr>
        </p:pic>
        <p:pic>
          <p:nvPicPr>
            <p:cNvPr id="13329" name="Picture 17" descr="Jumbo_bezel"/>
            <p:cNvPicPr>
              <a:picLocks noChangeAspect="1"/>
            </p:cNvPicPr>
            <p:nvPr/>
          </p:nvPicPr>
          <p:blipFill>
            <a:blip r:embed="rId1"/>
            <a:stretch>
              <a:fillRect/>
            </a:stretch>
          </p:blipFill>
          <p:spPr>
            <a:xfrm>
              <a:off x="288" y="2059"/>
              <a:ext cx="588" cy="205"/>
            </a:xfrm>
            <a:prstGeom prst="rect">
              <a:avLst/>
            </a:prstGeom>
            <a:noFill/>
            <a:ln w="9525">
              <a:noFill/>
            </a:ln>
          </p:spPr>
        </p:pic>
      </p:grpSp>
      <p:pic>
        <p:nvPicPr>
          <p:cNvPr id="525337" name="Picture 25" descr="Cloud"/>
          <p:cNvPicPr>
            <a:picLocks noChangeAspect="1"/>
          </p:cNvPicPr>
          <p:nvPr/>
        </p:nvPicPr>
        <p:blipFill>
          <a:blip r:embed="rId2"/>
          <a:stretch>
            <a:fillRect/>
          </a:stretch>
        </p:blipFill>
        <p:spPr>
          <a:xfrm>
            <a:off x="838200" y="3581400"/>
            <a:ext cx="3074988" cy="957263"/>
          </a:xfrm>
          <a:prstGeom prst="rect">
            <a:avLst/>
          </a:prstGeom>
          <a:noFill/>
          <a:ln w="9525">
            <a:noFill/>
          </a:ln>
        </p:spPr>
      </p:pic>
      <p:sp>
        <p:nvSpPr>
          <p:cNvPr id="525340" name="Text Box 28"/>
          <p:cNvSpPr txBox="1"/>
          <p:nvPr/>
        </p:nvSpPr>
        <p:spPr>
          <a:xfrm>
            <a:off x="1776413" y="3886200"/>
            <a:ext cx="1279525" cy="304800"/>
          </a:xfrm>
          <a:prstGeom prst="rect">
            <a:avLst/>
          </a:prstGeom>
          <a:noFill/>
          <a:ln w="9525">
            <a:noFill/>
          </a:ln>
        </p:spPr>
        <p:txBody>
          <a:bodyPr>
            <a:spAutoFit/>
          </a:bodyPr>
          <a:p>
            <a:pPr algn="ctr">
              <a:spcBef>
                <a:spcPct val="50000"/>
              </a:spcBef>
            </a:pPr>
            <a:r>
              <a:rPr sz="1400" b="1" dirty="0">
                <a:solidFill>
                  <a:schemeClr val="tx1"/>
                </a:solidFill>
                <a:latin typeface="Arial" panose="020B0604020202020204" pitchFamily="34" charset="0"/>
              </a:rPr>
              <a:t>Shared SAN</a:t>
            </a:r>
            <a:endParaRPr sz="1400" b="1" dirty="0">
              <a:solidFill>
                <a:schemeClr val="tx1"/>
              </a:solidFill>
              <a:latin typeface="Arial" panose="020B0604020202020204" pitchFamily="34" charset="0"/>
            </a:endParaRPr>
          </a:p>
        </p:txBody>
      </p:sp>
      <p:pic>
        <p:nvPicPr>
          <p:cNvPr id="525339" name="Picture 27" descr="ams200_WMS100_nas"/>
          <p:cNvPicPr>
            <a:picLocks noChangeAspect="1"/>
          </p:cNvPicPr>
          <p:nvPr/>
        </p:nvPicPr>
        <p:blipFill>
          <a:blip r:embed="rId3"/>
          <a:stretch>
            <a:fillRect/>
          </a:stretch>
        </p:blipFill>
        <p:spPr>
          <a:xfrm>
            <a:off x="2819400" y="4038600"/>
            <a:ext cx="785813" cy="1020763"/>
          </a:xfrm>
          <a:prstGeom prst="rect">
            <a:avLst/>
          </a:prstGeom>
          <a:noFill/>
          <a:ln w="9525">
            <a:noFill/>
          </a:ln>
        </p:spPr>
      </p:pic>
      <p:pic>
        <p:nvPicPr>
          <p:cNvPr id="525338" name="Picture 26" descr="ams200_WMS100_nas"/>
          <p:cNvPicPr>
            <a:picLocks noGrp="1" noChangeAspect="1"/>
          </p:cNvPicPr>
          <p:nvPr>
            <p:ph sz="half" idx="1"/>
          </p:nvPr>
        </p:nvPicPr>
        <p:blipFill>
          <a:blip r:embed="rId3"/>
          <a:srcRect/>
          <a:stretch>
            <a:fillRect/>
          </a:stretch>
        </p:blipFill>
        <p:spPr>
          <a:xfrm>
            <a:off x="1117600" y="3925888"/>
            <a:ext cx="836613" cy="1135062"/>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5314"/>
                                        </p:tgtEl>
                                        <p:attrNameLst>
                                          <p:attrName>style.visibility</p:attrName>
                                        </p:attrNameLst>
                                      </p:cBhvr>
                                      <p:to>
                                        <p:strVal val="visible"/>
                                      </p:to>
                                    </p:set>
                                    <p:animEffect transition="in" filter="blinds(horizontal)">
                                      <p:cBhvr>
                                        <p:cTn id="7" dur="500"/>
                                        <p:tgtEl>
                                          <p:spTgt spid="52531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25315"/>
                                        </p:tgtEl>
                                        <p:attrNameLst>
                                          <p:attrName>style.visibility</p:attrName>
                                        </p:attrNameLst>
                                      </p:cBhvr>
                                      <p:to>
                                        <p:strVal val="visible"/>
                                      </p:to>
                                    </p:set>
                                    <p:animEffect transition="in" filter="blinds(horizontal)">
                                      <p:cBhvr>
                                        <p:cTn id="10" dur="500"/>
                                        <p:tgtEl>
                                          <p:spTgt spid="52531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25316"/>
                                        </p:tgtEl>
                                        <p:attrNameLst>
                                          <p:attrName>style.visibility</p:attrName>
                                        </p:attrNameLst>
                                      </p:cBhvr>
                                      <p:to>
                                        <p:strVal val="visible"/>
                                      </p:to>
                                    </p:set>
                                    <p:animEffect transition="in" filter="blinds(horizontal)">
                                      <p:cBhvr>
                                        <p:cTn id="13" dur="500"/>
                                        <p:tgtEl>
                                          <p:spTgt spid="525316"/>
                                        </p:tgtEl>
                                      </p:cBhvr>
                                    </p:animEffect>
                                  </p:childTnLst>
                                </p:cTn>
                              </p:par>
                              <p:par>
                                <p:cTn id="14" presetID="3" presetClass="entr" presetSubtype="10" fill="hold" nodeType="withEffect">
                                  <p:stCondLst>
                                    <p:cond delay="0"/>
                                  </p:stCondLst>
                                  <p:childTnLst>
                                    <p:set>
                                      <p:cBhvr>
                                        <p:cTn id="15" dur="1" fill="hold">
                                          <p:stCondLst>
                                            <p:cond delay="0"/>
                                          </p:stCondLst>
                                        </p:cTn>
                                        <p:tgtEl>
                                          <p:spTgt spid="525337"/>
                                        </p:tgtEl>
                                        <p:attrNameLst>
                                          <p:attrName>style.visibility</p:attrName>
                                        </p:attrNameLst>
                                      </p:cBhvr>
                                      <p:to>
                                        <p:strVal val="visible"/>
                                      </p:to>
                                    </p:set>
                                    <p:animEffect transition="in" filter="blinds(horizontal)">
                                      <p:cBhvr>
                                        <p:cTn id="16" dur="500"/>
                                        <p:tgtEl>
                                          <p:spTgt spid="52533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25340"/>
                                        </p:tgtEl>
                                        <p:attrNameLst>
                                          <p:attrName>style.visibility</p:attrName>
                                        </p:attrNameLst>
                                      </p:cBhvr>
                                      <p:to>
                                        <p:strVal val="visible"/>
                                      </p:to>
                                    </p:set>
                                    <p:animEffect transition="in" filter="blinds(horizontal)">
                                      <p:cBhvr>
                                        <p:cTn id="19" dur="500"/>
                                        <p:tgtEl>
                                          <p:spTgt spid="52534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25317"/>
                                        </p:tgtEl>
                                        <p:attrNameLst>
                                          <p:attrName>style.visibility</p:attrName>
                                        </p:attrNameLst>
                                      </p:cBhvr>
                                      <p:to>
                                        <p:strVal val="visible"/>
                                      </p:to>
                                    </p:set>
                                    <p:animEffect transition="in" filter="blinds(horizontal)">
                                      <p:cBhvr>
                                        <p:cTn id="22" dur="500"/>
                                        <p:tgtEl>
                                          <p:spTgt spid="525317"/>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25318"/>
                                        </p:tgtEl>
                                        <p:attrNameLst>
                                          <p:attrName>style.visibility</p:attrName>
                                        </p:attrNameLst>
                                      </p:cBhvr>
                                      <p:to>
                                        <p:strVal val="visible"/>
                                      </p:to>
                                    </p:set>
                                    <p:animEffect transition="in" filter="blinds(horizontal)">
                                      <p:cBhvr>
                                        <p:cTn id="25" dur="500"/>
                                        <p:tgtEl>
                                          <p:spTgt spid="525318"/>
                                        </p:tgtEl>
                                      </p:cBhvr>
                                    </p:animEffect>
                                  </p:childTnLst>
                                </p:cTn>
                              </p:par>
                              <p:par>
                                <p:cTn id="26" presetID="3" presetClass="entr" presetSubtype="10" fill="hold" nodeType="withEffect">
                                  <p:stCondLst>
                                    <p:cond delay="0"/>
                                  </p:stCondLst>
                                  <p:childTnLst>
                                    <p:set>
                                      <p:cBhvr>
                                        <p:cTn id="27" dur="1" fill="hold">
                                          <p:stCondLst>
                                            <p:cond delay="0"/>
                                          </p:stCondLst>
                                        </p:cTn>
                                        <p:tgtEl>
                                          <p:spTgt spid="525338"/>
                                        </p:tgtEl>
                                        <p:attrNameLst>
                                          <p:attrName>style.visibility</p:attrName>
                                        </p:attrNameLst>
                                      </p:cBhvr>
                                      <p:to>
                                        <p:strVal val="visible"/>
                                      </p:to>
                                    </p:set>
                                    <p:animEffect transition="in" filter="blinds(horizontal)">
                                      <p:cBhvr>
                                        <p:cTn id="28" dur="500"/>
                                        <p:tgtEl>
                                          <p:spTgt spid="525338"/>
                                        </p:tgtEl>
                                      </p:cBhvr>
                                    </p:animEffect>
                                  </p:childTnLst>
                                </p:cTn>
                              </p:par>
                              <p:par>
                                <p:cTn id="29" presetID="3" presetClass="entr" presetSubtype="10" fill="hold" nodeType="withEffect">
                                  <p:stCondLst>
                                    <p:cond delay="0"/>
                                  </p:stCondLst>
                                  <p:childTnLst>
                                    <p:set>
                                      <p:cBhvr>
                                        <p:cTn id="30" dur="1" fill="hold">
                                          <p:stCondLst>
                                            <p:cond delay="0"/>
                                          </p:stCondLst>
                                        </p:cTn>
                                        <p:tgtEl>
                                          <p:spTgt spid="525339"/>
                                        </p:tgtEl>
                                        <p:attrNameLst>
                                          <p:attrName>style.visibility</p:attrName>
                                        </p:attrNameLst>
                                      </p:cBhvr>
                                      <p:to>
                                        <p:strVal val="visible"/>
                                      </p:to>
                                    </p:set>
                                    <p:animEffect transition="in" filter="blinds(horizontal)">
                                      <p:cBhvr>
                                        <p:cTn id="31" dur="500"/>
                                        <p:tgtEl>
                                          <p:spTgt spid="525339"/>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525323">
                                            <p:txEl>
                                              <p:charRg st="0" end="10"/>
                                            </p:txEl>
                                          </p:spTgt>
                                        </p:tgtEl>
                                        <p:attrNameLst>
                                          <p:attrName>style.visibility</p:attrName>
                                        </p:attrNameLst>
                                      </p:cBhvr>
                                      <p:to>
                                        <p:strVal val="visible"/>
                                      </p:to>
                                    </p:set>
                                    <p:animEffect transition="in" filter="blinds(horizontal)">
                                      <p:cBhvr>
                                        <p:cTn id="34" dur="500"/>
                                        <p:tgtEl>
                                          <p:spTgt spid="525323">
                                            <p:txEl>
                                              <p:charRg st="0" end="10"/>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525323">
                                            <p:txEl>
                                              <p:charRg st="10" end="49"/>
                                            </p:txEl>
                                          </p:spTgt>
                                        </p:tgtEl>
                                        <p:attrNameLst>
                                          <p:attrName>style.visibility</p:attrName>
                                        </p:attrNameLst>
                                      </p:cBhvr>
                                      <p:to>
                                        <p:strVal val="visible"/>
                                      </p:to>
                                    </p:set>
                                    <p:animEffect transition="in" filter="blinds(horizontal)">
                                      <p:cBhvr>
                                        <p:cTn id="37" dur="500"/>
                                        <p:tgtEl>
                                          <p:spTgt spid="525323">
                                            <p:txEl>
                                              <p:charRg st="10" end="49"/>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525323">
                                            <p:txEl>
                                              <p:charRg st="49" end="73"/>
                                            </p:txEl>
                                          </p:spTgt>
                                        </p:tgtEl>
                                        <p:attrNameLst>
                                          <p:attrName>style.visibility</p:attrName>
                                        </p:attrNameLst>
                                      </p:cBhvr>
                                      <p:to>
                                        <p:strVal val="visible"/>
                                      </p:to>
                                    </p:set>
                                    <p:animEffect transition="in" filter="blinds(horizontal)">
                                      <p:cBhvr>
                                        <p:cTn id="40" dur="500"/>
                                        <p:tgtEl>
                                          <p:spTgt spid="525323">
                                            <p:txEl>
                                              <p:charRg st="49" end="73"/>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525323">
                                            <p:txEl>
                                              <p:charRg st="73" end="171"/>
                                            </p:txEl>
                                          </p:spTgt>
                                        </p:tgtEl>
                                        <p:attrNameLst>
                                          <p:attrName>style.visibility</p:attrName>
                                        </p:attrNameLst>
                                      </p:cBhvr>
                                      <p:to>
                                        <p:strVal val="visible"/>
                                      </p:to>
                                    </p:set>
                                    <p:animEffect transition="in" filter="blinds(horizontal)">
                                      <p:cBhvr>
                                        <p:cTn id="43" dur="500"/>
                                        <p:tgtEl>
                                          <p:spTgt spid="525323">
                                            <p:txEl>
                                              <p:charRg st="73" end="171"/>
                                            </p:txEl>
                                          </p:spTgt>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525323">
                                            <p:txEl>
                                              <p:charRg st="171" end="188"/>
                                            </p:txEl>
                                          </p:spTgt>
                                        </p:tgtEl>
                                        <p:attrNameLst>
                                          <p:attrName>style.visibility</p:attrName>
                                        </p:attrNameLst>
                                      </p:cBhvr>
                                      <p:to>
                                        <p:strVal val="visible"/>
                                      </p:to>
                                    </p:set>
                                    <p:animEffect transition="in" filter="blinds(horizontal)">
                                      <p:cBhvr>
                                        <p:cTn id="46" dur="500"/>
                                        <p:tgtEl>
                                          <p:spTgt spid="525323">
                                            <p:txEl>
                                              <p:charRg st="171" end="188"/>
                                            </p:txEl>
                                          </p:spTgt>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525323">
                                            <p:txEl>
                                              <p:charRg st="188" end="281"/>
                                            </p:txEl>
                                          </p:spTgt>
                                        </p:tgtEl>
                                        <p:attrNameLst>
                                          <p:attrName>style.visibility</p:attrName>
                                        </p:attrNameLst>
                                      </p:cBhvr>
                                      <p:to>
                                        <p:strVal val="visible"/>
                                      </p:to>
                                    </p:set>
                                    <p:animEffect transition="in" filter="blinds(horizontal)">
                                      <p:cBhvr>
                                        <p:cTn id="49" dur="500"/>
                                        <p:tgtEl>
                                          <p:spTgt spid="525323">
                                            <p:txEl>
                                              <p:charRg st="188" end="281"/>
                                            </p:txEl>
                                          </p:spTgt>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525323">
                                            <p:txEl>
                                              <p:charRg st="281" end="309"/>
                                            </p:txEl>
                                          </p:spTgt>
                                        </p:tgtEl>
                                        <p:attrNameLst>
                                          <p:attrName>style.visibility</p:attrName>
                                        </p:attrNameLst>
                                      </p:cBhvr>
                                      <p:to>
                                        <p:strVal val="visible"/>
                                      </p:to>
                                    </p:set>
                                    <p:animEffect transition="in" filter="blinds(horizontal)">
                                      <p:cBhvr>
                                        <p:cTn id="52" dur="500"/>
                                        <p:tgtEl>
                                          <p:spTgt spid="525323">
                                            <p:txEl>
                                              <p:charRg st="281" end="309"/>
                                            </p:txEl>
                                          </p:spTgt>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525323">
                                            <p:txEl>
                                              <p:charRg st="309" end="319"/>
                                            </p:txEl>
                                          </p:spTgt>
                                        </p:tgtEl>
                                        <p:attrNameLst>
                                          <p:attrName>style.visibility</p:attrName>
                                        </p:attrNameLst>
                                      </p:cBhvr>
                                      <p:to>
                                        <p:strVal val="visible"/>
                                      </p:to>
                                    </p:set>
                                    <p:animEffect transition="in" filter="blinds(horizontal)">
                                      <p:cBhvr>
                                        <p:cTn id="55" dur="500"/>
                                        <p:tgtEl>
                                          <p:spTgt spid="525323">
                                            <p:txEl>
                                              <p:charRg st="309" end="319"/>
                                            </p:txEl>
                                          </p:spTgt>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525323">
                                            <p:txEl>
                                              <p:charRg st="319" end="361"/>
                                            </p:txEl>
                                          </p:spTgt>
                                        </p:tgtEl>
                                        <p:attrNameLst>
                                          <p:attrName>style.visibility</p:attrName>
                                        </p:attrNameLst>
                                      </p:cBhvr>
                                      <p:to>
                                        <p:strVal val="visible"/>
                                      </p:to>
                                    </p:set>
                                    <p:animEffect transition="in" filter="blinds(horizontal)">
                                      <p:cBhvr>
                                        <p:cTn id="58" dur="500"/>
                                        <p:tgtEl>
                                          <p:spTgt spid="525323">
                                            <p:txEl>
                                              <p:charRg st="319" end="361"/>
                                            </p:txEl>
                                          </p:spTgt>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525323">
                                            <p:txEl>
                                              <p:charRg st="361" end="402"/>
                                            </p:txEl>
                                          </p:spTgt>
                                        </p:tgtEl>
                                        <p:attrNameLst>
                                          <p:attrName>style.visibility</p:attrName>
                                        </p:attrNameLst>
                                      </p:cBhvr>
                                      <p:to>
                                        <p:strVal val="visible"/>
                                      </p:to>
                                    </p:set>
                                    <p:animEffect transition="in" filter="blinds(horizontal)">
                                      <p:cBhvr>
                                        <p:cTn id="61" dur="500"/>
                                        <p:tgtEl>
                                          <p:spTgt spid="525323">
                                            <p:txEl>
                                              <p:charRg st="361" end="402"/>
                                            </p:txEl>
                                          </p:spTgt>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525323">
                                            <p:txEl>
                                              <p:charRg st="402" end="463"/>
                                            </p:txEl>
                                          </p:spTgt>
                                        </p:tgtEl>
                                        <p:attrNameLst>
                                          <p:attrName>style.visibility</p:attrName>
                                        </p:attrNameLst>
                                      </p:cBhvr>
                                      <p:to>
                                        <p:strVal val="visible"/>
                                      </p:to>
                                    </p:set>
                                    <p:animEffect transition="in" filter="blinds(horizontal)">
                                      <p:cBhvr>
                                        <p:cTn id="64" dur="500"/>
                                        <p:tgtEl>
                                          <p:spTgt spid="525323">
                                            <p:txEl>
                                              <p:charRg st="402" end="463"/>
                                            </p:txEl>
                                          </p:spTgt>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525323">
                                            <p:txEl>
                                              <p:charRg st="463" end="576"/>
                                            </p:txEl>
                                          </p:spTgt>
                                        </p:tgtEl>
                                        <p:attrNameLst>
                                          <p:attrName>style.visibility</p:attrName>
                                        </p:attrNameLst>
                                      </p:cBhvr>
                                      <p:to>
                                        <p:strVal val="visible"/>
                                      </p:to>
                                    </p:set>
                                    <p:animEffect transition="in" filter="blinds(horizontal)">
                                      <p:cBhvr>
                                        <p:cTn id="67" dur="500"/>
                                        <p:tgtEl>
                                          <p:spTgt spid="525323">
                                            <p:txEl>
                                              <p:charRg st="463" end="576"/>
                                            </p:txEl>
                                          </p:spTgt>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525323">
                                            <p:txEl>
                                              <p:charRg st="576" end="619"/>
                                            </p:txEl>
                                          </p:spTgt>
                                        </p:tgtEl>
                                        <p:attrNameLst>
                                          <p:attrName>style.visibility</p:attrName>
                                        </p:attrNameLst>
                                      </p:cBhvr>
                                      <p:to>
                                        <p:strVal val="visible"/>
                                      </p:to>
                                    </p:set>
                                    <p:animEffect transition="in" filter="blinds(horizontal)">
                                      <p:cBhvr>
                                        <p:cTn id="70" dur="500"/>
                                        <p:tgtEl>
                                          <p:spTgt spid="525323">
                                            <p:txEl>
                                              <p:charRg st="576" end="619"/>
                                            </p:txEl>
                                          </p:spTgt>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525323">
                                            <p:txEl>
                                              <p:charRg st="619" end="667"/>
                                            </p:txEl>
                                          </p:spTgt>
                                        </p:tgtEl>
                                        <p:attrNameLst>
                                          <p:attrName>style.visibility</p:attrName>
                                        </p:attrNameLst>
                                      </p:cBhvr>
                                      <p:to>
                                        <p:strVal val="visible"/>
                                      </p:to>
                                    </p:set>
                                    <p:animEffect transition="in" filter="blinds(horizontal)">
                                      <p:cBhvr>
                                        <p:cTn id="73" dur="500"/>
                                        <p:tgtEl>
                                          <p:spTgt spid="525323">
                                            <p:txEl>
                                              <p:charRg st="619" end="667"/>
                                            </p:txEl>
                                          </p:spTgt>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525324"/>
                                        </p:tgtEl>
                                        <p:attrNameLst>
                                          <p:attrName>style.visibility</p:attrName>
                                        </p:attrNameLst>
                                      </p:cBhvr>
                                      <p:to>
                                        <p:strVal val="visible"/>
                                      </p:to>
                                    </p:set>
                                    <p:animEffect transition="in" filter="blinds(horizontal)">
                                      <p:cBhvr>
                                        <p:cTn id="76" dur="500"/>
                                        <p:tgtEl>
                                          <p:spTgt spid="525324"/>
                                        </p:tgtEl>
                                      </p:cBhvr>
                                    </p:animEffect>
                                  </p:childTnLst>
                                </p:cTn>
                              </p:par>
                              <p:par>
                                <p:cTn id="77" presetID="2" presetClass="entr" presetSubtype="4" fill="hold" nodeType="withEffect">
                                  <p:stCondLst>
                                    <p:cond delay="0"/>
                                  </p:stCondLst>
                                  <p:childTnLst>
                                    <p:set>
                                      <p:cBhvr>
                                        <p:cTn id="78" dur="1" fill="hold">
                                          <p:stCondLst>
                                            <p:cond delay="0"/>
                                          </p:stCondLst>
                                        </p:cTn>
                                        <p:tgtEl>
                                          <p:spTgt spid="2"/>
                                        </p:tgtEl>
                                        <p:attrNameLst>
                                          <p:attrName>style.visibility</p:attrName>
                                        </p:attrNameLst>
                                      </p:cBhvr>
                                      <p:to>
                                        <p:strVal val="visible"/>
                                      </p:to>
                                    </p:set>
                                    <p:anim calcmode="lin" valueType="num">
                                      <p:cBhvr additive="base">
                                        <p:cTn id="79" dur="500" fill="hold"/>
                                        <p:tgtEl>
                                          <p:spTgt spid="2"/>
                                        </p:tgtEl>
                                        <p:attrNameLst>
                                          <p:attrName>ppt_x</p:attrName>
                                        </p:attrNameLst>
                                      </p:cBhvr>
                                      <p:tavLst>
                                        <p:tav tm="0">
                                          <p:val>
                                            <p:strVal val="#ppt_x"/>
                                          </p:val>
                                        </p:tav>
                                        <p:tav tm="100000">
                                          <p:val>
                                            <p:strVal val="#ppt_x"/>
                                          </p:val>
                                        </p:tav>
                                      </p:tavLst>
                                    </p:anim>
                                    <p:anim calcmode="lin" valueType="num">
                                      <p:cBhvr additive="base">
                                        <p:cTn id="8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3" presetClass="exit" presetSubtype="10" fill="hold" grpId="1" nodeType="clickEffect">
                                  <p:stCondLst>
                                    <p:cond delay="0"/>
                                  </p:stCondLst>
                                  <p:childTnLst>
                                    <p:animEffect transition="out" filter="blinds(horizontal)">
                                      <p:cBhvr>
                                        <p:cTn id="84" dur="500"/>
                                        <p:tgtEl>
                                          <p:spTgt spid="525324"/>
                                        </p:tgtEl>
                                      </p:cBhvr>
                                    </p:animEffect>
                                    <p:set>
                                      <p:cBhvr>
                                        <p:cTn id="85" dur="1" fill="hold">
                                          <p:stCondLst>
                                            <p:cond delay="499"/>
                                          </p:stCondLst>
                                        </p:cTn>
                                        <p:tgtEl>
                                          <p:spTgt spid="525324"/>
                                        </p:tgtEl>
                                        <p:attrNameLst>
                                          <p:attrName>style.visibility</p:attrName>
                                        </p:attrNameLst>
                                      </p:cBhvr>
                                      <p:to>
                                        <p:strVal val="hidden"/>
                                      </p:to>
                                    </p:set>
                                  </p:childTnLst>
                                </p:cTn>
                              </p:par>
                              <p:par>
                                <p:cTn id="86" presetID="3" presetClass="entr" presetSubtype="10" fill="hold" grpId="0" nodeType="withEffect">
                                  <p:stCondLst>
                                    <p:cond delay="0"/>
                                  </p:stCondLst>
                                  <p:childTnLst>
                                    <p:set>
                                      <p:cBhvr>
                                        <p:cTn id="87" dur="1" fill="hold">
                                          <p:stCondLst>
                                            <p:cond delay="0"/>
                                          </p:stCondLst>
                                        </p:cTn>
                                        <p:tgtEl>
                                          <p:spTgt spid="525325"/>
                                        </p:tgtEl>
                                        <p:attrNameLst>
                                          <p:attrName>style.visibility</p:attrName>
                                        </p:attrNameLst>
                                      </p:cBhvr>
                                      <p:to>
                                        <p:strVal val="visible"/>
                                      </p:to>
                                    </p:set>
                                    <p:animEffect transition="in" filter="blinds(horizontal)">
                                      <p:cBhvr>
                                        <p:cTn id="88" dur="500"/>
                                        <p:tgtEl>
                                          <p:spTgt spid="525325"/>
                                        </p:tgtEl>
                                      </p:cBhvr>
                                    </p:animEffect>
                                  </p:childTnLst>
                                </p:cTn>
                              </p:par>
                              <p:par>
                                <p:cTn id="89" presetID="2" presetClass="entr" presetSubtype="4" fill="hold" nodeType="withEffect">
                                  <p:stCondLst>
                                    <p:cond delay="0"/>
                                  </p:stCondLst>
                                  <p:childTnLst>
                                    <p:set>
                                      <p:cBhvr>
                                        <p:cTn id="90" dur="1" fill="hold">
                                          <p:stCondLst>
                                            <p:cond delay="0"/>
                                          </p:stCondLst>
                                        </p:cTn>
                                        <p:tgtEl>
                                          <p:spTgt spid="3"/>
                                        </p:tgtEl>
                                        <p:attrNameLst>
                                          <p:attrName>style.visibility</p:attrName>
                                        </p:attrNameLst>
                                      </p:cBhvr>
                                      <p:to>
                                        <p:strVal val="visible"/>
                                      </p:to>
                                    </p:set>
                                    <p:anim calcmode="lin" valueType="num">
                                      <p:cBhvr additive="base">
                                        <p:cTn id="91" dur="500" fill="hold"/>
                                        <p:tgtEl>
                                          <p:spTgt spid="3"/>
                                        </p:tgtEl>
                                        <p:attrNameLst>
                                          <p:attrName>ppt_x</p:attrName>
                                        </p:attrNameLst>
                                      </p:cBhvr>
                                      <p:tavLst>
                                        <p:tav tm="0">
                                          <p:val>
                                            <p:strVal val="#ppt_x"/>
                                          </p:val>
                                        </p:tav>
                                        <p:tav tm="100000">
                                          <p:val>
                                            <p:strVal val="#ppt_x"/>
                                          </p:val>
                                        </p:tav>
                                      </p:tavLst>
                                    </p:anim>
                                    <p:anim calcmode="lin" valueType="num">
                                      <p:cBhvr additive="base">
                                        <p:cTn id="9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4" grpId="0" animBg="1"/>
      <p:bldP spid="525315" grpId="0" animBg="1"/>
      <p:bldP spid="525316" grpId="0" animBg="1"/>
      <p:bldP spid="525317" grpId="0"/>
      <p:bldP spid="525318" grpId="0"/>
      <p:bldP spid="525323" grpId="0" build="p"/>
      <p:bldP spid="525324" grpId="0"/>
      <p:bldP spid="525324" grpId="1"/>
      <p:bldP spid="525325" grpId="0"/>
      <p:bldP spid="5253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Title 1"/>
          <p:cNvSpPr>
            <a:spLocks noGrp="1"/>
          </p:cNvSpPr>
          <p:nvPr>
            <p:ph type="title"/>
          </p:nvPr>
        </p:nvSpPr>
        <p:spPr>
          <a:xfrm>
            <a:off x="228600" y="96838"/>
            <a:ext cx="7391400" cy="665162"/>
          </a:xfrm>
          <a:ln/>
        </p:spPr>
        <p:txBody>
          <a:bodyPr vert="horz" wrap="square" lIns="91440" tIns="0" rIns="91440" bIns="0" anchor="ctr" anchorCtr="0">
            <a:spAutoFit/>
          </a:bodyPr>
          <a:p>
            <a:pPr eaLnBrk="1" hangingPunct="1"/>
            <a:r>
              <a:rPr dirty="0"/>
              <a:t>2-nodes up to 4-nodes cluster NVRAM mirroring</a:t>
            </a:r>
            <a:endParaRPr dirty="0"/>
          </a:p>
        </p:txBody>
      </p:sp>
      <p:grpSp>
        <p:nvGrpSpPr>
          <p:cNvPr id="15362" name="Group 52"/>
          <p:cNvGrpSpPr/>
          <p:nvPr/>
        </p:nvGrpSpPr>
        <p:grpSpPr>
          <a:xfrm>
            <a:off x="366713" y="1116013"/>
            <a:ext cx="8620125" cy="4221162"/>
            <a:chOff x="366713" y="1116013"/>
            <a:chExt cx="8620125" cy="4221162"/>
          </a:xfrm>
        </p:grpSpPr>
        <p:sp>
          <p:nvSpPr>
            <p:cNvPr id="4" name="Rounded Rectangle 3"/>
            <p:cNvSpPr>
              <a:spLocks noChangeArrowheads="1"/>
            </p:cNvSpPr>
            <p:nvPr/>
          </p:nvSpPr>
          <p:spPr bwMode="auto">
            <a:xfrm>
              <a:off x="366713" y="1566863"/>
              <a:ext cx="1936750" cy="1022350"/>
            </a:xfrm>
            <a:prstGeom prst="roundRect">
              <a:avLst>
                <a:gd name="adj" fmla="val 16667"/>
              </a:avLst>
            </a:prstGeom>
            <a:gradFill rotWithShape="1">
              <a:gsLst>
                <a:gs pos="0">
                  <a:srgbClr val="BCBCBC"/>
                </a:gs>
                <a:gs pos="35001">
                  <a:srgbClr val="D0D0D0"/>
                </a:gs>
                <a:gs pos="100000">
                  <a:srgbClr val="EDEDED"/>
                </a:gs>
              </a:gsLst>
              <a:lin ang="16200000" scaled="1"/>
            </a:gradFill>
            <a:ln w="9525">
              <a:solidFill>
                <a:srgbClr val="000000"/>
              </a:solidFill>
              <a:round/>
            </a:ln>
            <a:effectLst>
              <a:outerShdw blurRad="63500" dist="20000" dir="5400000" rotWithShape="0">
                <a:srgbClr val="000000">
                  <a:alpha val="37999"/>
                </a:srgbClr>
              </a:outerShdw>
            </a:effectLst>
          </p:spPr>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5" name="Rounded Rectangle 4"/>
            <p:cNvSpPr>
              <a:spLocks noChangeArrowheads="1"/>
            </p:cNvSpPr>
            <p:nvPr/>
          </p:nvSpPr>
          <p:spPr bwMode="auto">
            <a:xfrm>
              <a:off x="3370263" y="1566863"/>
              <a:ext cx="1938337" cy="1022350"/>
            </a:xfrm>
            <a:prstGeom prst="roundRect">
              <a:avLst>
                <a:gd name="adj" fmla="val 16667"/>
              </a:avLst>
            </a:prstGeom>
            <a:gradFill rotWithShape="1">
              <a:gsLst>
                <a:gs pos="0">
                  <a:srgbClr val="BCBCBC"/>
                </a:gs>
                <a:gs pos="35001">
                  <a:srgbClr val="D0D0D0"/>
                </a:gs>
                <a:gs pos="100000">
                  <a:srgbClr val="EDEDED"/>
                </a:gs>
              </a:gsLst>
              <a:lin ang="16200000" scaled="1"/>
            </a:gradFill>
            <a:ln w="9525">
              <a:solidFill>
                <a:srgbClr val="000000"/>
              </a:solidFill>
              <a:round/>
            </a:ln>
            <a:effectLst>
              <a:outerShdw blurRad="63500" dist="20000" dir="5400000" rotWithShape="0">
                <a:srgbClr val="000000">
                  <a:alpha val="37999"/>
                </a:srgbClr>
              </a:outerShdw>
            </a:effectLst>
          </p:spPr>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6" name="Rectangle 5"/>
            <p:cNvSpPr/>
            <p:nvPr/>
          </p:nvSpPr>
          <p:spPr bwMode="auto">
            <a:xfrm>
              <a:off x="530225" y="2016125"/>
              <a:ext cx="1609725" cy="396875"/>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cxnSp>
          <p:nvCxnSpPr>
            <p:cNvPr id="15368" name="Straight Connector 7"/>
            <p:cNvCxnSpPr>
              <a:stCxn id="6" idx="0"/>
              <a:endCxn id="6" idx="2"/>
            </p:cNvCxnSpPr>
            <p:nvPr/>
          </p:nvCxnSpPr>
          <p:spPr>
            <a:xfrm rot="-5400000" flipH="1">
              <a:off x="1138238" y="2214563"/>
              <a:ext cx="395287" cy="1587"/>
            </a:xfrm>
            <a:prstGeom prst="line">
              <a:avLst/>
            </a:prstGeom>
            <a:ln w="9525" cap="flat" cmpd="sng">
              <a:solidFill>
                <a:srgbClr val="000000"/>
              </a:solidFill>
              <a:prstDash val="solid"/>
              <a:headEnd type="none" w="med" len="med"/>
              <a:tailEnd type="none" w="med" len="med"/>
            </a:ln>
          </p:spPr>
        </p:cxnSp>
        <p:sp>
          <p:nvSpPr>
            <p:cNvPr id="9" name="Rectangle 8"/>
            <p:cNvSpPr/>
            <p:nvPr/>
          </p:nvSpPr>
          <p:spPr bwMode="auto">
            <a:xfrm>
              <a:off x="3548063" y="1998663"/>
              <a:ext cx="1611312" cy="396875"/>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cxnSp>
          <p:nvCxnSpPr>
            <p:cNvPr id="15370" name="Straight Connector 9"/>
            <p:cNvCxnSpPr>
              <a:stCxn id="9" idx="0"/>
              <a:endCxn id="9" idx="2"/>
            </p:cNvCxnSpPr>
            <p:nvPr/>
          </p:nvCxnSpPr>
          <p:spPr>
            <a:xfrm rot="-5400000" flipH="1">
              <a:off x="4156075" y="2197100"/>
              <a:ext cx="395288" cy="1588"/>
            </a:xfrm>
            <a:prstGeom prst="line">
              <a:avLst/>
            </a:prstGeom>
            <a:ln w="9525" cap="flat" cmpd="sng">
              <a:solidFill>
                <a:srgbClr val="000000"/>
              </a:solidFill>
              <a:prstDash val="solid"/>
              <a:headEnd type="none" w="med" len="med"/>
              <a:tailEnd type="none" w="med" len="med"/>
            </a:ln>
          </p:spPr>
        </p:cxnSp>
        <p:cxnSp>
          <p:nvCxnSpPr>
            <p:cNvPr id="15371" name="Straight Connector 11"/>
            <p:cNvCxnSpPr/>
            <p:nvPr/>
          </p:nvCxnSpPr>
          <p:spPr>
            <a:xfrm rot="5400000">
              <a:off x="659606" y="2664618"/>
              <a:ext cx="504825" cy="1588"/>
            </a:xfrm>
            <a:prstGeom prst="line">
              <a:avLst/>
            </a:prstGeom>
            <a:ln w="9525" cap="flat" cmpd="sng">
              <a:solidFill>
                <a:srgbClr val="000000"/>
              </a:solidFill>
              <a:prstDash val="solid"/>
              <a:headEnd type="none" w="med" len="med"/>
              <a:tailEnd type="none" w="med" len="med"/>
            </a:ln>
          </p:spPr>
        </p:cxnSp>
        <p:cxnSp>
          <p:nvCxnSpPr>
            <p:cNvPr id="15372" name="Straight Connector 13"/>
            <p:cNvCxnSpPr/>
            <p:nvPr/>
          </p:nvCxnSpPr>
          <p:spPr>
            <a:xfrm>
              <a:off x="911225" y="2917825"/>
              <a:ext cx="3030538" cy="1588"/>
            </a:xfrm>
            <a:prstGeom prst="line">
              <a:avLst/>
            </a:prstGeom>
            <a:ln w="9525" cap="flat" cmpd="sng">
              <a:solidFill>
                <a:srgbClr val="000000"/>
              </a:solidFill>
              <a:prstDash val="solid"/>
              <a:headEnd type="none" w="med" len="med"/>
              <a:tailEnd type="none" w="med" len="med"/>
            </a:ln>
          </p:spPr>
        </p:cxnSp>
        <p:cxnSp>
          <p:nvCxnSpPr>
            <p:cNvPr id="15373" name="Straight Arrow Connector 15"/>
            <p:cNvCxnSpPr/>
            <p:nvPr/>
          </p:nvCxnSpPr>
          <p:spPr>
            <a:xfrm rot="5400000" flipH="1" flipV="1">
              <a:off x="3680619" y="2656682"/>
              <a:ext cx="523875" cy="1587"/>
            </a:xfrm>
            <a:prstGeom prst="straightConnector1">
              <a:avLst/>
            </a:prstGeom>
            <a:ln w="9525" cap="flat" cmpd="sng">
              <a:solidFill>
                <a:srgbClr val="000000"/>
              </a:solidFill>
              <a:prstDash val="solid"/>
              <a:headEnd type="none" w="med" len="med"/>
              <a:tailEnd type="arrow" w="med" len="med"/>
            </a:ln>
          </p:spPr>
        </p:cxnSp>
        <p:cxnSp>
          <p:nvCxnSpPr>
            <p:cNvPr id="15374" name="Straight Connector 17"/>
            <p:cNvCxnSpPr/>
            <p:nvPr/>
          </p:nvCxnSpPr>
          <p:spPr>
            <a:xfrm rot="5400000">
              <a:off x="4391025" y="2751137"/>
              <a:ext cx="712787" cy="1588"/>
            </a:xfrm>
            <a:prstGeom prst="line">
              <a:avLst/>
            </a:prstGeom>
            <a:ln w="9525" cap="flat" cmpd="sng">
              <a:solidFill>
                <a:srgbClr val="000000"/>
              </a:solidFill>
              <a:prstDash val="solid"/>
              <a:headEnd type="none" w="med" len="med"/>
              <a:tailEnd type="none" w="med" len="med"/>
            </a:ln>
          </p:spPr>
        </p:cxnSp>
        <p:cxnSp>
          <p:nvCxnSpPr>
            <p:cNvPr id="15375" name="Straight Connector 19"/>
            <p:cNvCxnSpPr/>
            <p:nvPr/>
          </p:nvCxnSpPr>
          <p:spPr>
            <a:xfrm rot="10800000">
              <a:off x="1717675" y="3108325"/>
              <a:ext cx="3028950" cy="1588"/>
            </a:xfrm>
            <a:prstGeom prst="line">
              <a:avLst/>
            </a:prstGeom>
            <a:ln w="9525" cap="flat" cmpd="sng">
              <a:solidFill>
                <a:srgbClr val="000000"/>
              </a:solidFill>
              <a:prstDash val="solid"/>
              <a:headEnd type="none" w="med" len="med"/>
              <a:tailEnd type="none" w="med" len="med"/>
            </a:ln>
          </p:spPr>
        </p:cxnSp>
        <p:cxnSp>
          <p:nvCxnSpPr>
            <p:cNvPr id="15376" name="Straight Arrow Connector 21"/>
            <p:cNvCxnSpPr/>
            <p:nvPr/>
          </p:nvCxnSpPr>
          <p:spPr>
            <a:xfrm rot="5400000" flipH="1" flipV="1">
              <a:off x="1369219" y="2761457"/>
              <a:ext cx="695325" cy="1587"/>
            </a:xfrm>
            <a:prstGeom prst="straightConnector1">
              <a:avLst/>
            </a:prstGeom>
            <a:ln w="9525" cap="flat" cmpd="sng">
              <a:solidFill>
                <a:srgbClr val="000000"/>
              </a:solidFill>
              <a:prstDash val="solid"/>
              <a:headEnd type="none" w="med" len="med"/>
              <a:tailEnd type="arrow" w="med" len="med"/>
            </a:ln>
          </p:spPr>
        </p:cxnSp>
        <p:sp>
          <p:nvSpPr>
            <p:cNvPr id="15377" name="TextBox 22"/>
            <p:cNvSpPr txBox="1"/>
            <p:nvPr/>
          </p:nvSpPr>
          <p:spPr>
            <a:xfrm>
              <a:off x="776288" y="1733550"/>
              <a:ext cx="1595437" cy="276225"/>
            </a:xfrm>
            <a:prstGeom prst="rect">
              <a:avLst/>
            </a:prstGeom>
            <a:noFill/>
            <a:ln w="9525">
              <a:noFill/>
            </a:ln>
          </p:spPr>
          <p:txBody>
            <a:bodyPr>
              <a:spAutoFit/>
            </a:bodyPr>
            <a:p>
              <a:pPr>
                <a:spcBef>
                  <a:spcPct val="20000"/>
                </a:spcBef>
              </a:pPr>
              <a:r>
                <a:rPr sz="1200" b="1" dirty="0">
                  <a:latin typeface="Arial" panose="020B0604020202020204" pitchFamily="34" charset="0"/>
                </a:rPr>
                <a:t>NVRAM</a:t>
              </a:r>
              <a:endParaRPr sz="1200" b="1" dirty="0">
                <a:latin typeface="Arial" panose="020B0604020202020204" pitchFamily="34" charset="0"/>
              </a:endParaRPr>
            </a:p>
          </p:txBody>
        </p:sp>
        <p:sp>
          <p:nvSpPr>
            <p:cNvPr id="15378" name="TextBox 23"/>
            <p:cNvSpPr txBox="1"/>
            <p:nvPr/>
          </p:nvSpPr>
          <p:spPr>
            <a:xfrm>
              <a:off x="3794125" y="1733550"/>
              <a:ext cx="1597025" cy="276225"/>
            </a:xfrm>
            <a:prstGeom prst="rect">
              <a:avLst/>
            </a:prstGeom>
            <a:noFill/>
            <a:ln w="9525">
              <a:noFill/>
            </a:ln>
          </p:spPr>
          <p:txBody>
            <a:bodyPr>
              <a:spAutoFit/>
            </a:bodyPr>
            <a:p>
              <a:pPr>
                <a:spcBef>
                  <a:spcPct val="20000"/>
                </a:spcBef>
              </a:pPr>
              <a:r>
                <a:rPr sz="1200" b="1" dirty="0">
                  <a:latin typeface="Arial" panose="020B0604020202020204" pitchFamily="34" charset="0"/>
                </a:rPr>
                <a:t>NVRAM</a:t>
              </a:r>
              <a:endParaRPr sz="1200" b="1" dirty="0">
                <a:latin typeface="Arial" panose="020B0604020202020204" pitchFamily="34" charset="0"/>
              </a:endParaRPr>
            </a:p>
          </p:txBody>
        </p:sp>
        <p:sp>
          <p:nvSpPr>
            <p:cNvPr id="15379" name="TextBox 24"/>
            <p:cNvSpPr txBox="1"/>
            <p:nvPr/>
          </p:nvSpPr>
          <p:spPr>
            <a:xfrm>
              <a:off x="803275" y="1116013"/>
              <a:ext cx="1597025" cy="368300"/>
            </a:xfrm>
            <a:prstGeom prst="rect">
              <a:avLst/>
            </a:prstGeom>
            <a:noFill/>
            <a:ln w="9525">
              <a:noFill/>
            </a:ln>
          </p:spPr>
          <p:txBody>
            <a:bodyPr>
              <a:spAutoFit/>
            </a:bodyPr>
            <a:p>
              <a:pPr>
                <a:spcBef>
                  <a:spcPct val="20000"/>
                </a:spcBef>
              </a:pPr>
              <a:r>
                <a:rPr b="1" dirty="0">
                  <a:latin typeface="Arial" panose="020B0604020202020204" pitchFamily="34" charset="0"/>
                </a:rPr>
                <a:t>Node A</a:t>
              </a:r>
              <a:endParaRPr b="1" dirty="0">
                <a:latin typeface="Arial" panose="020B0604020202020204" pitchFamily="34" charset="0"/>
              </a:endParaRPr>
            </a:p>
          </p:txBody>
        </p:sp>
        <p:sp>
          <p:nvSpPr>
            <p:cNvPr id="15380" name="TextBox 25"/>
            <p:cNvSpPr txBox="1"/>
            <p:nvPr/>
          </p:nvSpPr>
          <p:spPr>
            <a:xfrm>
              <a:off x="3862388" y="1116013"/>
              <a:ext cx="1597025" cy="368300"/>
            </a:xfrm>
            <a:prstGeom prst="rect">
              <a:avLst/>
            </a:prstGeom>
            <a:noFill/>
            <a:ln w="9525">
              <a:noFill/>
            </a:ln>
          </p:spPr>
          <p:txBody>
            <a:bodyPr>
              <a:spAutoFit/>
            </a:bodyPr>
            <a:p>
              <a:pPr>
                <a:spcBef>
                  <a:spcPct val="20000"/>
                </a:spcBef>
              </a:pPr>
              <a:r>
                <a:rPr b="1" dirty="0">
                  <a:latin typeface="Arial" panose="020B0604020202020204" pitchFamily="34" charset="0"/>
                </a:rPr>
                <a:t>Node B</a:t>
              </a:r>
              <a:endParaRPr b="1" dirty="0">
                <a:latin typeface="Arial" panose="020B0604020202020204" pitchFamily="34" charset="0"/>
              </a:endParaRPr>
            </a:p>
          </p:txBody>
        </p:sp>
        <p:sp>
          <p:nvSpPr>
            <p:cNvPr id="27" name="Rounded Rectangle 26"/>
            <p:cNvSpPr>
              <a:spLocks noChangeArrowheads="1"/>
            </p:cNvSpPr>
            <p:nvPr/>
          </p:nvSpPr>
          <p:spPr bwMode="auto">
            <a:xfrm>
              <a:off x="382588" y="3792538"/>
              <a:ext cx="1936750" cy="1023937"/>
            </a:xfrm>
            <a:prstGeom prst="roundRect">
              <a:avLst>
                <a:gd name="adj" fmla="val 16667"/>
              </a:avLst>
            </a:prstGeom>
            <a:gradFill rotWithShape="1">
              <a:gsLst>
                <a:gs pos="0">
                  <a:srgbClr val="BCBCBC"/>
                </a:gs>
                <a:gs pos="35001">
                  <a:srgbClr val="D0D0D0"/>
                </a:gs>
                <a:gs pos="100000">
                  <a:srgbClr val="EDEDED"/>
                </a:gs>
              </a:gsLst>
              <a:lin ang="16200000" scaled="1"/>
            </a:gradFill>
            <a:ln w="9525">
              <a:solidFill>
                <a:srgbClr val="000000"/>
              </a:solidFill>
              <a:round/>
            </a:ln>
            <a:effectLst>
              <a:outerShdw blurRad="63500" dist="20000" dir="5400000" rotWithShape="0">
                <a:srgbClr val="000000">
                  <a:alpha val="37999"/>
                </a:srgbClr>
              </a:outerShdw>
            </a:effectLst>
          </p:spPr>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28" name="Rounded Rectangle 27"/>
            <p:cNvSpPr>
              <a:spLocks noChangeArrowheads="1"/>
            </p:cNvSpPr>
            <p:nvPr/>
          </p:nvSpPr>
          <p:spPr bwMode="auto">
            <a:xfrm>
              <a:off x="2581275" y="3792538"/>
              <a:ext cx="1938338" cy="1023937"/>
            </a:xfrm>
            <a:prstGeom prst="roundRect">
              <a:avLst>
                <a:gd name="adj" fmla="val 16667"/>
              </a:avLst>
            </a:prstGeom>
            <a:gradFill rotWithShape="1">
              <a:gsLst>
                <a:gs pos="0">
                  <a:srgbClr val="BCBCBC"/>
                </a:gs>
                <a:gs pos="35001">
                  <a:srgbClr val="D0D0D0"/>
                </a:gs>
                <a:gs pos="100000">
                  <a:srgbClr val="EDEDED"/>
                </a:gs>
              </a:gsLst>
              <a:lin ang="16200000" scaled="1"/>
            </a:gradFill>
            <a:ln w="9525">
              <a:solidFill>
                <a:srgbClr val="000000"/>
              </a:solidFill>
              <a:round/>
            </a:ln>
            <a:effectLst>
              <a:outerShdw blurRad="63500" dist="20000" dir="5400000" rotWithShape="0">
                <a:srgbClr val="000000">
                  <a:alpha val="37999"/>
                </a:srgbClr>
              </a:outerShdw>
            </a:effectLst>
          </p:spPr>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1"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29" name="Rectangle 28"/>
            <p:cNvSpPr/>
            <p:nvPr/>
          </p:nvSpPr>
          <p:spPr bwMode="auto">
            <a:xfrm>
              <a:off x="546100" y="4243388"/>
              <a:ext cx="1609725" cy="395287"/>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cxnSp>
          <p:nvCxnSpPr>
            <p:cNvPr id="15384" name="Straight Connector 29"/>
            <p:cNvCxnSpPr>
              <a:stCxn id="29" idx="0"/>
              <a:endCxn id="29" idx="2"/>
            </p:cNvCxnSpPr>
            <p:nvPr/>
          </p:nvCxnSpPr>
          <p:spPr>
            <a:xfrm rot="-5400000" flipH="1">
              <a:off x="1153319" y="4441032"/>
              <a:ext cx="396875" cy="1587"/>
            </a:xfrm>
            <a:prstGeom prst="line">
              <a:avLst/>
            </a:prstGeom>
            <a:ln w="9525" cap="flat" cmpd="sng">
              <a:solidFill>
                <a:srgbClr val="000000"/>
              </a:solidFill>
              <a:prstDash val="solid"/>
              <a:headEnd type="none" w="med" len="med"/>
              <a:tailEnd type="none" w="med" len="med"/>
            </a:ln>
          </p:spPr>
        </p:cxnSp>
        <p:sp>
          <p:nvSpPr>
            <p:cNvPr id="31" name="Rectangle 30"/>
            <p:cNvSpPr/>
            <p:nvPr/>
          </p:nvSpPr>
          <p:spPr bwMode="auto">
            <a:xfrm>
              <a:off x="2759075" y="4225925"/>
              <a:ext cx="1609725" cy="395288"/>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1"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cxnSp>
          <p:nvCxnSpPr>
            <p:cNvPr id="15386" name="Straight Connector 31"/>
            <p:cNvCxnSpPr>
              <a:stCxn id="31" idx="0"/>
              <a:endCxn id="31" idx="2"/>
            </p:cNvCxnSpPr>
            <p:nvPr/>
          </p:nvCxnSpPr>
          <p:spPr>
            <a:xfrm rot="-5400000" flipH="1">
              <a:off x="3367088" y="4424363"/>
              <a:ext cx="395287" cy="1587"/>
            </a:xfrm>
            <a:prstGeom prst="line">
              <a:avLst/>
            </a:prstGeom>
            <a:ln w="9525" cap="flat" cmpd="sng">
              <a:solidFill>
                <a:srgbClr val="000000"/>
              </a:solidFill>
              <a:prstDash val="solid"/>
              <a:headEnd type="none" w="med" len="med"/>
              <a:tailEnd type="none" w="med" len="med"/>
            </a:ln>
          </p:spPr>
        </p:cxnSp>
        <p:cxnSp>
          <p:nvCxnSpPr>
            <p:cNvPr id="15387" name="Straight Connector 32"/>
            <p:cNvCxnSpPr/>
            <p:nvPr/>
          </p:nvCxnSpPr>
          <p:spPr>
            <a:xfrm rot="5400000">
              <a:off x="675481" y="4891881"/>
              <a:ext cx="504825" cy="1588"/>
            </a:xfrm>
            <a:prstGeom prst="line">
              <a:avLst/>
            </a:prstGeom>
            <a:ln w="9525" cap="flat" cmpd="sng">
              <a:solidFill>
                <a:srgbClr val="000000"/>
              </a:solidFill>
              <a:prstDash val="solid"/>
              <a:headEnd type="none" w="med" len="med"/>
              <a:tailEnd type="none" w="med" len="med"/>
            </a:ln>
          </p:spPr>
        </p:cxnSp>
        <p:cxnSp>
          <p:nvCxnSpPr>
            <p:cNvPr id="15388" name="Straight Connector 33"/>
            <p:cNvCxnSpPr/>
            <p:nvPr/>
          </p:nvCxnSpPr>
          <p:spPr>
            <a:xfrm>
              <a:off x="927100" y="5145088"/>
              <a:ext cx="2225675" cy="1587"/>
            </a:xfrm>
            <a:prstGeom prst="line">
              <a:avLst/>
            </a:prstGeom>
            <a:ln w="9525" cap="flat" cmpd="sng">
              <a:solidFill>
                <a:srgbClr val="000000"/>
              </a:solidFill>
              <a:prstDash val="solid"/>
              <a:headEnd type="none" w="med" len="med"/>
              <a:tailEnd type="none" w="med" len="med"/>
            </a:ln>
          </p:spPr>
        </p:cxnSp>
        <p:cxnSp>
          <p:nvCxnSpPr>
            <p:cNvPr id="15389" name="Straight Arrow Connector 34"/>
            <p:cNvCxnSpPr/>
            <p:nvPr/>
          </p:nvCxnSpPr>
          <p:spPr>
            <a:xfrm rot="5400000" flipH="1" flipV="1">
              <a:off x="2890837" y="4883150"/>
              <a:ext cx="522288" cy="1587"/>
            </a:xfrm>
            <a:prstGeom prst="straightConnector1">
              <a:avLst/>
            </a:prstGeom>
            <a:ln w="9525" cap="flat" cmpd="sng">
              <a:solidFill>
                <a:srgbClr val="000000"/>
              </a:solidFill>
              <a:prstDash val="solid"/>
              <a:headEnd type="none" w="med" len="med"/>
              <a:tailEnd type="arrow" w="med" len="med"/>
            </a:ln>
          </p:spPr>
        </p:cxnSp>
        <p:cxnSp>
          <p:nvCxnSpPr>
            <p:cNvPr id="15390" name="Straight Connector 36"/>
            <p:cNvCxnSpPr/>
            <p:nvPr/>
          </p:nvCxnSpPr>
          <p:spPr>
            <a:xfrm rot="10800000">
              <a:off x="1733550" y="5335588"/>
              <a:ext cx="6550025" cy="1587"/>
            </a:xfrm>
            <a:prstGeom prst="line">
              <a:avLst/>
            </a:prstGeom>
            <a:ln w="9525" cap="flat" cmpd="sng">
              <a:solidFill>
                <a:srgbClr val="000000"/>
              </a:solidFill>
              <a:prstDash val="solid"/>
              <a:headEnd type="none" w="med" len="med"/>
              <a:tailEnd type="none" w="med" len="med"/>
            </a:ln>
          </p:spPr>
        </p:cxnSp>
        <p:cxnSp>
          <p:nvCxnSpPr>
            <p:cNvPr id="15391" name="Straight Arrow Connector 37"/>
            <p:cNvCxnSpPr/>
            <p:nvPr/>
          </p:nvCxnSpPr>
          <p:spPr>
            <a:xfrm rot="5400000" flipH="1" flipV="1">
              <a:off x="1384300" y="4987925"/>
              <a:ext cx="696912" cy="1587"/>
            </a:xfrm>
            <a:prstGeom prst="straightConnector1">
              <a:avLst/>
            </a:prstGeom>
            <a:ln w="9525" cap="flat" cmpd="sng">
              <a:solidFill>
                <a:srgbClr val="000000"/>
              </a:solidFill>
              <a:prstDash val="solid"/>
              <a:headEnd type="none" w="med" len="med"/>
              <a:tailEnd type="arrow" w="med" len="med"/>
            </a:ln>
          </p:spPr>
        </p:cxnSp>
        <p:sp>
          <p:nvSpPr>
            <p:cNvPr id="15392" name="TextBox 38"/>
            <p:cNvSpPr txBox="1"/>
            <p:nvPr/>
          </p:nvSpPr>
          <p:spPr>
            <a:xfrm>
              <a:off x="792163" y="3960813"/>
              <a:ext cx="1595437" cy="276225"/>
            </a:xfrm>
            <a:prstGeom prst="rect">
              <a:avLst/>
            </a:prstGeom>
            <a:noFill/>
            <a:ln w="9525">
              <a:noFill/>
            </a:ln>
          </p:spPr>
          <p:txBody>
            <a:bodyPr>
              <a:spAutoFit/>
            </a:bodyPr>
            <a:p>
              <a:pPr>
                <a:spcBef>
                  <a:spcPct val="20000"/>
                </a:spcBef>
              </a:pPr>
              <a:r>
                <a:rPr sz="1200" b="1" dirty="0">
                  <a:latin typeface="Arial" panose="020B0604020202020204" pitchFamily="34" charset="0"/>
                </a:rPr>
                <a:t>NVRAM</a:t>
              </a:r>
              <a:endParaRPr sz="1200" b="1" dirty="0">
                <a:latin typeface="Arial" panose="020B0604020202020204" pitchFamily="34" charset="0"/>
              </a:endParaRPr>
            </a:p>
          </p:txBody>
        </p:sp>
        <p:sp>
          <p:nvSpPr>
            <p:cNvPr id="15393" name="TextBox 39"/>
            <p:cNvSpPr txBox="1"/>
            <p:nvPr/>
          </p:nvSpPr>
          <p:spPr>
            <a:xfrm>
              <a:off x="3005138" y="3960813"/>
              <a:ext cx="1597025" cy="276225"/>
            </a:xfrm>
            <a:prstGeom prst="rect">
              <a:avLst/>
            </a:prstGeom>
            <a:noFill/>
            <a:ln w="9525">
              <a:noFill/>
            </a:ln>
          </p:spPr>
          <p:txBody>
            <a:bodyPr>
              <a:spAutoFit/>
            </a:bodyPr>
            <a:p>
              <a:pPr>
                <a:spcBef>
                  <a:spcPct val="20000"/>
                </a:spcBef>
              </a:pPr>
              <a:r>
                <a:rPr sz="1200" b="1" dirty="0">
                  <a:latin typeface="Arial" panose="020B0604020202020204" pitchFamily="34" charset="0"/>
                </a:rPr>
                <a:t>NVRAM</a:t>
              </a:r>
              <a:endParaRPr sz="1200" b="1" dirty="0">
                <a:latin typeface="Arial" panose="020B0604020202020204" pitchFamily="34" charset="0"/>
              </a:endParaRPr>
            </a:p>
          </p:txBody>
        </p:sp>
        <p:sp>
          <p:nvSpPr>
            <p:cNvPr id="15394" name="TextBox 40"/>
            <p:cNvSpPr txBox="1"/>
            <p:nvPr/>
          </p:nvSpPr>
          <p:spPr>
            <a:xfrm>
              <a:off x="819150" y="3343275"/>
              <a:ext cx="1597025" cy="368300"/>
            </a:xfrm>
            <a:prstGeom prst="rect">
              <a:avLst/>
            </a:prstGeom>
            <a:noFill/>
            <a:ln w="9525">
              <a:noFill/>
            </a:ln>
          </p:spPr>
          <p:txBody>
            <a:bodyPr>
              <a:spAutoFit/>
            </a:bodyPr>
            <a:p>
              <a:pPr>
                <a:spcBef>
                  <a:spcPct val="20000"/>
                </a:spcBef>
              </a:pPr>
              <a:r>
                <a:rPr b="1" dirty="0">
                  <a:latin typeface="Arial" panose="020B0604020202020204" pitchFamily="34" charset="0"/>
                </a:rPr>
                <a:t>Node A</a:t>
              </a:r>
              <a:endParaRPr b="1" dirty="0">
                <a:latin typeface="Arial" panose="020B0604020202020204" pitchFamily="34" charset="0"/>
              </a:endParaRPr>
            </a:p>
          </p:txBody>
        </p:sp>
        <p:sp>
          <p:nvSpPr>
            <p:cNvPr id="15395" name="TextBox 41"/>
            <p:cNvSpPr txBox="1"/>
            <p:nvPr/>
          </p:nvSpPr>
          <p:spPr>
            <a:xfrm>
              <a:off x="3073400" y="3343275"/>
              <a:ext cx="1597025" cy="368300"/>
            </a:xfrm>
            <a:prstGeom prst="rect">
              <a:avLst/>
            </a:prstGeom>
            <a:noFill/>
            <a:ln w="9525">
              <a:noFill/>
            </a:ln>
          </p:spPr>
          <p:txBody>
            <a:bodyPr>
              <a:spAutoFit/>
            </a:bodyPr>
            <a:p>
              <a:pPr>
                <a:spcBef>
                  <a:spcPct val="20000"/>
                </a:spcBef>
              </a:pPr>
              <a:r>
                <a:rPr b="1" dirty="0">
                  <a:latin typeface="Arial" panose="020B0604020202020204" pitchFamily="34" charset="0"/>
                </a:rPr>
                <a:t>Node B</a:t>
              </a:r>
              <a:endParaRPr b="1" dirty="0">
                <a:latin typeface="Arial" panose="020B0604020202020204" pitchFamily="34" charset="0"/>
              </a:endParaRPr>
            </a:p>
          </p:txBody>
        </p:sp>
        <p:sp>
          <p:nvSpPr>
            <p:cNvPr id="44" name="Rounded Rectangle 43"/>
            <p:cNvSpPr>
              <a:spLocks noChangeArrowheads="1"/>
            </p:cNvSpPr>
            <p:nvPr/>
          </p:nvSpPr>
          <p:spPr bwMode="auto">
            <a:xfrm>
              <a:off x="4767263" y="3808413"/>
              <a:ext cx="1938337" cy="1023937"/>
            </a:xfrm>
            <a:prstGeom prst="roundRect">
              <a:avLst>
                <a:gd name="adj" fmla="val 16667"/>
              </a:avLst>
            </a:prstGeom>
            <a:gradFill rotWithShape="1">
              <a:gsLst>
                <a:gs pos="0">
                  <a:srgbClr val="BCBCBC"/>
                </a:gs>
                <a:gs pos="35001">
                  <a:srgbClr val="D0D0D0"/>
                </a:gs>
                <a:gs pos="100000">
                  <a:srgbClr val="EDEDED"/>
                </a:gs>
              </a:gsLst>
              <a:lin ang="16200000" scaled="1"/>
            </a:gradFill>
            <a:ln w="9525">
              <a:solidFill>
                <a:srgbClr val="000000"/>
              </a:solidFill>
              <a:round/>
            </a:ln>
            <a:effectLst>
              <a:outerShdw blurRad="63500" dist="20000" dir="5400000" rotWithShape="0">
                <a:srgbClr val="000000">
                  <a:alpha val="37999"/>
                </a:srgbClr>
              </a:outerShdw>
            </a:effectLst>
          </p:spPr>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45" name="Rectangle 44"/>
            <p:cNvSpPr/>
            <p:nvPr/>
          </p:nvSpPr>
          <p:spPr bwMode="auto">
            <a:xfrm>
              <a:off x="4945063" y="4241800"/>
              <a:ext cx="1609725" cy="395288"/>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cxnSp>
          <p:nvCxnSpPr>
            <p:cNvPr id="15398" name="Straight Connector 45"/>
            <p:cNvCxnSpPr>
              <a:stCxn id="45" idx="0"/>
              <a:endCxn id="45" idx="2"/>
            </p:cNvCxnSpPr>
            <p:nvPr/>
          </p:nvCxnSpPr>
          <p:spPr>
            <a:xfrm rot="-5400000" flipH="1">
              <a:off x="5553075" y="4440237"/>
              <a:ext cx="395287" cy="1588"/>
            </a:xfrm>
            <a:prstGeom prst="line">
              <a:avLst/>
            </a:prstGeom>
            <a:ln w="9525" cap="flat" cmpd="sng">
              <a:solidFill>
                <a:srgbClr val="000000"/>
              </a:solidFill>
              <a:prstDash val="solid"/>
              <a:headEnd type="none" w="med" len="med"/>
              <a:tailEnd type="none" w="med" len="med"/>
            </a:ln>
          </p:spPr>
        </p:cxnSp>
        <p:sp>
          <p:nvSpPr>
            <p:cNvPr id="15399" name="TextBox 46"/>
            <p:cNvSpPr txBox="1"/>
            <p:nvPr/>
          </p:nvSpPr>
          <p:spPr>
            <a:xfrm>
              <a:off x="5191125" y="3976688"/>
              <a:ext cx="1597025" cy="276225"/>
            </a:xfrm>
            <a:prstGeom prst="rect">
              <a:avLst/>
            </a:prstGeom>
            <a:noFill/>
            <a:ln w="9525">
              <a:noFill/>
            </a:ln>
          </p:spPr>
          <p:txBody>
            <a:bodyPr>
              <a:spAutoFit/>
            </a:bodyPr>
            <a:p>
              <a:pPr>
                <a:spcBef>
                  <a:spcPct val="20000"/>
                </a:spcBef>
              </a:pPr>
              <a:r>
                <a:rPr sz="1200" b="1" dirty="0">
                  <a:latin typeface="Arial" panose="020B0604020202020204" pitchFamily="34" charset="0"/>
                </a:rPr>
                <a:t>NVRAM</a:t>
              </a:r>
              <a:endParaRPr sz="1200" b="1" dirty="0">
                <a:latin typeface="Arial" panose="020B0604020202020204" pitchFamily="34" charset="0"/>
              </a:endParaRPr>
            </a:p>
          </p:txBody>
        </p:sp>
        <p:sp>
          <p:nvSpPr>
            <p:cNvPr id="15400" name="TextBox 47"/>
            <p:cNvSpPr txBox="1"/>
            <p:nvPr/>
          </p:nvSpPr>
          <p:spPr>
            <a:xfrm>
              <a:off x="5259388" y="3359150"/>
              <a:ext cx="1597025" cy="368300"/>
            </a:xfrm>
            <a:prstGeom prst="rect">
              <a:avLst/>
            </a:prstGeom>
            <a:noFill/>
            <a:ln w="9525">
              <a:noFill/>
            </a:ln>
          </p:spPr>
          <p:txBody>
            <a:bodyPr>
              <a:spAutoFit/>
            </a:bodyPr>
            <a:p>
              <a:pPr>
                <a:spcBef>
                  <a:spcPct val="20000"/>
                </a:spcBef>
              </a:pPr>
              <a:r>
                <a:rPr b="1" dirty="0">
                  <a:latin typeface="Arial" panose="020B0604020202020204" pitchFamily="34" charset="0"/>
                </a:rPr>
                <a:t>Node C</a:t>
              </a:r>
              <a:endParaRPr b="1" dirty="0">
                <a:latin typeface="Arial" panose="020B0604020202020204" pitchFamily="34" charset="0"/>
              </a:endParaRPr>
            </a:p>
          </p:txBody>
        </p:sp>
        <p:sp>
          <p:nvSpPr>
            <p:cNvPr id="50" name="Rounded Rectangle 49"/>
            <p:cNvSpPr>
              <a:spLocks noChangeArrowheads="1"/>
            </p:cNvSpPr>
            <p:nvPr/>
          </p:nvSpPr>
          <p:spPr bwMode="auto">
            <a:xfrm>
              <a:off x="6899275" y="3824288"/>
              <a:ext cx="1938338" cy="1023937"/>
            </a:xfrm>
            <a:prstGeom prst="roundRect">
              <a:avLst>
                <a:gd name="adj" fmla="val 16667"/>
              </a:avLst>
            </a:prstGeom>
            <a:gradFill rotWithShape="1">
              <a:gsLst>
                <a:gs pos="0">
                  <a:srgbClr val="BCBCBC"/>
                </a:gs>
                <a:gs pos="35001">
                  <a:srgbClr val="D0D0D0"/>
                </a:gs>
                <a:gs pos="100000">
                  <a:srgbClr val="EDEDED"/>
                </a:gs>
              </a:gsLst>
              <a:lin ang="16200000" scaled="1"/>
            </a:gradFill>
            <a:ln w="9525">
              <a:solidFill>
                <a:srgbClr val="000000"/>
              </a:solidFill>
              <a:round/>
            </a:ln>
            <a:effectLst>
              <a:outerShdw blurRad="63500" dist="20000" dir="5400000" rotWithShape="0">
                <a:srgbClr val="000000">
                  <a:alpha val="37999"/>
                </a:srgbClr>
              </a:outerShdw>
            </a:effectLst>
          </p:spPr>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51" name="Rectangle 50"/>
            <p:cNvSpPr/>
            <p:nvPr/>
          </p:nvSpPr>
          <p:spPr bwMode="auto">
            <a:xfrm>
              <a:off x="7077075" y="4257675"/>
              <a:ext cx="1609725" cy="395288"/>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cxnSp>
          <p:nvCxnSpPr>
            <p:cNvPr id="15403" name="Straight Connector 51"/>
            <p:cNvCxnSpPr>
              <a:stCxn id="51" idx="0"/>
              <a:endCxn id="51" idx="2"/>
            </p:cNvCxnSpPr>
            <p:nvPr/>
          </p:nvCxnSpPr>
          <p:spPr>
            <a:xfrm rot="-5400000" flipH="1">
              <a:off x="7683500" y="4456112"/>
              <a:ext cx="395287" cy="1588"/>
            </a:xfrm>
            <a:prstGeom prst="line">
              <a:avLst/>
            </a:prstGeom>
            <a:ln w="9525" cap="flat" cmpd="sng">
              <a:solidFill>
                <a:srgbClr val="000000"/>
              </a:solidFill>
              <a:prstDash val="solid"/>
              <a:headEnd type="none" w="med" len="med"/>
              <a:tailEnd type="none" w="med" len="med"/>
            </a:ln>
          </p:spPr>
        </p:cxnSp>
        <p:sp>
          <p:nvSpPr>
            <p:cNvPr id="15404" name="TextBox 52"/>
            <p:cNvSpPr txBox="1"/>
            <p:nvPr/>
          </p:nvSpPr>
          <p:spPr>
            <a:xfrm>
              <a:off x="7321550" y="3992563"/>
              <a:ext cx="1597025" cy="276225"/>
            </a:xfrm>
            <a:prstGeom prst="rect">
              <a:avLst/>
            </a:prstGeom>
            <a:noFill/>
            <a:ln w="9525">
              <a:noFill/>
            </a:ln>
          </p:spPr>
          <p:txBody>
            <a:bodyPr>
              <a:spAutoFit/>
            </a:bodyPr>
            <a:p>
              <a:pPr>
                <a:spcBef>
                  <a:spcPct val="20000"/>
                </a:spcBef>
              </a:pPr>
              <a:r>
                <a:rPr sz="1200" b="1" dirty="0">
                  <a:latin typeface="Arial" panose="020B0604020202020204" pitchFamily="34" charset="0"/>
                </a:rPr>
                <a:t>NVRAM</a:t>
              </a:r>
              <a:endParaRPr sz="1200" b="1" dirty="0">
                <a:latin typeface="Arial" panose="020B0604020202020204" pitchFamily="34" charset="0"/>
              </a:endParaRPr>
            </a:p>
          </p:txBody>
        </p:sp>
        <p:sp>
          <p:nvSpPr>
            <p:cNvPr id="15405" name="TextBox 53"/>
            <p:cNvSpPr txBox="1"/>
            <p:nvPr/>
          </p:nvSpPr>
          <p:spPr>
            <a:xfrm>
              <a:off x="7389813" y="3375025"/>
              <a:ext cx="1597025" cy="368300"/>
            </a:xfrm>
            <a:prstGeom prst="rect">
              <a:avLst/>
            </a:prstGeom>
            <a:noFill/>
            <a:ln w="9525">
              <a:noFill/>
            </a:ln>
          </p:spPr>
          <p:txBody>
            <a:bodyPr>
              <a:spAutoFit/>
            </a:bodyPr>
            <a:p>
              <a:pPr>
                <a:spcBef>
                  <a:spcPct val="20000"/>
                </a:spcBef>
              </a:pPr>
              <a:r>
                <a:rPr b="1" dirty="0">
                  <a:latin typeface="Arial" panose="020B0604020202020204" pitchFamily="34" charset="0"/>
                </a:rPr>
                <a:t>Node D</a:t>
              </a:r>
              <a:endParaRPr b="1" dirty="0">
                <a:latin typeface="Arial" panose="020B0604020202020204" pitchFamily="34" charset="0"/>
              </a:endParaRPr>
            </a:p>
          </p:txBody>
        </p:sp>
        <p:cxnSp>
          <p:nvCxnSpPr>
            <p:cNvPr id="15406" name="Straight Connector 35"/>
            <p:cNvCxnSpPr/>
            <p:nvPr/>
          </p:nvCxnSpPr>
          <p:spPr>
            <a:xfrm rot="5400000">
              <a:off x="7943850" y="4994275"/>
              <a:ext cx="681038" cy="1588"/>
            </a:xfrm>
            <a:prstGeom prst="line">
              <a:avLst/>
            </a:prstGeom>
            <a:ln w="9525" cap="flat" cmpd="sng">
              <a:solidFill>
                <a:srgbClr val="000000"/>
              </a:solidFill>
              <a:prstDash val="solid"/>
              <a:headEnd type="none" w="med" len="med"/>
              <a:tailEnd type="none" w="med" len="med"/>
            </a:ln>
          </p:spPr>
        </p:cxnSp>
        <p:cxnSp>
          <p:nvCxnSpPr>
            <p:cNvPr id="15407" name="Straight Connector 57"/>
            <p:cNvCxnSpPr/>
            <p:nvPr/>
          </p:nvCxnSpPr>
          <p:spPr>
            <a:xfrm rot="5400000">
              <a:off x="3713163" y="4860925"/>
              <a:ext cx="411162" cy="1588"/>
            </a:xfrm>
            <a:prstGeom prst="line">
              <a:avLst/>
            </a:prstGeom>
            <a:ln w="9525" cap="flat" cmpd="sng">
              <a:solidFill>
                <a:srgbClr val="000000"/>
              </a:solidFill>
              <a:prstDash val="solid"/>
              <a:headEnd type="none" w="med" len="med"/>
              <a:tailEnd type="none" w="med" len="med"/>
            </a:ln>
          </p:spPr>
        </p:cxnSp>
        <p:cxnSp>
          <p:nvCxnSpPr>
            <p:cNvPr id="15408" name="Straight Connector 58"/>
            <p:cNvCxnSpPr/>
            <p:nvPr/>
          </p:nvCxnSpPr>
          <p:spPr>
            <a:xfrm>
              <a:off x="3917950" y="5065713"/>
              <a:ext cx="2227263" cy="1587"/>
            </a:xfrm>
            <a:prstGeom prst="line">
              <a:avLst/>
            </a:prstGeom>
            <a:ln w="9525" cap="flat" cmpd="sng">
              <a:solidFill>
                <a:srgbClr val="000000"/>
              </a:solidFill>
              <a:prstDash val="solid"/>
              <a:headEnd type="none" w="med" len="med"/>
              <a:tailEnd type="none" w="med" len="med"/>
            </a:ln>
          </p:spPr>
        </p:cxnSp>
        <p:cxnSp>
          <p:nvCxnSpPr>
            <p:cNvPr id="15409" name="Straight Arrow Connector 59"/>
            <p:cNvCxnSpPr/>
            <p:nvPr/>
          </p:nvCxnSpPr>
          <p:spPr>
            <a:xfrm rot="-5400000" flipV="1">
              <a:off x="5931694" y="4852194"/>
              <a:ext cx="427038" cy="0"/>
            </a:xfrm>
            <a:prstGeom prst="straightConnector1">
              <a:avLst/>
            </a:prstGeom>
            <a:ln w="9525" cap="flat" cmpd="sng">
              <a:solidFill>
                <a:srgbClr val="000000"/>
              </a:solidFill>
              <a:prstDash val="solid"/>
              <a:headEnd type="none" w="med" len="med"/>
              <a:tailEnd type="arrow" w="med" len="med"/>
            </a:ln>
          </p:spPr>
        </p:cxnSp>
        <p:cxnSp>
          <p:nvCxnSpPr>
            <p:cNvPr id="15410" name="Straight Connector 60"/>
            <p:cNvCxnSpPr/>
            <p:nvPr/>
          </p:nvCxnSpPr>
          <p:spPr>
            <a:xfrm rot="5400000">
              <a:off x="5043487" y="4937125"/>
              <a:ext cx="533400" cy="3175"/>
            </a:xfrm>
            <a:prstGeom prst="line">
              <a:avLst/>
            </a:prstGeom>
            <a:ln w="9525" cap="flat" cmpd="sng">
              <a:solidFill>
                <a:srgbClr val="000000"/>
              </a:solidFill>
              <a:prstDash val="solid"/>
              <a:headEnd type="none" w="med" len="med"/>
              <a:tailEnd type="none" w="med" len="med"/>
            </a:ln>
          </p:spPr>
        </p:cxnSp>
        <p:cxnSp>
          <p:nvCxnSpPr>
            <p:cNvPr id="15411" name="Straight Connector 61"/>
            <p:cNvCxnSpPr/>
            <p:nvPr/>
          </p:nvCxnSpPr>
          <p:spPr>
            <a:xfrm>
              <a:off x="5308600" y="5203825"/>
              <a:ext cx="2227263" cy="1588"/>
            </a:xfrm>
            <a:prstGeom prst="line">
              <a:avLst/>
            </a:prstGeom>
            <a:ln w="9525" cap="flat" cmpd="sng">
              <a:solidFill>
                <a:srgbClr val="000000"/>
              </a:solidFill>
              <a:prstDash val="solid"/>
              <a:headEnd type="none" w="med" len="med"/>
              <a:tailEnd type="none" w="med" len="med"/>
            </a:ln>
          </p:spPr>
        </p:cxnSp>
        <p:cxnSp>
          <p:nvCxnSpPr>
            <p:cNvPr id="15412" name="Straight Arrow Connector 62"/>
            <p:cNvCxnSpPr/>
            <p:nvPr/>
          </p:nvCxnSpPr>
          <p:spPr>
            <a:xfrm rot="-5400000" flipV="1">
              <a:off x="7260432" y="4928394"/>
              <a:ext cx="550862" cy="0"/>
            </a:xfrm>
            <a:prstGeom prst="straightConnector1">
              <a:avLst/>
            </a:prstGeom>
            <a:ln w="9525" cap="flat" cmpd="sng">
              <a:solidFill>
                <a:srgbClr val="000000"/>
              </a:solidFill>
              <a:prstDash val="solid"/>
              <a:headEnd type="none" w="med" len="med"/>
              <a:tailEnd type="arrow" w="med" len="med"/>
            </a:ln>
          </p:spPr>
        </p:cxnSp>
      </p:grpSp>
      <p:sp>
        <p:nvSpPr>
          <p:cNvPr id="15363" name="TextBox 69"/>
          <p:cNvSpPr txBox="1"/>
          <p:nvPr/>
        </p:nvSpPr>
        <p:spPr>
          <a:xfrm>
            <a:off x="533400" y="5562600"/>
            <a:ext cx="6662738" cy="701675"/>
          </a:xfrm>
          <a:prstGeom prst="rect">
            <a:avLst/>
          </a:prstGeom>
          <a:noFill/>
          <a:ln w="9525">
            <a:noFill/>
          </a:ln>
        </p:spPr>
        <p:txBody>
          <a:bodyPr>
            <a:spAutoFit/>
          </a:bodyPr>
          <a:p>
            <a:pPr>
              <a:spcBef>
                <a:spcPct val="20000"/>
              </a:spcBef>
            </a:pPr>
            <a:r>
              <a:rPr b="1" dirty="0">
                <a:latin typeface="Arial" panose="020B0604020202020204" pitchFamily="34" charset="0"/>
              </a:rPr>
              <a:t>NVRAM gets flushed to disk randomly every 1 to 6 seconds</a:t>
            </a:r>
            <a:endParaRPr b="1" dirty="0">
              <a:latin typeface="Arial" panose="020B0604020202020204" pitchFamily="34" charset="0"/>
            </a:endParaRPr>
          </a:p>
          <a:p>
            <a:pPr>
              <a:spcBef>
                <a:spcPct val="20000"/>
              </a:spcBef>
            </a:pPr>
            <a:r>
              <a:rPr b="1" dirty="0">
                <a:latin typeface="Arial" panose="020B0604020202020204" pitchFamily="34" charset="0"/>
              </a:rPr>
              <a:t>** 4 nodes will become available at later release</a:t>
            </a:r>
            <a:endParaRPr b="1" dirty="0">
              <a:latin typeface="Arial" panose="020B0604020202020204" pitchFamily="34" charset="0"/>
            </a:endParaRPr>
          </a:p>
        </p:txBody>
      </p:sp>
      <p:sp>
        <p:nvSpPr>
          <p:cNvPr id="15364" name="TextBox 69"/>
          <p:cNvSpPr txBox="1"/>
          <p:nvPr/>
        </p:nvSpPr>
        <p:spPr>
          <a:xfrm>
            <a:off x="5453063" y="1066800"/>
            <a:ext cx="3690937" cy="630238"/>
          </a:xfrm>
          <a:prstGeom prst="rect">
            <a:avLst/>
          </a:prstGeom>
          <a:noFill/>
          <a:ln w="9525">
            <a:noFill/>
          </a:ln>
        </p:spPr>
        <p:txBody>
          <a:bodyPr>
            <a:spAutoFit/>
          </a:bodyPr>
          <a:p>
            <a:pPr>
              <a:spcBef>
                <a:spcPct val="20000"/>
              </a:spcBef>
            </a:pPr>
            <a:r>
              <a:rPr sz="1600" b="1" dirty="0">
                <a:latin typeface="Arial" panose="020B0604020202020204" pitchFamily="34" charset="0"/>
              </a:rPr>
              <a:t>NVRAM : </a:t>
            </a:r>
            <a:endParaRPr sz="1600" b="1" dirty="0">
              <a:latin typeface="Arial" panose="020B0604020202020204" pitchFamily="34" charset="0"/>
            </a:endParaRPr>
          </a:p>
          <a:p>
            <a:pPr>
              <a:spcBef>
                <a:spcPct val="20000"/>
              </a:spcBef>
            </a:pPr>
            <a:r>
              <a:rPr sz="1600" b="1" dirty="0">
                <a:latin typeface="Arial" panose="020B0604020202020204" pitchFamily="34" charset="0"/>
              </a:rPr>
              <a:t>2GB with 3080/3090</a:t>
            </a:r>
            <a:endParaRPr sz="1600" b="1" dirty="0">
              <a:latin typeface="Arial" panose="020B0604020202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p:nvPr/>
        </p:nvSpPr>
        <p:spPr>
          <a:xfrm>
            <a:off x="4749800" y="1462088"/>
            <a:ext cx="4176713" cy="3895725"/>
          </a:xfrm>
          <a:prstGeom prst="rect">
            <a:avLst/>
          </a:prstGeom>
          <a:solidFill>
            <a:srgbClr val="FFCC33"/>
          </a:solidFill>
          <a:ln w="9525" cap="flat" cmpd="sng">
            <a:solidFill>
              <a:schemeClr val="bg2"/>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10" name="Rectangle 3"/>
          <p:cNvSpPr/>
          <p:nvPr/>
        </p:nvSpPr>
        <p:spPr>
          <a:xfrm>
            <a:off x="201613" y="1460500"/>
            <a:ext cx="4176712" cy="3895725"/>
          </a:xfrm>
          <a:prstGeom prst="rect">
            <a:avLst/>
          </a:prstGeom>
          <a:solidFill>
            <a:srgbClr val="FFCC33"/>
          </a:solidFill>
          <a:ln w="9525" cap="flat" cmpd="sng">
            <a:solidFill>
              <a:schemeClr val="bg2"/>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11" name="Rectangle 4"/>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Architecture Comparison</a:t>
            </a:r>
            <a:endParaRPr dirty="0">
              <a:solidFill>
                <a:schemeClr val="tx1"/>
              </a:solidFill>
            </a:endParaRPr>
          </a:p>
        </p:txBody>
      </p:sp>
      <p:sp>
        <p:nvSpPr>
          <p:cNvPr id="17412" name="Rectangle 5"/>
          <p:cNvSpPr/>
          <p:nvPr/>
        </p:nvSpPr>
        <p:spPr>
          <a:xfrm>
            <a:off x="1120775" y="2130425"/>
            <a:ext cx="366713" cy="3937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13" name="Text Box 6"/>
          <p:cNvSpPr txBox="1"/>
          <p:nvPr/>
        </p:nvSpPr>
        <p:spPr>
          <a:xfrm>
            <a:off x="1066800" y="2209800"/>
            <a:ext cx="466725" cy="214313"/>
          </a:xfrm>
          <a:prstGeom prst="rect">
            <a:avLst/>
          </a:prstGeom>
          <a:noFill/>
          <a:ln w="9525">
            <a:noFill/>
          </a:ln>
        </p:spPr>
        <p:txBody>
          <a:bodyPr wrap="none">
            <a:spAutoFit/>
          </a:bodyPr>
          <a:p>
            <a:r>
              <a:rPr sz="800" b="1" dirty="0">
                <a:solidFill>
                  <a:schemeClr val="tx1"/>
                </a:solidFill>
                <a:latin typeface="Arial" panose="020B0604020202020204" pitchFamily="34" charset="0"/>
              </a:rPr>
              <a:t>FPGA</a:t>
            </a:r>
            <a:endParaRPr sz="800" b="1" dirty="0">
              <a:solidFill>
                <a:schemeClr val="tx1"/>
              </a:solidFill>
              <a:latin typeface="Arial" panose="020B0604020202020204" pitchFamily="34" charset="0"/>
            </a:endParaRPr>
          </a:p>
        </p:txBody>
      </p:sp>
      <p:grpSp>
        <p:nvGrpSpPr>
          <p:cNvPr id="17414" name="Group 7"/>
          <p:cNvGrpSpPr/>
          <p:nvPr/>
        </p:nvGrpSpPr>
        <p:grpSpPr>
          <a:xfrm>
            <a:off x="1254125" y="1600200"/>
            <a:ext cx="574675" cy="214313"/>
            <a:chOff x="1244" y="2758"/>
            <a:chExt cx="362" cy="135"/>
          </a:xfrm>
        </p:grpSpPr>
        <p:sp>
          <p:nvSpPr>
            <p:cNvPr id="17497" name="Rectangle 8"/>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98" name="Text Box 9"/>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sp>
        <p:nvSpPr>
          <p:cNvPr id="17415" name="Rectangle 12"/>
          <p:cNvSpPr/>
          <p:nvPr/>
        </p:nvSpPr>
        <p:spPr>
          <a:xfrm>
            <a:off x="6519863" y="1677988"/>
            <a:ext cx="366712" cy="3937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16" name="Text Box 13"/>
          <p:cNvSpPr txBox="1"/>
          <p:nvPr/>
        </p:nvSpPr>
        <p:spPr>
          <a:xfrm>
            <a:off x="6480175" y="1757363"/>
            <a:ext cx="398463" cy="214312"/>
          </a:xfrm>
          <a:prstGeom prst="rect">
            <a:avLst/>
          </a:prstGeom>
          <a:noFill/>
          <a:ln w="9525">
            <a:noFill/>
          </a:ln>
        </p:spPr>
        <p:txBody>
          <a:bodyPr wrap="none">
            <a:spAutoFit/>
          </a:bodyPr>
          <a:p>
            <a:r>
              <a:rPr sz="800" b="1" dirty="0">
                <a:solidFill>
                  <a:schemeClr val="tx1"/>
                </a:solidFill>
                <a:latin typeface="Arial" panose="020B0604020202020204" pitchFamily="34" charset="0"/>
              </a:rPr>
              <a:t>CPU</a:t>
            </a:r>
            <a:endParaRPr sz="800" b="1" dirty="0">
              <a:solidFill>
                <a:schemeClr val="tx1"/>
              </a:solidFill>
              <a:latin typeface="Arial" panose="020B0604020202020204" pitchFamily="34" charset="0"/>
            </a:endParaRPr>
          </a:p>
        </p:txBody>
      </p:sp>
      <p:sp>
        <p:nvSpPr>
          <p:cNvPr id="17417" name="Rectangle 14"/>
          <p:cNvSpPr/>
          <p:nvPr/>
        </p:nvSpPr>
        <p:spPr>
          <a:xfrm>
            <a:off x="3141663" y="2105025"/>
            <a:ext cx="366712" cy="3937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18" name="Text Box 15"/>
          <p:cNvSpPr txBox="1"/>
          <p:nvPr/>
        </p:nvSpPr>
        <p:spPr>
          <a:xfrm>
            <a:off x="3101975" y="2184400"/>
            <a:ext cx="466725" cy="214313"/>
          </a:xfrm>
          <a:prstGeom prst="rect">
            <a:avLst/>
          </a:prstGeom>
          <a:noFill/>
          <a:ln w="9525">
            <a:noFill/>
          </a:ln>
        </p:spPr>
        <p:txBody>
          <a:bodyPr wrap="none">
            <a:spAutoFit/>
          </a:bodyPr>
          <a:p>
            <a:r>
              <a:rPr sz="800" b="1" dirty="0">
                <a:solidFill>
                  <a:schemeClr val="tx1"/>
                </a:solidFill>
                <a:latin typeface="Arial" panose="020B0604020202020204" pitchFamily="34" charset="0"/>
              </a:rPr>
              <a:t>FPGA</a:t>
            </a:r>
            <a:endParaRPr sz="800" b="1" dirty="0">
              <a:solidFill>
                <a:schemeClr val="tx1"/>
              </a:solidFill>
              <a:latin typeface="Arial" panose="020B0604020202020204" pitchFamily="34" charset="0"/>
            </a:endParaRPr>
          </a:p>
        </p:txBody>
      </p:sp>
      <p:sp>
        <p:nvSpPr>
          <p:cNvPr id="17419" name="Line 16"/>
          <p:cNvSpPr/>
          <p:nvPr/>
        </p:nvSpPr>
        <p:spPr>
          <a:xfrm>
            <a:off x="406400" y="3033713"/>
            <a:ext cx="3735388" cy="0"/>
          </a:xfrm>
          <a:prstGeom prst="line">
            <a:avLst/>
          </a:prstGeom>
          <a:ln w="28575" cap="flat" cmpd="sng">
            <a:solidFill>
              <a:schemeClr val="tx1"/>
            </a:solidFill>
            <a:prstDash val="solid"/>
            <a:headEnd type="none" w="med" len="med"/>
            <a:tailEnd type="triangle" w="med" len="med"/>
          </a:ln>
        </p:spPr>
      </p:sp>
      <p:sp>
        <p:nvSpPr>
          <p:cNvPr id="17420" name="Line 17"/>
          <p:cNvSpPr/>
          <p:nvPr/>
        </p:nvSpPr>
        <p:spPr>
          <a:xfrm flipV="1">
            <a:off x="1320800" y="2486025"/>
            <a:ext cx="0" cy="557213"/>
          </a:xfrm>
          <a:prstGeom prst="line">
            <a:avLst/>
          </a:prstGeom>
          <a:ln w="28575" cap="flat" cmpd="sng">
            <a:solidFill>
              <a:schemeClr val="tx1"/>
            </a:solidFill>
            <a:prstDash val="solid"/>
            <a:headEnd type="none" w="med" len="med"/>
            <a:tailEnd type="triangle" w="med" len="med"/>
          </a:ln>
        </p:spPr>
      </p:sp>
      <p:sp>
        <p:nvSpPr>
          <p:cNvPr id="17421" name="Line 19"/>
          <p:cNvSpPr/>
          <p:nvPr/>
        </p:nvSpPr>
        <p:spPr>
          <a:xfrm flipV="1">
            <a:off x="3349625" y="2486025"/>
            <a:ext cx="0" cy="557213"/>
          </a:xfrm>
          <a:prstGeom prst="line">
            <a:avLst/>
          </a:prstGeom>
          <a:ln w="28575" cap="flat" cmpd="sng">
            <a:solidFill>
              <a:schemeClr val="tx1"/>
            </a:solidFill>
            <a:prstDash val="solid"/>
            <a:headEnd type="none" w="med" len="med"/>
            <a:tailEnd type="triangle" w="med" len="med"/>
          </a:ln>
        </p:spPr>
      </p:sp>
      <p:sp>
        <p:nvSpPr>
          <p:cNvPr id="17422" name="Rectangle 20"/>
          <p:cNvSpPr/>
          <p:nvPr/>
        </p:nvSpPr>
        <p:spPr>
          <a:xfrm>
            <a:off x="1144588" y="4046538"/>
            <a:ext cx="366712" cy="3937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23" name="Text Box 21"/>
          <p:cNvSpPr txBox="1"/>
          <p:nvPr/>
        </p:nvSpPr>
        <p:spPr>
          <a:xfrm>
            <a:off x="1104900" y="4125913"/>
            <a:ext cx="466725" cy="214312"/>
          </a:xfrm>
          <a:prstGeom prst="rect">
            <a:avLst/>
          </a:prstGeom>
          <a:noFill/>
          <a:ln w="9525">
            <a:noFill/>
          </a:ln>
        </p:spPr>
        <p:txBody>
          <a:bodyPr wrap="none">
            <a:spAutoFit/>
          </a:bodyPr>
          <a:p>
            <a:r>
              <a:rPr sz="800" b="1" dirty="0">
                <a:solidFill>
                  <a:schemeClr val="tx1"/>
                </a:solidFill>
                <a:latin typeface="Arial" panose="020B0604020202020204" pitchFamily="34" charset="0"/>
              </a:rPr>
              <a:t>FPGA</a:t>
            </a:r>
            <a:endParaRPr sz="800" b="1" dirty="0">
              <a:solidFill>
                <a:schemeClr val="tx1"/>
              </a:solidFill>
              <a:latin typeface="Arial" panose="020B0604020202020204" pitchFamily="34" charset="0"/>
            </a:endParaRPr>
          </a:p>
        </p:txBody>
      </p:sp>
      <p:sp>
        <p:nvSpPr>
          <p:cNvPr id="17424" name="Line 22"/>
          <p:cNvSpPr/>
          <p:nvPr/>
        </p:nvSpPr>
        <p:spPr>
          <a:xfrm flipH="1">
            <a:off x="396875" y="3495675"/>
            <a:ext cx="3724275" cy="0"/>
          </a:xfrm>
          <a:prstGeom prst="line">
            <a:avLst/>
          </a:prstGeom>
          <a:ln w="28575" cap="flat" cmpd="sng">
            <a:solidFill>
              <a:schemeClr val="tx1"/>
            </a:solidFill>
            <a:prstDash val="solid"/>
            <a:headEnd type="none" w="med" len="med"/>
            <a:tailEnd type="triangle" w="med" len="med"/>
          </a:ln>
        </p:spPr>
      </p:sp>
      <p:sp>
        <p:nvSpPr>
          <p:cNvPr id="17425" name="Line 23"/>
          <p:cNvSpPr/>
          <p:nvPr/>
        </p:nvSpPr>
        <p:spPr>
          <a:xfrm>
            <a:off x="1330325" y="3490913"/>
            <a:ext cx="0" cy="557212"/>
          </a:xfrm>
          <a:prstGeom prst="line">
            <a:avLst/>
          </a:prstGeom>
          <a:ln w="28575" cap="flat" cmpd="sng">
            <a:solidFill>
              <a:schemeClr val="tx1"/>
            </a:solidFill>
            <a:prstDash val="solid"/>
            <a:headEnd type="none" w="med" len="med"/>
            <a:tailEnd type="triangle" w="med" len="med"/>
          </a:ln>
        </p:spPr>
      </p:sp>
      <p:sp>
        <p:nvSpPr>
          <p:cNvPr id="17426" name="Line 25"/>
          <p:cNvSpPr/>
          <p:nvPr/>
        </p:nvSpPr>
        <p:spPr>
          <a:xfrm>
            <a:off x="3359150" y="3490913"/>
            <a:ext cx="0" cy="557212"/>
          </a:xfrm>
          <a:prstGeom prst="line">
            <a:avLst/>
          </a:prstGeom>
          <a:ln w="28575" cap="flat" cmpd="sng">
            <a:solidFill>
              <a:schemeClr val="tx1"/>
            </a:solidFill>
            <a:prstDash val="solid"/>
            <a:headEnd type="none" w="med" len="med"/>
            <a:tailEnd type="triangle" w="med" len="med"/>
          </a:ln>
        </p:spPr>
      </p:sp>
      <p:sp>
        <p:nvSpPr>
          <p:cNvPr id="17427" name="Rectangle 28"/>
          <p:cNvSpPr/>
          <p:nvPr/>
        </p:nvSpPr>
        <p:spPr>
          <a:xfrm>
            <a:off x="3190875" y="4071938"/>
            <a:ext cx="366713" cy="3937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28" name="Text Box 29"/>
          <p:cNvSpPr txBox="1"/>
          <p:nvPr/>
        </p:nvSpPr>
        <p:spPr>
          <a:xfrm>
            <a:off x="3151188" y="4151313"/>
            <a:ext cx="466725" cy="214312"/>
          </a:xfrm>
          <a:prstGeom prst="rect">
            <a:avLst/>
          </a:prstGeom>
          <a:noFill/>
          <a:ln w="9525">
            <a:noFill/>
          </a:ln>
        </p:spPr>
        <p:txBody>
          <a:bodyPr wrap="none">
            <a:spAutoFit/>
          </a:bodyPr>
          <a:p>
            <a:r>
              <a:rPr sz="800" b="1" dirty="0">
                <a:solidFill>
                  <a:schemeClr val="tx1"/>
                </a:solidFill>
                <a:latin typeface="Arial" panose="020B0604020202020204" pitchFamily="34" charset="0"/>
              </a:rPr>
              <a:t>FPGA</a:t>
            </a:r>
            <a:endParaRPr sz="800" b="1" dirty="0">
              <a:solidFill>
                <a:schemeClr val="tx1"/>
              </a:solidFill>
              <a:latin typeface="Arial" panose="020B0604020202020204" pitchFamily="34" charset="0"/>
            </a:endParaRPr>
          </a:p>
        </p:txBody>
      </p:sp>
      <p:sp>
        <p:nvSpPr>
          <p:cNvPr id="17429" name="Text Box 30"/>
          <p:cNvSpPr txBox="1"/>
          <p:nvPr/>
        </p:nvSpPr>
        <p:spPr>
          <a:xfrm>
            <a:off x="1008063" y="3082925"/>
            <a:ext cx="2813050" cy="366713"/>
          </a:xfrm>
          <a:prstGeom prst="rect">
            <a:avLst/>
          </a:prstGeom>
          <a:noFill/>
          <a:ln w="9525">
            <a:noFill/>
          </a:ln>
        </p:spPr>
        <p:txBody>
          <a:bodyPr wrap="none">
            <a:spAutoFit/>
          </a:bodyPr>
          <a:p>
            <a:r>
              <a:rPr dirty="0">
                <a:solidFill>
                  <a:schemeClr val="tx1"/>
                </a:solidFill>
                <a:latin typeface="Arial" panose="020B0604020202020204" pitchFamily="34" charset="0"/>
              </a:rPr>
              <a:t>Dual Pipeline Architecture</a:t>
            </a:r>
            <a:endParaRPr dirty="0">
              <a:solidFill>
                <a:schemeClr val="tx1"/>
              </a:solidFill>
              <a:latin typeface="Arial" panose="020B0604020202020204" pitchFamily="34" charset="0"/>
            </a:endParaRPr>
          </a:p>
        </p:txBody>
      </p:sp>
      <p:sp>
        <p:nvSpPr>
          <p:cNvPr id="17430" name="Line 31"/>
          <p:cNvSpPr/>
          <p:nvPr/>
        </p:nvSpPr>
        <p:spPr>
          <a:xfrm flipV="1">
            <a:off x="6329363" y="3722688"/>
            <a:ext cx="0" cy="596900"/>
          </a:xfrm>
          <a:prstGeom prst="line">
            <a:avLst/>
          </a:prstGeom>
          <a:ln w="28575" cap="flat" cmpd="sng">
            <a:solidFill>
              <a:schemeClr val="tx1"/>
            </a:solidFill>
            <a:prstDash val="solid"/>
            <a:headEnd type="none" w="med" len="med"/>
            <a:tailEnd type="triangle" w="med" len="med"/>
          </a:ln>
        </p:spPr>
      </p:sp>
      <p:sp>
        <p:nvSpPr>
          <p:cNvPr id="17431" name="Line 32"/>
          <p:cNvSpPr/>
          <p:nvPr/>
        </p:nvSpPr>
        <p:spPr>
          <a:xfrm>
            <a:off x="7183438" y="3749675"/>
            <a:ext cx="0" cy="557213"/>
          </a:xfrm>
          <a:prstGeom prst="line">
            <a:avLst/>
          </a:prstGeom>
          <a:ln w="28575" cap="flat" cmpd="sng">
            <a:solidFill>
              <a:schemeClr val="tx1"/>
            </a:solidFill>
            <a:prstDash val="solid"/>
            <a:headEnd type="none" w="med" len="med"/>
            <a:tailEnd type="triangle" w="med" len="med"/>
          </a:ln>
        </p:spPr>
      </p:sp>
      <p:sp>
        <p:nvSpPr>
          <p:cNvPr id="17432" name="Line 33"/>
          <p:cNvSpPr/>
          <p:nvPr/>
        </p:nvSpPr>
        <p:spPr>
          <a:xfrm flipH="1">
            <a:off x="6319838" y="4316413"/>
            <a:ext cx="865187" cy="1587"/>
          </a:xfrm>
          <a:prstGeom prst="line">
            <a:avLst/>
          </a:prstGeom>
          <a:ln w="28575" cap="flat" cmpd="sng">
            <a:solidFill>
              <a:schemeClr val="tx1"/>
            </a:solidFill>
            <a:prstDash val="solid"/>
            <a:headEnd type="none" w="med" len="med"/>
            <a:tailEnd type="triangle" w="med" len="med"/>
          </a:ln>
        </p:spPr>
      </p:sp>
      <p:sp>
        <p:nvSpPr>
          <p:cNvPr id="17433" name="Line 34"/>
          <p:cNvSpPr/>
          <p:nvPr/>
        </p:nvSpPr>
        <p:spPr>
          <a:xfrm>
            <a:off x="6364288" y="3736975"/>
            <a:ext cx="828675" cy="3175"/>
          </a:xfrm>
          <a:prstGeom prst="line">
            <a:avLst/>
          </a:prstGeom>
          <a:ln w="28575" cap="flat" cmpd="sng">
            <a:solidFill>
              <a:schemeClr val="tx1"/>
            </a:solidFill>
            <a:prstDash val="solid"/>
            <a:headEnd type="none" w="med" len="med"/>
            <a:tailEnd type="triangle" w="med" len="med"/>
          </a:ln>
        </p:spPr>
      </p:sp>
      <p:sp>
        <p:nvSpPr>
          <p:cNvPr id="17434" name="Line 35"/>
          <p:cNvSpPr/>
          <p:nvPr/>
        </p:nvSpPr>
        <p:spPr>
          <a:xfrm flipV="1">
            <a:off x="6299200" y="2797175"/>
            <a:ext cx="0" cy="596900"/>
          </a:xfrm>
          <a:prstGeom prst="line">
            <a:avLst/>
          </a:prstGeom>
          <a:ln w="28575" cap="flat" cmpd="sng">
            <a:solidFill>
              <a:schemeClr val="tx1"/>
            </a:solidFill>
            <a:prstDash val="solid"/>
            <a:headEnd type="none" w="med" len="med"/>
            <a:tailEnd type="triangle" w="med" len="med"/>
          </a:ln>
        </p:spPr>
      </p:sp>
      <p:sp>
        <p:nvSpPr>
          <p:cNvPr id="17435" name="Line 36"/>
          <p:cNvSpPr/>
          <p:nvPr/>
        </p:nvSpPr>
        <p:spPr>
          <a:xfrm>
            <a:off x="7153275" y="2824163"/>
            <a:ext cx="0" cy="557212"/>
          </a:xfrm>
          <a:prstGeom prst="line">
            <a:avLst/>
          </a:prstGeom>
          <a:ln w="28575" cap="flat" cmpd="sng">
            <a:solidFill>
              <a:schemeClr val="tx1"/>
            </a:solidFill>
            <a:prstDash val="solid"/>
            <a:headEnd type="none" w="med" len="med"/>
            <a:tailEnd type="triangle" w="med" len="med"/>
          </a:ln>
        </p:spPr>
      </p:sp>
      <p:sp>
        <p:nvSpPr>
          <p:cNvPr id="17436" name="Line 37"/>
          <p:cNvSpPr/>
          <p:nvPr/>
        </p:nvSpPr>
        <p:spPr>
          <a:xfrm flipH="1">
            <a:off x="6289675" y="3390900"/>
            <a:ext cx="865188" cy="1588"/>
          </a:xfrm>
          <a:prstGeom prst="line">
            <a:avLst/>
          </a:prstGeom>
          <a:ln w="28575" cap="flat" cmpd="sng">
            <a:solidFill>
              <a:schemeClr val="tx1"/>
            </a:solidFill>
            <a:prstDash val="solid"/>
            <a:headEnd type="none" w="med" len="med"/>
            <a:tailEnd type="triangle" w="med" len="med"/>
          </a:ln>
        </p:spPr>
      </p:sp>
      <p:sp>
        <p:nvSpPr>
          <p:cNvPr id="17437" name="Line 38"/>
          <p:cNvSpPr/>
          <p:nvPr/>
        </p:nvSpPr>
        <p:spPr>
          <a:xfrm>
            <a:off x="6324600" y="2800350"/>
            <a:ext cx="838200" cy="4763"/>
          </a:xfrm>
          <a:prstGeom prst="line">
            <a:avLst/>
          </a:prstGeom>
          <a:ln w="28575" cap="flat" cmpd="sng">
            <a:solidFill>
              <a:schemeClr val="tx1"/>
            </a:solidFill>
            <a:prstDash val="solid"/>
            <a:headEnd type="none" w="med" len="med"/>
            <a:tailEnd type="triangle" w="med" len="med"/>
          </a:ln>
        </p:spPr>
      </p:sp>
      <p:sp>
        <p:nvSpPr>
          <p:cNvPr id="17438" name="Text Box 39"/>
          <p:cNvSpPr txBox="1"/>
          <p:nvPr/>
        </p:nvSpPr>
        <p:spPr>
          <a:xfrm>
            <a:off x="7183438" y="2840038"/>
            <a:ext cx="1704975" cy="650875"/>
          </a:xfrm>
          <a:prstGeom prst="rect">
            <a:avLst/>
          </a:prstGeom>
          <a:solidFill>
            <a:schemeClr val="bg1"/>
          </a:solidFill>
          <a:ln w="9525" cap="flat" cmpd="sng">
            <a:solidFill>
              <a:schemeClr val="tx1"/>
            </a:solidFill>
            <a:prstDash val="solid"/>
            <a:miter/>
            <a:headEnd type="none" w="med" len="med"/>
            <a:tailEnd type="none" w="med" len="med"/>
          </a:ln>
        </p:spPr>
        <p:txBody>
          <a:bodyPr wrap="none">
            <a:spAutoFit/>
          </a:bodyPr>
          <a:p>
            <a:r>
              <a:rPr dirty="0">
                <a:solidFill>
                  <a:schemeClr val="tx1"/>
                </a:solidFill>
                <a:latin typeface="Arial" panose="020B0604020202020204" pitchFamily="34" charset="0"/>
              </a:rPr>
              <a:t>North Bridge/</a:t>
            </a:r>
            <a:endParaRPr dirty="0">
              <a:solidFill>
                <a:schemeClr val="tx1"/>
              </a:solidFill>
              <a:latin typeface="Arial" panose="020B0604020202020204" pitchFamily="34" charset="0"/>
            </a:endParaRPr>
          </a:p>
          <a:p>
            <a:r>
              <a:rPr dirty="0">
                <a:solidFill>
                  <a:schemeClr val="tx1"/>
                </a:solidFill>
                <a:latin typeface="Arial" panose="020B0604020202020204" pitchFamily="34" charset="0"/>
              </a:rPr>
              <a:t>Front Side Bus</a:t>
            </a:r>
            <a:endParaRPr dirty="0">
              <a:solidFill>
                <a:schemeClr val="tx1"/>
              </a:solidFill>
              <a:latin typeface="Arial" panose="020B0604020202020204" pitchFamily="34" charset="0"/>
            </a:endParaRPr>
          </a:p>
        </p:txBody>
      </p:sp>
      <p:sp>
        <p:nvSpPr>
          <p:cNvPr id="17439" name="Text Box 40"/>
          <p:cNvSpPr txBox="1"/>
          <p:nvPr/>
        </p:nvSpPr>
        <p:spPr>
          <a:xfrm>
            <a:off x="7239000" y="3868738"/>
            <a:ext cx="1577975" cy="650875"/>
          </a:xfrm>
          <a:prstGeom prst="rect">
            <a:avLst/>
          </a:prstGeom>
          <a:solidFill>
            <a:schemeClr val="bg1"/>
          </a:solidFill>
          <a:ln w="9525" cap="flat" cmpd="sng">
            <a:solidFill>
              <a:schemeClr val="tx1"/>
            </a:solidFill>
            <a:prstDash val="solid"/>
            <a:miter/>
            <a:headEnd type="none" w="med" len="med"/>
            <a:tailEnd type="none" w="med" len="med"/>
          </a:ln>
        </p:spPr>
        <p:txBody>
          <a:bodyPr wrap="none">
            <a:spAutoFit/>
          </a:bodyPr>
          <a:p>
            <a:r>
              <a:rPr dirty="0">
                <a:solidFill>
                  <a:schemeClr val="tx1"/>
                </a:solidFill>
                <a:latin typeface="Arial" panose="020B0604020202020204" pitchFamily="34" charset="0"/>
              </a:rPr>
              <a:t>South Bridge/</a:t>
            </a:r>
            <a:endParaRPr dirty="0">
              <a:solidFill>
                <a:schemeClr val="tx1"/>
              </a:solidFill>
              <a:latin typeface="Arial" panose="020B0604020202020204" pitchFamily="34" charset="0"/>
            </a:endParaRPr>
          </a:p>
          <a:p>
            <a:r>
              <a:rPr dirty="0">
                <a:solidFill>
                  <a:schemeClr val="tx1"/>
                </a:solidFill>
                <a:latin typeface="Arial" panose="020B0604020202020204" pitchFamily="34" charset="0"/>
              </a:rPr>
              <a:t>I/O Bus</a:t>
            </a:r>
            <a:endParaRPr dirty="0">
              <a:solidFill>
                <a:schemeClr val="tx1"/>
              </a:solidFill>
              <a:latin typeface="Arial" panose="020B0604020202020204" pitchFamily="34" charset="0"/>
            </a:endParaRPr>
          </a:p>
        </p:txBody>
      </p:sp>
      <p:sp>
        <p:nvSpPr>
          <p:cNvPr id="17440" name="Line 41"/>
          <p:cNvSpPr/>
          <p:nvPr/>
        </p:nvSpPr>
        <p:spPr>
          <a:xfrm>
            <a:off x="6718300" y="2081213"/>
            <a:ext cx="0" cy="741362"/>
          </a:xfrm>
          <a:prstGeom prst="line">
            <a:avLst/>
          </a:prstGeom>
          <a:ln w="28575" cap="flat" cmpd="sng">
            <a:solidFill>
              <a:schemeClr val="tx1"/>
            </a:solidFill>
            <a:prstDash val="solid"/>
            <a:headEnd type="none" w="med" len="med"/>
            <a:tailEnd type="none" w="med" len="med"/>
          </a:ln>
        </p:spPr>
      </p:sp>
      <p:sp>
        <p:nvSpPr>
          <p:cNvPr id="17441" name="Line 42"/>
          <p:cNvSpPr/>
          <p:nvPr/>
        </p:nvSpPr>
        <p:spPr>
          <a:xfrm flipH="1">
            <a:off x="5602288" y="3149600"/>
            <a:ext cx="681037" cy="0"/>
          </a:xfrm>
          <a:prstGeom prst="line">
            <a:avLst/>
          </a:prstGeom>
          <a:ln w="28575" cap="flat" cmpd="sng">
            <a:solidFill>
              <a:schemeClr val="tx1"/>
            </a:solidFill>
            <a:prstDash val="solid"/>
            <a:headEnd type="none" w="med" len="med"/>
            <a:tailEnd type="none" w="med" len="med"/>
          </a:ln>
        </p:spPr>
      </p:sp>
      <p:sp>
        <p:nvSpPr>
          <p:cNvPr id="17442" name="Line 43"/>
          <p:cNvSpPr/>
          <p:nvPr/>
        </p:nvSpPr>
        <p:spPr>
          <a:xfrm>
            <a:off x="6716713" y="3389313"/>
            <a:ext cx="0" cy="346075"/>
          </a:xfrm>
          <a:prstGeom prst="line">
            <a:avLst/>
          </a:prstGeom>
          <a:ln w="28575" cap="flat" cmpd="sng">
            <a:solidFill>
              <a:schemeClr val="tx1"/>
            </a:solidFill>
            <a:prstDash val="solid"/>
            <a:headEnd type="none" w="med" len="med"/>
            <a:tailEnd type="none" w="med" len="med"/>
          </a:ln>
        </p:spPr>
      </p:sp>
      <p:sp>
        <p:nvSpPr>
          <p:cNvPr id="17443" name="Line 44"/>
          <p:cNvSpPr/>
          <p:nvPr/>
        </p:nvSpPr>
        <p:spPr>
          <a:xfrm flipH="1">
            <a:off x="6973888" y="4756150"/>
            <a:ext cx="1616075" cy="3175"/>
          </a:xfrm>
          <a:prstGeom prst="line">
            <a:avLst/>
          </a:prstGeom>
          <a:ln w="28575" cap="flat" cmpd="sng">
            <a:solidFill>
              <a:schemeClr val="tx1"/>
            </a:solidFill>
            <a:prstDash val="solid"/>
            <a:headEnd type="triangle" w="med" len="med"/>
            <a:tailEnd type="none" w="med" len="med"/>
          </a:ln>
        </p:spPr>
      </p:sp>
      <p:sp>
        <p:nvSpPr>
          <p:cNvPr id="17444" name="Line 45"/>
          <p:cNvSpPr/>
          <p:nvPr/>
        </p:nvSpPr>
        <p:spPr>
          <a:xfrm flipV="1">
            <a:off x="6972300" y="4327525"/>
            <a:ext cx="0" cy="442913"/>
          </a:xfrm>
          <a:prstGeom prst="line">
            <a:avLst/>
          </a:prstGeom>
          <a:ln w="28575" cap="flat" cmpd="sng">
            <a:solidFill>
              <a:schemeClr val="tx1"/>
            </a:solidFill>
            <a:prstDash val="solid"/>
            <a:headEnd type="none" w="med" len="med"/>
            <a:tailEnd type="triangle" w="med" len="med"/>
          </a:ln>
        </p:spPr>
      </p:sp>
      <p:sp>
        <p:nvSpPr>
          <p:cNvPr id="17445" name="Line 46"/>
          <p:cNvSpPr/>
          <p:nvPr/>
        </p:nvSpPr>
        <p:spPr>
          <a:xfrm flipH="1">
            <a:off x="5038725" y="4754563"/>
            <a:ext cx="1587500" cy="1587"/>
          </a:xfrm>
          <a:prstGeom prst="line">
            <a:avLst/>
          </a:prstGeom>
          <a:ln w="28575" cap="flat" cmpd="sng">
            <a:solidFill>
              <a:schemeClr val="tx1"/>
            </a:solidFill>
            <a:prstDash val="solid"/>
            <a:headEnd type="none" w="med" len="med"/>
            <a:tailEnd type="triangle" w="med" len="med"/>
          </a:ln>
        </p:spPr>
      </p:sp>
      <p:sp>
        <p:nvSpPr>
          <p:cNvPr id="17446" name="Line 47"/>
          <p:cNvSpPr/>
          <p:nvPr/>
        </p:nvSpPr>
        <p:spPr>
          <a:xfrm>
            <a:off x="6624638" y="4325938"/>
            <a:ext cx="0" cy="442912"/>
          </a:xfrm>
          <a:prstGeom prst="line">
            <a:avLst/>
          </a:prstGeom>
          <a:ln w="28575" cap="flat" cmpd="sng">
            <a:solidFill>
              <a:schemeClr val="tx1"/>
            </a:solidFill>
            <a:prstDash val="solid"/>
            <a:headEnd type="triangle" w="med" len="med"/>
            <a:tailEnd type="none" w="med" len="med"/>
          </a:ln>
        </p:spPr>
      </p:sp>
      <p:sp>
        <p:nvSpPr>
          <p:cNvPr id="17447" name="Text Box 48"/>
          <p:cNvSpPr txBox="1"/>
          <p:nvPr/>
        </p:nvSpPr>
        <p:spPr>
          <a:xfrm>
            <a:off x="5548313" y="4967288"/>
            <a:ext cx="2589212" cy="366712"/>
          </a:xfrm>
          <a:prstGeom prst="rect">
            <a:avLst/>
          </a:prstGeom>
          <a:noFill/>
          <a:ln w="9525">
            <a:noFill/>
          </a:ln>
        </p:spPr>
        <p:txBody>
          <a:bodyPr>
            <a:spAutoFit/>
          </a:bodyPr>
          <a:p>
            <a:pPr algn="ctr"/>
            <a:r>
              <a:rPr dirty="0">
                <a:solidFill>
                  <a:schemeClr val="tx1"/>
                </a:solidFill>
                <a:latin typeface="Arial" panose="020B0604020202020204" pitchFamily="34" charset="0"/>
              </a:rPr>
              <a:t>PC Server Architecture</a:t>
            </a:r>
            <a:endParaRPr dirty="0">
              <a:solidFill>
                <a:schemeClr val="tx1"/>
              </a:solidFill>
              <a:latin typeface="Arial" panose="020B0604020202020204" pitchFamily="34" charset="0"/>
            </a:endParaRPr>
          </a:p>
        </p:txBody>
      </p:sp>
      <p:sp>
        <p:nvSpPr>
          <p:cNvPr id="527409" name="AutoShape 49"/>
          <p:cNvSpPr/>
          <p:nvPr/>
        </p:nvSpPr>
        <p:spPr>
          <a:xfrm>
            <a:off x="6459538" y="3692525"/>
            <a:ext cx="649287" cy="676275"/>
          </a:xfrm>
          <a:prstGeom prst="irregularSeal1">
            <a:avLst/>
          </a:prstGeom>
          <a:solidFill>
            <a:srgbClr val="FF1414"/>
          </a:solidFill>
          <a:ln w="9525" cap="flat" cmpd="sng">
            <a:solidFill>
              <a:schemeClr val="tx1"/>
            </a:solidFill>
            <a:prstDash val="solid"/>
            <a:miter/>
            <a:headEnd type="none" w="med" len="med"/>
            <a:tailEnd type="none" w="med" len="med"/>
          </a:ln>
        </p:spPr>
        <p:txBody>
          <a:bodyPr wrap="none" anchor="ctr" anchorCtr="0"/>
          <a:p>
            <a:pPr algn="ctr"/>
            <a:r>
              <a:rPr sz="700" b="1" dirty="0">
                <a:solidFill>
                  <a:schemeClr val="tx1"/>
                </a:solidFill>
                <a:latin typeface="Arial" panose="020B0604020202020204" pitchFamily="34" charset="0"/>
              </a:rPr>
              <a:t>Contention</a:t>
            </a:r>
            <a:endParaRPr sz="700" b="1" dirty="0">
              <a:solidFill>
                <a:schemeClr val="tx1"/>
              </a:solidFill>
              <a:latin typeface="Arial" panose="020B0604020202020204" pitchFamily="34" charset="0"/>
            </a:endParaRPr>
          </a:p>
        </p:txBody>
      </p:sp>
      <p:sp>
        <p:nvSpPr>
          <p:cNvPr id="527410" name="AutoShape 50"/>
          <p:cNvSpPr/>
          <p:nvPr/>
        </p:nvSpPr>
        <p:spPr>
          <a:xfrm>
            <a:off x="6411913" y="2757488"/>
            <a:ext cx="687387" cy="685800"/>
          </a:xfrm>
          <a:prstGeom prst="irregularSeal1">
            <a:avLst/>
          </a:prstGeom>
          <a:solidFill>
            <a:srgbClr val="FF1414"/>
          </a:solidFill>
          <a:ln w="9525" cap="flat" cmpd="sng">
            <a:solidFill>
              <a:schemeClr val="tx1"/>
            </a:solidFill>
            <a:prstDash val="solid"/>
            <a:miter/>
            <a:headEnd type="none" w="med" len="med"/>
            <a:tailEnd type="none" w="med" len="med"/>
          </a:ln>
        </p:spPr>
        <p:txBody>
          <a:bodyPr wrap="none" anchor="ctr" anchorCtr="0"/>
          <a:p>
            <a:pPr algn="ctr"/>
            <a:r>
              <a:rPr sz="700" b="1" dirty="0">
                <a:solidFill>
                  <a:schemeClr val="tx1"/>
                </a:solidFill>
                <a:latin typeface="Arial" panose="020B0604020202020204" pitchFamily="34" charset="0"/>
              </a:rPr>
              <a:t>Contention</a:t>
            </a:r>
            <a:endParaRPr sz="700" b="1" dirty="0">
              <a:solidFill>
                <a:schemeClr val="tx1"/>
              </a:solidFill>
              <a:latin typeface="Arial" panose="020B0604020202020204" pitchFamily="34" charset="0"/>
            </a:endParaRPr>
          </a:p>
        </p:txBody>
      </p:sp>
      <p:sp>
        <p:nvSpPr>
          <p:cNvPr id="527411" name="AutoShape 51"/>
          <p:cNvSpPr/>
          <p:nvPr/>
        </p:nvSpPr>
        <p:spPr>
          <a:xfrm>
            <a:off x="5753100" y="2898775"/>
            <a:ext cx="449263" cy="485775"/>
          </a:xfrm>
          <a:prstGeom prst="irregularSeal1">
            <a:avLst/>
          </a:prstGeom>
          <a:solidFill>
            <a:srgbClr val="FF1414"/>
          </a:solidFill>
          <a:ln w="9525" cap="flat" cmpd="sng">
            <a:solidFill>
              <a:schemeClr val="tx1"/>
            </a:solidFill>
            <a:prstDash val="solid"/>
            <a:miter/>
            <a:headEnd type="none" w="med" len="med"/>
            <a:tailEnd type="none" w="med" len="med"/>
          </a:ln>
        </p:spPr>
        <p:txBody>
          <a:bodyPr wrap="none" anchor="ctr" anchorCtr="0"/>
          <a:p>
            <a:pPr algn="ctr"/>
            <a:r>
              <a:rPr sz="700" b="1" dirty="0">
                <a:solidFill>
                  <a:schemeClr val="tx1"/>
                </a:solidFill>
                <a:latin typeface="Arial" panose="020B0604020202020204" pitchFamily="34" charset="0"/>
              </a:rPr>
              <a:t>Bottleneck</a:t>
            </a:r>
            <a:endParaRPr sz="700" b="1" dirty="0">
              <a:solidFill>
                <a:schemeClr val="tx1"/>
              </a:solidFill>
              <a:latin typeface="Arial" panose="020B0604020202020204" pitchFamily="34" charset="0"/>
            </a:endParaRPr>
          </a:p>
        </p:txBody>
      </p:sp>
      <p:sp>
        <p:nvSpPr>
          <p:cNvPr id="527412" name="AutoShape 52"/>
          <p:cNvSpPr/>
          <p:nvPr/>
        </p:nvSpPr>
        <p:spPr>
          <a:xfrm>
            <a:off x="6381750" y="1911350"/>
            <a:ext cx="620713" cy="476250"/>
          </a:xfrm>
          <a:prstGeom prst="irregularSeal1">
            <a:avLst/>
          </a:prstGeom>
          <a:solidFill>
            <a:srgbClr val="FF1414"/>
          </a:solidFill>
          <a:ln w="9525" cap="flat" cmpd="sng">
            <a:solidFill>
              <a:schemeClr val="tx1"/>
            </a:solidFill>
            <a:prstDash val="solid"/>
            <a:miter/>
            <a:headEnd type="none" w="med" len="med"/>
            <a:tailEnd type="none" w="med" len="med"/>
          </a:ln>
        </p:spPr>
        <p:txBody>
          <a:bodyPr wrap="none" anchor="ctr" anchorCtr="0"/>
          <a:p>
            <a:pPr algn="ctr"/>
            <a:r>
              <a:rPr sz="700" b="1" dirty="0">
                <a:solidFill>
                  <a:schemeClr val="tx1"/>
                </a:solidFill>
                <a:latin typeface="Arial" panose="020B0604020202020204" pitchFamily="34" charset="0"/>
              </a:rPr>
              <a:t>Software </a:t>
            </a:r>
            <a:endParaRPr sz="700" b="1" dirty="0">
              <a:solidFill>
                <a:schemeClr val="tx1"/>
              </a:solidFill>
              <a:latin typeface="Arial" panose="020B0604020202020204" pitchFamily="34" charset="0"/>
            </a:endParaRPr>
          </a:p>
          <a:p>
            <a:pPr algn="ctr"/>
            <a:r>
              <a:rPr sz="700" b="1" dirty="0">
                <a:solidFill>
                  <a:schemeClr val="tx1"/>
                </a:solidFill>
                <a:latin typeface="Arial" panose="020B0604020202020204" pitchFamily="34" charset="0"/>
              </a:rPr>
              <a:t>Overhead</a:t>
            </a:r>
            <a:endParaRPr sz="700" b="1" dirty="0">
              <a:solidFill>
                <a:schemeClr val="tx1"/>
              </a:solidFill>
              <a:latin typeface="Arial" panose="020B0604020202020204" pitchFamily="34" charset="0"/>
            </a:endParaRPr>
          </a:p>
        </p:txBody>
      </p:sp>
      <p:sp>
        <p:nvSpPr>
          <p:cNvPr id="17452" name="Text Box 53"/>
          <p:cNvSpPr txBox="1"/>
          <p:nvPr/>
        </p:nvSpPr>
        <p:spPr>
          <a:xfrm>
            <a:off x="228600" y="5370513"/>
            <a:ext cx="4146550" cy="835025"/>
          </a:xfrm>
          <a:prstGeom prst="rect">
            <a:avLst/>
          </a:prstGeom>
          <a:noFill/>
          <a:ln w="9525" cap="flat" cmpd="sng">
            <a:solidFill>
              <a:schemeClr val="bg2"/>
            </a:solidFill>
            <a:prstDash val="solid"/>
            <a:miter/>
            <a:headEnd type="none" w="med" len="med"/>
            <a:tailEnd type="none" w="med" len="med"/>
          </a:ln>
        </p:spPr>
        <p:txBody>
          <a:bodyPr>
            <a:spAutoFit/>
          </a:bodyPr>
          <a:p>
            <a:pPr marL="111125" indent="-111125">
              <a:buChar char="•"/>
            </a:pPr>
            <a:r>
              <a:rPr sz="1600" dirty="0">
                <a:solidFill>
                  <a:schemeClr val="tx1"/>
                </a:solidFill>
                <a:latin typeface="Arial" panose="020B0604020202020204" pitchFamily="34" charset="0"/>
              </a:rPr>
              <a:t>Highly parallel</a:t>
            </a:r>
            <a:endParaRPr sz="1600" dirty="0">
              <a:solidFill>
                <a:schemeClr val="tx1"/>
              </a:solidFill>
              <a:latin typeface="Arial" panose="020B0604020202020204" pitchFamily="34" charset="0"/>
            </a:endParaRPr>
          </a:p>
          <a:p>
            <a:pPr marL="111125" indent="-111125">
              <a:buChar char="•"/>
            </a:pPr>
            <a:r>
              <a:rPr sz="1600" dirty="0">
                <a:solidFill>
                  <a:schemeClr val="tx1"/>
                </a:solidFill>
                <a:latin typeface="Arial" panose="020B0604020202020204" pitchFamily="34" charset="0"/>
              </a:rPr>
              <a:t>Optimized for data movement</a:t>
            </a:r>
            <a:endParaRPr sz="1600" dirty="0">
              <a:solidFill>
                <a:schemeClr val="tx1"/>
              </a:solidFill>
              <a:latin typeface="Arial" panose="020B0604020202020204" pitchFamily="34" charset="0"/>
            </a:endParaRPr>
          </a:p>
          <a:p>
            <a:pPr marL="111125" indent="-111125">
              <a:buChar char="•"/>
            </a:pPr>
            <a:r>
              <a:rPr sz="1600" dirty="0">
                <a:solidFill>
                  <a:schemeClr val="tx1"/>
                </a:solidFill>
                <a:latin typeface="Arial" panose="020B0604020202020204" pitchFamily="34" charset="0"/>
              </a:rPr>
              <a:t>Similar to network switches or routers</a:t>
            </a:r>
            <a:endParaRPr sz="1600" dirty="0">
              <a:solidFill>
                <a:schemeClr val="tx1"/>
              </a:solidFill>
              <a:latin typeface="Arial" panose="020B0604020202020204" pitchFamily="34" charset="0"/>
            </a:endParaRPr>
          </a:p>
        </p:txBody>
      </p:sp>
      <p:sp>
        <p:nvSpPr>
          <p:cNvPr id="17453" name="Text Box 54"/>
          <p:cNvSpPr txBox="1"/>
          <p:nvPr/>
        </p:nvSpPr>
        <p:spPr>
          <a:xfrm>
            <a:off x="4749800" y="5360988"/>
            <a:ext cx="4165600" cy="835025"/>
          </a:xfrm>
          <a:prstGeom prst="rect">
            <a:avLst/>
          </a:prstGeom>
          <a:noFill/>
          <a:ln w="9525" cap="flat" cmpd="sng">
            <a:solidFill>
              <a:schemeClr val="bg2"/>
            </a:solidFill>
            <a:prstDash val="solid"/>
            <a:miter/>
            <a:headEnd type="none" w="med" len="med"/>
            <a:tailEnd type="none" w="med" len="med"/>
          </a:ln>
        </p:spPr>
        <p:txBody>
          <a:bodyPr>
            <a:spAutoFit/>
          </a:bodyPr>
          <a:p>
            <a:pPr marL="111125" indent="-111125">
              <a:buChar char="•"/>
            </a:pPr>
            <a:r>
              <a:rPr sz="1600" dirty="0">
                <a:solidFill>
                  <a:schemeClr val="tx1"/>
                </a:solidFill>
                <a:latin typeface="Arial" panose="020B0604020202020204" pitchFamily="34" charset="0"/>
              </a:rPr>
              <a:t>Highly serial</a:t>
            </a:r>
            <a:endParaRPr sz="1600" dirty="0">
              <a:solidFill>
                <a:schemeClr val="tx1"/>
              </a:solidFill>
              <a:latin typeface="Arial" panose="020B0604020202020204" pitchFamily="34" charset="0"/>
            </a:endParaRPr>
          </a:p>
          <a:p>
            <a:pPr marL="111125" indent="-111125">
              <a:buChar char="•"/>
            </a:pPr>
            <a:r>
              <a:rPr sz="1600" dirty="0">
                <a:solidFill>
                  <a:schemeClr val="tx1"/>
                </a:solidFill>
                <a:latin typeface="Arial" panose="020B0604020202020204" pitchFamily="34" charset="0"/>
              </a:rPr>
              <a:t>Optimized for general purpose computing</a:t>
            </a:r>
            <a:endParaRPr sz="1600" dirty="0">
              <a:solidFill>
                <a:schemeClr val="tx1"/>
              </a:solidFill>
              <a:latin typeface="Arial" panose="020B0604020202020204" pitchFamily="34" charset="0"/>
            </a:endParaRPr>
          </a:p>
          <a:p>
            <a:pPr marL="111125" indent="-111125">
              <a:buChar char="•"/>
            </a:pPr>
            <a:r>
              <a:rPr sz="1600" dirty="0">
                <a:solidFill>
                  <a:schemeClr val="tx1"/>
                </a:solidFill>
                <a:latin typeface="Arial" panose="020B0604020202020204" pitchFamily="34" charset="0"/>
              </a:rPr>
              <a:t>Similar to a laptop or pc</a:t>
            </a:r>
            <a:endParaRPr sz="1600" dirty="0">
              <a:solidFill>
                <a:schemeClr val="tx1"/>
              </a:solidFill>
              <a:latin typeface="Arial" panose="020B0604020202020204" pitchFamily="34" charset="0"/>
            </a:endParaRPr>
          </a:p>
        </p:txBody>
      </p:sp>
      <p:sp>
        <p:nvSpPr>
          <p:cNvPr id="17454" name="Text Box 55"/>
          <p:cNvSpPr txBox="1"/>
          <p:nvPr/>
        </p:nvSpPr>
        <p:spPr>
          <a:xfrm>
            <a:off x="946150" y="4987925"/>
            <a:ext cx="2589213" cy="366713"/>
          </a:xfrm>
          <a:prstGeom prst="rect">
            <a:avLst/>
          </a:prstGeom>
          <a:noFill/>
          <a:ln w="9525">
            <a:noFill/>
          </a:ln>
        </p:spPr>
        <p:txBody>
          <a:bodyPr>
            <a:spAutoFit/>
          </a:bodyPr>
          <a:p>
            <a:pPr algn="ctr"/>
            <a:r>
              <a:rPr dirty="0">
                <a:solidFill>
                  <a:schemeClr val="tx1"/>
                </a:solidFill>
                <a:latin typeface="Arial" panose="020B0604020202020204" pitchFamily="34" charset="0"/>
              </a:rPr>
              <a:t>Architecture</a:t>
            </a:r>
            <a:endParaRPr dirty="0">
              <a:solidFill>
                <a:schemeClr val="tx1"/>
              </a:solidFill>
              <a:latin typeface="Arial" panose="020B0604020202020204" pitchFamily="34" charset="0"/>
            </a:endParaRPr>
          </a:p>
        </p:txBody>
      </p:sp>
      <p:grpSp>
        <p:nvGrpSpPr>
          <p:cNvPr id="17455" name="Group 56"/>
          <p:cNvGrpSpPr/>
          <p:nvPr/>
        </p:nvGrpSpPr>
        <p:grpSpPr>
          <a:xfrm>
            <a:off x="1143000" y="1676400"/>
            <a:ext cx="574675" cy="214313"/>
            <a:chOff x="1244" y="2758"/>
            <a:chExt cx="362" cy="135"/>
          </a:xfrm>
        </p:grpSpPr>
        <p:sp>
          <p:nvSpPr>
            <p:cNvPr id="17495" name="Rectangle 57"/>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96" name="Text Box 58"/>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56" name="Group 59"/>
          <p:cNvGrpSpPr/>
          <p:nvPr/>
        </p:nvGrpSpPr>
        <p:grpSpPr>
          <a:xfrm>
            <a:off x="1025525" y="1766888"/>
            <a:ext cx="574675" cy="214312"/>
            <a:chOff x="1244" y="2758"/>
            <a:chExt cx="362" cy="135"/>
          </a:xfrm>
        </p:grpSpPr>
        <p:sp>
          <p:nvSpPr>
            <p:cNvPr id="17493" name="Rectangle 60"/>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94" name="Text Box 61"/>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57" name="Group 71"/>
          <p:cNvGrpSpPr/>
          <p:nvPr/>
        </p:nvGrpSpPr>
        <p:grpSpPr>
          <a:xfrm>
            <a:off x="3463925" y="1600200"/>
            <a:ext cx="574675" cy="214313"/>
            <a:chOff x="1244" y="2758"/>
            <a:chExt cx="362" cy="135"/>
          </a:xfrm>
        </p:grpSpPr>
        <p:sp>
          <p:nvSpPr>
            <p:cNvPr id="17491" name="Rectangle 72"/>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92" name="Text Box 73"/>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58" name="Group 74"/>
          <p:cNvGrpSpPr/>
          <p:nvPr/>
        </p:nvGrpSpPr>
        <p:grpSpPr>
          <a:xfrm>
            <a:off x="3387725" y="1676400"/>
            <a:ext cx="574675" cy="214313"/>
            <a:chOff x="1244" y="2758"/>
            <a:chExt cx="362" cy="135"/>
          </a:xfrm>
        </p:grpSpPr>
        <p:sp>
          <p:nvSpPr>
            <p:cNvPr id="17489" name="Rectangle 75"/>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90" name="Text Box 76"/>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59" name="Group 77"/>
          <p:cNvGrpSpPr/>
          <p:nvPr/>
        </p:nvGrpSpPr>
        <p:grpSpPr>
          <a:xfrm>
            <a:off x="3311525" y="1766888"/>
            <a:ext cx="574675" cy="214312"/>
            <a:chOff x="1244" y="2758"/>
            <a:chExt cx="362" cy="135"/>
          </a:xfrm>
        </p:grpSpPr>
        <p:sp>
          <p:nvSpPr>
            <p:cNvPr id="17487" name="Rectangle 78"/>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88" name="Text Box 79"/>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0" name="Group 80"/>
          <p:cNvGrpSpPr/>
          <p:nvPr/>
        </p:nvGrpSpPr>
        <p:grpSpPr>
          <a:xfrm>
            <a:off x="949325" y="4648200"/>
            <a:ext cx="574675" cy="214313"/>
            <a:chOff x="1244" y="2758"/>
            <a:chExt cx="362" cy="135"/>
          </a:xfrm>
        </p:grpSpPr>
        <p:sp>
          <p:nvSpPr>
            <p:cNvPr id="17485" name="Rectangle 81"/>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86" name="Text Box 82"/>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1" name="Group 83"/>
          <p:cNvGrpSpPr/>
          <p:nvPr/>
        </p:nvGrpSpPr>
        <p:grpSpPr>
          <a:xfrm>
            <a:off x="1025525" y="4586288"/>
            <a:ext cx="574675" cy="214312"/>
            <a:chOff x="1244" y="2758"/>
            <a:chExt cx="362" cy="135"/>
          </a:xfrm>
        </p:grpSpPr>
        <p:sp>
          <p:nvSpPr>
            <p:cNvPr id="17483" name="Rectangle 84"/>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84" name="Text Box 85"/>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2" name="Group 86"/>
          <p:cNvGrpSpPr/>
          <p:nvPr/>
        </p:nvGrpSpPr>
        <p:grpSpPr>
          <a:xfrm>
            <a:off x="1101725" y="4510088"/>
            <a:ext cx="574675" cy="214312"/>
            <a:chOff x="1244" y="2758"/>
            <a:chExt cx="362" cy="135"/>
          </a:xfrm>
        </p:grpSpPr>
        <p:sp>
          <p:nvSpPr>
            <p:cNvPr id="17481" name="Rectangle 87"/>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82" name="Text Box 88"/>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3" name="Group 98"/>
          <p:cNvGrpSpPr/>
          <p:nvPr/>
        </p:nvGrpSpPr>
        <p:grpSpPr>
          <a:xfrm>
            <a:off x="2971800" y="4648200"/>
            <a:ext cx="574675" cy="214313"/>
            <a:chOff x="1244" y="2758"/>
            <a:chExt cx="362" cy="135"/>
          </a:xfrm>
        </p:grpSpPr>
        <p:sp>
          <p:nvSpPr>
            <p:cNvPr id="17479" name="Rectangle 99"/>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80" name="Text Box 100"/>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4" name="Group 101"/>
          <p:cNvGrpSpPr/>
          <p:nvPr/>
        </p:nvGrpSpPr>
        <p:grpSpPr>
          <a:xfrm>
            <a:off x="3048000" y="4586288"/>
            <a:ext cx="574675" cy="214312"/>
            <a:chOff x="1244" y="2758"/>
            <a:chExt cx="362" cy="135"/>
          </a:xfrm>
        </p:grpSpPr>
        <p:sp>
          <p:nvSpPr>
            <p:cNvPr id="17477" name="Rectangle 102"/>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78" name="Text Box 103"/>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5" name="Group 104"/>
          <p:cNvGrpSpPr/>
          <p:nvPr/>
        </p:nvGrpSpPr>
        <p:grpSpPr>
          <a:xfrm>
            <a:off x="3124200" y="4510088"/>
            <a:ext cx="574675" cy="214312"/>
            <a:chOff x="1244" y="2758"/>
            <a:chExt cx="362" cy="135"/>
          </a:xfrm>
        </p:grpSpPr>
        <p:sp>
          <p:nvSpPr>
            <p:cNvPr id="17475" name="Rectangle 105"/>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76" name="Text Box 106"/>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6" name="Group 107"/>
          <p:cNvGrpSpPr/>
          <p:nvPr/>
        </p:nvGrpSpPr>
        <p:grpSpPr>
          <a:xfrm>
            <a:off x="4953000" y="3290888"/>
            <a:ext cx="574675" cy="214312"/>
            <a:chOff x="1244" y="2758"/>
            <a:chExt cx="362" cy="135"/>
          </a:xfrm>
        </p:grpSpPr>
        <p:sp>
          <p:nvSpPr>
            <p:cNvPr id="17473" name="Rectangle 108"/>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74" name="Text Box 109"/>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7" name="Group 110"/>
          <p:cNvGrpSpPr/>
          <p:nvPr/>
        </p:nvGrpSpPr>
        <p:grpSpPr>
          <a:xfrm>
            <a:off x="5029200" y="3200400"/>
            <a:ext cx="574675" cy="214313"/>
            <a:chOff x="1244" y="2758"/>
            <a:chExt cx="362" cy="135"/>
          </a:xfrm>
        </p:grpSpPr>
        <p:sp>
          <p:nvSpPr>
            <p:cNvPr id="17471" name="Rectangle 111"/>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72" name="Text Box 112"/>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grpSp>
        <p:nvGrpSpPr>
          <p:cNvPr id="17468" name="Group 113"/>
          <p:cNvGrpSpPr/>
          <p:nvPr/>
        </p:nvGrpSpPr>
        <p:grpSpPr>
          <a:xfrm>
            <a:off x="5105400" y="3124200"/>
            <a:ext cx="574675" cy="214313"/>
            <a:chOff x="1244" y="2758"/>
            <a:chExt cx="362" cy="135"/>
          </a:xfrm>
        </p:grpSpPr>
        <p:sp>
          <p:nvSpPr>
            <p:cNvPr id="17469" name="Rectangle 114"/>
            <p:cNvSpPr/>
            <p:nvPr/>
          </p:nvSpPr>
          <p:spPr>
            <a:xfrm>
              <a:off x="1261" y="2768"/>
              <a:ext cx="310" cy="12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17470" name="Text Box 115"/>
            <p:cNvSpPr txBox="1"/>
            <p:nvPr/>
          </p:nvSpPr>
          <p:spPr>
            <a:xfrm>
              <a:off x="1244" y="2758"/>
              <a:ext cx="362" cy="135"/>
            </a:xfrm>
            <a:prstGeom prst="rect">
              <a:avLst/>
            </a:prstGeom>
            <a:noFill/>
            <a:ln w="9525">
              <a:noFill/>
            </a:ln>
          </p:spPr>
          <p:txBody>
            <a:bodyPr wrap="none">
              <a:spAutoFit/>
            </a:bodyPr>
            <a:p>
              <a:r>
                <a:rPr sz="800" b="1" dirty="0">
                  <a:solidFill>
                    <a:schemeClr val="tx1"/>
                  </a:solidFill>
                  <a:latin typeface="Arial" panose="020B0604020202020204" pitchFamily="34" charset="0"/>
                </a:rPr>
                <a:t>Memory</a:t>
              </a:r>
              <a:endParaRPr sz="800" b="1" dirty="0">
                <a:solidFill>
                  <a:schemeClr val="tx1"/>
                </a:solidFill>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74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74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74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274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409" grpId="0" animBg="1"/>
      <p:bldP spid="527410" grpId="0" animBg="1"/>
      <p:bldP spid="527411" grpId="0" animBg="1"/>
      <p:bldP spid="5274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xfrm>
            <a:off x="465138" y="107950"/>
            <a:ext cx="6719887" cy="669925"/>
          </a:xfrm>
          <a:ln/>
        </p:spPr>
        <p:txBody>
          <a:bodyPr vert="horz" wrap="square" lIns="91440" tIns="0" rIns="91440" bIns="0" anchor="ctr" anchorCtr="0">
            <a:spAutoFit/>
          </a:bodyPr>
          <a:p>
            <a:pPr eaLnBrk="1" hangingPunct="1"/>
            <a:r>
              <a:rPr dirty="0">
                <a:solidFill>
                  <a:schemeClr val="tx1"/>
                </a:solidFill>
              </a:rPr>
              <a:t>FPGA vs. CPU based Architectures</a:t>
            </a:r>
            <a:br>
              <a:rPr dirty="0">
                <a:solidFill>
                  <a:schemeClr val="tx1"/>
                </a:solidFill>
              </a:rPr>
            </a:br>
            <a:r>
              <a:rPr sz="2000" b="0" dirty="0">
                <a:solidFill>
                  <a:schemeClr val="tx1"/>
                </a:solidFill>
              </a:rPr>
              <a:t>Parallelized vs. Serialized Processing</a:t>
            </a:r>
            <a:endParaRPr sz="2000" b="0" dirty="0">
              <a:solidFill>
                <a:schemeClr val="tx1"/>
              </a:solidFill>
            </a:endParaRPr>
          </a:p>
        </p:txBody>
      </p:sp>
      <p:sp>
        <p:nvSpPr>
          <p:cNvPr id="19458" name="Rectangle 3"/>
          <p:cNvSpPr>
            <a:spLocks noGrp="1"/>
          </p:cNvSpPr>
          <p:nvPr>
            <p:ph sz="half" idx="1"/>
          </p:nvPr>
        </p:nvSpPr>
        <p:spPr>
          <a:xfrm>
            <a:off x="388938" y="4819650"/>
            <a:ext cx="3636962" cy="1639888"/>
          </a:xfrm>
          <a:ln/>
        </p:spPr>
        <p:txBody>
          <a:bodyPr vert="horz" wrap="square" lIns="91440" tIns="45720" rIns="91440" bIns="45720" anchor="t" anchorCtr="0"/>
          <a:p>
            <a:pPr marL="111125" indent="-111125" eaLnBrk="1" hangingPunct="1">
              <a:lnSpc>
                <a:spcPct val="85000"/>
              </a:lnSpc>
              <a:buClrTx/>
              <a:buSzTx/>
              <a:buFontTx/>
              <a:buNone/>
              <a:tabLst>
                <a:tab pos="-635" algn="l"/>
              </a:tabLst>
            </a:pPr>
            <a:r>
              <a:rPr kumimoji="1" sz="1600" b="1" dirty="0">
                <a:solidFill>
                  <a:schemeClr val="tx1"/>
                </a:solidFill>
                <a:latin typeface="+mn-lt"/>
                <a:ea typeface="MS PGothic" charset="0"/>
                <a:cs typeface="MS PGothic" charset="0"/>
              </a:rPr>
              <a:t>Serialized Processing</a:t>
            </a:r>
            <a:endParaRPr kumimoji="1" sz="1600" b="1" dirty="0">
              <a:solidFill>
                <a:schemeClr val="tx1"/>
              </a:solidFill>
              <a:latin typeface="+mn-lt"/>
              <a:ea typeface="MS PGothic" charset="0"/>
              <a:cs typeface="MS PGothic" charset="0"/>
            </a:endParaRPr>
          </a:p>
          <a:p>
            <a:pPr marL="111125" indent="-111125" eaLnBrk="1" hangingPunct="1">
              <a:lnSpc>
                <a:spcPct val="85000"/>
              </a:lnSpc>
              <a:buClrTx/>
              <a:buSzTx/>
              <a:buFontTx/>
              <a:tabLst>
                <a:tab pos="-635" algn="l"/>
              </a:tabLst>
            </a:pPr>
            <a:r>
              <a:rPr kumimoji="1" sz="1600" dirty="0">
                <a:solidFill>
                  <a:schemeClr val="tx1"/>
                </a:solidFill>
                <a:latin typeface="+mn-lt"/>
                <a:ea typeface="MS PGothic" charset="0"/>
                <a:cs typeface="MS PGothic" charset="0"/>
              </a:rPr>
              <a:t>Shared processor</a:t>
            </a:r>
            <a:endParaRPr kumimoji="1" sz="1600" dirty="0">
              <a:solidFill>
                <a:schemeClr val="tx1"/>
              </a:solidFill>
              <a:latin typeface="+mn-lt"/>
              <a:ea typeface="MS PGothic" charset="0"/>
              <a:cs typeface="MS PGothic" charset="0"/>
            </a:endParaRPr>
          </a:p>
          <a:p>
            <a:pPr marL="111125" indent="-111125" eaLnBrk="1" hangingPunct="1">
              <a:lnSpc>
                <a:spcPct val="85000"/>
              </a:lnSpc>
              <a:buClrTx/>
              <a:buSzTx/>
              <a:buFontTx/>
              <a:tabLst>
                <a:tab pos="-635" algn="l"/>
              </a:tabLst>
            </a:pPr>
            <a:r>
              <a:rPr kumimoji="1" sz="1600" dirty="0">
                <a:solidFill>
                  <a:schemeClr val="tx1"/>
                </a:solidFill>
                <a:latin typeface="+mn-lt"/>
                <a:ea typeface="MS PGothic" charset="0"/>
                <a:cs typeface="MS PGothic" charset="0"/>
              </a:rPr>
              <a:t>Shared memory</a:t>
            </a:r>
            <a:endParaRPr kumimoji="1" sz="1600" dirty="0">
              <a:solidFill>
                <a:schemeClr val="tx1"/>
              </a:solidFill>
              <a:latin typeface="+mn-lt"/>
              <a:ea typeface="MS PGothic" charset="0"/>
              <a:cs typeface="MS PGothic" charset="0"/>
            </a:endParaRPr>
          </a:p>
          <a:p>
            <a:pPr marL="111125" indent="-111125" eaLnBrk="1" hangingPunct="1">
              <a:lnSpc>
                <a:spcPct val="85000"/>
              </a:lnSpc>
              <a:buClrTx/>
              <a:buSzTx/>
              <a:buFontTx/>
              <a:tabLst>
                <a:tab pos="-635" algn="l"/>
              </a:tabLst>
            </a:pPr>
            <a:r>
              <a:rPr kumimoji="1" sz="1600" dirty="0">
                <a:solidFill>
                  <a:schemeClr val="tx1"/>
                </a:solidFill>
                <a:latin typeface="+mn-lt"/>
                <a:ea typeface="MS PGothic" charset="0"/>
                <a:cs typeface="MS PGothic" charset="0"/>
              </a:rPr>
              <a:t>Single tasks per clock cycle</a:t>
            </a:r>
            <a:endParaRPr kumimoji="1" sz="1600" dirty="0">
              <a:solidFill>
                <a:schemeClr val="tx1"/>
              </a:solidFill>
              <a:latin typeface="+mn-lt"/>
              <a:ea typeface="MS PGothic" charset="0"/>
              <a:cs typeface="MS PGothic" charset="0"/>
            </a:endParaRPr>
          </a:p>
          <a:p>
            <a:pPr marL="111125" indent="-111125" eaLnBrk="1" hangingPunct="1">
              <a:lnSpc>
                <a:spcPct val="85000"/>
              </a:lnSpc>
              <a:buClrTx/>
              <a:buSzTx/>
              <a:buFontTx/>
              <a:tabLst>
                <a:tab pos="-635" algn="l"/>
              </a:tabLst>
            </a:pPr>
            <a:r>
              <a:rPr kumimoji="1" sz="1600" dirty="0">
                <a:solidFill>
                  <a:schemeClr val="tx1"/>
                </a:solidFill>
                <a:latin typeface="+mn-lt"/>
                <a:ea typeface="MS PGothic" charset="0"/>
                <a:cs typeface="MS PGothic" charset="0"/>
              </a:rPr>
              <a:t>Shared buses</a:t>
            </a:r>
            <a:endParaRPr kumimoji="1" sz="1600" dirty="0">
              <a:solidFill>
                <a:schemeClr val="tx1"/>
              </a:solidFill>
              <a:latin typeface="+mn-lt"/>
              <a:ea typeface="MS PGothic" charset="0"/>
              <a:cs typeface="MS PGothic" charset="0"/>
            </a:endParaRPr>
          </a:p>
        </p:txBody>
      </p:sp>
      <p:sp>
        <p:nvSpPr>
          <p:cNvPr id="19459" name="Rectangle 4"/>
          <p:cNvSpPr>
            <a:spLocks noGrp="1"/>
          </p:cNvSpPr>
          <p:nvPr>
            <p:ph sz="half" idx="2"/>
          </p:nvPr>
        </p:nvSpPr>
        <p:spPr>
          <a:xfrm>
            <a:off x="6477000" y="1320800"/>
            <a:ext cx="2667000" cy="3098800"/>
          </a:xfrm>
          <a:ln/>
        </p:spPr>
        <p:txBody>
          <a:bodyPr vert="horz" wrap="square" lIns="91440" tIns="45720" rIns="91440" bIns="45720" anchor="t" anchorCtr="0"/>
          <a:p>
            <a:pPr marL="111125" indent="-111125" eaLnBrk="1" hangingPunct="1">
              <a:buClrTx/>
              <a:buSzTx/>
              <a:buFontTx/>
              <a:buNone/>
              <a:tabLst>
                <a:tab pos="-635" algn="l"/>
              </a:tabLst>
            </a:pPr>
            <a:r>
              <a:rPr kumimoji="1" sz="1600" b="1" dirty="0">
                <a:solidFill>
                  <a:schemeClr val="tx1"/>
                </a:solidFill>
                <a:latin typeface="+mn-lt"/>
                <a:ea typeface="MS PGothic" charset="0"/>
                <a:cs typeface="MS PGothic" charset="0"/>
              </a:rPr>
              <a:t>Parallelized Processing</a:t>
            </a:r>
            <a:endParaRPr kumimoji="1" sz="1600" b="1" dirty="0">
              <a:solidFill>
                <a:schemeClr val="tx1"/>
              </a:solidFill>
              <a:latin typeface="+mn-lt"/>
              <a:ea typeface="MS PGothic" charset="0"/>
              <a:cs typeface="MS PGothic" charset="0"/>
            </a:endParaRPr>
          </a:p>
          <a:p>
            <a:pPr marL="111125" indent="-111125" eaLnBrk="1" hangingPunct="1">
              <a:buClrTx/>
              <a:buSzTx/>
              <a:buFontTx/>
              <a:tabLst>
                <a:tab pos="-635" algn="l"/>
              </a:tabLst>
            </a:pPr>
            <a:r>
              <a:rPr kumimoji="1" sz="1600" dirty="0">
                <a:solidFill>
                  <a:schemeClr val="tx1"/>
                </a:solidFill>
                <a:latin typeface="+mn-lt"/>
                <a:ea typeface="MS PGothic" charset="0"/>
                <a:cs typeface="MS PGothic" charset="0"/>
              </a:rPr>
              <a:t>Distributed processing for specific tasks</a:t>
            </a:r>
            <a:endParaRPr kumimoji="1" sz="1600" dirty="0">
              <a:solidFill>
                <a:schemeClr val="tx1"/>
              </a:solidFill>
              <a:latin typeface="+mn-lt"/>
              <a:ea typeface="MS PGothic" charset="0"/>
              <a:cs typeface="MS PGothic" charset="0"/>
            </a:endParaRPr>
          </a:p>
          <a:p>
            <a:pPr marL="111125" indent="-111125" eaLnBrk="1" hangingPunct="1">
              <a:buClrTx/>
              <a:buSzTx/>
              <a:buFontTx/>
              <a:tabLst>
                <a:tab pos="-635" algn="l"/>
              </a:tabLst>
            </a:pPr>
            <a:r>
              <a:rPr kumimoji="1" sz="1600" dirty="0">
                <a:solidFill>
                  <a:schemeClr val="tx1"/>
                </a:solidFill>
                <a:latin typeface="+mn-lt"/>
                <a:ea typeface="MS PGothic" charset="0"/>
                <a:cs typeface="MS PGothic" charset="0"/>
              </a:rPr>
              <a:t>Multiple Tasks per clock cycle</a:t>
            </a:r>
            <a:endParaRPr kumimoji="1" sz="1600" dirty="0">
              <a:solidFill>
                <a:schemeClr val="tx1"/>
              </a:solidFill>
              <a:latin typeface="+mn-lt"/>
              <a:ea typeface="MS PGothic" charset="0"/>
              <a:cs typeface="MS PGothic" charset="0"/>
            </a:endParaRPr>
          </a:p>
          <a:p>
            <a:pPr marL="111125" indent="-111125" eaLnBrk="1" hangingPunct="1">
              <a:buClrTx/>
              <a:buSzTx/>
              <a:buFontTx/>
              <a:tabLst>
                <a:tab pos="-635" algn="l"/>
              </a:tabLst>
            </a:pPr>
            <a:r>
              <a:rPr kumimoji="1" sz="1600" dirty="0">
                <a:solidFill>
                  <a:schemeClr val="tx1"/>
                </a:solidFill>
                <a:latin typeface="+mn-lt"/>
                <a:ea typeface="MS PGothic" charset="0"/>
                <a:cs typeface="MS PGothic" charset="0"/>
              </a:rPr>
              <a:t>Distributed memory</a:t>
            </a:r>
            <a:endParaRPr kumimoji="1" sz="1600" dirty="0">
              <a:solidFill>
                <a:schemeClr val="tx1"/>
              </a:solidFill>
              <a:latin typeface="+mn-lt"/>
              <a:ea typeface="MS PGothic" charset="0"/>
              <a:cs typeface="MS PGothic" charset="0"/>
            </a:endParaRPr>
          </a:p>
          <a:p>
            <a:pPr marL="111125" indent="-111125" eaLnBrk="1" hangingPunct="1">
              <a:buClrTx/>
              <a:buSzTx/>
              <a:buFontTx/>
              <a:tabLst>
                <a:tab pos="-635" algn="l"/>
              </a:tabLst>
            </a:pPr>
            <a:r>
              <a:rPr kumimoji="1" sz="1600" dirty="0">
                <a:solidFill>
                  <a:schemeClr val="tx1"/>
                </a:solidFill>
                <a:latin typeface="+mn-lt"/>
                <a:ea typeface="MS PGothic" charset="0"/>
                <a:cs typeface="MS PGothic" charset="0"/>
              </a:rPr>
              <a:t>No shared buses</a:t>
            </a:r>
            <a:endParaRPr kumimoji="1" sz="1600" dirty="0">
              <a:solidFill>
                <a:schemeClr val="tx1"/>
              </a:solidFill>
              <a:latin typeface="+mn-lt"/>
              <a:ea typeface="MS PGothic" charset="0"/>
              <a:cs typeface="MS PGothic" charset="0"/>
            </a:endParaRPr>
          </a:p>
          <a:p>
            <a:pPr marL="111125" indent="-111125" eaLnBrk="1" hangingPunct="1">
              <a:buClrTx/>
              <a:buSzTx/>
              <a:buFontTx/>
              <a:tabLst>
                <a:tab pos="-635" algn="l"/>
              </a:tabLst>
            </a:pPr>
            <a:endParaRPr kumimoji="1" sz="1600" dirty="0">
              <a:solidFill>
                <a:schemeClr val="tx1"/>
              </a:solidFill>
              <a:latin typeface="+mn-lt"/>
              <a:ea typeface="MS PGothic" charset="0"/>
              <a:cs typeface="MS PGothic" charset="0"/>
            </a:endParaRPr>
          </a:p>
        </p:txBody>
      </p:sp>
      <p:pic>
        <p:nvPicPr>
          <p:cNvPr id="19460" name="Picture 5"/>
          <p:cNvPicPr>
            <a:picLocks noChangeAspect="1"/>
          </p:cNvPicPr>
          <p:nvPr/>
        </p:nvPicPr>
        <p:blipFill>
          <a:blip r:embed="rId1"/>
          <a:stretch>
            <a:fillRect/>
          </a:stretch>
        </p:blipFill>
        <p:spPr>
          <a:xfrm>
            <a:off x="369888" y="1398588"/>
            <a:ext cx="6021387" cy="3214687"/>
          </a:xfrm>
          <a:prstGeom prst="rect">
            <a:avLst/>
          </a:prstGeom>
          <a:solidFill>
            <a:srgbClr val="EAEAEA"/>
          </a:solidFill>
          <a:ln w="9525" cap="flat" cmpd="sng">
            <a:solidFill>
              <a:srgbClr val="EAEAEA"/>
            </a:solidFill>
            <a:prstDash val="solid"/>
            <a:miter/>
            <a:headEnd type="none" w="med" len="med"/>
            <a:tailEnd type="none" w="med" len="med"/>
          </a:ln>
        </p:spPr>
      </p:pic>
      <p:grpSp>
        <p:nvGrpSpPr>
          <p:cNvPr id="19461" name="Group 6"/>
          <p:cNvGrpSpPr/>
          <p:nvPr/>
        </p:nvGrpSpPr>
        <p:grpSpPr>
          <a:xfrm>
            <a:off x="4021138" y="4826000"/>
            <a:ext cx="4929187" cy="1622425"/>
            <a:chOff x="1139" y="993"/>
            <a:chExt cx="3105" cy="1022"/>
          </a:xfrm>
        </p:grpSpPr>
        <p:pic>
          <p:nvPicPr>
            <p:cNvPr id="19484" name="Picture 7"/>
            <p:cNvPicPr>
              <a:picLocks noChangeAspect="1"/>
            </p:cNvPicPr>
            <p:nvPr/>
          </p:nvPicPr>
          <p:blipFill>
            <a:blip r:embed="rId2"/>
            <a:stretch>
              <a:fillRect/>
            </a:stretch>
          </p:blipFill>
          <p:spPr>
            <a:xfrm>
              <a:off x="1139" y="993"/>
              <a:ext cx="3105" cy="1022"/>
            </a:xfrm>
            <a:prstGeom prst="rect">
              <a:avLst/>
            </a:prstGeom>
            <a:solidFill>
              <a:srgbClr val="EAEAEA"/>
            </a:solidFill>
            <a:ln w="9525" cap="flat" cmpd="sng">
              <a:solidFill>
                <a:srgbClr val="EAEAEA"/>
              </a:solidFill>
              <a:prstDash val="solid"/>
              <a:miter/>
              <a:headEnd type="none" w="med" len="med"/>
              <a:tailEnd type="none" w="med" len="med"/>
            </a:ln>
          </p:spPr>
        </p:pic>
        <p:sp>
          <p:nvSpPr>
            <p:cNvPr id="19485" name="Rectangle 8"/>
            <p:cNvSpPr/>
            <p:nvPr/>
          </p:nvSpPr>
          <p:spPr>
            <a:xfrm>
              <a:off x="1761" y="1426"/>
              <a:ext cx="2470" cy="54"/>
            </a:xfrm>
            <a:prstGeom prst="rect">
              <a:avLst/>
            </a:prstGeom>
            <a:solidFill>
              <a:srgbClr val="EAEAEA"/>
            </a:solidFill>
            <a:ln w="9525">
              <a:noFill/>
            </a:ln>
          </p:spPr>
          <p:txBody>
            <a:bodyPr wrap="none" anchor="ctr" anchorCtr="0"/>
            <a:p>
              <a:pPr>
                <a:spcBef>
                  <a:spcPct val="20000"/>
                </a:spcBef>
                <a:buChar char="•"/>
              </a:pPr>
              <a:endParaRPr dirty="0">
                <a:latin typeface="Arial" panose="020B0604020202020204" pitchFamily="34" charset="0"/>
              </a:endParaRPr>
            </a:p>
          </p:txBody>
        </p:sp>
      </p:grpSp>
      <p:sp>
        <p:nvSpPr>
          <p:cNvPr id="529417" name="Oval 9"/>
          <p:cNvSpPr/>
          <p:nvPr/>
        </p:nvSpPr>
        <p:spPr>
          <a:xfrm>
            <a:off x="2587625" y="166370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18" name="Oval 10"/>
          <p:cNvSpPr/>
          <p:nvPr/>
        </p:nvSpPr>
        <p:spPr>
          <a:xfrm>
            <a:off x="2590800" y="1785938"/>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19" name="Oval 11"/>
          <p:cNvSpPr/>
          <p:nvPr/>
        </p:nvSpPr>
        <p:spPr>
          <a:xfrm>
            <a:off x="2590800" y="190500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0" name="Oval 12"/>
          <p:cNvSpPr/>
          <p:nvPr/>
        </p:nvSpPr>
        <p:spPr>
          <a:xfrm>
            <a:off x="2590800" y="203835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1" name="Oval 13"/>
          <p:cNvSpPr/>
          <p:nvPr/>
        </p:nvSpPr>
        <p:spPr>
          <a:xfrm>
            <a:off x="2590800" y="2166938"/>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2" name="Oval 14"/>
          <p:cNvSpPr/>
          <p:nvPr/>
        </p:nvSpPr>
        <p:spPr>
          <a:xfrm>
            <a:off x="2587625" y="2424113"/>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3" name="Oval 15"/>
          <p:cNvSpPr/>
          <p:nvPr/>
        </p:nvSpPr>
        <p:spPr>
          <a:xfrm>
            <a:off x="2590800" y="254635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4" name="Oval 16"/>
          <p:cNvSpPr/>
          <p:nvPr/>
        </p:nvSpPr>
        <p:spPr>
          <a:xfrm>
            <a:off x="2590800" y="2665413"/>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5" name="Oval 17"/>
          <p:cNvSpPr/>
          <p:nvPr/>
        </p:nvSpPr>
        <p:spPr>
          <a:xfrm>
            <a:off x="2590800" y="2798763"/>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6" name="Oval 18"/>
          <p:cNvSpPr/>
          <p:nvPr/>
        </p:nvSpPr>
        <p:spPr>
          <a:xfrm>
            <a:off x="2590800" y="292735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7" name="Oval 19"/>
          <p:cNvSpPr/>
          <p:nvPr/>
        </p:nvSpPr>
        <p:spPr>
          <a:xfrm>
            <a:off x="2590800" y="320040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8" name="Oval 20"/>
          <p:cNvSpPr/>
          <p:nvPr/>
        </p:nvSpPr>
        <p:spPr>
          <a:xfrm>
            <a:off x="2593975" y="3322638"/>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29" name="Oval 21"/>
          <p:cNvSpPr/>
          <p:nvPr/>
        </p:nvSpPr>
        <p:spPr>
          <a:xfrm>
            <a:off x="2593975" y="344170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30" name="Oval 22"/>
          <p:cNvSpPr/>
          <p:nvPr/>
        </p:nvSpPr>
        <p:spPr>
          <a:xfrm>
            <a:off x="2593975" y="357505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31" name="Oval 23"/>
          <p:cNvSpPr/>
          <p:nvPr/>
        </p:nvSpPr>
        <p:spPr>
          <a:xfrm>
            <a:off x="2593975" y="3703638"/>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32" name="Oval 24"/>
          <p:cNvSpPr/>
          <p:nvPr/>
        </p:nvSpPr>
        <p:spPr>
          <a:xfrm>
            <a:off x="2590800" y="396240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33" name="Oval 25"/>
          <p:cNvSpPr/>
          <p:nvPr/>
        </p:nvSpPr>
        <p:spPr>
          <a:xfrm>
            <a:off x="2593975" y="4084638"/>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34" name="Oval 26"/>
          <p:cNvSpPr/>
          <p:nvPr/>
        </p:nvSpPr>
        <p:spPr>
          <a:xfrm>
            <a:off x="2593975" y="420370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35" name="Oval 27"/>
          <p:cNvSpPr/>
          <p:nvPr/>
        </p:nvSpPr>
        <p:spPr>
          <a:xfrm>
            <a:off x="2593975" y="4337050"/>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36" name="Oval 28"/>
          <p:cNvSpPr/>
          <p:nvPr/>
        </p:nvSpPr>
        <p:spPr>
          <a:xfrm>
            <a:off x="2593975" y="4465638"/>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529437" name="Oval 29"/>
          <p:cNvSpPr/>
          <p:nvPr/>
        </p:nvSpPr>
        <p:spPr>
          <a:xfrm>
            <a:off x="5005388" y="5643563"/>
            <a:ext cx="76200" cy="76200"/>
          </a:xfrm>
          <a:prstGeom prst="ellipse">
            <a:avLst/>
          </a:prstGeom>
          <a:solidFill>
            <a:srgbClr val="FF0000"/>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pic>
        <p:nvPicPr>
          <p:cNvPr id="19483" name="Picture 30" descr="Altera-FPGA"/>
          <p:cNvPicPr>
            <a:picLocks noChangeAspect="1"/>
          </p:cNvPicPr>
          <p:nvPr/>
        </p:nvPicPr>
        <p:blipFill>
          <a:blip r:embed="rId3"/>
          <a:stretch>
            <a:fillRect/>
          </a:stretch>
        </p:blipFill>
        <p:spPr>
          <a:xfrm>
            <a:off x="6629400" y="3352800"/>
            <a:ext cx="1779588" cy="120808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repeatCount="indefinite" accel="50000" decel="50000" fill="remove" grpId="0" nodeType="clickEffect">
                                  <p:stCondLst>
                                    <p:cond delay="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6" dur="2000" fill="hold"/>
                                        <p:tgtEl>
                                          <p:spTgt spid="529417"/>
                                        </p:tgtEl>
                                        <p:attrNameLst>
                                          <p:attrName>ppt_x</p:attrName>
                                          <p:attrName>ppt_y</p:attrName>
                                        </p:attrNameLst>
                                      </p:cBhvr>
                                      <p:rCtr x="15600" y="1000"/>
                                    </p:animMotion>
                                  </p:childTnLst>
                                </p:cTn>
                              </p:par>
                              <p:par>
                                <p:cTn id="7" presetID="0" presetClass="path" presetSubtype="0" repeatCount="indefinite" accel="50000" decel="50000" fill="remove" grpId="0" nodeType="withEffect">
                                  <p:stCondLst>
                                    <p:cond delay="1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8" dur="2000" fill="hold"/>
                                        <p:tgtEl>
                                          <p:spTgt spid="529418"/>
                                        </p:tgtEl>
                                        <p:attrNameLst>
                                          <p:attrName>ppt_x</p:attrName>
                                          <p:attrName>ppt_y</p:attrName>
                                        </p:attrNameLst>
                                      </p:cBhvr>
                                      <p:rCtr x="15600" y="1000"/>
                                    </p:animMotion>
                                  </p:childTnLst>
                                </p:cTn>
                              </p:par>
                              <p:par>
                                <p:cTn id="9" presetID="0" presetClass="path" presetSubtype="0" repeatCount="indefinite" accel="50000" decel="50000" fill="remove" grpId="0" nodeType="withEffect">
                                  <p:stCondLst>
                                    <p:cond delay="2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10" dur="2000" fill="hold"/>
                                        <p:tgtEl>
                                          <p:spTgt spid="529419"/>
                                        </p:tgtEl>
                                        <p:attrNameLst>
                                          <p:attrName>ppt_x</p:attrName>
                                          <p:attrName>ppt_y</p:attrName>
                                        </p:attrNameLst>
                                      </p:cBhvr>
                                      <p:rCtr x="15600" y="1000"/>
                                    </p:animMotion>
                                  </p:childTnLst>
                                </p:cTn>
                              </p:par>
                              <p:par>
                                <p:cTn id="11" presetID="0" presetClass="path" presetSubtype="0" repeatCount="indefinite" accel="50000" decel="50000" fill="remove" grpId="0" nodeType="withEffect">
                                  <p:stCondLst>
                                    <p:cond delay="3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12" dur="2000" fill="hold"/>
                                        <p:tgtEl>
                                          <p:spTgt spid="529420"/>
                                        </p:tgtEl>
                                        <p:attrNameLst>
                                          <p:attrName>ppt_x</p:attrName>
                                          <p:attrName>ppt_y</p:attrName>
                                        </p:attrNameLst>
                                      </p:cBhvr>
                                      <p:rCtr x="15600" y="1000"/>
                                    </p:animMotion>
                                  </p:childTnLst>
                                </p:cTn>
                              </p:par>
                              <p:par>
                                <p:cTn id="13" presetID="0" presetClass="path" presetSubtype="0" repeatCount="indefinite" accel="50000" decel="50000" fill="remove" grpId="0" nodeType="withEffect">
                                  <p:stCondLst>
                                    <p:cond delay="4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14" dur="2000" fill="hold"/>
                                        <p:tgtEl>
                                          <p:spTgt spid="529421"/>
                                        </p:tgtEl>
                                        <p:attrNameLst>
                                          <p:attrName>ppt_x</p:attrName>
                                          <p:attrName>ppt_y</p:attrName>
                                        </p:attrNameLst>
                                      </p:cBhvr>
                                      <p:rCtr x="15600" y="1000"/>
                                    </p:animMotion>
                                  </p:childTnLst>
                                </p:cTn>
                              </p:par>
                              <p:par>
                                <p:cTn id="15" presetID="0" presetClass="path" presetSubtype="0" repeatCount="indefinite" accel="50000" decel="50000" fill="remove" grpId="0" nodeType="withEffect">
                                  <p:stCondLst>
                                    <p:cond delay="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16" dur="2000" fill="hold"/>
                                        <p:tgtEl>
                                          <p:spTgt spid="529422"/>
                                        </p:tgtEl>
                                        <p:attrNameLst>
                                          <p:attrName>ppt_x</p:attrName>
                                          <p:attrName>ppt_y</p:attrName>
                                        </p:attrNameLst>
                                      </p:cBhvr>
                                      <p:rCtr x="15600" y="1000"/>
                                    </p:animMotion>
                                  </p:childTnLst>
                                </p:cTn>
                              </p:par>
                              <p:par>
                                <p:cTn id="17" presetID="0" presetClass="path" presetSubtype="0" repeatCount="indefinite" accel="50000" decel="50000" fill="remove" grpId="0" nodeType="withEffect">
                                  <p:stCondLst>
                                    <p:cond delay="1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18" dur="2000" fill="hold"/>
                                        <p:tgtEl>
                                          <p:spTgt spid="529423"/>
                                        </p:tgtEl>
                                        <p:attrNameLst>
                                          <p:attrName>ppt_x</p:attrName>
                                          <p:attrName>ppt_y</p:attrName>
                                        </p:attrNameLst>
                                      </p:cBhvr>
                                      <p:rCtr x="15600" y="1000"/>
                                    </p:animMotion>
                                  </p:childTnLst>
                                </p:cTn>
                              </p:par>
                              <p:par>
                                <p:cTn id="19" presetID="0" presetClass="path" presetSubtype="0" repeatCount="indefinite" accel="50000" decel="50000" fill="remove" grpId="0" nodeType="withEffect">
                                  <p:stCondLst>
                                    <p:cond delay="2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20" dur="2000" fill="hold"/>
                                        <p:tgtEl>
                                          <p:spTgt spid="529424"/>
                                        </p:tgtEl>
                                        <p:attrNameLst>
                                          <p:attrName>ppt_x</p:attrName>
                                          <p:attrName>ppt_y</p:attrName>
                                        </p:attrNameLst>
                                      </p:cBhvr>
                                      <p:rCtr x="15600" y="1000"/>
                                    </p:animMotion>
                                  </p:childTnLst>
                                </p:cTn>
                              </p:par>
                              <p:par>
                                <p:cTn id="21" presetID="0" presetClass="path" presetSubtype="0" repeatCount="indefinite" accel="50000" decel="50000" fill="remove" grpId="0" nodeType="withEffect">
                                  <p:stCondLst>
                                    <p:cond delay="3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22" dur="2000" fill="hold"/>
                                        <p:tgtEl>
                                          <p:spTgt spid="529425"/>
                                        </p:tgtEl>
                                        <p:attrNameLst>
                                          <p:attrName>ppt_x</p:attrName>
                                          <p:attrName>ppt_y</p:attrName>
                                        </p:attrNameLst>
                                      </p:cBhvr>
                                      <p:rCtr x="15600" y="1000"/>
                                    </p:animMotion>
                                  </p:childTnLst>
                                </p:cTn>
                              </p:par>
                              <p:par>
                                <p:cTn id="23" presetID="0" presetClass="path" presetSubtype="0" repeatCount="indefinite" accel="50000" decel="50000" fill="remove" grpId="0" nodeType="withEffect">
                                  <p:stCondLst>
                                    <p:cond delay="4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24" dur="2000" fill="hold"/>
                                        <p:tgtEl>
                                          <p:spTgt spid="529426"/>
                                        </p:tgtEl>
                                        <p:attrNameLst>
                                          <p:attrName>ppt_x</p:attrName>
                                          <p:attrName>ppt_y</p:attrName>
                                        </p:attrNameLst>
                                      </p:cBhvr>
                                      <p:rCtr x="15600" y="1000"/>
                                    </p:animMotion>
                                  </p:childTnLst>
                                </p:cTn>
                              </p:par>
                              <p:par>
                                <p:cTn id="25" presetID="0" presetClass="path" presetSubtype="0" repeatCount="indefinite" accel="50000" decel="50000" fill="remove" grpId="0" nodeType="withEffect">
                                  <p:stCondLst>
                                    <p:cond delay="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26" dur="2000" fill="hold"/>
                                        <p:tgtEl>
                                          <p:spTgt spid="529427"/>
                                        </p:tgtEl>
                                        <p:attrNameLst>
                                          <p:attrName>ppt_x</p:attrName>
                                          <p:attrName>ppt_y</p:attrName>
                                        </p:attrNameLst>
                                      </p:cBhvr>
                                      <p:rCtr x="15600" y="1000"/>
                                    </p:animMotion>
                                  </p:childTnLst>
                                </p:cTn>
                              </p:par>
                              <p:par>
                                <p:cTn id="27" presetID="0" presetClass="path" presetSubtype="0" repeatCount="indefinite" accel="50000" decel="50000" fill="remove" grpId="0" nodeType="withEffect">
                                  <p:stCondLst>
                                    <p:cond delay="1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28" dur="2000" fill="hold"/>
                                        <p:tgtEl>
                                          <p:spTgt spid="529428"/>
                                        </p:tgtEl>
                                        <p:attrNameLst>
                                          <p:attrName>ppt_x</p:attrName>
                                          <p:attrName>ppt_y</p:attrName>
                                        </p:attrNameLst>
                                      </p:cBhvr>
                                      <p:rCtr x="15600" y="1000"/>
                                    </p:animMotion>
                                  </p:childTnLst>
                                </p:cTn>
                              </p:par>
                              <p:par>
                                <p:cTn id="29" presetID="0" presetClass="path" presetSubtype="0" repeatCount="indefinite" accel="50000" decel="50000" fill="remove" grpId="0" nodeType="withEffect">
                                  <p:stCondLst>
                                    <p:cond delay="2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30" dur="2000" fill="hold"/>
                                        <p:tgtEl>
                                          <p:spTgt spid="529429"/>
                                        </p:tgtEl>
                                        <p:attrNameLst>
                                          <p:attrName>ppt_x</p:attrName>
                                          <p:attrName>ppt_y</p:attrName>
                                        </p:attrNameLst>
                                      </p:cBhvr>
                                      <p:rCtr x="15600" y="1000"/>
                                    </p:animMotion>
                                  </p:childTnLst>
                                </p:cTn>
                              </p:par>
                              <p:par>
                                <p:cTn id="31" presetID="0" presetClass="path" presetSubtype="0" repeatCount="indefinite" accel="50000" decel="50000" fill="remove" grpId="0" nodeType="withEffect">
                                  <p:stCondLst>
                                    <p:cond delay="3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32" dur="2000" fill="hold"/>
                                        <p:tgtEl>
                                          <p:spTgt spid="529430"/>
                                        </p:tgtEl>
                                        <p:attrNameLst>
                                          <p:attrName>ppt_x</p:attrName>
                                          <p:attrName>ppt_y</p:attrName>
                                        </p:attrNameLst>
                                      </p:cBhvr>
                                      <p:rCtr x="15600" y="1000"/>
                                    </p:animMotion>
                                  </p:childTnLst>
                                </p:cTn>
                              </p:par>
                              <p:par>
                                <p:cTn id="33" presetID="0" presetClass="path" presetSubtype="0" repeatCount="indefinite" accel="50000" decel="50000" fill="remove" grpId="0" nodeType="withEffect">
                                  <p:stCondLst>
                                    <p:cond delay="4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34" dur="2000" fill="hold"/>
                                        <p:tgtEl>
                                          <p:spTgt spid="529431"/>
                                        </p:tgtEl>
                                        <p:attrNameLst>
                                          <p:attrName>ppt_x</p:attrName>
                                          <p:attrName>ppt_y</p:attrName>
                                        </p:attrNameLst>
                                      </p:cBhvr>
                                      <p:rCtr x="15600" y="1000"/>
                                    </p:animMotion>
                                  </p:childTnLst>
                                </p:cTn>
                              </p:par>
                              <p:par>
                                <p:cTn id="35" presetID="0" presetClass="path" presetSubtype="0" repeatCount="indefinite" accel="50000" decel="50000" fill="remove" grpId="0" nodeType="withEffect">
                                  <p:stCondLst>
                                    <p:cond delay="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36" dur="2000" fill="hold"/>
                                        <p:tgtEl>
                                          <p:spTgt spid="529432"/>
                                        </p:tgtEl>
                                        <p:attrNameLst>
                                          <p:attrName>ppt_x</p:attrName>
                                          <p:attrName>ppt_y</p:attrName>
                                        </p:attrNameLst>
                                      </p:cBhvr>
                                      <p:rCtr x="15600" y="1000"/>
                                    </p:animMotion>
                                  </p:childTnLst>
                                </p:cTn>
                              </p:par>
                              <p:par>
                                <p:cTn id="37" presetID="0" presetClass="path" presetSubtype="0" repeatCount="indefinite" accel="50000" decel="50000" fill="remove" grpId="0" nodeType="withEffect">
                                  <p:stCondLst>
                                    <p:cond delay="1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38" dur="2000" fill="hold"/>
                                        <p:tgtEl>
                                          <p:spTgt spid="529433"/>
                                        </p:tgtEl>
                                        <p:attrNameLst>
                                          <p:attrName>ppt_x</p:attrName>
                                          <p:attrName>ppt_y</p:attrName>
                                        </p:attrNameLst>
                                      </p:cBhvr>
                                      <p:rCtr x="15600" y="1000"/>
                                    </p:animMotion>
                                  </p:childTnLst>
                                </p:cTn>
                              </p:par>
                              <p:par>
                                <p:cTn id="39" presetID="0" presetClass="path" presetSubtype="0" repeatCount="indefinite" accel="50000" decel="50000" fill="remove" grpId="0" nodeType="withEffect">
                                  <p:stCondLst>
                                    <p:cond delay="2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40" dur="2000" fill="hold"/>
                                        <p:tgtEl>
                                          <p:spTgt spid="529434"/>
                                        </p:tgtEl>
                                        <p:attrNameLst>
                                          <p:attrName>ppt_x</p:attrName>
                                          <p:attrName>ppt_y</p:attrName>
                                        </p:attrNameLst>
                                      </p:cBhvr>
                                      <p:rCtr x="15600" y="1000"/>
                                    </p:animMotion>
                                  </p:childTnLst>
                                </p:cTn>
                              </p:par>
                              <p:par>
                                <p:cTn id="41" presetID="0" presetClass="path" presetSubtype="0" repeatCount="indefinite" accel="50000" decel="50000" fill="remove" grpId="0" nodeType="withEffect">
                                  <p:stCondLst>
                                    <p:cond delay="3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42" dur="2000" fill="hold"/>
                                        <p:tgtEl>
                                          <p:spTgt spid="529435"/>
                                        </p:tgtEl>
                                        <p:attrNameLst>
                                          <p:attrName>ppt_x</p:attrName>
                                          <p:attrName>ppt_y</p:attrName>
                                        </p:attrNameLst>
                                      </p:cBhvr>
                                      <p:rCtr x="15600" y="1000"/>
                                    </p:animMotion>
                                  </p:childTnLst>
                                </p:cTn>
                              </p:par>
                              <p:par>
                                <p:cTn id="43" presetID="0" presetClass="path" presetSubtype="0" repeatCount="indefinite" accel="50000" decel="50000" fill="remove" grpId="0" nodeType="withEffect">
                                  <p:stCondLst>
                                    <p:cond delay="400"/>
                                  </p:stCondLst>
                                  <p:childTnLst>
                                    <p:animMotion origin="layout" path="M -2.77778E-6 -0.00834 C 0.00486 -0.00741 0.00764 -0.00625 0.01146 -0.00139 C 0.01042 0.00579 0.01337 0.00324 0.01667 0.00254 C 0.01823 -0.01227 0.01875 -0.00834 0.02709 -0.00741 C 0.02813 0.00486 0.02969 0.00162 0.03698 0.00069 C 0.0382 -0.00903 0.04011 -0.00741 0.04532 -0.00625 C 0.04427 0.00555 0.04827 0.00023 0.05469 -0.00139 C 0.05677 -0.01482 0.06042 -0.0081 0.06615 -0.00533 C 0.06511 0.00393 0.06788 0.00162 0.0724 0.00069 C 0.07396 -0.00972 0.07309 -0.01227 0.08282 -0.00533 C 0.08386 -0.00463 0.08264 -0.00116 0.08334 0.00069 C 0.08368 0.00162 0.08473 0.00116 0.08542 0.00162 C 0.0875 0.00092 0.09011 0.00254 0.09167 -0.00046 C 0.09653 -0.00972 0.08976 -0.0044 0.09427 -0.00741 C 0.09653 -0.00695 0.09896 -0.0081 0.10104 -0.00625 C 0.10174 -0.00579 0.09896 -0.0044 0.09948 -0.00347 C 0.10018 -0.00209 0.10122 -0.00394 0.10209 -0.0044 C 0.10538 0.00486 0.10295 0.00185 0.11042 0.00069 C 0.1092 -0.00834 0.10799 -0.00625 0.11094 -0.00834 C 0.11302 -0.0081 0.11511 -0.0081 0.11719 -0.00741 C 0.11927 -0.00671 0.12136 -0.00533 0.12344 -0.0044 C 0.12413 -0.00394 0.12552 -0.00347 0.12552 -0.00301 C 0.12657 0.00254 0.13038 0.00116 0.12813 -0.00533 C 0.13195 -0.01273 0.1316 -0.01366 0.14115 -0.00625 C 0.14236 -0.00533 0.14098 -0.00139 0.14167 0.00069 C 0.14202 0.00162 0.14306 0.00116 0.14375 0.00162 C 0.14445 0.00116 0.14549 0.00162 0.14584 0.00069 C 0.14653 -0.00139 0.14514 -0.00579 0.14636 -0.00625 C 0.14983 -0.00834 0.15365 -0.00579 0.15729 -0.00533 C 0.15799 1.85185E-6 0.15799 0.00231 0.16094 0.00347 C 0.16667 0.00185 0.16354 0.00092 0.16511 -0.00834 C 0.16441 -0.00857 0.16337 -0.0081 0.16302 -0.00926 C 0.16285 -0.01042 0.16407 -0.01042 0.16459 -0.01042 C 0.16771 -0.01042 0.17084 -0.00972 0.17396 -0.00926 C 0.17466 0.00625 0.17431 0.00393 0.18177 0.00254 C 0.18316 -0.0132 0.18177 -0.00741 0.19479 -0.00625 C 0.19601 -0.00139 0.19688 0.00023 0.19948 0.00254 C 0.2007 0.00185 0.20226 0.00254 0.20313 0.00069 C 0.20417 -0.00162 0.20278 -0.00695 0.20417 -0.00834 C 0.20625 -0.01042 0.20868 -0.00764 0.21094 -0.00741 C 0.21129 -0.00695 0.21476 -0.00394 0.21459 -0.00232 C 0.21441 -0.00116 0.2132 -0.00162 0.2125 -0.00139 C 0.20782 0.00116 0.21424 -0.0007 0.21823 -0.00139 C 0.21719 -0.00996 0.21007 -0.00533 0.22084 -0.00741 C 0.22396 -0.00695 0.22726 -0.00834 0.23021 -0.00625 C 0.23195 -0.00533 0.23143 0.00069 0.23282 0.00254 C 0.2349 0.00555 0.23768 0.00532 0.24011 0.00648 C 0.2408 0.00116 0.24028 -0.0007 0.23907 -0.00533 C 0.24028 -0.01204 0.24375 -0.00903 0.24688 -0.00834 C 0.24723 -0.0007 0.24653 0.00463 0.25052 0.00648 C 0.25295 0.00579 0.25677 0.00787 0.25782 0.00347 C 0.26233 -0.01389 0.25608 -0.00463 0.26042 -0.01042 C 0.26407 -0.00972 0.26841 -0.01273 0.27136 -0.00834 C 0.27309 -0.00602 0.27032 0.00347 0.27032 0.00393 C 0.27309 0.00532 0.27483 0.00393 0.27709 0.00069 C 0.27726 -0.00209 0.27622 -0.00625 0.27761 -0.00741 C 0.28073 -0.00926 0.28438 -0.0081 0.2875 -0.00625 C 0.28837 -0.00602 0.28611 -0.0044 0.28542 -0.00347 C 0.28559 0.00116 0.28403 0.00787 0.28594 0.01041 C 0.29219 0.01921 0.29375 0.01018 0.29532 0.00463 C 0.29566 0.00069 0.29462 -0.00509 0.29636 -0.00741 C 0.29809 -0.00972 0.3007 -0.00695 0.30261 -0.00533 C 0.30382 -0.0044 0.30348 0.00023 0.30469 0.00162 C 0.30695 0.00463 0.31025 0.00254 0.31302 0.00254 " pathEditMode="relative" rAng="0" ptsTypes="fffffffffffffffffffffffffffffffffffffffffffffffffffffffffffffffA">
                                      <p:cBhvr>
                                        <p:cTn id="44" dur="2000" fill="hold"/>
                                        <p:tgtEl>
                                          <p:spTgt spid="529436"/>
                                        </p:tgtEl>
                                        <p:attrNameLst>
                                          <p:attrName>ppt_x</p:attrName>
                                          <p:attrName>ppt_y</p:attrName>
                                        </p:attrNameLst>
                                      </p:cBhvr>
                                      <p:rCtr x="15600" y="1000"/>
                                    </p:animMotion>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0" nodeType="clickEffect">
                                  <p:stCondLst>
                                    <p:cond delay="0"/>
                                  </p:stCondLst>
                                  <p:childTnLst>
                                    <p:animMotion origin="layout" path="M 6.38889E-6 -4.882E-6 C 0.00244 -0.00671 0.00157 -0.00647 0.00799 -0.00532 C 0.00886 -0.00069 0.00903 0.00139 0.01268 0.00278 C 0.01476 0.00209 0.01719 0.00278 0.01876 0.00093 C 0.01997 -0.00046 0.01858 -0.00462 0.02015 -0.00532 C 0.02292 -0.00647 0.02587 -0.00416 0.02883 -0.00347 C 0.02935 -0.00046 0.029 0.0007 0.03143 0.00185 C 0.03317 0.00278 0.03681 0.00371 0.03681 0.00371 C 0.0382 -0.00185 0.0349 -4.882E-6 0.03751 -0.00532 C 0.04063 -0.00509 0.04393 -0.00578 0.04688 -0.00439 C 0.04879 -0.0037 0.04758 0.00116 0.04896 0.00278 C 0.04931 0.00324 0.054 0.0044 0.05435 0.0044 C 0.06216 0.00278 0.05296 0.00625 0.05834 -0.00624 C 0.05903 -0.00786 0.06233 -0.00717 0.06233 -0.00717 " pathEditMode="relative" ptsTypes="fffffffffffffA">
                                      <p:cBhvr>
                                        <p:cTn id="48" dur="2000" fill="hold"/>
                                        <p:tgtEl>
                                          <p:spTgt spid="529437"/>
                                        </p:tgtEl>
                                        <p:attrNameLst>
                                          <p:attrName>ppt_x</p:attrName>
                                          <p:attrName>ppt_y</p:attrName>
                                        </p:attrNameLst>
                                      </p:cBhvr>
                                    </p:animMotion>
                                  </p:childTnLst>
                                </p:cTn>
                              </p:par>
                              <p:par>
                                <p:cTn id="49" presetID="0" presetClass="path" presetSubtype="0" accel="50000" decel="50000" fill="hold" grpId="1" nodeType="withEffect">
                                  <p:stCondLst>
                                    <p:cond delay="1800"/>
                                  </p:stCondLst>
                                  <p:childTnLst>
                                    <p:animMotion origin="layout" path="M 0.06233 -0.00694 C 0.06406 -0.00671 0.06615 -0.00717 0.06771 -0.00602 C 0.06875 -0.00532 0.06823 -0.00278 0.0691 -0.00162 C 0.06997 -0.00046 0.07135 -0.00046 0.0724 0.00023 C 0.07396 -0.00093 0.07552 -0.00208 0.07708 -0.00324 C 0.07795 -0.00394 0.07708 -0.00602 0.07778 -0.00694 C 0.07847 -0.00787 0.07951 -0.00764 0.08038 -0.00787 C 0.09063 -0.00602 0.08195 -0.00579 0.08924 -0.00162 C 0.09688 -0.00278 0.09427 -0.00301 0.09861 -0.00879 C 0.10087 -0.00856 0.1033 -0.00926 0.10521 -0.00787 C 0.10625 -0.00717 0.10573 -0.0044 0.1066 -0.00324 C 0.10747 -0.00208 0.10903 -0.00232 0.11007 -0.00162 " pathEditMode="relative" ptsTypes="fffffffffffA">
                                      <p:cBhvr>
                                        <p:cTn id="50" dur="2000" fill="hold"/>
                                        <p:tgtEl>
                                          <p:spTgt spid="529437"/>
                                        </p:tgtEl>
                                        <p:attrNameLst>
                                          <p:attrName>ppt_x</p:attrName>
                                          <p:attrName>ppt_y</p:attrName>
                                        </p:attrNameLst>
                                      </p:cBhvr>
                                    </p:animMotion>
                                  </p:childTnLst>
                                </p:cTn>
                              </p:par>
                              <p:par>
                                <p:cTn id="51" presetID="0" presetClass="path" presetSubtype="0" accel="50000" decel="50000" fill="hold" grpId="2" nodeType="withEffect">
                                  <p:stCondLst>
                                    <p:cond delay="3700"/>
                                  </p:stCondLst>
                                  <p:childTnLst>
                                    <p:animMotion origin="layout" path="M 0.11008 -0.00162 C 0.11928 -0.00278 0.11476 -0.00278 0.11667 -0.01319 C 0.1198 -0.01249 0.1231 -0.01273 0.12605 -0.01134 C 0.12761 -0.01064 0.12726 -0.00486 0.13074 -0.00231 C 0.13212 -0.00301 0.13421 -0.00255 0.1349 -0.00417 C 0.13803 -0.01226 0.129 -0.00787 0.13612 -0.01041 C 0.13837 -0.00972 0.14098 -0.01041 0.14289 -0.00856 C 0.14393 -0.0074 0.14237 -0.00393 0.14358 -0.00324 C 0.14601 -0.00208 0.14896 -0.00393 0.15157 -0.00417 C 0.15487 -0.01249 0.15383 -0.00879 0.15504 -0.01504 C 0.15834 -0.01481 0.16251 -0.01689 0.16511 -0.01411 C 0.16667 -0.01249 0.16233 -0.00694 0.16233 -0.00694 C 0.16077 0.00116 0.16685 -0.00231 0.17101 -0.00324 C 0.17136 -0.00625 0.17136 -0.01041 0.17379 -0.01226 C 0.17535 -0.01342 0.17917 -0.01411 0.17917 -0.01411 C 0.18143 -0.00949 0.18004 -0.00555 0.18455 -0.00417 C 0.18994 -0.00509 0.19185 -0.00602 0.19185 -0.01411 " pathEditMode="relative" ptsTypes="ffffffffffffffffA">
                                      <p:cBhvr>
                                        <p:cTn id="52" dur="2000" fill="hold"/>
                                        <p:tgtEl>
                                          <p:spTgt spid="529437"/>
                                        </p:tgtEl>
                                        <p:attrNameLst>
                                          <p:attrName>ppt_x</p:attrName>
                                          <p:attrName>ppt_y</p:attrName>
                                        </p:attrNameLst>
                                      </p:cBhvr>
                                    </p:animMotion>
                                  </p:childTnLst>
                                </p:cTn>
                              </p:par>
                              <p:par>
                                <p:cTn id="53" presetID="0" presetClass="path" presetSubtype="0" accel="50000" decel="50000" fill="hold" grpId="3" nodeType="withEffect">
                                  <p:stCondLst>
                                    <p:cond delay="6000"/>
                                  </p:stCondLst>
                                  <p:childTnLst>
                                    <p:animMotion origin="layout" path="M 0.19184 -0.01411 C 0.19323 -0.01365 0.19618 -0.01296 0.19723 -0.01134 C 0.19792 -0.01018 0.19757 -0.00763 0.19861 -0.00694 C 0.2007 -0.00555 0.20313 -0.00625 0.20539 -0.00602 C 0.20695 -0.01064 0.20608 -0.01273 0.21007 -0.01411 C 0.21181 -0.01388 0.21424 -0.01481 0.21546 -0.01319 C 0.21667 -0.01157 0.21546 -0.00833 0.21615 -0.00602 C 0.2165 -0.00509 0.21736 -0.00486 0.21806 -0.00416 C 0.22014 -0.00486 0.22257 -0.0044 0.22414 -0.00602 C 0.22518 -0.00717 0.22431 -0.00972 0.22483 -0.01134 C 0.22605 -0.01573 0.22674 -0.01504 0.22952 -0.01596 C 0.23039 -0.01573 0.23212 -0.01504 0.23212 -0.01504 " pathEditMode="relative" rAng="0" ptsTypes="fffffffffffA">
                                      <p:cBhvr>
                                        <p:cTn id="54" dur="2000" fill="hold"/>
                                        <p:tgtEl>
                                          <p:spTgt spid="529437"/>
                                        </p:tgtEl>
                                        <p:attrNameLst>
                                          <p:attrName>ppt_x</p:attrName>
                                          <p:attrName>ppt_y</p:attrName>
                                        </p:attrNameLst>
                                      </p:cBhvr>
                                      <p:rCtr x="0" y="0"/>
                                    </p:animMotion>
                                  </p:childTnLst>
                                </p:cTn>
                              </p:par>
                              <p:par>
                                <p:cTn id="55" presetID="0" presetClass="path" presetSubtype="0" accel="50000" decel="50000" fill="hold" grpId="4" nodeType="withEffect">
                                  <p:stCondLst>
                                    <p:cond delay="8000"/>
                                  </p:stCondLst>
                                  <p:childTnLst>
                                    <p:animMotion origin="layout" path="M 0.23212 -0.01481 C 0.23368 -0.01458 0.23542 -0.01504 0.23681 -0.01388 C 0.23889 -0.01203 0.23646 -0.00648 0.23819 -0.00393 C 0.23906 -0.00255 0.2408 -0.00347 0.24219 -0.00324 C 0.25139 -0.00555 0.24757 -0.00463 0.24948 -0.01481 C 0.25174 -0.01458 0.25469 -0.01597 0.25625 -0.01388 C 0.26649 -0.00023 0.25104 -0.00694 0.25955 -0.00393 C 0.26198 -0.00417 0.2651 -0.00255 0.26701 -0.00486 C 0.2684 -0.00648 0.26597 -0.00972 0.26632 -0.01203 C 0.26684 -0.01527 0.27118 -0.01435 0.27361 -0.01481 C 0.27587 -0.00879 0.27274 -0.00393 0.27847 -0.00393 " pathEditMode="relative" ptsTypes="ffffffffffA">
                                      <p:cBhvr>
                                        <p:cTn id="56" dur="2000" fill="hold"/>
                                        <p:tgtEl>
                                          <p:spTgt spid="529437"/>
                                        </p:tgtEl>
                                        <p:attrNameLst>
                                          <p:attrName>ppt_x</p:attrName>
                                          <p:attrName>ppt_y</p:attrName>
                                        </p:attrNameLst>
                                      </p:cBhvr>
                                    </p:animMotion>
                                  </p:childTnLst>
                                </p:cTn>
                              </p:par>
                              <p:par>
                                <p:cTn id="57" presetID="0" presetClass="path" presetSubtype="0" accel="50000" decel="50000" fill="hold" grpId="5" nodeType="withEffect">
                                  <p:stCondLst>
                                    <p:cond delay="10000"/>
                                  </p:stCondLst>
                                  <p:childTnLst>
                                    <p:animMotion origin="layout" path="M 0.27848 -0.00393 C 0.28681 -0.00462 0.28664 -0.00347 0.28994 -0.0118 C 0.28803 -0.01804 0.28594 -0.02105 0.29723 -0.0155 C 0.29758 -0.01527 0.29827 -0.00809 0.29862 -0.00555 C 0.30087 -0.00578 0.3033 -0.00532 0.30539 -0.00648 C 0.30626 -0.00694 0.30608 -0.00902 0.3066 -0.01018 C 0.30817 -0.01319 0.30886 -0.01272 0.31129 -0.01365 C 0.31303 -0.01295 0.31528 -0.01365 0.31667 -0.0118 C 0.31806 -0.00995 0.31806 -0.00462 0.31806 -0.00462 C 0.32067 -0.00486 0.32379 -0.0037 0.32605 -0.00555 C 0.32883 -0.00786 0.32171 -0.01457 0.32605 -0.01457 " pathEditMode="relative" ptsTypes="ffffffffffA">
                                      <p:cBhvr>
                                        <p:cTn id="58" dur="2000" fill="hold"/>
                                        <p:tgtEl>
                                          <p:spTgt spid="529437"/>
                                        </p:tgtEl>
                                        <p:attrNameLst>
                                          <p:attrName>ppt_x</p:attrName>
                                          <p:attrName>ppt_y</p:attrName>
                                        </p:attrNameLst>
                                      </p:cBhvr>
                                    </p:animMotion>
                                  </p:childTnLst>
                                </p:cTn>
                              </p:par>
                              <p:par>
                                <p:cTn id="59" presetID="0" presetClass="path" presetSubtype="0" accel="50000" decel="50000" fill="hold" grpId="6" nodeType="withEffect">
                                  <p:stCondLst>
                                    <p:cond delay="12000"/>
                                  </p:stCondLst>
                                  <p:childTnLst>
                                    <p:animMotion origin="layout" path="M 0.32605 -0.01457 C 0.33056 -0.01434 0.3356 -0.01666 0.33942 -0.01365 C 0.34167 -0.0118 0.33855 -0.00509 0.34081 -0.003 C 0.34324 -0.00069 0.34653 -0.0037 0.34949 -0.00393 C 0.34983 -0.00902 0.3481 -0.01666 0.35417 -0.01457 C 0.35504 -0.01434 0.35504 -0.01272 0.35556 -0.0118 C 0.3573 -0.00324 0.35695 -0.00462 0.36494 -0.00555 C 0.36667 -0.01828 0.3665 -0.0155 0.37709 -0.0155 " pathEditMode="relative" ptsTypes="fffffffA">
                                      <p:cBhvr>
                                        <p:cTn id="60" dur="2000" fill="hold"/>
                                        <p:tgtEl>
                                          <p:spTgt spid="529437"/>
                                        </p:tgtEl>
                                        <p:attrNameLst>
                                          <p:attrName>ppt_x</p:attrName>
                                          <p:attrName>ppt_y</p:attrName>
                                        </p:attrNameLst>
                                      </p:cBhvr>
                                    </p:animMotion>
                                  </p:childTnLst>
                                </p:cTn>
                              </p:par>
                              <p:par>
                                <p:cTn id="61" presetID="0" presetClass="path" presetSubtype="0" accel="50000" decel="50000" fill="hold" grpId="7" nodeType="withEffect">
                                  <p:stCondLst>
                                    <p:cond delay="14000"/>
                                  </p:stCondLst>
                                  <p:childTnLst>
                                    <p:animMotion origin="layout" path="M 0.37708 -0.01551 C 0.37951 -0.00903 0.3816 -0.01088 0.38715 -0.01181 C 0.38837 -0.02337 0.38698 -0.02106 0.39792 -0.0199 C 0.39965 -0.01019 0.39948 -0.00949 0.4066 -0.01088 C 0.40451 -0.02222 0.40885 -0.01967 0.41667 -0.01898 C 0.41788 -0.00995 0.41875 -0.01088 0.42604 -0.01088 " pathEditMode="relative" ptsTypes="fffffA">
                                      <p:cBhvr>
                                        <p:cTn id="62" dur="2000" fill="hold"/>
                                        <p:tgtEl>
                                          <p:spTgt spid="52943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7" grpId="0" animBg="1"/>
      <p:bldP spid="529418" grpId="0" animBg="1"/>
      <p:bldP spid="529419" grpId="0" animBg="1"/>
      <p:bldP spid="529420" grpId="0" animBg="1"/>
      <p:bldP spid="529421" grpId="0" animBg="1"/>
      <p:bldP spid="529422" grpId="0" animBg="1"/>
      <p:bldP spid="529423" grpId="0" animBg="1"/>
      <p:bldP spid="529424" grpId="0" animBg="1"/>
      <p:bldP spid="529425" grpId="0" animBg="1"/>
      <p:bldP spid="529426" grpId="0" animBg="1"/>
      <p:bldP spid="529427" grpId="0" animBg="1"/>
      <p:bldP spid="529428" grpId="0" animBg="1"/>
      <p:bldP spid="529429" grpId="0" animBg="1"/>
      <p:bldP spid="529430" grpId="0" animBg="1"/>
      <p:bldP spid="529431" grpId="0" animBg="1"/>
      <p:bldP spid="529432" grpId="0" animBg="1"/>
      <p:bldP spid="529433" grpId="0" animBg="1"/>
      <p:bldP spid="529434" grpId="0" animBg="1"/>
      <p:bldP spid="529435" grpId="0" animBg="1"/>
      <p:bldP spid="529436" grpId="0" animBg="1"/>
      <p:bldP spid="529437" grpId="0" animBg="1"/>
      <p:bldP spid="529437" grpId="1" animBg="1"/>
      <p:bldP spid="529437" grpId="2" animBg="1"/>
      <p:bldP spid="529437" grpId="3" animBg="1"/>
      <p:bldP spid="529437" grpId="4" animBg="1"/>
      <p:bldP spid="529437" grpId="5" animBg="1"/>
      <p:bldP spid="529437" grpId="6" animBg="1"/>
      <p:bldP spid="529437" grpId="7"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Technology</a:t>
            </a:r>
            <a:endParaRPr dirty="0">
              <a:solidFill>
                <a:schemeClr val="tx1"/>
              </a:solidFill>
            </a:endParaRPr>
          </a:p>
        </p:txBody>
      </p:sp>
      <p:pic>
        <p:nvPicPr>
          <p:cNvPr id="21506" name="Picture 4" descr="lady"/>
          <p:cNvPicPr>
            <a:picLocks noChangeAspect="1"/>
          </p:cNvPicPr>
          <p:nvPr/>
        </p:nvPicPr>
        <p:blipFill>
          <a:blip r:embed="rId1"/>
          <a:stretch>
            <a:fillRect/>
          </a:stretch>
        </p:blipFill>
        <p:spPr>
          <a:xfrm>
            <a:off x="6553200" y="2438400"/>
            <a:ext cx="2082800" cy="2209800"/>
          </a:xfrm>
          <a:prstGeom prst="rect">
            <a:avLst/>
          </a:prstGeom>
          <a:noFill/>
          <a:ln w="9525" cap="flat" cmpd="sng">
            <a:solidFill>
              <a:schemeClr val="tx1"/>
            </a:solidFill>
            <a:prstDash val="solid"/>
            <a:miter/>
            <a:headEnd type="none" w="med" len="med"/>
            <a:tailEnd type="none" w="med" len="med"/>
          </a:ln>
        </p:spPr>
      </p:pic>
      <p:sp>
        <p:nvSpPr>
          <p:cNvPr id="21507" name="Rectangle 5"/>
          <p:cNvSpPr>
            <a:spLocks noGrp="1"/>
          </p:cNvSpPr>
          <p:nvPr>
            <p:ph idx="1"/>
          </p:nvPr>
        </p:nvSpPr>
        <p:spPr>
          <a:xfrm>
            <a:off x="227013" y="1066800"/>
            <a:ext cx="6021387" cy="5486400"/>
          </a:xfrm>
          <a:ln/>
        </p:spPr>
        <p:txBody>
          <a:bodyPr vert="horz" wrap="square" lIns="91440" tIns="45720" rIns="91440" bIns="45720" anchor="t" anchorCtr="0"/>
          <a:p>
            <a:pPr eaLnBrk="1" hangingPunct="1">
              <a:lnSpc>
                <a:spcPct val="85000"/>
              </a:lnSpc>
            </a:pPr>
            <a:r>
              <a:rPr sz="1800" b="1" dirty="0">
                <a:solidFill>
                  <a:schemeClr val="tx1"/>
                </a:solidFill>
              </a:rPr>
              <a:t>Hardware (FPGA) accelerated SW (VHDL) implementation of all key server elements</a:t>
            </a:r>
            <a:endParaRPr sz="1800" b="1" dirty="0">
              <a:solidFill>
                <a:schemeClr val="tx1"/>
              </a:solidFill>
            </a:endParaRPr>
          </a:p>
          <a:p>
            <a:pPr lvl="1" eaLnBrk="1" hangingPunct="1">
              <a:lnSpc>
                <a:spcPct val="85000"/>
              </a:lnSpc>
              <a:buNone/>
            </a:pPr>
            <a:endParaRPr sz="900" dirty="0">
              <a:solidFill>
                <a:schemeClr val="tx1"/>
              </a:solidFill>
            </a:endParaRPr>
          </a:p>
          <a:p>
            <a:pPr lvl="1" eaLnBrk="1" hangingPunct="1">
              <a:lnSpc>
                <a:spcPct val="85000"/>
              </a:lnSpc>
            </a:pPr>
            <a:r>
              <a:rPr sz="1600" b="1" dirty="0">
                <a:solidFill>
                  <a:schemeClr val="tx1"/>
                </a:solidFill>
              </a:rPr>
              <a:t>Network access – TCP/IP</a:t>
            </a:r>
            <a:r>
              <a:rPr sz="1600" dirty="0">
                <a:solidFill>
                  <a:schemeClr val="tx1"/>
                </a:solidFill>
              </a:rPr>
              <a:t> </a:t>
            </a:r>
            <a:endParaRPr sz="1600" dirty="0">
              <a:solidFill>
                <a:schemeClr val="tx1"/>
              </a:solidFill>
            </a:endParaRPr>
          </a:p>
          <a:p>
            <a:pPr lvl="2" eaLnBrk="1" hangingPunct="1">
              <a:lnSpc>
                <a:spcPct val="85000"/>
              </a:lnSpc>
            </a:pPr>
            <a:r>
              <a:rPr sz="1600" dirty="0">
                <a:solidFill>
                  <a:schemeClr val="tx1"/>
                </a:solidFill>
              </a:rPr>
              <a:t>Core TCP/IP done via HW accelerated SW</a:t>
            </a:r>
            <a:endParaRPr sz="1600" dirty="0">
              <a:solidFill>
                <a:schemeClr val="tx1"/>
              </a:solidFill>
            </a:endParaRPr>
          </a:p>
          <a:p>
            <a:pPr lvl="2" eaLnBrk="1" hangingPunct="1">
              <a:lnSpc>
                <a:spcPct val="85000"/>
              </a:lnSpc>
            </a:pPr>
            <a:r>
              <a:rPr sz="1600" dirty="0">
                <a:solidFill>
                  <a:schemeClr val="tx1"/>
                </a:solidFill>
              </a:rPr>
              <a:t>Advanced congestion control algorithms</a:t>
            </a:r>
            <a:endParaRPr sz="1600" dirty="0">
              <a:solidFill>
                <a:schemeClr val="tx1"/>
              </a:solidFill>
            </a:endParaRPr>
          </a:p>
          <a:p>
            <a:pPr lvl="2" eaLnBrk="1" hangingPunct="1">
              <a:lnSpc>
                <a:spcPct val="85000"/>
              </a:lnSpc>
            </a:pPr>
            <a:r>
              <a:rPr sz="1600" dirty="0">
                <a:solidFill>
                  <a:schemeClr val="tx1"/>
                </a:solidFill>
              </a:rPr>
              <a:t>High-performance TCP extensions (e.g., PAWS, SACK)</a:t>
            </a:r>
            <a:endParaRPr sz="1600" dirty="0">
              <a:solidFill>
                <a:schemeClr val="tx1"/>
              </a:solidFill>
            </a:endParaRPr>
          </a:p>
          <a:p>
            <a:pPr lvl="2" eaLnBrk="1" hangingPunct="1">
              <a:lnSpc>
                <a:spcPct val="85000"/>
              </a:lnSpc>
            </a:pPr>
            <a:r>
              <a:rPr sz="1600" dirty="0">
                <a:solidFill>
                  <a:schemeClr val="tx1"/>
                </a:solidFill>
              </a:rPr>
              <a:t>Processor for management &amp; error handling</a:t>
            </a:r>
            <a:endParaRPr sz="600" dirty="0">
              <a:solidFill>
                <a:schemeClr val="tx1"/>
              </a:solidFill>
            </a:endParaRPr>
          </a:p>
          <a:p>
            <a:pPr lvl="2" eaLnBrk="1" hangingPunct="1">
              <a:lnSpc>
                <a:spcPct val="85000"/>
              </a:lnSpc>
            </a:pPr>
            <a:r>
              <a:rPr sz="1600" dirty="0">
                <a:solidFill>
                  <a:schemeClr val="tx1"/>
                </a:solidFill>
              </a:rPr>
              <a:t>High performance and highly scalable TCP/IP offload functions</a:t>
            </a:r>
            <a:endParaRPr sz="1600" dirty="0">
              <a:solidFill>
                <a:schemeClr val="tx1"/>
              </a:solidFill>
            </a:endParaRPr>
          </a:p>
          <a:p>
            <a:pPr lvl="1" eaLnBrk="1" hangingPunct="1">
              <a:lnSpc>
                <a:spcPct val="85000"/>
              </a:lnSpc>
            </a:pPr>
            <a:endParaRPr sz="500" b="1" dirty="0">
              <a:solidFill>
                <a:schemeClr val="tx1"/>
              </a:solidFill>
            </a:endParaRPr>
          </a:p>
          <a:p>
            <a:pPr lvl="1" eaLnBrk="1" hangingPunct="1">
              <a:lnSpc>
                <a:spcPct val="85000"/>
              </a:lnSpc>
            </a:pPr>
            <a:endParaRPr sz="1600" b="1" dirty="0">
              <a:solidFill>
                <a:schemeClr val="tx1"/>
              </a:solidFill>
            </a:endParaRPr>
          </a:p>
          <a:p>
            <a:pPr lvl="1" eaLnBrk="1" hangingPunct="1">
              <a:lnSpc>
                <a:spcPct val="85000"/>
              </a:lnSpc>
            </a:pPr>
            <a:r>
              <a:rPr sz="1600" b="1" dirty="0">
                <a:solidFill>
                  <a:schemeClr val="tx1"/>
                </a:solidFill>
              </a:rPr>
              <a:t>File access protocols (NFS/CIFS)</a:t>
            </a:r>
            <a:endParaRPr sz="1600" b="1" dirty="0">
              <a:solidFill>
                <a:schemeClr val="tx1"/>
              </a:solidFill>
            </a:endParaRPr>
          </a:p>
          <a:p>
            <a:pPr lvl="2" eaLnBrk="1" hangingPunct="1">
              <a:lnSpc>
                <a:spcPct val="85000"/>
              </a:lnSpc>
            </a:pPr>
            <a:r>
              <a:rPr sz="1600" dirty="0">
                <a:solidFill>
                  <a:schemeClr val="tx1"/>
                </a:solidFill>
              </a:rPr>
              <a:t>Implemented in VLSI (FPGA)</a:t>
            </a:r>
            <a:endParaRPr sz="1600" dirty="0">
              <a:solidFill>
                <a:schemeClr val="tx1"/>
              </a:solidFill>
            </a:endParaRPr>
          </a:p>
          <a:p>
            <a:pPr lvl="2" eaLnBrk="1" hangingPunct="1">
              <a:lnSpc>
                <a:spcPct val="85000"/>
              </a:lnSpc>
            </a:pPr>
            <a:r>
              <a:rPr sz="1600" dirty="0">
                <a:solidFill>
                  <a:schemeClr val="tx1"/>
                </a:solidFill>
              </a:rPr>
              <a:t>Massively parallel separation of functions </a:t>
            </a:r>
            <a:endParaRPr sz="1600" dirty="0">
              <a:solidFill>
                <a:schemeClr val="tx1"/>
              </a:solidFill>
            </a:endParaRPr>
          </a:p>
          <a:p>
            <a:pPr lvl="3" eaLnBrk="1" hangingPunct="1">
              <a:lnSpc>
                <a:spcPct val="85000"/>
              </a:lnSpc>
            </a:pPr>
            <a:r>
              <a:rPr dirty="0">
                <a:solidFill>
                  <a:schemeClr val="tx1"/>
                </a:solidFill>
              </a:rPr>
              <a:t>Dedicated processing and memory  </a:t>
            </a:r>
            <a:endParaRPr dirty="0">
              <a:solidFill>
                <a:schemeClr val="tx1"/>
              </a:solidFill>
            </a:endParaRPr>
          </a:p>
          <a:p>
            <a:pPr lvl="3" eaLnBrk="1" hangingPunct="1">
              <a:lnSpc>
                <a:spcPct val="85000"/>
              </a:lnSpc>
            </a:pPr>
            <a:r>
              <a:rPr dirty="0">
                <a:solidFill>
                  <a:schemeClr val="tx1"/>
                </a:solidFill>
              </a:rPr>
              <a:t>Data never leaves the data path</a:t>
            </a:r>
            <a:endParaRPr dirty="0">
              <a:solidFill>
                <a:schemeClr val="tx1"/>
              </a:solidFill>
            </a:endParaRPr>
          </a:p>
          <a:p>
            <a:pPr lvl="2" eaLnBrk="1" hangingPunct="1">
              <a:lnSpc>
                <a:spcPct val="85000"/>
              </a:lnSpc>
            </a:pPr>
            <a:r>
              <a:rPr sz="1600" dirty="0"/>
              <a:t>Auto-response (response packets generated w/o CPU involvement)</a:t>
            </a:r>
            <a:endParaRPr sz="1600" dirty="0"/>
          </a:p>
          <a:p>
            <a:pPr lvl="2" eaLnBrk="1" hangingPunct="1">
              <a:lnSpc>
                <a:spcPct val="85000"/>
              </a:lnSpc>
            </a:pPr>
            <a:r>
              <a:rPr sz="1600" dirty="0"/>
              <a:t>Auto-inquiry (request packets processed w/o CPU involvement)</a:t>
            </a:r>
            <a:endParaRPr sz="1600" dirty="0"/>
          </a:p>
          <a:p>
            <a:pPr lvl="2" eaLnBrk="1" hangingPunct="1">
              <a:lnSpc>
                <a:spcPct val="85000"/>
              </a:lnSpc>
            </a:pPr>
            <a:endParaRPr sz="1600" dirty="0"/>
          </a:p>
          <a:p>
            <a:pPr lvl="2" eaLnBrk="1" hangingPunct="1">
              <a:lnSpc>
                <a:spcPct val="85000"/>
              </a:lnSpc>
            </a:pPr>
            <a:endParaRPr dirty="0">
              <a:solidFill>
                <a:schemeClr val="tx1"/>
              </a:solidFill>
            </a:endParaRPr>
          </a:p>
          <a:p>
            <a:pPr eaLnBrk="1" hangingPunct="1"/>
            <a:endParaRPr sz="1800"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Technology</a:t>
            </a:r>
            <a:endParaRPr dirty="0">
              <a:solidFill>
                <a:schemeClr val="tx1"/>
              </a:solidFill>
            </a:endParaRPr>
          </a:p>
        </p:txBody>
      </p:sp>
      <p:sp>
        <p:nvSpPr>
          <p:cNvPr id="23554" name="Text Box 3"/>
          <p:cNvSpPr txBox="1"/>
          <p:nvPr/>
        </p:nvSpPr>
        <p:spPr>
          <a:xfrm>
            <a:off x="227013" y="1068388"/>
            <a:ext cx="5791200" cy="4479925"/>
          </a:xfrm>
          <a:prstGeom prst="rect">
            <a:avLst/>
          </a:prstGeom>
          <a:noFill/>
          <a:ln w="9525">
            <a:noFill/>
          </a:ln>
        </p:spPr>
        <p:txBody>
          <a:bodyPr>
            <a:spAutoFit/>
          </a:bodyPr>
          <a:p>
            <a:pPr marL="342900" indent="-342900">
              <a:spcBef>
                <a:spcPct val="50000"/>
              </a:spcBef>
              <a:buFont typeface="Arial" panose="020B0604020202020204" pitchFamily="34" charset="0"/>
              <a:buChar char="•"/>
            </a:pPr>
            <a:r>
              <a:rPr sz="1600" b="1" dirty="0">
                <a:solidFill>
                  <a:schemeClr val="tx1"/>
                </a:solidFill>
                <a:latin typeface="Arial" panose="020B0604020202020204" pitchFamily="34" charset="0"/>
              </a:rPr>
              <a:t>File System</a:t>
            </a:r>
            <a:endParaRPr sz="1600" b="1"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a:t>
            </a:r>
            <a:r>
              <a:rPr sz="1400" dirty="0">
                <a:solidFill>
                  <a:schemeClr val="tx1"/>
                </a:solidFill>
                <a:latin typeface="Helvetica" charset="0"/>
              </a:rPr>
              <a:t>Consistency and stable storage (checkpoints and NVRAM)</a:t>
            </a:r>
            <a:r>
              <a:rPr sz="1400" dirty="0">
                <a:solidFill>
                  <a:schemeClr val="tx1"/>
                </a:solidFill>
                <a:latin typeface="Arial" panose="020B0604020202020204" pitchFamily="34" charset="0"/>
              </a:rPr>
              <a:t> </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Core FS implemented in VHDL executing on FPGAs</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Files and directories and Snapshots</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Metadata caching and Free space allocation</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Redundant O-node implementation working on one side of 	the O-node while there is always a consistent state on 	the secondary side to avoid lengthy fscks.</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endParaRPr sz="700" dirty="0">
              <a:solidFill>
                <a:schemeClr val="tx1"/>
              </a:solidFill>
              <a:latin typeface="Arial" panose="020B0604020202020204" pitchFamily="34" charset="0"/>
            </a:endParaRPr>
          </a:p>
          <a:p>
            <a:pPr marL="342900" indent="-342900">
              <a:spcBef>
                <a:spcPct val="50000"/>
              </a:spcBef>
              <a:buFont typeface="Arial" panose="020B0604020202020204" pitchFamily="34" charset="0"/>
              <a:buChar char="•"/>
            </a:pPr>
            <a:r>
              <a:rPr sz="1600" b="1" dirty="0">
                <a:solidFill>
                  <a:schemeClr val="tx1"/>
                </a:solidFill>
                <a:latin typeface="Arial" panose="020B0604020202020204" pitchFamily="34" charset="0"/>
              </a:rPr>
              <a:t>Disk Access ( Fibre Channel )</a:t>
            </a:r>
            <a:endParaRPr sz="1600" b="1"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Driven over PCI by FPGA instead of CPU</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Software device driver accelerated in HW</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All normal disk accesses generated by FPGA</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FPGA also implements large sector cache</a:t>
            </a:r>
            <a:endParaRPr sz="1400" dirty="0">
              <a:solidFill>
                <a:schemeClr val="tx1"/>
              </a:solidFill>
              <a:latin typeface="Arial" panose="020B0604020202020204" pitchFamily="34" charset="0"/>
            </a:endParaRPr>
          </a:p>
          <a:p>
            <a:pPr lvl="1" eaLnBrk="1" hangingPunct="1">
              <a:spcBef>
                <a:spcPct val="50000"/>
              </a:spcBef>
              <a:buFont typeface="Arial" panose="020B0604020202020204" pitchFamily="34" charset="0"/>
              <a:buChar char="•"/>
            </a:pPr>
            <a:r>
              <a:rPr sz="1400" dirty="0">
                <a:solidFill>
                  <a:schemeClr val="tx1"/>
                </a:solidFill>
                <a:latin typeface="Arial" panose="020B0604020202020204" pitchFamily="34" charset="0"/>
              </a:rPr>
              <a:t> 	Processor for management &amp; error handling</a:t>
            </a:r>
            <a:endParaRPr sz="1400" dirty="0">
              <a:solidFill>
                <a:schemeClr val="tx1"/>
              </a:solidFill>
              <a:latin typeface="Arial" panose="020B0604020202020204" pitchFamily="34" charset="0"/>
            </a:endParaRPr>
          </a:p>
        </p:txBody>
      </p:sp>
      <p:pic>
        <p:nvPicPr>
          <p:cNvPr id="23555" name="Picture 4" descr="connector"/>
          <p:cNvPicPr>
            <a:picLocks noChangeAspect="1"/>
          </p:cNvPicPr>
          <p:nvPr/>
        </p:nvPicPr>
        <p:blipFill>
          <a:blip r:embed="rId1"/>
          <a:stretch>
            <a:fillRect/>
          </a:stretch>
        </p:blipFill>
        <p:spPr>
          <a:xfrm>
            <a:off x="6469063" y="2362200"/>
            <a:ext cx="2141537" cy="2593975"/>
          </a:xfrm>
          <a:prstGeom prst="rect">
            <a:avLst/>
          </a:prstGeom>
          <a:noFill/>
          <a:ln w="9525" cap="flat" cmpd="sng">
            <a:solidFill>
              <a:schemeClr val="tx1"/>
            </a:solidFill>
            <a:prstDash val="solid"/>
            <a:miter/>
            <a:headEnd type="none" w="med" len="med"/>
            <a:tailEnd type="none" w="med" len="med"/>
          </a:ln>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a:ln/>
        </p:spPr>
        <p:txBody>
          <a:bodyPr vert="horz" wrap="square" lIns="91440" tIns="0" rIns="91440" bIns="0" anchor="ctr" anchorCtr="0">
            <a:spAutoFit/>
          </a:bodyPr>
          <a:p>
            <a:r>
              <a:rPr dirty="0"/>
              <a:t>CIFS v2</a:t>
            </a:r>
            <a:endParaRPr dirty="0"/>
          </a:p>
        </p:txBody>
      </p:sp>
      <p:sp>
        <p:nvSpPr>
          <p:cNvPr id="25602" name="Rectangle 3"/>
          <p:cNvSpPr>
            <a:spLocks noGrp="1"/>
          </p:cNvSpPr>
          <p:nvPr>
            <p:ph idx="1"/>
          </p:nvPr>
        </p:nvSpPr>
        <p:spPr>
          <a:xfrm>
            <a:off x="730250" y="1600200"/>
            <a:ext cx="7956550" cy="4391025"/>
          </a:xfrm>
          <a:ln/>
        </p:spPr>
        <p:txBody>
          <a:bodyPr vert="horz" wrap="square" lIns="91440" tIns="45720" rIns="91440" bIns="45720" anchor="t" anchorCtr="0"/>
          <a:p>
            <a:pPr>
              <a:lnSpc>
                <a:spcPct val="85000"/>
              </a:lnSpc>
            </a:pPr>
            <a:r>
              <a:rPr dirty="0"/>
              <a:t>CIFSv2 (also known as SMB2 or MS-SMB2) introduces the following enhancements: </a:t>
            </a:r>
            <a:endParaRPr dirty="0"/>
          </a:p>
          <a:p>
            <a:pPr lvl="1">
              <a:lnSpc>
                <a:spcPct val="85000"/>
              </a:lnSpc>
            </a:pPr>
            <a:r>
              <a:rPr dirty="0"/>
              <a:t>Ability to compound multiple actions into a single request</a:t>
            </a:r>
            <a:endParaRPr dirty="0"/>
          </a:p>
          <a:p>
            <a:pPr lvl="2">
              <a:lnSpc>
                <a:spcPct val="85000"/>
              </a:lnSpc>
            </a:pPr>
            <a:r>
              <a:rPr sz="1600" dirty="0"/>
              <a:t>Significantly reduces the number of round-trips the client needs to make to the server, improving performance as a result</a:t>
            </a:r>
            <a:endParaRPr sz="1600" dirty="0"/>
          </a:p>
          <a:p>
            <a:pPr lvl="1">
              <a:lnSpc>
                <a:spcPct val="85000"/>
              </a:lnSpc>
            </a:pPr>
            <a:r>
              <a:rPr dirty="0"/>
              <a:t>Larger buffer-sizes</a:t>
            </a:r>
            <a:endParaRPr dirty="0"/>
          </a:p>
          <a:p>
            <a:pPr lvl="2">
              <a:lnSpc>
                <a:spcPct val="85000"/>
              </a:lnSpc>
            </a:pPr>
            <a:r>
              <a:rPr sz="1600" dirty="0"/>
              <a:t>Can provide better performance with large file-transfers</a:t>
            </a:r>
            <a:endParaRPr sz="1600" dirty="0"/>
          </a:p>
          <a:p>
            <a:pPr lvl="1">
              <a:lnSpc>
                <a:spcPct val="85000"/>
              </a:lnSpc>
            </a:pPr>
            <a:r>
              <a:rPr dirty="0"/>
              <a:t>Notion of "durable file handles</a:t>
            </a:r>
            <a:r>
              <a:rPr lang="ja-JP" altLang="en-US" dirty="0"/>
              <a:t>“</a:t>
            </a:r>
            <a:endParaRPr lang="en-US" altLang="ja-JP" dirty="0"/>
          </a:p>
          <a:p>
            <a:pPr lvl="2">
              <a:lnSpc>
                <a:spcPct val="85000"/>
              </a:lnSpc>
            </a:pPr>
            <a:r>
              <a:rPr sz="1600" dirty="0"/>
              <a:t>Allow a connection to survive brief network-outages, such as may occur in a wireless network, without having to construct a new session</a:t>
            </a:r>
            <a:endParaRPr sz="1600" dirty="0"/>
          </a:p>
          <a:p>
            <a:pPr lvl="2">
              <a:lnSpc>
                <a:spcPct val="85000"/>
              </a:lnSpc>
            </a:pPr>
            <a:endParaRPr sz="1600" dirty="0"/>
          </a:p>
          <a:p>
            <a:pPr lvl="1">
              <a:lnSpc>
                <a:spcPct val="85000"/>
              </a:lnSpc>
            </a:pPr>
            <a:r>
              <a:rPr dirty="0"/>
              <a:t>Support for symbolic links</a:t>
            </a:r>
            <a:endParaRPr dirty="0"/>
          </a:p>
          <a:p>
            <a:pPr>
              <a:lnSpc>
                <a:spcPct val="85000"/>
              </a:lnSpc>
            </a:pPr>
            <a:r>
              <a:rPr dirty="0"/>
              <a:t>CIFS clients will auto-negotiate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228600" y="254000"/>
            <a:ext cx="7086600" cy="331788"/>
          </a:xfrm>
          <a:ln/>
        </p:spPr>
        <p:txBody>
          <a:bodyPr vert="horz" wrap="square" lIns="91440" tIns="0" rIns="91440" bIns="0" anchor="ctr" anchorCtr="0">
            <a:spAutoFit/>
          </a:bodyPr>
          <a:p>
            <a:pPr eaLnBrk="1" hangingPunct="1"/>
            <a:r>
              <a:rPr dirty="0">
                <a:solidFill>
                  <a:schemeClr val="tx1"/>
                </a:solidFill>
              </a:rPr>
              <a:t>Hitachi NAS Platform</a:t>
            </a:r>
            <a:endParaRPr dirty="0">
              <a:solidFill>
                <a:schemeClr val="tx1"/>
              </a:solidFill>
            </a:endParaRPr>
          </a:p>
        </p:txBody>
      </p:sp>
      <p:sp>
        <p:nvSpPr>
          <p:cNvPr id="27650" name="Rectangle 4"/>
          <p:cNvSpPr/>
          <p:nvPr/>
        </p:nvSpPr>
        <p:spPr>
          <a:xfrm>
            <a:off x="7620000" y="4872038"/>
            <a:ext cx="1447800" cy="461962"/>
          </a:xfrm>
          <a:prstGeom prst="rect">
            <a:avLst/>
          </a:prstGeom>
          <a:noFill/>
          <a:ln w="9525">
            <a:noFill/>
          </a:ln>
        </p:spPr>
        <p:txBody>
          <a:bodyPr/>
          <a:p>
            <a:pPr algn="ctr">
              <a:spcBef>
                <a:spcPct val="20000"/>
              </a:spcBef>
            </a:pPr>
            <a:r>
              <a:rPr sz="1200" dirty="0">
                <a:solidFill>
                  <a:schemeClr val="tx1"/>
                </a:solidFill>
                <a:latin typeface="Helvetica" charset="0"/>
              </a:rPr>
              <a:t>1,024</a:t>
            </a:r>
            <a:endParaRPr sz="1200" dirty="0">
              <a:solidFill>
                <a:schemeClr val="tx1"/>
              </a:solidFill>
              <a:latin typeface="Helvetica" charset="0"/>
            </a:endParaRPr>
          </a:p>
        </p:txBody>
      </p:sp>
      <p:sp>
        <p:nvSpPr>
          <p:cNvPr id="27651" name="Rectangle 5"/>
          <p:cNvSpPr/>
          <p:nvPr/>
        </p:nvSpPr>
        <p:spPr>
          <a:xfrm>
            <a:off x="4572000" y="4872038"/>
            <a:ext cx="3048000" cy="461962"/>
          </a:xfrm>
          <a:prstGeom prst="rect">
            <a:avLst/>
          </a:prstGeom>
          <a:noFill/>
          <a:ln w="9525">
            <a:noFill/>
          </a:ln>
        </p:spPr>
        <p:txBody>
          <a:bodyPr/>
          <a:p>
            <a:pPr>
              <a:spcBef>
                <a:spcPct val="20000"/>
              </a:spcBef>
            </a:pPr>
            <a:r>
              <a:rPr sz="1200" dirty="0">
                <a:solidFill>
                  <a:schemeClr val="tx1"/>
                </a:solidFill>
                <a:latin typeface="Helvetica" charset="0"/>
              </a:rPr>
              <a:t>Max. number of snapshots per filesystem</a:t>
            </a:r>
            <a:endParaRPr sz="1200" dirty="0">
              <a:solidFill>
                <a:schemeClr val="tx1"/>
              </a:solidFill>
              <a:latin typeface="Helvetica" charset="0"/>
            </a:endParaRPr>
          </a:p>
        </p:txBody>
      </p:sp>
      <p:sp>
        <p:nvSpPr>
          <p:cNvPr id="27652" name="Rectangle 6"/>
          <p:cNvSpPr/>
          <p:nvPr/>
        </p:nvSpPr>
        <p:spPr>
          <a:xfrm>
            <a:off x="7620000" y="3795713"/>
            <a:ext cx="1447800" cy="1076325"/>
          </a:xfrm>
          <a:prstGeom prst="rect">
            <a:avLst/>
          </a:prstGeom>
          <a:noFill/>
          <a:ln w="9525">
            <a:noFill/>
          </a:ln>
        </p:spPr>
        <p:txBody>
          <a:bodyPr/>
          <a:p>
            <a:pPr algn="ctr">
              <a:spcBef>
                <a:spcPct val="20000"/>
              </a:spcBef>
            </a:pPr>
            <a:r>
              <a:rPr sz="1200" dirty="0">
                <a:solidFill>
                  <a:schemeClr val="tx1"/>
                </a:solidFill>
                <a:latin typeface="Helvetica" charset="0"/>
              </a:rPr>
              <a:t>16 million</a:t>
            </a:r>
            <a:endParaRPr sz="1200" dirty="0">
              <a:solidFill>
                <a:schemeClr val="tx1"/>
              </a:solidFill>
              <a:latin typeface="Helvetica" charset="0"/>
            </a:endParaRPr>
          </a:p>
          <a:p>
            <a:pPr algn="ctr">
              <a:spcBef>
                <a:spcPct val="20000"/>
              </a:spcBef>
            </a:pPr>
            <a:endParaRPr sz="1200" dirty="0">
              <a:solidFill>
                <a:srgbClr val="006699"/>
              </a:solidFill>
              <a:latin typeface="Helvetica" charset="0"/>
            </a:endParaRPr>
          </a:p>
          <a:p>
            <a:pPr algn="ctr">
              <a:spcBef>
                <a:spcPct val="20000"/>
              </a:spcBef>
            </a:pPr>
            <a:r>
              <a:rPr sz="1200" dirty="0">
                <a:solidFill>
                  <a:schemeClr val="tx1"/>
                </a:solidFill>
                <a:latin typeface="Helvetica" charset="0"/>
              </a:rPr>
              <a:t>10,000</a:t>
            </a:r>
            <a:endParaRPr sz="1200" dirty="0">
              <a:solidFill>
                <a:schemeClr val="tx1"/>
              </a:solidFill>
              <a:latin typeface="Helvetica" charset="0"/>
            </a:endParaRPr>
          </a:p>
        </p:txBody>
      </p:sp>
      <p:sp>
        <p:nvSpPr>
          <p:cNvPr id="27653" name="Rectangle 7"/>
          <p:cNvSpPr/>
          <p:nvPr/>
        </p:nvSpPr>
        <p:spPr>
          <a:xfrm>
            <a:off x="4572000" y="3810000"/>
            <a:ext cx="3048000" cy="1076325"/>
          </a:xfrm>
          <a:prstGeom prst="rect">
            <a:avLst/>
          </a:prstGeom>
          <a:noFill/>
          <a:ln w="9525">
            <a:noFill/>
          </a:ln>
        </p:spPr>
        <p:txBody>
          <a:bodyPr/>
          <a:p>
            <a:pPr>
              <a:spcBef>
                <a:spcPct val="20000"/>
              </a:spcBef>
            </a:pPr>
            <a:r>
              <a:rPr sz="1200" dirty="0">
                <a:solidFill>
                  <a:schemeClr val="tx1"/>
                </a:solidFill>
                <a:latin typeface="Helvetica" charset="0"/>
              </a:rPr>
              <a:t>Max. number of files or subdirectories per directory</a:t>
            </a:r>
            <a:endParaRPr sz="1200" dirty="0">
              <a:solidFill>
                <a:schemeClr val="tx1"/>
              </a:solidFill>
              <a:latin typeface="Helvetica" charset="0"/>
            </a:endParaRPr>
          </a:p>
          <a:p>
            <a:pPr>
              <a:spcBef>
                <a:spcPct val="20000"/>
              </a:spcBef>
            </a:pPr>
            <a:r>
              <a:rPr sz="1200" dirty="0">
                <a:latin typeface="Helvetica" charset="0"/>
              </a:rPr>
              <a:t>Max $ NFS/CIFS shares</a:t>
            </a:r>
            <a:endParaRPr sz="1200" dirty="0">
              <a:latin typeface="Helvetica" charset="0"/>
            </a:endParaRPr>
          </a:p>
        </p:txBody>
      </p:sp>
      <p:sp>
        <p:nvSpPr>
          <p:cNvPr id="27654" name="Rectangle 8"/>
          <p:cNvSpPr/>
          <p:nvPr/>
        </p:nvSpPr>
        <p:spPr>
          <a:xfrm>
            <a:off x="7620000" y="3479800"/>
            <a:ext cx="1447800" cy="315913"/>
          </a:xfrm>
          <a:prstGeom prst="rect">
            <a:avLst/>
          </a:prstGeom>
          <a:noFill/>
          <a:ln w="9525">
            <a:noFill/>
          </a:ln>
        </p:spPr>
        <p:txBody>
          <a:bodyPr/>
          <a:p>
            <a:pPr algn="ctr">
              <a:spcBef>
                <a:spcPct val="20000"/>
              </a:spcBef>
            </a:pPr>
            <a:r>
              <a:rPr sz="1200" dirty="0">
                <a:solidFill>
                  <a:schemeClr val="tx1"/>
                </a:solidFill>
                <a:latin typeface="Helvetica" charset="0"/>
              </a:rPr>
              <a:t>128</a:t>
            </a:r>
            <a:endParaRPr sz="1200" dirty="0">
              <a:solidFill>
                <a:schemeClr val="tx1"/>
              </a:solidFill>
              <a:latin typeface="Helvetica" charset="0"/>
            </a:endParaRPr>
          </a:p>
        </p:txBody>
      </p:sp>
      <p:sp>
        <p:nvSpPr>
          <p:cNvPr id="27655" name="Rectangle 9"/>
          <p:cNvSpPr/>
          <p:nvPr/>
        </p:nvSpPr>
        <p:spPr>
          <a:xfrm>
            <a:off x="4572000" y="3479800"/>
            <a:ext cx="3048000" cy="315913"/>
          </a:xfrm>
          <a:prstGeom prst="rect">
            <a:avLst/>
          </a:prstGeom>
          <a:noFill/>
          <a:ln w="9525">
            <a:noFill/>
          </a:ln>
        </p:spPr>
        <p:txBody>
          <a:bodyPr/>
          <a:p>
            <a:pPr>
              <a:spcBef>
                <a:spcPct val="20000"/>
              </a:spcBef>
            </a:pPr>
            <a:r>
              <a:rPr sz="1200" dirty="0">
                <a:solidFill>
                  <a:schemeClr val="tx1"/>
                </a:solidFill>
                <a:latin typeface="Helvetica" charset="0"/>
              </a:rPr>
              <a:t>Number of volumes per server</a:t>
            </a:r>
            <a:endParaRPr sz="1200" dirty="0">
              <a:solidFill>
                <a:schemeClr val="tx1"/>
              </a:solidFill>
              <a:latin typeface="Helvetica" charset="0"/>
            </a:endParaRPr>
          </a:p>
        </p:txBody>
      </p:sp>
      <p:sp>
        <p:nvSpPr>
          <p:cNvPr id="27656" name="Rectangle 10"/>
          <p:cNvSpPr/>
          <p:nvPr/>
        </p:nvSpPr>
        <p:spPr>
          <a:xfrm>
            <a:off x="7620000" y="2909888"/>
            <a:ext cx="1447800" cy="569912"/>
          </a:xfrm>
          <a:prstGeom prst="rect">
            <a:avLst/>
          </a:prstGeom>
          <a:noFill/>
          <a:ln w="9525">
            <a:noFill/>
          </a:ln>
        </p:spPr>
        <p:txBody>
          <a:bodyPr/>
          <a:p>
            <a:pPr algn="ctr">
              <a:spcBef>
                <a:spcPct val="20000"/>
              </a:spcBef>
            </a:pPr>
            <a:r>
              <a:rPr sz="1200" dirty="0">
                <a:solidFill>
                  <a:schemeClr val="tx1"/>
                </a:solidFill>
                <a:latin typeface="Helvetica" charset="0"/>
              </a:rPr>
              <a:t>2PB</a:t>
            </a:r>
            <a:r>
              <a:rPr sz="1200" baseline="30000" dirty="0">
                <a:solidFill>
                  <a:schemeClr val="tx1"/>
                </a:solidFill>
                <a:latin typeface="Helvetica" charset="0"/>
              </a:rPr>
              <a:t>(1)</a:t>
            </a:r>
            <a:endParaRPr sz="1200" baseline="30000" dirty="0">
              <a:solidFill>
                <a:schemeClr val="tx1"/>
              </a:solidFill>
              <a:latin typeface="Helvetica" charset="0"/>
            </a:endParaRPr>
          </a:p>
          <a:p>
            <a:pPr algn="ctr">
              <a:spcBef>
                <a:spcPct val="20000"/>
              </a:spcBef>
            </a:pPr>
            <a:r>
              <a:rPr sz="1200" dirty="0">
                <a:solidFill>
                  <a:schemeClr val="tx1"/>
                </a:solidFill>
                <a:latin typeface="Helvetica" charset="0"/>
              </a:rPr>
              <a:t>256 TB</a:t>
            </a:r>
            <a:endParaRPr sz="1200" dirty="0">
              <a:solidFill>
                <a:schemeClr val="tx1"/>
              </a:solidFill>
              <a:latin typeface="Helvetica" charset="0"/>
            </a:endParaRPr>
          </a:p>
        </p:txBody>
      </p:sp>
      <p:sp>
        <p:nvSpPr>
          <p:cNvPr id="27657" name="Rectangle 11"/>
          <p:cNvSpPr/>
          <p:nvPr/>
        </p:nvSpPr>
        <p:spPr>
          <a:xfrm>
            <a:off x="4572000" y="2909888"/>
            <a:ext cx="3048000" cy="569912"/>
          </a:xfrm>
          <a:prstGeom prst="rect">
            <a:avLst/>
          </a:prstGeom>
          <a:noFill/>
          <a:ln w="9525">
            <a:noFill/>
          </a:ln>
        </p:spPr>
        <p:txBody>
          <a:bodyPr/>
          <a:p>
            <a:pPr>
              <a:spcBef>
                <a:spcPct val="20000"/>
              </a:spcBef>
            </a:pPr>
            <a:r>
              <a:rPr sz="1200" dirty="0">
                <a:solidFill>
                  <a:schemeClr val="tx1"/>
                </a:solidFill>
                <a:latin typeface="Helvetica" charset="0"/>
              </a:rPr>
              <a:t>Max. cluster addressable space</a:t>
            </a:r>
            <a:endParaRPr sz="1200" dirty="0">
              <a:solidFill>
                <a:schemeClr val="tx1"/>
              </a:solidFill>
              <a:latin typeface="Helvetica" charset="0"/>
            </a:endParaRPr>
          </a:p>
          <a:p>
            <a:pPr>
              <a:spcBef>
                <a:spcPct val="20000"/>
              </a:spcBef>
            </a:pPr>
            <a:r>
              <a:rPr sz="1200" dirty="0">
                <a:solidFill>
                  <a:schemeClr val="tx1"/>
                </a:solidFill>
                <a:latin typeface="Helvetica" charset="0"/>
              </a:rPr>
              <a:t>Volume size</a:t>
            </a:r>
            <a:endParaRPr sz="1200" dirty="0">
              <a:solidFill>
                <a:schemeClr val="tx1"/>
              </a:solidFill>
              <a:latin typeface="Helvetica" charset="0"/>
            </a:endParaRPr>
          </a:p>
        </p:txBody>
      </p:sp>
      <p:sp>
        <p:nvSpPr>
          <p:cNvPr id="27658" name="Rectangle 12"/>
          <p:cNvSpPr/>
          <p:nvPr/>
        </p:nvSpPr>
        <p:spPr>
          <a:xfrm>
            <a:off x="7620000" y="2133600"/>
            <a:ext cx="1447800" cy="762000"/>
          </a:xfrm>
          <a:prstGeom prst="rect">
            <a:avLst/>
          </a:prstGeom>
          <a:noFill/>
          <a:ln w="9525">
            <a:noFill/>
          </a:ln>
        </p:spPr>
        <p:txBody>
          <a:bodyPr/>
          <a:p>
            <a:pPr algn="ctr">
              <a:spcBef>
                <a:spcPct val="20000"/>
              </a:spcBef>
            </a:pPr>
            <a:r>
              <a:rPr sz="1200" dirty="0">
                <a:solidFill>
                  <a:schemeClr val="tx1"/>
                </a:solidFill>
                <a:latin typeface="Helvetica" charset="0"/>
              </a:rPr>
              <a:t>100,000</a:t>
            </a:r>
            <a:endParaRPr sz="1200" dirty="0">
              <a:solidFill>
                <a:schemeClr val="tx1"/>
              </a:solidFill>
              <a:latin typeface="Helvetica" charset="0"/>
            </a:endParaRPr>
          </a:p>
          <a:p>
            <a:pPr algn="ctr">
              <a:spcBef>
                <a:spcPct val="20000"/>
              </a:spcBef>
            </a:pPr>
            <a:r>
              <a:rPr sz="1200" dirty="0">
                <a:solidFill>
                  <a:schemeClr val="tx1"/>
                </a:solidFill>
                <a:latin typeface="Helvetica" charset="0"/>
              </a:rPr>
              <a:t>60,000</a:t>
            </a:r>
            <a:endParaRPr sz="1200" dirty="0">
              <a:solidFill>
                <a:schemeClr val="tx1"/>
              </a:solidFill>
              <a:latin typeface="Helvetica" charset="0"/>
            </a:endParaRPr>
          </a:p>
          <a:p>
            <a:pPr algn="ctr">
              <a:spcBef>
                <a:spcPct val="20000"/>
              </a:spcBef>
            </a:pPr>
            <a:r>
              <a:rPr sz="1200" dirty="0">
                <a:solidFill>
                  <a:schemeClr val="tx1"/>
                </a:solidFill>
                <a:latin typeface="Helvetica" charset="0"/>
              </a:rPr>
              <a:t>15,000 per node</a:t>
            </a:r>
            <a:endParaRPr sz="1200" dirty="0">
              <a:solidFill>
                <a:schemeClr val="tx1"/>
              </a:solidFill>
              <a:latin typeface="Helvetica" charset="0"/>
            </a:endParaRPr>
          </a:p>
        </p:txBody>
      </p:sp>
      <p:sp>
        <p:nvSpPr>
          <p:cNvPr id="27659" name="Rectangle 13"/>
          <p:cNvSpPr/>
          <p:nvPr/>
        </p:nvSpPr>
        <p:spPr>
          <a:xfrm>
            <a:off x="4572000" y="2133600"/>
            <a:ext cx="3048000" cy="838200"/>
          </a:xfrm>
          <a:prstGeom prst="rect">
            <a:avLst/>
          </a:prstGeom>
          <a:noFill/>
          <a:ln w="9525">
            <a:noFill/>
          </a:ln>
        </p:spPr>
        <p:txBody>
          <a:bodyPr/>
          <a:p>
            <a:pPr>
              <a:spcBef>
                <a:spcPct val="20000"/>
              </a:spcBef>
            </a:pPr>
            <a:r>
              <a:rPr sz="1200" dirty="0">
                <a:solidFill>
                  <a:schemeClr val="tx1"/>
                </a:solidFill>
                <a:latin typeface="Helvetica" charset="0"/>
              </a:rPr>
              <a:t>IOPS per server (SPECsfs profile)</a:t>
            </a:r>
            <a:endParaRPr sz="1200" dirty="0">
              <a:solidFill>
                <a:schemeClr val="tx1"/>
              </a:solidFill>
              <a:latin typeface="Helvetica" charset="0"/>
            </a:endParaRPr>
          </a:p>
          <a:p>
            <a:pPr>
              <a:spcBef>
                <a:spcPct val="20000"/>
              </a:spcBef>
            </a:pPr>
            <a:r>
              <a:rPr sz="1200" dirty="0">
                <a:solidFill>
                  <a:schemeClr val="tx1"/>
                </a:solidFill>
                <a:latin typeface="Helvetica" charset="0"/>
              </a:rPr>
              <a:t>Max NFS simultaneous connections</a:t>
            </a:r>
            <a:endParaRPr sz="1200" dirty="0">
              <a:solidFill>
                <a:schemeClr val="tx1"/>
              </a:solidFill>
              <a:latin typeface="Helvetica" charset="0"/>
            </a:endParaRPr>
          </a:p>
          <a:p>
            <a:pPr>
              <a:spcBef>
                <a:spcPct val="20000"/>
              </a:spcBef>
            </a:pPr>
            <a:r>
              <a:rPr sz="1200" dirty="0">
                <a:solidFill>
                  <a:schemeClr val="tx1"/>
                </a:solidFill>
                <a:latin typeface="Helvetica" charset="0"/>
              </a:rPr>
              <a:t>Max CIFS simultaneous connections</a:t>
            </a:r>
            <a:endParaRPr sz="1200" dirty="0">
              <a:solidFill>
                <a:schemeClr val="tx1"/>
              </a:solidFill>
              <a:latin typeface="Helvetica" charset="0"/>
            </a:endParaRPr>
          </a:p>
          <a:p>
            <a:pPr>
              <a:spcBef>
                <a:spcPct val="20000"/>
              </a:spcBef>
            </a:pPr>
            <a:endParaRPr sz="1200" dirty="0">
              <a:solidFill>
                <a:schemeClr val="tx1"/>
              </a:solidFill>
              <a:latin typeface="Helvetica" charset="0"/>
            </a:endParaRPr>
          </a:p>
          <a:p>
            <a:pPr>
              <a:spcBef>
                <a:spcPct val="20000"/>
              </a:spcBef>
            </a:pPr>
            <a:endParaRPr sz="1200" dirty="0">
              <a:solidFill>
                <a:schemeClr val="tx1"/>
              </a:solidFill>
              <a:latin typeface="Helvetica" charset="0"/>
            </a:endParaRPr>
          </a:p>
        </p:txBody>
      </p:sp>
      <p:sp>
        <p:nvSpPr>
          <p:cNvPr id="27660" name="Rectangle 16"/>
          <p:cNvSpPr/>
          <p:nvPr/>
        </p:nvSpPr>
        <p:spPr>
          <a:xfrm>
            <a:off x="7162800" y="1354138"/>
            <a:ext cx="1905000" cy="669925"/>
          </a:xfrm>
          <a:prstGeom prst="rect">
            <a:avLst/>
          </a:prstGeom>
          <a:noFill/>
          <a:ln w="9525">
            <a:noFill/>
          </a:ln>
        </p:spPr>
        <p:txBody>
          <a:bodyPr/>
          <a:p>
            <a:pPr algn="ctr">
              <a:spcBef>
                <a:spcPct val="20000"/>
              </a:spcBef>
            </a:pPr>
            <a:r>
              <a:rPr sz="1600" dirty="0">
                <a:solidFill>
                  <a:schemeClr val="tx1"/>
                </a:solidFill>
                <a:latin typeface="Helvetica" charset="0"/>
              </a:rPr>
              <a:t>3090 single node</a:t>
            </a:r>
            <a:endParaRPr sz="1200" dirty="0">
              <a:solidFill>
                <a:schemeClr val="tx1"/>
              </a:solidFill>
              <a:latin typeface="Helvetica" charset="0"/>
            </a:endParaRPr>
          </a:p>
        </p:txBody>
      </p:sp>
      <p:sp>
        <p:nvSpPr>
          <p:cNvPr id="27661" name="Rectangle 17"/>
          <p:cNvSpPr/>
          <p:nvPr/>
        </p:nvSpPr>
        <p:spPr>
          <a:xfrm>
            <a:off x="4572000" y="1354138"/>
            <a:ext cx="3048000" cy="669925"/>
          </a:xfrm>
          <a:prstGeom prst="rect">
            <a:avLst/>
          </a:prstGeom>
          <a:noFill/>
          <a:ln w="9525">
            <a:noFill/>
          </a:ln>
        </p:spPr>
        <p:txBody>
          <a:bodyPr/>
          <a:p>
            <a:pPr>
              <a:spcBef>
                <a:spcPct val="20000"/>
              </a:spcBef>
            </a:pPr>
            <a:r>
              <a:rPr sz="1600" dirty="0">
                <a:solidFill>
                  <a:schemeClr val="tx1"/>
                </a:solidFill>
                <a:latin typeface="Helvetica" charset="0"/>
              </a:rPr>
              <a:t>Performance &amp; scalability Features</a:t>
            </a:r>
            <a:endParaRPr sz="1600" dirty="0">
              <a:solidFill>
                <a:schemeClr val="tx1"/>
              </a:solidFill>
              <a:latin typeface="Helvetica" charset="0"/>
            </a:endParaRPr>
          </a:p>
        </p:txBody>
      </p:sp>
      <p:sp>
        <p:nvSpPr>
          <p:cNvPr id="27662" name="Line 25"/>
          <p:cNvSpPr/>
          <p:nvPr/>
        </p:nvSpPr>
        <p:spPr>
          <a:xfrm>
            <a:off x="4572000" y="2024063"/>
            <a:ext cx="4495800" cy="0"/>
          </a:xfrm>
          <a:prstGeom prst="line">
            <a:avLst/>
          </a:prstGeom>
          <a:ln w="38100" cap="flat" cmpd="sng">
            <a:solidFill>
              <a:schemeClr val="bg1"/>
            </a:solidFill>
            <a:prstDash val="solid"/>
            <a:headEnd type="none" w="med" len="med"/>
            <a:tailEnd type="none" w="med" len="med"/>
          </a:ln>
        </p:spPr>
      </p:sp>
      <p:sp>
        <p:nvSpPr>
          <p:cNvPr id="27663" name="Text Box 26"/>
          <p:cNvSpPr txBox="1"/>
          <p:nvPr/>
        </p:nvSpPr>
        <p:spPr>
          <a:xfrm>
            <a:off x="152400" y="3568700"/>
            <a:ext cx="4191000" cy="1917700"/>
          </a:xfrm>
          <a:prstGeom prst="rect">
            <a:avLst/>
          </a:prstGeom>
          <a:noFill/>
          <a:ln w="38100" cap="flat" cmpd="sng">
            <a:solidFill>
              <a:schemeClr val="hlink"/>
            </a:solidFill>
            <a:prstDash val="solid"/>
            <a:miter/>
            <a:headEnd type="none" w="med" len="med"/>
            <a:tailEnd type="none" w="med" len="med"/>
          </a:ln>
        </p:spPr>
        <p:txBody>
          <a:bodyPr>
            <a:spAutoFit/>
          </a:bodyPr>
          <a:p>
            <a:pPr>
              <a:lnSpc>
                <a:spcPct val="85000"/>
              </a:lnSpc>
              <a:spcBef>
                <a:spcPct val="20000"/>
              </a:spcBef>
              <a:spcAft>
                <a:spcPct val="20000"/>
              </a:spcAft>
              <a:buClr>
                <a:srgbClr val="FC8A00"/>
              </a:buClr>
              <a:buFont typeface="Wingdings" panose="05000000000000000000" pitchFamily="2" charset="2"/>
            </a:pPr>
            <a:r>
              <a:rPr sz="1400" dirty="0">
                <a:solidFill>
                  <a:schemeClr val="tx1"/>
                </a:solidFill>
                <a:latin typeface="Arial" panose="020B0604020202020204" pitchFamily="34" charset="0"/>
              </a:rPr>
              <a:t>High Availability Features</a:t>
            </a:r>
            <a:endParaRPr sz="1400" dirty="0">
              <a:solidFill>
                <a:schemeClr val="tx1"/>
              </a:solidFill>
              <a:latin typeface="Arial" panose="020B0604020202020204" pitchFamily="34" charset="0"/>
            </a:endParaRPr>
          </a:p>
          <a:p>
            <a:pPr>
              <a:lnSpc>
                <a:spcPct val="85000"/>
              </a:lnSpc>
              <a:spcBef>
                <a:spcPct val="20000"/>
              </a:spcBef>
              <a:spcAft>
                <a:spcPct val="20000"/>
              </a:spcAft>
              <a:buClr>
                <a:schemeClr val="tx1"/>
              </a:buClr>
              <a:buChar char="•"/>
            </a:pPr>
            <a:r>
              <a:rPr sz="1200" dirty="0">
                <a:solidFill>
                  <a:schemeClr val="tx1"/>
                </a:solidFill>
                <a:latin typeface="Arial" panose="020B0604020202020204" pitchFamily="34" charset="0"/>
              </a:rPr>
              <a:t> Fault tolerant architecture with redundant components</a:t>
            </a:r>
            <a:endParaRPr sz="1200" dirty="0">
              <a:solidFill>
                <a:schemeClr val="tx1"/>
              </a:solidFill>
              <a:latin typeface="Arial" panose="020B0604020202020204" pitchFamily="34" charset="0"/>
            </a:endParaRPr>
          </a:p>
          <a:p>
            <a:pPr>
              <a:lnSpc>
                <a:spcPct val="85000"/>
              </a:lnSpc>
              <a:spcBef>
                <a:spcPct val="20000"/>
              </a:spcBef>
              <a:spcAft>
                <a:spcPct val="20000"/>
              </a:spcAft>
              <a:buClr>
                <a:schemeClr val="tx1"/>
              </a:buClr>
              <a:buChar char="•"/>
            </a:pPr>
            <a:r>
              <a:rPr sz="1200" dirty="0">
                <a:solidFill>
                  <a:schemeClr val="tx1"/>
                </a:solidFill>
                <a:latin typeface="Arial" panose="020B0604020202020204" pitchFamily="34" charset="0"/>
              </a:rPr>
              <a:t> NVRAM Mirroring</a:t>
            </a:r>
            <a:endParaRPr sz="1200" dirty="0">
              <a:solidFill>
                <a:schemeClr val="tx1"/>
              </a:solidFill>
              <a:latin typeface="Arial" panose="020B0604020202020204" pitchFamily="34" charset="0"/>
            </a:endParaRPr>
          </a:p>
          <a:p>
            <a:pPr>
              <a:lnSpc>
                <a:spcPct val="85000"/>
              </a:lnSpc>
              <a:spcBef>
                <a:spcPct val="20000"/>
              </a:spcBef>
              <a:spcAft>
                <a:spcPct val="20000"/>
              </a:spcAft>
              <a:buClr>
                <a:schemeClr val="tx1"/>
              </a:buClr>
              <a:buChar char="•"/>
            </a:pPr>
            <a:r>
              <a:rPr sz="1200" dirty="0">
                <a:solidFill>
                  <a:schemeClr val="tx1"/>
                </a:solidFill>
                <a:latin typeface="Arial" panose="020B0604020202020204" pitchFamily="34" charset="0"/>
              </a:rPr>
              <a:t> Journaling Filesystem with checkpoint mechanism</a:t>
            </a:r>
            <a:endParaRPr sz="1200" dirty="0">
              <a:solidFill>
                <a:schemeClr val="tx1"/>
              </a:solidFill>
              <a:latin typeface="Arial" panose="020B0604020202020204" pitchFamily="34" charset="0"/>
            </a:endParaRPr>
          </a:p>
          <a:p>
            <a:pPr>
              <a:lnSpc>
                <a:spcPct val="85000"/>
              </a:lnSpc>
              <a:spcBef>
                <a:spcPct val="20000"/>
              </a:spcBef>
              <a:spcAft>
                <a:spcPct val="20000"/>
              </a:spcAft>
              <a:buClr>
                <a:schemeClr val="tx1"/>
              </a:buClr>
              <a:buChar char="•"/>
            </a:pPr>
            <a:r>
              <a:rPr sz="1200" dirty="0">
                <a:solidFill>
                  <a:schemeClr val="tx1"/>
                </a:solidFill>
                <a:latin typeface="Arial" panose="020B0604020202020204" pitchFamily="34" charset="0"/>
              </a:rPr>
              <a:t> File system Snapshots</a:t>
            </a:r>
            <a:endParaRPr sz="1200" dirty="0">
              <a:solidFill>
                <a:schemeClr val="tx1"/>
              </a:solidFill>
              <a:latin typeface="Arial" panose="020B0604020202020204" pitchFamily="34" charset="0"/>
            </a:endParaRPr>
          </a:p>
          <a:p>
            <a:pPr>
              <a:lnSpc>
                <a:spcPct val="85000"/>
              </a:lnSpc>
              <a:spcBef>
                <a:spcPct val="20000"/>
              </a:spcBef>
              <a:spcAft>
                <a:spcPct val="20000"/>
              </a:spcAft>
              <a:buClr>
                <a:schemeClr val="tx1"/>
              </a:buClr>
              <a:buChar char="•"/>
            </a:pPr>
            <a:r>
              <a:rPr sz="1200" dirty="0">
                <a:solidFill>
                  <a:schemeClr val="tx1"/>
                </a:solidFill>
                <a:latin typeface="Arial" panose="020B0604020202020204" pitchFamily="34" charset="0"/>
              </a:rPr>
              <a:t> Active/Active or Active/Passive clustering</a:t>
            </a:r>
            <a:endParaRPr sz="1200" dirty="0">
              <a:solidFill>
                <a:schemeClr val="tx1"/>
              </a:solidFill>
              <a:latin typeface="Arial" panose="020B0604020202020204" pitchFamily="34" charset="0"/>
            </a:endParaRPr>
          </a:p>
          <a:p>
            <a:pPr>
              <a:lnSpc>
                <a:spcPct val="85000"/>
              </a:lnSpc>
              <a:spcBef>
                <a:spcPct val="20000"/>
              </a:spcBef>
              <a:spcAft>
                <a:spcPct val="20000"/>
              </a:spcAft>
              <a:buClr>
                <a:schemeClr val="tx1"/>
              </a:buClr>
              <a:buChar char="•"/>
            </a:pPr>
            <a:r>
              <a:rPr sz="1200" dirty="0">
                <a:solidFill>
                  <a:schemeClr val="tx1"/>
                </a:solidFill>
                <a:latin typeface="Arial" panose="020B0604020202020204" pitchFamily="34" charset="0"/>
              </a:rPr>
              <a:t> Asynchronous data replication over IP</a:t>
            </a:r>
            <a:endParaRPr sz="1200" dirty="0">
              <a:solidFill>
                <a:schemeClr val="tx1"/>
              </a:solidFill>
              <a:latin typeface="Arial" panose="020B0604020202020204" pitchFamily="34" charset="0"/>
            </a:endParaRPr>
          </a:p>
          <a:p>
            <a:pPr>
              <a:lnSpc>
                <a:spcPct val="85000"/>
              </a:lnSpc>
              <a:spcBef>
                <a:spcPct val="20000"/>
              </a:spcBef>
              <a:spcAft>
                <a:spcPct val="20000"/>
              </a:spcAft>
              <a:buClr>
                <a:schemeClr val="tx1"/>
              </a:buClr>
              <a:buChar char="•"/>
            </a:pPr>
            <a:r>
              <a:rPr sz="1200" dirty="0">
                <a:solidFill>
                  <a:schemeClr val="tx1"/>
                </a:solidFill>
                <a:latin typeface="Arial" panose="020B0604020202020204" pitchFamily="34" charset="0"/>
              </a:rPr>
              <a:t>Synchronous data replication using TrueCopy</a:t>
            </a:r>
            <a:endParaRPr sz="1200" dirty="0">
              <a:solidFill>
                <a:schemeClr val="tx1"/>
              </a:solidFill>
              <a:latin typeface="Arial" panose="020B0604020202020204" pitchFamily="34" charset="0"/>
            </a:endParaRPr>
          </a:p>
        </p:txBody>
      </p:sp>
      <p:sp>
        <p:nvSpPr>
          <p:cNvPr id="27664" name="Rectangle 32"/>
          <p:cNvSpPr/>
          <p:nvPr/>
        </p:nvSpPr>
        <p:spPr>
          <a:xfrm>
            <a:off x="4572000" y="1219200"/>
            <a:ext cx="4476750" cy="4095750"/>
          </a:xfrm>
          <a:prstGeom prst="rect">
            <a:avLst/>
          </a:prstGeom>
          <a:noFill/>
          <a:ln w="38100" cap="flat" cmpd="sng">
            <a:solidFill>
              <a:schemeClr va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27665" name="Text Box 62"/>
          <p:cNvSpPr txBox="1"/>
          <p:nvPr/>
        </p:nvSpPr>
        <p:spPr>
          <a:xfrm>
            <a:off x="4191000" y="6019800"/>
            <a:ext cx="4724400" cy="400050"/>
          </a:xfrm>
          <a:prstGeom prst="rect">
            <a:avLst/>
          </a:prstGeom>
          <a:noFill/>
          <a:ln w="9525">
            <a:noFill/>
          </a:ln>
        </p:spPr>
        <p:txBody>
          <a:bodyPr>
            <a:spAutoFit/>
          </a:bodyPr>
          <a:p>
            <a:pPr marL="342900" indent="-342900">
              <a:spcBef>
                <a:spcPct val="50000"/>
              </a:spcBef>
            </a:pPr>
            <a:r>
              <a:rPr sz="800" baseline="30000" dirty="0">
                <a:solidFill>
                  <a:schemeClr val="tx1"/>
                </a:solidFill>
                <a:latin typeface="Arial" panose="020B0604020202020204" pitchFamily="34" charset="0"/>
              </a:rPr>
              <a:t>(1)</a:t>
            </a:r>
            <a:r>
              <a:rPr sz="800" dirty="0">
                <a:solidFill>
                  <a:schemeClr val="tx1"/>
                </a:solidFill>
                <a:latin typeface="Arial" panose="020B0604020202020204" pitchFamily="34" charset="0"/>
              </a:rPr>
              <a:t> Require storage LUN size greater than 16TB.  </a:t>
            </a:r>
            <a:endParaRPr sz="800" dirty="0">
              <a:solidFill>
                <a:schemeClr val="tx1"/>
              </a:solidFill>
              <a:latin typeface="Arial" panose="020B0604020202020204" pitchFamily="34" charset="0"/>
            </a:endParaRPr>
          </a:p>
          <a:p>
            <a:pPr marL="342900" indent="-342900">
              <a:spcBef>
                <a:spcPct val="50000"/>
              </a:spcBef>
            </a:pPr>
            <a:endParaRPr sz="800" b="1" dirty="0">
              <a:solidFill>
                <a:schemeClr val="tx1"/>
              </a:solidFill>
              <a:latin typeface="Arial" panose="020B0604020202020204" pitchFamily="34" charset="0"/>
            </a:endParaRPr>
          </a:p>
        </p:txBody>
      </p:sp>
      <p:pic>
        <p:nvPicPr>
          <p:cNvPr id="27666" name="Picture 40"/>
          <p:cNvPicPr>
            <a:picLocks noChangeAspect="1"/>
          </p:cNvPicPr>
          <p:nvPr/>
        </p:nvPicPr>
        <p:blipFill>
          <a:blip r:embed="rId1">
            <a:clrChange>
              <a:clrFrom>
                <a:srgbClr val="FFFFFF"/>
              </a:clrFrom>
              <a:clrTo>
                <a:srgbClr val="FFFFFF">
                  <a:alpha val="0"/>
                </a:srgbClr>
              </a:clrTo>
            </a:clrChange>
          </a:blip>
          <a:srcRect l="7292" t="26471" r="4167" b="9216"/>
          <a:stretch>
            <a:fillRect/>
          </a:stretch>
        </p:blipFill>
        <p:spPr>
          <a:xfrm>
            <a:off x="381000" y="1524000"/>
            <a:ext cx="3429000" cy="1216025"/>
          </a:xfrm>
          <a:prstGeom prst="rect">
            <a:avLst/>
          </a:prstGeom>
          <a:noFill/>
          <a:ln w="9525">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xfrm>
            <a:off x="346075" y="304800"/>
            <a:ext cx="6719888" cy="331788"/>
          </a:xfrm>
          <a:ln/>
        </p:spPr>
        <p:txBody>
          <a:bodyPr vert="horz" wrap="square" lIns="91440" tIns="0" rIns="91440" bIns="0" anchor="ctr" anchorCtr="0">
            <a:spAutoFit/>
          </a:bodyPr>
          <a:p>
            <a:r>
              <a:rPr dirty="0"/>
              <a:t>Hitachi NAS Port Connectivity</a:t>
            </a:r>
            <a:endParaRPr dirty="0"/>
          </a:p>
        </p:txBody>
      </p:sp>
      <p:pic>
        <p:nvPicPr>
          <p:cNvPr id="29698" name="Picture 3" descr="Eclair Rear View"/>
          <p:cNvPicPr>
            <a:picLocks noChangeAspect="1"/>
          </p:cNvPicPr>
          <p:nvPr/>
        </p:nvPicPr>
        <p:blipFill>
          <a:blip r:embed="rId1"/>
          <a:stretch>
            <a:fillRect/>
          </a:stretch>
        </p:blipFill>
        <p:spPr>
          <a:xfrm>
            <a:off x="479425" y="1646238"/>
            <a:ext cx="8224838" cy="2500312"/>
          </a:xfrm>
          <a:prstGeom prst="rect">
            <a:avLst/>
          </a:prstGeom>
          <a:noFill/>
          <a:ln w="9525">
            <a:noFill/>
          </a:ln>
        </p:spPr>
      </p:pic>
      <p:sp>
        <p:nvSpPr>
          <p:cNvPr id="29699" name="Text Box 10"/>
          <p:cNvSpPr txBox="1"/>
          <p:nvPr/>
        </p:nvSpPr>
        <p:spPr>
          <a:xfrm>
            <a:off x="565150" y="4597400"/>
            <a:ext cx="1271588" cy="739775"/>
          </a:xfrm>
          <a:prstGeom prst="rect">
            <a:avLst/>
          </a:prstGeom>
          <a:gradFill rotWithShape="1">
            <a:gsLst>
              <a:gs pos="0">
                <a:srgbClr val="2F5E76"/>
              </a:gs>
              <a:gs pos="50000">
                <a:srgbClr val="66CCFF"/>
              </a:gs>
              <a:gs pos="100000">
                <a:srgbClr val="2F5E76"/>
              </a:gs>
            </a:gsLst>
            <a:lin ang="0" scaled="1"/>
            <a:tileRect/>
          </a:gradFill>
          <a:ln w="9525" cap="flat" cmpd="sng">
            <a:solidFill>
              <a:srgbClr val="66CCFF"/>
            </a:solidFill>
            <a:prstDash val="solid"/>
            <a:miter/>
            <a:headEnd type="none" w="med" len="med"/>
            <a:tailEnd type="none" w="med" len="med"/>
          </a:ln>
        </p:spPr>
        <p:txBody>
          <a:bodyPr>
            <a:spAutoFit/>
          </a:bodyPr>
          <a:p>
            <a:pPr algn="ctr">
              <a:spcBef>
                <a:spcPct val="20000"/>
              </a:spcBef>
              <a:buChar char="•"/>
            </a:pPr>
            <a:r>
              <a:rPr sz="1400" b="1" dirty="0">
                <a:latin typeface="Helvetica" charset="0"/>
              </a:rPr>
              <a:t>2 x 10GbE Cluster Interconnect</a:t>
            </a:r>
            <a:endParaRPr sz="1400" b="1" dirty="0">
              <a:latin typeface="Helvetica" charset="0"/>
            </a:endParaRPr>
          </a:p>
        </p:txBody>
      </p:sp>
      <p:sp>
        <p:nvSpPr>
          <p:cNvPr id="29700" name="Line 24"/>
          <p:cNvSpPr/>
          <p:nvPr/>
        </p:nvSpPr>
        <p:spPr>
          <a:xfrm flipV="1">
            <a:off x="565150" y="2506663"/>
            <a:ext cx="1057275" cy="2090737"/>
          </a:xfrm>
          <a:prstGeom prst="line">
            <a:avLst/>
          </a:prstGeom>
          <a:ln w="12700" cap="flat" cmpd="sng">
            <a:solidFill>
              <a:srgbClr val="66CCFF"/>
            </a:solidFill>
            <a:prstDash val="solid"/>
            <a:headEnd type="none" w="med" len="med"/>
            <a:tailEnd type="triangle" w="med" len="med"/>
          </a:ln>
        </p:spPr>
      </p:sp>
      <p:sp>
        <p:nvSpPr>
          <p:cNvPr id="29701" name="Text Box 20"/>
          <p:cNvSpPr txBox="1"/>
          <p:nvPr/>
        </p:nvSpPr>
        <p:spPr>
          <a:xfrm>
            <a:off x="2012950" y="4597400"/>
            <a:ext cx="1133475" cy="739775"/>
          </a:xfrm>
          <a:prstGeom prst="rect">
            <a:avLst/>
          </a:prstGeom>
          <a:gradFill rotWithShape="1">
            <a:gsLst>
              <a:gs pos="0">
                <a:srgbClr val="2F7647"/>
              </a:gs>
              <a:gs pos="50000">
                <a:srgbClr val="66FF99"/>
              </a:gs>
              <a:gs pos="100000">
                <a:srgbClr val="2F7647"/>
              </a:gs>
            </a:gsLst>
            <a:lin ang="0" scaled="1"/>
            <a:tileRect/>
          </a:gradFill>
          <a:ln w="9525" cap="flat" cmpd="sng">
            <a:solidFill>
              <a:srgbClr val="66FF99"/>
            </a:solidFill>
            <a:prstDash val="solid"/>
            <a:miter/>
            <a:headEnd type="none" w="med" len="med"/>
            <a:tailEnd type="none" w="med" len="med"/>
          </a:ln>
        </p:spPr>
        <p:txBody>
          <a:bodyPr>
            <a:spAutoFit/>
          </a:bodyPr>
          <a:p>
            <a:pPr algn="ctr">
              <a:spcBef>
                <a:spcPct val="20000"/>
              </a:spcBef>
              <a:buChar char="•"/>
            </a:pPr>
            <a:r>
              <a:rPr sz="1400" b="1" dirty="0">
                <a:latin typeface="Helvetica" charset="0"/>
              </a:rPr>
              <a:t>2 x 10GbE File Serving</a:t>
            </a:r>
            <a:endParaRPr sz="1400" b="1" dirty="0">
              <a:latin typeface="Helvetica" charset="0"/>
            </a:endParaRPr>
          </a:p>
        </p:txBody>
      </p:sp>
      <p:sp>
        <p:nvSpPr>
          <p:cNvPr id="29702" name="Line 25"/>
          <p:cNvSpPr/>
          <p:nvPr/>
        </p:nvSpPr>
        <p:spPr>
          <a:xfrm flipV="1">
            <a:off x="2008188" y="2505075"/>
            <a:ext cx="708025" cy="2111375"/>
          </a:xfrm>
          <a:prstGeom prst="line">
            <a:avLst/>
          </a:prstGeom>
          <a:ln w="12700" cap="flat" cmpd="sng">
            <a:solidFill>
              <a:srgbClr val="66FF99"/>
            </a:solidFill>
            <a:prstDash val="solid"/>
            <a:headEnd type="none" w="med" len="med"/>
            <a:tailEnd type="triangle" w="med" len="med"/>
          </a:ln>
        </p:spPr>
      </p:sp>
      <p:sp>
        <p:nvSpPr>
          <p:cNvPr id="29703" name="Text Box 17"/>
          <p:cNvSpPr txBox="1"/>
          <p:nvPr/>
        </p:nvSpPr>
        <p:spPr>
          <a:xfrm>
            <a:off x="3481388" y="4597400"/>
            <a:ext cx="1133475" cy="739775"/>
          </a:xfrm>
          <a:prstGeom prst="rect">
            <a:avLst/>
          </a:prstGeom>
          <a:gradFill rotWithShape="1">
            <a:gsLst>
              <a:gs pos="0">
                <a:srgbClr val="2F7647"/>
              </a:gs>
              <a:gs pos="50000">
                <a:srgbClr val="66FF99"/>
              </a:gs>
              <a:gs pos="100000">
                <a:srgbClr val="2F7647"/>
              </a:gs>
            </a:gsLst>
            <a:lin ang="0" scaled="1"/>
            <a:tileRect/>
          </a:gradFill>
          <a:ln w="9525" cap="flat" cmpd="sng">
            <a:solidFill>
              <a:srgbClr val="66FF99"/>
            </a:solidFill>
            <a:prstDash val="solid"/>
            <a:miter/>
            <a:headEnd type="none" w="med" len="med"/>
            <a:tailEnd type="none" w="med" len="med"/>
          </a:ln>
        </p:spPr>
        <p:txBody>
          <a:bodyPr>
            <a:spAutoFit/>
          </a:bodyPr>
          <a:p>
            <a:pPr algn="ctr">
              <a:spcBef>
                <a:spcPct val="20000"/>
              </a:spcBef>
              <a:buChar char="•"/>
            </a:pPr>
            <a:r>
              <a:rPr sz="1400" b="1" dirty="0">
                <a:latin typeface="Helvetica" charset="0"/>
              </a:rPr>
              <a:t>6 x GbE</a:t>
            </a:r>
            <a:endParaRPr sz="1400" b="1" dirty="0">
              <a:latin typeface="Helvetica" charset="0"/>
            </a:endParaRPr>
          </a:p>
          <a:p>
            <a:pPr algn="ctr">
              <a:spcBef>
                <a:spcPct val="20000"/>
              </a:spcBef>
              <a:buChar char="•"/>
            </a:pPr>
            <a:r>
              <a:rPr sz="1400" b="1" dirty="0">
                <a:latin typeface="Helvetica" charset="0"/>
              </a:rPr>
              <a:t>File Serving</a:t>
            </a:r>
            <a:endParaRPr sz="1400" dirty="0">
              <a:latin typeface="Helvetica" charset="0"/>
            </a:endParaRPr>
          </a:p>
        </p:txBody>
      </p:sp>
      <p:sp>
        <p:nvSpPr>
          <p:cNvPr id="29704" name="Line 28"/>
          <p:cNvSpPr/>
          <p:nvPr/>
        </p:nvSpPr>
        <p:spPr>
          <a:xfrm flipH="1">
            <a:off x="3481388" y="2495550"/>
            <a:ext cx="649287" cy="2101850"/>
          </a:xfrm>
          <a:prstGeom prst="line">
            <a:avLst/>
          </a:prstGeom>
          <a:ln w="12700" cap="flat" cmpd="sng">
            <a:solidFill>
              <a:srgbClr val="66FF99"/>
            </a:solidFill>
            <a:prstDash val="solid"/>
            <a:headEnd type="triangle" w="med" len="med"/>
            <a:tailEnd type="none" w="med" len="med"/>
          </a:ln>
        </p:spPr>
      </p:sp>
      <p:sp>
        <p:nvSpPr>
          <p:cNvPr id="29705" name="Text Box 21"/>
          <p:cNvSpPr txBox="1"/>
          <p:nvPr/>
        </p:nvSpPr>
        <p:spPr>
          <a:xfrm>
            <a:off x="5178425" y="4597400"/>
            <a:ext cx="1365250" cy="739775"/>
          </a:xfrm>
          <a:prstGeom prst="rect">
            <a:avLst/>
          </a:prstGeom>
          <a:gradFill rotWithShape="1">
            <a:gsLst>
              <a:gs pos="0">
                <a:srgbClr val="765E00"/>
              </a:gs>
              <a:gs pos="50000">
                <a:srgbClr val="FFCC00"/>
              </a:gs>
              <a:gs pos="100000">
                <a:srgbClr val="765E00"/>
              </a:gs>
            </a:gsLst>
            <a:lin ang="0" scaled="1"/>
            <a:tileRect/>
          </a:gradFill>
          <a:ln w="9525" cap="flat" cmpd="sng">
            <a:solidFill>
              <a:srgbClr val="FFCC00"/>
            </a:solidFill>
            <a:prstDash val="solid"/>
            <a:miter/>
            <a:headEnd type="none" w="med" len="med"/>
            <a:tailEnd type="none" w="med" len="med"/>
          </a:ln>
        </p:spPr>
        <p:txBody>
          <a:bodyPr>
            <a:spAutoFit/>
          </a:bodyPr>
          <a:p>
            <a:pPr algn="ctr">
              <a:spcBef>
                <a:spcPct val="20000"/>
              </a:spcBef>
              <a:buChar char="•"/>
            </a:pPr>
            <a:r>
              <a:rPr sz="1400" b="1" dirty="0">
                <a:latin typeface="Helvetica" charset="0"/>
              </a:rPr>
              <a:t>5 x 10/100 Switch for</a:t>
            </a:r>
            <a:endParaRPr sz="1400" b="1" dirty="0">
              <a:latin typeface="Helvetica" charset="0"/>
            </a:endParaRPr>
          </a:p>
          <a:p>
            <a:pPr algn="ctr">
              <a:spcBef>
                <a:spcPct val="20000"/>
              </a:spcBef>
              <a:buChar char="•"/>
            </a:pPr>
            <a:r>
              <a:rPr sz="1400" b="1" dirty="0">
                <a:latin typeface="Helvetica" charset="0"/>
              </a:rPr>
              <a:t>Management</a:t>
            </a:r>
            <a:endParaRPr sz="1400" dirty="0">
              <a:latin typeface="Helvetica" charset="0"/>
            </a:endParaRPr>
          </a:p>
        </p:txBody>
      </p:sp>
      <p:sp>
        <p:nvSpPr>
          <p:cNvPr id="29706" name="Line 29"/>
          <p:cNvSpPr/>
          <p:nvPr/>
        </p:nvSpPr>
        <p:spPr>
          <a:xfrm flipH="1">
            <a:off x="5178425" y="2505075"/>
            <a:ext cx="647700" cy="2122488"/>
          </a:xfrm>
          <a:prstGeom prst="line">
            <a:avLst/>
          </a:prstGeom>
          <a:ln w="12700" cap="flat" cmpd="sng">
            <a:solidFill>
              <a:srgbClr val="FFCC00"/>
            </a:solidFill>
            <a:prstDash val="solid"/>
            <a:headEnd type="triangle" w="med" len="med"/>
            <a:tailEnd type="none" w="med" len="med"/>
          </a:ln>
        </p:spPr>
      </p:sp>
      <p:sp>
        <p:nvSpPr>
          <p:cNvPr id="29707" name="Text Box 18"/>
          <p:cNvSpPr txBox="1"/>
          <p:nvPr/>
        </p:nvSpPr>
        <p:spPr>
          <a:xfrm>
            <a:off x="6732588" y="4597400"/>
            <a:ext cx="1133475" cy="527050"/>
          </a:xfrm>
          <a:prstGeom prst="rect">
            <a:avLst/>
          </a:prstGeom>
          <a:gradFill rotWithShape="1">
            <a:gsLst>
              <a:gs pos="0">
                <a:srgbClr val="5E2F76"/>
              </a:gs>
              <a:gs pos="50000">
                <a:srgbClr val="CC66FF"/>
              </a:gs>
              <a:gs pos="100000">
                <a:srgbClr val="5E2F76"/>
              </a:gs>
            </a:gsLst>
            <a:lin ang="0" scaled="1"/>
            <a:tileRect/>
          </a:gradFill>
          <a:ln w="9525" cap="flat" cmpd="sng">
            <a:solidFill>
              <a:srgbClr val="CC66FF"/>
            </a:solidFill>
            <a:prstDash val="solid"/>
            <a:miter/>
            <a:headEnd type="none" w="med" len="med"/>
            <a:tailEnd type="none" w="med" len="med"/>
          </a:ln>
        </p:spPr>
        <p:txBody>
          <a:bodyPr>
            <a:spAutoFit/>
          </a:bodyPr>
          <a:p>
            <a:pPr algn="ctr">
              <a:spcBef>
                <a:spcPct val="20000"/>
              </a:spcBef>
              <a:buChar char="•"/>
            </a:pPr>
            <a:r>
              <a:rPr sz="1400" b="1" dirty="0">
                <a:latin typeface="Helvetica" charset="0"/>
              </a:rPr>
              <a:t>4 x FC</a:t>
            </a:r>
            <a:endParaRPr sz="1400" b="1" dirty="0">
              <a:latin typeface="Helvetica" charset="0"/>
            </a:endParaRPr>
          </a:p>
          <a:p>
            <a:pPr algn="ctr">
              <a:spcBef>
                <a:spcPct val="20000"/>
              </a:spcBef>
              <a:buChar char="•"/>
            </a:pPr>
            <a:r>
              <a:rPr sz="1400" b="1" dirty="0">
                <a:latin typeface="Helvetica" charset="0"/>
              </a:rPr>
              <a:t>Storage</a:t>
            </a:r>
            <a:endParaRPr sz="1400" b="1" dirty="0">
              <a:latin typeface="Helvetica" charset="0"/>
            </a:endParaRPr>
          </a:p>
        </p:txBody>
      </p:sp>
      <p:sp>
        <p:nvSpPr>
          <p:cNvPr id="29708" name="Line 30"/>
          <p:cNvSpPr/>
          <p:nvPr/>
        </p:nvSpPr>
        <p:spPr>
          <a:xfrm flipH="1">
            <a:off x="6732588" y="2495550"/>
            <a:ext cx="422275" cy="2132013"/>
          </a:xfrm>
          <a:prstGeom prst="line">
            <a:avLst/>
          </a:prstGeom>
          <a:ln w="12700" cap="flat" cmpd="sng">
            <a:solidFill>
              <a:srgbClr val="CC66FF"/>
            </a:solidFill>
            <a:prstDash val="solid"/>
            <a:headEnd type="triangle" w="med" len="med"/>
            <a:tailEnd type="none" w="med" len="med"/>
          </a:ln>
        </p:spPr>
      </p:sp>
      <p:sp>
        <p:nvSpPr>
          <p:cNvPr id="29709" name="Text Box 23"/>
          <p:cNvSpPr txBox="1"/>
          <p:nvPr/>
        </p:nvSpPr>
        <p:spPr>
          <a:xfrm>
            <a:off x="552450" y="5699125"/>
            <a:ext cx="1627188" cy="739775"/>
          </a:xfrm>
          <a:prstGeom prst="rect">
            <a:avLst/>
          </a:prstGeom>
          <a:noFill/>
          <a:ln w="9525" cap="flat" cmpd="sng">
            <a:solidFill>
              <a:schemeClr val="tx1"/>
            </a:solidFill>
            <a:prstDash val="solid"/>
            <a:miter/>
            <a:headEnd type="none" w="med" len="med"/>
            <a:tailEnd type="none" w="med" len="med"/>
          </a:ln>
        </p:spPr>
        <p:txBody>
          <a:bodyPr>
            <a:spAutoFit/>
          </a:bodyPr>
          <a:p>
            <a:pPr>
              <a:spcBef>
                <a:spcPct val="20000"/>
              </a:spcBef>
              <a:buChar char="•"/>
            </a:pPr>
            <a:r>
              <a:rPr sz="1400" b="1" dirty="0">
                <a:latin typeface="Arial" panose="020B0604020202020204" pitchFamily="34" charset="0"/>
              </a:rPr>
              <a:t>Serial port located on front panel of chassis</a:t>
            </a:r>
            <a:endParaRPr sz="1400" b="1"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3"/>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Bezel</a:t>
            </a:r>
            <a:endParaRPr dirty="0">
              <a:solidFill>
                <a:schemeClr val="tx1"/>
              </a:solidFill>
            </a:endParaRPr>
          </a:p>
        </p:txBody>
      </p:sp>
      <p:sp>
        <p:nvSpPr>
          <p:cNvPr id="31746" name="Line 4"/>
          <p:cNvSpPr/>
          <p:nvPr/>
        </p:nvSpPr>
        <p:spPr>
          <a:xfrm>
            <a:off x="2235200" y="4567238"/>
            <a:ext cx="2278063" cy="1539875"/>
          </a:xfrm>
          <a:prstGeom prst="line">
            <a:avLst/>
          </a:prstGeom>
          <a:ln w="28575" cap="flat" cmpd="sng">
            <a:solidFill>
              <a:srgbClr val="FF9900"/>
            </a:solidFill>
            <a:prstDash val="solid"/>
            <a:headEnd type="triangle" w="med" len="med"/>
            <a:tailEnd type="none" w="med" len="med"/>
          </a:ln>
          <a:scene3d>
            <a:camera prst="legacyPerspectiveFront">
              <a:rot lat="600000" lon="2400000" rev="0"/>
            </a:camera>
            <a:lightRig rig="legacyHarsh1" dir="t"/>
          </a:scene3d>
          <a:sp3d extrusionH="49200" prstMaterial="legacyPlastic">
            <a:bevelT w="13500" h="13500" prst="angle"/>
            <a:bevelB w="13500" h="13500" prst="angle"/>
            <a:extrusionClr>
              <a:srgbClr val="FF9900"/>
            </a:extrusionClr>
          </a:sp3d>
        </p:spPr>
      </p:sp>
      <p:sp>
        <p:nvSpPr>
          <p:cNvPr id="31747" name="Line 5"/>
          <p:cNvSpPr/>
          <p:nvPr/>
        </p:nvSpPr>
        <p:spPr>
          <a:xfrm flipH="1" flipV="1">
            <a:off x="4344988" y="4516438"/>
            <a:ext cx="1587" cy="1816100"/>
          </a:xfrm>
          <a:prstGeom prst="line">
            <a:avLst/>
          </a:prstGeom>
          <a:ln w="28575" cap="flat" cmpd="sng">
            <a:solidFill>
              <a:srgbClr val="FF9900"/>
            </a:solidFill>
            <a:prstDash val="solid"/>
            <a:headEnd type="oval" w="med" len="med"/>
            <a:tailEnd type="triangle" w="med" len="med"/>
          </a:ln>
          <a:scene3d>
            <a:camera prst="legacyObliqueFront">
              <a:rot lat="600000" lon="2400000" rev="0"/>
            </a:camera>
            <a:lightRig rig="legacyHarsh1" dir="t"/>
          </a:scene3d>
          <a:sp3d extrusionH="49200" prstMaterial="legacyPlastic">
            <a:bevelT w="13500" h="13500" prst="angle"/>
            <a:bevelB w="13500" h="13500" prst="angle"/>
            <a:extrusionClr>
              <a:srgbClr val="FF9900"/>
            </a:extrusionClr>
          </a:sp3d>
        </p:spPr>
      </p:sp>
      <p:sp>
        <p:nvSpPr>
          <p:cNvPr id="31748" name="Line 6"/>
          <p:cNvSpPr/>
          <p:nvPr/>
        </p:nvSpPr>
        <p:spPr>
          <a:xfrm flipH="1">
            <a:off x="3905250" y="4471988"/>
            <a:ext cx="2960688" cy="2090737"/>
          </a:xfrm>
          <a:prstGeom prst="line">
            <a:avLst/>
          </a:prstGeom>
          <a:ln w="28575" cap="flat" cmpd="sng">
            <a:solidFill>
              <a:srgbClr val="FF9900"/>
            </a:solidFill>
            <a:prstDash val="solid"/>
            <a:headEnd type="triangle" w="med" len="med"/>
            <a:tailEnd type="none" w="med" len="med"/>
          </a:ln>
          <a:scene3d>
            <a:camera prst="legacyPerspectiveFront">
              <a:rot lat="600000" lon="2400000" rev="0"/>
            </a:camera>
            <a:lightRig rig="legacyHarsh1" dir="t"/>
          </a:scene3d>
          <a:sp3d extrusionH="49200" prstMaterial="legacyPlastic">
            <a:bevelT w="13500" h="13500" prst="angle"/>
            <a:bevelB w="13500" h="13500" prst="angle"/>
            <a:extrusionClr>
              <a:srgbClr val="FF9900"/>
            </a:extrusionClr>
          </a:sp3d>
        </p:spPr>
      </p:sp>
      <p:sp>
        <p:nvSpPr>
          <p:cNvPr id="31749" name="Text Box 7"/>
          <p:cNvSpPr txBox="1"/>
          <p:nvPr/>
        </p:nvSpPr>
        <p:spPr>
          <a:xfrm>
            <a:off x="2667000" y="6289675"/>
            <a:ext cx="3624263" cy="454025"/>
          </a:xfrm>
          <a:prstGeom prst="rect">
            <a:avLst/>
          </a:prstGeom>
          <a:noFill/>
          <a:ln w="12700">
            <a:noFill/>
          </a:ln>
        </p:spPr>
        <p:txBody>
          <a:bodyPr wrap="none" lIns="90488" tIns="44450" rIns="90488" bIns="44450">
            <a:spAutoFit/>
          </a:bodyPr>
          <a:p>
            <a:r>
              <a:rPr sz="2400" dirty="0">
                <a:solidFill>
                  <a:schemeClr val="tx1"/>
                </a:solidFill>
                <a:latin typeface="Helvetica" charset="0"/>
              </a:rPr>
              <a:t>Cooling Fans (not visible)</a:t>
            </a:r>
            <a:endParaRPr sz="2400" dirty="0">
              <a:solidFill>
                <a:schemeClr val="tx1"/>
              </a:solidFill>
              <a:latin typeface="Helvetica" charset="0"/>
            </a:endParaRPr>
          </a:p>
        </p:txBody>
      </p:sp>
      <p:pic>
        <p:nvPicPr>
          <p:cNvPr id="31750" name="Picture 9" descr="3080 Front Cropped"/>
          <p:cNvPicPr>
            <a:picLocks noChangeAspect="1"/>
          </p:cNvPicPr>
          <p:nvPr/>
        </p:nvPicPr>
        <p:blipFill>
          <a:blip r:embed="rId1"/>
          <a:stretch>
            <a:fillRect/>
          </a:stretch>
        </p:blipFill>
        <p:spPr>
          <a:xfrm>
            <a:off x="868363" y="1828800"/>
            <a:ext cx="7361237" cy="2581275"/>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4258" name="Rectangle 2"/>
          <p:cNvSpPr/>
          <p:nvPr/>
        </p:nvSpPr>
        <p:spPr>
          <a:xfrm>
            <a:off x="152400" y="2030413"/>
            <a:ext cx="5548313" cy="636587"/>
          </a:xfrm>
          <a:prstGeom prst="rect">
            <a:avLst/>
          </a:prstGeom>
          <a:solidFill>
            <a:schemeClr val="accent1">
              <a:alpha val="23921"/>
            </a:schemeClr>
          </a:solidFill>
          <a:ln w="12700"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33794" name="Rectangle 3"/>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Agenda</a:t>
            </a:r>
            <a:endParaRPr dirty="0">
              <a:solidFill>
                <a:schemeClr val="tx1"/>
              </a:solidFill>
            </a:endParaRPr>
          </a:p>
        </p:txBody>
      </p:sp>
      <p:sp>
        <p:nvSpPr>
          <p:cNvPr id="33795" name="Rectangle 6"/>
          <p:cNvSpPr txBox="1"/>
          <p:nvPr/>
        </p:nvSpPr>
        <p:spPr>
          <a:xfrm>
            <a:off x="227013" y="1295400"/>
            <a:ext cx="8763000" cy="5181600"/>
          </a:xfrm>
          <a:prstGeom prst="rect">
            <a:avLst/>
          </a:prstGeom>
          <a:noFill/>
          <a:ln w="9525">
            <a:noFill/>
          </a:ln>
        </p:spPr>
        <p:txBody>
          <a:bodyPr/>
          <a:p>
            <a:pPr marL="228600" indent="-228600" defTabSz="914400">
              <a:spcBef>
                <a:spcPct val="20000"/>
              </a:spcBef>
              <a:buChar char="•"/>
              <a:tabLst>
                <a:tab pos="2246630" algn="l"/>
                <a:tab pos="2514600" algn="l"/>
              </a:tabLst>
            </a:pPr>
            <a:r>
              <a:rPr sz="2000" dirty="0">
                <a:latin typeface="Helvetica" charset="0"/>
              </a:rPr>
              <a:t>Hardware Overview</a:t>
            </a:r>
            <a:endParaRPr sz="2000" dirty="0">
              <a:latin typeface="Helvetica" charset="0"/>
            </a:endParaRPr>
          </a:p>
          <a:p>
            <a:pPr marL="228600" indent="-228600" defTabSz="914400">
              <a:spcBef>
                <a:spcPct val="20000"/>
              </a:spcBef>
              <a:buChar char="•"/>
              <a:tabLst>
                <a:tab pos="2246630" algn="l"/>
                <a:tab pos="2514600" algn="l"/>
              </a:tabLst>
            </a:pPr>
            <a:endParaRPr sz="2000" dirty="0">
              <a:latin typeface="Helvetica" charset="0"/>
            </a:endParaRPr>
          </a:p>
          <a:p>
            <a:pPr marL="228600" indent="-228600" defTabSz="914400">
              <a:spcBef>
                <a:spcPct val="20000"/>
              </a:spcBef>
              <a:buChar char="•"/>
              <a:tabLst>
                <a:tab pos="2246630" algn="l"/>
                <a:tab pos="2514600" algn="l"/>
              </a:tabLst>
            </a:pPr>
            <a:r>
              <a:rPr sz="2000" dirty="0">
                <a:latin typeface="Helvetica" charset="0"/>
              </a:rPr>
              <a:t>Software Overview</a:t>
            </a:r>
            <a:endParaRPr sz="2000" dirty="0">
              <a:latin typeface="Helvetica" charset="0"/>
            </a:endParaRPr>
          </a:p>
          <a:p>
            <a:pPr marL="228600" indent="-228600" defTabSz="914400">
              <a:spcBef>
                <a:spcPct val="20000"/>
              </a:spcBef>
              <a:buChar char="•"/>
              <a:tabLst>
                <a:tab pos="2246630" algn="l"/>
                <a:tab pos="2514600" algn="l"/>
              </a:tabLst>
            </a:pPr>
            <a:endParaRPr sz="2000" dirty="0">
              <a:latin typeface="Helvetica" charset="0"/>
            </a:endParaRPr>
          </a:p>
          <a:p>
            <a:pPr marL="228600" indent="-228600" defTabSz="914400">
              <a:spcBef>
                <a:spcPct val="20000"/>
              </a:spcBef>
              <a:buChar char="•"/>
              <a:tabLst>
                <a:tab pos="2246630" algn="l"/>
                <a:tab pos="2514600" algn="l"/>
              </a:tabLst>
            </a:pPr>
            <a:r>
              <a:rPr sz="2000" dirty="0">
                <a:latin typeface="Helvetica" charset="0"/>
              </a:rPr>
              <a:t>Software bundles</a:t>
            </a:r>
            <a:endParaRPr sz="2000" dirty="0">
              <a:latin typeface="Helvetica" charset="0"/>
            </a:endParaRPr>
          </a:p>
          <a:p>
            <a:pPr marL="228600" indent="-228600" defTabSz="914400">
              <a:spcBef>
                <a:spcPct val="20000"/>
              </a:spcBef>
              <a:buChar char="•"/>
              <a:tabLst>
                <a:tab pos="2246630" algn="l"/>
                <a:tab pos="2514600" algn="l"/>
              </a:tabLst>
            </a:pPr>
            <a:endParaRPr sz="2000" dirty="0">
              <a:latin typeface="Helvetica" charset="0"/>
            </a:endParaRPr>
          </a:p>
          <a:p>
            <a:pPr marL="228600" indent="-228600" defTabSz="914400">
              <a:spcBef>
                <a:spcPct val="20000"/>
              </a:spcBef>
              <a:buChar char="•"/>
              <a:tabLst>
                <a:tab pos="2246630" algn="l"/>
                <a:tab pos="2514600" algn="l"/>
              </a:tabLst>
            </a:pPr>
            <a:r>
              <a:rPr sz="2000" dirty="0">
                <a:latin typeface="Helvetica" charset="0"/>
              </a:rPr>
              <a:t>Solutions Overview</a:t>
            </a:r>
            <a:endParaRPr sz="2000" dirty="0">
              <a:latin typeface="Helvetica" charset="0"/>
            </a:endParaRPr>
          </a:p>
          <a:p>
            <a:pPr marL="228600" indent="-228600" defTabSz="914400">
              <a:spcBef>
                <a:spcPct val="20000"/>
              </a:spcBef>
              <a:buChar char="•"/>
              <a:tabLst>
                <a:tab pos="2246630" algn="l"/>
                <a:tab pos="2514600" algn="l"/>
              </a:tabLst>
            </a:pPr>
            <a:endParaRPr sz="2000" dirty="0">
              <a:latin typeface="Helvetica" charset="0"/>
            </a:endParaRPr>
          </a:p>
          <a:p>
            <a:pPr marL="228600" indent="-228600" defTabSz="914400">
              <a:spcBef>
                <a:spcPct val="20000"/>
              </a:spcBef>
              <a:buChar char="•"/>
              <a:tabLst>
                <a:tab pos="2246630" algn="l"/>
                <a:tab pos="2514600" algn="l"/>
              </a:tabLst>
            </a:pPr>
            <a:endParaRPr sz="2000" dirty="0">
              <a:latin typeface="Helvetica" charset="0"/>
            </a:endParaRPr>
          </a:p>
          <a:p>
            <a:pPr marL="228600" indent="-228600" defTabSz="914400">
              <a:spcBef>
                <a:spcPct val="20000"/>
              </a:spcBef>
              <a:buChar char="•"/>
              <a:tabLst>
                <a:tab pos="2246630" algn="l"/>
                <a:tab pos="2514600" algn="l"/>
              </a:tabLst>
            </a:pPr>
            <a:endParaRPr sz="2000" dirty="0">
              <a:latin typeface="Helvetica" charset="0"/>
            </a:endParaRPr>
          </a:p>
          <a:p>
            <a:pPr marL="228600" indent="-228600" defTabSz="914400">
              <a:spcBef>
                <a:spcPct val="20000"/>
              </a:spcBef>
              <a:tabLst>
                <a:tab pos="2246630" algn="l"/>
                <a:tab pos="2514600" algn="l"/>
              </a:tabLst>
            </a:pPr>
            <a:endParaRPr sz="2000" dirty="0">
              <a:latin typeface="Helvetica"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4258"/>
                                        </p:tgtEl>
                                        <p:attrNameLst>
                                          <p:attrName>style.visibility</p:attrName>
                                        </p:attrNameLst>
                                      </p:cBhvr>
                                      <p:to>
                                        <p:strVal val="visible"/>
                                      </p:to>
                                    </p:set>
                                    <p:animEffect transition="in" filter="blinds(horizontal)">
                                      <p:cBhvr>
                                        <p:cTn id="7" dur="500"/>
                                        <p:tgtEl>
                                          <p:spTgt spid="864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5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idx="4294967295"/>
          </p:nvPr>
        </p:nvSpPr>
        <p:spPr>
          <a:ln/>
        </p:spPr>
        <p:txBody>
          <a:bodyPr vert="horz" wrap="square" lIns="91440" tIns="45720" rIns="91440" bIns="45720" anchor="ctr" anchorCtr="0">
            <a:spAutoFit/>
          </a:bodyPr>
          <a:p>
            <a:r>
              <a:rPr dirty="0"/>
              <a:t>Rolling cluster upgrades – what</a:t>
            </a:r>
            <a:r>
              <a:rPr lang="ja-JP" altLang="en-US" dirty="0"/>
              <a:t>’</a:t>
            </a:r>
            <a:r>
              <a:rPr lang="en-US" altLang="ja-JP" dirty="0"/>
              <a:t>s new</a:t>
            </a:r>
            <a:endParaRPr dirty="0"/>
          </a:p>
        </p:txBody>
      </p:sp>
      <p:sp>
        <p:nvSpPr>
          <p:cNvPr id="35842" name="Rectangle 3"/>
          <p:cNvSpPr>
            <a:spLocks noGrp="1"/>
          </p:cNvSpPr>
          <p:nvPr>
            <p:ph type="body" idx="4294967295"/>
          </p:nvPr>
        </p:nvSpPr>
        <p:spPr>
          <a:ln/>
        </p:spPr>
        <p:txBody>
          <a:bodyPr vert="horz" wrap="square" lIns="91440" tIns="45720" rIns="91440" bIns="45720" anchor="t" anchorCtr="0"/>
          <a:p>
            <a:pPr marL="344805" indent="-344805">
              <a:lnSpc>
                <a:spcPct val="85000"/>
              </a:lnSpc>
              <a:tabLst>
                <a:tab pos="-635" algn="l"/>
              </a:tabLst>
            </a:pPr>
            <a:r>
              <a:rPr dirty="0"/>
              <a:t>Allows upgrading nodes in a cluster one at a time</a:t>
            </a:r>
            <a:endParaRPr dirty="0"/>
          </a:p>
          <a:p>
            <a:pPr marL="802005" lvl="1" indent="-336550">
              <a:lnSpc>
                <a:spcPct val="85000"/>
              </a:lnSpc>
              <a:tabLst>
                <a:tab pos="-635" algn="l"/>
              </a:tabLst>
            </a:pPr>
            <a:r>
              <a:rPr dirty="0"/>
              <a:t>No interruption of service for NFSv3 network clients</a:t>
            </a:r>
            <a:endParaRPr dirty="0"/>
          </a:p>
          <a:p>
            <a:pPr marL="802005" lvl="1" indent="-336550">
              <a:lnSpc>
                <a:spcPct val="85000"/>
              </a:lnSpc>
              <a:tabLst>
                <a:tab pos="-635" algn="l"/>
              </a:tabLst>
            </a:pPr>
            <a:r>
              <a:rPr dirty="0"/>
              <a:t>CIFS and NFSv4 clients still need to re-logon by pressing F5</a:t>
            </a:r>
            <a:endParaRPr dirty="0"/>
          </a:p>
          <a:p>
            <a:pPr marL="802005" lvl="1" indent="-336550">
              <a:lnSpc>
                <a:spcPct val="85000"/>
              </a:lnSpc>
              <a:tabLst>
                <a:tab pos="-635" algn="l"/>
              </a:tabLst>
            </a:pPr>
            <a:r>
              <a:rPr dirty="0"/>
              <a:t>Since 4.3.x code, HNAS support rolling upgrades for </a:t>
            </a:r>
            <a:r>
              <a:rPr u="sng" dirty="0"/>
              <a:t>point builds only</a:t>
            </a:r>
            <a:endParaRPr dirty="0"/>
          </a:p>
          <a:p>
            <a:pPr marL="1208405" lvl="2" indent="-292100">
              <a:lnSpc>
                <a:spcPct val="85000"/>
              </a:lnSpc>
              <a:tabLst>
                <a:tab pos="-635" algn="l"/>
              </a:tabLst>
            </a:pPr>
            <a:r>
              <a:rPr dirty="0"/>
              <a:t>For example, 4.3.996d to 996j, or 5.1.1156.16 to 1156.17</a:t>
            </a:r>
            <a:endParaRPr dirty="0"/>
          </a:p>
          <a:p>
            <a:pPr marL="1208405" lvl="2" indent="-292100">
              <a:lnSpc>
                <a:spcPct val="85000"/>
              </a:lnSpc>
              <a:tabLst>
                <a:tab pos="-635" algn="l"/>
              </a:tabLst>
            </a:pPr>
            <a:endParaRPr dirty="0"/>
          </a:p>
          <a:p>
            <a:pPr marL="344805" indent="-344805">
              <a:lnSpc>
                <a:spcPct val="85000"/>
              </a:lnSpc>
              <a:tabLst>
                <a:tab pos="-635" algn="l"/>
              </a:tabLst>
            </a:pPr>
            <a:r>
              <a:rPr dirty="0"/>
              <a:t>Supports rolling upgrades to the </a:t>
            </a:r>
            <a:r>
              <a:rPr u="sng" dirty="0"/>
              <a:t>next minor release</a:t>
            </a:r>
            <a:endParaRPr u="sng" dirty="0"/>
          </a:p>
          <a:p>
            <a:pPr marL="1208405" lvl="2" indent="-292100">
              <a:tabLst>
                <a:tab pos="-635" algn="l"/>
              </a:tabLst>
            </a:pPr>
            <a:r>
              <a:rPr dirty="0"/>
              <a:t>For example, 6.0.&lt;whatever&gt; to 6.1.&lt;whatever&gt;</a:t>
            </a:r>
            <a:endParaRPr dirty="0"/>
          </a:p>
          <a:p>
            <a:pPr marL="1208405" lvl="2" indent="-292100">
              <a:tabLst>
                <a:tab pos="-635" algn="l"/>
              </a:tabLst>
            </a:pPr>
            <a:r>
              <a:rPr dirty="0"/>
              <a:t>But not 6.0 to 6.2 or 6.1 to 7.0</a:t>
            </a:r>
            <a:endParaRPr dirty="0"/>
          </a:p>
          <a:p>
            <a:pPr marL="1208405" lvl="2" indent="-292100">
              <a:buNone/>
              <a:tabLst>
                <a:tab pos="-635" algn="l"/>
              </a:tabLst>
            </a:pPr>
            <a:endParaRPr dirty="0"/>
          </a:p>
        </p:txBody>
      </p:sp>
      <p:sp>
        <p:nvSpPr>
          <p:cNvPr id="35843" name="Slide Number Placeholder 3"/>
          <p:cNvSpPr txBox="1">
            <a:spLocks noGrp="1"/>
          </p:cNvSpPr>
          <p:nvPr/>
        </p:nvSpPr>
        <p:spPr>
          <a:xfrm>
            <a:off x="153988" y="6565900"/>
            <a:ext cx="2133600" cy="254000"/>
          </a:xfrm>
          <a:prstGeom prst="rect">
            <a:avLst/>
          </a:prstGeom>
          <a:noFill/>
          <a:ln w="9525">
            <a:noFill/>
          </a:ln>
        </p:spPr>
        <p:txBody>
          <a:bodyPr/>
          <a:p>
            <a:fld id="{9A0DB2DC-4C9A-4742-B13C-FB6460FD3503}" type="slidenum">
              <a:rPr lang="en-US" sz="1000" dirty="0">
                <a:solidFill>
                  <a:srgbClr val="B2B2B2"/>
                </a:solidFill>
                <a:latin typeface="Arial" panose="020B0604020202020204" pitchFamily="34" charset="0"/>
              </a:rPr>
            </a:fld>
            <a:endParaRPr lang="en-US" sz="1000" dirty="0">
              <a:solidFill>
                <a:srgbClr val="B2B2B2"/>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type="title"/>
          </p:nvPr>
        </p:nvSpPr>
        <p:spPr>
          <a:xfrm>
            <a:off x="228600" y="254000"/>
            <a:ext cx="7086600" cy="331788"/>
          </a:xfrm>
          <a:ln/>
        </p:spPr>
        <p:txBody>
          <a:bodyPr vert="horz" wrap="square" lIns="91440" tIns="0" rIns="91440" bIns="0" anchor="ctr" anchorCtr="0">
            <a:spAutoFit/>
          </a:bodyPr>
          <a:p>
            <a:r>
              <a:rPr dirty="0"/>
              <a:t>Multiple checkpoints</a:t>
            </a:r>
            <a:endParaRPr dirty="0"/>
          </a:p>
        </p:txBody>
      </p:sp>
      <p:sp>
        <p:nvSpPr>
          <p:cNvPr id="37890" name="Rectangle 3"/>
          <p:cNvSpPr>
            <a:spLocks noGrp="1"/>
          </p:cNvSpPr>
          <p:nvPr>
            <p:ph idx="1"/>
          </p:nvPr>
        </p:nvSpPr>
        <p:spPr>
          <a:xfrm>
            <a:off x="730250" y="1600200"/>
            <a:ext cx="7956550" cy="4837113"/>
          </a:xfrm>
          <a:ln/>
        </p:spPr>
        <p:txBody>
          <a:bodyPr vert="horz" wrap="square" lIns="91440" tIns="45720" rIns="91440" bIns="45720" anchor="t" anchorCtr="0"/>
          <a:p>
            <a:pPr>
              <a:lnSpc>
                <a:spcPct val="75000"/>
              </a:lnSpc>
            </a:pPr>
            <a:r>
              <a:rPr dirty="0"/>
              <a:t>Checkpoints are used to preserve file changes (for FS rollback)</a:t>
            </a:r>
            <a:endParaRPr dirty="0"/>
          </a:p>
          <a:p>
            <a:pPr lvl="1">
              <a:lnSpc>
                <a:spcPct val="75000"/>
              </a:lnSpc>
            </a:pPr>
            <a:r>
              <a:rPr dirty="0"/>
              <a:t>The FS can preserves multiple CPs</a:t>
            </a:r>
            <a:endParaRPr dirty="0"/>
          </a:p>
          <a:p>
            <a:pPr lvl="2">
              <a:lnSpc>
                <a:spcPct val="75000"/>
              </a:lnSpc>
            </a:pPr>
            <a:r>
              <a:rPr sz="1600" dirty="0"/>
              <a:t>Default is 128, can be changed at format time (up to 2048)</a:t>
            </a:r>
            <a:endParaRPr sz="1600" dirty="0"/>
          </a:p>
          <a:p>
            <a:pPr lvl="1">
              <a:lnSpc>
                <a:spcPct val="75000"/>
              </a:lnSpc>
            </a:pPr>
            <a:r>
              <a:rPr dirty="0"/>
              <a:t>Changed blocks are released after oldest CP is deleted</a:t>
            </a:r>
            <a:endParaRPr dirty="0"/>
          </a:p>
          <a:p>
            <a:pPr>
              <a:lnSpc>
                <a:spcPct val="75000"/>
              </a:lnSpc>
            </a:pPr>
            <a:r>
              <a:rPr dirty="0"/>
              <a:t>Rolling back to a CP</a:t>
            </a:r>
            <a:endParaRPr dirty="0"/>
          </a:p>
          <a:p>
            <a:pPr lvl="1">
              <a:lnSpc>
                <a:spcPct val="75000"/>
              </a:lnSpc>
            </a:pPr>
            <a:r>
              <a:rPr dirty="0"/>
              <a:t>Any CP can be selected</a:t>
            </a:r>
            <a:endParaRPr dirty="0"/>
          </a:p>
          <a:p>
            <a:pPr lvl="1">
              <a:lnSpc>
                <a:spcPct val="75000"/>
              </a:lnSpc>
            </a:pPr>
            <a:r>
              <a:rPr dirty="0"/>
              <a:t>Rolling back to a CP </a:t>
            </a:r>
            <a:r>
              <a:rPr lang="en-GB" altLang="x-none" dirty="0"/>
              <a:t>does not affect existing snapshots taken prior to the CP that is being restored</a:t>
            </a:r>
            <a:r>
              <a:rPr dirty="0"/>
              <a:t> </a:t>
            </a:r>
            <a:endParaRPr dirty="0"/>
          </a:p>
          <a:p>
            <a:pPr lvl="1">
              <a:lnSpc>
                <a:spcPct val="75000"/>
              </a:lnSpc>
            </a:pPr>
            <a:r>
              <a:rPr lang="en-GB" altLang="x-none" dirty="0"/>
              <a:t>After a rollback to a CP, it is possible to roll back to an older CP</a:t>
            </a:r>
            <a:endParaRPr lang="en-GB" altLang="x-none" dirty="0"/>
          </a:p>
          <a:p>
            <a:pPr lvl="1">
              <a:lnSpc>
                <a:spcPct val="75000"/>
              </a:lnSpc>
            </a:pPr>
            <a:r>
              <a:rPr lang="en-GB" altLang="x-none" dirty="0"/>
              <a:t>After a rollback to a CP, it is possible to roll back to a more recent CP, but only if the file system has not been modified</a:t>
            </a:r>
            <a:endParaRPr lang="en-GB" altLang="x-none" dirty="0"/>
          </a:p>
          <a:p>
            <a:pPr lvl="2">
              <a:lnSpc>
                <a:spcPct val="75000"/>
              </a:lnSpc>
            </a:pPr>
            <a:r>
              <a:rPr lang="en-GB" altLang="x-none" sz="1600" dirty="0"/>
              <a:t>E.g., mount the FS in read only mode, check status, then decide if to re-mount the FS in normal (R/W) mode or rollback to a different CP</a:t>
            </a:r>
            <a:r>
              <a:rPr sz="1600" dirty="0"/>
              <a:t> </a:t>
            </a:r>
            <a:endParaRPr sz="1600" dirty="0"/>
          </a:p>
          <a:p>
            <a:pPr>
              <a:lnSpc>
                <a:spcPct val="75000"/>
              </a:lnSpc>
            </a:pPr>
            <a:r>
              <a:rPr dirty="0"/>
              <a:t>No license required for this feature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Software Suite</a:t>
            </a:r>
            <a:endParaRPr dirty="0">
              <a:solidFill>
                <a:schemeClr val="tx1"/>
              </a:solidFill>
            </a:endParaRPr>
          </a:p>
        </p:txBody>
      </p:sp>
      <p:sp>
        <p:nvSpPr>
          <p:cNvPr id="39938" name="Rectangle 3"/>
          <p:cNvSpPr>
            <a:spLocks noGrp="1"/>
          </p:cNvSpPr>
          <p:nvPr>
            <p:ph idx="1"/>
          </p:nvPr>
        </p:nvSpPr>
        <p:spPr>
          <a:xfrm>
            <a:off x="4803775" y="1219200"/>
            <a:ext cx="4111625" cy="5059363"/>
          </a:xfrm>
          <a:ln/>
        </p:spPr>
        <p:txBody>
          <a:bodyPr vert="horz" wrap="square" lIns="91440" tIns="45720" rIns="91440" bIns="45720" anchor="t" anchorCtr="0"/>
          <a:p>
            <a:pPr eaLnBrk="1" hangingPunct="1">
              <a:lnSpc>
                <a:spcPct val="90000"/>
              </a:lnSpc>
              <a:tabLst>
                <a:tab pos="1371600" algn="l"/>
              </a:tabLst>
            </a:pPr>
            <a:r>
              <a:rPr sz="1500" dirty="0">
                <a:solidFill>
                  <a:srgbClr val="000000"/>
                </a:solidFill>
              </a:rPr>
              <a:t>Virtualization</a:t>
            </a:r>
            <a:endParaRPr sz="1500" dirty="0">
              <a:solidFill>
                <a:srgbClr val="000000"/>
              </a:solidFill>
            </a:endParaRPr>
          </a:p>
          <a:p>
            <a:pPr lvl="1" eaLnBrk="1" hangingPunct="1">
              <a:lnSpc>
                <a:spcPct val="90000"/>
              </a:lnSpc>
              <a:tabLst>
                <a:tab pos="1371600" algn="l"/>
              </a:tabLst>
            </a:pPr>
            <a:r>
              <a:rPr sz="1200" dirty="0">
                <a:solidFill>
                  <a:srgbClr val="000000"/>
                </a:solidFill>
              </a:rPr>
              <a:t>Virtual File System </a:t>
            </a:r>
            <a:endParaRPr sz="1200" dirty="0">
              <a:solidFill>
                <a:srgbClr val="000000"/>
              </a:solidFill>
            </a:endParaRPr>
          </a:p>
          <a:p>
            <a:pPr lvl="1" eaLnBrk="1" hangingPunct="1">
              <a:lnSpc>
                <a:spcPct val="90000"/>
              </a:lnSpc>
              <a:tabLst>
                <a:tab pos="1371600" algn="l"/>
              </a:tabLst>
            </a:pPr>
            <a:r>
              <a:rPr sz="1200" dirty="0">
                <a:solidFill>
                  <a:srgbClr val="000000"/>
                </a:solidFill>
              </a:rPr>
              <a:t>Cluster Name Space</a:t>
            </a:r>
            <a:endParaRPr sz="1200" dirty="0">
              <a:solidFill>
                <a:srgbClr val="000000"/>
              </a:solidFill>
            </a:endParaRPr>
          </a:p>
          <a:p>
            <a:pPr lvl="1" eaLnBrk="1" hangingPunct="1">
              <a:lnSpc>
                <a:spcPct val="90000"/>
              </a:lnSpc>
              <a:tabLst>
                <a:tab pos="1371600" algn="l"/>
              </a:tabLst>
            </a:pPr>
            <a:r>
              <a:rPr sz="1200" dirty="0">
                <a:solidFill>
                  <a:srgbClr val="000000"/>
                </a:solidFill>
              </a:rPr>
              <a:t>Virtual Servers</a:t>
            </a:r>
            <a:endParaRPr sz="1200" dirty="0">
              <a:solidFill>
                <a:srgbClr val="000000"/>
              </a:solidFill>
            </a:endParaRPr>
          </a:p>
          <a:p>
            <a:pPr lvl="1" eaLnBrk="1" hangingPunct="1">
              <a:lnSpc>
                <a:spcPct val="90000"/>
              </a:lnSpc>
              <a:tabLst>
                <a:tab pos="1371600" algn="l"/>
              </a:tabLst>
            </a:pPr>
            <a:r>
              <a:rPr sz="1200" dirty="0">
                <a:solidFill>
                  <a:srgbClr val="000000"/>
                </a:solidFill>
              </a:rPr>
              <a:t>Virtual Volumes</a:t>
            </a:r>
            <a:endParaRPr sz="1200" dirty="0">
              <a:solidFill>
                <a:srgbClr val="000000"/>
              </a:solidFill>
            </a:endParaRPr>
          </a:p>
          <a:p>
            <a:pPr eaLnBrk="1" hangingPunct="1">
              <a:lnSpc>
                <a:spcPct val="90000"/>
              </a:lnSpc>
              <a:tabLst>
                <a:tab pos="1371600" algn="l"/>
              </a:tabLst>
            </a:pPr>
            <a:r>
              <a:rPr sz="1500" dirty="0">
                <a:solidFill>
                  <a:srgbClr val="000000"/>
                </a:solidFill>
              </a:rPr>
              <a:t>Storage Management</a:t>
            </a:r>
            <a:endParaRPr sz="1500" dirty="0">
              <a:solidFill>
                <a:srgbClr val="000000"/>
              </a:solidFill>
            </a:endParaRPr>
          </a:p>
          <a:p>
            <a:pPr lvl="1" eaLnBrk="1" hangingPunct="1">
              <a:lnSpc>
                <a:spcPct val="90000"/>
              </a:lnSpc>
              <a:tabLst>
                <a:tab pos="1371600" algn="l"/>
              </a:tabLst>
            </a:pPr>
            <a:r>
              <a:rPr sz="1200" dirty="0">
                <a:solidFill>
                  <a:srgbClr val="000000"/>
                </a:solidFill>
              </a:rPr>
              <a:t>Integrated Tiered Storage</a:t>
            </a:r>
            <a:endParaRPr sz="1200" dirty="0">
              <a:solidFill>
                <a:srgbClr val="000000"/>
              </a:solidFill>
            </a:endParaRPr>
          </a:p>
          <a:p>
            <a:pPr lvl="1" eaLnBrk="1" hangingPunct="1">
              <a:lnSpc>
                <a:spcPct val="90000"/>
              </a:lnSpc>
              <a:tabLst>
                <a:tab pos="1371600" algn="l"/>
              </a:tabLst>
            </a:pPr>
            <a:r>
              <a:rPr sz="1200" dirty="0">
                <a:solidFill>
                  <a:srgbClr val="000000"/>
                </a:solidFill>
              </a:rPr>
              <a:t>Policy based data migration, classification and replication</a:t>
            </a:r>
            <a:endParaRPr sz="1200" dirty="0">
              <a:solidFill>
                <a:srgbClr val="000000"/>
              </a:solidFill>
            </a:endParaRPr>
          </a:p>
          <a:p>
            <a:pPr eaLnBrk="1" hangingPunct="1">
              <a:lnSpc>
                <a:spcPct val="90000"/>
              </a:lnSpc>
              <a:tabLst>
                <a:tab pos="1371600" algn="l"/>
              </a:tabLst>
            </a:pPr>
            <a:r>
              <a:rPr sz="1500" dirty="0">
                <a:solidFill>
                  <a:srgbClr val="000000"/>
                </a:solidFill>
              </a:rPr>
              <a:t>Data Protection</a:t>
            </a:r>
            <a:endParaRPr sz="1500" dirty="0">
              <a:solidFill>
                <a:srgbClr val="000000"/>
              </a:solidFill>
            </a:endParaRPr>
          </a:p>
          <a:p>
            <a:pPr lvl="1" eaLnBrk="1" hangingPunct="1">
              <a:lnSpc>
                <a:spcPct val="90000"/>
              </a:lnSpc>
              <a:tabLst>
                <a:tab pos="1371600" algn="l"/>
              </a:tabLst>
            </a:pPr>
            <a:r>
              <a:rPr sz="1200" dirty="0">
                <a:solidFill>
                  <a:srgbClr val="000000"/>
                </a:solidFill>
              </a:rPr>
              <a:t>Snapshots</a:t>
            </a:r>
            <a:endParaRPr sz="1200" dirty="0">
              <a:solidFill>
                <a:srgbClr val="000000"/>
              </a:solidFill>
            </a:endParaRPr>
          </a:p>
          <a:p>
            <a:pPr lvl="1" eaLnBrk="1" hangingPunct="1">
              <a:lnSpc>
                <a:spcPct val="90000"/>
              </a:lnSpc>
              <a:tabLst>
                <a:tab pos="1371600" algn="l"/>
              </a:tabLst>
            </a:pPr>
            <a:r>
              <a:rPr sz="1200" dirty="0">
                <a:solidFill>
                  <a:srgbClr val="000000"/>
                </a:solidFill>
              </a:rPr>
              <a:t>Asynchronous and synchronous replication</a:t>
            </a:r>
            <a:endParaRPr sz="1200" dirty="0">
              <a:solidFill>
                <a:srgbClr val="000000"/>
              </a:solidFill>
            </a:endParaRPr>
          </a:p>
          <a:p>
            <a:pPr lvl="1" eaLnBrk="1" hangingPunct="1">
              <a:lnSpc>
                <a:spcPct val="90000"/>
              </a:lnSpc>
              <a:tabLst>
                <a:tab pos="1371600" algn="l"/>
              </a:tabLst>
            </a:pPr>
            <a:r>
              <a:rPr sz="1200" dirty="0">
                <a:solidFill>
                  <a:srgbClr val="000000"/>
                </a:solidFill>
              </a:rPr>
              <a:t>Disk-to-disk and disk-to-tape backup</a:t>
            </a:r>
            <a:endParaRPr sz="1200" dirty="0">
              <a:solidFill>
                <a:srgbClr val="000000"/>
              </a:solidFill>
            </a:endParaRPr>
          </a:p>
          <a:p>
            <a:pPr lvl="1" eaLnBrk="1" hangingPunct="1">
              <a:lnSpc>
                <a:spcPct val="90000"/>
              </a:lnSpc>
              <a:tabLst>
                <a:tab pos="1371600" algn="l"/>
              </a:tabLst>
            </a:pPr>
            <a:r>
              <a:rPr sz="1200" dirty="0">
                <a:solidFill>
                  <a:srgbClr val="000000"/>
                </a:solidFill>
              </a:rPr>
              <a:t>Anti-Virus Scanning </a:t>
            </a:r>
            <a:endParaRPr sz="1200" dirty="0">
              <a:solidFill>
                <a:srgbClr val="000000"/>
              </a:solidFill>
            </a:endParaRPr>
          </a:p>
          <a:p>
            <a:pPr eaLnBrk="1" hangingPunct="1">
              <a:lnSpc>
                <a:spcPct val="90000"/>
              </a:lnSpc>
              <a:tabLst>
                <a:tab pos="1371600" algn="l"/>
              </a:tabLst>
            </a:pPr>
            <a:r>
              <a:rPr sz="1500" dirty="0">
                <a:solidFill>
                  <a:srgbClr val="000000"/>
                </a:solidFill>
              </a:rPr>
              <a:t>Integration with Hitachi Software</a:t>
            </a:r>
            <a:endParaRPr sz="1500" dirty="0">
              <a:solidFill>
                <a:srgbClr val="000000"/>
              </a:solidFill>
            </a:endParaRPr>
          </a:p>
          <a:p>
            <a:pPr lvl="1" eaLnBrk="1" hangingPunct="1">
              <a:lnSpc>
                <a:spcPct val="90000"/>
              </a:lnSpc>
              <a:tabLst>
                <a:tab pos="1371600" algn="l"/>
              </a:tabLst>
            </a:pPr>
            <a:r>
              <a:rPr sz="1200" dirty="0">
                <a:solidFill>
                  <a:srgbClr val="000000"/>
                </a:solidFill>
              </a:rPr>
              <a:t>Hitachi HiCommand</a:t>
            </a:r>
            <a:r>
              <a:rPr sz="1200" dirty="0">
                <a:solidFill>
                  <a:srgbClr val="000000"/>
                </a:solidFill>
                <a:ea typeface="MS PGothic" charset="-128"/>
              </a:rPr>
              <a:t>® </a:t>
            </a:r>
            <a:r>
              <a:rPr sz="1200" dirty="0">
                <a:solidFill>
                  <a:srgbClr val="000000"/>
                </a:solidFill>
              </a:rPr>
              <a:t>Integration with Device Manager and Tiered Storage Manager. </a:t>
            </a:r>
            <a:endParaRPr sz="1200" dirty="0">
              <a:solidFill>
                <a:srgbClr val="000000"/>
              </a:solidFill>
            </a:endParaRPr>
          </a:p>
          <a:p>
            <a:pPr lvl="1" eaLnBrk="1" hangingPunct="1">
              <a:lnSpc>
                <a:spcPct val="90000"/>
              </a:lnSpc>
              <a:tabLst>
                <a:tab pos="1371600" algn="l"/>
              </a:tabLst>
            </a:pPr>
            <a:r>
              <a:rPr sz="1200" dirty="0">
                <a:solidFill>
                  <a:srgbClr val="000000"/>
                </a:solidFill>
              </a:rPr>
              <a:t>Hitachi TrueCopy®</a:t>
            </a:r>
            <a:r>
              <a:rPr sz="1200" dirty="0">
                <a:solidFill>
                  <a:srgbClr val="000000"/>
                </a:solidFill>
                <a:ea typeface="MS PGothic" charset="-128"/>
              </a:rPr>
              <a:t> Remote Replication</a:t>
            </a:r>
            <a:r>
              <a:rPr sz="1200" dirty="0">
                <a:solidFill>
                  <a:srgbClr val="000000"/>
                </a:solidFill>
              </a:rPr>
              <a:t> and ShadowImage®</a:t>
            </a:r>
            <a:r>
              <a:rPr sz="1200" dirty="0">
                <a:solidFill>
                  <a:srgbClr val="000000"/>
                </a:solidFill>
                <a:ea typeface="MS PGothic" charset="-128"/>
              </a:rPr>
              <a:t> In-System Replication software</a:t>
            </a:r>
            <a:r>
              <a:rPr sz="1200" dirty="0">
                <a:solidFill>
                  <a:srgbClr val="000000"/>
                </a:solidFill>
              </a:rPr>
              <a:t> integration</a:t>
            </a:r>
            <a:endParaRPr sz="1200" dirty="0">
              <a:solidFill>
                <a:srgbClr val="000000"/>
              </a:solidFill>
            </a:endParaRPr>
          </a:p>
          <a:p>
            <a:pPr lvl="1" eaLnBrk="1" hangingPunct="1">
              <a:lnSpc>
                <a:spcPct val="90000"/>
              </a:lnSpc>
              <a:tabLst>
                <a:tab pos="1371600" algn="l"/>
              </a:tabLst>
            </a:pPr>
            <a:r>
              <a:rPr sz="1200" dirty="0"/>
              <a:t>Hitachi Universal Replicator </a:t>
            </a:r>
            <a:endParaRPr sz="1200" dirty="0"/>
          </a:p>
          <a:p>
            <a:pPr lvl="1" eaLnBrk="1" hangingPunct="1">
              <a:lnSpc>
                <a:spcPct val="90000"/>
              </a:lnSpc>
              <a:tabLst>
                <a:tab pos="1371600" algn="l"/>
              </a:tabLst>
            </a:pPr>
            <a:r>
              <a:rPr sz="1200" dirty="0"/>
              <a:t>Hitachi Dynamic Provisioning on USP</a:t>
            </a:r>
            <a:endParaRPr sz="1200" dirty="0"/>
          </a:p>
          <a:p>
            <a:pPr lvl="1" eaLnBrk="1" hangingPunct="1">
              <a:lnSpc>
                <a:spcPct val="90000"/>
              </a:lnSpc>
              <a:tabLst>
                <a:tab pos="1371600" algn="l"/>
              </a:tabLst>
            </a:pPr>
            <a:r>
              <a:rPr sz="1200" dirty="0">
                <a:solidFill>
                  <a:srgbClr val="000000"/>
                </a:solidFill>
              </a:rPr>
              <a:t>Hitachi Data Discovery Suite and Hitachi Content Archive Platform </a:t>
            </a:r>
            <a:endParaRPr sz="1200" dirty="0">
              <a:solidFill>
                <a:srgbClr val="000000"/>
              </a:solidFill>
            </a:endParaRPr>
          </a:p>
        </p:txBody>
      </p:sp>
      <p:pic>
        <p:nvPicPr>
          <p:cNvPr id="39939" name="Picture 4"/>
          <p:cNvPicPr>
            <a:picLocks noChangeAspect="1"/>
          </p:cNvPicPr>
          <p:nvPr/>
        </p:nvPicPr>
        <p:blipFill>
          <a:blip r:embed="rId1">
            <a:lum bright="10001"/>
          </a:blip>
          <a:stretch>
            <a:fillRect/>
          </a:stretch>
        </p:blipFill>
        <p:spPr>
          <a:xfrm>
            <a:off x="379413" y="1255713"/>
            <a:ext cx="4421187" cy="4781550"/>
          </a:xfrm>
          <a:prstGeom prst="rect">
            <a:avLst/>
          </a:prstGeom>
          <a:noFill/>
          <a:ln w="12700">
            <a:noFill/>
          </a:ln>
        </p:spPr>
      </p:pic>
      <p:pic>
        <p:nvPicPr>
          <p:cNvPr id="39940" name="Picture 5" descr="menu004"/>
          <p:cNvPicPr>
            <a:picLocks noChangeAspect="1"/>
          </p:cNvPicPr>
          <p:nvPr/>
        </p:nvPicPr>
        <p:blipFill>
          <a:blip r:embed="rId2"/>
          <a:stretch>
            <a:fillRect/>
          </a:stretch>
        </p:blipFill>
        <p:spPr>
          <a:xfrm>
            <a:off x="496888" y="2852738"/>
            <a:ext cx="4103687" cy="2605087"/>
          </a:xfrm>
          <a:prstGeom prst="rect">
            <a:avLst/>
          </a:prstGeom>
          <a:noFill/>
          <a:ln w="9525">
            <a:noFill/>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3"/>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Virtualization Framework</a:t>
            </a:r>
            <a:endParaRPr dirty="0">
              <a:solidFill>
                <a:schemeClr val="tx1"/>
              </a:solidFill>
            </a:endParaRPr>
          </a:p>
        </p:txBody>
      </p:sp>
      <p:sp>
        <p:nvSpPr>
          <p:cNvPr id="41986" name="Rectangle 4"/>
          <p:cNvSpPr>
            <a:spLocks noGrp="1"/>
          </p:cNvSpPr>
          <p:nvPr>
            <p:ph idx="1"/>
          </p:nvPr>
        </p:nvSpPr>
        <p:spPr>
          <a:xfrm>
            <a:off x="6705600" y="1143000"/>
            <a:ext cx="2278063" cy="5006975"/>
          </a:xfrm>
          <a:ln/>
        </p:spPr>
        <p:txBody>
          <a:bodyPr vert="horz" wrap="square" lIns="91440" tIns="45720" rIns="91440" bIns="45720" anchor="t" anchorCtr="0"/>
          <a:p>
            <a:pPr marL="230505" indent="-230505" eaLnBrk="1" hangingPunct="1">
              <a:tabLst>
                <a:tab pos="-635" algn="l"/>
              </a:tabLst>
            </a:pPr>
            <a:r>
              <a:rPr sz="1500" dirty="0">
                <a:solidFill>
                  <a:schemeClr val="tx1"/>
                </a:solidFill>
              </a:rPr>
              <a:t>Virtual File System unifies directory structure</a:t>
            </a:r>
            <a:br>
              <a:rPr sz="1500" dirty="0">
                <a:solidFill>
                  <a:schemeClr val="tx1"/>
                </a:solidFill>
              </a:rPr>
            </a:br>
            <a:r>
              <a:rPr sz="1500" dirty="0">
                <a:solidFill>
                  <a:schemeClr val="tx1"/>
                </a:solidFill>
              </a:rPr>
              <a:t>and presents a single logical view</a:t>
            </a:r>
            <a:endParaRPr sz="1500" dirty="0">
              <a:solidFill>
                <a:schemeClr val="tx1"/>
              </a:solidFill>
            </a:endParaRPr>
          </a:p>
          <a:p>
            <a:pPr marL="230505" indent="-230505" eaLnBrk="1" hangingPunct="1">
              <a:tabLst>
                <a:tab pos="-635" algn="l"/>
              </a:tabLst>
            </a:pPr>
            <a:r>
              <a:rPr sz="1500" dirty="0">
                <a:solidFill>
                  <a:schemeClr val="tx1"/>
                </a:solidFill>
              </a:rPr>
              <a:t>Virtual Servers allocate server resources for performance and high availability</a:t>
            </a:r>
            <a:endParaRPr sz="1500" dirty="0">
              <a:solidFill>
                <a:schemeClr val="tx1"/>
              </a:solidFill>
            </a:endParaRPr>
          </a:p>
          <a:p>
            <a:pPr marL="230505" indent="-230505" eaLnBrk="1" hangingPunct="1">
              <a:tabLst>
                <a:tab pos="-635" algn="l"/>
              </a:tabLst>
            </a:pPr>
            <a:r>
              <a:rPr sz="1500" dirty="0">
                <a:solidFill>
                  <a:schemeClr val="tx1"/>
                </a:solidFill>
              </a:rPr>
              <a:t>Virtual Storage pools simplify storage provisioning for applications and workgroups</a:t>
            </a:r>
            <a:endParaRPr sz="1500" dirty="0">
              <a:solidFill>
                <a:schemeClr val="tx1"/>
              </a:solidFill>
            </a:endParaRPr>
          </a:p>
          <a:p>
            <a:pPr marL="230505" indent="-230505" eaLnBrk="1" hangingPunct="1">
              <a:tabLst>
                <a:tab pos="-635" algn="l"/>
              </a:tabLst>
            </a:pPr>
            <a:r>
              <a:rPr sz="1500" dirty="0">
                <a:solidFill>
                  <a:schemeClr val="tx1"/>
                </a:solidFill>
              </a:rPr>
              <a:t>Virtual tiered storage optimizes performance, high availability and disk utilization across arrays </a:t>
            </a:r>
            <a:endParaRPr sz="1500" dirty="0">
              <a:solidFill>
                <a:schemeClr val="tx1"/>
              </a:solidFill>
            </a:endParaRPr>
          </a:p>
        </p:txBody>
      </p:sp>
      <p:sp>
        <p:nvSpPr>
          <p:cNvPr id="41987" name="Rectangle 154"/>
          <p:cNvSpPr/>
          <p:nvPr/>
        </p:nvSpPr>
        <p:spPr>
          <a:xfrm>
            <a:off x="173038" y="1257300"/>
            <a:ext cx="6440487" cy="5005388"/>
          </a:xfrm>
          <a:prstGeom prst="rect">
            <a:avLst/>
          </a:prstGeom>
          <a:solidFill>
            <a:schemeClr val="bg1"/>
          </a:solidFill>
          <a:ln w="28575" cap="flat" cmpd="sng">
            <a:solidFill>
              <a:schemeClr val="fo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1988" name="Text Box 155"/>
          <p:cNvSpPr txBox="1">
            <a:spLocks noChangeAspect="1"/>
          </p:cNvSpPr>
          <p:nvPr/>
        </p:nvSpPr>
        <p:spPr>
          <a:xfrm>
            <a:off x="171450" y="2559050"/>
            <a:ext cx="1131888" cy="517525"/>
          </a:xfrm>
          <a:prstGeom prst="rect">
            <a:avLst/>
          </a:prstGeom>
          <a:noFill/>
          <a:ln w="9525">
            <a:noFill/>
          </a:ln>
        </p:spPr>
        <p:txBody>
          <a:bodyPr>
            <a:spAutoFit/>
          </a:bodyPr>
          <a:p>
            <a:r>
              <a:rPr sz="1400" b="1" dirty="0">
                <a:solidFill>
                  <a:schemeClr val="tx1"/>
                </a:solidFill>
                <a:latin typeface="Helvetica" charset="0"/>
              </a:rPr>
              <a:t>Virtual Servers</a:t>
            </a:r>
            <a:endParaRPr sz="1400" b="1" dirty="0">
              <a:solidFill>
                <a:schemeClr val="tx1"/>
              </a:solidFill>
              <a:latin typeface="Helvetica" charset="0"/>
            </a:endParaRPr>
          </a:p>
        </p:txBody>
      </p:sp>
      <p:sp>
        <p:nvSpPr>
          <p:cNvPr id="41989" name="Text Box 156"/>
          <p:cNvSpPr txBox="1">
            <a:spLocks noChangeAspect="1"/>
          </p:cNvSpPr>
          <p:nvPr/>
        </p:nvSpPr>
        <p:spPr>
          <a:xfrm>
            <a:off x="161925" y="3841750"/>
            <a:ext cx="941388" cy="730250"/>
          </a:xfrm>
          <a:prstGeom prst="rect">
            <a:avLst/>
          </a:prstGeom>
          <a:noFill/>
          <a:ln w="9525">
            <a:noFill/>
          </a:ln>
        </p:spPr>
        <p:txBody>
          <a:bodyPr>
            <a:spAutoFit/>
          </a:bodyPr>
          <a:p>
            <a:r>
              <a:rPr sz="1400" b="1" dirty="0">
                <a:solidFill>
                  <a:schemeClr val="tx1"/>
                </a:solidFill>
                <a:latin typeface="Helvetica" charset="0"/>
              </a:rPr>
              <a:t>Virtual Storage Pools</a:t>
            </a:r>
            <a:endParaRPr sz="1400" b="1" dirty="0">
              <a:solidFill>
                <a:schemeClr val="tx1"/>
              </a:solidFill>
              <a:latin typeface="Helvetica" charset="0"/>
            </a:endParaRPr>
          </a:p>
        </p:txBody>
      </p:sp>
      <p:sp>
        <p:nvSpPr>
          <p:cNvPr id="41990" name="Text Box 157"/>
          <p:cNvSpPr txBox="1">
            <a:spLocks noChangeAspect="1"/>
          </p:cNvSpPr>
          <p:nvPr/>
        </p:nvSpPr>
        <p:spPr>
          <a:xfrm>
            <a:off x="161925" y="5122863"/>
            <a:ext cx="1131888" cy="730250"/>
          </a:xfrm>
          <a:prstGeom prst="rect">
            <a:avLst/>
          </a:prstGeom>
          <a:noFill/>
          <a:ln w="9525">
            <a:noFill/>
          </a:ln>
        </p:spPr>
        <p:txBody>
          <a:bodyPr>
            <a:spAutoFit/>
          </a:bodyPr>
          <a:p>
            <a:r>
              <a:rPr sz="1400" b="1" dirty="0">
                <a:solidFill>
                  <a:schemeClr val="tx1"/>
                </a:solidFill>
                <a:latin typeface="Helvetica" charset="0"/>
              </a:rPr>
              <a:t>Virtual Tiered Storage</a:t>
            </a:r>
            <a:endParaRPr sz="1400" b="1" dirty="0">
              <a:solidFill>
                <a:schemeClr val="tx1"/>
              </a:solidFill>
              <a:latin typeface="Helvetica" charset="0"/>
            </a:endParaRPr>
          </a:p>
        </p:txBody>
      </p:sp>
      <p:sp>
        <p:nvSpPr>
          <p:cNvPr id="41991" name="Rectangle 158"/>
          <p:cNvSpPr/>
          <p:nvPr/>
        </p:nvSpPr>
        <p:spPr>
          <a:xfrm>
            <a:off x="192088" y="1306513"/>
            <a:ext cx="1506537" cy="517525"/>
          </a:xfrm>
          <a:prstGeom prst="rect">
            <a:avLst/>
          </a:prstGeom>
          <a:noFill/>
          <a:ln w="9525">
            <a:noFill/>
          </a:ln>
        </p:spPr>
        <p:txBody>
          <a:bodyPr>
            <a:spAutoFit/>
          </a:bodyPr>
          <a:p>
            <a:r>
              <a:rPr sz="1400" b="1" dirty="0">
                <a:solidFill>
                  <a:schemeClr val="tx1"/>
                </a:solidFill>
                <a:latin typeface="Helvetica" charset="0"/>
              </a:rPr>
              <a:t>Virtual File System</a:t>
            </a:r>
            <a:endParaRPr sz="1400" b="1" dirty="0">
              <a:solidFill>
                <a:schemeClr val="tx1"/>
              </a:solidFill>
              <a:latin typeface="Helvetica" charset="0"/>
            </a:endParaRPr>
          </a:p>
        </p:txBody>
      </p:sp>
      <p:sp>
        <p:nvSpPr>
          <p:cNvPr id="41992" name="Line 159"/>
          <p:cNvSpPr/>
          <p:nvPr/>
        </p:nvSpPr>
        <p:spPr>
          <a:xfrm>
            <a:off x="161925" y="3757613"/>
            <a:ext cx="6430963" cy="0"/>
          </a:xfrm>
          <a:prstGeom prst="line">
            <a:avLst/>
          </a:prstGeom>
          <a:ln w="9525" cap="flat" cmpd="sng">
            <a:solidFill>
              <a:schemeClr val="folHlink"/>
            </a:solidFill>
            <a:prstDash val="solid"/>
            <a:headEnd type="none" w="med" len="med"/>
            <a:tailEnd type="none" w="med" len="med"/>
          </a:ln>
        </p:spPr>
      </p:sp>
      <p:sp>
        <p:nvSpPr>
          <p:cNvPr id="41993" name="Line 160"/>
          <p:cNvSpPr/>
          <p:nvPr/>
        </p:nvSpPr>
        <p:spPr>
          <a:xfrm>
            <a:off x="161925" y="5116513"/>
            <a:ext cx="6430963" cy="0"/>
          </a:xfrm>
          <a:prstGeom prst="line">
            <a:avLst/>
          </a:prstGeom>
          <a:ln w="9525" cap="flat" cmpd="sng">
            <a:solidFill>
              <a:schemeClr val="folHlink"/>
            </a:solidFill>
            <a:prstDash val="solid"/>
            <a:headEnd type="none" w="med" len="med"/>
            <a:tailEnd type="none" w="med" len="med"/>
          </a:ln>
        </p:spPr>
      </p:sp>
      <p:sp>
        <p:nvSpPr>
          <p:cNvPr id="41994" name="Line 161"/>
          <p:cNvSpPr/>
          <p:nvPr/>
        </p:nvSpPr>
        <p:spPr>
          <a:xfrm>
            <a:off x="161925" y="2538413"/>
            <a:ext cx="6430963" cy="0"/>
          </a:xfrm>
          <a:prstGeom prst="line">
            <a:avLst/>
          </a:prstGeom>
          <a:ln w="9525" cap="flat" cmpd="sng">
            <a:solidFill>
              <a:schemeClr val="folHlink"/>
            </a:solidFill>
            <a:prstDash val="solid"/>
            <a:headEnd type="none" w="med" len="med"/>
            <a:tailEnd type="none" w="med" len="med"/>
          </a:ln>
        </p:spPr>
      </p:sp>
      <p:grpSp>
        <p:nvGrpSpPr>
          <p:cNvPr id="41995" name="Group 34"/>
          <p:cNvGrpSpPr/>
          <p:nvPr/>
        </p:nvGrpSpPr>
        <p:grpSpPr>
          <a:xfrm>
            <a:off x="2306638" y="1379538"/>
            <a:ext cx="1857375" cy="1049337"/>
            <a:chOff x="1453" y="961"/>
            <a:chExt cx="1170" cy="661"/>
          </a:xfrm>
        </p:grpSpPr>
        <p:grpSp>
          <p:nvGrpSpPr>
            <p:cNvPr id="42095" name="Group 35"/>
            <p:cNvGrpSpPr/>
            <p:nvPr/>
          </p:nvGrpSpPr>
          <p:grpSpPr>
            <a:xfrm>
              <a:off x="1593" y="1253"/>
              <a:ext cx="253" cy="325"/>
              <a:chOff x="1593" y="1253"/>
              <a:chExt cx="253" cy="325"/>
            </a:xfrm>
          </p:grpSpPr>
          <p:sp>
            <p:nvSpPr>
              <p:cNvPr id="42123" name="Line 164"/>
              <p:cNvSpPr>
                <a:spLocks noChangeAspect="1"/>
              </p:cNvSpPr>
              <p:nvPr/>
            </p:nvSpPr>
            <p:spPr>
              <a:xfrm>
                <a:off x="1741" y="1315"/>
                <a:ext cx="0" cy="47"/>
              </a:xfrm>
              <a:prstGeom prst="line">
                <a:avLst/>
              </a:prstGeom>
              <a:ln w="9525" cap="flat" cmpd="sng">
                <a:solidFill>
                  <a:schemeClr val="tx1"/>
                </a:solidFill>
                <a:prstDash val="solid"/>
                <a:headEnd type="none" w="med" len="med"/>
                <a:tailEnd type="none" w="med" len="med"/>
              </a:ln>
            </p:spPr>
          </p:sp>
          <p:sp>
            <p:nvSpPr>
              <p:cNvPr id="42124" name="Line 165"/>
              <p:cNvSpPr>
                <a:spLocks noChangeAspect="1"/>
              </p:cNvSpPr>
              <p:nvPr/>
            </p:nvSpPr>
            <p:spPr>
              <a:xfrm flipH="1">
                <a:off x="1698" y="1359"/>
                <a:ext cx="44" cy="58"/>
              </a:xfrm>
              <a:prstGeom prst="line">
                <a:avLst/>
              </a:prstGeom>
              <a:ln w="9525" cap="flat" cmpd="sng">
                <a:solidFill>
                  <a:schemeClr val="tx1"/>
                </a:solidFill>
                <a:prstDash val="solid"/>
                <a:headEnd type="none" w="med" len="med"/>
                <a:tailEnd type="none" w="med" len="med"/>
              </a:ln>
            </p:spPr>
          </p:sp>
          <p:sp>
            <p:nvSpPr>
              <p:cNvPr id="42125" name="Line 166"/>
              <p:cNvSpPr>
                <a:spLocks noChangeAspect="1"/>
              </p:cNvSpPr>
              <p:nvPr/>
            </p:nvSpPr>
            <p:spPr>
              <a:xfrm>
                <a:off x="1739" y="1359"/>
                <a:ext cx="44" cy="58"/>
              </a:xfrm>
              <a:prstGeom prst="line">
                <a:avLst/>
              </a:prstGeom>
              <a:ln w="9525" cap="flat" cmpd="sng">
                <a:solidFill>
                  <a:schemeClr val="tx1"/>
                </a:solidFill>
                <a:prstDash val="solid"/>
                <a:headEnd type="none" w="med" len="med"/>
                <a:tailEnd type="none" w="med" len="med"/>
              </a:ln>
            </p:spPr>
          </p:sp>
          <p:grpSp>
            <p:nvGrpSpPr>
              <p:cNvPr id="42126" name="Group 167"/>
              <p:cNvGrpSpPr>
                <a:grpSpLocks noChangeAspect="1"/>
              </p:cNvGrpSpPr>
              <p:nvPr/>
            </p:nvGrpSpPr>
            <p:grpSpPr>
              <a:xfrm>
                <a:off x="1655" y="1417"/>
                <a:ext cx="85" cy="102"/>
                <a:chOff x="4547" y="1438"/>
                <a:chExt cx="148" cy="178"/>
              </a:xfrm>
            </p:grpSpPr>
            <p:sp>
              <p:nvSpPr>
                <p:cNvPr id="42131" name="Line 168"/>
                <p:cNvSpPr>
                  <a:spLocks noChangeAspect="1"/>
                </p:cNvSpPr>
                <p:nvPr/>
              </p:nvSpPr>
              <p:spPr>
                <a:xfrm>
                  <a:off x="4622" y="1438"/>
                  <a:ext cx="0" cy="82"/>
                </a:xfrm>
                <a:prstGeom prst="line">
                  <a:avLst/>
                </a:prstGeom>
                <a:ln w="9525" cap="flat" cmpd="sng">
                  <a:solidFill>
                    <a:schemeClr val="tx1"/>
                  </a:solidFill>
                  <a:prstDash val="solid"/>
                  <a:headEnd type="none" w="med" len="med"/>
                  <a:tailEnd type="none" w="med" len="med"/>
                </a:ln>
              </p:spPr>
            </p:sp>
            <p:sp>
              <p:nvSpPr>
                <p:cNvPr id="42132" name="Line 169"/>
                <p:cNvSpPr>
                  <a:spLocks noChangeAspect="1"/>
                </p:cNvSpPr>
                <p:nvPr/>
              </p:nvSpPr>
              <p:spPr>
                <a:xfrm flipH="1">
                  <a:off x="4547" y="1515"/>
                  <a:ext cx="76" cy="101"/>
                </a:xfrm>
                <a:prstGeom prst="line">
                  <a:avLst/>
                </a:prstGeom>
                <a:ln w="9525" cap="flat" cmpd="sng">
                  <a:solidFill>
                    <a:schemeClr val="tx1"/>
                  </a:solidFill>
                  <a:prstDash val="solid"/>
                  <a:headEnd type="none" w="med" len="med"/>
                  <a:tailEnd type="none" w="med" len="med"/>
                </a:ln>
              </p:spPr>
            </p:sp>
            <p:sp>
              <p:nvSpPr>
                <p:cNvPr id="42133" name="Line 170"/>
                <p:cNvSpPr>
                  <a:spLocks noChangeAspect="1"/>
                </p:cNvSpPr>
                <p:nvPr/>
              </p:nvSpPr>
              <p:spPr>
                <a:xfrm>
                  <a:off x="4619" y="1515"/>
                  <a:ext cx="76" cy="101"/>
                </a:xfrm>
                <a:prstGeom prst="line">
                  <a:avLst/>
                </a:prstGeom>
                <a:ln w="9525" cap="flat" cmpd="sng">
                  <a:solidFill>
                    <a:schemeClr val="tx1"/>
                  </a:solidFill>
                  <a:prstDash val="solid"/>
                  <a:headEnd type="none" w="med" len="med"/>
                  <a:tailEnd type="none" w="med" len="med"/>
                </a:ln>
              </p:spPr>
            </p:sp>
          </p:grpSp>
          <p:pic>
            <p:nvPicPr>
              <p:cNvPr id="42127" name="Picture 43" descr="npo000098"/>
              <p:cNvPicPr>
                <a:picLocks noChangeAspect="1"/>
              </p:cNvPicPr>
              <p:nvPr/>
            </p:nvPicPr>
            <p:blipFill>
              <a:blip r:embed="rId1"/>
              <a:stretch>
                <a:fillRect/>
              </a:stretch>
            </p:blipFill>
            <p:spPr>
              <a:xfrm>
                <a:off x="1783" y="1416"/>
                <a:ext cx="63" cy="65"/>
              </a:xfrm>
              <a:prstGeom prst="rect">
                <a:avLst/>
              </a:prstGeom>
              <a:noFill/>
              <a:ln w="9525">
                <a:noFill/>
              </a:ln>
            </p:spPr>
          </p:pic>
          <p:pic>
            <p:nvPicPr>
              <p:cNvPr id="42128" name="Picture 44" descr="npo000099"/>
              <p:cNvPicPr>
                <a:picLocks noChangeAspect="1"/>
              </p:cNvPicPr>
              <p:nvPr/>
            </p:nvPicPr>
            <p:blipFill>
              <a:blip r:embed="rId1"/>
              <a:stretch>
                <a:fillRect/>
              </a:stretch>
            </p:blipFill>
            <p:spPr>
              <a:xfrm>
                <a:off x="1593" y="1514"/>
                <a:ext cx="63" cy="64"/>
              </a:xfrm>
              <a:prstGeom prst="rect">
                <a:avLst/>
              </a:prstGeom>
              <a:noFill/>
              <a:ln w="9525">
                <a:noFill/>
              </a:ln>
            </p:spPr>
          </p:pic>
          <p:pic>
            <p:nvPicPr>
              <p:cNvPr id="42129" name="Picture 45" descr="npo00009a"/>
              <p:cNvPicPr>
                <a:picLocks noChangeAspect="1"/>
              </p:cNvPicPr>
              <p:nvPr/>
            </p:nvPicPr>
            <p:blipFill>
              <a:blip r:embed="rId1"/>
              <a:stretch>
                <a:fillRect/>
              </a:stretch>
            </p:blipFill>
            <p:spPr>
              <a:xfrm>
                <a:off x="1728" y="1514"/>
                <a:ext cx="63" cy="64"/>
              </a:xfrm>
              <a:prstGeom prst="rect">
                <a:avLst/>
              </a:prstGeom>
              <a:noFill/>
              <a:ln w="9525">
                <a:noFill/>
              </a:ln>
            </p:spPr>
          </p:pic>
          <p:pic>
            <p:nvPicPr>
              <p:cNvPr id="42130" name="Picture 46" descr="npo00009b"/>
              <p:cNvPicPr>
                <a:picLocks noChangeAspect="1"/>
              </p:cNvPicPr>
              <p:nvPr/>
            </p:nvPicPr>
            <p:blipFill>
              <a:blip r:embed="rId1"/>
              <a:stretch>
                <a:fillRect/>
              </a:stretch>
            </p:blipFill>
            <p:spPr>
              <a:xfrm>
                <a:off x="1707" y="1253"/>
                <a:ext cx="63" cy="64"/>
              </a:xfrm>
              <a:prstGeom prst="rect">
                <a:avLst/>
              </a:prstGeom>
              <a:noFill/>
              <a:ln w="9525">
                <a:noFill/>
              </a:ln>
            </p:spPr>
          </p:pic>
        </p:grpSp>
        <p:grpSp>
          <p:nvGrpSpPr>
            <p:cNvPr id="42096" name="Group 47"/>
            <p:cNvGrpSpPr/>
            <p:nvPr/>
          </p:nvGrpSpPr>
          <p:grpSpPr>
            <a:xfrm>
              <a:off x="1930" y="1254"/>
              <a:ext cx="253" cy="325"/>
              <a:chOff x="1930" y="1254"/>
              <a:chExt cx="253" cy="325"/>
            </a:xfrm>
          </p:grpSpPr>
          <p:sp>
            <p:nvSpPr>
              <p:cNvPr id="42112" name="Line 176"/>
              <p:cNvSpPr>
                <a:spLocks noChangeAspect="1"/>
              </p:cNvSpPr>
              <p:nvPr/>
            </p:nvSpPr>
            <p:spPr>
              <a:xfrm>
                <a:off x="2078" y="1316"/>
                <a:ext cx="0" cy="47"/>
              </a:xfrm>
              <a:prstGeom prst="line">
                <a:avLst/>
              </a:prstGeom>
              <a:ln w="9525" cap="flat" cmpd="sng">
                <a:solidFill>
                  <a:schemeClr val="tx1"/>
                </a:solidFill>
                <a:prstDash val="solid"/>
                <a:headEnd type="none" w="med" len="med"/>
                <a:tailEnd type="none" w="med" len="med"/>
              </a:ln>
            </p:spPr>
          </p:sp>
          <p:sp>
            <p:nvSpPr>
              <p:cNvPr id="42113" name="Line 177"/>
              <p:cNvSpPr>
                <a:spLocks noChangeAspect="1"/>
              </p:cNvSpPr>
              <p:nvPr/>
            </p:nvSpPr>
            <p:spPr>
              <a:xfrm flipH="1">
                <a:off x="2035" y="1360"/>
                <a:ext cx="44" cy="58"/>
              </a:xfrm>
              <a:prstGeom prst="line">
                <a:avLst/>
              </a:prstGeom>
              <a:ln w="9525" cap="flat" cmpd="sng">
                <a:solidFill>
                  <a:schemeClr val="tx1"/>
                </a:solidFill>
                <a:prstDash val="solid"/>
                <a:headEnd type="none" w="med" len="med"/>
                <a:tailEnd type="none" w="med" len="med"/>
              </a:ln>
            </p:spPr>
          </p:sp>
          <p:sp>
            <p:nvSpPr>
              <p:cNvPr id="42114" name="Line 178"/>
              <p:cNvSpPr>
                <a:spLocks noChangeAspect="1"/>
              </p:cNvSpPr>
              <p:nvPr/>
            </p:nvSpPr>
            <p:spPr>
              <a:xfrm>
                <a:off x="2076" y="1360"/>
                <a:ext cx="44" cy="58"/>
              </a:xfrm>
              <a:prstGeom prst="line">
                <a:avLst/>
              </a:prstGeom>
              <a:ln w="9525" cap="flat" cmpd="sng">
                <a:solidFill>
                  <a:schemeClr val="tx1"/>
                </a:solidFill>
                <a:prstDash val="solid"/>
                <a:headEnd type="none" w="med" len="med"/>
                <a:tailEnd type="none" w="med" len="med"/>
              </a:ln>
            </p:spPr>
          </p:sp>
          <p:grpSp>
            <p:nvGrpSpPr>
              <p:cNvPr id="42115" name="Group 179"/>
              <p:cNvGrpSpPr>
                <a:grpSpLocks noChangeAspect="1"/>
              </p:cNvGrpSpPr>
              <p:nvPr/>
            </p:nvGrpSpPr>
            <p:grpSpPr>
              <a:xfrm>
                <a:off x="1992" y="1418"/>
                <a:ext cx="85" cy="102"/>
                <a:chOff x="4547" y="1438"/>
                <a:chExt cx="148" cy="178"/>
              </a:xfrm>
            </p:grpSpPr>
            <p:sp>
              <p:nvSpPr>
                <p:cNvPr id="42120" name="Line 180"/>
                <p:cNvSpPr>
                  <a:spLocks noChangeAspect="1"/>
                </p:cNvSpPr>
                <p:nvPr/>
              </p:nvSpPr>
              <p:spPr>
                <a:xfrm>
                  <a:off x="4622" y="1438"/>
                  <a:ext cx="0" cy="82"/>
                </a:xfrm>
                <a:prstGeom prst="line">
                  <a:avLst/>
                </a:prstGeom>
                <a:ln w="9525" cap="flat" cmpd="sng">
                  <a:solidFill>
                    <a:schemeClr val="tx1"/>
                  </a:solidFill>
                  <a:prstDash val="solid"/>
                  <a:headEnd type="none" w="med" len="med"/>
                  <a:tailEnd type="none" w="med" len="med"/>
                </a:ln>
              </p:spPr>
            </p:sp>
            <p:sp>
              <p:nvSpPr>
                <p:cNvPr id="42121" name="Line 181"/>
                <p:cNvSpPr>
                  <a:spLocks noChangeAspect="1"/>
                </p:cNvSpPr>
                <p:nvPr/>
              </p:nvSpPr>
              <p:spPr>
                <a:xfrm flipH="1">
                  <a:off x="4547" y="1515"/>
                  <a:ext cx="76" cy="101"/>
                </a:xfrm>
                <a:prstGeom prst="line">
                  <a:avLst/>
                </a:prstGeom>
                <a:ln w="9525" cap="flat" cmpd="sng">
                  <a:solidFill>
                    <a:schemeClr val="tx1"/>
                  </a:solidFill>
                  <a:prstDash val="solid"/>
                  <a:headEnd type="none" w="med" len="med"/>
                  <a:tailEnd type="none" w="med" len="med"/>
                </a:ln>
              </p:spPr>
            </p:sp>
            <p:sp>
              <p:nvSpPr>
                <p:cNvPr id="42122" name="Line 182"/>
                <p:cNvSpPr>
                  <a:spLocks noChangeAspect="1"/>
                </p:cNvSpPr>
                <p:nvPr/>
              </p:nvSpPr>
              <p:spPr>
                <a:xfrm>
                  <a:off x="4619" y="1515"/>
                  <a:ext cx="76" cy="101"/>
                </a:xfrm>
                <a:prstGeom prst="line">
                  <a:avLst/>
                </a:prstGeom>
                <a:ln w="9525" cap="flat" cmpd="sng">
                  <a:solidFill>
                    <a:schemeClr val="tx1"/>
                  </a:solidFill>
                  <a:prstDash val="solid"/>
                  <a:headEnd type="none" w="med" len="med"/>
                  <a:tailEnd type="none" w="med" len="med"/>
                </a:ln>
              </p:spPr>
            </p:sp>
          </p:grpSp>
          <p:pic>
            <p:nvPicPr>
              <p:cNvPr id="42116" name="Picture 55" descr="npo00009c"/>
              <p:cNvPicPr>
                <a:picLocks noChangeAspect="1"/>
              </p:cNvPicPr>
              <p:nvPr/>
            </p:nvPicPr>
            <p:blipFill>
              <a:blip r:embed="rId1"/>
              <a:stretch>
                <a:fillRect/>
              </a:stretch>
            </p:blipFill>
            <p:spPr>
              <a:xfrm>
                <a:off x="2120" y="1417"/>
                <a:ext cx="63" cy="65"/>
              </a:xfrm>
              <a:prstGeom prst="rect">
                <a:avLst/>
              </a:prstGeom>
              <a:noFill/>
              <a:ln w="9525">
                <a:noFill/>
              </a:ln>
            </p:spPr>
          </p:pic>
          <p:pic>
            <p:nvPicPr>
              <p:cNvPr id="42117" name="Picture 56" descr="npo00009d"/>
              <p:cNvPicPr>
                <a:picLocks noChangeAspect="1"/>
              </p:cNvPicPr>
              <p:nvPr/>
            </p:nvPicPr>
            <p:blipFill>
              <a:blip r:embed="rId1"/>
              <a:stretch>
                <a:fillRect/>
              </a:stretch>
            </p:blipFill>
            <p:spPr>
              <a:xfrm>
                <a:off x="1930" y="1515"/>
                <a:ext cx="63" cy="64"/>
              </a:xfrm>
              <a:prstGeom prst="rect">
                <a:avLst/>
              </a:prstGeom>
              <a:noFill/>
              <a:ln w="9525">
                <a:noFill/>
              </a:ln>
            </p:spPr>
          </p:pic>
          <p:pic>
            <p:nvPicPr>
              <p:cNvPr id="42118" name="Picture 57" descr="npo00009e"/>
              <p:cNvPicPr>
                <a:picLocks noChangeAspect="1"/>
              </p:cNvPicPr>
              <p:nvPr/>
            </p:nvPicPr>
            <p:blipFill>
              <a:blip r:embed="rId1"/>
              <a:stretch>
                <a:fillRect/>
              </a:stretch>
            </p:blipFill>
            <p:spPr>
              <a:xfrm>
                <a:off x="2065" y="1515"/>
                <a:ext cx="63" cy="64"/>
              </a:xfrm>
              <a:prstGeom prst="rect">
                <a:avLst/>
              </a:prstGeom>
              <a:noFill/>
              <a:ln w="9525">
                <a:noFill/>
              </a:ln>
            </p:spPr>
          </p:pic>
          <p:pic>
            <p:nvPicPr>
              <p:cNvPr id="42119" name="Picture 58" descr="npo00009f"/>
              <p:cNvPicPr>
                <a:picLocks noChangeAspect="1"/>
              </p:cNvPicPr>
              <p:nvPr/>
            </p:nvPicPr>
            <p:blipFill>
              <a:blip r:embed="rId1"/>
              <a:stretch>
                <a:fillRect/>
              </a:stretch>
            </p:blipFill>
            <p:spPr>
              <a:xfrm>
                <a:off x="2044" y="1254"/>
                <a:ext cx="63" cy="64"/>
              </a:xfrm>
              <a:prstGeom prst="rect">
                <a:avLst/>
              </a:prstGeom>
              <a:noFill/>
              <a:ln w="9525">
                <a:noFill/>
              </a:ln>
            </p:spPr>
          </p:pic>
        </p:grpSp>
        <p:grpSp>
          <p:nvGrpSpPr>
            <p:cNvPr id="42097" name="Group 59"/>
            <p:cNvGrpSpPr/>
            <p:nvPr/>
          </p:nvGrpSpPr>
          <p:grpSpPr>
            <a:xfrm>
              <a:off x="2267" y="1255"/>
              <a:ext cx="253" cy="325"/>
              <a:chOff x="2267" y="1255"/>
              <a:chExt cx="253" cy="325"/>
            </a:xfrm>
          </p:grpSpPr>
          <p:sp>
            <p:nvSpPr>
              <p:cNvPr id="42101" name="Line 188"/>
              <p:cNvSpPr>
                <a:spLocks noChangeAspect="1"/>
              </p:cNvSpPr>
              <p:nvPr/>
            </p:nvSpPr>
            <p:spPr>
              <a:xfrm>
                <a:off x="2415" y="1317"/>
                <a:ext cx="0" cy="47"/>
              </a:xfrm>
              <a:prstGeom prst="line">
                <a:avLst/>
              </a:prstGeom>
              <a:ln w="9525" cap="flat" cmpd="sng">
                <a:solidFill>
                  <a:schemeClr val="tx1"/>
                </a:solidFill>
                <a:prstDash val="solid"/>
                <a:headEnd type="none" w="med" len="med"/>
                <a:tailEnd type="none" w="med" len="med"/>
              </a:ln>
            </p:spPr>
          </p:sp>
          <p:sp>
            <p:nvSpPr>
              <p:cNvPr id="42102" name="Line 189"/>
              <p:cNvSpPr>
                <a:spLocks noChangeAspect="1"/>
              </p:cNvSpPr>
              <p:nvPr/>
            </p:nvSpPr>
            <p:spPr>
              <a:xfrm flipH="1">
                <a:off x="2372" y="1361"/>
                <a:ext cx="44" cy="58"/>
              </a:xfrm>
              <a:prstGeom prst="line">
                <a:avLst/>
              </a:prstGeom>
              <a:ln w="9525" cap="flat" cmpd="sng">
                <a:solidFill>
                  <a:schemeClr val="tx1"/>
                </a:solidFill>
                <a:prstDash val="solid"/>
                <a:headEnd type="none" w="med" len="med"/>
                <a:tailEnd type="none" w="med" len="med"/>
              </a:ln>
            </p:spPr>
          </p:sp>
          <p:sp>
            <p:nvSpPr>
              <p:cNvPr id="42103" name="Line 190"/>
              <p:cNvSpPr>
                <a:spLocks noChangeAspect="1"/>
              </p:cNvSpPr>
              <p:nvPr/>
            </p:nvSpPr>
            <p:spPr>
              <a:xfrm>
                <a:off x="2413" y="1361"/>
                <a:ext cx="44" cy="58"/>
              </a:xfrm>
              <a:prstGeom prst="line">
                <a:avLst/>
              </a:prstGeom>
              <a:ln w="9525" cap="flat" cmpd="sng">
                <a:solidFill>
                  <a:schemeClr val="tx1"/>
                </a:solidFill>
                <a:prstDash val="solid"/>
                <a:headEnd type="none" w="med" len="med"/>
                <a:tailEnd type="none" w="med" len="med"/>
              </a:ln>
            </p:spPr>
          </p:sp>
          <p:grpSp>
            <p:nvGrpSpPr>
              <p:cNvPr id="42104" name="Group 191"/>
              <p:cNvGrpSpPr>
                <a:grpSpLocks noChangeAspect="1"/>
              </p:cNvGrpSpPr>
              <p:nvPr/>
            </p:nvGrpSpPr>
            <p:grpSpPr>
              <a:xfrm>
                <a:off x="2329" y="1419"/>
                <a:ext cx="85" cy="102"/>
                <a:chOff x="4547" y="1438"/>
                <a:chExt cx="148" cy="178"/>
              </a:xfrm>
            </p:grpSpPr>
            <p:sp>
              <p:nvSpPr>
                <p:cNvPr id="42109" name="Line 192"/>
                <p:cNvSpPr>
                  <a:spLocks noChangeAspect="1"/>
                </p:cNvSpPr>
                <p:nvPr/>
              </p:nvSpPr>
              <p:spPr>
                <a:xfrm>
                  <a:off x="4622" y="1438"/>
                  <a:ext cx="0" cy="82"/>
                </a:xfrm>
                <a:prstGeom prst="line">
                  <a:avLst/>
                </a:prstGeom>
                <a:ln w="9525" cap="flat" cmpd="sng">
                  <a:solidFill>
                    <a:schemeClr val="tx1"/>
                  </a:solidFill>
                  <a:prstDash val="solid"/>
                  <a:headEnd type="none" w="med" len="med"/>
                  <a:tailEnd type="none" w="med" len="med"/>
                </a:ln>
              </p:spPr>
            </p:sp>
            <p:sp>
              <p:nvSpPr>
                <p:cNvPr id="42110" name="Line 193"/>
                <p:cNvSpPr>
                  <a:spLocks noChangeAspect="1"/>
                </p:cNvSpPr>
                <p:nvPr/>
              </p:nvSpPr>
              <p:spPr>
                <a:xfrm flipH="1">
                  <a:off x="4547" y="1515"/>
                  <a:ext cx="76" cy="101"/>
                </a:xfrm>
                <a:prstGeom prst="line">
                  <a:avLst/>
                </a:prstGeom>
                <a:ln w="9525" cap="flat" cmpd="sng">
                  <a:solidFill>
                    <a:schemeClr val="tx1"/>
                  </a:solidFill>
                  <a:prstDash val="solid"/>
                  <a:headEnd type="none" w="med" len="med"/>
                  <a:tailEnd type="none" w="med" len="med"/>
                </a:ln>
              </p:spPr>
            </p:sp>
            <p:sp>
              <p:nvSpPr>
                <p:cNvPr id="42111" name="Line 194"/>
                <p:cNvSpPr>
                  <a:spLocks noChangeAspect="1"/>
                </p:cNvSpPr>
                <p:nvPr/>
              </p:nvSpPr>
              <p:spPr>
                <a:xfrm>
                  <a:off x="4619" y="1515"/>
                  <a:ext cx="76" cy="101"/>
                </a:xfrm>
                <a:prstGeom prst="line">
                  <a:avLst/>
                </a:prstGeom>
                <a:ln w="9525" cap="flat" cmpd="sng">
                  <a:solidFill>
                    <a:schemeClr val="tx1"/>
                  </a:solidFill>
                  <a:prstDash val="solid"/>
                  <a:headEnd type="none" w="med" len="med"/>
                  <a:tailEnd type="none" w="med" len="med"/>
                </a:ln>
              </p:spPr>
            </p:sp>
          </p:grpSp>
          <p:pic>
            <p:nvPicPr>
              <p:cNvPr id="42105" name="Picture 67" descr="npo0000a0"/>
              <p:cNvPicPr>
                <a:picLocks noChangeAspect="1"/>
              </p:cNvPicPr>
              <p:nvPr/>
            </p:nvPicPr>
            <p:blipFill>
              <a:blip r:embed="rId1"/>
              <a:stretch>
                <a:fillRect/>
              </a:stretch>
            </p:blipFill>
            <p:spPr>
              <a:xfrm>
                <a:off x="2457" y="1418"/>
                <a:ext cx="63" cy="65"/>
              </a:xfrm>
              <a:prstGeom prst="rect">
                <a:avLst/>
              </a:prstGeom>
              <a:noFill/>
              <a:ln w="9525">
                <a:noFill/>
              </a:ln>
            </p:spPr>
          </p:pic>
          <p:pic>
            <p:nvPicPr>
              <p:cNvPr id="42106" name="Picture 68" descr="npo0000a1"/>
              <p:cNvPicPr>
                <a:picLocks noChangeAspect="1"/>
              </p:cNvPicPr>
              <p:nvPr/>
            </p:nvPicPr>
            <p:blipFill>
              <a:blip r:embed="rId1"/>
              <a:stretch>
                <a:fillRect/>
              </a:stretch>
            </p:blipFill>
            <p:spPr>
              <a:xfrm>
                <a:off x="2267" y="1516"/>
                <a:ext cx="63" cy="64"/>
              </a:xfrm>
              <a:prstGeom prst="rect">
                <a:avLst/>
              </a:prstGeom>
              <a:noFill/>
              <a:ln w="9525">
                <a:noFill/>
              </a:ln>
            </p:spPr>
          </p:pic>
          <p:pic>
            <p:nvPicPr>
              <p:cNvPr id="42107" name="Picture 69" descr="npo0000a2"/>
              <p:cNvPicPr>
                <a:picLocks noChangeAspect="1"/>
              </p:cNvPicPr>
              <p:nvPr/>
            </p:nvPicPr>
            <p:blipFill>
              <a:blip r:embed="rId1"/>
              <a:stretch>
                <a:fillRect/>
              </a:stretch>
            </p:blipFill>
            <p:spPr>
              <a:xfrm>
                <a:off x="2402" y="1516"/>
                <a:ext cx="63" cy="64"/>
              </a:xfrm>
              <a:prstGeom prst="rect">
                <a:avLst/>
              </a:prstGeom>
              <a:noFill/>
              <a:ln w="9525">
                <a:noFill/>
              </a:ln>
            </p:spPr>
          </p:pic>
          <p:pic>
            <p:nvPicPr>
              <p:cNvPr id="42108" name="Picture 70" descr="npo0000a3"/>
              <p:cNvPicPr>
                <a:picLocks noChangeAspect="1"/>
              </p:cNvPicPr>
              <p:nvPr/>
            </p:nvPicPr>
            <p:blipFill>
              <a:blip r:embed="rId1"/>
              <a:stretch>
                <a:fillRect/>
              </a:stretch>
            </p:blipFill>
            <p:spPr>
              <a:xfrm>
                <a:off x="2381" y="1255"/>
                <a:ext cx="63" cy="64"/>
              </a:xfrm>
              <a:prstGeom prst="rect">
                <a:avLst/>
              </a:prstGeom>
              <a:noFill/>
              <a:ln w="9525">
                <a:noFill/>
              </a:ln>
            </p:spPr>
          </p:pic>
        </p:grpSp>
        <p:sp>
          <p:nvSpPr>
            <p:cNvPr id="42098" name="Line 199"/>
            <p:cNvSpPr/>
            <p:nvPr/>
          </p:nvSpPr>
          <p:spPr>
            <a:xfrm flipV="1">
              <a:off x="2068" y="1115"/>
              <a:ext cx="0" cy="76"/>
            </a:xfrm>
            <a:prstGeom prst="line">
              <a:avLst/>
            </a:prstGeom>
            <a:ln w="9525" cap="flat" cmpd="sng">
              <a:solidFill>
                <a:schemeClr val="tx1"/>
              </a:solidFill>
              <a:prstDash val="solid"/>
              <a:headEnd type="none" w="med" len="med"/>
              <a:tailEnd type="none" w="med" len="med"/>
            </a:ln>
          </p:spPr>
        </p:sp>
        <p:pic>
          <p:nvPicPr>
            <p:cNvPr id="42099" name="Picture 72" descr="npo0000a4"/>
            <p:cNvPicPr>
              <a:picLocks noChangeAspect="1"/>
            </p:cNvPicPr>
            <p:nvPr/>
          </p:nvPicPr>
          <p:blipFill>
            <a:blip r:embed="rId2"/>
            <a:stretch>
              <a:fillRect/>
            </a:stretch>
          </p:blipFill>
          <p:spPr>
            <a:xfrm>
              <a:off x="1989" y="961"/>
              <a:ext cx="147" cy="151"/>
            </a:xfrm>
            <a:prstGeom prst="rect">
              <a:avLst/>
            </a:prstGeom>
            <a:noFill/>
            <a:ln w="9525">
              <a:noFill/>
            </a:ln>
          </p:spPr>
        </p:pic>
        <p:sp>
          <p:nvSpPr>
            <p:cNvPr id="42100" name="Rectangle 201"/>
            <p:cNvSpPr/>
            <p:nvPr/>
          </p:nvSpPr>
          <p:spPr>
            <a:xfrm>
              <a:off x="1453" y="1198"/>
              <a:ext cx="1170" cy="424"/>
            </a:xfrm>
            <a:prstGeom prst="rect">
              <a:avLst/>
            </a:prstGeom>
            <a:noFill/>
            <a:ln w="9525" cap="flat" cmpd="sng">
              <a:solidFill>
                <a:schemeClr val="tx1"/>
              </a:solidFill>
              <a:prstDash val="dash"/>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grpSp>
      <p:sp>
        <p:nvSpPr>
          <p:cNvPr id="41996" name="Text Box 202"/>
          <p:cNvSpPr txBox="1">
            <a:spLocks noChangeAspect="1"/>
          </p:cNvSpPr>
          <p:nvPr/>
        </p:nvSpPr>
        <p:spPr>
          <a:xfrm>
            <a:off x="4467225" y="1371600"/>
            <a:ext cx="2085975" cy="1169988"/>
          </a:xfrm>
          <a:prstGeom prst="rect">
            <a:avLst/>
          </a:prstGeom>
          <a:noFill/>
          <a:ln w="9525">
            <a:noFill/>
          </a:ln>
        </p:spPr>
        <p:txBody>
          <a:bodyPr>
            <a:spAutoFit/>
          </a:bodyPr>
          <a:p>
            <a:r>
              <a:rPr sz="1400" b="1" dirty="0">
                <a:solidFill>
                  <a:schemeClr val="tx1"/>
                </a:solidFill>
                <a:latin typeface="Helvetica" charset="0"/>
              </a:rPr>
              <a:t>Global Name Space with single root up to 4PB depending on the LUN size and storage model</a:t>
            </a:r>
            <a:endParaRPr sz="1400" b="1" dirty="0">
              <a:solidFill>
                <a:schemeClr val="tx1"/>
              </a:solidFill>
              <a:latin typeface="Helvetica" charset="0"/>
            </a:endParaRPr>
          </a:p>
        </p:txBody>
      </p:sp>
      <p:sp>
        <p:nvSpPr>
          <p:cNvPr id="41997" name="Rectangle 203"/>
          <p:cNvSpPr/>
          <p:nvPr/>
        </p:nvSpPr>
        <p:spPr>
          <a:xfrm>
            <a:off x="1416050" y="5219700"/>
            <a:ext cx="2176463" cy="88900"/>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1998" name="Rectangle 204"/>
          <p:cNvSpPr/>
          <p:nvPr/>
        </p:nvSpPr>
        <p:spPr>
          <a:xfrm>
            <a:off x="3943350" y="5216525"/>
            <a:ext cx="1062038" cy="79375"/>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1999" name="Text Box 205"/>
          <p:cNvSpPr txBox="1">
            <a:spLocks noChangeAspect="1"/>
          </p:cNvSpPr>
          <p:nvPr/>
        </p:nvSpPr>
        <p:spPr>
          <a:xfrm>
            <a:off x="5224463" y="5143500"/>
            <a:ext cx="1212850" cy="1004888"/>
          </a:xfrm>
          <a:prstGeom prst="rect">
            <a:avLst/>
          </a:prstGeom>
          <a:noFill/>
          <a:ln w="9525">
            <a:noFill/>
          </a:ln>
        </p:spPr>
        <p:txBody>
          <a:bodyPr>
            <a:spAutoFit/>
          </a:bodyPr>
          <a:p>
            <a:r>
              <a:rPr sz="1200" b="1" dirty="0">
                <a:solidFill>
                  <a:schemeClr val="tx1"/>
                </a:solidFill>
                <a:latin typeface="Helvetica" charset="0"/>
              </a:rPr>
              <a:t>Parallel RAID Striping with hundreds of spindles per span</a:t>
            </a:r>
            <a:endParaRPr sz="1200" b="1" dirty="0">
              <a:solidFill>
                <a:schemeClr val="tx1"/>
              </a:solidFill>
              <a:latin typeface="Helvetica" charset="0"/>
            </a:endParaRPr>
          </a:p>
        </p:txBody>
      </p:sp>
      <p:sp>
        <p:nvSpPr>
          <p:cNvPr id="42000" name="Rectangle 206"/>
          <p:cNvSpPr/>
          <p:nvPr/>
        </p:nvSpPr>
        <p:spPr>
          <a:xfrm>
            <a:off x="3956050" y="5405438"/>
            <a:ext cx="1060450" cy="77787"/>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1" name="Rectangle 207"/>
          <p:cNvSpPr/>
          <p:nvPr/>
        </p:nvSpPr>
        <p:spPr>
          <a:xfrm>
            <a:off x="1674813" y="5581650"/>
            <a:ext cx="169862" cy="77788"/>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2" name="Rectangle 208"/>
          <p:cNvSpPr/>
          <p:nvPr/>
        </p:nvSpPr>
        <p:spPr>
          <a:xfrm>
            <a:off x="1435100" y="5583238"/>
            <a:ext cx="169863" cy="77787"/>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3" name="Rectangle 209"/>
          <p:cNvSpPr/>
          <p:nvPr/>
        </p:nvSpPr>
        <p:spPr>
          <a:xfrm>
            <a:off x="1430338" y="5407025"/>
            <a:ext cx="754062" cy="88900"/>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4" name="Rectangle 210"/>
          <p:cNvSpPr/>
          <p:nvPr/>
        </p:nvSpPr>
        <p:spPr>
          <a:xfrm>
            <a:off x="2255838" y="5581650"/>
            <a:ext cx="169862" cy="77788"/>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5" name="Rectangle 211"/>
          <p:cNvSpPr/>
          <p:nvPr/>
        </p:nvSpPr>
        <p:spPr>
          <a:xfrm>
            <a:off x="2016125" y="5583238"/>
            <a:ext cx="169863" cy="77787"/>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6" name="Rectangle 212"/>
          <p:cNvSpPr/>
          <p:nvPr/>
        </p:nvSpPr>
        <p:spPr>
          <a:xfrm>
            <a:off x="2941638" y="5581650"/>
            <a:ext cx="169862" cy="77788"/>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7" name="Rectangle 213"/>
          <p:cNvSpPr/>
          <p:nvPr/>
        </p:nvSpPr>
        <p:spPr>
          <a:xfrm>
            <a:off x="2701925" y="5583238"/>
            <a:ext cx="169863" cy="77787"/>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8" name="Rectangle 214"/>
          <p:cNvSpPr/>
          <p:nvPr/>
        </p:nvSpPr>
        <p:spPr>
          <a:xfrm>
            <a:off x="3387725" y="5583238"/>
            <a:ext cx="169863" cy="77787"/>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09" name="Rectangle 215"/>
          <p:cNvSpPr/>
          <p:nvPr/>
        </p:nvSpPr>
        <p:spPr>
          <a:xfrm>
            <a:off x="2255838" y="5395913"/>
            <a:ext cx="1341437" cy="100012"/>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10" name="Rectangle 216"/>
          <p:cNvSpPr/>
          <p:nvPr/>
        </p:nvSpPr>
        <p:spPr>
          <a:xfrm>
            <a:off x="4219575" y="5592763"/>
            <a:ext cx="169863" cy="77787"/>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11" name="Rectangle 217"/>
          <p:cNvSpPr/>
          <p:nvPr/>
        </p:nvSpPr>
        <p:spPr>
          <a:xfrm>
            <a:off x="3979863" y="5594350"/>
            <a:ext cx="169862" cy="77788"/>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12" name="Rectangle 218"/>
          <p:cNvSpPr/>
          <p:nvPr/>
        </p:nvSpPr>
        <p:spPr>
          <a:xfrm>
            <a:off x="4854575" y="5594350"/>
            <a:ext cx="169863" cy="77788"/>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13" name="Rectangle 219"/>
          <p:cNvSpPr/>
          <p:nvPr/>
        </p:nvSpPr>
        <p:spPr>
          <a:xfrm>
            <a:off x="4614863" y="5595938"/>
            <a:ext cx="169862" cy="77787"/>
          </a:xfrm>
          <a:prstGeom prst="rect">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14" name="Text Box 220"/>
          <p:cNvSpPr txBox="1">
            <a:spLocks noChangeAspect="1"/>
          </p:cNvSpPr>
          <p:nvPr/>
        </p:nvSpPr>
        <p:spPr>
          <a:xfrm>
            <a:off x="5300663" y="3824288"/>
            <a:ext cx="1235075" cy="549275"/>
          </a:xfrm>
          <a:prstGeom prst="rect">
            <a:avLst/>
          </a:prstGeom>
          <a:noFill/>
          <a:ln w="9525">
            <a:noFill/>
          </a:ln>
        </p:spPr>
        <p:txBody>
          <a:bodyPr>
            <a:spAutoFit/>
          </a:bodyPr>
          <a:p>
            <a:r>
              <a:rPr sz="1000" b="1" dirty="0">
                <a:solidFill>
                  <a:schemeClr val="tx1"/>
                </a:solidFill>
                <a:latin typeface="Helvetica" charset="0"/>
              </a:rPr>
              <a:t>Multiple File Systems Per Storage Pool</a:t>
            </a:r>
            <a:endParaRPr sz="1000" b="1" dirty="0">
              <a:solidFill>
                <a:schemeClr val="tx1"/>
              </a:solidFill>
              <a:latin typeface="Helvetica" charset="0"/>
            </a:endParaRPr>
          </a:p>
        </p:txBody>
      </p:sp>
      <p:sp>
        <p:nvSpPr>
          <p:cNvPr id="42015" name="AutoShape 221"/>
          <p:cNvSpPr>
            <a:spLocks noChangeAspect="1"/>
          </p:cNvSpPr>
          <p:nvPr/>
        </p:nvSpPr>
        <p:spPr>
          <a:xfrm>
            <a:off x="3811588" y="3868738"/>
            <a:ext cx="1341437" cy="1108075"/>
          </a:xfrm>
          <a:prstGeom prst="can">
            <a:avLst>
              <a:gd name="adj" fmla="val 10194"/>
            </a:avLst>
          </a:prstGeom>
          <a:solidFill>
            <a:srgbClr val="66CC00"/>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42016" name="AutoShape 222"/>
          <p:cNvSpPr>
            <a:spLocks noChangeAspect="1"/>
          </p:cNvSpPr>
          <p:nvPr/>
        </p:nvSpPr>
        <p:spPr>
          <a:xfrm>
            <a:off x="1387475" y="3886200"/>
            <a:ext cx="2120900" cy="1119188"/>
          </a:xfrm>
          <a:prstGeom prst="can">
            <a:avLst>
              <a:gd name="adj" fmla="val 10194"/>
            </a:avLst>
          </a:prstGeom>
          <a:solidFill>
            <a:srgbClr val="66CC00"/>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42017" name="Text Box 223"/>
          <p:cNvSpPr txBox="1">
            <a:spLocks noChangeAspect="1"/>
          </p:cNvSpPr>
          <p:nvPr/>
        </p:nvSpPr>
        <p:spPr>
          <a:xfrm>
            <a:off x="5300663" y="4367213"/>
            <a:ext cx="1235075" cy="549275"/>
          </a:xfrm>
          <a:prstGeom prst="rect">
            <a:avLst/>
          </a:prstGeom>
          <a:noFill/>
          <a:ln w="9525">
            <a:noFill/>
          </a:ln>
        </p:spPr>
        <p:txBody>
          <a:bodyPr>
            <a:spAutoFit/>
          </a:bodyPr>
          <a:p>
            <a:r>
              <a:rPr sz="1000" b="1" dirty="0">
                <a:solidFill>
                  <a:schemeClr val="tx1"/>
                </a:solidFill>
                <a:latin typeface="Helvetica" charset="0"/>
              </a:rPr>
              <a:t>Multiple dynamic Virtual Volumes per File System</a:t>
            </a:r>
            <a:endParaRPr sz="1000" b="1" dirty="0">
              <a:solidFill>
                <a:schemeClr val="tx1"/>
              </a:solidFill>
              <a:latin typeface="Helvetica" charset="0"/>
            </a:endParaRPr>
          </a:p>
        </p:txBody>
      </p:sp>
      <p:sp>
        <p:nvSpPr>
          <p:cNvPr id="42018" name="Rectangle 224"/>
          <p:cNvSpPr/>
          <p:nvPr/>
        </p:nvSpPr>
        <p:spPr>
          <a:xfrm>
            <a:off x="1963738" y="3997325"/>
            <a:ext cx="965200" cy="244475"/>
          </a:xfrm>
          <a:prstGeom prst="rect">
            <a:avLst/>
          </a:prstGeom>
          <a:noFill/>
          <a:ln w="9525">
            <a:noFill/>
          </a:ln>
        </p:spPr>
        <p:txBody>
          <a:bodyPr wrap="none">
            <a:spAutoFit/>
          </a:bodyPr>
          <a:p>
            <a:r>
              <a:rPr sz="1000" b="1" dirty="0">
                <a:solidFill>
                  <a:schemeClr val="tx1"/>
                </a:solidFill>
                <a:latin typeface="Helvetica" charset="0"/>
              </a:rPr>
              <a:t>Storage Pool</a:t>
            </a:r>
            <a:endParaRPr sz="1000" b="1" dirty="0">
              <a:solidFill>
                <a:schemeClr val="tx1"/>
              </a:solidFill>
              <a:latin typeface="Helvetica" charset="0"/>
            </a:endParaRPr>
          </a:p>
        </p:txBody>
      </p:sp>
      <p:sp>
        <p:nvSpPr>
          <p:cNvPr id="42019" name="Rectangle 225"/>
          <p:cNvSpPr/>
          <p:nvPr/>
        </p:nvSpPr>
        <p:spPr>
          <a:xfrm>
            <a:off x="4011613" y="3957638"/>
            <a:ext cx="965200" cy="244475"/>
          </a:xfrm>
          <a:prstGeom prst="rect">
            <a:avLst/>
          </a:prstGeom>
          <a:noFill/>
          <a:ln w="9525">
            <a:noFill/>
          </a:ln>
        </p:spPr>
        <p:txBody>
          <a:bodyPr wrap="none">
            <a:spAutoFit/>
          </a:bodyPr>
          <a:p>
            <a:r>
              <a:rPr sz="1000" b="1" dirty="0">
                <a:solidFill>
                  <a:schemeClr val="tx1"/>
                </a:solidFill>
                <a:latin typeface="Helvetica" charset="0"/>
              </a:rPr>
              <a:t>Storage Pool</a:t>
            </a:r>
            <a:endParaRPr sz="1000" b="1" dirty="0">
              <a:solidFill>
                <a:schemeClr val="tx1"/>
              </a:solidFill>
              <a:latin typeface="Helvetica" charset="0"/>
            </a:endParaRPr>
          </a:p>
        </p:txBody>
      </p:sp>
      <p:grpSp>
        <p:nvGrpSpPr>
          <p:cNvPr id="42020" name="Group 226"/>
          <p:cNvGrpSpPr/>
          <p:nvPr/>
        </p:nvGrpSpPr>
        <p:grpSpPr>
          <a:xfrm>
            <a:off x="3846513" y="4186238"/>
            <a:ext cx="1284287" cy="703262"/>
            <a:chOff x="-791" y="2717"/>
            <a:chExt cx="809" cy="443"/>
          </a:xfrm>
        </p:grpSpPr>
        <p:sp>
          <p:nvSpPr>
            <p:cNvPr id="42080" name="Rectangle 227"/>
            <p:cNvSpPr/>
            <p:nvPr/>
          </p:nvSpPr>
          <p:spPr>
            <a:xfrm>
              <a:off x="-791" y="2740"/>
              <a:ext cx="791" cy="420"/>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81" name="AutoShape 228"/>
            <p:cNvSpPr/>
            <p:nvPr/>
          </p:nvSpPr>
          <p:spPr>
            <a:xfrm>
              <a:off x="-746" y="2873"/>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82" name="AutoShape 229"/>
            <p:cNvSpPr/>
            <p:nvPr/>
          </p:nvSpPr>
          <p:spPr>
            <a:xfrm>
              <a:off x="-613" y="2872"/>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83" name="AutoShape 230"/>
            <p:cNvSpPr/>
            <p:nvPr/>
          </p:nvSpPr>
          <p:spPr>
            <a:xfrm>
              <a:off x="-745" y="2970"/>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84" name="AutoShape 231"/>
            <p:cNvSpPr/>
            <p:nvPr/>
          </p:nvSpPr>
          <p:spPr>
            <a:xfrm>
              <a:off x="-612" y="2969"/>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85" name="AutoShape 232"/>
            <p:cNvSpPr/>
            <p:nvPr/>
          </p:nvSpPr>
          <p:spPr>
            <a:xfrm>
              <a:off x="-746" y="3060"/>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86" name="AutoShape 233"/>
            <p:cNvSpPr/>
            <p:nvPr/>
          </p:nvSpPr>
          <p:spPr>
            <a:xfrm>
              <a:off x="-613" y="3059"/>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87" name="Rectangle 234"/>
            <p:cNvSpPr/>
            <p:nvPr/>
          </p:nvSpPr>
          <p:spPr>
            <a:xfrm>
              <a:off x="-670" y="2717"/>
              <a:ext cx="556" cy="154"/>
            </a:xfrm>
            <a:prstGeom prst="rect">
              <a:avLst/>
            </a:prstGeom>
            <a:noFill/>
            <a:ln w="9525">
              <a:noFill/>
            </a:ln>
          </p:spPr>
          <p:txBody>
            <a:bodyPr wrap="none">
              <a:spAutoFit/>
            </a:bodyPr>
            <a:p>
              <a:r>
                <a:rPr sz="1000" b="1" dirty="0">
                  <a:solidFill>
                    <a:schemeClr val="tx1"/>
                  </a:solidFill>
                  <a:latin typeface="Helvetica" charset="0"/>
                </a:rPr>
                <a:t>File System</a:t>
              </a:r>
              <a:endParaRPr sz="1000" b="1" dirty="0">
                <a:solidFill>
                  <a:schemeClr val="tx1"/>
                </a:solidFill>
                <a:latin typeface="Helvetica" charset="0"/>
              </a:endParaRPr>
            </a:p>
          </p:txBody>
        </p:sp>
        <p:sp>
          <p:nvSpPr>
            <p:cNvPr id="42088" name="Rectangle 235"/>
            <p:cNvSpPr/>
            <p:nvPr/>
          </p:nvSpPr>
          <p:spPr>
            <a:xfrm>
              <a:off x="-430" y="2886"/>
              <a:ext cx="448" cy="250"/>
            </a:xfrm>
            <a:prstGeom prst="rect">
              <a:avLst/>
            </a:prstGeom>
            <a:noFill/>
            <a:ln w="9525">
              <a:noFill/>
            </a:ln>
          </p:spPr>
          <p:txBody>
            <a:bodyPr wrap="none">
              <a:spAutoFit/>
            </a:bodyPr>
            <a:p>
              <a:r>
                <a:rPr sz="1000" b="1" dirty="0">
                  <a:solidFill>
                    <a:srgbClr val="003399"/>
                  </a:solidFill>
                  <a:latin typeface="Helvetica" charset="0"/>
                </a:rPr>
                <a:t>Virtual </a:t>
              </a:r>
              <a:endParaRPr sz="1000" b="1" dirty="0">
                <a:solidFill>
                  <a:srgbClr val="003399"/>
                </a:solidFill>
                <a:latin typeface="Helvetica" charset="0"/>
              </a:endParaRPr>
            </a:p>
            <a:p>
              <a:r>
                <a:rPr sz="1000" b="1" dirty="0">
                  <a:solidFill>
                    <a:srgbClr val="003399"/>
                  </a:solidFill>
                  <a:latin typeface="Helvetica" charset="0"/>
                </a:rPr>
                <a:t>Volumes</a:t>
              </a:r>
              <a:endParaRPr sz="1000" b="1" dirty="0">
                <a:solidFill>
                  <a:srgbClr val="003399"/>
                </a:solidFill>
                <a:latin typeface="Helvetica" charset="0"/>
              </a:endParaRPr>
            </a:p>
          </p:txBody>
        </p:sp>
        <p:grpSp>
          <p:nvGrpSpPr>
            <p:cNvPr id="42089" name="Group 236"/>
            <p:cNvGrpSpPr/>
            <p:nvPr/>
          </p:nvGrpSpPr>
          <p:grpSpPr>
            <a:xfrm>
              <a:off x="-497" y="2910"/>
              <a:ext cx="97" cy="188"/>
              <a:chOff x="-485" y="3462"/>
              <a:chExt cx="97" cy="188"/>
            </a:xfrm>
          </p:grpSpPr>
          <p:grpSp>
            <p:nvGrpSpPr>
              <p:cNvPr id="42090" name="Group 237"/>
              <p:cNvGrpSpPr/>
              <p:nvPr/>
            </p:nvGrpSpPr>
            <p:grpSpPr>
              <a:xfrm>
                <a:off x="-485" y="3462"/>
                <a:ext cx="67" cy="188"/>
                <a:chOff x="-485" y="3462"/>
                <a:chExt cx="67" cy="188"/>
              </a:xfrm>
            </p:grpSpPr>
            <p:sp>
              <p:nvSpPr>
                <p:cNvPr id="42092" name="Line 238"/>
                <p:cNvSpPr/>
                <p:nvPr/>
              </p:nvSpPr>
              <p:spPr>
                <a:xfrm>
                  <a:off x="-485" y="3462"/>
                  <a:ext cx="61" cy="0"/>
                </a:xfrm>
                <a:prstGeom prst="line">
                  <a:avLst/>
                </a:prstGeom>
                <a:ln w="9525" cap="flat" cmpd="sng">
                  <a:solidFill>
                    <a:srgbClr val="003399"/>
                  </a:solidFill>
                  <a:prstDash val="solid"/>
                  <a:headEnd type="none" w="med" len="med"/>
                  <a:tailEnd type="none" w="med" len="med"/>
                </a:ln>
              </p:spPr>
            </p:sp>
            <p:sp>
              <p:nvSpPr>
                <p:cNvPr id="42093" name="Line 239"/>
                <p:cNvSpPr/>
                <p:nvPr/>
              </p:nvSpPr>
              <p:spPr>
                <a:xfrm>
                  <a:off x="-480" y="3649"/>
                  <a:ext cx="61" cy="0"/>
                </a:xfrm>
                <a:prstGeom prst="line">
                  <a:avLst/>
                </a:prstGeom>
                <a:ln w="9525" cap="flat" cmpd="sng">
                  <a:solidFill>
                    <a:srgbClr val="003399"/>
                  </a:solidFill>
                  <a:prstDash val="solid"/>
                  <a:headEnd type="none" w="med" len="med"/>
                  <a:tailEnd type="none" w="med" len="med"/>
                </a:ln>
              </p:spPr>
            </p:sp>
            <p:sp>
              <p:nvSpPr>
                <p:cNvPr id="42094" name="Line 240"/>
                <p:cNvSpPr/>
                <p:nvPr/>
              </p:nvSpPr>
              <p:spPr>
                <a:xfrm>
                  <a:off x="-418" y="3462"/>
                  <a:ext cx="0" cy="188"/>
                </a:xfrm>
                <a:prstGeom prst="line">
                  <a:avLst/>
                </a:prstGeom>
                <a:ln w="9525" cap="flat" cmpd="sng">
                  <a:solidFill>
                    <a:srgbClr val="003399"/>
                  </a:solidFill>
                  <a:prstDash val="solid"/>
                  <a:headEnd type="none" w="med" len="med"/>
                  <a:tailEnd type="none" w="med" len="med"/>
                </a:ln>
              </p:spPr>
            </p:sp>
          </p:grpSp>
          <p:sp>
            <p:nvSpPr>
              <p:cNvPr id="42091" name="Line 241"/>
              <p:cNvSpPr/>
              <p:nvPr/>
            </p:nvSpPr>
            <p:spPr>
              <a:xfrm>
                <a:off x="-418" y="3547"/>
                <a:ext cx="30" cy="0"/>
              </a:xfrm>
              <a:prstGeom prst="line">
                <a:avLst/>
              </a:prstGeom>
              <a:ln w="9525" cap="flat" cmpd="sng">
                <a:solidFill>
                  <a:srgbClr val="003399"/>
                </a:solidFill>
                <a:prstDash val="solid"/>
                <a:headEnd type="none" w="med" len="med"/>
                <a:tailEnd type="none" w="med" len="med"/>
              </a:ln>
            </p:spPr>
          </p:sp>
        </p:grpSp>
      </p:grpSp>
      <p:grpSp>
        <p:nvGrpSpPr>
          <p:cNvPr id="42021" name="Group 242"/>
          <p:cNvGrpSpPr/>
          <p:nvPr/>
        </p:nvGrpSpPr>
        <p:grpSpPr>
          <a:xfrm>
            <a:off x="1550988" y="4224338"/>
            <a:ext cx="882650" cy="703262"/>
            <a:chOff x="-1005" y="1661"/>
            <a:chExt cx="556" cy="443"/>
          </a:xfrm>
        </p:grpSpPr>
        <p:sp>
          <p:nvSpPr>
            <p:cNvPr id="42069" name="Rectangle 243"/>
            <p:cNvSpPr/>
            <p:nvPr/>
          </p:nvSpPr>
          <p:spPr>
            <a:xfrm>
              <a:off x="-988" y="1684"/>
              <a:ext cx="512" cy="420"/>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0" name="AutoShape 244"/>
            <p:cNvSpPr/>
            <p:nvPr/>
          </p:nvSpPr>
          <p:spPr>
            <a:xfrm>
              <a:off x="-937" y="1817"/>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1" name="AutoShape 245"/>
            <p:cNvSpPr/>
            <p:nvPr/>
          </p:nvSpPr>
          <p:spPr>
            <a:xfrm>
              <a:off x="-780" y="1816"/>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2" name="AutoShape 246"/>
            <p:cNvSpPr/>
            <p:nvPr/>
          </p:nvSpPr>
          <p:spPr>
            <a:xfrm>
              <a:off x="-936" y="1914"/>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3" name="AutoShape 247"/>
            <p:cNvSpPr/>
            <p:nvPr/>
          </p:nvSpPr>
          <p:spPr>
            <a:xfrm>
              <a:off x="-779" y="1913"/>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4" name="AutoShape 248"/>
            <p:cNvSpPr/>
            <p:nvPr/>
          </p:nvSpPr>
          <p:spPr>
            <a:xfrm>
              <a:off x="-937" y="2004"/>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5" name="AutoShape 249"/>
            <p:cNvSpPr/>
            <p:nvPr/>
          </p:nvSpPr>
          <p:spPr>
            <a:xfrm>
              <a:off x="-780" y="2009"/>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6" name="Rectangle 250"/>
            <p:cNvSpPr/>
            <p:nvPr/>
          </p:nvSpPr>
          <p:spPr>
            <a:xfrm>
              <a:off x="-1005" y="1661"/>
              <a:ext cx="556" cy="154"/>
            </a:xfrm>
            <a:prstGeom prst="rect">
              <a:avLst/>
            </a:prstGeom>
            <a:noFill/>
            <a:ln w="9525">
              <a:noFill/>
            </a:ln>
          </p:spPr>
          <p:txBody>
            <a:bodyPr wrap="none">
              <a:spAutoFit/>
            </a:bodyPr>
            <a:p>
              <a:r>
                <a:rPr sz="1000" b="1" dirty="0">
                  <a:solidFill>
                    <a:schemeClr val="tx1"/>
                  </a:solidFill>
                  <a:latin typeface="Helvetica" charset="0"/>
                </a:rPr>
                <a:t>File System</a:t>
              </a:r>
              <a:endParaRPr sz="1000" b="1" dirty="0">
                <a:solidFill>
                  <a:schemeClr val="tx1"/>
                </a:solidFill>
                <a:latin typeface="Helvetica" charset="0"/>
              </a:endParaRPr>
            </a:p>
          </p:txBody>
        </p:sp>
        <p:sp>
          <p:nvSpPr>
            <p:cNvPr id="42077" name="AutoShape 251"/>
            <p:cNvSpPr/>
            <p:nvPr/>
          </p:nvSpPr>
          <p:spPr>
            <a:xfrm>
              <a:off x="-632" y="1816"/>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8" name="AutoShape 252"/>
            <p:cNvSpPr/>
            <p:nvPr/>
          </p:nvSpPr>
          <p:spPr>
            <a:xfrm>
              <a:off x="-631" y="1913"/>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79" name="AutoShape 253"/>
            <p:cNvSpPr/>
            <p:nvPr/>
          </p:nvSpPr>
          <p:spPr>
            <a:xfrm>
              <a:off x="-632" y="2009"/>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grpSp>
      <p:grpSp>
        <p:nvGrpSpPr>
          <p:cNvPr id="42022" name="Group 254"/>
          <p:cNvGrpSpPr/>
          <p:nvPr/>
        </p:nvGrpSpPr>
        <p:grpSpPr>
          <a:xfrm>
            <a:off x="2482850" y="4224338"/>
            <a:ext cx="882650" cy="703262"/>
            <a:chOff x="-1005" y="1661"/>
            <a:chExt cx="556" cy="443"/>
          </a:xfrm>
        </p:grpSpPr>
        <p:sp>
          <p:nvSpPr>
            <p:cNvPr id="42058" name="Rectangle 255"/>
            <p:cNvSpPr/>
            <p:nvPr/>
          </p:nvSpPr>
          <p:spPr>
            <a:xfrm>
              <a:off x="-988" y="1684"/>
              <a:ext cx="512" cy="420"/>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59" name="AutoShape 256"/>
            <p:cNvSpPr/>
            <p:nvPr/>
          </p:nvSpPr>
          <p:spPr>
            <a:xfrm>
              <a:off x="-937" y="1817"/>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60" name="AutoShape 257"/>
            <p:cNvSpPr/>
            <p:nvPr/>
          </p:nvSpPr>
          <p:spPr>
            <a:xfrm>
              <a:off x="-780" y="1816"/>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61" name="AutoShape 258"/>
            <p:cNvSpPr/>
            <p:nvPr/>
          </p:nvSpPr>
          <p:spPr>
            <a:xfrm>
              <a:off x="-936" y="1914"/>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62" name="AutoShape 259"/>
            <p:cNvSpPr/>
            <p:nvPr/>
          </p:nvSpPr>
          <p:spPr>
            <a:xfrm>
              <a:off x="-779" y="1913"/>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63" name="AutoShape 260"/>
            <p:cNvSpPr/>
            <p:nvPr/>
          </p:nvSpPr>
          <p:spPr>
            <a:xfrm>
              <a:off x="-937" y="2004"/>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64" name="AutoShape 261"/>
            <p:cNvSpPr/>
            <p:nvPr/>
          </p:nvSpPr>
          <p:spPr>
            <a:xfrm>
              <a:off x="-780" y="2009"/>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65" name="Rectangle 262"/>
            <p:cNvSpPr/>
            <p:nvPr/>
          </p:nvSpPr>
          <p:spPr>
            <a:xfrm>
              <a:off x="-1005" y="1661"/>
              <a:ext cx="556" cy="154"/>
            </a:xfrm>
            <a:prstGeom prst="rect">
              <a:avLst/>
            </a:prstGeom>
            <a:noFill/>
            <a:ln w="9525">
              <a:noFill/>
            </a:ln>
          </p:spPr>
          <p:txBody>
            <a:bodyPr wrap="none">
              <a:spAutoFit/>
            </a:bodyPr>
            <a:p>
              <a:r>
                <a:rPr sz="1000" b="1" dirty="0">
                  <a:solidFill>
                    <a:schemeClr val="tx1"/>
                  </a:solidFill>
                  <a:latin typeface="Helvetica" charset="0"/>
                </a:rPr>
                <a:t>File System</a:t>
              </a:r>
              <a:endParaRPr sz="1000" b="1" dirty="0">
                <a:solidFill>
                  <a:schemeClr val="tx1"/>
                </a:solidFill>
                <a:latin typeface="Helvetica" charset="0"/>
              </a:endParaRPr>
            </a:p>
          </p:txBody>
        </p:sp>
        <p:sp>
          <p:nvSpPr>
            <p:cNvPr id="42066" name="AutoShape 263"/>
            <p:cNvSpPr/>
            <p:nvPr/>
          </p:nvSpPr>
          <p:spPr>
            <a:xfrm>
              <a:off x="-632" y="1816"/>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67" name="AutoShape 264"/>
            <p:cNvSpPr/>
            <p:nvPr/>
          </p:nvSpPr>
          <p:spPr>
            <a:xfrm>
              <a:off x="-631" y="1913"/>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68" name="AutoShape 265"/>
            <p:cNvSpPr/>
            <p:nvPr/>
          </p:nvSpPr>
          <p:spPr>
            <a:xfrm>
              <a:off x="-632" y="2009"/>
              <a:ext cx="96" cy="67"/>
            </a:xfrm>
            <a:prstGeom prst="can">
              <a:avLst>
                <a:gd name="adj" fmla="val 25000"/>
              </a:avLst>
            </a:prstGeom>
            <a:solidFill>
              <a:srgbClr val="AFEA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grpSp>
      <p:sp>
        <p:nvSpPr>
          <p:cNvPr id="42023" name="Text Box 266"/>
          <p:cNvSpPr txBox="1">
            <a:spLocks noChangeAspect="1"/>
          </p:cNvSpPr>
          <p:nvPr/>
        </p:nvSpPr>
        <p:spPr>
          <a:xfrm>
            <a:off x="5226050" y="2682875"/>
            <a:ext cx="1181100" cy="942975"/>
          </a:xfrm>
          <a:prstGeom prst="rect">
            <a:avLst/>
          </a:prstGeom>
          <a:noFill/>
          <a:ln w="9525">
            <a:noFill/>
          </a:ln>
        </p:spPr>
        <p:txBody>
          <a:bodyPr>
            <a:spAutoFit/>
          </a:bodyPr>
          <a:p>
            <a:r>
              <a:rPr sz="1400" b="1" dirty="0">
                <a:solidFill>
                  <a:schemeClr val="tx1"/>
                </a:solidFill>
                <a:latin typeface="Helvetica" charset="0"/>
              </a:rPr>
              <a:t>Up to 64 Virtual Servers per System</a:t>
            </a:r>
            <a:endParaRPr sz="1400" b="1" dirty="0">
              <a:solidFill>
                <a:schemeClr val="tx1"/>
              </a:solidFill>
              <a:latin typeface="Helvetica" charset="0"/>
            </a:endParaRPr>
          </a:p>
        </p:txBody>
      </p:sp>
      <p:sp>
        <p:nvSpPr>
          <p:cNvPr id="42024" name="AutoShape 267"/>
          <p:cNvSpPr/>
          <p:nvPr/>
        </p:nvSpPr>
        <p:spPr>
          <a:xfrm>
            <a:off x="2498725" y="293211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25" name="AutoShape 268"/>
          <p:cNvSpPr/>
          <p:nvPr/>
        </p:nvSpPr>
        <p:spPr>
          <a:xfrm>
            <a:off x="2660650" y="293211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26" name="AutoShape 269"/>
          <p:cNvSpPr/>
          <p:nvPr/>
        </p:nvSpPr>
        <p:spPr>
          <a:xfrm>
            <a:off x="2813050" y="293211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27" name="AutoShape 270"/>
          <p:cNvSpPr/>
          <p:nvPr/>
        </p:nvSpPr>
        <p:spPr>
          <a:xfrm>
            <a:off x="2965450" y="293211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28" name="AutoShape 271"/>
          <p:cNvSpPr/>
          <p:nvPr/>
        </p:nvSpPr>
        <p:spPr>
          <a:xfrm>
            <a:off x="3308350" y="293211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29" name="AutoShape 272"/>
          <p:cNvSpPr/>
          <p:nvPr/>
        </p:nvSpPr>
        <p:spPr>
          <a:xfrm>
            <a:off x="3470275" y="293211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30" name="AutoShape 273"/>
          <p:cNvSpPr/>
          <p:nvPr/>
        </p:nvSpPr>
        <p:spPr>
          <a:xfrm>
            <a:off x="3622675" y="293211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31" name="AutoShape 274"/>
          <p:cNvSpPr/>
          <p:nvPr/>
        </p:nvSpPr>
        <p:spPr>
          <a:xfrm>
            <a:off x="3775075" y="293211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32" name="Rectangle 275"/>
          <p:cNvSpPr/>
          <p:nvPr/>
        </p:nvSpPr>
        <p:spPr>
          <a:xfrm>
            <a:off x="1371600" y="2659063"/>
            <a:ext cx="3886200" cy="1081087"/>
          </a:xfrm>
          <a:prstGeom prst="rect">
            <a:avLst/>
          </a:prstGeom>
          <a:noFill/>
          <a:ln w="9525" cap="flat" cmpd="sng">
            <a:solidFill>
              <a:schemeClr val="tx1"/>
            </a:solidFill>
            <a:prstDash val="dash"/>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33" name="Line 276"/>
          <p:cNvSpPr/>
          <p:nvPr/>
        </p:nvSpPr>
        <p:spPr>
          <a:xfrm>
            <a:off x="3084513" y="3387725"/>
            <a:ext cx="292100" cy="0"/>
          </a:xfrm>
          <a:prstGeom prst="line">
            <a:avLst/>
          </a:prstGeom>
          <a:ln w="9525" cap="flat" cmpd="sng">
            <a:solidFill>
              <a:schemeClr val="tx1"/>
            </a:solidFill>
            <a:prstDash val="solid"/>
            <a:headEnd type="none" w="med" len="med"/>
            <a:tailEnd type="none" w="med" len="med"/>
          </a:ln>
        </p:spPr>
      </p:sp>
      <p:sp>
        <p:nvSpPr>
          <p:cNvPr id="42034" name="Line 277"/>
          <p:cNvSpPr/>
          <p:nvPr/>
        </p:nvSpPr>
        <p:spPr>
          <a:xfrm>
            <a:off x="3074988" y="3463925"/>
            <a:ext cx="292100" cy="0"/>
          </a:xfrm>
          <a:prstGeom prst="line">
            <a:avLst/>
          </a:prstGeom>
          <a:ln w="9525" cap="flat" cmpd="sng">
            <a:solidFill>
              <a:schemeClr val="tx1"/>
            </a:solidFill>
            <a:prstDash val="solid"/>
            <a:headEnd type="none" w="med" len="med"/>
            <a:tailEnd type="none" w="med" len="med"/>
          </a:ln>
        </p:spPr>
      </p:sp>
      <p:sp>
        <p:nvSpPr>
          <p:cNvPr id="42035" name="Rectangle 278"/>
          <p:cNvSpPr/>
          <p:nvPr/>
        </p:nvSpPr>
        <p:spPr>
          <a:xfrm>
            <a:off x="2765425" y="2662238"/>
            <a:ext cx="919163" cy="244475"/>
          </a:xfrm>
          <a:prstGeom prst="rect">
            <a:avLst/>
          </a:prstGeom>
          <a:noFill/>
          <a:ln w="9525">
            <a:noFill/>
          </a:ln>
        </p:spPr>
        <p:txBody>
          <a:bodyPr wrap="none">
            <a:spAutoFit/>
          </a:bodyPr>
          <a:p>
            <a:r>
              <a:rPr sz="1000" b="1" dirty="0">
                <a:solidFill>
                  <a:schemeClr val="tx1"/>
                </a:solidFill>
                <a:latin typeface="Helvetica" charset="0"/>
              </a:rPr>
              <a:t>NAS Cluster</a:t>
            </a:r>
            <a:endParaRPr sz="1000" b="1" dirty="0">
              <a:solidFill>
                <a:schemeClr val="tx1"/>
              </a:solidFill>
              <a:latin typeface="Helvetica" charset="0"/>
            </a:endParaRPr>
          </a:p>
        </p:txBody>
      </p:sp>
      <p:sp>
        <p:nvSpPr>
          <p:cNvPr id="42036" name="AutoShape 279"/>
          <p:cNvSpPr/>
          <p:nvPr/>
        </p:nvSpPr>
        <p:spPr>
          <a:xfrm>
            <a:off x="4356100" y="295116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37" name="AutoShape 280"/>
          <p:cNvSpPr/>
          <p:nvPr/>
        </p:nvSpPr>
        <p:spPr>
          <a:xfrm>
            <a:off x="4518025" y="295116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38" name="AutoShape 281"/>
          <p:cNvSpPr/>
          <p:nvPr/>
        </p:nvSpPr>
        <p:spPr>
          <a:xfrm>
            <a:off x="4670425" y="295116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39" name="AutoShape 282"/>
          <p:cNvSpPr/>
          <p:nvPr/>
        </p:nvSpPr>
        <p:spPr>
          <a:xfrm>
            <a:off x="4822825" y="2951163"/>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40" name="AutoShape 283"/>
          <p:cNvSpPr/>
          <p:nvPr/>
        </p:nvSpPr>
        <p:spPr>
          <a:xfrm>
            <a:off x="1584325" y="2941638"/>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41" name="AutoShape 284"/>
          <p:cNvSpPr/>
          <p:nvPr/>
        </p:nvSpPr>
        <p:spPr>
          <a:xfrm>
            <a:off x="1746250" y="2941638"/>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42" name="AutoShape 285"/>
          <p:cNvSpPr/>
          <p:nvPr/>
        </p:nvSpPr>
        <p:spPr>
          <a:xfrm>
            <a:off x="1898650" y="2941638"/>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2043" name="AutoShape 286"/>
          <p:cNvSpPr/>
          <p:nvPr/>
        </p:nvSpPr>
        <p:spPr>
          <a:xfrm>
            <a:off x="2051050" y="2941638"/>
            <a:ext cx="163513" cy="153987"/>
          </a:xfrm>
          <a:prstGeom prst="cube">
            <a:avLst>
              <a:gd name="adj" fmla="val 25000"/>
            </a:avLst>
          </a:prstGeom>
          <a:solidFill>
            <a:srgbClr val="AFEA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42044" name="Picture 287" descr="ams200_WMS100_nas"/>
          <p:cNvPicPr>
            <a:picLocks noChangeAspect="1"/>
          </p:cNvPicPr>
          <p:nvPr/>
        </p:nvPicPr>
        <p:blipFill>
          <a:blip r:embed="rId3"/>
          <a:stretch>
            <a:fillRect/>
          </a:stretch>
        </p:blipFill>
        <p:spPr>
          <a:xfrm>
            <a:off x="1444625" y="5694363"/>
            <a:ext cx="425450" cy="552450"/>
          </a:xfrm>
          <a:prstGeom prst="rect">
            <a:avLst/>
          </a:prstGeom>
          <a:noFill/>
          <a:ln w="9525">
            <a:noFill/>
          </a:ln>
        </p:spPr>
      </p:pic>
      <p:pic>
        <p:nvPicPr>
          <p:cNvPr id="42045" name="Picture 288" descr="ams200_WMS100_nas"/>
          <p:cNvPicPr>
            <a:picLocks noChangeAspect="1"/>
          </p:cNvPicPr>
          <p:nvPr/>
        </p:nvPicPr>
        <p:blipFill>
          <a:blip r:embed="rId3"/>
          <a:stretch>
            <a:fillRect/>
          </a:stretch>
        </p:blipFill>
        <p:spPr>
          <a:xfrm>
            <a:off x="2019300" y="5691188"/>
            <a:ext cx="425450" cy="552450"/>
          </a:xfrm>
          <a:prstGeom prst="rect">
            <a:avLst/>
          </a:prstGeom>
          <a:noFill/>
          <a:ln w="9525">
            <a:noFill/>
          </a:ln>
        </p:spPr>
      </p:pic>
      <p:pic>
        <p:nvPicPr>
          <p:cNvPr id="42046" name="Picture 289" descr="ams200_WMS100_nas"/>
          <p:cNvPicPr>
            <a:picLocks noChangeAspect="1"/>
          </p:cNvPicPr>
          <p:nvPr/>
        </p:nvPicPr>
        <p:blipFill>
          <a:blip r:embed="rId3"/>
          <a:stretch>
            <a:fillRect/>
          </a:stretch>
        </p:blipFill>
        <p:spPr>
          <a:xfrm>
            <a:off x="2679700" y="5694363"/>
            <a:ext cx="425450" cy="552450"/>
          </a:xfrm>
          <a:prstGeom prst="rect">
            <a:avLst/>
          </a:prstGeom>
          <a:noFill/>
          <a:ln w="9525">
            <a:noFill/>
          </a:ln>
        </p:spPr>
      </p:pic>
      <p:pic>
        <p:nvPicPr>
          <p:cNvPr id="42047" name="Picture 290" descr="ams200_WMS100_nas"/>
          <p:cNvPicPr>
            <a:picLocks noChangeAspect="1"/>
          </p:cNvPicPr>
          <p:nvPr/>
        </p:nvPicPr>
        <p:blipFill>
          <a:blip r:embed="rId3"/>
          <a:stretch>
            <a:fillRect/>
          </a:stretch>
        </p:blipFill>
        <p:spPr>
          <a:xfrm>
            <a:off x="3297238" y="5681663"/>
            <a:ext cx="425450" cy="552450"/>
          </a:xfrm>
          <a:prstGeom prst="rect">
            <a:avLst/>
          </a:prstGeom>
          <a:noFill/>
          <a:ln w="9525">
            <a:noFill/>
          </a:ln>
        </p:spPr>
      </p:pic>
      <p:pic>
        <p:nvPicPr>
          <p:cNvPr id="42048" name="Picture 291" descr="ams200_WMS100_nas"/>
          <p:cNvPicPr>
            <a:picLocks noChangeAspect="1"/>
          </p:cNvPicPr>
          <p:nvPr/>
        </p:nvPicPr>
        <p:blipFill>
          <a:blip r:embed="rId3"/>
          <a:stretch>
            <a:fillRect/>
          </a:stretch>
        </p:blipFill>
        <p:spPr>
          <a:xfrm>
            <a:off x="3967163" y="5668963"/>
            <a:ext cx="425450" cy="552450"/>
          </a:xfrm>
          <a:prstGeom prst="rect">
            <a:avLst/>
          </a:prstGeom>
          <a:noFill/>
          <a:ln w="9525">
            <a:noFill/>
          </a:ln>
        </p:spPr>
      </p:pic>
      <p:pic>
        <p:nvPicPr>
          <p:cNvPr id="42049" name="Picture 292" descr="ams200_WMS100_nas"/>
          <p:cNvPicPr>
            <a:picLocks noChangeAspect="1"/>
          </p:cNvPicPr>
          <p:nvPr/>
        </p:nvPicPr>
        <p:blipFill>
          <a:blip r:embed="rId3"/>
          <a:stretch>
            <a:fillRect/>
          </a:stretch>
        </p:blipFill>
        <p:spPr>
          <a:xfrm>
            <a:off x="4611688" y="5668963"/>
            <a:ext cx="425450" cy="552450"/>
          </a:xfrm>
          <a:prstGeom prst="rect">
            <a:avLst/>
          </a:prstGeom>
          <a:noFill/>
          <a:ln w="9525">
            <a:noFill/>
          </a:ln>
        </p:spPr>
      </p:pic>
      <p:pic>
        <p:nvPicPr>
          <p:cNvPr id="42050" name="Picture 293"/>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1371600" y="3209925"/>
            <a:ext cx="762000" cy="371475"/>
          </a:xfrm>
          <a:prstGeom prst="rect">
            <a:avLst/>
          </a:prstGeom>
          <a:noFill/>
          <a:ln w="9525">
            <a:noFill/>
          </a:ln>
        </p:spPr>
      </p:pic>
      <p:pic>
        <p:nvPicPr>
          <p:cNvPr id="42051" name="Picture 294"/>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1524000" y="3362325"/>
            <a:ext cx="762000" cy="371475"/>
          </a:xfrm>
          <a:prstGeom prst="rect">
            <a:avLst/>
          </a:prstGeom>
          <a:noFill/>
          <a:ln w="9525">
            <a:noFill/>
          </a:ln>
        </p:spPr>
      </p:pic>
      <p:pic>
        <p:nvPicPr>
          <p:cNvPr id="42052" name="Picture 295"/>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2286000" y="3200400"/>
            <a:ext cx="762000" cy="371475"/>
          </a:xfrm>
          <a:prstGeom prst="rect">
            <a:avLst/>
          </a:prstGeom>
          <a:noFill/>
          <a:ln w="9525">
            <a:noFill/>
          </a:ln>
        </p:spPr>
      </p:pic>
      <p:pic>
        <p:nvPicPr>
          <p:cNvPr id="42053" name="Picture 296"/>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2438400" y="3352800"/>
            <a:ext cx="762000" cy="371475"/>
          </a:xfrm>
          <a:prstGeom prst="rect">
            <a:avLst/>
          </a:prstGeom>
          <a:noFill/>
          <a:ln w="9525">
            <a:noFill/>
          </a:ln>
        </p:spPr>
      </p:pic>
      <p:pic>
        <p:nvPicPr>
          <p:cNvPr id="42054" name="Picture 297"/>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3352800" y="3200400"/>
            <a:ext cx="762000" cy="371475"/>
          </a:xfrm>
          <a:prstGeom prst="rect">
            <a:avLst/>
          </a:prstGeom>
          <a:noFill/>
          <a:ln w="9525">
            <a:noFill/>
          </a:ln>
        </p:spPr>
      </p:pic>
      <p:pic>
        <p:nvPicPr>
          <p:cNvPr id="42055" name="Picture 298"/>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3505200" y="3352800"/>
            <a:ext cx="762000" cy="371475"/>
          </a:xfrm>
          <a:prstGeom prst="rect">
            <a:avLst/>
          </a:prstGeom>
          <a:noFill/>
          <a:ln w="9525">
            <a:noFill/>
          </a:ln>
        </p:spPr>
      </p:pic>
      <p:pic>
        <p:nvPicPr>
          <p:cNvPr id="42056" name="Picture 299"/>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4267200" y="3200400"/>
            <a:ext cx="762000" cy="371475"/>
          </a:xfrm>
          <a:prstGeom prst="rect">
            <a:avLst/>
          </a:prstGeom>
          <a:noFill/>
          <a:ln w="9525">
            <a:noFill/>
          </a:ln>
        </p:spPr>
      </p:pic>
      <p:pic>
        <p:nvPicPr>
          <p:cNvPr id="42057" name="Picture 300"/>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4419600" y="3352800"/>
            <a:ext cx="762000" cy="371475"/>
          </a:xfrm>
          <a:prstGeom prst="rect">
            <a:avLst/>
          </a:prstGeom>
          <a:noFill/>
          <a:ln w="9525">
            <a:noFill/>
          </a:ln>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p:nvPr>
        </p:nvSpPr>
        <p:spPr>
          <a:xfrm>
            <a:off x="273050" y="273050"/>
            <a:ext cx="7315200" cy="365125"/>
          </a:xfrm>
          <a:ln/>
        </p:spPr>
        <p:txBody>
          <a:bodyPr vert="horz" wrap="square" lIns="91440" tIns="0" rIns="91440" bIns="0" anchor="ctr" anchorCtr="0">
            <a:spAutoFit/>
          </a:bodyPr>
          <a:p>
            <a:pPr eaLnBrk="1" hangingPunct="1"/>
            <a:r>
              <a:rPr dirty="0">
                <a:solidFill>
                  <a:schemeClr val="tx1"/>
                </a:solidFill>
              </a:rPr>
              <a:t>Virtual Storage Pools</a:t>
            </a:r>
            <a:endParaRPr dirty="0">
              <a:solidFill>
                <a:schemeClr val="tx1"/>
              </a:solidFill>
            </a:endParaRPr>
          </a:p>
        </p:txBody>
      </p:sp>
      <p:sp>
        <p:nvSpPr>
          <p:cNvPr id="44034" name="Rectangle 3"/>
          <p:cNvSpPr>
            <a:spLocks noGrp="1"/>
          </p:cNvSpPr>
          <p:nvPr>
            <p:ph idx="1"/>
          </p:nvPr>
        </p:nvSpPr>
        <p:spPr>
          <a:xfrm>
            <a:off x="4419600" y="1417638"/>
            <a:ext cx="4441825" cy="4525962"/>
          </a:xfrm>
          <a:ln/>
        </p:spPr>
        <p:txBody>
          <a:bodyPr vert="horz" wrap="square" lIns="91440" tIns="45720" rIns="91440" bIns="45720" anchor="t" anchorCtr="0"/>
          <a:p>
            <a:pPr eaLnBrk="1" hangingPunct="1">
              <a:lnSpc>
                <a:spcPct val="85000"/>
              </a:lnSpc>
              <a:tabLst>
                <a:tab pos="1371600" algn="l"/>
              </a:tabLst>
            </a:pPr>
            <a:r>
              <a:rPr sz="1800" dirty="0">
                <a:solidFill>
                  <a:schemeClr val="tx1"/>
                </a:solidFill>
              </a:rPr>
              <a:t>Features:</a:t>
            </a:r>
            <a:endParaRPr sz="1800" dirty="0">
              <a:solidFill>
                <a:schemeClr val="tx1"/>
              </a:solidFill>
            </a:endParaRPr>
          </a:p>
          <a:p>
            <a:pPr lvl="1" eaLnBrk="1" hangingPunct="1">
              <a:tabLst>
                <a:tab pos="1371600" algn="l"/>
              </a:tabLst>
            </a:pPr>
            <a:r>
              <a:rPr sz="1600" dirty="0">
                <a:solidFill>
                  <a:schemeClr val="tx1"/>
                </a:solidFill>
              </a:rPr>
              <a:t>Thin Provisioning</a:t>
            </a:r>
            <a:endParaRPr sz="1600" dirty="0">
              <a:solidFill>
                <a:schemeClr val="tx1"/>
              </a:solidFill>
            </a:endParaRPr>
          </a:p>
          <a:p>
            <a:pPr lvl="1" eaLnBrk="1" hangingPunct="1">
              <a:tabLst>
                <a:tab pos="1371600" algn="l"/>
              </a:tabLst>
            </a:pPr>
            <a:r>
              <a:rPr sz="1600" dirty="0">
                <a:solidFill>
                  <a:schemeClr val="tx1"/>
                </a:solidFill>
              </a:rPr>
              <a:t>Individual or clustered systems</a:t>
            </a:r>
            <a:endParaRPr sz="1600" dirty="0">
              <a:solidFill>
                <a:schemeClr val="tx1"/>
              </a:solidFill>
            </a:endParaRPr>
          </a:p>
          <a:p>
            <a:pPr lvl="1" eaLnBrk="1" hangingPunct="1">
              <a:tabLst>
                <a:tab pos="1371600" algn="l"/>
              </a:tabLst>
            </a:pPr>
            <a:r>
              <a:rPr sz="1600" dirty="0">
                <a:solidFill>
                  <a:schemeClr val="tx1"/>
                </a:solidFill>
              </a:rPr>
              <a:t>Dynamically allocates storage to file systems and manages free space</a:t>
            </a:r>
            <a:endParaRPr sz="1600" dirty="0">
              <a:solidFill>
                <a:schemeClr val="tx1"/>
              </a:solidFill>
            </a:endParaRPr>
          </a:p>
          <a:p>
            <a:pPr lvl="1" eaLnBrk="1" hangingPunct="1">
              <a:tabLst>
                <a:tab pos="1371600" algn="l"/>
              </a:tabLst>
            </a:pPr>
            <a:r>
              <a:rPr sz="1600" dirty="0">
                <a:solidFill>
                  <a:schemeClr val="tx1"/>
                </a:solidFill>
              </a:rPr>
              <a:t>Virtualizes RAID sets</a:t>
            </a:r>
            <a:endParaRPr sz="1600" dirty="0">
              <a:solidFill>
                <a:schemeClr val="tx1"/>
              </a:solidFill>
            </a:endParaRPr>
          </a:p>
          <a:p>
            <a:pPr lvl="1" eaLnBrk="1" hangingPunct="1">
              <a:tabLst>
                <a:tab pos="1371600" algn="l"/>
              </a:tabLst>
            </a:pPr>
            <a:r>
              <a:rPr sz="1600" dirty="0">
                <a:solidFill>
                  <a:schemeClr val="tx1"/>
                </a:solidFill>
              </a:rPr>
              <a:t>Virtualizes file system storage</a:t>
            </a:r>
            <a:endParaRPr sz="1600" dirty="0">
              <a:solidFill>
                <a:schemeClr val="tx1"/>
              </a:solidFill>
            </a:endParaRPr>
          </a:p>
          <a:p>
            <a:pPr lvl="1" eaLnBrk="1" hangingPunct="1">
              <a:tabLst>
                <a:tab pos="1371600" algn="l"/>
              </a:tabLst>
            </a:pPr>
            <a:endParaRPr sz="1600" dirty="0">
              <a:solidFill>
                <a:schemeClr val="tx1"/>
              </a:solidFill>
            </a:endParaRPr>
          </a:p>
          <a:p>
            <a:pPr eaLnBrk="1" hangingPunct="1">
              <a:tabLst>
                <a:tab pos="1371600" algn="l"/>
              </a:tabLst>
            </a:pPr>
            <a:r>
              <a:rPr sz="1800" dirty="0">
                <a:solidFill>
                  <a:schemeClr val="tx1"/>
                </a:solidFill>
              </a:rPr>
              <a:t>Benefits:</a:t>
            </a:r>
            <a:endParaRPr sz="1800" dirty="0">
              <a:solidFill>
                <a:schemeClr val="tx1"/>
              </a:solidFill>
            </a:endParaRPr>
          </a:p>
          <a:p>
            <a:pPr lvl="1" eaLnBrk="1" hangingPunct="1">
              <a:tabLst>
                <a:tab pos="1371600" algn="l"/>
              </a:tabLst>
            </a:pPr>
            <a:r>
              <a:rPr sz="1600" dirty="0">
                <a:solidFill>
                  <a:schemeClr val="tx1"/>
                </a:solidFill>
              </a:rPr>
              <a:t>Increases overall storage utilization</a:t>
            </a:r>
            <a:endParaRPr sz="1600" dirty="0">
              <a:solidFill>
                <a:schemeClr val="tx1"/>
              </a:solidFill>
            </a:endParaRPr>
          </a:p>
          <a:p>
            <a:pPr lvl="1" eaLnBrk="1" hangingPunct="1">
              <a:tabLst>
                <a:tab pos="1371600" algn="l"/>
              </a:tabLst>
            </a:pPr>
            <a:r>
              <a:rPr sz="1600" dirty="0">
                <a:solidFill>
                  <a:schemeClr val="tx1"/>
                </a:solidFill>
              </a:rPr>
              <a:t>Simplifies management</a:t>
            </a:r>
            <a:endParaRPr sz="1600" dirty="0">
              <a:solidFill>
                <a:schemeClr val="tx1"/>
              </a:solidFill>
            </a:endParaRPr>
          </a:p>
          <a:p>
            <a:pPr lvl="1" eaLnBrk="1" hangingPunct="1">
              <a:tabLst>
                <a:tab pos="1371600" algn="l"/>
              </a:tabLst>
            </a:pPr>
            <a:r>
              <a:rPr sz="1600" dirty="0">
                <a:solidFill>
                  <a:schemeClr val="tx1"/>
                </a:solidFill>
              </a:rPr>
              <a:t>Manages unplanned capacity demand</a:t>
            </a:r>
            <a:endParaRPr sz="1600" dirty="0">
              <a:solidFill>
                <a:schemeClr val="tx1"/>
              </a:solidFill>
            </a:endParaRPr>
          </a:p>
          <a:p>
            <a:pPr lvl="1" eaLnBrk="1" hangingPunct="1">
              <a:tabLst>
                <a:tab pos="1371600" algn="l"/>
              </a:tabLst>
            </a:pPr>
            <a:r>
              <a:rPr sz="1600" dirty="0">
                <a:solidFill>
                  <a:schemeClr val="tx1"/>
                </a:solidFill>
              </a:rPr>
              <a:t>Lowers cost of ownership</a:t>
            </a:r>
            <a:endParaRPr sz="1600" dirty="0">
              <a:solidFill>
                <a:schemeClr val="tx1"/>
              </a:solidFill>
            </a:endParaRPr>
          </a:p>
        </p:txBody>
      </p:sp>
      <p:pic>
        <p:nvPicPr>
          <p:cNvPr id="44035" name="Picture 5" descr="photo-shadow"/>
          <p:cNvPicPr>
            <a:picLocks noChangeAspect="1"/>
          </p:cNvPicPr>
          <p:nvPr/>
        </p:nvPicPr>
        <p:blipFill>
          <a:blip r:embed="rId1"/>
          <a:stretch>
            <a:fillRect/>
          </a:stretch>
        </p:blipFill>
        <p:spPr>
          <a:xfrm>
            <a:off x="257175" y="1449388"/>
            <a:ext cx="4195763" cy="5027612"/>
          </a:xfrm>
          <a:prstGeom prst="rect">
            <a:avLst/>
          </a:prstGeom>
          <a:noFill/>
          <a:ln w="9525">
            <a:noFill/>
          </a:ln>
        </p:spPr>
      </p:pic>
      <p:sp>
        <p:nvSpPr>
          <p:cNvPr id="44036" name="Rectangle 6"/>
          <p:cNvSpPr/>
          <p:nvPr/>
        </p:nvSpPr>
        <p:spPr>
          <a:xfrm>
            <a:off x="258763" y="1446213"/>
            <a:ext cx="3978275" cy="4792662"/>
          </a:xfrm>
          <a:prstGeom prst="rect">
            <a:avLst/>
          </a:prstGeom>
          <a:solidFill>
            <a:srgbClr val="FFFF99"/>
          </a:solidFill>
          <a:ln w="9525" cap="flat" cmpd="sng">
            <a:solidFill>
              <a:srgbClr val="8DBEFF"/>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44037" name="Picture 7" descr="storage_pool_2"/>
          <p:cNvPicPr>
            <a:picLocks noChangeAspect="1"/>
          </p:cNvPicPr>
          <p:nvPr/>
        </p:nvPicPr>
        <p:blipFill>
          <a:blip r:embed="rId2"/>
          <a:stretch>
            <a:fillRect/>
          </a:stretch>
        </p:blipFill>
        <p:spPr>
          <a:xfrm>
            <a:off x="723900" y="2905125"/>
            <a:ext cx="2973388" cy="1527175"/>
          </a:xfrm>
          <a:prstGeom prst="rect">
            <a:avLst/>
          </a:prstGeom>
          <a:noFill/>
          <a:ln w="9525">
            <a:noFill/>
          </a:ln>
        </p:spPr>
      </p:pic>
      <p:pic>
        <p:nvPicPr>
          <p:cNvPr id="44038" name="Picture 8" descr="LSP_system_1"/>
          <p:cNvPicPr>
            <a:picLocks noChangeAspect="1"/>
          </p:cNvPicPr>
          <p:nvPr/>
        </p:nvPicPr>
        <p:blipFill>
          <a:blip r:embed="rId3"/>
          <a:stretch>
            <a:fillRect/>
          </a:stretch>
        </p:blipFill>
        <p:spPr>
          <a:xfrm>
            <a:off x="723900" y="3221038"/>
            <a:ext cx="363538" cy="1104900"/>
          </a:xfrm>
          <a:prstGeom prst="rect">
            <a:avLst/>
          </a:prstGeom>
          <a:noFill/>
          <a:ln w="9525">
            <a:noFill/>
          </a:ln>
        </p:spPr>
      </p:pic>
      <p:pic>
        <p:nvPicPr>
          <p:cNvPr id="44039" name="Picture 9" descr="LSP_system_2"/>
          <p:cNvPicPr>
            <a:picLocks noChangeAspect="1"/>
          </p:cNvPicPr>
          <p:nvPr/>
        </p:nvPicPr>
        <p:blipFill>
          <a:blip r:embed="rId4"/>
          <a:stretch>
            <a:fillRect/>
          </a:stretch>
        </p:blipFill>
        <p:spPr>
          <a:xfrm>
            <a:off x="1092200" y="3370263"/>
            <a:ext cx="552450" cy="1060450"/>
          </a:xfrm>
          <a:prstGeom prst="rect">
            <a:avLst/>
          </a:prstGeom>
          <a:noFill/>
          <a:ln w="9525">
            <a:noFill/>
          </a:ln>
        </p:spPr>
      </p:pic>
      <p:pic>
        <p:nvPicPr>
          <p:cNvPr id="44040" name="Picture 10" descr="LSP_system_3"/>
          <p:cNvPicPr>
            <a:picLocks noChangeAspect="1"/>
          </p:cNvPicPr>
          <p:nvPr/>
        </p:nvPicPr>
        <p:blipFill>
          <a:blip r:embed="rId5"/>
          <a:srcRect r="19589"/>
          <a:stretch>
            <a:fillRect/>
          </a:stretch>
        </p:blipFill>
        <p:spPr>
          <a:xfrm>
            <a:off x="1643063" y="3435350"/>
            <a:ext cx="727075" cy="1022350"/>
          </a:xfrm>
          <a:prstGeom prst="rect">
            <a:avLst/>
          </a:prstGeom>
          <a:noFill/>
          <a:ln w="9525">
            <a:noFill/>
          </a:ln>
        </p:spPr>
      </p:pic>
      <p:grpSp>
        <p:nvGrpSpPr>
          <p:cNvPr id="44041" name="Group 11"/>
          <p:cNvGrpSpPr/>
          <p:nvPr/>
        </p:nvGrpSpPr>
        <p:grpSpPr>
          <a:xfrm>
            <a:off x="839788" y="5322888"/>
            <a:ext cx="2743200" cy="549275"/>
            <a:chOff x="393" y="3401"/>
            <a:chExt cx="1728" cy="364"/>
          </a:xfrm>
        </p:grpSpPr>
        <p:sp>
          <p:nvSpPr>
            <p:cNvPr id="44058" name="AutoShape 12"/>
            <p:cNvSpPr/>
            <p:nvPr/>
          </p:nvSpPr>
          <p:spPr>
            <a:xfrm>
              <a:off x="393" y="3401"/>
              <a:ext cx="412" cy="160"/>
            </a:xfrm>
            <a:prstGeom prst="roundRect">
              <a:avLst>
                <a:gd name="adj" fmla="val 16667"/>
              </a:avLst>
            </a:prstGeom>
            <a:solidFill>
              <a:srgbClr val="2656F0"/>
            </a:solidFill>
            <a:ln w="9525" cap="flat" cmpd="sng">
              <a:solidFill>
                <a:srgbClr val="8DBEFF"/>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4059" name="AutoShape 13"/>
            <p:cNvSpPr/>
            <p:nvPr/>
          </p:nvSpPr>
          <p:spPr>
            <a:xfrm>
              <a:off x="831" y="3401"/>
              <a:ext cx="412" cy="160"/>
            </a:xfrm>
            <a:prstGeom prst="roundRect">
              <a:avLst>
                <a:gd name="adj" fmla="val 16667"/>
              </a:avLst>
            </a:prstGeom>
            <a:solidFill>
              <a:srgbClr val="2656F0"/>
            </a:solidFill>
            <a:ln w="9525" cap="flat" cmpd="sng">
              <a:solidFill>
                <a:srgbClr val="8DBEFF"/>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4060" name="AutoShape 14"/>
            <p:cNvSpPr/>
            <p:nvPr/>
          </p:nvSpPr>
          <p:spPr>
            <a:xfrm>
              <a:off x="1270" y="3402"/>
              <a:ext cx="412" cy="160"/>
            </a:xfrm>
            <a:prstGeom prst="roundRect">
              <a:avLst>
                <a:gd name="adj" fmla="val 16667"/>
              </a:avLst>
            </a:prstGeom>
            <a:solidFill>
              <a:srgbClr val="2656F0"/>
            </a:solidFill>
            <a:ln w="9525" cap="flat" cmpd="sng">
              <a:solidFill>
                <a:srgbClr val="8DBEFF"/>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4061" name="AutoShape 15"/>
            <p:cNvSpPr/>
            <p:nvPr/>
          </p:nvSpPr>
          <p:spPr>
            <a:xfrm>
              <a:off x="1709" y="3402"/>
              <a:ext cx="412" cy="160"/>
            </a:xfrm>
            <a:prstGeom prst="roundRect">
              <a:avLst>
                <a:gd name="adj" fmla="val 16667"/>
              </a:avLst>
            </a:prstGeom>
            <a:solidFill>
              <a:srgbClr val="2656F0"/>
            </a:solidFill>
            <a:ln w="9525" cap="flat" cmpd="sng">
              <a:solidFill>
                <a:srgbClr val="8DBEFF"/>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4062" name="AutoShape 16"/>
            <p:cNvSpPr/>
            <p:nvPr/>
          </p:nvSpPr>
          <p:spPr>
            <a:xfrm>
              <a:off x="393" y="3604"/>
              <a:ext cx="412" cy="160"/>
            </a:xfrm>
            <a:prstGeom prst="roundRect">
              <a:avLst>
                <a:gd name="adj" fmla="val 16667"/>
              </a:avLst>
            </a:prstGeom>
            <a:solidFill>
              <a:srgbClr val="2656F0"/>
            </a:solidFill>
            <a:ln w="9525" cap="flat" cmpd="sng">
              <a:solidFill>
                <a:srgbClr val="8DBEFF"/>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4063" name="AutoShape 17"/>
            <p:cNvSpPr/>
            <p:nvPr/>
          </p:nvSpPr>
          <p:spPr>
            <a:xfrm>
              <a:off x="831" y="3604"/>
              <a:ext cx="412" cy="160"/>
            </a:xfrm>
            <a:prstGeom prst="roundRect">
              <a:avLst>
                <a:gd name="adj" fmla="val 16667"/>
              </a:avLst>
            </a:prstGeom>
            <a:solidFill>
              <a:srgbClr val="2656F0"/>
            </a:solidFill>
            <a:ln w="9525" cap="flat" cmpd="sng">
              <a:solidFill>
                <a:srgbClr val="8DBEFF"/>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4064" name="AutoShape 18"/>
            <p:cNvSpPr/>
            <p:nvPr/>
          </p:nvSpPr>
          <p:spPr>
            <a:xfrm>
              <a:off x="1270" y="3605"/>
              <a:ext cx="412" cy="160"/>
            </a:xfrm>
            <a:prstGeom prst="roundRect">
              <a:avLst>
                <a:gd name="adj" fmla="val 16667"/>
              </a:avLst>
            </a:prstGeom>
            <a:solidFill>
              <a:srgbClr val="2656F0"/>
            </a:solidFill>
            <a:ln w="9525" cap="flat" cmpd="sng">
              <a:solidFill>
                <a:srgbClr val="8DBEFF"/>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4065" name="AutoShape 19"/>
            <p:cNvSpPr/>
            <p:nvPr/>
          </p:nvSpPr>
          <p:spPr>
            <a:xfrm>
              <a:off x="1709" y="3605"/>
              <a:ext cx="412" cy="160"/>
            </a:xfrm>
            <a:prstGeom prst="roundRect">
              <a:avLst>
                <a:gd name="adj" fmla="val 16667"/>
              </a:avLst>
            </a:prstGeom>
            <a:solidFill>
              <a:srgbClr val="2656F0"/>
            </a:solidFill>
            <a:ln w="9525" cap="flat" cmpd="sng">
              <a:solidFill>
                <a:srgbClr val="8DBEFF"/>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grpSp>
      <p:sp>
        <p:nvSpPr>
          <p:cNvPr id="44042" name="Rectangle 20"/>
          <p:cNvSpPr/>
          <p:nvPr/>
        </p:nvSpPr>
        <p:spPr>
          <a:xfrm>
            <a:off x="723900" y="5192713"/>
            <a:ext cx="2976563" cy="979487"/>
          </a:xfrm>
          <a:prstGeom prst="rect">
            <a:avLst/>
          </a:prstGeom>
          <a:noFill/>
          <a:ln w="31750" cap="flat" cmpd="sng">
            <a:solidFill>
              <a:srgbClr val="8DBEFF"/>
            </a:solidFill>
            <a:prstDash val="dash"/>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4043" name="Text Box 21"/>
          <p:cNvSpPr txBox="1"/>
          <p:nvPr/>
        </p:nvSpPr>
        <p:spPr>
          <a:xfrm>
            <a:off x="1690688" y="5867400"/>
            <a:ext cx="1042987" cy="304800"/>
          </a:xfrm>
          <a:prstGeom prst="rect">
            <a:avLst/>
          </a:prstGeom>
          <a:noFill/>
          <a:ln w="9525">
            <a:noFill/>
          </a:ln>
        </p:spPr>
        <p:txBody>
          <a:bodyPr wrap="none">
            <a:spAutoFit/>
          </a:bodyPr>
          <a:p>
            <a:pPr algn="ctr" eaLnBrk="0" hangingPunct="0"/>
            <a:r>
              <a:rPr sz="1400" b="1" dirty="0">
                <a:solidFill>
                  <a:schemeClr val="tx1"/>
                </a:solidFill>
                <a:latin typeface="Arial" panose="020B0604020202020204" pitchFamily="34" charset="0"/>
              </a:rPr>
              <a:t>RAID Sets</a:t>
            </a:r>
            <a:endParaRPr sz="1400" b="1" dirty="0">
              <a:solidFill>
                <a:schemeClr val="tx1"/>
              </a:solidFill>
              <a:latin typeface="Arial" panose="020B0604020202020204" pitchFamily="34" charset="0"/>
            </a:endParaRPr>
          </a:p>
        </p:txBody>
      </p:sp>
      <p:sp>
        <p:nvSpPr>
          <p:cNvPr id="44044" name="Text Box 22"/>
          <p:cNvSpPr txBox="1"/>
          <p:nvPr/>
        </p:nvSpPr>
        <p:spPr>
          <a:xfrm>
            <a:off x="1239838" y="4565650"/>
            <a:ext cx="1946275" cy="304800"/>
          </a:xfrm>
          <a:prstGeom prst="rect">
            <a:avLst/>
          </a:prstGeom>
          <a:noFill/>
          <a:ln w="9525">
            <a:noFill/>
          </a:ln>
        </p:spPr>
        <p:txBody>
          <a:bodyPr wrap="none">
            <a:spAutoFit/>
          </a:bodyPr>
          <a:p>
            <a:pPr algn="ctr" eaLnBrk="0" hangingPunct="0"/>
            <a:r>
              <a:rPr sz="1400" b="1" dirty="0">
                <a:solidFill>
                  <a:schemeClr val="tx1"/>
                </a:solidFill>
                <a:latin typeface="Arial" panose="020B0604020202020204" pitchFamily="34" charset="0"/>
              </a:rPr>
              <a:t>Logical Storage Pool</a:t>
            </a:r>
            <a:endParaRPr sz="1400" b="1" dirty="0">
              <a:solidFill>
                <a:schemeClr val="tx1"/>
              </a:solidFill>
              <a:latin typeface="Arial" panose="020B0604020202020204" pitchFamily="34" charset="0"/>
            </a:endParaRPr>
          </a:p>
        </p:txBody>
      </p:sp>
      <p:sp>
        <p:nvSpPr>
          <p:cNvPr id="44045" name="Text Box 23"/>
          <p:cNvSpPr txBox="1"/>
          <p:nvPr/>
        </p:nvSpPr>
        <p:spPr>
          <a:xfrm>
            <a:off x="2670175" y="3675063"/>
            <a:ext cx="1112838" cy="457200"/>
          </a:xfrm>
          <a:prstGeom prst="rect">
            <a:avLst/>
          </a:prstGeom>
          <a:noFill/>
          <a:ln w="9525">
            <a:noFill/>
          </a:ln>
        </p:spPr>
        <p:txBody>
          <a:bodyPr>
            <a:spAutoFit/>
          </a:bodyPr>
          <a:p>
            <a:pPr eaLnBrk="0" hangingPunct="0"/>
            <a:r>
              <a:rPr sz="1200" b="1" dirty="0">
                <a:solidFill>
                  <a:schemeClr val="tx1"/>
                </a:solidFill>
                <a:latin typeface="Arial" panose="020B0604020202020204" pitchFamily="34" charset="0"/>
              </a:rPr>
              <a:t>Un-allocated Free Space</a:t>
            </a:r>
            <a:endParaRPr sz="1200" b="1" dirty="0">
              <a:solidFill>
                <a:schemeClr val="tx1"/>
              </a:solidFill>
              <a:latin typeface="Arial" panose="020B0604020202020204" pitchFamily="34" charset="0"/>
            </a:endParaRPr>
          </a:p>
        </p:txBody>
      </p:sp>
      <p:sp>
        <p:nvSpPr>
          <p:cNvPr id="44046" name="Line 24"/>
          <p:cNvSpPr/>
          <p:nvPr/>
        </p:nvSpPr>
        <p:spPr>
          <a:xfrm flipH="1">
            <a:off x="977900" y="2292350"/>
            <a:ext cx="155575" cy="917575"/>
          </a:xfrm>
          <a:prstGeom prst="line">
            <a:avLst/>
          </a:prstGeom>
          <a:ln w="28575" cap="flat" cmpd="sng">
            <a:solidFill>
              <a:srgbClr val="2656F0"/>
            </a:solidFill>
            <a:prstDash val="solid"/>
            <a:headEnd type="none" w="med" len="med"/>
            <a:tailEnd type="triangle" w="med" len="med"/>
          </a:ln>
        </p:spPr>
      </p:sp>
      <p:sp>
        <p:nvSpPr>
          <p:cNvPr id="44047" name="Line 25"/>
          <p:cNvSpPr/>
          <p:nvPr/>
        </p:nvSpPr>
        <p:spPr>
          <a:xfrm flipH="1">
            <a:off x="1428750" y="2292350"/>
            <a:ext cx="787400" cy="1014413"/>
          </a:xfrm>
          <a:prstGeom prst="line">
            <a:avLst/>
          </a:prstGeom>
          <a:ln w="28575" cap="flat" cmpd="sng">
            <a:solidFill>
              <a:srgbClr val="2656F0"/>
            </a:solidFill>
            <a:prstDash val="solid"/>
            <a:headEnd type="none" w="med" len="med"/>
            <a:tailEnd type="triangle" w="med" len="med"/>
          </a:ln>
        </p:spPr>
      </p:sp>
      <p:sp>
        <p:nvSpPr>
          <p:cNvPr id="44048" name="Line 26"/>
          <p:cNvSpPr/>
          <p:nvPr/>
        </p:nvSpPr>
        <p:spPr>
          <a:xfrm flipH="1">
            <a:off x="2187575" y="2292350"/>
            <a:ext cx="1147763" cy="1065213"/>
          </a:xfrm>
          <a:prstGeom prst="line">
            <a:avLst/>
          </a:prstGeom>
          <a:ln w="28575" cap="flat" cmpd="sng">
            <a:solidFill>
              <a:srgbClr val="2656F0"/>
            </a:solidFill>
            <a:prstDash val="solid"/>
            <a:headEnd type="none" w="med" len="med"/>
            <a:tailEnd type="triangle" w="med" len="med"/>
          </a:ln>
        </p:spPr>
      </p:sp>
      <p:grpSp>
        <p:nvGrpSpPr>
          <p:cNvPr id="44049" name="Group 27"/>
          <p:cNvGrpSpPr/>
          <p:nvPr/>
        </p:nvGrpSpPr>
        <p:grpSpPr>
          <a:xfrm>
            <a:off x="661988" y="1665288"/>
            <a:ext cx="920750" cy="627062"/>
            <a:chOff x="417" y="1049"/>
            <a:chExt cx="580" cy="415"/>
          </a:xfrm>
        </p:grpSpPr>
        <p:pic>
          <p:nvPicPr>
            <p:cNvPr id="44056" name="Picture 28" descr="FS_1_med"/>
            <p:cNvPicPr>
              <a:picLocks noChangeAspect="1"/>
            </p:cNvPicPr>
            <p:nvPr/>
          </p:nvPicPr>
          <p:blipFill>
            <a:blip r:embed="rId6"/>
            <a:stretch>
              <a:fillRect/>
            </a:stretch>
          </p:blipFill>
          <p:spPr>
            <a:xfrm>
              <a:off x="417" y="1049"/>
              <a:ext cx="580" cy="412"/>
            </a:xfrm>
            <a:prstGeom prst="rect">
              <a:avLst/>
            </a:prstGeom>
            <a:noFill/>
            <a:ln w="9525">
              <a:noFill/>
            </a:ln>
          </p:spPr>
        </p:pic>
        <p:sp>
          <p:nvSpPr>
            <p:cNvPr id="44057" name="Text Box 29"/>
            <p:cNvSpPr txBox="1"/>
            <p:nvPr/>
          </p:nvSpPr>
          <p:spPr>
            <a:xfrm>
              <a:off x="440" y="1161"/>
              <a:ext cx="534" cy="303"/>
            </a:xfrm>
            <a:prstGeom prst="rect">
              <a:avLst/>
            </a:prstGeom>
            <a:noFill/>
            <a:ln w="9525">
              <a:noFill/>
            </a:ln>
          </p:spPr>
          <p:txBody>
            <a:bodyPr>
              <a:spAutoFit/>
            </a:bodyPr>
            <a:p>
              <a:pPr algn="ctr" eaLnBrk="0" hangingPunct="0"/>
              <a:r>
                <a:rPr sz="1200" b="1" dirty="0">
                  <a:solidFill>
                    <a:schemeClr val="tx1"/>
                  </a:solidFill>
                  <a:latin typeface="Arial" panose="020B0604020202020204" pitchFamily="34" charset="0"/>
                </a:rPr>
                <a:t>File System1</a:t>
              </a:r>
              <a:endParaRPr sz="1200" b="1" dirty="0">
                <a:solidFill>
                  <a:schemeClr val="tx1"/>
                </a:solidFill>
                <a:latin typeface="Arial" panose="020B0604020202020204" pitchFamily="34" charset="0"/>
              </a:endParaRPr>
            </a:p>
          </p:txBody>
        </p:sp>
      </p:grpSp>
      <p:grpSp>
        <p:nvGrpSpPr>
          <p:cNvPr id="44050" name="Group 30"/>
          <p:cNvGrpSpPr/>
          <p:nvPr/>
        </p:nvGrpSpPr>
        <p:grpSpPr>
          <a:xfrm>
            <a:off x="1770063" y="1665288"/>
            <a:ext cx="920750" cy="627062"/>
            <a:chOff x="1115" y="1049"/>
            <a:chExt cx="580" cy="415"/>
          </a:xfrm>
        </p:grpSpPr>
        <p:pic>
          <p:nvPicPr>
            <p:cNvPr id="44054" name="Picture 31" descr="FS_2_med"/>
            <p:cNvPicPr>
              <a:picLocks noChangeAspect="1"/>
            </p:cNvPicPr>
            <p:nvPr/>
          </p:nvPicPr>
          <p:blipFill>
            <a:blip r:embed="rId7"/>
            <a:stretch>
              <a:fillRect/>
            </a:stretch>
          </p:blipFill>
          <p:spPr>
            <a:xfrm>
              <a:off x="1115" y="1049"/>
              <a:ext cx="580" cy="412"/>
            </a:xfrm>
            <a:prstGeom prst="rect">
              <a:avLst/>
            </a:prstGeom>
            <a:noFill/>
            <a:ln w="9525">
              <a:noFill/>
            </a:ln>
          </p:spPr>
        </p:pic>
        <p:sp>
          <p:nvSpPr>
            <p:cNvPr id="44055" name="Text Box 32"/>
            <p:cNvSpPr txBox="1"/>
            <p:nvPr/>
          </p:nvSpPr>
          <p:spPr>
            <a:xfrm>
              <a:off x="1138" y="1161"/>
              <a:ext cx="534" cy="303"/>
            </a:xfrm>
            <a:prstGeom prst="rect">
              <a:avLst/>
            </a:prstGeom>
            <a:noFill/>
            <a:ln w="9525">
              <a:noFill/>
            </a:ln>
          </p:spPr>
          <p:txBody>
            <a:bodyPr>
              <a:spAutoFit/>
            </a:bodyPr>
            <a:p>
              <a:pPr algn="ctr" eaLnBrk="0" hangingPunct="0"/>
              <a:r>
                <a:rPr sz="1200" b="1" dirty="0">
                  <a:solidFill>
                    <a:schemeClr val="tx1"/>
                  </a:solidFill>
                  <a:latin typeface="Arial" panose="020B0604020202020204" pitchFamily="34" charset="0"/>
                </a:rPr>
                <a:t>File System2</a:t>
              </a:r>
              <a:endParaRPr sz="1200" b="1" dirty="0">
                <a:solidFill>
                  <a:schemeClr val="tx1"/>
                </a:solidFill>
                <a:latin typeface="Arial" panose="020B0604020202020204" pitchFamily="34" charset="0"/>
              </a:endParaRPr>
            </a:p>
          </p:txBody>
        </p:sp>
      </p:grpSp>
      <p:grpSp>
        <p:nvGrpSpPr>
          <p:cNvPr id="44051" name="Group 33"/>
          <p:cNvGrpSpPr/>
          <p:nvPr/>
        </p:nvGrpSpPr>
        <p:grpSpPr>
          <a:xfrm>
            <a:off x="2878138" y="1665288"/>
            <a:ext cx="920750" cy="627062"/>
            <a:chOff x="1813" y="1049"/>
            <a:chExt cx="580" cy="415"/>
          </a:xfrm>
        </p:grpSpPr>
        <p:pic>
          <p:nvPicPr>
            <p:cNvPr id="44052" name="Picture 34" descr="FS_3_med"/>
            <p:cNvPicPr>
              <a:picLocks noChangeAspect="1"/>
            </p:cNvPicPr>
            <p:nvPr/>
          </p:nvPicPr>
          <p:blipFill>
            <a:blip r:embed="rId8"/>
            <a:stretch>
              <a:fillRect/>
            </a:stretch>
          </p:blipFill>
          <p:spPr>
            <a:xfrm>
              <a:off x="1813" y="1049"/>
              <a:ext cx="580" cy="412"/>
            </a:xfrm>
            <a:prstGeom prst="rect">
              <a:avLst/>
            </a:prstGeom>
            <a:noFill/>
            <a:ln w="9525">
              <a:noFill/>
            </a:ln>
          </p:spPr>
        </p:pic>
        <p:sp>
          <p:nvSpPr>
            <p:cNvPr id="44053" name="Text Box 35"/>
            <p:cNvSpPr txBox="1"/>
            <p:nvPr/>
          </p:nvSpPr>
          <p:spPr>
            <a:xfrm>
              <a:off x="1836" y="1161"/>
              <a:ext cx="534" cy="303"/>
            </a:xfrm>
            <a:prstGeom prst="rect">
              <a:avLst/>
            </a:prstGeom>
            <a:noFill/>
            <a:ln w="9525">
              <a:noFill/>
            </a:ln>
          </p:spPr>
          <p:txBody>
            <a:bodyPr>
              <a:spAutoFit/>
            </a:bodyPr>
            <a:p>
              <a:pPr algn="ctr" eaLnBrk="0" hangingPunct="0"/>
              <a:r>
                <a:rPr sz="1200" b="1" dirty="0">
                  <a:solidFill>
                    <a:schemeClr val="tx1"/>
                  </a:solidFill>
                  <a:latin typeface="Arial" panose="020B0604020202020204" pitchFamily="34" charset="0"/>
                </a:rPr>
                <a:t>File System3</a:t>
              </a:r>
              <a:endParaRPr sz="1200" b="1" dirty="0">
                <a:solidFill>
                  <a:schemeClr val="tx1"/>
                </a:solidFill>
                <a:latin typeface="Arial" panose="020B0604020202020204" pitchFamily="34" charset="0"/>
              </a:endParaRPr>
            </a:p>
          </p:txBody>
        </p:sp>
      </p:gr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p:nvPr/>
        </p:nvSpPr>
        <p:spPr>
          <a:xfrm>
            <a:off x="3886200" y="3889375"/>
            <a:ext cx="4891088" cy="1757363"/>
          </a:xfrm>
          <a:prstGeom prst="rect">
            <a:avLst/>
          </a:prstGeom>
          <a:solidFill>
            <a:schemeClr val="bg1"/>
          </a:solidFill>
          <a:ln w="19050" cap="flat" cmpd="sng">
            <a:solidFill>
              <a:schemeClr val="fo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082" name="Rectangle 3"/>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Virtual Storage Pools</a:t>
            </a:r>
            <a:endParaRPr dirty="0">
              <a:solidFill>
                <a:schemeClr val="tx1"/>
              </a:solidFill>
            </a:endParaRPr>
          </a:p>
        </p:txBody>
      </p:sp>
      <p:sp>
        <p:nvSpPr>
          <p:cNvPr id="46083" name="Rectangle 4"/>
          <p:cNvSpPr>
            <a:spLocks noGrp="1"/>
          </p:cNvSpPr>
          <p:nvPr>
            <p:ph type="body" sz="half" idx="1"/>
          </p:nvPr>
        </p:nvSpPr>
        <p:spPr>
          <a:xfrm>
            <a:off x="458788" y="1066800"/>
            <a:ext cx="3276600" cy="4656138"/>
          </a:xfrm>
          <a:ln/>
        </p:spPr>
        <p:txBody>
          <a:bodyPr vert="horz" wrap="square" lIns="91440" tIns="45720" rIns="91440" bIns="45720" anchor="t" anchorCtr="0"/>
          <a:p>
            <a:pPr eaLnBrk="1" hangingPunct="1">
              <a:lnSpc>
                <a:spcPct val="85000"/>
              </a:lnSpc>
              <a:buClrTx/>
              <a:buSzTx/>
              <a:buFontTx/>
            </a:pPr>
            <a:endParaRPr sz="1800" dirty="0">
              <a:solidFill>
                <a:schemeClr val="tx1"/>
              </a:solidFill>
            </a:endParaRPr>
          </a:p>
          <a:p>
            <a:pPr eaLnBrk="1" hangingPunct="1">
              <a:lnSpc>
                <a:spcPct val="85000"/>
              </a:lnSpc>
              <a:buClrTx/>
              <a:buSzTx/>
              <a:buFontTx/>
              <a:buNone/>
            </a:pPr>
            <a:r>
              <a:rPr sz="1400" b="1" dirty="0">
                <a:solidFill>
                  <a:schemeClr val="tx1"/>
                </a:solidFill>
              </a:rPr>
              <a:t>Storage provisioning for clusters</a:t>
            </a:r>
            <a:endParaRPr sz="1400" b="1" dirty="0">
              <a:solidFill>
                <a:schemeClr val="tx1"/>
              </a:solidFill>
            </a:endParaRPr>
          </a:p>
          <a:p>
            <a:pPr eaLnBrk="1" hangingPunct="1">
              <a:lnSpc>
                <a:spcPct val="85000"/>
              </a:lnSpc>
              <a:buClrTx/>
              <a:buSzTx/>
              <a:buFontTx/>
              <a:buNone/>
            </a:pPr>
            <a:endParaRPr sz="1400" b="1" dirty="0">
              <a:solidFill>
                <a:schemeClr val="tx1"/>
              </a:solidFill>
            </a:endParaRPr>
          </a:p>
          <a:p>
            <a:pPr eaLnBrk="1" hangingPunct="1">
              <a:lnSpc>
                <a:spcPct val="85000"/>
              </a:lnSpc>
              <a:buClrTx/>
              <a:buSzTx/>
              <a:buFontTx/>
            </a:pPr>
            <a:r>
              <a:rPr sz="1600" dirty="0">
                <a:solidFill>
                  <a:schemeClr val="tx1"/>
                </a:solidFill>
              </a:rPr>
              <a:t>Small volumes distributed across the span and stripesets</a:t>
            </a:r>
            <a:endParaRPr sz="1600" dirty="0">
              <a:solidFill>
                <a:schemeClr val="tx1"/>
              </a:solidFill>
            </a:endParaRPr>
          </a:p>
          <a:p>
            <a:pPr eaLnBrk="1" hangingPunct="1">
              <a:lnSpc>
                <a:spcPct val="85000"/>
              </a:lnSpc>
              <a:buClrTx/>
              <a:buSzTx/>
              <a:buFontTx/>
            </a:pPr>
            <a:r>
              <a:rPr sz="1600" dirty="0">
                <a:solidFill>
                  <a:schemeClr val="tx1"/>
                </a:solidFill>
              </a:rPr>
              <a:t>Storage allocation algorithm ensures optimal utilization of available storage</a:t>
            </a:r>
            <a:endParaRPr sz="1600" dirty="0">
              <a:solidFill>
                <a:schemeClr val="tx1"/>
              </a:solidFill>
            </a:endParaRPr>
          </a:p>
          <a:p>
            <a:pPr eaLnBrk="1" hangingPunct="1">
              <a:lnSpc>
                <a:spcPct val="85000"/>
              </a:lnSpc>
              <a:buClrTx/>
              <a:buSzTx/>
              <a:buFontTx/>
            </a:pPr>
            <a:r>
              <a:rPr sz="1600" dirty="0">
                <a:solidFill>
                  <a:schemeClr val="tx1"/>
                </a:solidFill>
              </a:rPr>
              <a:t>File Systems can grow automatically as needed</a:t>
            </a:r>
            <a:endParaRPr sz="1600" dirty="0">
              <a:solidFill>
                <a:schemeClr val="tx1"/>
              </a:solidFill>
            </a:endParaRPr>
          </a:p>
          <a:p>
            <a:pPr eaLnBrk="1" hangingPunct="1">
              <a:lnSpc>
                <a:spcPct val="85000"/>
              </a:lnSpc>
              <a:buClrTx/>
              <a:buSzTx/>
              <a:buFontTx/>
            </a:pPr>
            <a:r>
              <a:rPr sz="1600" dirty="0">
                <a:solidFill>
                  <a:schemeClr val="tx1"/>
                </a:solidFill>
              </a:rPr>
              <a:t>Cluster Name Space (CNS) combines multiple volumes into a single uniform File System</a:t>
            </a:r>
            <a:endParaRPr sz="1600" dirty="0">
              <a:solidFill>
                <a:schemeClr val="tx1"/>
              </a:solidFill>
            </a:endParaRPr>
          </a:p>
          <a:p>
            <a:pPr eaLnBrk="1" hangingPunct="1">
              <a:lnSpc>
                <a:spcPct val="85000"/>
              </a:lnSpc>
              <a:buClrTx/>
              <a:buSzTx/>
              <a:buFontTx/>
            </a:pPr>
            <a:r>
              <a:rPr sz="1600" dirty="0">
                <a:solidFill>
                  <a:schemeClr val="tx1"/>
                </a:solidFill>
              </a:rPr>
              <a:t>Allows manual load balancing across multiple cluster nodes (no data needs to be copied!)</a:t>
            </a:r>
            <a:endParaRPr sz="1600" dirty="0">
              <a:solidFill>
                <a:schemeClr val="tx1"/>
              </a:solidFill>
            </a:endParaRPr>
          </a:p>
        </p:txBody>
      </p:sp>
      <p:pic>
        <p:nvPicPr>
          <p:cNvPr id="46084" name="Picture 1029" descr="npo000179"/>
          <p:cNvPicPr>
            <a:picLocks noChangeAspect="1"/>
          </p:cNvPicPr>
          <p:nvPr/>
        </p:nvPicPr>
        <p:blipFill>
          <a:blip r:embed="rId1"/>
          <a:stretch>
            <a:fillRect/>
          </a:stretch>
        </p:blipFill>
        <p:spPr>
          <a:xfrm>
            <a:off x="3914775" y="1312863"/>
            <a:ext cx="4246563" cy="2441575"/>
          </a:xfrm>
          <a:prstGeom prst="rect">
            <a:avLst/>
          </a:prstGeom>
          <a:noFill/>
          <a:ln w="19050" cap="flat" cmpd="sng">
            <a:solidFill>
              <a:schemeClr val="folHlink"/>
            </a:solidFill>
            <a:prstDash val="solid"/>
            <a:miter/>
            <a:headEnd type="none" w="med" len="med"/>
            <a:tailEnd type="none" w="med" len="med"/>
          </a:ln>
        </p:spPr>
      </p:pic>
      <p:sp>
        <p:nvSpPr>
          <p:cNvPr id="46085" name="Rectangle 7"/>
          <p:cNvSpPr/>
          <p:nvPr/>
        </p:nvSpPr>
        <p:spPr>
          <a:xfrm>
            <a:off x="8140700" y="1301750"/>
            <a:ext cx="647700" cy="2459038"/>
          </a:xfrm>
          <a:prstGeom prst="rect">
            <a:avLst/>
          </a:prstGeom>
          <a:solidFill>
            <a:schemeClr val="bg1"/>
          </a:solidFill>
          <a:ln w="19050" cap="flat" cmpd="sng">
            <a:solidFill>
              <a:schemeClr val="fo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086" name="Rectangle 8"/>
          <p:cNvSpPr/>
          <p:nvPr/>
        </p:nvSpPr>
        <p:spPr>
          <a:xfrm>
            <a:off x="8094663" y="1314450"/>
            <a:ext cx="163512" cy="2435225"/>
          </a:xfrm>
          <a:prstGeom prst="rect">
            <a:avLst/>
          </a:prstGeom>
          <a:solidFill>
            <a:schemeClr val="bg1"/>
          </a:solidFill>
          <a:ln w="19050">
            <a:noFill/>
          </a:ln>
        </p:spPr>
        <p:txBody>
          <a:bodyPr wrap="none" anchor="ctr" anchorCtr="0"/>
          <a:p>
            <a:pPr>
              <a:spcBef>
                <a:spcPct val="20000"/>
              </a:spcBef>
              <a:buChar char="•"/>
            </a:pPr>
            <a:endParaRPr dirty="0">
              <a:latin typeface="Arial" panose="020B0604020202020204" pitchFamily="34" charset="0"/>
            </a:endParaRPr>
          </a:p>
        </p:txBody>
      </p:sp>
      <p:sp>
        <p:nvSpPr>
          <p:cNvPr id="46087" name="AutoShape 9"/>
          <p:cNvSpPr/>
          <p:nvPr/>
        </p:nvSpPr>
        <p:spPr>
          <a:xfrm>
            <a:off x="8105775" y="1392238"/>
            <a:ext cx="76200" cy="2286000"/>
          </a:xfrm>
          <a:prstGeom prst="rightBrace">
            <a:avLst>
              <a:gd name="adj1" fmla="val 250000"/>
              <a:gd name="adj2" fmla="val 50000"/>
            </a:avLst>
          </a:prstGeom>
          <a:noFill/>
          <a:ln w="9525" cap="flat" cmpd="sng">
            <a:solidFill>
              <a:srgbClr val="FF0000"/>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088" name="Text Box 10"/>
          <p:cNvSpPr txBox="1"/>
          <p:nvPr/>
        </p:nvSpPr>
        <p:spPr>
          <a:xfrm>
            <a:off x="8124825" y="2306638"/>
            <a:ext cx="661988" cy="549275"/>
          </a:xfrm>
          <a:prstGeom prst="rect">
            <a:avLst/>
          </a:prstGeom>
          <a:noFill/>
          <a:ln w="9525">
            <a:noFill/>
          </a:ln>
        </p:spPr>
        <p:txBody>
          <a:bodyPr>
            <a:spAutoFit/>
          </a:bodyPr>
          <a:p>
            <a:pPr algn="ctr">
              <a:spcBef>
                <a:spcPct val="50000"/>
              </a:spcBef>
            </a:pPr>
            <a:r>
              <a:rPr sz="1000" dirty="0">
                <a:solidFill>
                  <a:schemeClr val="tx1"/>
                </a:solidFill>
                <a:latin typeface="Arial" panose="020B0604020202020204" pitchFamily="34" charset="0"/>
              </a:rPr>
              <a:t>Unified FS View (CNS)</a:t>
            </a:r>
            <a:endParaRPr sz="1000" dirty="0">
              <a:solidFill>
                <a:schemeClr val="tx1"/>
              </a:solidFill>
              <a:latin typeface="Arial" panose="020B0604020202020204" pitchFamily="34" charset="0"/>
            </a:endParaRPr>
          </a:p>
        </p:txBody>
      </p:sp>
      <p:sp>
        <p:nvSpPr>
          <p:cNvPr id="46089" name="AutoShape 11"/>
          <p:cNvSpPr/>
          <p:nvPr/>
        </p:nvSpPr>
        <p:spPr>
          <a:xfrm>
            <a:off x="8201025" y="4014788"/>
            <a:ext cx="479425" cy="468312"/>
          </a:xfrm>
          <a:prstGeom prst="can">
            <a:avLst>
              <a:gd name="adj" fmla="val 25000"/>
            </a:avLst>
          </a:prstGeom>
          <a:solidFill>
            <a:srgbClr val="CCFFCC">
              <a:alpha val="50195"/>
            </a:srgbClr>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090" name="AutoShape 12"/>
          <p:cNvSpPr/>
          <p:nvPr/>
        </p:nvSpPr>
        <p:spPr>
          <a:xfrm>
            <a:off x="8202613" y="4541838"/>
            <a:ext cx="479425" cy="468312"/>
          </a:xfrm>
          <a:prstGeom prst="can">
            <a:avLst>
              <a:gd name="adj" fmla="val 25000"/>
            </a:avLst>
          </a:prstGeom>
          <a:solidFill>
            <a:srgbClr val="FFCC99">
              <a:alpha val="50195"/>
            </a:srgbClr>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091" name="AutoShape 13"/>
          <p:cNvSpPr/>
          <p:nvPr/>
        </p:nvSpPr>
        <p:spPr>
          <a:xfrm>
            <a:off x="8201025" y="5070475"/>
            <a:ext cx="479425" cy="468313"/>
          </a:xfrm>
          <a:prstGeom prst="can">
            <a:avLst>
              <a:gd name="adj" fmla="val 25000"/>
            </a:avLst>
          </a:prstGeom>
          <a:solidFill>
            <a:srgbClr val="FF99CC">
              <a:alpha val="50195"/>
            </a:srgbClr>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092" name="Line 14"/>
          <p:cNvSpPr/>
          <p:nvPr/>
        </p:nvSpPr>
        <p:spPr>
          <a:xfrm flipV="1">
            <a:off x="6842125" y="4211638"/>
            <a:ext cx="1371600" cy="231775"/>
          </a:xfrm>
          <a:prstGeom prst="line">
            <a:avLst/>
          </a:prstGeom>
          <a:ln w="28575" cap="flat" cmpd="sng">
            <a:solidFill>
              <a:schemeClr val="folHlink"/>
            </a:solidFill>
            <a:prstDash val="solid"/>
            <a:headEnd type="none" w="med" len="med"/>
            <a:tailEnd type="none" w="med" len="med"/>
          </a:ln>
        </p:spPr>
      </p:sp>
      <p:sp>
        <p:nvSpPr>
          <p:cNvPr id="568335" name="Line 15"/>
          <p:cNvSpPr/>
          <p:nvPr/>
        </p:nvSpPr>
        <p:spPr>
          <a:xfrm flipV="1">
            <a:off x="6842125" y="4879975"/>
            <a:ext cx="1373188" cy="138113"/>
          </a:xfrm>
          <a:prstGeom prst="line">
            <a:avLst/>
          </a:prstGeom>
          <a:ln w="19050" cap="rnd" cmpd="sng">
            <a:solidFill>
              <a:schemeClr val="tx1"/>
            </a:solidFill>
            <a:prstDash val="sysDot"/>
            <a:headEnd type="none" w="med" len="med"/>
            <a:tailEnd type="none" w="med" len="med"/>
          </a:ln>
        </p:spPr>
      </p:sp>
      <p:sp>
        <p:nvSpPr>
          <p:cNvPr id="46094" name="Line 16"/>
          <p:cNvSpPr/>
          <p:nvPr/>
        </p:nvSpPr>
        <p:spPr>
          <a:xfrm>
            <a:off x="6808788" y="5065713"/>
            <a:ext cx="1392237" cy="249237"/>
          </a:xfrm>
          <a:prstGeom prst="line">
            <a:avLst/>
          </a:prstGeom>
          <a:ln w="19050" cap="flat" cmpd="sng">
            <a:solidFill>
              <a:schemeClr val="tx1"/>
            </a:solidFill>
            <a:prstDash val="solid"/>
            <a:headEnd type="none" w="med" len="med"/>
            <a:tailEnd type="none" w="med" len="med"/>
          </a:ln>
        </p:spPr>
      </p:sp>
      <p:grpSp>
        <p:nvGrpSpPr>
          <p:cNvPr id="46095" name="Group 24"/>
          <p:cNvGrpSpPr/>
          <p:nvPr/>
        </p:nvGrpSpPr>
        <p:grpSpPr>
          <a:xfrm>
            <a:off x="3949700" y="3992563"/>
            <a:ext cx="936625" cy="1290637"/>
            <a:chOff x="2561" y="2945"/>
            <a:chExt cx="590" cy="813"/>
          </a:xfrm>
        </p:grpSpPr>
        <p:pic>
          <p:nvPicPr>
            <p:cNvPr id="46117" name="Picture 18" descr="IT-Technician"/>
            <p:cNvPicPr>
              <a:picLocks noChangeAspect="1"/>
            </p:cNvPicPr>
            <p:nvPr/>
          </p:nvPicPr>
          <p:blipFill>
            <a:blip r:embed="rId2"/>
            <a:stretch>
              <a:fillRect/>
            </a:stretch>
          </p:blipFill>
          <p:spPr>
            <a:xfrm>
              <a:off x="2561" y="2945"/>
              <a:ext cx="461" cy="675"/>
            </a:xfrm>
            <a:prstGeom prst="rect">
              <a:avLst/>
            </a:prstGeom>
            <a:noFill/>
            <a:ln w="9525">
              <a:noFill/>
            </a:ln>
          </p:spPr>
        </p:pic>
        <p:pic>
          <p:nvPicPr>
            <p:cNvPr id="46118" name="Picture 19" descr="IT-Technician"/>
            <p:cNvPicPr>
              <a:picLocks noChangeAspect="1"/>
            </p:cNvPicPr>
            <p:nvPr/>
          </p:nvPicPr>
          <p:blipFill>
            <a:blip r:embed="rId2"/>
            <a:stretch>
              <a:fillRect/>
            </a:stretch>
          </p:blipFill>
          <p:spPr>
            <a:xfrm>
              <a:off x="2626" y="3014"/>
              <a:ext cx="460" cy="675"/>
            </a:xfrm>
            <a:prstGeom prst="rect">
              <a:avLst/>
            </a:prstGeom>
            <a:noFill/>
            <a:ln w="9525">
              <a:noFill/>
            </a:ln>
          </p:spPr>
        </p:pic>
        <p:pic>
          <p:nvPicPr>
            <p:cNvPr id="46119" name="Picture 20" descr="IT-Technician"/>
            <p:cNvPicPr>
              <a:picLocks noChangeAspect="1"/>
            </p:cNvPicPr>
            <p:nvPr/>
          </p:nvPicPr>
          <p:blipFill>
            <a:blip r:embed="rId2"/>
            <a:stretch>
              <a:fillRect/>
            </a:stretch>
          </p:blipFill>
          <p:spPr>
            <a:xfrm>
              <a:off x="2690" y="3083"/>
              <a:ext cx="461" cy="675"/>
            </a:xfrm>
            <a:prstGeom prst="rect">
              <a:avLst/>
            </a:prstGeom>
            <a:noFill/>
            <a:ln w="9525">
              <a:noFill/>
            </a:ln>
          </p:spPr>
        </p:pic>
      </p:grpSp>
      <p:sp>
        <p:nvSpPr>
          <p:cNvPr id="46096" name="Line 21"/>
          <p:cNvSpPr/>
          <p:nvPr/>
        </p:nvSpPr>
        <p:spPr>
          <a:xfrm flipV="1">
            <a:off x="5476875" y="4484688"/>
            <a:ext cx="541338" cy="20637"/>
          </a:xfrm>
          <a:prstGeom prst="line">
            <a:avLst/>
          </a:prstGeom>
          <a:ln w="38100" cap="flat" cmpd="sng">
            <a:solidFill>
              <a:schemeClr val="folHlink"/>
            </a:solidFill>
            <a:prstDash val="solid"/>
            <a:headEnd type="none" w="med" len="med"/>
            <a:tailEnd type="none" w="med" len="med"/>
          </a:ln>
        </p:spPr>
      </p:sp>
      <p:sp>
        <p:nvSpPr>
          <p:cNvPr id="46097" name="Line 22"/>
          <p:cNvSpPr/>
          <p:nvPr/>
        </p:nvSpPr>
        <p:spPr>
          <a:xfrm flipV="1">
            <a:off x="5480050" y="5057775"/>
            <a:ext cx="504825" cy="7938"/>
          </a:xfrm>
          <a:prstGeom prst="line">
            <a:avLst/>
          </a:prstGeom>
          <a:ln w="19050" cap="flat" cmpd="sng">
            <a:solidFill>
              <a:schemeClr val="tx1"/>
            </a:solidFill>
            <a:prstDash val="solid"/>
            <a:headEnd type="none" w="med" len="med"/>
            <a:tailEnd type="none" w="med" len="med"/>
          </a:ln>
        </p:spPr>
      </p:sp>
      <p:sp>
        <p:nvSpPr>
          <p:cNvPr id="46098" name="Line 23"/>
          <p:cNvSpPr/>
          <p:nvPr/>
        </p:nvSpPr>
        <p:spPr>
          <a:xfrm>
            <a:off x="6829425" y="4518025"/>
            <a:ext cx="1349375" cy="163513"/>
          </a:xfrm>
          <a:prstGeom prst="line">
            <a:avLst/>
          </a:prstGeom>
          <a:ln w="19050" cap="flat" cmpd="sng">
            <a:solidFill>
              <a:schemeClr val="folHlink"/>
            </a:solidFill>
            <a:prstDash val="solid"/>
            <a:headEnd type="none" w="med" len="med"/>
            <a:tailEnd type="none" w="med" len="med"/>
          </a:ln>
        </p:spPr>
      </p:sp>
      <p:sp>
        <p:nvSpPr>
          <p:cNvPr id="46099" name="AutoShape 24"/>
          <p:cNvSpPr/>
          <p:nvPr/>
        </p:nvSpPr>
        <p:spPr>
          <a:xfrm flipH="1">
            <a:off x="5311775" y="4244975"/>
            <a:ext cx="188913" cy="1033463"/>
          </a:xfrm>
          <a:prstGeom prst="rightBrace">
            <a:avLst>
              <a:gd name="adj1" fmla="val 45588"/>
              <a:gd name="adj2" fmla="val 50000"/>
            </a:avLst>
          </a:prstGeom>
          <a:no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100" name="Text Box 25"/>
          <p:cNvSpPr txBox="1"/>
          <p:nvPr/>
        </p:nvSpPr>
        <p:spPr>
          <a:xfrm>
            <a:off x="4870450" y="4622800"/>
            <a:ext cx="668338" cy="244475"/>
          </a:xfrm>
          <a:prstGeom prst="rect">
            <a:avLst/>
          </a:prstGeom>
          <a:noFill/>
          <a:ln w="9525">
            <a:noFill/>
          </a:ln>
        </p:spPr>
        <p:txBody>
          <a:bodyPr>
            <a:spAutoFit/>
          </a:bodyPr>
          <a:p>
            <a:pPr>
              <a:spcBef>
                <a:spcPct val="50000"/>
              </a:spcBef>
            </a:pPr>
            <a:r>
              <a:rPr sz="1000" dirty="0">
                <a:solidFill>
                  <a:schemeClr val="tx1"/>
                </a:solidFill>
                <a:latin typeface="Arial" panose="020B0604020202020204" pitchFamily="34" charset="0"/>
              </a:rPr>
              <a:t>CNS</a:t>
            </a:r>
            <a:endParaRPr sz="1000" dirty="0">
              <a:solidFill>
                <a:schemeClr val="tx1"/>
              </a:solidFill>
              <a:latin typeface="Arial" panose="020B0604020202020204" pitchFamily="34" charset="0"/>
            </a:endParaRPr>
          </a:p>
        </p:txBody>
      </p:sp>
      <p:sp>
        <p:nvSpPr>
          <p:cNvPr id="46101" name="Text Box 26"/>
          <p:cNvSpPr txBox="1"/>
          <p:nvPr/>
        </p:nvSpPr>
        <p:spPr>
          <a:xfrm>
            <a:off x="5456238" y="3998913"/>
            <a:ext cx="649287" cy="457200"/>
          </a:xfrm>
          <a:prstGeom prst="rect">
            <a:avLst/>
          </a:prstGeom>
          <a:noFill/>
          <a:ln w="9525">
            <a:noFill/>
          </a:ln>
        </p:spPr>
        <p:txBody>
          <a:bodyPr>
            <a:spAutoFit/>
          </a:bodyPr>
          <a:p>
            <a:r>
              <a:rPr sz="1200" dirty="0">
                <a:solidFill>
                  <a:schemeClr val="tx1"/>
                </a:solidFill>
                <a:latin typeface="Arial" panose="020B0604020202020204" pitchFamily="34" charset="0"/>
              </a:rPr>
              <a:t>Heavy Load</a:t>
            </a:r>
            <a:endParaRPr dirty="0">
              <a:solidFill>
                <a:schemeClr val="tx1"/>
              </a:solidFill>
              <a:latin typeface="Arial" panose="020B0604020202020204" pitchFamily="34" charset="0"/>
            </a:endParaRPr>
          </a:p>
        </p:txBody>
      </p:sp>
      <p:grpSp>
        <p:nvGrpSpPr>
          <p:cNvPr id="46102" name="Group 27"/>
          <p:cNvGrpSpPr/>
          <p:nvPr/>
        </p:nvGrpSpPr>
        <p:grpSpPr>
          <a:xfrm>
            <a:off x="3965575" y="3990975"/>
            <a:ext cx="936625" cy="1290638"/>
            <a:chOff x="2571" y="2944"/>
            <a:chExt cx="590" cy="813"/>
          </a:xfrm>
        </p:grpSpPr>
        <p:pic>
          <p:nvPicPr>
            <p:cNvPr id="46114" name="Picture 28" descr="IT-Technician"/>
            <p:cNvPicPr>
              <a:picLocks noChangeAspect="1"/>
            </p:cNvPicPr>
            <p:nvPr/>
          </p:nvPicPr>
          <p:blipFill>
            <a:blip r:embed="rId2"/>
            <a:stretch>
              <a:fillRect/>
            </a:stretch>
          </p:blipFill>
          <p:spPr>
            <a:xfrm>
              <a:off x="2571" y="2944"/>
              <a:ext cx="461" cy="675"/>
            </a:xfrm>
            <a:prstGeom prst="rect">
              <a:avLst/>
            </a:prstGeom>
            <a:noFill/>
            <a:ln w="9525">
              <a:noFill/>
            </a:ln>
          </p:spPr>
        </p:pic>
        <p:pic>
          <p:nvPicPr>
            <p:cNvPr id="46115" name="Picture 29" descr="IT-Technician"/>
            <p:cNvPicPr>
              <a:picLocks noChangeAspect="1"/>
            </p:cNvPicPr>
            <p:nvPr/>
          </p:nvPicPr>
          <p:blipFill>
            <a:blip r:embed="rId2"/>
            <a:stretch>
              <a:fillRect/>
            </a:stretch>
          </p:blipFill>
          <p:spPr>
            <a:xfrm>
              <a:off x="2636" y="3013"/>
              <a:ext cx="460" cy="675"/>
            </a:xfrm>
            <a:prstGeom prst="rect">
              <a:avLst/>
            </a:prstGeom>
            <a:noFill/>
            <a:ln w="9525">
              <a:noFill/>
            </a:ln>
          </p:spPr>
        </p:pic>
        <p:pic>
          <p:nvPicPr>
            <p:cNvPr id="46116" name="Picture 30" descr="IT-Technician"/>
            <p:cNvPicPr>
              <a:picLocks noChangeAspect="1"/>
            </p:cNvPicPr>
            <p:nvPr/>
          </p:nvPicPr>
          <p:blipFill>
            <a:blip r:embed="rId2"/>
            <a:stretch>
              <a:fillRect/>
            </a:stretch>
          </p:blipFill>
          <p:spPr>
            <a:xfrm>
              <a:off x="2700" y="3082"/>
              <a:ext cx="461" cy="675"/>
            </a:xfrm>
            <a:prstGeom prst="rect">
              <a:avLst/>
            </a:prstGeom>
            <a:noFill/>
            <a:ln w="9525">
              <a:noFill/>
            </a:ln>
          </p:spPr>
        </p:pic>
      </p:grpSp>
      <p:sp>
        <p:nvSpPr>
          <p:cNvPr id="46103" name="Text Box 31"/>
          <p:cNvSpPr txBox="1"/>
          <p:nvPr/>
        </p:nvSpPr>
        <p:spPr>
          <a:xfrm>
            <a:off x="2882900" y="5335588"/>
            <a:ext cx="649288" cy="366712"/>
          </a:xfrm>
          <a:prstGeom prst="rect">
            <a:avLst/>
          </a:prstGeom>
          <a:noFill/>
          <a:ln w="9525">
            <a:noFill/>
          </a:ln>
        </p:spPr>
        <p:txBody>
          <a:bodyPr>
            <a:spAutoFit/>
          </a:bodyPr>
          <a:p>
            <a:endParaRPr dirty="0">
              <a:solidFill>
                <a:schemeClr val="tx1"/>
              </a:solidFill>
              <a:latin typeface="Arial" panose="020B0604020202020204" pitchFamily="34" charset="0"/>
            </a:endParaRPr>
          </a:p>
        </p:txBody>
      </p:sp>
      <p:sp>
        <p:nvSpPr>
          <p:cNvPr id="568352" name="Line 32"/>
          <p:cNvSpPr/>
          <p:nvPr/>
        </p:nvSpPr>
        <p:spPr>
          <a:xfrm>
            <a:off x="7799388" y="4645025"/>
            <a:ext cx="6350" cy="293688"/>
          </a:xfrm>
          <a:prstGeom prst="line">
            <a:avLst/>
          </a:prstGeom>
          <a:ln w="25400" cap="flat" cmpd="sng">
            <a:solidFill>
              <a:srgbClr val="FF1414"/>
            </a:solidFill>
            <a:prstDash val="solid"/>
            <a:headEnd type="none" w="med" len="med"/>
            <a:tailEnd type="triangle" w="med" len="med"/>
          </a:ln>
        </p:spPr>
      </p:sp>
      <p:sp>
        <p:nvSpPr>
          <p:cNvPr id="568353" name="Text Box 33"/>
          <p:cNvSpPr txBox="1"/>
          <p:nvPr/>
        </p:nvSpPr>
        <p:spPr>
          <a:xfrm>
            <a:off x="6940550" y="4660900"/>
            <a:ext cx="833438" cy="336550"/>
          </a:xfrm>
          <a:prstGeom prst="rect">
            <a:avLst/>
          </a:prstGeom>
          <a:noFill/>
          <a:ln w="9525">
            <a:noFill/>
          </a:ln>
        </p:spPr>
        <p:txBody>
          <a:bodyPr>
            <a:spAutoFit/>
          </a:bodyPr>
          <a:p>
            <a:pPr>
              <a:spcBef>
                <a:spcPct val="50000"/>
              </a:spcBef>
            </a:pPr>
            <a:r>
              <a:rPr sz="800" dirty="0">
                <a:solidFill>
                  <a:schemeClr val="tx1"/>
                </a:solidFill>
                <a:latin typeface="Arial" panose="020B0604020202020204" pitchFamily="34" charset="0"/>
              </a:rPr>
              <a:t>EVS/FS Load Balance</a:t>
            </a:r>
            <a:endParaRPr sz="800" dirty="0">
              <a:solidFill>
                <a:schemeClr val="tx1"/>
              </a:solidFill>
              <a:latin typeface="Arial" panose="020B0604020202020204" pitchFamily="34" charset="0"/>
            </a:endParaRPr>
          </a:p>
        </p:txBody>
      </p:sp>
      <p:sp>
        <p:nvSpPr>
          <p:cNvPr id="46106" name="AutoShape 34"/>
          <p:cNvSpPr/>
          <p:nvPr/>
        </p:nvSpPr>
        <p:spPr>
          <a:xfrm>
            <a:off x="6165850" y="4070350"/>
            <a:ext cx="163513" cy="153988"/>
          </a:xfrm>
          <a:prstGeom prst="cube">
            <a:avLst>
              <a:gd name="adj" fmla="val 25000"/>
            </a:avLst>
          </a:prstGeom>
          <a:solidFill>
            <a:srgbClr val="99CC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107" name="AutoShape 35"/>
          <p:cNvSpPr/>
          <p:nvPr/>
        </p:nvSpPr>
        <p:spPr>
          <a:xfrm>
            <a:off x="6369050" y="4070350"/>
            <a:ext cx="163513" cy="153988"/>
          </a:xfrm>
          <a:prstGeom prst="cube">
            <a:avLst>
              <a:gd name="adj" fmla="val 25000"/>
            </a:avLst>
          </a:prstGeom>
          <a:solidFill>
            <a:srgbClr val="99CC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108" name="AutoShape 36"/>
          <p:cNvSpPr/>
          <p:nvPr/>
        </p:nvSpPr>
        <p:spPr>
          <a:xfrm>
            <a:off x="6572250" y="4070350"/>
            <a:ext cx="163513" cy="153988"/>
          </a:xfrm>
          <a:prstGeom prst="cube">
            <a:avLst>
              <a:gd name="adj" fmla="val 25000"/>
            </a:avLst>
          </a:prstGeom>
          <a:solidFill>
            <a:srgbClr val="99CC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109" name="AutoShape 37"/>
          <p:cNvSpPr/>
          <p:nvPr/>
        </p:nvSpPr>
        <p:spPr>
          <a:xfrm>
            <a:off x="6153150" y="5267325"/>
            <a:ext cx="163513" cy="153988"/>
          </a:xfrm>
          <a:prstGeom prst="cube">
            <a:avLst>
              <a:gd name="adj" fmla="val 25000"/>
            </a:avLst>
          </a:prstGeom>
          <a:solidFill>
            <a:srgbClr val="99CC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110" name="AutoShape 38"/>
          <p:cNvSpPr/>
          <p:nvPr/>
        </p:nvSpPr>
        <p:spPr>
          <a:xfrm>
            <a:off x="6356350" y="5267325"/>
            <a:ext cx="163513" cy="153988"/>
          </a:xfrm>
          <a:prstGeom prst="cube">
            <a:avLst>
              <a:gd name="adj" fmla="val 25000"/>
            </a:avLst>
          </a:prstGeom>
          <a:solidFill>
            <a:srgbClr val="99CC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6111" name="AutoShape 39"/>
          <p:cNvSpPr/>
          <p:nvPr/>
        </p:nvSpPr>
        <p:spPr>
          <a:xfrm>
            <a:off x="6559550" y="5267325"/>
            <a:ext cx="163513" cy="153988"/>
          </a:xfrm>
          <a:prstGeom prst="cube">
            <a:avLst>
              <a:gd name="adj" fmla="val 25000"/>
            </a:avLst>
          </a:prstGeom>
          <a:solidFill>
            <a:srgbClr val="99CC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46112" name="Picture 42"/>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5943600" y="4278313"/>
            <a:ext cx="914400" cy="446087"/>
          </a:xfrm>
          <a:prstGeom prst="rect">
            <a:avLst/>
          </a:prstGeom>
          <a:noFill/>
          <a:ln w="9525">
            <a:noFill/>
          </a:ln>
        </p:spPr>
      </p:pic>
      <p:pic>
        <p:nvPicPr>
          <p:cNvPr id="46113" name="Picture 43"/>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5943600" y="4811713"/>
            <a:ext cx="914400" cy="4460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83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68335"/>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5683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5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p:nvPr/>
        </p:nvSpPr>
        <p:spPr>
          <a:xfrm>
            <a:off x="381000" y="993775"/>
            <a:ext cx="4043363" cy="4873625"/>
          </a:xfrm>
          <a:prstGeom prst="rect">
            <a:avLst/>
          </a:prstGeom>
          <a:solidFill>
            <a:schemeClr val="bg1"/>
          </a:solidFill>
          <a:ln w="28575" cap="flat" cmpd="sng">
            <a:solidFill>
              <a:schemeClr val="folHlink"/>
            </a:solidFill>
            <a:prstDash val="solid"/>
            <a:miter/>
            <a:headEnd type="none" w="med" len="med"/>
            <a:tailEnd type="none" w="med" len="med"/>
          </a:ln>
        </p:spPr>
        <p:txBody>
          <a:bodyPr wrap="none" anchor="ctr" anchorCtr="0"/>
          <a:p>
            <a:endParaRPr dirty="0">
              <a:solidFill>
                <a:schemeClr val="tx1"/>
              </a:solidFill>
              <a:latin typeface="Helvetica" charset="0"/>
            </a:endParaRPr>
          </a:p>
        </p:txBody>
      </p:sp>
      <p:sp>
        <p:nvSpPr>
          <p:cNvPr id="48130" name="AutoShape 3"/>
          <p:cNvSpPr>
            <a:spLocks noChangeAspect="1"/>
          </p:cNvSpPr>
          <p:nvPr/>
        </p:nvSpPr>
        <p:spPr>
          <a:xfrm>
            <a:off x="1244600" y="4883150"/>
            <a:ext cx="865188" cy="819150"/>
          </a:xfrm>
          <a:prstGeom prst="can">
            <a:avLst>
              <a:gd name="adj" fmla="val 10194"/>
            </a:avLst>
          </a:prstGeom>
          <a:solidFill>
            <a:schemeClr val="folHlink"/>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685060" name="AutoShape 4"/>
          <p:cNvSpPr>
            <a:spLocks noChangeAspect="1"/>
          </p:cNvSpPr>
          <p:nvPr/>
        </p:nvSpPr>
        <p:spPr>
          <a:xfrm>
            <a:off x="1244600" y="4651375"/>
            <a:ext cx="865188" cy="1050925"/>
          </a:xfrm>
          <a:prstGeom prst="can">
            <a:avLst>
              <a:gd name="adj" fmla="val 12380"/>
            </a:avLst>
          </a:prstGeom>
          <a:solidFill>
            <a:schemeClr val="folHlink"/>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48132" name="Rectangle 5"/>
          <p:cNvSpPr>
            <a:spLocks noGrp="1"/>
          </p:cNvSpPr>
          <p:nvPr>
            <p:ph type="title"/>
          </p:nvPr>
        </p:nvSpPr>
        <p:spPr>
          <a:xfrm>
            <a:off x="465138" y="336550"/>
            <a:ext cx="6413500" cy="365125"/>
          </a:xfrm>
          <a:ln/>
        </p:spPr>
        <p:txBody>
          <a:bodyPr vert="horz" wrap="square" lIns="91440" tIns="0" rIns="91440" bIns="0" anchor="ctr" anchorCtr="0">
            <a:spAutoFit/>
          </a:bodyPr>
          <a:p>
            <a:pPr eaLnBrk="1" hangingPunct="1"/>
            <a:r>
              <a:rPr dirty="0">
                <a:solidFill>
                  <a:schemeClr val="tx1"/>
                </a:solidFill>
              </a:rPr>
              <a:t>Thin Provisioning</a:t>
            </a:r>
            <a:endParaRPr dirty="0">
              <a:solidFill>
                <a:schemeClr val="tx1"/>
              </a:solidFill>
            </a:endParaRPr>
          </a:p>
        </p:txBody>
      </p:sp>
      <p:grpSp>
        <p:nvGrpSpPr>
          <p:cNvPr id="48133" name="Group 1028"/>
          <p:cNvGrpSpPr/>
          <p:nvPr/>
        </p:nvGrpSpPr>
        <p:grpSpPr>
          <a:xfrm>
            <a:off x="1095375" y="1243013"/>
            <a:ext cx="957263" cy="1249362"/>
            <a:chOff x="690" y="1146"/>
            <a:chExt cx="603" cy="787"/>
          </a:xfrm>
        </p:grpSpPr>
        <p:pic>
          <p:nvPicPr>
            <p:cNvPr id="48171" name="Picture 7" descr="IT-Technician"/>
            <p:cNvPicPr>
              <a:picLocks noChangeAspect="1"/>
            </p:cNvPicPr>
            <p:nvPr/>
          </p:nvPicPr>
          <p:blipFill>
            <a:blip r:embed="rId1"/>
            <a:stretch>
              <a:fillRect/>
            </a:stretch>
          </p:blipFill>
          <p:spPr>
            <a:xfrm>
              <a:off x="690" y="1146"/>
              <a:ext cx="471" cy="653"/>
            </a:xfrm>
            <a:prstGeom prst="rect">
              <a:avLst/>
            </a:prstGeom>
            <a:noFill/>
            <a:ln w="9525">
              <a:noFill/>
            </a:ln>
          </p:spPr>
        </p:pic>
        <p:pic>
          <p:nvPicPr>
            <p:cNvPr id="48172" name="Picture 8" descr="IT-Technician"/>
            <p:cNvPicPr>
              <a:picLocks noChangeAspect="1"/>
            </p:cNvPicPr>
            <p:nvPr/>
          </p:nvPicPr>
          <p:blipFill>
            <a:blip r:embed="rId1"/>
            <a:stretch>
              <a:fillRect/>
            </a:stretch>
          </p:blipFill>
          <p:spPr>
            <a:xfrm>
              <a:off x="756" y="1213"/>
              <a:ext cx="471" cy="653"/>
            </a:xfrm>
            <a:prstGeom prst="rect">
              <a:avLst/>
            </a:prstGeom>
            <a:noFill/>
            <a:ln w="9525">
              <a:noFill/>
            </a:ln>
          </p:spPr>
        </p:pic>
        <p:pic>
          <p:nvPicPr>
            <p:cNvPr id="48173" name="Picture 9" descr="IT-Technician"/>
            <p:cNvPicPr>
              <a:picLocks noChangeAspect="1"/>
            </p:cNvPicPr>
            <p:nvPr/>
          </p:nvPicPr>
          <p:blipFill>
            <a:blip r:embed="rId1"/>
            <a:stretch>
              <a:fillRect/>
            </a:stretch>
          </p:blipFill>
          <p:spPr>
            <a:xfrm>
              <a:off x="822" y="1280"/>
              <a:ext cx="471" cy="653"/>
            </a:xfrm>
            <a:prstGeom prst="rect">
              <a:avLst/>
            </a:prstGeom>
            <a:noFill/>
            <a:ln w="9525">
              <a:noFill/>
            </a:ln>
          </p:spPr>
        </p:pic>
      </p:grpSp>
      <p:sp>
        <p:nvSpPr>
          <p:cNvPr id="48134" name="Rectangle 10"/>
          <p:cNvSpPr/>
          <p:nvPr/>
        </p:nvSpPr>
        <p:spPr>
          <a:xfrm>
            <a:off x="1814513" y="3303588"/>
            <a:ext cx="935037" cy="396875"/>
          </a:xfrm>
          <a:prstGeom prst="rect">
            <a:avLst/>
          </a:prstGeom>
          <a:noFill/>
          <a:ln w="9525">
            <a:noFill/>
          </a:ln>
        </p:spPr>
        <p:txBody>
          <a:bodyPr wrap="none">
            <a:spAutoFit/>
          </a:bodyPr>
          <a:p>
            <a:pPr algn="ctr"/>
            <a:r>
              <a:rPr sz="1000" b="1" dirty="0">
                <a:solidFill>
                  <a:schemeClr val="tx1"/>
                </a:solidFill>
                <a:latin typeface="Helvetica" charset="0"/>
              </a:rPr>
              <a:t>Cluster</a:t>
            </a:r>
            <a:endParaRPr sz="1000" b="1" dirty="0">
              <a:solidFill>
                <a:schemeClr val="tx1"/>
              </a:solidFill>
              <a:latin typeface="Helvetica" charset="0"/>
            </a:endParaRPr>
          </a:p>
          <a:p>
            <a:pPr algn="ctr"/>
            <a:r>
              <a:rPr sz="1000" b="1" dirty="0">
                <a:solidFill>
                  <a:schemeClr val="tx1"/>
                </a:solidFill>
                <a:latin typeface="Helvetica" charset="0"/>
              </a:rPr>
              <a:t>Name Space</a:t>
            </a:r>
            <a:endParaRPr sz="1000" b="1" dirty="0">
              <a:solidFill>
                <a:schemeClr val="tx1"/>
              </a:solidFill>
              <a:latin typeface="Helvetica" charset="0"/>
            </a:endParaRPr>
          </a:p>
        </p:txBody>
      </p:sp>
      <p:sp>
        <p:nvSpPr>
          <p:cNvPr id="48135" name="Rectangle 11"/>
          <p:cNvSpPr/>
          <p:nvPr/>
        </p:nvSpPr>
        <p:spPr>
          <a:xfrm>
            <a:off x="1160463" y="5097463"/>
            <a:ext cx="1030287" cy="457200"/>
          </a:xfrm>
          <a:prstGeom prst="rect">
            <a:avLst/>
          </a:prstGeom>
          <a:noFill/>
          <a:ln w="9525">
            <a:noFill/>
          </a:ln>
        </p:spPr>
        <p:txBody>
          <a:bodyPr wrap="none">
            <a:spAutoFit/>
          </a:bodyPr>
          <a:p>
            <a:pPr algn="ctr"/>
            <a:r>
              <a:rPr sz="1200" b="1" dirty="0">
                <a:solidFill>
                  <a:schemeClr val="bg1"/>
                </a:solidFill>
                <a:latin typeface="Helvetica" charset="0"/>
              </a:rPr>
              <a:t>File System</a:t>
            </a:r>
            <a:endParaRPr sz="1200" b="1" dirty="0">
              <a:solidFill>
                <a:schemeClr val="bg1"/>
              </a:solidFill>
              <a:latin typeface="Helvetica" charset="0"/>
            </a:endParaRPr>
          </a:p>
          <a:p>
            <a:pPr algn="ctr"/>
            <a:r>
              <a:rPr sz="1200" b="1" dirty="0">
                <a:solidFill>
                  <a:schemeClr val="bg1"/>
                </a:solidFill>
                <a:latin typeface="Helvetica" charset="0"/>
              </a:rPr>
              <a:t>One</a:t>
            </a:r>
            <a:endParaRPr sz="1200" b="1" dirty="0">
              <a:solidFill>
                <a:schemeClr val="bg1"/>
              </a:solidFill>
              <a:latin typeface="Helvetica" charset="0"/>
            </a:endParaRPr>
          </a:p>
        </p:txBody>
      </p:sp>
      <p:sp>
        <p:nvSpPr>
          <p:cNvPr id="48136" name="Text Box 12"/>
          <p:cNvSpPr txBox="1"/>
          <p:nvPr/>
        </p:nvSpPr>
        <p:spPr>
          <a:xfrm>
            <a:off x="1270000" y="2506663"/>
            <a:ext cx="1930400" cy="304800"/>
          </a:xfrm>
          <a:prstGeom prst="rect">
            <a:avLst/>
          </a:prstGeom>
          <a:noFill/>
          <a:ln w="9525">
            <a:noFill/>
          </a:ln>
        </p:spPr>
        <p:txBody>
          <a:bodyPr wrap="none">
            <a:spAutoFit/>
          </a:bodyPr>
          <a:p>
            <a:r>
              <a:rPr sz="1400" dirty="0">
                <a:solidFill>
                  <a:schemeClr val="tx1"/>
                </a:solidFill>
                <a:latin typeface="Helvetica" charset="0"/>
              </a:rPr>
              <a:t>CIFS and NFS Clients</a:t>
            </a:r>
            <a:endParaRPr sz="1400" dirty="0">
              <a:solidFill>
                <a:schemeClr val="tx1"/>
              </a:solidFill>
              <a:latin typeface="Helvetica" charset="0"/>
            </a:endParaRPr>
          </a:p>
        </p:txBody>
      </p:sp>
      <p:sp>
        <p:nvSpPr>
          <p:cNvPr id="48137" name="Line 13"/>
          <p:cNvSpPr/>
          <p:nvPr/>
        </p:nvSpPr>
        <p:spPr>
          <a:xfrm>
            <a:off x="1676400" y="4117975"/>
            <a:ext cx="0" cy="533400"/>
          </a:xfrm>
          <a:prstGeom prst="line">
            <a:avLst/>
          </a:prstGeom>
          <a:ln w="28575" cap="flat" cmpd="sng">
            <a:solidFill>
              <a:schemeClr val="folHlink"/>
            </a:solidFill>
            <a:prstDash val="solid"/>
            <a:headEnd type="none" w="med" len="med"/>
            <a:tailEnd type="triangle" w="med" len="med"/>
          </a:ln>
        </p:spPr>
      </p:sp>
      <p:sp>
        <p:nvSpPr>
          <p:cNvPr id="48138" name="Line 14"/>
          <p:cNvSpPr/>
          <p:nvPr/>
        </p:nvSpPr>
        <p:spPr>
          <a:xfrm>
            <a:off x="1733550" y="3279775"/>
            <a:ext cx="1128713" cy="0"/>
          </a:xfrm>
          <a:prstGeom prst="line">
            <a:avLst/>
          </a:prstGeom>
          <a:ln w="9525" cap="flat" cmpd="sng">
            <a:solidFill>
              <a:schemeClr val="tx1"/>
            </a:solidFill>
            <a:prstDash val="solid"/>
            <a:headEnd type="none" w="med" len="med"/>
            <a:tailEnd type="none" w="med" len="med"/>
          </a:ln>
        </p:spPr>
      </p:sp>
      <p:sp>
        <p:nvSpPr>
          <p:cNvPr id="48139" name="Line 15"/>
          <p:cNvSpPr/>
          <p:nvPr/>
        </p:nvSpPr>
        <p:spPr>
          <a:xfrm>
            <a:off x="1733550" y="3278188"/>
            <a:ext cx="0" cy="506412"/>
          </a:xfrm>
          <a:prstGeom prst="line">
            <a:avLst/>
          </a:prstGeom>
          <a:ln w="9525" cap="flat" cmpd="sng">
            <a:solidFill>
              <a:schemeClr val="tx1"/>
            </a:solidFill>
            <a:prstDash val="solid"/>
            <a:headEnd type="none" w="med" len="med"/>
            <a:tailEnd type="triangle" w="med" len="med"/>
          </a:ln>
        </p:spPr>
      </p:sp>
      <p:sp>
        <p:nvSpPr>
          <p:cNvPr id="48140" name="Line 16"/>
          <p:cNvSpPr/>
          <p:nvPr/>
        </p:nvSpPr>
        <p:spPr>
          <a:xfrm flipH="1">
            <a:off x="2857500" y="3275013"/>
            <a:ext cx="3175" cy="533400"/>
          </a:xfrm>
          <a:prstGeom prst="line">
            <a:avLst/>
          </a:prstGeom>
          <a:ln w="9525" cap="flat" cmpd="sng">
            <a:solidFill>
              <a:schemeClr val="tx1"/>
            </a:solidFill>
            <a:prstDash val="solid"/>
            <a:headEnd type="none" w="med" len="med"/>
            <a:tailEnd type="triangle" w="med" len="med"/>
          </a:ln>
        </p:spPr>
      </p:sp>
      <p:sp>
        <p:nvSpPr>
          <p:cNvPr id="48141" name="Line 17"/>
          <p:cNvSpPr/>
          <p:nvPr/>
        </p:nvSpPr>
        <p:spPr>
          <a:xfrm flipV="1">
            <a:off x="2268538" y="2928938"/>
            <a:ext cx="0" cy="350837"/>
          </a:xfrm>
          <a:prstGeom prst="line">
            <a:avLst/>
          </a:prstGeom>
          <a:ln w="9525" cap="flat" cmpd="sng">
            <a:solidFill>
              <a:schemeClr val="tx1"/>
            </a:solidFill>
            <a:prstDash val="solid"/>
            <a:headEnd type="none" w="med" len="med"/>
            <a:tailEnd type="none" w="med" len="med"/>
          </a:ln>
        </p:spPr>
      </p:sp>
      <p:sp>
        <p:nvSpPr>
          <p:cNvPr id="48142" name="AutoShape 18"/>
          <p:cNvSpPr>
            <a:spLocks noChangeAspect="1"/>
          </p:cNvSpPr>
          <p:nvPr/>
        </p:nvSpPr>
        <p:spPr>
          <a:xfrm>
            <a:off x="2390775" y="4859338"/>
            <a:ext cx="865188" cy="827087"/>
          </a:xfrm>
          <a:prstGeom prst="can">
            <a:avLst>
              <a:gd name="adj" fmla="val 10194"/>
            </a:avLst>
          </a:prstGeom>
          <a:solidFill>
            <a:schemeClr val="hlink"/>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48143" name="Rectangle 19"/>
          <p:cNvSpPr/>
          <p:nvPr/>
        </p:nvSpPr>
        <p:spPr>
          <a:xfrm>
            <a:off x="2316163" y="5086350"/>
            <a:ext cx="1030287" cy="457200"/>
          </a:xfrm>
          <a:prstGeom prst="rect">
            <a:avLst/>
          </a:prstGeom>
          <a:noFill/>
          <a:ln w="9525">
            <a:noFill/>
          </a:ln>
        </p:spPr>
        <p:txBody>
          <a:bodyPr wrap="none">
            <a:spAutoFit/>
          </a:bodyPr>
          <a:p>
            <a:pPr algn="ctr"/>
            <a:r>
              <a:rPr sz="1200" b="1" dirty="0">
                <a:solidFill>
                  <a:schemeClr val="bg1"/>
                </a:solidFill>
                <a:latin typeface="Helvetica" charset="0"/>
              </a:rPr>
              <a:t>File System</a:t>
            </a:r>
            <a:endParaRPr sz="1200" b="1" dirty="0">
              <a:solidFill>
                <a:schemeClr val="bg1"/>
              </a:solidFill>
              <a:latin typeface="Helvetica" charset="0"/>
            </a:endParaRPr>
          </a:p>
          <a:p>
            <a:pPr algn="ctr"/>
            <a:r>
              <a:rPr sz="1200" b="1" dirty="0">
                <a:solidFill>
                  <a:schemeClr val="bg1"/>
                </a:solidFill>
                <a:latin typeface="Helvetica" charset="0"/>
              </a:rPr>
              <a:t>Two</a:t>
            </a:r>
            <a:endParaRPr sz="1200" b="1" dirty="0">
              <a:solidFill>
                <a:schemeClr val="bg1"/>
              </a:solidFill>
              <a:latin typeface="Helvetica" charset="0"/>
            </a:endParaRPr>
          </a:p>
        </p:txBody>
      </p:sp>
      <p:sp>
        <p:nvSpPr>
          <p:cNvPr id="48144" name="Rectangle 20"/>
          <p:cNvSpPr/>
          <p:nvPr/>
        </p:nvSpPr>
        <p:spPr>
          <a:xfrm>
            <a:off x="534988" y="1106488"/>
            <a:ext cx="3579812" cy="1731962"/>
          </a:xfrm>
          <a:prstGeom prst="rect">
            <a:avLst/>
          </a:prstGeom>
          <a:noFill/>
          <a:ln w="9525" cap="flat" cmpd="sng">
            <a:solidFill>
              <a:schemeClr val="fo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48145" name="Rectangle 21"/>
          <p:cNvSpPr>
            <a:spLocks noGrp="1"/>
          </p:cNvSpPr>
          <p:nvPr>
            <p:ph idx="1"/>
          </p:nvPr>
        </p:nvSpPr>
        <p:spPr>
          <a:xfrm>
            <a:off x="4495800" y="1219200"/>
            <a:ext cx="4441825" cy="3200400"/>
          </a:xfrm>
          <a:ln/>
        </p:spPr>
        <p:txBody>
          <a:bodyPr vert="horz" wrap="square" lIns="91440" tIns="45720" rIns="91440" bIns="45720" anchor="t" anchorCtr="0"/>
          <a:p>
            <a:pPr eaLnBrk="1" hangingPunct="1">
              <a:tabLst>
                <a:tab pos="1371600" algn="l"/>
              </a:tabLst>
            </a:pPr>
            <a:r>
              <a:rPr sz="1800" dirty="0">
                <a:solidFill>
                  <a:schemeClr val="tx1"/>
                </a:solidFill>
              </a:rPr>
              <a:t>Features:</a:t>
            </a:r>
            <a:endParaRPr sz="1800" dirty="0">
              <a:solidFill>
                <a:schemeClr val="tx1"/>
              </a:solidFill>
            </a:endParaRPr>
          </a:p>
          <a:p>
            <a:pPr lvl="1" eaLnBrk="1" hangingPunct="1">
              <a:tabLst>
                <a:tab pos="1371600" algn="l"/>
              </a:tabLst>
            </a:pPr>
            <a:r>
              <a:rPr sz="1600" dirty="0">
                <a:solidFill>
                  <a:schemeClr val="tx1"/>
                </a:solidFill>
              </a:rPr>
              <a:t>Provisions storage as needed</a:t>
            </a:r>
            <a:endParaRPr sz="1600" dirty="0">
              <a:solidFill>
                <a:schemeClr val="tx1"/>
              </a:solidFill>
            </a:endParaRPr>
          </a:p>
          <a:p>
            <a:pPr lvl="1" eaLnBrk="1" hangingPunct="1">
              <a:tabLst>
                <a:tab pos="1371600" algn="l"/>
              </a:tabLst>
            </a:pPr>
            <a:r>
              <a:rPr sz="1600" dirty="0">
                <a:solidFill>
                  <a:schemeClr val="tx1"/>
                </a:solidFill>
              </a:rPr>
              <a:t>Spans across NFS and CIFS and acts transparent to the clients</a:t>
            </a:r>
            <a:endParaRPr sz="1600" dirty="0">
              <a:solidFill>
                <a:schemeClr val="tx1"/>
              </a:solidFill>
            </a:endParaRPr>
          </a:p>
          <a:p>
            <a:pPr lvl="1" eaLnBrk="1" hangingPunct="1">
              <a:tabLst>
                <a:tab pos="1371600" algn="l"/>
              </a:tabLst>
            </a:pPr>
            <a:r>
              <a:rPr sz="1600" dirty="0">
                <a:solidFill>
                  <a:schemeClr val="tx1"/>
                </a:solidFill>
              </a:rPr>
              <a:t>Threshold management</a:t>
            </a:r>
            <a:endParaRPr sz="1600" dirty="0">
              <a:solidFill>
                <a:schemeClr val="tx1"/>
              </a:solidFill>
            </a:endParaRPr>
          </a:p>
          <a:p>
            <a:pPr lvl="1" eaLnBrk="1" hangingPunct="1">
              <a:tabLst>
                <a:tab pos="1371600" algn="l"/>
              </a:tabLst>
            </a:pPr>
            <a:r>
              <a:rPr sz="1600" dirty="0">
                <a:solidFill>
                  <a:schemeClr val="tx1"/>
                </a:solidFill>
              </a:rPr>
              <a:t>Support up to 1PB behind one share</a:t>
            </a:r>
            <a:r>
              <a:rPr sz="1600" baseline="30000" dirty="0">
                <a:solidFill>
                  <a:schemeClr val="tx1"/>
                </a:solidFill>
              </a:rPr>
              <a:t>(1)</a:t>
            </a:r>
            <a:endParaRPr sz="1600" baseline="30000" dirty="0">
              <a:solidFill>
                <a:schemeClr val="tx1"/>
              </a:solidFill>
            </a:endParaRPr>
          </a:p>
          <a:p>
            <a:pPr lvl="1" eaLnBrk="1" hangingPunct="1">
              <a:tabLst>
                <a:tab pos="1371600" algn="l"/>
              </a:tabLst>
            </a:pPr>
            <a:r>
              <a:rPr sz="1600" dirty="0">
                <a:solidFill>
                  <a:schemeClr val="tx1"/>
                </a:solidFill>
              </a:rPr>
              <a:t>Autogrow feature based on Thresholds</a:t>
            </a:r>
            <a:endParaRPr sz="1600" dirty="0">
              <a:solidFill>
                <a:schemeClr val="tx1"/>
              </a:solidFill>
            </a:endParaRPr>
          </a:p>
          <a:p>
            <a:pPr eaLnBrk="1" hangingPunct="1">
              <a:tabLst>
                <a:tab pos="1371600" algn="l"/>
              </a:tabLst>
            </a:pPr>
            <a:r>
              <a:rPr sz="1800" dirty="0">
                <a:solidFill>
                  <a:schemeClr val="tx1"/>
                </a:solidFill>
              </a:rPr>
              <a:t>Benefits:</a:t>
            </a:r>
            <a:endParaRPr sz="1800" dirty="0">
              <a:solidFill>
                <a:schemeClr val="tx1"/>
              </a:solidFill>
            </a:endParaRPr>
          </a:p>
          <a:p>
            <a:pPr lvl="1" eaLnBrk="1" hangingPunct="1">
              <a:tabLst>
                <a:tab pos="1371600" algn="l"/>
              </a:tabLst>
            </a:pPr>
            <a:r>
              <a:rPr sz="1600" dirty="0">
                <a:solidFill>
                  <a:schemeClr val="tx1"/>
                </a:solidFill>
              </a:rPr>
              <a:t>Thin Provisioning made easy</a:t>
            </a:r>
            <a:endParaRPr sz="1600" dirty="0">
              <a:solidFill>
                <a:schemeClr val="tx1"/>
              </a:solidFill>
            </a:endParaRPr>
          </a:p>
          <a:p>
            <a:pPr lvl="2" eaLnBrk="1" hangingPunct="1">
              <a:tabLst>
                <a:tab pos="1371600" algn="l"/>
              </a:tabLst>
            </a:pPr>
            <a:r>
              <a:rPr sz="1600" dirty="0">
                <a:solidFill>
                  <a:schemeClr val="tx1"/>
                </a:solidFill>
              </a:rPr>
              <a:t>Easy to manage (set once)</a:t>
            </a:r>
            <a:endParaRPr sz="1600" dirty="0">
              <a:solidFill>
                <a:schemeClr val="tx1"/>
              </a:solidFill>
            </a:endParaRPr>
          </a:p>
          <a:p>
            <a:pPr lvl="2" eaLnBrk="1" hangingPunct="1">
              <a:tabLst>
                <a:tab pos="1371600" algn="l"/>
              </a:tabLst>
            </a:pPr>
            <a:r>
              <a:rPr sz="1600" dirty="0">
                <a:solidFill>
                  <a:schemeClr val="tx1"/>
                </a:solidFill>
              </a:rPr>
              <a:t>Low Maintenance (Autogrow triggered on pre-defined thresholds)</a:t>
            </a:r>
            <a:endParaRPr sz="1600" dirty="0">
              <a:solidFill>
                <a:schemeClr val="tx1"/>
              </a:solidFill>
            </a:endParaRPr>
          </a:p>
        </p:txBody>
      </p:sp>
      <p:pic>
        <p:nvPicPr>
          <p:cNvPr id="48146" name="Picture 24" descr="folder"/>
          <p:cNvPicPr>
            <a:picLocks noChangeAspect="1"/>
          </p:cNvPicPr>
          <p:nvPr/>
        </p:nvPicPr>
        <p:blipFill>
          <a:blip r:embed="rId2"/>
          <a:stretch>
            <a:fillRect/>
          </a:stretch>
        </p:blipFill>
        <p:spPr>
          <a:xfrm>
            <a:off x="2170113" y="1374775"/>
            <a:ext cx="344487" cy="360363"/>
          </a:xfrm>
          <a:prstGeom prst="rect">
            <a:avLst/>
          </a:prstGeom>
          <a:noFill/>
          <a:ln w="9525">
            <a:noFill/>
          </a:ln>
        </p:spPr>
      </p:pic>
      <p:sp>
        <p:nvSpPr>
          <p:cNvPr id="48147" name="Text Box 25"/>
          <p:cNvSpPr txBox="1"/>
          <p:nvPr/>
        </p:nvSpPr>
        <p:spPr>
          <a:xfrm>
            <a:off x="2474913" y="1412875"/>
            <a:ext cx="941387" cy="304800"/>
          </a:xfrm>
          <a:prstGeom prst="rect">
            <a:avLst/>
          </a:prstGeom>
          <a:noFill/>
          <a:ln w="9525">
            <a:noFill/>
          </a:ln>
        </p:spPr>
        <p:txBody>
          <a:bodyPr wrap="none">
            <a:spAutoFit/>
          </a:bodyPr>
          <a:p>
            <a:pPr marL="342900" indent="-342900">
              <a:spcBef>
                <a:spcPct val="20000"/>
              </a:spcBef>
            </a:pPr>
            <a:r>
              <a:rPr sz="1400" dirty="0">
                <a:solidFill>
                  <a:schemeClr val="tx1"/>
                </a:solidFill>
                <a:latin typeface="Helvetica" charset="0"/>
              </a:rPr>
              <a:t>Company</a:t>
            </a:r>
            <a:endParaRPr sz="1400" dirty="0">
              <a:solidFill>
                <a:schemeClr val="tx1"/>
              </a:solidFill>
              <a:latin typeface="Helvetica" charset="0"/>
            </a:endParaRPr>
          </a:p>
        </p:txBody>
      </p:sp>
      <p:grpSp>
        <p:nvGrpSpPr>
          <p:cNvPr id="48148" name="Group 26"/>
          <p:cNvGrpSpPr/>
          <p:nvPr/>
        </p:nvGrpSpPr>
        <p:grpSpPr>
          <a:xfrm>
            <a:off x="2386013" y="1682750"/>
            <a:ext cx="1377950" cy="360363"/>
            <a:chOff x="3016" y="2939"/>
            <a:chExt cx="868" cy="227"/>
          </a:xfrm>
        </p:grpSpPr>
        <p:pic>
          <p:nvPicPr>
            <p:cNvPr id="48169" name="Picture 27" descr="folder"/>
            <p:cNvPicPr>
              <a:picLocks noChangeAspect="1"/>
            </p:cNvPicPr>
            <p:nvPr/>
          </p:nvPicPr>
          <p:blipFill>
            <a:blip r:embed="rId2"/>
            <a:stretch>
              <a:fillRect/>
            </a:stretch>
          </p:blipFill>
          <p:spPr>
            <a:xfrm>
              <a:off x="3016" y="2939"/>
              <a:ext cx="217" cy="227"/>
            </a:xfrm>
            <a:prstGeom prst="rect">
              <a:avLst/>
            </a:prstGeom>
            <a:noFill/>
            <a:ln w="9525">
              <a:noFill/>
            </a:ln>
          </p:spPr>
        </p:pic>
        <p:sp>
          <p:nvSpPr>
            <p:cNvPr id="48170" name="Text Box 28"/>
            <p:cNvSpPr txBox="1"/>
            <p:nvPr/>
          </p:nvSpPr>
          <p:spPr>
            <a:xfrm>
              <a:off x="3219" y="2963"/>
              <a:ext cx="665" cy="192"/>
            </a:xfrm>
            <a:prstGeom prst="rect">
              <a:avLst/>
            </a:prstGeom>
            <a:noFill/>
            <a:ln w="9525">
              <a:noFill/>
            </a:ln>
          </p:spPr>
          <p:txBody>
            <a:bodyPr wrap="none">
              <a:spAutoFit/>
            </a:bodyPr>
            <a:p>
              <a:pPr marL="342900" indent="-342900">
                <a:spcBef>
                  <a:spcPct val="20000"/>
                </a:spcBef>
              </a:pPr>
              <a:r>
                <a:rPr sz="1400" dirty="0">
                  <a:solidFill>
                    <a:schemeClr val="tx1"/>
                  </a:solidFill>
                  <a:latin typeface="Helvetica" charset="0"/>
                </a:rPr>
                <a:t>Geography</a:t>
              </a:r>
              <a:endParaRPr sz="1400" dirty="0">
                <a:solidFill>
                  <a:schemeClr val="tx1"/>
                </a:solidFill>
                <a:latin typeface="Helvetica" charset="0"/>
              </a:endParaRPr>
            </a:p>
          </p:txBody>
        </p:sp>
      </p:grpSp>
      <p:grpSp>
        <p:nvGrpSpPr>
          <p:cNvPr id="48149" name="Group 29"/>
          <p:cNvGrpSpPr/>
          <p:nvPr/>
        </p:nvGrpSpPr>
        <p:grpSpPr>
          <a:xfrm>
            <a:off x="2601913" y="1989138"/>
            <a:ext cx="1455737" cy="360362"/>
            <a:chOff x="3152" y="3137"/>
            <a:chExt cx="917" cy="227"/>
          </a:xfrm>
        </p:grpSpPr>
        <p:pic>
          <p:nvPicPr>
            <p:cNvPr id="48167" name="Picture 30" descr="folder"/>
            <p:cNvPicPr>
              <a:picLocks noChangeAspect="1"/>
            </p:cNvPicPr>
            <p:nvPr/>
          </p:nvPicPr>
          <p:blipFill>
            <a:blip r:embed="rId2"/>
            <a:stretch>
              <a:fillRect/>
            </a:stretch>
          </p:blipFill>
          <p:spPr>
            <a:xfrm>
              <a:off x="3152" y="3137"/>
              <a:ext cx="217" cy="227"/>
            </a:xfrm>
            <a:prstGeom prst="rect">
              <a:avLst/>
            </a:prstGeom>
            <a:noFill/>
            <a:ln w="9525">
              <a:noFill/>
            </a:ln>
          </p:spPr>
        </p:pic>
        <p:sp>
          <p:nvSpPr>
            <p:cNvPr id="48168" name="Text Box 31"/>
            <p:cNvSpPr txBox="1"/>
            <p:nvPr/>
          </p:nvSpPr>
          <p:spPr>
            <a:xfrm>
              <a:off x="3368" y="3161"/>
              <a:ext cx="701" cy="192"/>
            </a:xfrm>
            <a:prstGeom prst="rect">
              <a:avLst/>
            </a:prstGeom>
            <a:noFill/>
            <a:ln w="9525">
              <a:noFill/>
            </a:ln>
          </p:spPr>
          <p:txBody>
            <a:bodyPr wrap="none">
              <a:spAutoFit/>
            </a:bodyPr>
            <a:p>
              <a:pPr marL="342900" indent="-342900">
                <a:spcBef>
                  <a:spcPct val="20000"/>
                </a:spcBef>
              </a:pPr>
              <a:r>
                <a:rPr sz="1400" dirty="0">
                  <a:solidFill>
                    <a:schemeClr val="tx1"/>
                  </a:solidFill>
                  <a:latin typeface="Helvetica" charset="0"/>
                </a:rPr>
                <a:t>Department</a:t>
              </a:r>
              <a:endParaRPr sz="1400" dirty="0">
                <a:solidFill>
                  <a:schemeClr val="tx1"/>
                </a:solidFill>
                <a:latin typeface="Helvetica" charset="0"/>
              </a:endParaRPr>
            </a:p>
          </p:txBody>
        </p:sp>
      </p:grpSp>
      <p:sp>
        <p:nvSpPr>
          <p:cNvPr id="685088" name="Text Box 32"/>
          <p:cNvSpPr txBox="1"/>
          <p:nvPr/>
        </p:nvSpPr>
        <p:spPr>
          <a:xfrm>
            <a:off x="2286000" y="2898775"/>
            <a:ext cx="1701800" cy="314325"/>
          </a:xfrm>
          <a:prstGeom prst="rect">
            <a:avLst/>
          </a:prstGeom>
          <a:solidFill>
            <a:schemeClr val="bg1"/>
          </a:solidFill>
          <a:ln w="9525" cap="flat" cmpd="sng">
            <a:solidFill>
              <a:schemeClr val="tx1"/>
            </a:solidFill>
            <a:prstDash val="solid"/>
            <a:miter/>
            <a:headEnd type="none" w="med" len="med"/>
            <a:tailEnd type="none" w="med" len="med"/>
          </a:ln>
        </p:spPr>
        <p:txBody>
          <a:bodyPr wrap="none">
            <a:spAutoFit/>
          </a:bodyPr>
          <a:p>
            <a:r>
              <a:rPr sz="1400" dirty="0">
                <a:solidFill>
                  <a:schemeClr val="tx1"/>
                </a:solidFill>
                <a:latin typeface="Helvetica" charset="0"/>
              </a:rPr>
              <a:t>20TB Share/Export</a:t>
            </a:r>
            <a:endParaRPr sz="1400" dirty="0">
              <a:solidFill>
                <a:schemeClr val="tx1"/>
              </a:solidFill>
              <a:latin typeface="Helvetica" charset="0"/>
            </a:endParaRPr>
          </a:p>
        </p:txBody>
      </p:sp>
      <p:sp>
        <p:nvSpPr>
          <p:cNvPr id="685089" name="Text Box 33"/>
          <p:cNvSpPr txBox="1"/>
          <p:nvPr/>
        </p:nvSpPr>
        <p:spPr>
          <a:xfrm>
            <a:off x="457200" y="4911725"/>
            <a:ext cx="774700" cy="730250"/>
          </a:xfrm>
          <a:prstGeom prst="rect">
            <a:avLst/>
          </a:prstGeom>
          <a:noFill/>
          <a:ln w="9525">
            <a:noFill/>
          </a:ln>
        </p:spPr>
        <p:txBody>
          <a:bodyPr wrap="none">
            <a:spAutoFit/>
          </a:bodyPr>
          <a:p>
            <a:r>
              <a:rPr sz="1400" dirty="0">
                <a:solidFill>
                  <a:schemeClr val="tx1"/>
                </a:solidFill>
                <a:latin typeface="Helvetica" charset="0"/>
              </a:rPr>
              <a:t>1TB</a:t>
            </a:r>
            <a:endParaRPr sz="1400" dirty="0">
              <a:solidFill>
                <a:schemeClr val="tx1"/>
              </a:solidFill>
              <a:latin typeface="Helvetica" charset="0"/>
            </a:endParaRPr>
          </a:p>
          <a:p>
            <a:r>
              <a:rPr sz="1400" dirty="0">
                <a:solidFill>
                  <a:schemeClr val="tx1"/>
                </a:solidFill>
                <a:latin typeface="Helvetica" charset="0"/>
              </a:rPr>
              <a:t>File</a:t>
            </a:r>
            <a:endParaRPr sz="1400" dirty="0">
              <a:solidFill>
                <a:schemeClr val="tx1"/>
              </a:solidFill>
              <a:latin typeface="Helvetica" charset="0"/>
            </a:endParaRPr>
          </a:p>
          <a:p>
            <a:r>
              <a:rPr sz="1400" dirty="0">
                <a:solidFill>
                  <a:schemeClr val="tx1"/>
                </a:solidFill>
                <a:latin typeface="Helvetica" charset="0"/>
              </a:rPr>
              <a:t>System</a:t>
            </a:r>
            <a:endParaRPr sz="1400" dirty="0">
              <a:solidFill>
                <a:schemeClr val="tx1"/>
              </a:solidFill>
              <a:latin typeface="Helvetica" charset="0"/>
            </a:endParaRPr>
          </a:p>
        </p:txBody>
      </p:sp>
      <p:sp>
        <p:nvSpPr>
          <p:cNvPr id="685090" name="Text Box 34"/>
          <p:cNvSpPr txBox="1"/>
          <p:nvPr/>
        </p:nvSpPr>
        <p:spPr>
          <a:xfrm>
            <a:off x="3352800" y="4911725"/>
            <a:ext cx="774700" cy="730250"/>
          </a:xfrm>
          <a:prstGeom prst="rect">
            <a:avLst/>
          </a:prstGeom>
          <a:noFill/>
          <a:ln w="9525">
            <a:noFill/>
          </a:ln>
        </p:spPr>
        <p:txBody>
          <a:bodyPr wrap="none">
            <a:spAutoFit/>
          </a:bodyPr>
          <a:p>
            <a:r>
              <a:rPr sz="1400" dirty="0">
                <a:solidFill>
                  <a:schemeClr val="tx1"/>
                </a:solidFill>
                <a:latin typeface="Helvetica" charset="0"/>
              </a:rPr>
              <a:t>2TB</a:t>
            </a:r>
            <a:endParaRPr sz="1400" dirty="0">
              <a:solidFill>
                <a:schemeClr val="tx1"/>
              </a:solidFill>
              <a:latin typeface="Helvetica" charset="0"/>
            </a:endParaRPr>
          </a:p>
          <a:p>
            <a:r>
              <a:rPr sz="1400" dirty="0">
                <a:solidFill>
                  <a:schemeClr val="tx1"/>
                </a:solidFill>
                <a:latin typeface="Helvetica" charset="0"/>
              </a:rPr>
              <a:t>File</a:t>
            </a:r>
            <a:endParaRPr sz="1400" dirty="0">
              <a:solidFill>
                <a:schemeClr val="tx1"/>
              </a:solidFill>
              <a:latin typeface="Helvetica" charset="0"/>
            </a:endParaRPr>
          </a:p>
          <a:p>
            <a:r>
              <a:rPr sz="1400" dirty="0">
                <a:solidFill>
                  <a:schemeClr val="tx1"/>
                </a:solidFill>
                <a:latin typeface="Helvetica" charset="0"/>
              </a:rPr>
              <a:t>System</a:t>
            </a:r>
            <a:endParaRPr sz="1400" dirty="0">
              <a:solidFill>
                <a:schemeClr val="tx1"/>
              </a:solidFill>
              <a:latin typeface="Helvetica" charset="0"/>
            </a:endParaRPr>
          </a:p>
        </p:txBody>
      </p:sp>
      <p:sp>
        <p:nvSpPr>
          <p:cNvPr id="685091" name="Rectangle 35"/>
          <p:cNvSpPr/>
          <p:nvPr/>
        </p:nvSpPr>
        <p:spPr>
          <a:xfrm>
            <a:off x="4495800" y="4876800"/>
            <a:ext cx="4441825" cy="1828800"/>
          </a:xfrm>
          <a:prstGeom prst="rect">
            <a:avLst/>
          </a:prstGeom>
          <a:noFill/>
          <a:ln w="9525">
            <a:noFill/>
          </a:ln>
        </p:spPr>
        <p:txBody>
          <a:bodyPr/>
          <a:p>
            <a:pPr marL="228600" indent="-228600" defTabSz="914400">
              <a:spcBef>
                <a:spcPct val="20000"/>
              </a:spcBef>
              <a:buChar char="•"/>
              <a:tabLst>
                <a:tab pos="1371600" algn="l"/>
              </a:tabLst>
            </a:pPr>
            <a:r>
              <a:rPr dirty="0">
                <a:solidFill>
                  <a:schemeClr val="tx1"/>
                </a:solidFill>
                <a:latin typeface="Helvetica" charset="0"/>
              </a:rPr>
              <a:t>Example process:</a:t>
            </a:r>
            <a:endParaRPr dirty="0">
              <a:solidFill>
                <a:schemeClr val="tx1"/>
              </a:solidFill>
              <a:latin typeface="Helvetica" charset="0"/>
            </a:endParaRPr>
          </a:p>
          <a:p>
            <a:pPr marL="685800" lvl="1" indent="-228600" defTabSz="914400" eaLnBrk="1" hangingPunct="1">
              <a:spcBef>
                <a:spcPct val="20000"/>
              </a:spcBef>
              <a:buChar char="–"/>
              <a:tabLst>
                <a:tab pos="1371600" algn="l"/>
              </a:tabLst>
            </a:pPr>
            <a:r>
              <a:rPr sz="1600" dirty="0">
                <a:solidFill>
                  <a:schemeClr val="tx1"/>
                </a:solidFill>
                <a:latin typeface="Helvetica" charset="0"/>
              </a:rPr>
              <a:t>Create 20TB Share/Export to clients</a:t>
            </a:r>
            <a:endParaRPr sz="1600" dirty="0">
              <a:solidFill>
                <a:schemeClr val="tx1"/>
              </a:solidFill>
              <a:latin typeface="Helvetica" charset="0"/>
            </a:endParaRPr>
          </a:p>
          <a:p>
            <a:pPr marL="685800" lvl="1" indent="-228600" defTabSz="914400" eaLnBrk="1" hangingPunct="1">
              <a:spcBef>
                <a:spcPct val="20000"/>
              </a:spcBef>
              <a:buChar char="–"/>
              <a:tabLst>
                <a:tab pos="1371600" algn="l"/>
              </a:tabLst>
            </a:pPr>
            <a:r>
              <a:rPr sz="1600" dirty="0">
                <a:solidFill>
                  <a:schemeClr val="tx1"/>
                </a:solidFill>
                <a:latin typeface="Helvetica" charset="0"/>
              </a:rPr>
              <a:t>Set threshold for File systems e.g. 75%</a:t>
            </a:r>
            <a:endParaRPr sz="1600" dirty="0">
              <a:solidFill>
                <a:schemeClr val="tx1"/>
              </a:solidFill>
              <a:latin typeface="Helvetica" charset="0"/>
            </a:endParaRPr>
          </a:p>
          <a:p>
            <a:pPr marL="685800" lvl="1" indent="-228600" defTabSz="914400" eaLnBrk="1" hangingPunct="1">
              <a:spcBef>
                <a:spcPct val="20000"/>
              </a:spcBef>
              <a:buChar char="–"/>
              <a:tabLst>
                <a:tab pos="1371600" algn="l"/>
              </a:tabLst>
            </a:pPr>
            <a:r>
              <a:rPr sz="1600" dirty="0">
                <a:solidFill>
                  <a:schemeClr val="tx1"/>
                </a:solidFill>
                <a:latin typeface="Helvetica" charset="0"/>
              </a:rPr>
              <a:t>Set Autogrow size e.g. 1TB</a:t>
            </a:r>
            <a:endParaRPr sz="1600" dirty="0">
              <a:solidFill>
                <a:schemeClr val="tx1"/>
              </a:solidFill>
              <a:latin typeface="Helvetica" charset="0"/>
            </a:endParaRPr>
          </a:p>
          <a:p>
            <a:pPr marL="685800" lvl="1" indent="-228600" defTabSz="914400" eaLnBrk="1" hangingPunct="1">
              <a:spcBef>
                <a:spcPct val="20000"/>
              </a:spcBef>
              <a:buChar char="–"/>
              <a:tabLst>
                <a:tab pos="1371600" algn="l"/>
              </a:tabLst>
            </a:pPr>
            <a:r>
              <a:rPr sz="1600" dirty="0">
                <a:solidFill>
                  <a:schemeClr val="tx1"/>
                </a:solidFill>
                <a:latin typeface="Helvetica" charset="0"/>
              </a:rPr>
              <a:t>Enable Autogrow</a:t>
            </a:r>
            <a:endParaRPr sz="1600" dirty="0">
              <a:solidFill>
                <a:schemeClr val="tx1"/>
              </a:solidFill>
              <a:latin typeface="Helvetica" charset="0"/>
            </a:endParaRPr>
          </a:p>
        </p:txBody>
      </p:sp>
      <p:sp>
        <p:nvSpPr>
          <p:cNvPr id="685092" name="Rectangle 36"/>
          <p:cNvSpPr/>
          <p:nvPr/>
        </p:nvSpPr>
        <p:spPr>
          <a:xfrm>
            <a:off x="1257300" y="5108575"/>
            <a:ext cx="838200" cy="609600"/>
          </a:xfrm>
          <a:prstGeom prst="rect">
            <a:avLst/>
          </a:prstGeom>
          <a:solidFill>
            <a:srgbClr val="FF6600">
              <a:alpha val="50195"/>
            </a:srgbClr>
          </a:solidFill>
          <a:ln w="9525">
            <a:noFill/>
          </a:ln>
        </p:spPr>
        <p:txBody>
          <a:bodyPr wrap="none" anchor="ctr" anchorCtr="0"/>
          <a:p>
            <a:pPr>
              <a:spcBef>
                <a:spcPct val="20000"/>
              </a:spcBef>
              <a:buChar char="•"/>
            </a:pPr>
            <a:endParaRPr dirty="0">
              <a:latin typeface="Arial" panose="020B0604020202020204" pitchFamily="34" charset="0"/>
            </a:endParaRPr>
          </a:p>
        </p:txBody>
      </p:sp>
      <p:sp>
        <p:nvSpPr>
          <p:cNvPr id="685093" name="Rectangle 37"/>
          <p:cNvSpPr/>
          <p:nvPr/>
        </p:nvSpPr>
        <p:spPr>
          <a:xfrm>
            <a:off x="2400300" y="5337175"/>
            <a:ext cx="838200" cy="381000"/>
          </a:xfrm>
          <a:prstGeom prst="rect">
            <a:avLst/>
          </a:prstGeom>
          <a:solidFill>
            <a:srgbClr val="FF6600">
              <a:alpha val="50195"/>
            </a:srgbClr>
          </a:solidFill>
          <a:ln w="9525">
            <a:noFill/>
          </a:ln>
        </p:spPr>
        <p:txBody>
          <a:bodyPr wrap="none" anchor="ctr" anchorCtr="0"/>
          <a:p>
            <a:pPr>
              <a:spcBef>
                <a:spcPct val="20000"/>
              </a:spcBef>
              <a:buChar char="•"/>
            </a:pPr>
            <a:endParaRPr dirty="0">
              <a:latin typeface="Arial" panose="020B0604020202020204" pitchFamily="34" charset="0"/>
            </a:endParaRPr>
          </a:p>
        </p:txBody>
      </p:sp>
      <p:sp>
        <p:nvSpPr>
          <p:cNvPr id="685094" name="Text Box 38"/>
          <p:cNvSpPr txBox="1"/>
          <p:nvPr/>
        </p:nvSpPr>
        <p:spPr>
          <a:xfrm>
            <a:off x="457200" y="4911725"/>
            <a:ext cx="774700" cy="730250"/>
          </a:xfrm>
          <a:prstGeom prst="rect">
            <a:avLst/>
          </a:prstGeom>
          <a:noFill/>
          <a:ln w="9525">
            <a:noFill/>
          </a:ln>
        </p:spPr>
        <p:txBody>
          <a:bodyPr wrap="none">
            <a:spAutoFit/>
          </a:bodyPr>
          <a:p>
            <a:r>
              <a:rPr sz="1400" dirty="0">
                <a:solidFill>
                  <a:schemeClr val="tx1"/>
                </a:solidFill>
                <a:latin typeface="Helvetica" charset="0"/>
              </a:rPr>
              <a:t>2TB</a:t>
            </a:r>
            <a:endParaRPr sz="1400" dirty="0">
              <a:solidFill>
                <a:schemeClr val="tx1"/>
              </a:solidFill>
              <a:latin typeface="Helvetica" charset="0"/>
            </a:endParaRPr>
          </a:p>
          <a:p>
            <a:r>
              <a:rPr sz="1400" dirty="0">
                <a:solidFill>
                  <a:schemeClr val="tx1"/>
                </a:solidFill>
                <a:latin typeface="Helvetica" charset="0"/>
              </a:rPr>
              <a:t>File</a:t>
            </a:r>
            <a:endParaRPr sz="1400" dirty="0">
              <a:solidFill>
                <a:schemeClr val="tx1"/>
              </a:solidFill>
              <a:latin typeface="Helvetica" charset="0"/>
            </a:endParaRPr>
          </a:p>
          <a:p>
            <a:r>
              <a:rPr sz="1400" dirty="0">
                <a:solidFill>
                  <a:schemeClr val="tx1"/>
                </a:solidFill>
                <a:latin typeface="Helvetica" charset="0"/>
              </a:rPr>
              <a:t>System</a:t>
            </a:r>
            <a:endParaRPr sz="1400" dirty="0">
              <a:solidFill>
                <a:schemeClr val="tx1"/>
              </a:solidFill>
              <a:latin typeface="Helvetica" charset="0"/>
            </a:endParaRPr>
          </a:p>
        </p:txBody>
      </p:sp>
      <p:sp>
        <p:nvSpPr>
          <p:cNvPr id="685095" name="Rectangle 39"/>
          <p:cNvSpPr/>
          <p:nvPr/>
        </p:nvSpPr>
        <p:spPr>
          <a:xfrm>
            <a:off x="1257300" y="5400675"/>
            <a:ext cx="838200" cy="304800"/>
          </a:xfrm>
          <a:prstGeom prst="rect">
            <a:avLst/>
          </a:prstGeom>
          <a:solidFill>
            <a:srgbClr val="FF6600">
              <a:alpha val="50195"/>
            </a:srgbClr>
          </a:solidFill>
          <a:ln w="9525">
            <a:noFill/>
          </a:ln>
        </p:spPr>
        <p:txBody>
          <a:bodyPr wrap="none" anchor="ctr" anchorCtr="0"/>
          <a:p>
            <a:pPr>
              <a:spcBef>
                <a:spcPct val="20000"/>
              </a:spcBef>
              <a:buChar char="•"/>
            </a:pPr>
            <a:endParaRPr dirty="0">
              <a:latin typeface="Arial" panose="020B0604020202020204" pitchFamily="34" charset="0"/>
            </a:endParaRPr>
          </a:p>
        </p:txBody>
      </p:sp>
      <p:sp>
        <p:nvSpPr>
          <p:cNvPr id="685096" name="Text Box 40"/>
          <p:cNvSpPr txBox="1"/>
          <p:nvPr/>
        </p:nvSpPr>
        <p:spPr>
          <a:xfrm>
            <a:off x="1295400" y="5943600"/>
            <a:ext cx="1219200" cy="274638"/>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75% threshold</a:t>
            </a:r>
            <a:endParaRPr sz="1200" dirty="0">
              <a:solidFill>
                <a:schemeClr val="tx1"/>
              </a:solidFill>
              <a:latin typeface="Helvetica" charset="0"/>
            </a:endParaRPr>
          </a:p>
        </p:txBody>
      </p:sp>
      <p:sp>
        <p:nvSpPr>
          <p:cNvPr id="48159" name="Line 43"/>
          <p:cNvSpPr/>
          <p:nvPr/>
        </p:nvSpPr>
        <p:spPr>
          <a:xfrm>
            <a:off x="2819400" y="4346575"/>
            <a:ext cx="0" cy="533400"/>
          </a:xfrm>
          <a:prstGeom prst="line">
            <a:avLst/>
          </a:prstGeom>
          <a:ln w="28575" cap="flat" cmpd="sng">
            <a:solidFill>
              <a:schemeClr val="folHlink"/>
            </a:solidFill>
            <a:prstDash val="solid"/>
            <a:headEnd type="none" w="med" len="med"/>
            <a:tailEnd type="triangle" w="med" len="med"/>
          </a:ln>
        </p:spPr>
      </p:sp>
      <p:sp>
        <p:nvSpPr>
          <p:cNvPr id="685100" name="Text Box 44"/>
          <p:cNvSpPr txBox="1"/>
          <p:nvPr/>
        </p:nvSpPr>
        <p:spPr>
          <a:xfrm>
            <a:off x="2057400" y="2898775"/>
            <a:ext cx="1593850" cy="304800"/>
          </a:xfrm>
          <a:prstGeom prst="rect">
            <a:avLst/>
          </a:prstGeom>
          <a:noFill/>
          <a:ln w="9525">
            <a:noFill/>
          </a:ln>
        </p:spPr>
        <p:txBody>
          <a:bodyPr wrap="none">
            <a:spAutoFit/>
          </a:bodyPr>
          <a:p>
            <a:r>
              <a:rPr sz="1400" dirty="0">
                <a:solidFill>
                  <a:schemeClr val="tx1"/>
                </a:solidFill>
                <a:latin typeface="Helvetica" charset="0"/>
              </a:rPr>
              <a:t>5TB Share/Export</a:t>
            </a:r>
            <a:endParaRPr sz="1400" dirty="0">
              <a:solidFill>
                <a:schemeClr val="tx1"/>
              </a:solidFill>
              <a:latin typeface="Helvetica" charset="0"/>
            </a:endParaRPr>
          </a:p>
        </p:txBody>
      </p:sp>
      <p:sp>
        <p:nvSpPr>
          <p:cNvPr id="685101" name="Rectangle 45"/>
          <p:cNvSpPr/>
          <p:nvPr/>
        </p:nvSpPr>
        <p:spPr>
          <a:xfrm>
            <a:off x="1447800" y="2974975"/>
            <a:ext cx="1828800" cy="254000"/>
          </a:xfrm>
          <a:prstGeom prst="rect">
            <a:avLst/>
          </a:prstGeom>
          <a:solidFill>
            <a:schemeClr val="bg1"/>
          </a:solidFill>
          <a:ln w="9525" cap="flat" cmpd="sng">
            <a:solidFill>
              <a:schemeClr val="tx1"/>
            </a:solidFill>
            <a:prstDash val="solid"/>
            <a:miter/>
            <a:headEnd type="none" w="med" len="med"/>
            <a:tailEnd type="none" w="med" len="med"/>
          </a:ln>
        </p:spPr>
        <p:txBody>
          <a:bodyPr>
            <a:spAutoFit/>
          </a:bodyPr>
          <a:p>
            <a:pPr algn="ctr"/>
            <a:r>
              <a:rPr sz="1000" b="1" dirty="0">
                <a:solidFill>
                  <a:schemeClr val="tx1"/>
                </a:solidFill>
                <a:latin typeface="Helvetica" charset="0"/>
              </a:rPr>
              <a:t>Shrinking share online</a:t>
            </a:r>
            <a:endParaRPr sz="1000" b="1" dirty="0">
              <a:solidFill>
                <a:schemeClr val="tx1"/>
              </a:solidFill>
              <a:latin typeface="Helvetica" charset="0"/>
            </a:endParaRPr>
          </a:p>
        </p:txBody>
      </p:sp>
      <p:sp>
        <p:nvSpPr>
          <p:cNvPr id="48162" name="Text Box 62"/>
          <p:cNvSpPr txBox="1"/>
          <p:nvPr/>
        </p:nvSpPr>
        <p:spPr>
          <a:xfrm>
            <a:off x="533400" y="6248400"/>
            <a:ext cx="4724400" cy="398463"/>
          </a:xfrm>
          <a:prstGeom prst="rect">
            <a:avLst/>
          </a:prstGeom>
          <a:noFill/>
          <a:ln w="9525">
            <a:noFill/>
          </a:ln>
        </p:spPr>
        <p:txBody>
          <a:bodyPr>
            <a:spAutoFit/>
          </a:bodyPr>
          <a:p>
            <a:pPr marL="342900" indent="-342900">
              <a:spcBef>
                <a:spcPct val="50000"/>
              </a:spcBef>
            </a:pPr>
            <a:r>
              <a:rPr sz="800" baseline="30000" dirty="0">
                <a:solidFill>
                  <a:schemeClr val="tx1"/>
                </a:solidFill>
                <a:latin typeface="Arial" panose="020B0604020202020204" pitchFamily="34" charset="0"/>
              </a:rPr>
              <a:t>(1)</a:t>
            </a:r>
            <a:r>
              <a:rPr sz="800" dirty="0">
                <a:solidFill>
                  <a:schemeClr val="tx1"/>
                </a:solidFill>
                <a:latin typeface="Arial" panose="020B0604020202020204" pitchFamily="34" charset="0"/>
              </a:rPr>
              <a:t> Require storage LUN size greater than 4TB.  </a:t>
            </a:r>
            <a:endParaRPr sz="800" dirty="0">
              <a:solidFill>
                <a:schemeClr val="tx1"/>
              </a:solidFill>
              <a:latin typeface="Arial" panose="020B0604020202020204" pitchFamily="34" charset="0"/>
            </a:endParaRPr>
          </a:p>
          <a:p>
            <a:pPr marL="342900" indent="-342900">
              <a:spcBef>
                <a:spcPct val="50000"/>
              </a:spcBef>
            </a:pPr>
            <a:r>
              <a:rPr sz="800" b="1" dirty="0">
                <a:solidFill>
                  <a:schemeClr val="tx1"/>
                </a:solidFill>
                <a:latin typeface="Arial" panose="020B0604020202020204" pitchFamily="34" charset="0"/>
              </a:rPr>
              <a:t>With the new AMS2100 and 2300, you could have a max of capacity of 4PB.</a:t>
            </a:r>
            <a:endParaRPr sz="800" b="1" dirty="0">
              <a:solidFill>
                <a:schemeClr val="tx1"/>
              </a:solidFill>
              <a:latin typeface="Arial" panose="020B0604020202020204" pitchFamily="34" charset="0"/>
            </a:endParaRPr>
          </a:p>
        </p:txBody>
      </p:sp>
      <p:pic>
        <p:nvPicPr>
          <p:cNvPr id="48163" name="Picture 48"/>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1219200" y="3733800"/>
            <a:ext cx="914400" cy="446088"/>
          </a:xfrm>
          <a:prstGeom prst="rect">
            <a:avLst/>
          </a:prstGeom>
          <a:noFill/>
          <a:ln w="9525">
            <a:noFill/>
          </a:ln>
        </p:spPr>
      </p:pic>
      <p:pic>
        <p:nvPicPr>
          <p:cNvPr id="48164" name="Picture 49"/>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1371600" y="3886200"/>
            <a:ext cx="914400" cy="446088"/>
          </a:xfrm>
          <a:prstGeom prst="rect">
            <a:avLst/>
          </a:prstGeom>
          <a:noFill/>
          <a:ln w="9525">
            <a:noFill/>
          </a:ln>
        </p:spPr>
      </p:pic>
      <p:pic>
        <p:nvPicPr>
          <p:cNvPr id="48165" name="Picture 50"/>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2362200" y="3733800"/>
            <a:ext cx="914400" cy="446088"/>
          </a:xfrm>
          <a:prstGeom prst="rect">
            <a:avLst/>
          </a:prstGeom>
          <a:noFill/>
          <a:ln w="9525">
            <a:noFill/>
          </a:ln>
        </p:spPr>
      </p:pic>
      <p:pic>
        <p:nvPicPr>
          <p:cNvPr id="48166" name="Picture 51"/>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2514600" y="3886200"/>
            <a:ext cx="914400" cy="446088"/>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5095"/>
                                        </p:tgtEl>
                                        <p:attrNameLst>
                                          <p:attrName>style.visibility</p:attrName>
                                        </p:attrNameLst>
                                      </p:cBhvr>
                                      <p:to>
                                        <p:strVal val="visible"/>
                                      </p:to>
                                    </p:set>
                                    <p:animEffect transition="in" filter="blinds(horizontal)">
                                      <p:cBhvr>
                                        <p:cTn id="7" dur="500"/>
                                        <p:tgtEl>
                                          <p:spTgt spid="68509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85091"/>
                                        </p:tgtEl>
                                        <p:attrNameLst>
                                          <p:attrName>style.visibility</p:attrName>
                                        </p:attrNameLst>
                                      </p:cBhvr>
                                      <p:to>
                                        <p:strVal val="visible"/>
                                      </p:to>
                                    </p:set>
                                    <p:animEffect transition="in" filter="blinds(horizontal)">
                                      <p:cBhvr>
                                        <p:cTn id="10" dur="500"/>
                                        <p:tgtEl>
                                          <p:spTgt spid="68509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85088"/>
                                        </p:tgtEl>
                                        <p:attrNameLst>
                                          <p:attrName>style.visibility</p:attrName>
                                        </p:attrNameLst>
                                      </p:cBhvr>
                                      <p:to>
                                        <p:strVal val="visible"/>
                                      </p:to>
                                    </p:set>
                                    <p:animEffect transition="in" filter="blinds(horizontal)">
                                      <p:cBhvr>
                                        <p:cTn id="13" dur="500"/>
                                        <p:tgtEl>
                                          <p:spTgt spid="68508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85089"/>
                                        </p:tgtEl>
                                        <p:attrNameLst>
                                          <p:attrName>style.visibility</p:attrName>
                                        </p:attrNameLst>
                                      </p:cBhvr>
                                      <p:to>
                                        <p:strVal val="visible"/>
                                      </p:to>
                                    </p:set>
                                    <p:animEffect transition="in" filter="blinds(horizontal)">
                                      <p:cBhvr>
                                        <p:cTn id="16" dur="500"/>
                                        <p:tgtEl>
                                          <p:spTgt spid="68508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85090"/>
                                        </p:tgtEl>
                                        <p:attrNameLst>
                                          <p:attrName>style.visibility</p:attrName>
                                        </p:attrNameLst>
                                      </p:cBhvr>
                                      <p:to>
                                        <p:strVal val="visible"/>
                                      </p:to>
                                    </p:set>
                                    <p:animEffect transition="in" filter="blinds(horizontal)">
                                      <p:cBhvr>
                                        <p:cTn id="19" dur="500"/>
                                        <p:tgtEl>
                                          <p:spTgt spid="68509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85093"/>
                                        </p:tgtEl>
                                        <p:attrNameLst>
                                          <p:attrName>style.visibility</p:attrName>
                                        </p:attrNameLst>
                                      </p:cBhvr>
                                      <p:to>
                                        <p:strVal val="visible"/>
                                      </p:to>
                                    </p:set>
                                    <p:animEffect transition="in" filter="blinds(horizontal)">
                                      <p:cBhvr>
                                        <p:cTn id="22" dur="500"/>
                                        <p:tgtEl>
                                          <p:spTgt spid="68509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85092"/>
                                        </p:tgtEl>
                                        <p:attrNameLst>
                                          <p:attrName>style.visibility</p:attrName>
                                        </p:attrNameLst>
                                      </p:cBhvr>
                                      <p:to>
                                        <p:strVal val="visible"/>
                                      </p:to>
                                    </p:set>
                                    <p:animEffect transition="in" filter="blinds(horizontal)">
                                      <p:cBhvr>
                                        <p:cTn id="27" dur="500"/>
                                        <p:tgtEl>
                                          <p:spTgt spid="685092"/>
                                        </p:tgtEl>
                                      </p:cBhvr>
                                    </p:animEffect>
                                  </p:childTnLst>
                                </p:cTn>
                              </p:par>
                              <p:par>
                                <p:cTn id="28" presetID="3" presetClass="exit" presetSubtype="10" fill="hold" grpId="1" nodeType="withEffect">
                                  <p:stCondLst>
                                    <p:cond delay="0"/>
                                  </p:stCondLst>
                                  <p:childTnLst>
                                    <p:animEffect transition="out" filter="blinds(horizontal)">
                                      <p:cBhvr>
                                        <p:cTn id="29" dur="500"/>
                                        <p:tgtEl>
                                          <p:spTgt spid="685095"/>
                                        </p:tgtEl>
                                      </p:cBhvr>
                                    </p:animEffect>
                                    <p:set>
                                      <p:cBhvr>
                                        <p:cTn id="30" dur="1" fill="hold">
                                          <p:stCondLst>
                                            <p:cond delay="499"/>
                                          </p:stCondLst>
                                        </p:cTn>
                                        <p:tgtEl>
                                          <p:spTgt spid="685095"/>
                                        </p:tgtEl>
                                        <p:attrNameLst>
                                          <p:attrName>style.visibility</p:attrName>
                                        </p:attrNameLst>
                                      </p:cBhvr>
                                      <p:to>
                                        <p:strVal val="hidden"/>
                                      </p:to>
                                    </p:set>
                                  </p:childTnLst>
                                </p:cTn>
                              </p:par>
                              <p:par>
                                <p:cTn id="31" presetID="3" presetClass="entr" presetSubtype="10" fill="hold" grpId="0" nodeType="withEffect">
                                  <p:stCondLst>
                                    <p:cond delay="0"/>
                                  </p:stCondLst>
                                  <p:childTnLst>
                                    <p:set>
                                      <p:cBhvr>
                                        <p:cTn id="32" dur="1" fill="hold">
                                          <p:stCondLst>
                                            <p:cond delay="0"/>
                                          </p:stCondLst>
                                        </p:cTn>
                                        <p:tgtEl>
                                          <p:spTgt spid="685096"/>
                                        </p:tgtEl>
                                        <p:attrNameLst>
                                          <p:attrName>style.visibility</p:attrName>
                                        </p:attrNameLst>
                                      </p:cBhvr>
                                      <p:to>
                                        <p:strVal val="visible"/>
                                      </p:to>
                                    </p:set>
                                    <p:animEffect transition="in" filter="blinds(horizontal)">
                                      <p:cBhvr>
                                        <p:cTn id="33" dur="500"/>
                                        <p:tgtEl>
                                          <p:spTgt spid="68509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85094"/>
                                        </p:tgtEl>
                                        <p:attrNameLst>
                                          <p:attrName>style.visibility</p:attrName>
                                        </p:attrNameLst>
                                      </p:cBhvr>
                                      <p:to>
                                        <p:strVal val="visible"/>
                                      </p:to>
                                    </p:set>
                                    <p:animEffect transition="in" filter="blinds(horizontal)">
                                      <p:cBhvr>
                                        <p:cTn id="38" dur="500"/>
                                        <p:tgtEl>
                                          <p:spTgt spid="685094"/>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685060"/>
                                        </p:tgtEl>
                                        <p:attrNameLst>
                                          <p:attrName>style.visibility</p:attrName>
                                        </p:attrNameLst>
                                      </p:cBhvr>
                                      <p:to>
                                        <p:strVal val="visible"/>
                                      </p:to>
                                    </p:set>
                                    <p:animEffect transition="in" filter="blinds(horizontal)">
                                      <p:cBhvr>
                                        <p:cTn id="41" dur="500"/>
                                        <p:tgtEl>
                                          <p:spTgt spid="685060"/>
                                        </p:tgtEl>
                                      </p:cBhvr>
                                    </p:animEffect>
                                  </p:childTnLst>
                                </p:cTn>
                              </p:par>
                              <p:par>
                                <p:cTn id="42" presetID="3" presetClass="exit" presetSubtype="10" fill="hold" grpId="1" nodeType="withEffect">
                                  <p:stCondLst>
                                    <p:cond delay="0"/>
                                  </p:stCondLst>
                                  <p:childTnLst>
                                    <p:animEffect transition="out" filter="blinds(horizontal)">
                                      <p:cBhvr>
                                        <p:cTn id="43" dur="500"/>
                                        <p:tgtEl>
                                          <p:spTgt spid="685089"/>
                                        </p:tgtEl>
                                      </p:cBhvr>
                                    </p:animEffect>
                                    <p:set>
                                      <p:cBhvr>
                                        <p:cTn id="44" dur="1" fill="hold">
                                          <p:stCondLst>
                                            <p:cond delay="499"/>
                                          </p:stCondLst>
                                        </p:cTn>
                                        <p:tgtEl>
                                          <p:spTgt spid="685089"/>
                                        </p:tgtEl>
                                        <p:attrNameLst>
                                          <p:attrName>style.visibility</p:attrName>
                                        </p:attrNameLst>
                                      </p:cBhvr>
                                      <p:to>
                                        <p:strVal val="hidden"/>
                                      </p:to>
                                    </p:set>
                                  </p:childTnLst>
                                </p:cTn>
                              </p:par>
                              <p:par>
                                <p:cTn id="45" presetID="8" presetClass="emph" presetSubtype="0" fill="hold" grpId="1" nodeType="withEffect">
                                  <p:stCondLst>
                                    <p:cond delay="0"/>
                                  </p:stCondLst>
                                  <p:childTnLst>
                                    <p:animRot by="21600000">
                                      <p:cBhvr>
                                        <p:cTn id="46" dur="2000" fill="hold"/>
                                        <p:tgtEl>
                                          <p:spTgt spid="685088"/>
                                        </p:tgtEl>
                                        <p:attrNameLst>
                                          <p:attrName>r</p:attrName>
                                        </p:attrNameLst>
                                      </p:cBhvr>
                                    </p:animRot>
                                  </p:childTnLst>
                                </p:cTn>
                              </p:par>
                              <p:par>
                                <p:cTn id="47" presetID="3" presetClass="exit" presetSubtype="10" fill="hold" grpId="1" nodeType="withEffect">
                                  <p:stCondLst>
                                    <p:cond delay="0"/>
                                  </p:stCondLst>
                                  <p:childTnLst>
                                    <p:animEffect transition="out" filter="blinds(horizontal)">
                                      <p:cBhvr>
                                        <p:cTn id="48" dur="500"/>
                                        <p:tgtEl>
                                          <p:spTgt spid="685096"/>
                                        </p:tgtEl>
                                      </p:cBhvr>
                                    </p:animEffect>
                                    <p:set>
                                      <p:cBhvr>
                                        <p:cTn id="49" dur="1" fill="hold">
                                          <p:stCondLst>
                                            <p:cond delay="499"/>
                                          </p:stCondLst>
                                        </p:cTn>
                                        <p:tgtEl>
                                          <p:spTgt spid="685096"/>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 presetClass="exit" presetSubtype="4" fill="hold" grpId="2" nodeType="clickEffect">
                                  <p:stCondLst>
                                    <p:cond delay="0"/>
                                  </p:stCondLst>
                                  <p:childTnLst>
                                    <p:anim calcmode="lin" valueType="num">
                                      <p:cBhvr additive="base">
                                        <p:cTn id="53" dur="500"/>
                                        <p:tgtEl>
                                          <p:spTgt spid="685088"/>
                                        </p:tgtEl>
                                        <p:attrNameLst>
                                          <p:attrName>ppt_x</p:attrName>
                                        </p:attrNameLst>
                                      </p:cBhvr>
                                      <p:tavLst>
                                        <p:tav tm="0">
                                          <p:val>
                                            <p:strVal val="ppt_x"/>
                                          </p:val>
                                        </p:tav>
                                        <p:tav tm="100000">
                                          <p:val>
                                            <p:strVal val="ppt_x"/>
                                          </p:val>
                                        </p:tav>
                                      </p:tavLst>
                                    </p:anim>
                                    <p:anim calcmode="lin" valueType="num">
                                      <p:cBhvr additive="base">
                                        <p:cTn id="54" dur="500"/>
                                        <p:tgtEl>
                                          <p:spTgt spid="685088"/>
                                        </p:tgtEl>
                                        <p:attrNameLst>
                                          <p:attrName>ppt_y</p:attrName>
                                        </p:attrNameLst>
                                      </p:cBhvr>
                                      <p:tavLst>
                                        <p:tav tm="0">
                                          <p:val>
                                            <p:strVal val="ppt_y"/>
                                          </p:val>
                                        </p:tav>
                                        <p:tav tm="100000">
                                          <p:val>
                                            <p:strVal val="1+ppt_h/2"/>
                                          </p:val>
                                        </p:tav>
                                      </p:tavLst>
                                    </p:anim>
                                    <p:set>
                                      <p:cBhvr>
                                        <p:cTn id="55" dur="1" fill="hold">
                                          <p:stCondLst>
                                            <p:cond delay="499"/>
                                          </p:stCondLst>
                                        </p:cTn>
                                        <p:tgtEl>
                                          <p:spTgt spid="685088"/>
                                        </p:tgtEl>
                                        <p:attrNameLst>
                                          <p:attrName>style.visibility</p:attrName>
                                        </p:attrNameLst>
                                      </p:cBhvr>
                                      <p:to>
                                        <p:strVal val="hidden"/>
                                      </p:to>
                                    </p:set>
                                  </p:childTnLst>
                                </p:cTn>
                              </p:par>
                              <p:par>
                                <p:cTn id="56" presetID="4" presetClass="entr" presetSubtype="16" fill="hold" grpId="1" nodeType="withEffect">
                                  <p:stCondLst>
                                    <p:cond delay="0"/>
                                  </p:stCondLst>
                                  <p:childTnLst>
                                    <p:set>
                                      <p:cBhvr>
                                        <p:cTn id="57" dur="1" fill="hold">
                                          <p:stCondLst>
                                            <p:cond delay="0"/>
                                          </p:stCondLst>
                                        </p:cTn>
                                        <p:tgtEl>
                                          <p:spTgt spid="685101"/>
                                        </p:tgtEl>
                                        <p:attrNameLst>
                                          <p:attrName>style.visibility</p:attrName>
                                        </p:attrNameLst>
                                      </p:cBhvr>
                                      <p:to>
                                        <p:strVal val="visible"/>
                                      </p:to>
                                    </p:set>
                                    <p:animEffect transition="in" filter="box(in)">
                                      <p:cBhvr>
                                        <p:cTn id="58" dur="500"/>
                                        <p:tgtEl>
                                          <p:spTgt spid="685101"/>
                                        </p:tgtEl>
                                      </p:cBhvr>
                                    </p:animEffect>
                                  </p:childTnLst>
                                </p:cTn>
                              </p:par>
                              <p:par>
                                <p:cTn id="59" presetID="6" presetClass="emph" presetSubtype="0" repeatCount="2000" fill="hold" grpId="0" nodeType="withEffect">
                                  <p:stCondLst>
                                    <p:cond delay="0"/>
                                  </p:stCondLst>
                                  <p:childTnLst>
                                    <p:animScale>
                                      <p:cBhvr>
                                        <p:cTn id="60" dur="2000" fill="hold"/>
                                        <p:tgtEl>
                                          <p:spTgt spid="685101"/>
                                        </p:tgtEl>
                                      </p:cBhvr>
                                      <p:by x="150000" y="150000"/>
                                    </p:animScale>
                                  </p:childTnLst>
                                </p:cTn>
                              </p:par>
                            </p:childTnLst>
                          </p:cTn>
                        </p:par>
                        <p:par>
                          <p:cTn id="61" fill="hold">
                            <p:stCondLst>
                              <p:cond delay="500"/>
                            </p:stCondLst>
                            <p:childTnLst>
                              <p:par>
                                <p:cTn id="62" presetID="3" presetClass="exit" presetSubtype="10" fill="hold" grpId="2" nodeType="afterEffect">
                                  <p:stCondLst>
                                    <p:cond delay="0"/>
                                  </p:stCondLst>
                                  <p:childTnLst>
                                    <p:animEffect transition="out" filter="blinds(horizontal)">
                                      <p:cBhvr>
                                        <p:cTn id="63" dur="500"/>
                                        <p:tgtEl>
                                          <p:spTgt spid="685101"/>
                                        </p:tgtEl>
                                      </p:cBhvr>
                                    </p:animEffect>
                                    <p:set>
                                      <p:cBhvr>
                                        <p:cTn id="64" dur="1" fill="hold">
                                          <p:stCondLst>
                                            <p:cond delay="499"/>
                                          </p:stCondLst>
                                        </p:cTn>
                                        <p:tgtEl>
                                          <p:spTgt spid="685101"/>
                                        </p:tgtEl>
                                        <p:attrNameLst>
                                          <p:attrName>style.visibility</p:attrName>
                                        </p:attrNameLst>
                                      </p:cBhvr>
                                      <p:to>
                                        <p:strVal val="hidden"/>
                                      </p:to>
                                    </p:set>
                                  </p:childTnLst>
                                </p:cTn>
                              </p:par>
                              <p:par>
                                <p:cTn id="65" presetID="4" presetClass="entr" presetSubtype="16" fill="hold" grpId="0" nodeType="withEffect">
                                  <p:stCondLst>
                                    <p:cond delay="500"/>
                                  </p:stCondLst>
                                  <p:childTnLst>
                                    <p:set>
                                      <p:cBhvr>
                                        <p:cTn id="66" dur="1" fill="hold">
                                          <p:stCondLst>
                                            <p:cond delay="0"/>
                                          </p:stCondLst>
                                        </p:cTn>
                                        <p:tgtEl>
                                          <p:spTgt spid="685100"/>
                                        </p:tgtEl>
                                        <p:attrNameLst>
                                          <p:attrName>style.visibility</p:attrName>
                                        </p:attrNameLst>
                                      </p:cBhvr>
                                      <p:to>
                                        <p:strVal val="visible"/>
                                      </p:to>
                                    </p:set>
                                    <p:animEffect transition="in" filter="box(in)">
                                      <p:cBhvr>
                                        <p:cTn id="67" dur="500"/>
                                        <p:tgtEl>
                                          <p:spTgt spid="685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60" grpId="0" animBg="1"/>
      <p:bldP spid="685088" grpId="0" animBg="1"/>
      <p:bldP spid="685088" grpId="1" animBg="1"/>
      <p:bldP spid="685088" grpId="2" animBg="1"/>
      <p:bldP spid="685089" grpId="0"/>
      <p:bldP spid="685089" grpId="1"/>
      <p:bldP spid="685090" grpId="0"/>
      <p:bldP spid="685091" grpId="0"/>
      <p:bldP spid="685092" grpId="0" animBg="1"/>
      <p:bldP spid="685093" grpId="0" animBg="1"/>
      <p:bldP spid="685094" grpId="0"/>
      <p:bldP spid="685095" grpId="0" animBg="1"/>
      <p:bldP spid="685095" grpId="1" animBg="1"/>
      <p:bldP spid="685096" grpId="0"/>
      <p:bldP spid="685096" grpId="1"/>
      <p:bldP spid="685100" grpId="0"/>
      <p:bldP spid="685101" grpId="0" animBg="1"/>
      <p:bldP spid="685101" grpId="1" animBg="1"/>
      <p:bldP spid="685101" grpId="2"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p:nvPr/>
        </p:nvSpPr>
        <p:spPr>
          <a:xfrm>
            <a:off x="300038" y="1298575"/>
            <a:ext cx="4043362" cy="4873625"/>
          </a:xfrm>
          <a:prstGeom prst="rect">
            <a:avLst/>
          </a:prstGeom>
          <a:solidFill>
            <a:schemeClr val="bg1"/>
          </a:solidFill>
          <a:ln w="28575" cap="flat" cmpd="sng">
            <a:solidFill>
              <a:srgbClr val="99CC00"/>
            </a:solidFill>
            <a:prstDash val="solid"/>
            <a:miter/>
            <a:headEnd type="none" w="med" len="med"/>
            <a:tailEnd type="none" w="med" len="med"/>
          </a:ln>
        </p:spPr>
        <p:txBody>
          <a:bodyPr wrap="none" anchor="ctr" anchorCtr="0"/>
          <a:p>
            <a:endParaRPr dirty="0">
              <a:solidFill>
                <a:schemeClr val="tx1"/>
              </a:solidFill>
              <a:latin typeface="Helvetica" charset="0"/>
            </a:endParaRPr>
          </a:p>
        </p:txBody>
      </p:sp>
      <p:sp>
        <p:nvSpPr>
          <p:cNvPr id="50178" name="Rectangle 3"/>
          <p:cNvSpPr>
            <a:spLocks noGrp="1"/>
          </p:cNvSpPr>
          <p:nvPr>
            <p:ph type="title"/>
          </p:nvPr>
        </p:nvSpPr>
        <p:spPr>
          <a:xfrm>
            <a:off x="228600" y="257175"/>
            <a:ext cx="6762750" cy="328613"/>
          </a:xfrm>
          <a:ln/>
        </p:spPr>
        <p:txBody>
          <a:bodyPr vert="horz" wrap="square" lIns="91440" tIns="0" rIns="91440" bIns="0" anchor="ctr" anchorCtr="0">
            <a:spAutoFit/>
          </a:bodyPr>
          <a:p>
            <a:pPr eaLnBrk="1" hangingPunct="1"/>
            <a:r>
              <a:rPr dirty="0">
                <a:solidFill>
                  <a:schemeClr val="tx1"/>
                </a:solidFill>
              </a:rPr>
              <a:t>Cluster Name Space</a:t>
            </a:r>
            <a:endParaRPr dirty="0">
              <a:solidFill>
                <a:schemeClr val="tx1"/>
              </a:solidFill>
            </a:endParaRPr>
          </a:p>
        </p:txBody>
      </p:sp>
      <p:grpSp>
        <p:nvGrpSpPr>
          <p:cNvPr id="50179" name="Group 1028"/>
          <p:cNvGrpSpPr/>
          <p:nvPr/>
        </p:nvGrpSpPr>
        <p:grpSpPr>
          <a:xfrm>
            <a:off x="1095375" y="1544638"/>
            <a:ext cx="957263" cy="1249362"/>
            <a:chOff x="690" y="1146"/>
            <a:chExt cx="603" cy="787"/>
          </a:xfrm>
        </p:grpSpPr>
        <p:pic>
          <p:nvPicPr>
            <p:cNvPr id="50227" name="Picture 5" descr="IT-Technician"/>
            <p:cNvPicPr>
              <a:picLocks noChangeAspect="1"/>
            </p:cNvPicPr>
            <p:nvPr/>
          </p:nvPicPr>
          <p:blipFill>
            <a:blip r:embed="rId1"/>
            <a:stretch>
              <a:fillRect/>
            </a:stretch>
          </p:blipFill>
          <p:spPr>
            <a:xfrm>
              <a:off x="690" y="1146"/>
              <a:ext cx="471" cy="653"/>
            </a:xfrm>
            <a:prstGeom prst="rect">
              <a:avLst/>
            </a:prstGeom>
            <a:noFill/>
            <a:ln w="9525">
              <a:noFill/>
            </a:ln>
          </p:spPr>
        </p:pic>
        <p:pic>
          <p:nvPicPr>
            <p:cNvPr id="50228" name="Picture 6" descr="IT-Technician"/>
            <p:cNvPicPr>
              <a:picLocks noChangeAspect="1"/>
            </p:cNvPicPr>
            <p:nvPr/>
          </p:nvPicPr>
          <p:blipFill>
            <a:blip r:embed="rId1"/>
            <a:stretch>
              <a:fillRect/>
            </a:stretch>
          </p:blipFill>
          <p:spPr>
            <a:xfrm>
              <a:off x="756" y="1213"/>
              <a:ext cx="471" cy="653"/>
            </a:xfrm>
            <a:prstGeom prst="rect">
              <a:avLst/>
            </a:prstGeom>
            <a:noFill/>
            <a:ln w="9525">
              <a:noFill/>
            </a:ln>
          </p:spPr>
        </p:pic>
        <p:pic>
          <p:nvPicPr>
            <p:cNvPr id="50229" name="Picture 7" descr="IT-Technician"/>
            <p:cNvPicPr>
              <a:picLocks noChangeAspect="1"/>
            </p:cNvPicPr>
            <p:nvPr/>
          </p:nvPicPr>
          <p:blipFill>
            <a:blip r:embed="rId1"/>
            <a:stretch>
              <a:fillRect/>
            </a:stretch>
          </p:blipFill>
          <p:spPr>
            <a:xfrm>
              <a:off x="822" y="1280"/>
              <a:ext cx="471" cy="653"/>
            </a:xfrm>
            <a:prstGeom prst="rect">
              <a:avLst/>
            </a:prstGeom>
            <a:noFill/>
            <a:ln w="9525">
              <a:noFill/>
            </a:ln>
          </p:spPr>
        </p:pic>
      </p:grpSp>
      <p:sp>
        <p:nvSpPr>
          <p:cNvPr id="50180" name="Text Box 8"/>
          <p:cNvSpPr txBox="1"/>
          <p:nvPr/>
        </p:nvSpPr>
        <p:spPr>
          <a:xfrm>
            <a:off x="1270000" y="2755900"/>
            <a:ext cx="1930400" cy="304800"/>
          </a:xfrm>
          <a:prstGeom prst="rect">
            <a:avLst/>
          </a:prstGeom>
          <a:noFill/>
          <a:ln w="9525">
            <a:noFill/>
          </a:ln>
        </p:spPr>
        <p:txBody>
          <a:bodyPr wrap="none">
            <a:spAutoFit/>
          </a:bodyPr>
          <a:p>
            <a:r>
              <a:rPr sz="1400" dirty="0">
                <a:solidFill>
                  <a:schemeClr val="tx1"/>
                </a:solidFill>
                <a:latin typeface="Helvetica" charset="0"/>
              </a:rPr>
              <a:t>CIFS and NFS Clients</a:t>
            </a:r>
            <a:endParaRPr sz="1400" dirty="0">
              <a:solidFill>
                <a:schemeClr val="tx1"/>
              </a:solidFill>
              <a:latin typeface="Helvetica" charset="0"/>
            </a:endParaRPr>
          </a:p>
        </p:txBody>
      </p:sp>
      <p:sp>
        <p:nvSpPr>
          <p:cNvPr id="50181" name="AutoShape 9"/>
          <p:cNvSpPr>
            <a:spLocks noChangeAspect="1"/>
          </p:cNvSpPr>
          <p:nvPr/>
        </p:nvSpPr>
        <p:spPr>
          <a:xfrm>
            <a:off x="457200" y="4676775"/>
            <a:ext cx="533400" cy="504825"/>
          </a:xfrm>
          <a:prstGeom prst="can">
            <a:avLst>
              <a:gd name="adj" fmla="val 10194"/>
            </a:avLst>
          </a:prstGeom>
          <a:solidFill>
            <a:srgbClr val="99CCFF"/>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50182" name="Rectangle 10"/>
          <p:cNvSpPr/>
          <p:nvPr/>
        </p:nvSpPr>
        <p:spPr>
          <a:xfrm>
            <a:off x="388938" y="4783138"/>
            <a:ext cx="606425" cy="274637"/>
          </a:xfrm>
          <a:prstGeom prst="rect">
            <a:avLst/>
          </a:prstGeom>
          <a:noFill/>
          <a:ln w="9525">
            <a:noFill/>
          </a:ln>
        </p:spPr>
        <p:txBody>
          <a:bodyPr wrap="none">
            <a:spAutoFit/>
          </a:bodyPr>
          <a:p>
            <a:pPr algn="ctr"/>
            <a:r>
              <a:rPr sz="1200" b="1" dirty="0">
                <a:solidFill>
                  <a:schemeClr val="tx1"/>
                </a:solidFill>
                <a:latin typeface="Helvetica" charset="0"/>
              </a:rPr>
              <a:t>/sales</a:t>
            </a:r>
            <a:endParaRPr sz="1200" b="1" dirty="0">
              <a:solidFill>
                <a:schemeClr val="tx1"/>
              </a:solidFill>
              <a:latin typeface="Helvetica" charset="0"/>
            </a:endParaRPr>
          </a:p>
        </p:txBody>
      </p:sp>
      <p:sp>
        <p:nvSpPr>
          <p:cNvPr id="50183" name="Line 11"/>
          <p:cNvSpPr/>
          <p:nvPr/>
        </p:nvSpPr>
        <p:spPr>
          <a:xfrm>
            <a:off x="685800" y="4495800"/>
            <a:ext cx="0" cy="180975"/>
          </a:xfrm>
          <a:prstGeom prst="line">
            <a:avLst/>
          </a:prstGeom>
          <a:ln w="28575" cap="flat" cmpd="sng">
            <a:solidFill>
              <a:schemeClr val="folHlink"/>
            </a:solidFill>
            <a:prstDash val="solid"/>
            <a:headEnd type="none" w="med" len="med"/>
            <a:tailEnd type="triangle" w="med" len="med"/>
          </a:ln>
        </p:spPr>
      </p:sp>
      <p:sp>
        <p:nvSpPr>
          <p:cNvPr id="50184" name="Line 12"/>
          <p:cNvSpPr/>
          <p:nvPr/>
        </p:nvSpPr>
        <p:spPr>
          <a:xfrm flipH="1" flipV="1">
            <a:off x="1600200" y="3505200"/>
            <a:ext cx="685800" cy="0"/>
          </a:xfrm>
          <a:prstGeom prst="line">
            <a:avLst/>
          </a:prstGeom>
          <a:ln w="9525" cap="flat" cmpd="sng">
            <a:solidFill>
              <a:schemeClr val="tx1"/>
            </a:solidFill>
            <a:prstDash val="solid"/>
            <a:headEnd type="none" w="med" len="med"/>
            <a:tailEnd type="triangle" w="med" len="med"/>
          </a:ln>
        </p:spPr>
      </p:sp>
      <p:sp>
        <p:nvSpPr>
          <p:cNvPr id="50185" name="Line 13"/>
          <p:cNvSpPr/>
          <p:nvPr/>
        </p:nvSpPr>
        <p:spPr>
          <a:xfrm>
            <a:off x="2286000" y="3505200"/>
            <a:ext cx="762000" cy="0"/>
          </a:xfrm>
          <a:prstGeom prst="line">
            <a:avLst/>
          </a:prstGeom>
          <a:ln w="9525" cap="flat" cmpd="sng">
            <a:solidFill>
              <a:schemeClr val="tx1"/>
            </a:solidFill>
            <a:prstDash val="solid"/>
            <a:headEnd type="none" w="med" len="med"/>
            <a:tailEnd type="triangle" w="med" len="med"/>
          </a:ln>
        </p:spPr>
      </p:sp>
      <p:sp>
        <p:nvSpPr>
          <p:cNvPr id="50186" name="Line 14"/>
          <p:cNvSpPr/>
          <p:nvPr/>
        </p:nvSpPr>
        <p:spPr>
          <a:xfrm flipH="1" flipV="1">
            <a:off x="2286000" y="3048000"/>
            <a:ext cx="0" cy="1371600"/>
          </a:xfrm>
          <a:prstGeom prst="line">
            <a:avLst/>
          </a:prstGeom>
          <a:ln w="28575" cap="flat" cmpd="sng">
            <a:solidFill>
              <a:schemeClr val="tx1"/>
            </a:solidFill>
            <a:prstDash val="solid"/>
            <a:headEnd type="none" w="med" len="med"/>
            <a:tailEnd type="none" w="med" len="med"/>
          </a:ln>
        </p:spPr>
      </p:sp>
      <p:sp>
        <p:nvSpPr>
          <p:cNvPr id="50187" name="Rectangle 15"/>
          <p:cNvSpPr/>
          <p:nvPr/>
        </p:nvSpPr>
        <p:spPr>
          <a:xfrm>
            <a:off x="534988" y="1408113"/>
            <a:ext cx="3579812" cy="1639887"/>
          </a:xfrm>
          <a:prstGeom prst="rect">
            <a:avLst/>
          </a:prstGeom>
          <a:noFill/>
          <a:ln w="9525" cap="flat" cmpd="sng">
            <a:solidFill>
              <a:schemeClr val="fo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0188" name="Rectangle 16"/>
          <p:cNvSpPr>
            <a:spLocks noGrp="1"/>
          </p:cNvSpPr>
          <p:nvPr>
            <p:ph idx="1"/>
          </p:nvPr>
        </p:nvSpPr>
        <p:spPr>
          <a:xfrm>
            <a:off x="4495800" y="1219200"/>
            <a:ext cx="4441825" cy="4525963"/>
          </a:xfrm>
          <a:ln/>
        </p:spPr>
        <p:txBody>
          <a:bodyPr vert="horz" wrap="square" lIns="91440" tIns="45720" rIns="91440" bIns="45720" anchor="t" anchorCtr="0"/>
          <a:p>
            <a:pPr eaLnBrk="1" hangingPunct="1">
              <a:tabLst>
                <a:tab pos="1371600" algn="l"/>
              </a:tabLst>
            </a:pPr>
            <a:r>
              <a:rPr sz="1800" dirty="0">
                <a:solidFill>
                  <a:schemeClr val="tx1"/>
                </a:solidFill>
              </a:rPr>
              <a:t>Features:</a:t>
            </a:r>
            <a:endParaRPr sz="1800" dirty="0">
              <a:solidFill>
                <a:schemeClr val="tx1"/>
              </a:solidFill>
            </a:endParaRPr>
          </a:p>
          <a:p>
            <a:pPr lvl="1" eaLnBrk="1" hangingPunct="1">
              <a:tabLst>
                <a:tab pos="1371600" algn="l"/>
              </a:tabLst>
            </a:pPr>
            <a:r>
              <a:rPr sz="1600" dirty="0">
                <a:solidFill>
                  <a:schemeClr val="tx1"/>
                </a:solidFill>
              </a:rPr>
              <a:t>Cluster name space</a:t>
            </a:r>
            <a:endParaRPr sz="1600" dirty="0">
              <a:solidFill>
                <a:schemeClr val="tx1"/>
              </a:solidFill>
            </a:endParaRPr>
          </a:p>
          <a:p>
            <a:pPr lvl="1" eaLnBrk="1" hangingPunct="1">
              <a:tabLst>
                <a:tab pos="1371600" algn="l"/>
              </a:tabLst>
            </a:pPr>
            <a:r>
              <a:rPr sz="1600" dirty="0">
                <a:solidFill>
                  <a:schemeClr val="tx1"/>
                </a:solidFill>
              </a:rPr>
              <a:t>Spans across NFS and CIFS so multiple volumes act as a single name space</a:t>
            </a:r>
            <a:endParaRPr sz="1600" dirty="0">
              <a:solidFill>
                <a:schemeClr val="tx1"/>
              </a:solidFill>
            </a:endParaRPr>
          </a:p>
          <a:p>
            <a:pPr lvl="1" eaLnBrk="1" hangingPunct="1">
              <a:tabLst>
                <a:tab pos="1371600" algn="l"/>
              </a:tabLst>
            </a:pPr>
            <a:r>
              <a:rPr sz="1600" dirty="0">
                <a:solidFill>
                  <a:schemeClr val="tx1"/>
                </a:solidFill>
              </a:rPr>
              <a:t>Dual 10 GigE Cluster Interconnect</a:t>
            </a:r>
            <a:endParaRPr sz="1600" dirty="0">
              <a:solidFill>
                <a:schemeClr val="tx1"/>
              </a:solidFill>
            </a:endParaRPr>
          </a:p>
          <a:p>
            <a:pPr lvl="1" eaLnBrk="1" hangingPunct="1">
              <a:tabLst>
                <a:tab pos="1371600" algn="l"/>
              </a:tabLst>
            </a:pPr>
            <a:r>
              <a:rPr sz="1600" dirty="0">
                <a:solidFill>
                  <a:schemeClr val="tx1"/>
                </a:solidFill>
              </a:rPr>
              <a:t>Request Redirection in hardware</a:t>
            </a:r>
            <a:endParaRPr sz="1600" dirty="0">
              <a:solidFill>
                <a:schemeClr val="tx1"/>
              </a:solidFill>
            </a:endParaRPr>
          </a:p>
          <a:p>
            <a:pPr lvl="1" eaLnBrk="1" hangingPunct="1">
              <a:tabLst>
                <a:tab pos="1371600" algn="l"/>
              </a:tabLst>
            </a:pPr>
            <a:r>
              <a:rPr sz="1600" dirty="0">
                <a:solidFill>
                  <a:schemeClr val="tx1"/>
                </a:solidFill>
              </a:rPr>
              <a:t>Multi-node Read Caching</a:t>
            </a:r>
            <a:endParaRPr sz="1600" dirty="0">
              <a:solidFill>
                <a:schemeClr val="tx1"/>
              </a:solidFill>
            </a:endParaRPr>
          </a:p>
          <a:p>
            <a:pPr eaLnBrk="1" hangingPunct="1">
              <a:tabLst>
                <a:tab pos="1371600" algn="l"/>
              </a:tabLst>
            </a:pPr>
            <a:r>
              <a:rPr sz="1800" dirty="0">
                <a:solidFill>
                  <a:schemeClr val="tx1"/>
                </a:solidFill>
              </a:rPr>
              <a:t>Benefits:</a:t>
            </a:r>
            <a:endParaRPr sz="1800" dirty="0">
              <a:solidFill>
                <a:schemeClr val="tx1"/>
              </a:solidFill>
            </a:endParaRPr>
          </a:p>
          <a:p>
            <a:pPr lvl="1" eaLnBrk="1" hangingPunct="1">
              <a:tabLst>
                <a:tab pos="1371600" algn="l"/>
              </a:tabLst>
            </a:pPr>
            <a:r>
              <a:rPr sz="1600" dirty="0">
                <a:solidFill>
                  <a:schemeClr val="tx1"/>
                </a:solidFill>
              </a:rPr>
              <a:t>Single mount point and file system  for simplified user administration</a:t>
            </a:r>
            <a:endParaRPr sz="1600" dirty="0">
              <a:solidFill>
                <a:schemeClr val="tx1"/>
              </a:solidFill>
            </a:endParaRPr>
          </a:p>
          <a:p>
            <a:pPr lvl="2" eaLnBrk="1" hangingPunct="1">
              <a:tabLst>
                <a:tab pos="1371600" algn="l"/>
              </a:tabLst>
            </a:pPr>
            <a:r>
              <a:rPr sz="1600" dirty="0">
                <a:solidFill>
                  <a:schemeClr val="tx1"/>
                </a:solidFill>
              </a:rPr>
              <a:t>Universal Access</a:t>
            </a:r>
            <a:endParaRPr sz="1600" dirty="0">
              <a:solidFill>
                <a:schemeClr val="tx1"/>
              </a:solidFill>
            </a:endParaRPr>
          </a:p>
          <a:p>
            <a:pPr lvl="2" eaLnBrk="1" hangingPunct="1">
              <a:tabLst>
                <a:tab pos="1371600" algn="l"/>
              </a:tabLst>
            </a:pPr>
            <a:r>
              <a:rPr sz="1600" dirty="0">
                <a:solidFill>
                  <a:schemeClr val="tx1"/>
                </a:solidFill>
              </a:rPr>
              <a:t>Unified Directory Structure</a:t>
            </a:r>
            <a:endParaRPr sz="1600" dirty="0">
              <a:solidFill>
                <a:schemeClr val="tx1"/>
              </a:solidFill>
            </a:endParaRPr>
          </a:p>
          <a:p>
            <a:pPr lvl="1" eaLnBrk="1" hangingPunct="1">
              <a:tabLst>
                <a:tab pos="1371600" algn="l"/>
              </a:tabLst>
            </a:pPr>
            <a:r>
              <a:rPr sz="1600" dirty="0">
                <a:solidFill>
                  <a:schemeClr val="tx1"/>
                </a:solidFill>
              </a:rPr>
              <a:t>Load balancing</a:t>
            </a:r>
            <a:endParaRPr sz="1600" dirty="0">
              <a:solidFill>
                <a:schemeClr val="tx1"/>
              </a:solidFill>
            </a:endParaRPr>
          </a:p>
          <a:p>
            <a:pPr lvl="2" eaLnBrk="1" hangingPunct="1">
              <a:tabLst>
                <a:tab pos="1371600" algn="l"/>
              </a:tabLst>
            </a:pPr>
            <a:r>
              <a:rPr sz="1600" dirty="0">
                <a:solidFill>
                  <a:schemeClr val="tx1"/>
                </a:solidFill>
              </a:rPr>
              <a:t>Front-end load balancing for clients</a:t>
            </a:r>
            <a:endParaRPr sz="1600" dirty="0">
              <a:solidFill>
                <a:schemeClr val="tx1"/>
              </a:solidFill>
            </a:endParaRPr>
          </a:p>
          <a:p>
            <a:pPr lvl="2" eaLnBrk="1" hangingPunct="1">
              <a:tabLst>
                <a:tab pos="1371600" algn="l"/>
              </a:tabLst>
            </a:pPr>
            <a:r>
              <a:rPr sz="1600" dirty="0">
                <a:solidFill>
                  <a:schemeClr val="tx1"/>
                </a:solidFill>
              </a:rPr>
              <a:t>Back-end load balancing utilizing high speed cluster interconnect</a:t>
            </a:r>
            <a:endParaRPr sz="1600" dirty="0">
              <a:solidFill>
                <a:schemeClr val="tx1"/>
              </a:solidFill>
            </a:endParaRPr>
          </a:p>
        </p:txBody>
      </p:sp>
      <p:pic>
        <p:nvPicPr>
          <p:cNvPr id="50189" name="Picture 17" descr="folder"/>
          <p:cNvPicPr>
            <a:picLocks noChangeAspect="1"/>
          </p:cNvPicPr>
          <p:nvPr/>
        </p:nvPicPr>
        <p:blipFill>
          <a:blip r:embed="rId2"/>
          <a:stretch>
            <a:fillRect/>
          </a:stretch>
        </p:blipFill>
        <p:spPr>
          <a:xfrm>
            <a:off x="2170113" y="1676400"/>
            <a:ext cx="344487" cy="360363"/>
          </a:xfrm>
          <a:prstGeom prst="rect">
            <a:avLst/>
          </a:prstGeom>
          <a:noFill/>
          <a:ln w="9525">
            <a:noFill/>
          </a:ln>
        </p:spPr>
      </p:pic>
      <p:sp>
        <p:nvSpPr>
          <p:cNvPr id="50190" name="Text Box 18"/>
          <p:cNvSpPr txBox="1"/>
          <p:nvPr/>
        </p:nvSpPr>
        <p:spPr>
          <a:xfrm>
            <a:off x="2474913" y="1714500"/>
            <a:ext cx="941387" cy="304800"/>
          </a:xfrm>
          <a:prstGeom prst="rect">
            <a:avLst/>
          </a:prstGeom>
          <a:noFill/>
          <a:ln w="9525">
            <a:noFill/>
          </a:ln>
        </p:spPr>
        <p:txBody>
          <a:bodyPr wrap="none">
            <a:spAutoFit/>
          </a:bodyPr>
          <a:p>
            <a:pPr marL="342900" indent="-342900">
              <a:spcBef>
                <a:spcPct val="20000"/>
              </a:spcBef>
            </a:pPr>
            <a:r>
              <a:rPr sz="1400" dirty="0">
                <a:solidFill>
                  <a:schemeClr val="tx1"/>
                </a:solidFill>
                <a:latin typeface="Helvetica" charset="0"/>
              </a:rPr>
              <a:t>Company</a:t>
            </a:r>
            <a:endParaRPr sz="1400" dirty="0">
              <a:solidFill>
                <a:schemeClr val="tx1"/>
              </a:solidFill>
              <a:latin typeface="Helvetica" charset="0"/>
            </a:endParaRPr>
          </a:p>
        </p:txBody>
      </p:sp>
      <p:grpSp>
        <p:nvGrpSpPr>
          <p:cNvPr id="50191" name="Group 19"/>
          <p:cNvGrpSpPr/>
          <p:nvPr/>
        </p:nvGrpSpPr>
        <p:grpSpPr>
          <a:xfrm>
            <a:off x="2386013" y="1984375"/>
            <a:ext cx="1377950" cy="360363"/>
            <a:chOff x="3016" y="2939"/>
            <a:chExt cx="868" cy="227"/>
          </a:xfrm>
        </p:grpSpPr>
        <p:pic>
          <p:nvPicPr>
            <p:cNvPr id="50225" name="Picture 20" descr="folder"/>
            <p:cNvPicPr>
              <a:picLocks noChangeAspect="1"/>
            </p:cNvPicPr>
            <p:nvPr/>
          </p:nvPicPr>
          <p:blipFill>
            <a:blip r:embed="rId2"/>
            <a:stretch>
              <a:fillRect/>
            </a:stretch>
          </p:blipFill>
          <p:spPr>
            <a:xfrm>
              <a:off x="3016" y="2939"/>
              <a:ext cx="217" cy="227"/>
            </a:xfrm>
            <a:prstGeom prst="rect">
              <a:avLst/>
            </a:prstGeom>
            <a:noFill/>
            <a:ln w="9525">
              <a:noFill/>
            </a:ln>
          </p:spPr>
        </p:pic>
        <p:sp>
          <p:nvSpPr>
            <p:cNvPr id="50226" name="Text Box 21"/>
            <p:cNvSpPr txBox="1"/>
            <p:nvPr/>
          </p:nvSpPr>
          <p:spPr>
            <a:xfrm>
              <a:off x="3219" y="2963"/>
              <a:ext cx="665" cy="192"/>
            </a:xfrm>
            <a:prstGeom prst="rect">
              <a:avLst/>
            </a:prstGeom>
            <a:noFill/>
            <a:ln w="9525">
              <a:noFill/>
            </a:ln>
          </p:spPr>
          <p:txBody>
            <a:bodyPr wrap="none">
              <a:spAutoFit/>
            </a:bodyPr>
            <a:p>
              <a:pPr marL="342900" indent="-342900">
                <a:spcBef>
                  <a:spcPct val="20000"/>
                </a:spcBef>
              </a:pPr>
              <a:r>
                <a:rPr sz="1400" dirty="0">
                  <a:solidFill>
                    <a:schemeClr val="tx1"/>
                  </a:solidFill>
                  <a:latin typeface="Helvetica" charset="0"/>
                </a:rPr>
                <a:t>Geography</a:t>
              </a:r>
              <a:endParaRPr sz="1400" dirty="0">
                <a:solidFill>
                  <a:schemeClr val="tx1"/>
                </a:solidFill>
                <a:latin typeface="Helvetica" charset="0"/>
              </a:endParaRPr>
            </a:p>
          </p:txBody>
        </p:sp>
      </p:grpSp>
      <p:grpSp>
        <p:nvGrpSpPr>
          <p:cNvPr id="50192" name="Group 22"/>
          <p:cNvGrpSpPr/>
          <p:nvPr/>
        </p:nvGrpSpPr>
        <p:grpSpPr>
          <a:xfrm>
            <a:off x="2601913" y="2290763"/>
            <a:ext cx="1455737" cy="360362"/>
            <a:chOff x="3152" y="3137"/>
            <a:chExt cx="917" cy="227"/>
          </a:xfrm>
        </p:grpSpPr>
        <p:pic>
          <p:nvPicPr>
            <p:cNvPr id="50223" name="Picture 23" descr="folder"/>
            <p:cNvPicPr>
              <a:picLocks noChangeAspect="1"/>
            </p:cNvPicPr>
            <p:nvPr/>
          </p:nvPicPr>
          <p:blipFill>
            <a:blip r:embed="rId2"/>
            <a:stretch>
              <a:fillRect/>
            </a:stretch>
          </p:blipFill>
          <p:spPr>
            <a:xfrm>
              <a:off x="3152" y="3137"/>
              <a:ext cx="217" cy="227"/>
            </a:xfrm>
            <a:prstGeom prst="rect">
              <a:avLst/>
            </a:prstGeom>
            <a:noFill/>
            <a:ln w="9525">
              <a:noFill/>
            </a:ln>
          </p:spPr>
        </p:pic>
        <p:sp>
          <p:nvSpPr>
            <p:cNvPr id="50224" name="Text Box 24"/>
            <p:cNvSpPr txBox="1"/>
            <p:nvPr/>
          </p:nvSpPr>
          <p:spPr>
            <a:xfrm>
              <a:off x="3368" y="3161"/>
              <a:ext cx="701" cy="192"/>
            </a:xfrm>
            <a:prstGeom prst="rect">
              <a:avLst/>
            </a:prstGeom>
            <a:noFill/>
            <a:ln w="9525">
              <a:noFill/>
            </a:ln>
          </p:spPr>
          <p:txBody>
            <a:bodyPr wrap="none">
              <a:spAutoFit/>
            </a:bodyPr>
            <a:p>
              <a:pPr marL="342900" indent="-342900">
                <a:spcBef>
                  <a:spcPct val="20000"/>
                </a:spcBef>
              </a:pPr>
              <a:r>
                <a:rPr sz="1400" dirty="0">
                  <a:solidFill>
                    <a:schemeClr val="tx1"/>
                  </a:solidFill>
                  <a:latin typeface="Helvetica" charset="0"/>
                </a:rPr>
                <a:t>Department</a:t>
              </a:r>
              <a:endParaRPr sz="1400" dirty="0">
                <a:solidFill>
                  <a:schemeClr val="tx1"/>
                </a:solidFill>
                <a:latin typeface="Helvetica" charset="0"/>
              </a:endParaRPr>
            </a:p>
          </p:txBody>
        </p:sp>
      </p:grpSp>
      <p:sp>
        <p:nvSpPr>
          <p:cNvPr id="50193" name="Line 35"/>
          <p:cNvSpPr/>
          <p:nvPr/>
        </p:nvSpPr>
        <p:spPr>
          <a:xfrm flipH="1" flipV="1">
            <a:off x="1600200" y="3810000"/>
            <a:ext cx="685800" cy="0"/>
          </a:xfrm>
          <a:prstGeom prst="line">
            <a:avLst/>
          </a:prstGeom>
          <a:ln w="9525" cap="flat" cmpd="sng">
            <a:solidFill>
              <a:schemeClr val="tx1"/>
            </a:solidFill>
            <a:prstDash val="solid"/>
            <a:headEnd type="none" w="med" len="med"/>
            <a:tailEnd type="triangle" w="med" len="med"/>
          </a:ln>
        </p:spPr>
      </p:sp>
      <p:sp>
        <p:nvSpPr>
          <p:cNvPr id="50194" name="Line 38"/>
          <p:cNvSpPr/>
          <p:nvPr/>
        </p:nvSpPr>
        <p:spPr>
          <a:xfrm>
            <a:off x="2286000" y="3810000"/>
            <a:ext cx="762000" cy="0"/>
          </a:xfrm>
          <a:prstGeom prst="line">
            <a:avLst/>
          </a:prstGeom>
          <a:ln w="9525" cap="flat" cmpd="sng">
            <a:solidFill>
              <a:schemeClr val="tx1"/>
            </a:solidFill>
            <a:prstDash val="solid"/>
            <a:headEnd type="none" w="med" len="med"/>
            <a:tailEnd type="triangle" w="med" len="med"/>
          </a:ln>
        </p:spPr>
      </p:sp>
      <p:sp>
        <p:nvSpPr>
          <p:cNvPr id="50195" name="Rectangle 41"/>
          <p:cNvSpPr/>
          <p:nvPr/>
        </p:nvSpPr>
        <p:spPr>
          <a:xfrm>
            <a:off x="1371600" y="4191000"/>
            <a:ext cx="1828800" cy="304800"/>
          </a:xfrm>
          <a:prstGeom prst="rect">
            <a:avLst/>
          </a:prstGeom>
          <a:noFill/>
          <a:ln w="9525">
            <a:noFill/>
          </a:ln>
        </p:spPr>
        <p:txBody>
          <a:bodyPr>
            <a:spAutoFit/>
          </a:bodyPr>
          <a:p>
            <a:pPr algn="ctr"/>
            <a:r>
              <a:rPr sz="1400" b="1" dirty="0">
                <a:solidFill>
                  <a:schemeClr val="tx1"/>
                </a:solidFill>
                <a:latin typeface="Helvetica" charset="0"/>
              </a:rPr>
              <a:t>Cluster of 4 nodes</a:t>
            </a:r>
            <a:endParaRPr sz="1400" b="1" dirty="0">
              <a:solidFill>
                <a:schemeClr val="tx1"/>
              </a:solidFill>
              <a:latin typeface="Helvetica" charset="0"/>
            </a:endParaRPr>
          </a:p>
        </p:txBody>
      </p:sp>
      <p:sp>
        <p:nvSpPr>
          <p:cNvPr id="50196" name="AutoShape 42"/>
          <p:cNvSpPr>
            <a:spLocks noChangeAspect="1"/>
          </p:cNvSpPr>
          <p:nvPr/>
        </p:nvSpPr>
        <p:spPr>
          <a:xfrm>
            <a:off x="914400" y="5210175"/>
            <a:ext cx="533400" cy="504825"/>
          </a:xfrm>
          <a:prstGeom prst="can">
            <a:avLst>
              <a:gd name="adj" fmla="val 10194"/>
            </a:avLst>
          </a:prstGeom>
          <a:solidFill>
            <a:srgbClr val="99CCFF"/>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50197" name="Rectangle 43"/>
          <p:cNvSpPr/>
          <p:nvPr/>
        </p:nvSpPr>
        <p:spPr>
          <a:xfrm>
            <a:off x="674688" y="5316538"/>
            <a:ext cx="954087" cy="274637"/>
          </a:xfrm>
          <a:prstGeom prst="rect">
            <a:avLst/>
          </a:prstGeom>
          <a:noFill/>
          <a:ln w="9525">
            <a:noFill/>
          </a:ln>
        </p:spPr>
        <p:txBody>
          <a:bodyPr wrap="none">
            <a:spAutoFit/>
          </a:bodyPr>
          <a:p>
            <a:pPr algn="ctr"/>
            <a:r>
              <a:rPr sz="1200" b="1" dirty="0">
                <a:solidFill>
                  <a:schemeClr val="tx1"/>
                </a:solidFill>
                <a:latin typeface="Helvetica" charset="0"/>
              </a:rPr>
              <a:t>/marketing</a:t>
            </a:r>
            <a:endParaRPr sz="1200" b="1" dirty="0">
              <a:solidFill>
                <a:schemeClr val="tx1"/>
              </a:solidFill>
              <a:latin typeface="Helvetica" charset="0"/>
            </a:endParaRPr>
          </a:p>
        </p:txBody>
      </p:sp>
      <p:sp>
        <p:nvSpPr>
          <p:cNvPr id="50198" name="Line 44"/>
          <p:cNvSpPr/>
          <p:nvPr/>
        </p:nvSpPr>
        <p:spPr>
          <a:xfrm>
            <a:off x="1143000" y="4495800"/>
            <a:ext cx="0" cy="714375"/>
          </a:xfrm>
          <a:prstGeom prst="line">
            <a:avLst/>
          </a:prstGeom>
          <a:ln w="28575" cap="flat" cmpd="sng">
            <a:solidFill>
              <a:schemeClr val="folHlink"/>
            </a:solidFill>
            <a:prstDash val="solid"/>
            <a:headEnd type="none" w="med" len="med"/>
            <a:tailEnd type="triangle" w="med" len="med"/>
          </a:ln>
        </p:spPr>
      </p:sp>
      <p:sp>
        <p:nvSpPr>
          <p:cNvPr id="50199" name="AutoShape 45"/>
          <p:cNvSpPr>
            <a:spLocks noChangeAspect="1"/>
          </p:cNvSpPr>
          <p:nvPr/>
        </p:nvSpPr>
        <p:spPr>
          <a:xfrm>
            <a:off x="1371600" y="4648200"/>
            <a:ext cx="533400" cy="504825"/>
          </a:xfrm>
          <a:prstGeom prst="can">
            <a:avLst>
              <a:gd name="adj" fmla="val 10194"/>
            </a:avLst>
          </a:prstGeom>
          <a:solidFill>
            <a:srgbClr val="99CCFF"/>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50200" name="Rectangle 46"/>
          <p:cNvSpPr/>
          <p:nvPr/>
        </p:nvSpPr>
        <p:spPr>
          <a:xfrm>
            <a:off x="1327150" y="4754563"/>
            <a:ext cx="555625" cy="274637"/>
          </a:xfrm>
          <a:prstGeom prst="rect">
            <a:avLst/>
          </a:prstGeom>
          <a:noFill/>
          <a:ln w="9525">
            <a:noFill/>
          </a:ln>
        </p:spPr>
        <p:txBody>
          <a:bodyPr wrap="none">
            <a:spAutoFit/>
          </a:bodyPr>
          <a:p>
            <a:pPr algn="ctr"/>
            <a:r>
              <a:rPr sz="1200" b="1" dirty="0">
                <a:solidFill>
                  <a:schemeClr val="tx1"/>
                </a:solidFill>
                <a:latin typeface="Helvetica" charset="0"/>
              </a:rPr>
              <a:t>/R&amp;D</a:t>
            </a:r>
            <a:endParaRPr sz="1200" b="1" dirty="0">
              <a:solidFill>
                <a:schemeClr val="tx1"/>
              </a:solidFill>
              <a:latin typeface="Helvetica" charset="0"/>
            </a:endParaRPr>
          </a:p>
        </p:txBody>
      </p:sp>
      <p:sp>
        <p:nvSpPr>
          <p:cNvPr id="50201" name="Line 47"/>
          <p:cNvSpPr/>
          <p:nvPr/>
        </p:nvSpPr>
        <p:spPr>
          <a:xfrm>
            <a:off x="1600200" y="4495800"/>
            <a:ext cx="0" cy="152400"/>
          </a:xfrm>
          <a:prstGeom prst="line">
            <a:avLst/>
          </a:prstGeom>
          <a:ln w="28575" cap="flat" cmpd="sng">
            <a:solidFill>
              <a:schemeClr val="folHlink"/>
            </a:solidFill>
            <a:prstDash val="solid"/>
            <a:headEnd type="none" w="med" len="med"/>
            <a:tailEnd type="triangle" w="med" len="med"/>
          </a:ln>
        </p:spPr>
      </p:sp>
      <p:sp>
        <p:nvSpPr>
          <p:cNvPr id="50202" name="AutoShape 48"/>
          <p:cNvSpPr>
            <a:spLocks noChangeAspect="1"/>
          </p:cNvSpPr>
          <p:nvPr/>
        </p:nvSpPr>
        <p:spPr>
          <a:xfrm>
            <a:off x="1828800" y="5210175"/>
            <a:ext cx="533400" cy="504825"/>
          </a:xfrm>
          <a:prstGeom prst="can">
            <a:avLst>
              <a:gd name="adj" fmla="val 10194"/>
            </a:avLst>
          </a:prstGeom>
          <a:solidFill>
            <a:srgbClr val="99CCFF"/>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50203" name="Rectangle 49"/>
          <p:cNvSpPr/>
          <p:nvPr/>
        </p:nvSpPr>
        <p:spPr>
          <a:xfrm>
            <a:off x="1563688" y="5316538"/>
            <a:ext cx="1006475" cy="274637"/>
          </a:xfrm>
          <a:prstGeom prst="rect">
            <a:avLst/>
          </a:prstGeom>
          <a:noFill/>
          <a:ln w="9525">
            <a:noFill/>
          </a:ln>
        </p:spPr>
        <p:txBody>
          <a:bodyPr wrap="none">
            <a:spAutoFit/>
          </a:bodyPr>
          <a:p>
            <a:pPr algn="ctr"/>
            <a:r>
              <a:rPr sz="1200" b="1" dirty="0">
                <a:solidFill>
                  <a:schemeClr val="tx1"/>
                </a:solidFill>
                <a:latin typeface="Helvetica" charset="0"/>
              </a:rPr>
              <a:t>/operations</a:t>
            </a:r>
            <a:endParaRPr sz="1200" b="1" dirty="0">
              <a:solidFill>
                <a:schemeClr val="tx1"/>
              </a:solidFill>
              <a:latin typeface="Helvetica" charset="0"/>
            </a:endParaRPr>
          </a:p>
        </p:txBody>
      </p:sp>
      <p:sp>
        <p:nvSpPr>
          <p:cNvPr id="50204" name="Line 50"/>
          <p:cNvSpPr/>
          <p:nvPr/>
        </p:nvSpPr>
        <p:spPr>
          <a:xfrm>
            <a:off x="2057400" y="4495800"/>
            <a:ext cx="0" cy="714375"/>
          </a:xfrm>
          <a:prstGeom prst="line">
            <a:avLst/>
          </a:prstGeom>
          <a:ln w="28575" cap="flat" cmpd="sng">
            <a:solidFill>
              <a:schemeClr val="folHlink"/>
            </a:solidFill>
            <a:prstDash val="solid"/>
            <a:headEnd type="none" w="med" len="med"/>
            <a:tailEnd type="triangle" w="med" len="med"/>
          </a:ln>
        </p:spPr>
      </p:sp>
      <p:sp>
        <p:nvSpPr>
          <p:cNvPr id="50205" name="AutoShape 51"/>
          <p:cNvSpPr>
            <a:spLocks noChangeAspect="1"/>
          </p:cNvSpPr>
          <p:nvPr/>
        </p:nvSpPr>
        <p:spPr>
          <a:xfrm>
            <a:off x="2286000" y="4648200"/>
            <a:ext cx="533400" cy="504825"/>
          </a:xfrm>
          <a:prstGeom prst="can">
            <a:avLst>
              <a:gd name="adj" fmla="val 10194"/>
            </a:avLst>
          </a:prstGeom>
          <a:solidFill>
            <a:srgbClr val="99CCFF"/>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50206" name="Rectangle 52"/>
          <p:cNvSpPr/>
          <p:nvPr/>
        </p:nvSpPr>
        <p:spPr>
          <a:xfrm>
            <a:off x="2124075" y="4754563"/>
            <a:ext cx="795338" cy="274637"/>
          </a:xfrm>
          <a:prstGeom prst="rect">
            <a:avLst/>
          </a:prstGeom>
          <a:noFill/>
          <a:ln w="9525">
            <a:noFill/>
          </a:ln>
        </p:spPr>
        <p:txBody>
          <a:bodyPr wrap="none">
            <a:spAutoFit/>
          </a:bodyPr>
          <a:p>
            <a:pPr algn="ctr"/>
            <a:r>
              <a:rPr sz="1200" b="1" dirty="0">
                <a:solidFill>
                  <a:schemeClr val="tx1"/>
                </a:solidFill>
                <a:latin typeface="Helvetica" charset="0"/>
              </a:rPr>
              <a:t>/support</a:t>
            </a:r>
            <a:endParaRPr sz="1200" b="1" dirty="0">
              <a:solidFill>
                <a:schemeClr val="tx1"/>
              </a:solidFill>
              <a:latin typeface="Helvetica" charset="0"/>
            </a:endParaRPr>
          </a:p>
        </p:txBody>
      </p:sp>
      <p:sp>
        <p:nvSpPr>
          <p:cNvPr id="50207" name="Line 53"/>
          <p:cNvSpPr/>
          <p:nvPr/>
        </p:nvSpPr>
        <p:spPr>
          <a:xfrm>
            <a:off x="2514600" y="4495800"/>
            <a:ext cx="0" cy="152400"/>
          </a:xfrm>
          <a:prstGeom prst="line">
            <a:avLst/>
          </a:prstGeom>
          <a:ln w="28575" cap="flat" cmpd="sng">
            <a:solidFill>
              <a:schemeClr val="folHlink"/>
            </a:solidFill>
            <a:prstDash val="solid"/>
            <a:headEnd type="none" w="med" len="med"/>
            <a:tailEnd type="triangle" w="med" len="med"/>
          </a:ln>
        </p:spPr>
      </p:sp>
      <p:sp>
        <p:nvSpPr>
          <p:cNvPr id="50208" name="AutoShape 54"/>
          <p:cNvSpPr>
            <a:spLocks noChangeAspect="1"/>
          </p:cNvSpPr>
          <p:nvPr/>
        </p:nvSpPr>
        <p:spPr>
          <a:xfrm>
            <a:off x="2743200" y="5210175"/>
            <a:ext cx="533400" cy="504825"/>
          </a:xfrm>
          <a:prstGeom prst="can">
            <a:avLst>
              <a:gd name="adj" fmla="val 10194"/>
            </a:avLst>
          </a:prstGeom>
          <a:solidFill>
            <a:srgbClr val="99CCFF"/>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50209" name="Rectangle 55"/>
          <p:cNvSpPr/>
          <p:nvPr/>
        </p:nvSpPr>
        <p:spPr>
          <a:xfrm>
            <a:off x="2752725" y="5316538"/>
            <a:ext cx="446088" cy="274637"/>
          </a:xfrm>
          <a:prstGeom prst="rect">
            <a:avLst/>
          </a:prstGeom>
          <a:noFill/>
          <a:ln w="9525">
            <a:noFill/>
          </a:ln>
        </p:spPr>
        <p:txBody>
          <a:bodyPr wrap="none">
            <a:spAutoFit/>
          </a:bodyPr>
          <a:p>
            <a:pPr algn="ctr"/>
            <a:r>
              <a:rPr sz="1200" b="1" dirty="0">
                <a:solidFill>
                  <a:schemeClr val="tx1"/>
                </a:solidFill>
                <a:latin typeface="Helvetica" charset="0"/>
              </a:rPr>
              <a:t>/HR</a:t>
            </a:r>
            <a:endParaRPr sz="1200" b="1" dirty="0">
              <a:solidFill>
                <a:schemeClr val="tx1"/>
              </a:solidFill>
              <a:latin typeface="Helvetica" charset="0"/>
            </a:endParaRPr>
          </a:p>
        </p:txBody>
      </p:sp>
      <p:sp>
        <p:nvSpPr>
          <p:cNvPr id="50210" name="Line 56"/>
          <p:cNvSpPr/>
          <p:nvPr/>
        </p:nvSpPr>
        <p:spPr>
          <a:xfrm>
            <a:off x="2971800" y="4495800"/>
            <a:ext cx="0" cy="714375"/>
          </a:xfrm>
          <a:prstGeom prst="line">
            <a:avLst/>
          </a:prstGeom>
          <a:ln w="28575" cap="flat" cmpd="sng">
            <a:solidFill>
              <a:schemeClr val="folHlink"/>
            </a:solidFill>
            <a:prstDash val="solid"/>
            <a:headEnd type="none" w="med" len="med"/>
            <a:tailEnd type="triangle" w="med" len="med"/>
          </a:ln>
        </p:spPr>
      </p:sp>
      <p:sp>
        <p:nvSpPr>
          <p:cNvPr id="50211" name="AutoShape 57"/>
          <p:cNvSpPr>
            <a:spLocks noChangeAspect="1"/>
          </p:cNvSpPr>
          <p:nvPr/>
        </p:nvSpPr>
        <p:spPr>
          <a:xfrm>
            <a:off x="3200400" y="4648200"/>
            <a:ext cx="533400" cy="504825"/>
          </a:xfrm>
          <a:prstGeom prst="can">
            <a:avLst>
              <a:gd name="adj" fmla="val 10194"/>
            </a:avLst>
          </a:prstGeom>
          <a:solidFill>
            <a:srgbClr val="99CCFF"/>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50212" name="Rectangle 58"/>
          <p:cNvSpPr/>
          <p:nvPr/>
        </p:nvSpPr>
        <p:spPr>
          <a:xfrm>
            <a:off x="3057525" y="4754563"/>
            <a:ext cx="760413" cy="274637"/>
          </a:xfrm>
          <a:prstGeom prst="rect">
            <a:avLst/>
          </a:prstGeom>
          <a:noFill/>
          <a:ln w="9525">
            <a:noFill/>
          </a:ln>
        </p:spPr>
        <p:txBody>
          <a:bodyPr wrap="none">
            <a:spAutoFit/>
          </a:bodyPr>
          <a:p>
            <a:pPr algn="ctr"/>
            <a:r>
              <a:rPr sz="1200" b="1" dirty="0">
                <a:solidFill>
                  <a:schemeClr val="tx1"/>
                </a:solidFill>
                <a:latin typeface="Helvetica" charset="0"/>
              </a:rPr>
              <a:t>/finance</a:t>
            </a:r>
            <a:endParaRPr sz="1200" b="1" dirty="0">
              <a:solidFill>
                <a:schemeClr val="tx1"/>
              </a:solidFill>
              <a:latin typeface="Helvetica" charset="0"/>
            </a:endParaRPr>
          </a:p>
        </p:txBody>
      </p:sp>
      <p:sp>
        <p:nvSpPr>
          <p:cNvPr id="50213" name="Line 59"/>
          <p:cNvSpPr/>
          <p:nvPr/>
        </p:nvSpPr>
        <p:spPr>
          <a:xfrm>
            <a:off x="3429000" y="4495800"/>
            <a:ext cx="0" cy="152400"/>
          </a:xfrm>
          <a:prstGeom prst="line">
            <a:avLst/>
          </a:prstGeom>
          <a:ln w="28575" cap="flat" cmpd="sng">
            <a:solidFill>
              <a:schemeClr val="folHlink"/>
            </a:solidFill>
            <a:prstDash val="solid"/>
            <a:headEnd type="none" w="med" len="med"/>
            <a:tailEnd type="triangle" w="med" len="med"/>
          </a:ln>
        </p:spPr>
      </p:sp>
      <p:sp>
        <p:nvSpPr>
          <p:cNvPr id="50214" name="AutoShape 60"/>
          <p:cNvSpPr>
            <a:spLocks noChangeAspect="1"/>
          </p:cNvSpPr>
          <p:nvPr/>
        </p:nvSpPr>
        <p:spPr>
          <a:xfrm>
            <a:off x="3657600" y="5210175"/>
            <a:ext cx="533400" cy="504825"/>
          </a:xfrm>
          <a:prstGeom prst="can">
            <a:avLst>
              <a:gd name="adj" fmla="val 10194"/>
            </a:avLst>
          </a:prstGeom>
          <a:solidFill>
            <a:srgbClr val="99CCFF"/>
          </a:solidFill>
          <a:ln w="9525" cap="flat" cmpd="sng">
            <a:solidFill>
              <a:schemeClr val="tx1"/>
            </a:solidFill>
            <a:prstDash val="solid"/>
            <a:headEnd type="none" w="med" len="med"/>
            <a:tailEnd type="none" w="med" len="med"/>
          </a:ln>
        </p:spPr>
        <p:txBody>
          <a:bodyPr wrap="none" anchor="ctr" anchorCtr="0"/>
          <a:p>
            <a:pPr algn="ctr"/>
            <a:endParaRPr dirty="0">
              <a:solidFill>
                <a:schemeClr val="bg1"/>
              </a:solidFill>
              <a:latin typeface="Helvetica" charset="0"/>
            </a:endParaRPr>
          </a:p>
        </p:txBody>
      </p:sp>
      <p:sp>
        <p:nvSpPr>
          <p:cNvPr id="50215" name="Rectangle 61"/>
          <p:cNvSpPr/>
          <p:nvPr/>
        </p:nvSpPr>
        <p:spPr>
          <a:xfrm>
            <a:off x="3529013" y="5316538"/>
            <a:ext cx="727075" cy="274637"/>
          </a:xfrm>
          <a:prstGeom prst="rect">
            <a:avLst/>
          </a:prstGeom>
          <a:noFill/>
          <a:ln w="9525">
            <a:noFill/>
          </a:ln>
        </p:spPr>
        <p:txBody>
          <a:bodyPr wrap="none">
            <a:spAutoFit/>
          </a:bodyPr>
          <a:p>
            <a:pPr algn="ctr"/>
            <a:r>
              <a:rPr sz="1200" b="1" dirty="0">
                <a:solidFill>
                  <a:schemeClr val="tx1"/>
                </a:solidFill>
                <a:latin typeface="Helvetica" charset="0"/>
              </a:rPr>
              <a:t>/testing</a:t>
            </a:r>
            <a:endParaRPr sz="1200" b="1" dirty="0">
              <a:solidFill>
                <a:schemeClr val="tx1"/>
              </a:solidFill>
              <a:latin typeface="Helvetica" charset="0"/>
            </a:endParaRPr>
          </a:p>
        </p:txBody>
      </p:sp>
      <p:sp>
        <p:nvSpPr>
          <p:cNvPr id="50216" name="Line 62"/>
          <p:cNvSpPr/>
          <p:nvPr/>
        </p:nvSpPr>
        <p:spPr>
          <a:xfrm>
            <a:off x="3886200" y="4495800"/>
            <a:ext cx="0" cy="714375"/>
          </a:xfrm>
          <a:prstGeom prst="line">
            <a:avLst/>
          </a:prstGeom>
          <a:ln w="28575" cap="flat" cmpd="sng">
            <a:solidFill>
              <a:schemeClr val="folHlink"/>
            </a:solidFill>
            <a:prstDash val="solid"/>
            <a:headEnd type="none" w="med" len="med"/>
            <a:tailEnd type="triangle" w="med" len="med"/>
          </a:ln>
        </p:spPr>
      </p:sp>
      <p:sp>
        <p:nvSpPr>
          <p:cNvPr id="50217" name="Rectangle 63"/>
          <p:cNvSpPr/>
          <p:nvPr/>
        </p:nvSpPr>
        <p:spPr>
          <a:xfrm>
            <a:off x="1371600" y="3200400"/>
            <a:ext cx="1828800" cy="314325"/>
          </a:xfrm>
          <a:prstGeom prst="rect">
            <a:avLst/>
          </a:prstGeom>
          <a:solidFill>
            <a:schemeClr val="bg1"/>
          </a:solidFill>
          <a:ln w="9525" cap="flat" cmpd="sng">
            <a:solidFill>
              <a:schemeClr val="tx1"/>
            </a:solidFill>
            <a:prstDash val="solid"/>
            <a:miter/>
            <a:headEnd type="none" w="med" len="med"/>
            <a:tailEnd type="none" w="med" len="med"/>
          </a:ln>
        </p:spPr>
        <p:txBody>
          <a:bodyPr>
            <a:spAutoFit/>
          </a:bodyPr>
          <a:p>
            <a:pPr algn="ctr"/>
            <a:r>
              <a:rPr sz="1400" b="1" dirty="0">
                <a:solidFill>
                  <a:schemeClr val="tx1"/>
                </a:solidFill>
                <a:latin typeface="Helvetica" charset="0"/>
              </a:rPr>
              <a:t>/department</a:t>
            </a:r>
            <a:endParaRPr sz="1400" b="1" dirty="0">
              <a:solidFill>
                <a:schemeClr val="tx1"/>
              </a:solidFill>
              <a:latin typeface="Helvetica" charset="0"/>
            </a:endParaRPr>
          </a:p>
        </p:txBody>
      </p:sp>
      <p:sp>
        <p:nvSpPr>
          <p:cNvPr id="50218" name="Line 64"/>
          <p:cNvSpPr/>
          <p:nvPr/>
        </p:nvSpPr>
        <p:spPr>
          <a:xfrm>
            <a:off x="685800" y="4495800"/>
            <a:ext cx="3200400" cy="0"/>
          </a:xfrm>
          <a:prstGeom prst="line">
            <a:avLst/>
          </a:prstGeom>
          <a:ln w="25400" cap="flat" cmpd="sng">
            <a:solidFill>
              <a:schemeClr val="folHlink"/>
            </a:solidFill>
            <a:prstDash val="solid"/>
            <a:headEnd type="none" w="sm" len="sm"/>
            <a:tailEnd type="none" w="sm" len="sm"/>
          </a:ln>
        </p:spPr>
      </p:sp>
      <p:pic>
        <p:nvPicPr>
          <p:cNvPr id="50219" name="Picture 65"/>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609600" y="3429000"/>
            <a:ext cx="914400" cy="446088"/>
          </a:xfrm>
          <a:prstGeom prst="rect">
            <a:avLst/>
          </a:prstGeom>
          <a:noFill/>
          <a:ln w="9525">
            <a:noFill/>
          </a:ln>
        </p:spPr>
      </p:pic>
      <p:pic>
        <p:nvPicPr>
          <p:cNvPr id="50220" name="Picture 68"/>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609600" y="3048000"/>
            <a:ext cx="914400" cy="446088"/>
          </a:xfrm>
          <a:prstGeom prst="rect">
            <a:avLst/>
          </a:prstGeom>
          <a:noFill/>
          <a:ln w="9525">
            <a:noFill/>
          </a:ln>
        </p:spPr>
      </p:pic>
      <p:pic>
        <p:nvPicPr>
          <p:cNvPr id="50221" name="Picture 69"/>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3124200" y="3429000"/>
            <a:ext cx="914400" cy="446088"/>
          </a:xfrm>
          <a:prstGeom prst="rect">
            <a:avLst/>
          </a:prstGeom>
          <a:noFill/>
          <a:ln w="9525">
            <a:noFill/>
          </a:ln>
        </p:spPr>
      </p:pic>
      <p:pic>
        <p:nvPicPr>
          <p:cNvPr id="50222" name="Picture 72"/>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3124200" y="3048000"/>
            <a:ext cx="914400" cy="446088"/>
          </a:xfrm>
          <a:prstGeom prst="rect">
            <a:avLst/>
          </a:prstGeom>
          <a:noFill/>
          <a:ln w="9525">
            <a:noFill/>
          </a:ln>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p:nvPr/>
        </p:nvSpPr>
        <p:spPr>
          <a:xfrm>
            <a:off x="147638" y="1268413"/>
            <a:ext cx="8539162" cy="4827587"/>
          </a:xfrm>
          <a:prstGeom prst="rect">
            <a:avLst/>
          </a:prstGeom>
          <a:solidFill>
            <a:schemeClr val="bg1"/>
          </a:solidFill>
          <a:ln w="28575" cap="flat" cmpd="sng">
            <a:solidFill>
              <a:srgbClr val="99CC00"/>
            </a:solidFill>
            <a:prstDash val="solid"/>
            <a:miter/>
            <a:headEnd type="none" w="med" len="med"/>
            <a:tailEnd type="none" w="med" len="med"/>
          </a:ln>
        </p:spPr>
        <p:txBody>
          <a:bodyPr wrap="none" anchor="ctr" anchorCtr="0"/>
          <a:p>
            <a:endParaRPr dirty="0">
              <a:solidFill>
                <a:schemeClr val="tx1"/>
              </a:solidFill>
              <a:latin typeface="Helvetica" charset="0"/>
            </a:endParaRPr>
          </a:p>
        </p:txBody>
      </p:sp>
      <p:pic>
        <p:nvPicPr>
          <p:cNvPr id="52226" name="Picture 1"/>
          <p:cNvPicPr>
            <a:picLocks noChangeAspect="1"/>
          </p:cNvPicPr>
          <p:nvPr/>
        </p:nvPicPr>
        <p:blipFill>
          <a:blip r:embed="rId1"/>
          <a:stretch>
            <a:fillRect/>
          </a:stretch>
        </p:blipFill>
        <p:spPr>
          <a:xfrm>
            <a:off x="1752600" y="2124075"/>
            <a:ext cx="6781800" cy="2981325"/>
          </a:xfrm>
          <a:prstGeom prst="rect">
            <a:avLst/>
          </a:prstGeom>
          <a:noFill/>
          <a:ln w="9525">
            <a:noFill/>
          </a:ln>
        </p:spPr>
      </p:pic>
      <p:sp>
        <p:nvSpPr>
          <p:cNvPr id="52227" name="Rectangle 2"/>
          <p:cNvSpPr>
            <a:spLocks noGrp="1"/>
          </p:cNvSpPr>
          <p:nvPr>
            <p:ph type="title"/>
          </p:nvPr>
        </p:nvSpPr>
        <p:spPr>
          <a:xfrm>
            <a:off x="228600" y="257175"/>
            <a:ext cx="6765925" cy="328613"/>
          </a:xfrm>
          <a:ln/>
        </p:spPr>
        <p:txBody>
          <a:bodyPr vert="horz" wrap="square" lIns="91440" tIns="0" rIns="91440" bIns="0" anchor="ctr" anchorCtr="0">
            <a:spAutoFit/>
          </a:bodyPr>
          <a:p>
            <a:pPr eaLnBrk="1" hangingPunct="1"/>
            <a:r>
              <a:rPr dirty="0">
                <a:solidFill>
                  <a:schemeClr val="tx1"/>
                </a:solidFill>
              </a:rPr>
              <a:t>Cluster Name Space Example</a:t>
            </a:r>
            <a:endParaRPr dirty="0">
              <a:solidFill>
                <a:schemeClr val="tx1"/>
              </a:solidFill>
            </a:endParaRPr>
          </a:p>
        </p:txBody>
      </p:sp>
      <p:sp>
        <p:nvSpPr>
          <p:cNvPr id="574468" name="AutoShape 4"/>
          <p:cNvSpPr/>
          <p:nvPr/>
        </p:nvSpPr>
        <p:spPr>
          <a:xfrm>
            <a:off x="228600" y="2506663"/>
            <a:ext cx="2324100" cy="730250"/>
          </a:xfrm>
          <a:prstGeom prst="rightArrowCallout">
            <a:avLst>
              <a:gd name="adj1" fmla="val 25000"/>
              <a:gd name="adj2" fmla="val 25000"/>
              <a:gd name="adj3" fmla="val 53043"/>
              <a:gd name="adj4" fmla="val 66667"/>
            </a:avLst>
          </a:prstGeom>
          <a:solidFill>
            <a:srgbClr val="FF9900"/>
          </a:solidFill>
          <a:ln w="9525" cap="flat" cmpd="sng">
            <a:solidFill>
              <a:schemeClr val="bg2"/>
            </a:solidFill>
            <a:prstDash val="solid"/>
            <a:miter/>
            <a:headEnd type="none" w="med" len="med"/>
            <a:tailEnd type="none" w="med" len="med"/>
          </a:ln>
        </p:spPr>
        <p:txBody>
          <a:bodyPr wrap="none" anchor="ctr" anchorCtr="0"/>
          <a:p>
            <a:r>
              <a:rPr sz="1200" dirty="0">
                <a:solidFill>
                  <a:schemeClr val="tx1"/>
                </a:solidFill>
                <a:latin typeface="Arial" panose="020B0604020202020204" pitchFamily="34" charset="0"/>
              </a:rPr>
              <a:t>Single root with </a:t>
            </a:r>
            <a:endParaRPr sz="1200" dirty="0">
              <a:solidFill>
                <a:schemeClr val="tx1"/>
              </a:solidFill>
              <a:latin typeface="Arial" panose="020B0604020202020204" pitchFamily="34" charset="0"/>
            </a:endParaRPr>
          </a:p>
          <a:p>
            <a:r>
              <a:rPr sz="1200" dirty="0">
                <a:solidFill>
                  <a:schemeClr val="tx1"/>
                </a:solidFill>
                <a:latin typeface="Arial" panose="020B0604020202020204" pitchFamily="34" charset="0"/>
              </a:rPr>
              <a:t>unified corporate </a:t>
            </a:r>
            <a:endParaRPr sz="1200" dirty="0">
              <a:solidFill>
                <a:schemeClr val="tx1"/>
              </a:solidFill>
              <a:latin typeface="Arial" panose="020B0604020202020204" pitchFamily="34" charset="0"/>
            </a:endParaRPr>
          </a:p>
          <a:p>
            <a:r>
              <a:rPr sz="1200" dirty="0">
                <a:solidFill>
                  <a:schemeClr val="tx1"/>
                </a:solidFill>
                <a:latin typeface="Arial" panose="020B0604020202020204" pitchFamily="34" charset="0"/>
              </a:rPr>
              <a:t>directory structure</a:t>
            </a:r>
            <a:endParaRPr sz="1200" dirty="0">
              <a:solidFill>
                <a:schemeClr val="tx1"/>
              </a:solidFill>
              <a:latin typeface="Arial" panose="020B0604020202020204" pitchFamily="34" charset="0"/>
            </a:endParaRPr>
          </a:p>
        </p:txBody>
      </p:sp>
      <p:sp>
        <p:nvSpPr>
          <p:cNvPr id="574469" name="AutoShape 5"/>
          <p:cNvSpPr/>
          <p:nvPr/>
        </p:nvSpPr>
        <p:spPr>
          <a:xfrm>
            <a:off x="217488" y="3300413"/>
            <a:ext cx="2479675" cy="857250"/>
          </a:xfrm>
          <a:prstGeom prst="rightArrowCallout">
            <a:avLst>
              <a:gd name="adj1" fmla="val 25000"/>
              <a:gd name="adj2" fmla="val 25000"/>
              <a:gd name="adj3" fmla="val 48209"/>
              <a:gd name="adj4" fmla="val 62741"/>
            </a:avLst>
          </a:prstGeom>
          <a:solidFill>
            <a:srgbClr val="FF9900"/>
          </a:solidFill>
          <a:ln w="9525" cap="flat" cmpd="sng">
            <a:solidFill>
              <a:schemeClr val="bg2"/>
            </a:solidFill>
            <a:prstDash val="solid"/>
            <a:miter/>
            <a:headEnd type="none" w="med" len="med"/>
            <a:tailEnd type="none" w="med" len="med"/>
          </a:ln>
        </p:spPr>
        <p:txBody>
          <a:bodyPr wrap="none" anchor="ctr" anchorCtr="0"/>
          <a:p>
            <a:r>
              <a:rPr sz="1200" dirty="0">
                <a:solidFill>
                  <a:schemeClr val="tx1"/>
                </a:solidFill>
                <a:latin typeface="Arial" panose="020B0604020202020204" pitchFamily="34" charset="0"/>
              </a:rPr>
              <a:t>Logical company,</a:t>
            </a:r>
            <a:endParaRPr sz="1200" dirty="0">
              <a:solidFill>
                <a:schemeClr val="tx1"/>
              </a:solidFill>
              <a:latin typeface="Arial" panose="020B0604020202020204" pitchFamily="34" charset="0"/>
            </a:endParaRPr>
          </a:p>
          <a:p>
            <a:r>
              <a:rPr sz="1200" dirty="0">
                <a:solidFill>
                  <a:schemeClr val="tx1"/>
                </a:solidFill>
                <a:latin typeface="Arial" panose="020B0604020202020204" pitchFamily="34" charset="0"/>
              </a:rPr>
              <a:t>geography, and</a:t>
            </a:r>
            <a:endParaRPr sz="1200" dirty="0">
              <a:solidFill>
                <a:schemeClr val="tx1"/>
              </a:solidFill>
              <a:latin typeface="Arial" panose="020B0604020202020204" pitchFamily="34" charset="0"/>
            </a:endParaRPr>
          </a:p>
          <a:p>
            <a:r>
              <a:rPr sz="1200" dirty="0">
                <a:solidFill>
                  <a:schemeClr val="tx1"/>
                </a:solidFill>
                <a:latin typeface="Arial" panose="020B0604020202020204" pitchFamily="34" charset="0"/>
              </a:rPr>
              <a:t>department </a:t>
            </a:r>
            <a:endParaRPr sz="1200" dirty="0">
              <a:solidFill>
                <a:schemeClr val="tx1"/>
              </a:solidFill>
              <a:latin typeface="Arial" panose="020B0604020202020204" pitchFamily="34" charset="0"/>
            </a:endParaRPr>
          </a:p>
          <a:p>
            <a:r>
              <a:rPr sz="1200" dirty="0">
                <a:solidFill>
                  <a:schemeClr val="tx1"/>
                </a:solidFill>
                <a:latin typeface="Arial" panose="020B0604020202020204" pitchFamily="34" charset="0"/>
              </a:rPr>
              <a:t>directories</a:t>
            </a:r>
            <a:endParaRPr sz="1200" dirty="0">
              <a:solidFill>
                <a:schemeClr val="tx1"/>
              </a:solidFill>
              <a:latin typeface="Arial" panose="020B0604020202020204" pitchFamily="34" charset="0"/>
            </a:endParaRPr>
          </a:p>
        </p:txBody>
      </p:sp>
      <p:sp>
        <p:nvSpPr>
          <p:cNvPr id="574470" name="AutoShape 6"/>
          <p:cNvSpPr/>
          <p:nvPr/>
        </p:nvSpPr>
        <p:spPr>
          <a:xfrm>
            <a:off x="3343275" y="2301875"/>
            <a:ext cx="1031875" cy="788988"/>
          </a:xfrm>
          <a:prstGeom prst="downArrowCallout">
            <a:avLst>
              <a:gd name="adj1" fmla="val 32598"/>
              <a:gd name="adj2" fmla="val 32593"/>
              <a:gd name="adj3" fmla="val 14888"/>
              <a:gd name="adj4" fmla="val 66667"/>
            </a:avLst>
          </a:prstGeom>
          <a:solidFill>
            <a:srgbClr val="FF9900"/>
          </a:solidFill>
          <a:ln w="9525" cap="flat" cmpd="sng">
            <a:solidFill>
              <a:schemeClr val="bg2"/>
            </a:solidFill>
            <a:prstDash val="solid"/>
            <a:miter/>
            <a:headEnd type="none" w="med" len="med"/>
            <a:tailEnd type="none" w="med" len="med"/>
          </a:ln>
        </p:spPr>
        <p:txBody>
          <a:bodyPr wrap="none" anchor="ctr" anchorCtr="0"/>
          <a:p>
            <a:pPr algn="ctr"/>
            <a:r>
              <a:rPr sz="1200" dirty="0">
                <a:solidFill>
                  <a:schemeClr val="tx1"/>
                </a:solidFill>
                <a:latin typeface="Arial" panose="020B0604020202020204" pitchFamily="34" charset="0"/>
              </a:rPr>
              <a:t>Virtual links to</a:t>
            </a:r>
            <a:endParaRPr sz="1200" dirty="0">
              <a:solidFill>
                <a:schemeClr val="tx1"/>
              </a:solidFill>
              <a:latin typeface="Arial" panose="020B0604020202020204" pitchFamily="34" charset="0"/>
            </a:endParaRPr>
          </a:p>
          <a:p>
            <a:pPr algn="ctr"/>
            <a:r>
              <a:rPr sz="1200" dirty="0">
                <a:solidFill>
                  <a:schemeClr val="tx1"/>
                </a:solidFill>
                <a:latin typeface="Arial" panose="020B0604020202020204" pitchFamily="34" charset="0"/>
              </a:rPr>
              <a:t> file systems</a:t>
            </a:r>
            <a:endParaRPr sz="1200" dirty="0">
              <a:solidFill>
                <a:schemeClr val="tx1"/>
              </a:solidFill>
              <a:latin typeface="Arial" panose="020B0604020202020204" pitchFamily="34" charset="0"/>
            </a:endParaRPr>
          </a:p>
        </p:txBody>
      </p:sp>
      <p:sp>
        <p:nvSpPr>
          <p:cNvPr id="574471" name="AutoShape 7"/>
          <p:cNvSpPr/>
          <p:nvPr/>
        </p:nvSpPr>
        <p:spPr>
          <a:xfrm flipH="1">
            <a:off x="5080000" y="3048000"/>
            <a:ext cx="2460625" cy="730250"/>
          </a:xfrm>
          <a:prstGeom prst="rightArrowCallout">
            <a:avLst>
              <a:gd name="adj1" fmla="val 25222"/>
              <a:gd name="adj2" fmla="val 25000"/>
              <a:gd name="adj3" fmla="val 56097"/>
              <a:gd name="adj4" fmla="val 72644"/>
            </a:avLst>
          </a:prstGeom>
          <a:solidFill>
            <a:srgbClr val="FF9900"/>
          </a:solidFill>
          <a:ln w="9525" cap="flat" cmpd="sng">
            <a:solidFill>
              <a:schemeClr val="bg2"/>
            </a:solidFill>
            <a:prstDash val="solid"/>
            <a:miter/>
            <a:headEnd type="none" w="med" len="med"/>
            <a:tailEnd type="none" w="med" len="med"/>
          </a:ln>
        </p:spPr>
        <p:txBody>
          <a:bodyPr wrap="none" anchor="ctr" anchorCtr="0"/>
          <a:p>
            <a:pPr algn="r"/>
            <a:r>
              <a:rPr sz="1200" dirty="0">
                <a:solidFill>
                  <a:schemeClr val="tx1"/>
                </a:solidFill>
                <a:latin typeface="Arial" panose="020B0604020202020204" pitchFamily="34" charset="0"/>
              </a:rPr>
              <a:t>File systems assigned</a:t>
            </a:r>
            <a:endParaRPr sz="1200" dirty="0">
              <a:solidFill>
                <a:schemeClr val="tx1"/>
              </a:solidFill>
              <a:latin typeface="Arial" panose="020B0604020202020204" pitchFamily="34" charset="0"/>
            </a:endParaRPr>
          </a:p>
          <a:p>
            <a:pPr algn="r"/>
            <a:r>
              <a:rPr sz="1200" dirty="0">
                <a:solidFill>
                  <a:schemeClr val="tx1"/>
                </a:solidFill>
                <a:latin typeface="Arial" panose="020B0604020202020204" pitchFamily="34" charset="0"/>
              </a:rPr>
              <a:t>to Virtual Servers</a:t>
            </a:r>
            <a:endParaRPr sz="1200" dirty="0">
              <a:solidFill>
                <a:schemeClr val="tx1"/>
              </a:solidFill>
              <a:latin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4468"/>
                                        </p:tgtEl>
                                        <p:attrNameLst>
                                          <p:attrName>style.visibility</p:attrName>
                                        </p:attrNameLst>
                                      </p:cBhvr>
                                      <p:to>
                                        <p:strVal val="visible"/>
                                      </p:to>
                                    </p:set>
                                    <p:animEffect transition="in" filter="dissolve">
                                      <p:cBhvr>
                                        <p:cTn id="7" dur="500"/>
                                        <p:tgtEl>
                                          <p:spTgt spid="57446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4469"/>
                                        </p:tgtEl>
                                        <p:attrNameLst>
                                          <p:attrName>style.visibility</p:attrName>
                                        </p:attrNameLst>
                                      </p:cBhvr>
                                      <p:to>
                                        <p:strVal val="visible"/>
                                      </p:to>
                                    </p:set>
                                    <p:animEffect transition="in" filter="dissolve">
                                      <p:cBhvr>
                                        <p:cTn id="12" dur="500"/>
                                        <p:tgtEl>
                                          <p:spTgt spid="57446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74470"/>
                                        </p:tgtEl>
                                        <p:attrNameLst>
                                          <p:attrName>style.visibility</p:attrName>
                                        </p:attrNameLst>
                                      </p:cBhvr>
                                      <p:to>
                                        <p:strVal val="visible"/>
                                      </p:to>
                                    </p:set>
                                    <p:animEffect transition="in" filter="dissolve">
                                      <p:cBhvr>
                                        <p:cTn id="17" dur="500"/>
                                        <p:tgtEl>
                                          <p:spTgt spid="57447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74471"/>
                                        </p:tgtEl>
                                        <p:attrNameLst>
                                          <p:attrName>style.visibility</p:attrName>
                                        </p:attrNameLst>
                                      </p:cBhvr>
                                      <p:to>
                                        <p:strVal val="visible"/>
                                      </p:to>
                                    </p:set>
                                    <p:animEffect transition="in" filter="dissolve">
                                      <p:cBhvr>
                                        <p:cTn id="22" dur="500"/>
                                        <p:tgtEl>
                                          <p:spTgt spid="574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8" grpId="0" animBg="1"/>
      <p:bldP spid="574469" grpId="0" animBg="1"/>
      <p:bldP spid="574470" grpId="0" animBg="1"/>
      <p:bldP spid="57447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p:nvPr/>
        </p:nvSpPr>
        <p:spPr>
          <a:xfrm>
            <a:off x="304800" y="1314450"/>
            <a:ext cx="4038600" cy="4876800"/>
          </a:xfrm>
          <a:prstGeom prst="rect">
            <a:avLst/>
          </a:prstGeom>
          <a:solidFill>
            <a:schemeClr val="bg1"/>
          </a:solidFill>
          <a:ln w="28575" cap="flat" cmpd="sng">
            <a:solidFill>
              <a:schemeClr val="fo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74" name="Rectangle 3"/>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Virtual Servers</a:t>
            </a:r>
            <a:endParaRPr dirty="0">
              <a:solidFill>
                <a:schemeClr val="tx1"/>
              </a:solidFill>
            </a:endParaRPr>
          </a:p>
        </p:txBody>
      </p:sp>
      <p:sp>
        <p:nvSpPr>
          <p:cNvPr id="54275" name="Rectangle 4"/>
          <p:cNvSpPr>
            <a:spLocks noGrp="1"/>
          </p:cNvSpPr>
          <p:nvPr>
            <p:ph idx="1"/>
          </p:nvPr>
        </p:nvSpPr>
        <p:spPr>
          <a:xfrm>
            <a:off x="4495800" y="1295400"/>
            <a:ext cx="4441825" cy="4525963"/>
          </a:xfrm>
          <a:ln/>
        </p:spPr>
        <p:txBody>
          <a:bodyPr vert="horz" wrap="square" lIns="91440" tIns="45720" rIns="91440" bIns="45720" anchor="t" anchorCtr="0"/>
          <a:p>
            <a:pPr eaLnBrk="1" hangingPunct="1">
              <a:lnSpc>
                <a:spcPct val="85000"/>
              </a:lnSpc>
              <a:tabLst>
                <a:tab pos="1371600" algn="l"/>
              </a:tabLst>
            </a:pPr>
            <a:r>
              <a:rPr sz="1800" dirty="0">
                <a:solidFill>
                  <a:srgbClr val="000000"/>
                </a:solidFill>
              </a:rPr>
              <a:t>Features:</a:t>
            </a:r>
            <a:endParaRPr sz="1800" dirty="0">
              <a:solidFill>
                <a:srgbClr val="000000"/>
              </a:solidFill>
            </a:endParaRPr>
          </a:p>
          <a:p>
            <a:pPr lvl="1" eaLnBrk="1" hangingPunct="1">
              <a:lnSpc>
                <a:spcPct val="90000"/>
              </a:lnSpc>
              <a:tabLst>
                <a:tab pos="1371600" algn="l"/>
              </a:tabLst>
            </a:pPr>
            <a:r>
              <a:rPr sz="1600" dirty="0">
                <a:solidFill>
                  <a:srgbClr val="000000"/>
                </a:solidFill>
              </a:rPr>
              <a:t>64 virtual servers per entity (single, dual, 3 or 4 nodes cluster is one entity)</a:t>
            </a:r>
            <a:endParaRPr sz="1600" dirty="0">
              <a:solidFill>
                <a:srgbClr val="000000"/>
              </a:solidFill>
            </a:endParaRPr>
          </a:p>
          <a:p>
            <a:pPr lvl="1" eaLnBrk="1" hangingPunct="1">
              <a:lnSpc>
                <a:spcPct val="90000"/>
              </a:lnSpc>
              <a:tabLst>
                <a:tab pos="1371600" algn="l"/>
              </a:tabLst>
            </a:pPr>
            <a:r>
              <a:rPr sz="1600" dirty="0">
                <a:solidFill>
                  <a:srgbClr val="000000"/>
                </a:solidFill>
              </a:rPr>
              <a:t>Separate IP addresses and policies</a:t>
            </a:r>
            <a:endParaRPr sz="1600" dirty="0">
              <a:solidFill>
                <a:srgbClr val="000000"/>
              </a:solidFill>
            </a:endParaRPr>
          </a:p>
          <a:p>
            <a:pPr lvl="1" eaLnBrk="1" hangingPunct="1">
              <a:lnSpc>
                <a:spcPct val="90000"/>
              </a:lnSpc>
              <a:tabLst>
                <a:tab pos="1371600" algn="l"/>
              </a:tabLst>
            </a:pPr>
            <a:r>
              <a:rPr sz="1600" dirty="0">
                <a:solidFill>
                  <a:srgbClr val="000000"/>
                </a:solidFill>
              </a:rPr>
              <a:t>Migration of virtual servers with their policies between local or remote NAS nodes</a:t>
            </a:r>
            <a:endParaRPr sz="1600" dirty="0">
              <a:solidFill>
                <a:srgbClr val="000000"/>
              </a:solidFill>
            </a:endParaRPr>
          </a:p>
          <a:p>
            <a:pPr lvl="1" eaLnBrk="1" hangingPunct="1">
              <a:lnSpc>
                <a:spcPct val="90000"/>
              </a:lnSpc>
              <a:tabLst>
                <a:tab pos="1371600" algn="l"/>
              </a:tabLst>
            </a:pPr>
            <a:r>
              <a:rPr sz="1600" dirty="0">
                <a:solidFill>
                  <a:srgbClr val="000000"/>
                </a:solidFill>
              </a:rPr>
              <a:t>Clustering support with failover and recovery </a:t>
            </a:r>
            <a:endParaRPr sz="1600" dirty="0">
              <a:solidFill>
                <a:srgbClr val="000000"/>
              </a:solidFill>
            </a:endParaRPr>
          </a:p>
          <a:p>
            <a:pPr lvl="1" eaLnBrk="1" hangingPunct="1">
              <a:lnSpc>
                <a:spcPct val="90000"/>
              </a:lnSpc>
              <a:tabLst>
                <a:tab pos="1371600" algn="l"/>
              </a:tabLst>
            </a:pPr>
            <a:r>
              <a:rPr sz="1600" dirty="0">
                <a:solidFill>
                  <a:srgbClr val="000000"/>
                </a:solidFill>
              </a:rPr>
              <a:t>Optional license for enhanced security by independent EVS settings</a:t>
            </a:r>
            <a:endParaRPr sz="1600" dirty="0">
              <a:solidFill>
                <a:srgbClr val="000000"/>
              </a:solidFill>
            </a:endParaRPr>
          </a:p>
          <a:p>
            <a:pPr lvl="1" eaLnBrk="1" hangingPunct="1">
              <a:lnSpc>
                <a:spcPct val="90000"/>
              </a:lnSpc>
              <a:tabLst>
                <a:tab pos="1371600" algn="l"/>
              </a:tabLst>
            </a:pPr>
            <a:endParaRPr sz="1600" dirty="0">
              <a:solidFill>
                <a:srgbClr val="000000"/>
              </a:solidFill>
            </a:endParaRPr>
          </a:p>
          <a:p>
            <a:pPr eaLnBrk="1" hangingPunct="1">
              <a:lnSpc>
                <a:spcPct val="90000"/>
              </a:lnSpc>
              <a:tabLst>
                <a:tab pos="1371600" algn="l"/>
              </a:tabLst>
            </a:pPr>
            <a:r>
              <a:rPr sz="1800" dirty="0">
                <a:solidFill>
                  <a:srgbClr val="000000"/>
                </a:solidFill>
              </a:rPr>
              <a:t>Benefits:</a:t>
            </a:r>
            <a:endParaRPr sz="1800" dirty="0">
              <a:solidFill>
                <a:srgbClr val="000000"/>
              </a:solidFill>
            </a:endParaRPr>
          </a:p>
          <a:p>
            <a:pPr lvl="1" eaLnBrk="1" hangingPunct="1">
              <a:lnSpc>
                <a:spcPct val="90000"/>
              </a:lnSpc>
              <a:tabLst>
                <a:tab pos="1371600" algn="l"/>
              </a:tabLst>
            </a:pPr>
            <a:r>
              <a:rPr sz="1600" dirty="0">
                <a:solidFill>
                  <a:srgbClr val="000000"/>
                </a:solidFill>
              </a:rPr>
              <a:t>Reduces downtime</a:t>
            </a:r>
            <a:endParaRPr sz="1600" dirty="0">
              <a:solidFill>
                <a:srgbClr val="000000"/>
              </a:solidFill>
            </a:endParaRPr>
          </a:p>
          <a:p>
            <a:pPr lvl="1" eaLnBrk="1" hangingPunct="1">
              <a:lnSpc>
                <a:spcPct val="90000"/>
              </a:lnSpc>
              <a:tabLst>
                <a:tab pos="1371600" algn="l"/>
              </a:tabLst>
            </a:pPr>
            <a:r>
              <a:rPr sz="1600" dirty="0">
                <a:solidFill>
                  <a:srgbClr val="000000"/>
                </a:solidFill>
              </a:rPr>
              <a:t>Simplifies management</a:t>
            </a:r>
            <a:endParaRPr sz="1600" dirty="0">
              <a:solidFill>
                <a:srgbClr val="000000"/>
              </a:solidFill>
            </a:endParaRPr>
          </a:p>
          <a:p>
            <a:pPr lvl="1" eaLnBrk="1" hangingPunct="1">
              <a:lnSpc>
                <a:spcPct val="90000"/>
              </a:lnSpc>
              <a:tabLst>
                <a:tab pos="1371600" algn="l"/>
              </a:tabLst>
            </a:pPr>
            <a:r>
              <a:rPr sz="1600" dirty="0">
                <a:solidFill>
                  <a:srgbClr val="000000"/>
                </a:solidFill>
              </a:rPr>
              <a:t>Lowers cost of ownership</a:t>
            </a:r>
            <a:endParaRPr sz="1600" dirty="0">
              <a:solidFill>
                <a:srgbClr val="000000"/>
              </a:solidFill>
            </a:endParaRPr>
          </a:p>
          <a:p>
            <a:pPr lvl="1" eaLnBrk="1" hangingPunct="1">
              <a:lnSpc>
                <a:spcPct val="90000"/>
              </a:lnSpc>
              <a:tabLst>
                <a:tab pos="1371600" algn="l"/>
              </a:tabLst>
            </a:pPr>
            <a:endParaRPr sz="1600" dirty="0">
              <a:solidFill>
                <a:srgbClr val="000000"/>
              </a:solidFill>
            </a:endParaRPr>
          </a:p>
        </p:txBody>
      </p:sp>
      <p:sp>
        <p:nvSpPr>
          <p:cNvPr id="54276" name="Rectangle 5"/>
          <p:cNvSpPr/>
          <p:nvPr/>
        </p:nvSpPr>
        <p:spPr>
          <a:xfrm>
            <a:off x="333375" y="1319213"/>
            <a:ext cx="4127500" cy="942975"/>
          </a:xfrm>
          <a:prstGeom prst="rect">
            <a:avLst/>
          </a:prstGeom>
          <a:noFill/>
          <a:ln w="9525">
            <a:noFill/>
          </a:ln>
        </p:spPr>
        <p:txBody>
          <a:bodyPr>
            <a:spAutoFit/>
          </a:bodyPr>
          <a:p>
            <a:r>
              <a:rPr sz="1400" dirty="0">
                <a:solidFill>
                  <a:srgbClr val="000000"/>
                </a:solidFill>
                <a:latin typeface="Arial" panose="020B0604020202020204" pitchFamily="34" charset="0"/>
              </a:rPr>
              <a:t>Allows administrators to create up to 64 logical servers within a single physical system.  Each virtual server can have a separate address and policy and independent security settings.  </a:t>
            </a:r>
            <a:endParaRPr sz="1400" dirty="0">
              <a:solidFill>
                <a:srgbClr val="000000"/>
              </a:solidFill>
              <a:latin typeface="Arial" panose="020B0604020202020204" pitchFamily="34" charset="0"/>
            </a:endParaRPr>
          </a:p>
        </p:txBody>
      </p:sp>
      <p:sp>
        <p:nvSpPr>
          <p:cNvPr id="54277" name="AutoShape 6"/>
          <p:cNvSpPr/>
          <p:nvPr/>
        </p:nvSpPr>
        <p:spPr>
          <a:xfrm>
            <a:off x="398463" y="2647950"/>
            <a:ext cx="782637" cy="730250"/>
          </a:xfrm>
          <a:prstGeom prst="roundRect">
            <a:avLst>
              <a:gd name="adj" fmla="val 16667"/>
            </a:avLst>
          </a:prstGeom>
          <a:solidFill>
            <a:schemeClr val="bg1">
              <a:alpha val="50195"/>
            </a:schemeClr>
          </a:solidFill>
          <a:ln w="9525" cap="flat" cmpd="sng">
            <a:solidFill>
              <a:schemeClr val="folHlink"/>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78" name="AutoShape 7"/>
          <p:cNvSpPr/>
          <p:nvPr/>
        </p:nvSpPr>
        <p:spPr>
          <a:xfrm>
            <a:off x="530225" y="2687638"/>
            <a:ext cx="374650" cy="385762"/>
          </a:xfrm>
          <a:prstGeom prst="cube">
            <a:avLst>
              <a:gd name="adj" fmla="val 25000"/>
            </a:avLst>
          </a:prstGeom>
          <a:solidFill>
            <a:srgbClr val="FFCC33"/>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79" name="Text Box 8"/>
          <p:cNvSpPr txBox="1"/>
          <p:nvPr/>
        </p:nvSpPr>
        <p:spPr>
          <a:xfrm>
            <a:off x="465138" y="2763838"/>
            <a:ext cx="388937" cy="336550"/>
          </a:xfrm>
          <a:prstGeom prst="rect">
            <a:avLst/>
          </a:prstGeom>
          <a:noFill/>
          <a:ln w="9525">
            <a:noFill/>
          </a:ln>
        </p:spPr>
        <p:txBody>
          <a:bodyPr wrap="none">
            <a:spAutoFit/>
          </a:bodyPr>
          <a:p>
            <a:r>
              <a:rPr sz="800" b="1" dirty="0">
                <a:solidFill>
                  <a:schemeClr val="tx1"/>
                </a:solidFill>
                <a:latin typeface="Arial" panose="020B0604020202020204" pitchFamily="34" charset="0"/>
              </a:rPr>
              <a:t>EVS</a:t>
            </a:r>
            <a:endParaRPr sz="800" b="1" dirty="0">
              <a:solidFill>
                <a:schemeClr val="tx1"/>
              </a:solidFill>
              <a:latin typeface="Arial" panose="020B0604020202020204" pitchFamily="34" charset="0"/>
            </a:endParaRPr>
          </a:p>
          <a:p>
            <a:r>
              <a:rPr sz="800" b="1" dirty="0">
                <a:solidFill>
                  <a:schemeClr val="tx1"/>
                </a:solidFill>
                <a:latin typeface="Arial" panose="020B0604020202020204" pitchFamily="34" charset="0"/>
              </a:rPr>
              <a:t>  1</a:t>
            </a:r>
            <a:endParaRPr sz="800" b="1" dirty="0">
              <a:solidFill>
                <a:schemeClr val="tx1"/>
              </a:solidFill>
              <a:latin typeface="Arial" panose="020B0604020202020204" pitchFamily="34" charset="0"/>
            </a:endParaRPr>
          </a:p>
        </p:txBody>
      </p:sp>
      <p:sp>
        <p:nvSpPr>
          <p:cNvPr id="54280" name="Text Box 9"/>
          <p:cNvSpPr txBox="1"/>
          <p:nvPr/>
        </p:nvSpPr>
        <p:spPr>
          <a:xfrm>
            <a:off x="412750" y="3043238"/>
            <a:ext cx="752475" cy="336550"/>
          </a:xfrm>
          <a:prstGeom prst="rect">
            <a:avLst/>
          </a:prstGeom>
          <a:noFill/>
          <a:ln w="9525">
            <a:noFill/>
          </a:ln>
        </p:spPr>
        <p:txBody>
          <a:bodyPr wrap="none">
            <a:spAutoFit/>
          </a:bodyPr>
          <a:p>
            <a:pPr>
              <a:buChar char="•"/>
            </a:pPr>
            <a:r>
              <a:rPr sz="800" b="1" dirty="0">
                <a:solidFill>
                  <a:schemeClr val="tx1"/>
                </a:solidFill>
                <a:latin typeface="Arial" panose="020B0604020202020204" pitchFamily="34" charset="0"/>
              </a:rPr>
              <a:t>IP Address</a:t>
            </a:r>
            <a:endParaRPr sz="800" b="1" dirty="0">
              <a:solidFill>
                <a:schemeClr val="tx1"/>
              </a:solidFill>
              <a:latin typeface="Arial" panose="020B0604020202020204" pitchFamily="34" charset="0"/>
            </a:endParaRPr>
          </a:p>
          <a:p>
            <a:pPr>
              <a:buChar char="•"/>
            </a:pPr>
            <a:r>
              <a:rPr sz="800" b="1" dirty="0">
                <a:solidFill>
                  <a:schemeClr val="tx1"/>
                </a:solidFill>
                <a:latin typeface="Arial" panose="020B0604020202020204" pitchFamily="34" charset="0"/>
              </a:rPr>
              <a:t>Policy</a:t>
            </a:r>
            <a:endParaRPr sz="800" b="1" dirty="0">
              <a:solidFill>
                <a:schemeClr val="tx1"/>
              </a:solidFill>
              <a:latin typeface="Arial" panose="020B0604020202020204" pitchFamily="34" charset="0"/>
            </a:endParaRPr>
          </a:p>
        </p:txBody>
      </p:sp>
      <p:sp>
        <p:nvSpPr>
          <p:cNvPr id="54281" name="Line 10"/>
          <p:cNvSpPr/>
          <p:nvPr/>
        </p:nvSpPr>
        <p:spPr>
          <a:xfrm>
            <a:off x="784225" y="3382963"/>
            <a:ext cx="328613" cy="465137"/>
          </a:xfrm>
          <a:prstGeom prst="line">
            <a:avLst/>
          </a:prstGeom>
          <a:ln w="12700" cap="flat" cmpd="sng">
            <a:solidFill>
              <a:schemeClr val="folHlink"/>
            </a:solidFill>
            <a:prstDash val="solid"/>
            <a:headEnd type="none" w="med" len="med"/>
            <a:tailEnd type="none" w="med" len="med"/>
          </a:ln>
        </p:spPr>
      </p:sp>
      <p:sp>
        <p:nvSpPr>
          <p:cNvPr id="54282" name="AutoShape 11"/>
          <p:cNvSpPr/>
          <p:nvPr/>
        </p:nvSpPr>
        <p:spPr>
          <a:xfrm>
            <a:off x="3454400" y="2695575"/>
            <a:ext cx="782638" cy="730250"/>
          </a:xfrm>
          <a:prstGeom prst="roundRect">
            <a:avLst>
              <a:gd name="adj" fmla="val 16667"/>
            </a:avLst>
          </a:prstGeom>
          <a:solidFill>
            <a:schemeClr val="bg1">
              <a:alpha val="50195"/>
            </a:schemeClr>
          </a:solidFill>
          <a:ln w="9525" cap="flat" cmpd="sng">
            <a:solidFill>
              <a:schemeClr val="folHlink"/>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83" name="AutoShape 12"/>
          <p:cNvSpPr/>
          <p:nvPr/>
        </p:nvSpPr>
        <p:spPr>
          <a:xfrm>
            <a:off x="3586163" y="2735263"/>
            <a:ext cx="374650" cy="385762"/>
          </a:xfrm>
          <a:prstGeom prst="cube">
            <a:avLst>
              <a:gd name="adj" fmla="val 25000"/>
            </a:avLst>
          </a:prstGeom>
          <a:solidFill>
            <a:srgbClr val="FF0000"/>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84" name="Text Box 13"/>
          <p:cNvSpPr txBox="1"/>
          <p:nvPr/>
        </p:nvSpPr>
        <p:spPr>
          <a:xfrm>
            <a:off x="3521075" y="2811463"/>
            <a:ext cx="388938" cy="336550"/>
          </a:xfrm>
          <a:prstGeom prst="rect">
            <a:avLst/>
          </a:prstGeom>
          <a:noFill/>
          <a:ln w="9525">
            <a:noFill/>
          </a:ln>
        </p:spPr>
        <p:txBody>
          <a:bodyPr wrap="none">
            <a:spAutoFit/>
          </a:bodyPr>
          <a:p>
            <a:r>
              <a:rPr sz="800" b="1" dirty="0">
                <a:solidFill>
                  <a:schemeClr val="bg1"/>
                </a:solidFill>
                <a:latin typeface="Arial" panose="020B0604020202020204" pitchFamily="34" charset="0"/>
              </a:rPr>
              <a:t>EVS</a:t>
            </a:r>
            <a:endParaRPr sz="800" b="1" dirty="0">
              <a:solidFill>
                <a:schemeClr val="bg1"/>
              </a:solidFill>
              <a:latin typeface="Arial" panose="020B0604020202020204" pitchFamily="34" charset="0"/>
            </a:endParaRPr>
          </a:p>
          <a:p>
            <a:r>
              <a:rPr sz="800" b="1" dirty="0">
                <a:solidFill>
                  <a:schemeClr val="bg1"/>
                </a:solidFill>
                <a:latin typeface="Arial" panose="020B0604020202020204" pitchFamily="34" charset="0"/>
              </a:rPr>
              <a:t>   2</a:t>
            </a:r>
            <a:endParaRPr sz="800" b="1" dirty="0">
              <a:solidFill>
                <a:schemeClr val="bg1"/>
              </a:solidFill>
              <a:latin typeface="Arial" panose="020B0604020202020204" pitchFamily="34" charset="0"/>
            </a:endParaRPr>
          </a:p>
        </p:txBody>
      </p:sp>
      <p:sp>
        <p:nvSpPr>
          <p:cNvPr id="54285" name="Text Box 14"/>
          <p:cNvSpPr txBox="1"/>
          <p:nvPr/>
        </p:nvSpPr>
        <p:spPr>
          <a:xfrm>
            <a:off x="3468688" y="3090863"/>
            <a:ext cx="752475" cy="336550"/>
          </a:xfrm>
          <a:prstGeom prst="rect">
            <a:avLst/>
          </a:prstGeom>
          <a:noFill/>
          <a:ln w="9525">
            <a:noFill/>
          </a:ln>
        </p:spPr>
        <p:txBody>
          <a:bodyPr wrap="none">
            <a:spAutoFit/>
          </a:bodyPr>
          <a:p>
            <a:pPr>
              <a:buChar char="•"/>
            </a:pPr>
            <a:r>
              <a:rPr sz="800" b="1" dirty="0">
                <a:solidFill>
                  <a:schemeClr val="tx1"/>
                </a:solidFill>
                <a:latin typeface="Arial" panose="020B0604020202020204" pitchFamily="34" charset="0"/>
              </a:rPr>
              <a:t>IP Address</a:t>
            </a:r>
            <a:endParaRPr sz="800" b="1" dirty="0">
              <a:solidFill>
                <a:schemeClr val="tx1"/>
              </a:solidFill>
              <a:latin typeface="Arial" panose="020B0604020202020204" pitchFamily="34" charset="0"/>
            </a:endParaRPr>
          </a:p>
          <a:p>
            <a:pPr>
              <a:buChar char="•"/>
            </a:pPr>
            <a:r>
              <a:rPr sz="800" b="1" dirty="0">
                <a:solidFill>
                  <a:schemeClr val="tx1"/>
                </a:solidFill>
                <a:latin typeface="Arial" panose="020B0604020202020204" pitchFamily="34" charset="0"/>
              </a:rPr>
              <a:t>Policy</a:t>
            </a:r>
            <a:endParaRPr sz="800" b="1" dirty="0">
              <a:solidFill>
                <a:schemeClr val="tx1"/>
              </a:solidFill>
              <a:latin typeface="Arial" panose="020B0604020202020204" pitchFamily="34" charset="0"/>
            </a:endParaRPr>
          </a:p>
        </p:txBody>
      </p:sp>
      <p:sp>
        <p:nvSpPr>
          <p:cNvPr id="54286" name="Line 15"/>
          <p:cNvSpPr/>
          <p:nvPr/>
        </p:nvSpPr>
        <p:spPr>
          <a:xfrm flipH="1">
            <a:off x="3621088" y="3432175"/>
            <a:ext cx="220662" cy="465138"/>
          </a:xfrm>
          <a:prstGeom prst="line">
            <a:avLst/>
          </a:prstGeom>
          <a:ln w="12700" cap="flat" cmpd="sng">
            <a:solidFill>
              <a:schemeClr val="folHlink"/>
            </a:solidFill>
            <a:prstDash val="solid"/>
            <a:headEnd type="none" w="med" len="med"/>
            <a:tailEnd type="none" w="med" len="med"/>
          </a:ln>
        </p:spPr>
      </p:sp>
      <p:pic>
        <p:nvPicPr>
          <p:cNvPr id="54287" name="Picture 16" descr="ams200_WMS100_nas"/>
          <p:cNvPicPr>
            <a:picLocks noChangeAspect="1"/>
          </p:cNvPicPr>
          <p:nvPr/>
        </p:nvPicPr>
        <p:blipFill>
          <a:blip r:embed="rId1"/>
          <a:stretch>
            <a:fillRect/>
          </a:stretch>
        </p:blipFill>
        <p:spPr>
          <a:xfrm>
            <a:off x="1066800" y="4343400"/>
            <a:ext cx="1408113" cy="1828800"/>
          </a:xfrm>
          <a:prstGeom prst="rect">
            <a:avLst/>
          </a:prstGeom>
          <a:noFill/>
          <a:ln w="9525">
            <a:noFill/>
          </a:ln>
        </p:spPr>
      </p:pic>
      <p:sp>
        <p:nvSpPr>
          <p:cNvPr id="54288" name="AutoShape 17"/>
          <p:cNvSpPr/>
          <p:nvPr/>
        </p:nvSpPr>
        <p:spPr>
          <a:xfrm>
            <a:off x="1792288" y="5614988"/>
            <a:ext cx="163512" cy="163512"/>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89" name="AutoShape 18"/>
          <p:cNvSpPr/>
          <p:nvPr/>
        </p:nvSpPr>
        <p:spPr>
          <a:xfrm>
            <a:off x="1409700" y="4962525"/>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90" name="AutoShape 19"/>
          <p:cNvSpPr/>
          <p:nvPr/>
        </p:nvSpPr>
        <p:spPr>
          <a:xfrm>
            <a:off x="1600200" y="4972050"/>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91" name="AutoShape 20"/>
          <p:cNvSpPr/>
          <p:nvPr/>
        </p:nvSpPr>
        <p:spPr>
          <a:xfrm>
            <a:off x="1600200" y="5270500"/>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92" name="AutoShape 21"/>
          <p:cNvSpPr/>
          <p:nvPr/>
        </p:nvSpPr>
        <p:spPr>
          <a:xfrm>
            <a:off x="1219200" y="5257800"/>
            <a:ext cx="163513" cy="163513"/>
          </a:xfrm>
          <a:prstGeom prst="can">
            <a:avLst>
              <a:gd name="adj" fmla="val 25000"/>
            </a:avLst>
          </a:prstGeom>
          <a:solidFill>
            <a:srgbClr val="FF0000"/>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93" name="AutoShape 22"/>
          <p:cNvSpPr/>
          <p:nvPr/>
        </p:nvSpPr>
        <p:spPr>
          <a:xfrm>
            <a:off x="1409700" y="5267325"/>
            <a:ext cx="163513" cy="163513"/>
          </a:xfrm>
          <a:prstGeom prst="can">
            <a:avLst>
              <a:gd name="adj" fmla="val 25000"/>
            </a:avLst>
          </a:prstGeom>
          <a:solidFill>
            <a:srgbClr val="FF0000"/>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294" name="AutoShape 23"/>
          <p:cNvSpPr/>
          <p:nvPr/>
        </p:nvSpPr>
        <p:spPr>
          <a:xfrm>
            <a:off x="1206500" y="4954588"/>
            <a:ext cx="163513" cy="163512"/>
          </a:xfrm>
          <a:prstGeom prst="can">
            <a:avLst>
              <a:gd name="adj" fmla="val 25000"/>
            </a:avLst>
          </a:prstGeom>
          <a:solidFill>
            <a:srgbClr val="FF0000"/>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54295" name="Picture 24" descr="Jumbo_bezel_2"/>
          <p:cNvPicPr>
            <a:picLocks noChangeAspect="1"/>
          </p:cNvPicPr>
          <p:nvPr/>
        </p:nvPicPr>
        <p:blipFill>
          <a:blip r:embed="rId2"/>
          <a:stretch>
            <a:fillRect/>
          </a:stretch>
        </p:blipFill>
        <p:spPr>
          <a:xfrm>
            <a:off x="609600" y="3886200"/>
            <a:ext cx="1295400" cy="468313"/>
          </a:xfrm>
          <a:prstGeom prst="rect">
            <a:avLst/>
          </a:prstGeom>
          <a:noFill/>
          <a:ln w="9525">
            <a:noFill/>
          </a:ln>
        </p:spPr>
      </p:pic>
      <p:grpSp>
        <p:nvGrpSpPr>
          <p:cNvPr id="54296" name="Group 25"/>
          <p:cNvGrpSpPr/>
          <p:nvPr/>
        </p:nvGrpSpPr>
        <p:grpSpPr>
          <a:xfrm>
            <a:off x="998538" y="3944938"/>
            <a:ext cx="620712" cy="153987"/>
            <a:chOff x="629" y="2629"/>
            <a:chExt cx="391" cy="97"/>
          </a:xfrm>
        </p:grpSpPr>
        <p:sp>
          <p:nvSpPr>
            <p:cNvPr id="54332" name="AutoShape 26"/>
            <p:cNvSpPr/>
            <p:nvPr/>
          </p:nvSpPr>
          <p:spPr>
            <a:xfrm>
              <a:off x="629" y="2629"/>
              <a:ext cx="103" cy="97"/>
            </a:xfrm>
            <a:prstGeom prst="cube">
              <a:avLst>
                <a:gd name="adj" fmla="val 25000"/>
              </a:avLst>
            </a:prstGeom>
            <a:solidFill>
              <a:srgbClr val="FFCC33"/>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33" name="AutoShape 27"/>
            <p:cNvSpPr/>
            <p:nvPr/>
          </p:nvSpPr>
          <p:spPr>
            <a:xfrm>
              <a:off x="725" y="2629"/>
              <a:ext cx="103" cy="97"/>
            </a:xfrm>
            <a:prstGeom prst="cube">
              <a:avLst>
                <a:gd name="adj" fmla="val 25000"/>
              </a:avLst>
            </a:prstGeom>
            <a:solidFill>
              <a:srgbClr val="FFCC33"/>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34" name="AutoShape 28"/>
            <p:cNvSpPr/>
            <p:nvPr/>
          </p:nvSpPr>
          <p:spPr>
            <a:xfrm>
              <a:off x="821" y="2629"/>
              <a:ext cx="103" cy="97"/>
            </a:xfrm>
            <a:prstGeom prst="cube">
              <a:avLst>
                <a:gd name="adj" fmla="val 25000"/>
              </a:avLst>
            </a:prstGeom>
            <a:solidFill>
              <a:srgbClr val="FFCC33"/>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35" name="AutoShape 29"/>
            <p:cNvSpPr/>
            <p:nvPr/>
          </p:nvSpPr>
          <p:spPr>
            <a:xfrm>
              <a:off x="917" y="2629"/>
              <a:ext cx="103" cy="97"/>
            </a:xfrm>
            <a:prstGeom prst="cube">
              <a:avLst>
                <a:gd name="adj" fmla="val 25000"/>
              </a:avLst>
            </a:prstGeom>
            <a:solidFill>
              <a:srgbClr val="FFCC33"/>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grpSp>
      <p:pic>
        <p:nvPicPr>
          <p:cNvPr id="54297" name="Picture 30" descr="Jumbo_bezel_2"/>
          <p:cNvPicPr>
            <a:picLocks noChangeAspect="1"/>
          </p:cNvPicPr>
          <p:nvPr/>
        </p:nvPicPr>
        <p:blipFill>
          <a:blip r:embed="rId2"/>
          <a:stretch>
            <a:fillRect/>
          </a:stretch>
        </p:blipFill>
        <p:spPr>
          <a:xfrm>
            <a:off x="2438400" y="3886200"/>
            <a:ext cx="1295400" cy="468313"/>
          </a:xfrm>
          <a:prstGeom prst="rect">
            <a:avLst/>
          </a:prstGeom>
          <a:noFill/>
          <a:ln w="9525">
            <a:noFill/>
          </a:ln>
        </p:spPr>
      </p:pic>
      <p:grpSp>
        <p:nvGrpSpPr>
          <p:cNvPr id="54298" name="Group 31"/>
          <p:cNvGrpSpPr/>
          <p:nvPr/>
        </p:nvGrpSpPr>
        <p:grpSpPr>
          <a:xfrm>
            <a:off x="2819400" y="3946525"/>
            <a:ext cx="620713" cy="153988"/>
            <a:chOff x="1787" y="2649"/>
            <a:chExt cx="391" cy="97"/>
          </a:xfrm>
        </p:grpSpPr>
        <p:sp>
          <p:nvSpPr>
            <p:cNvPr id="54328" name="AutoShape 32"/>
            <p:cNvSpPr/>
            <p:nvPr/>
          </p:nvSpPr>
          <p:spPr>
            <a:xfrm>
              <a:off x="1787" y="2649"/>
              <a:ext cx="103" cy="97"/>
            </a:xfrm>
            <a:prstGeom prst="cube">
              <a:avLst>
                <a:gd name="adj" fmla="val 25000"/>
              </a:avLst>
            </a:prstGeom>
            <a:solidFill>
              <a:srgbClr val="FF0000"/>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29" name="AutoShape 33"/>
            <p:cNvSpPr/>
            <p:nvPr/>
          </p:nvSpPr>
          <p:spPr>
            <a:xfrm>
              <a:off x="1883" y="2649"/>
              <a:ext cx="103" cy="97"/>
            </a:xfrm>
            <a:prstGeom prst="cube">
              <a:avLst>
                <a:gd name="adj" fmla="val 25000"/>
              </a:avLst>
            </a:prstGeom>
            <a:solidFill>
              <a:srgbClr val="FF0000"/>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30" name="AutoShape 34"/>
            <p:cNvSpPr/>
            <p:nvPr/>
          </p:nvSpPr>
          <p:spPr>
            <a:xfrm>
              <a:off x="1979" y="2649"/>
              <a:ext cx="103" cy="97"/>
            </a:xfrm>
            <a:prstGeom prst="cube">
              <a:avLst>
                <a:gd name="adj" fmla="val 25000"/>
              </a:avLst>
            </a:prstGeom>
            <a:solidFill>
              <a:srgbClr val="FF0000"/>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31" name="AutoShape 35"/>
            <p:cNvSpPr/>
            <p:nvPr/>
          </p:nvSpPr>
          <p:spPr>
            <a:xfrm>
              <a:off x="2075" y="2649"/>
              <a:ext cx="103" cy="97"/>
            </a:xfrm>
            <a:prstGeom prst="cube">
              <a:avLst>
                <a:gd name="adj" fmla="val 25000"/>
              </a:avLst>
            </a:prstGeom>
            <a:solidFill>
              <a:srgbClr val="FF0000"/>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grpSp>
      <p:sp>
        <p:nvSpPr>
          <p:cNvPr id="54299" name="AutoShape 36"/>
          <p:cNvSpPr/>
          <p:nvPr/>
        </p:nvSpPr>
        <p:spPr>
          <a:xfrm>
            <a:off x="1274763" y="2667000"/>
            <a:ext cx="782637" cy="730250"/>
          </a:xfrm>
          <a:prstGeom prst="roundRect">
            <a:avLst>
              <a:gd name="adj" fmla="val 16667"/>
            </a:avLst>
          </a:prstGeom>
          <a:solidFill>
            <a:schemeClr val="bg1">
              <a:alpha val="50195"/>
            </a:schemeClr>
          </a:solidFill>
          <a:ln w="9525" cap="flat" cmpd="sng">
            <a:solidFill>
              <a:schemeClr val="folHlink"/>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00" name="AutoShape 37"/>
          <p:cNvSpPr/>
          <p:nvPr/>
        </p:nvSpPr>
        <p:spPr>
          <a:xfrm>
            <a:off x="1406525" y="2706688"/>
            <a:ext cx="374650" cy="385762"/>
          </a:xfrm>
          <a:prstGeom prst="cube">
            <a:avLst>
              <a:gd name="adj" fmla="val 25000"/>
            </a:avLst>
          </a:prstGeom>
          <a:solidFill>
            <a:schemeClr val="hlink"/>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01" name="Text Box 38"/>
          <p:cNvSpPr txBox="1"/>
          <p:nvPr/>
        </p:nvSpPr>
        <p:spPr>
          <a:xfrm>
            <a:off x="1341438" y="2782888"/>
            <a:ext cx="388937" cy="336550"/>
          </a:xfrm>
          <a:prstGeom prst="rect">
            <a:avLst/>
          </a:prstGeom>
          <a:noFill/>
          <a:ln w="9525">
            <a:noFill/>
          </a:ln>
        </p:spPr>
        <p:txBody>
          <a:bodyPr wrap="none">
            <a:spAutoFit/>
          </a:bodyPr>
          <a:p>
            <a:r>
              <a:rPr sz="800" b="1" dirty="0">
                <a:solidFill>
                  <a:schemeClr val="tx1"/>
                </a:solidFill>
                <a:latin typeface="Arial" panose="020B0604020202020204" pitchFamily="34" charset="0"/>
              </a:rPr>
              <a:t>EVS</a:t>
            </a:r>
            <a:endParaRPr sz="800" b="1" dirty="0">
              <a:solidFill>
                <a:schemeClr val="tx1"/>
              </a:solidFill>
              <a:latin typeface="Arial" panose="020B0604020202020204" pitchFamily="34" charset="0"/>
            </a:endParaRPr>
          </a:p>
          <a:p>
            <a:r>
              <a:rPr sz="800" b="1" dirty="0">
                <a:solidFill>
                  <a:schemeClr val="tx1"/>
                </a:solidFill>
                <a:latin typeface="Arial" panose="020B0604020202020204" pitchFamily="34" charset="0"/>
              </a:rPr>
              <a:t>   3</a:t>
            </a:r>
            <a:endParaRPr sz="800" b="1" dirty="0">
              <a:solidFill>
                <a:schemeClr val="tx1"/>
              </a:solidFill>
              <a:latin typeface="Arial" panose="020B0604020202020204" pitchFamily="34" charset="0"/>
            </a:endParaRPr>
          </a:p>
        </p:txBody>
      </p:sp>
      <p:sp>
        <p:nvSpPr>
          <p:cNvPr id="54302" name="Text Box 39"/>
          <p:cNvSpPr txBox="1"/>
          <p:nvPr/>
        </p:nvSpPr>
        <p:spPr>
          <a:xfrm>
            <a:off x="1289050" y="3062288"/>
            <a:ext cx="752475" cy="336550"/>
          </a:xfrm>
          <a:prstGeom prst="rect">
            <a:avLst/>
          </a:prstGeom>
          <a:noFill/>
          <a:ln w="9525">
            <a:noFill/>
          </a:ln>
        </p:spPr>
        <p:txBody>
          <a:bodyPr wrap="none">
            <a:spAutoFit/>
          </a:bodyPr>
          <a:p>
            <a:pPr>
              <a:buChar char="•"/>
            </a:pPr>
            <a:r>
              <a:rPr sz="800" b="1" dirty="0">
                <a:solidFill>
                  <a:schemeClr val="tx1"/>
                </a:solidFill>
                <a:latin typeface="Arial" panose="020B0604020202020204" pitchFamily="34" charset="0"/>
              </a:rPr>
              <a:t>IP Address</a:t>
            </a:r>
            <a:endParaRPr sz="800" b="1" dirty="0">
              <a:solidFill>
                <a:schemeClr val="tx1"/>
              </a:solidFill>
              <a:latin typeface="Arial" panose="020B0604020202020204" pitchFamily="34" charset="0"/>
            </a:endParaRPr>
          </a:p>
          <a:p>
            <a:pPr>
              <a:buChar char="•"/>
            </a:pPr>
            <a:r>
              <a:rPr sz="800" b="1" dirty="0">
                <a:solidFill>
                  <a:schemeClr val="tx1"/>
                </a:solidFill>
                <a:latin typeface="Arial" panose="020B0604020202020204" pitchFamily="34" charset="0"/>
              </a:rPr>
              <a:t>Policy</a:t>
            </a:r>
            <a:endParaRPr sz="800" b="1" dirty="0">
              <a:solidFill>
                <a:schemeClr val="tx1"/>
              </a:solidFill>
              <a:latin typeface="Arial" panose="020B0604020202020204" pitchFamily="34" charset="0"/>
            </a:endParaRPr>
          </a:p>
        </p:txBody>
      </p:sp>
      <p:grpSp>
        <p:nvGrpSpPr>
          <p:cNvPr id="54303" name="Group 40"/>
          <p:cNvGrpSpPr/>
          <p:nvPr/>
        </p:nvGrpSpPr>
        <p:grpSpPr>
          <a:xfrm>
            <a:off x="979488" y="4160838"/>
            <a:ext cx="620712" cy="153987"/>
            <a:chOff x="629" y="2629"/>
            <a:chExt cx="391" cy="97"/>
          </a:xfrm>
        </p:grpSpPr>
        <p:sp>
          <p:nvSpPr>
            <p:cNvPr id="54324" name="AutoShape 41"/>
            <p:cNvSpPr/>
            <p:nvPr/>
          </p:nvSpPr>
          <p:spPr>
            <a:xfrm>
              <a:off x="629" y="2629"/>
              <a:ext cx="103" cy="97"/>
            </a:xfrm>
            <a:prstGeom prst="cube">
              <a:avLst>
                <a:gd name="adj" fmla="val 25000"/>
              </a:avLst>
            </a:prstGeom>
            <a:solidFill>
              <a:schemeClr val="hlink"/>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25" name="AutoShape 42"/>
            <p:cNvSpPr/>
            <p:nvPr/>
          </p:nvSpPr>
          <p:spPr>
            <a:xfrm>
              <a:off x="725" y="2629"/>
              <a:ext cx="103" cy="97"/>
            </a:xfrm>
            <a:prstGeom prst="cube">
              <a:avLst>
                <a:gd name="adj" fmla="val 25000"/>
              </a:avLst>
            </a:prstGeom>
            <a:solidFill>
              <a:schemeClr val="hlink"/>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26" name="AutoShape 43"/>
            <p:cNvSpPr/>
            <p:nvPr/>
          </p:nvSpPr>
          <p:spPr>
            <a:xfrm>
              <a:off x="821" y="2629"/>
              <a:ext cx="103" cy="97"/>
            </a:xfrm>
            <a:prstGeom prst="cube">
              <a:avLst>
                <a:gd name="adj" fmla="val 25000"/>
              </a:avLst>
            </a:prstGeom>
            <a:solidFill>
              <a:schemeClr val="hlink"/>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27" name="AutoShape 44"/>
            <p:cNvSpPr/>
            <p:nvPr/>
          </p:nvSpPr>
          <p:spPr>
            <a:xfrm>
              <a:off x="917" y="2629"/>
              <a:ext cx="103" cy="97"/>
            </a:xfrm>
            <a:prstGeom prst="cube">
              <a:avLst>
                <a:gd name="adj" fmla="val 25000"/>
              </a:avLst>
            </a:prstGeom>
            <a:solidFill>
              <a:schemeClr val="hlink"/>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grpSp>
      <p:sp>
        <p:nvSpPr>
          <p:cNvPr id="54304" name="AutoShape 45"/>
          <p:cNvSpPr/>
          <p:nvPr/>
        </p:nvSpPr>
        <p:spPr>
          <a:xfrm>
            <a:off x="1219200" y="5599113"/>
            <a:ext cx="163513" cy="163512"/>
          </a:xfrm>
          <a:prstGeom prst="can">
            <a:avLst>
              <a:gd name="adj" fmla="val 25000"/>
            </a:avLst>
          </a:prstGeom>
          <a:solidFill>
            <a:schemeClr val="hlink"/>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05" name="AutoShape 46"/>
          <p:cNvSpPr/>
          <p:nvPr/>
        </p:nvSpPr>
        <p:spPr>
          <a:xfrm>
            <a:off x="1409700" y="5608638"/>
            <a:ext cx="163513" cy="163512"/>
          </a:xfrm>
          <a:prstGeom prst="can">
            <a:avLst>
              <a:gd name="adj" fmla="val 25000"/>
            </a:avLst>
          </a:prstGeom>
          <a:solidFill>
            <a:schemeClr val="hlink"/>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06" name="AutoShape 47"/>
          <p:cNvSpPr/>
          <p:nvPr/>
        </p:nvSpPr>
        <p:spPr>
          <a:xfrm>
            <a:off x="1600200" y="5618163"/>
            <a:ext cx="163513" cy="163512"/>
          </a:xfrm>
          <a:prstGeom prst="can">
            <a:avLst>
              <a:gd name="adj" fmla="val 25000"/>
            </a:avLst>
          </a:prstGeom>
          <a:solidFill>
            <a:schemeClr val="hlink"/>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07" name="Text Box 48"/>
          <p:cNvSpPr txBox="1"/>
          <p:nvPr/>
        </p:nvSpPr>
        <p:spPr>
          <a:xfrm>
            <a:off x="2286000" y="2667000"/>
            <a:ext cx="1219200" cy="579438"/>
          </a:xfrm>
          <a:prstGeom prst="rect">
            <a:avLst/>
          </a:prstGeom>
          <a:noFill/>
          <a:ln w="9525">
            <a:noFill/>
          </a:ln>
        </p:spPr>
        <p:txBody>
          <a:bodyPr>
            <a:spAutoFit/>
          </a:bodyPr>
          <a:p>
            <a:pPr>
              <a:spcBef>
                <a:spcPct val="50000"/>
              </a:spcBef>
            </a:pPr>
            <a:r>
              <a:rPr sz="3200" dirty="0">
                <a:solidFill>
                  <a:srgbClr val="000000"/>
                </a:solidFill>
                <a:latin typeface="Arial" panose="020B0604020202020204" pitchFamily="34" charset="0"/>
              </a:rPr>
              <a:t>. . . .</a:t>
            </a:r>
            <a:endParaRPr sz="3200" dirty="0">
              <a:solidFill>
                <a:srgbClr val="000000"/>
              </a:solidFill>
              <a:latin typeface="Arial" panose="020B0604020202020204" pitchFamily="34" charset="0"/>
            </a:endParaRPr>
          </a:p>
        </p:txBody>
      </p:sp>
      <p:sp>
        <p:nvSpPr>
          <p:cNvPr id="54308" name="Line 49"/>
          <p:cNvSpPr/>
          <p:nvPr/>
        </p:nvSpPr>
        <p:spPr>
          <a:xfrm flipH="1">
            <a:off x="1371600" y="3429000"/>
            <a:ext cx="304800" cy="457200"/>
          </a:xfrm>
          <a:prstGeom prst="line">
            <a:avLst/>
          </a:prstGeom>
          <a:ln w="12700" cap="flat" cmpd="sng">
            <a:solidFill>
              <a:schemeClr val="folHlink"/>
            </a:solidFill>
            <a:prstDash val="solid"/>
            <a:headEnd type="none" w="med" len="med"/>
            <a:tailEnd type="none" w="med" len="med"/>
          </a:ln>
        </p:spPr>
      </p:sp>
      <p:sp>
        <p:nvSpPr>
          <p:cNvPr id="54309" name="AutoShape 50"/>
          <p:cNvSpPr/>
          <p:nvPr/>
        </p:nvSpPr>
        <p:spPr>
          <a:xfrm>
            <a:off x="1790700" y="4978400"/>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10" name="AutoShape 51"/>
          <p:cNvSpPr/>
          <p:nvPr/>
        </p:nvSpPr>
        <p:spPr>
          <a:xfrm>
            <a:off x="1778000" y="5270500"/>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54311" name="Picture 52" descr="USP"/>
          <p:cNvPicPr>
            <a:picLocks noChangeAspect="1"/>
          </p:cNvPicPr>
          <p:nvPr/>
        </p:nvPicPr>
        <p:blipFill>
          <a:blip r:embed="rId3"/>
          <a:stretch>
            <a:fillRect/>
          </a:stretch>
        </p:blipFill>
        <p:spPr>
          <a:xfrm>
            <a:off x="2438400" y="4495800"/>
            <a:ext cx="893763" cy="1600200"/>
          </a:xfrm>
          <a:prstGeom prst="rect">
            <a:avLst/>
          </a:prstGeom>
          <a:noFill/>
          <a:ln w="9525">
            <a:noFill/>
          </a:ln>
        </p:spPr>
      </p:pic>
      <p:sp>
        <p:nvSpPr>
          <p:cNvPr id="54312" name="AutoShape 53"/>
          <p:cNvSpPr/>
          <p:nvPr/>
        </p:nvSpPr>
        <p:spPr>
          <a:xfrm>
            <a:off x="3100388" y="5624513"/>
            <a:ext cx="163512" cy="163512"/>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13" name="AutoShape 54"/>
          <p:cNvSpPr/>
          <p:nvPr/>
        </p:nvSpPr>
        <p:spPr>
          <a:xfrm>
            <a:off x="2717800" y="4972050"/>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14" name="AutoShape 55"/>
          <p:cNvSpPr/>
          <p:nvPr/>
        </p:nvSpPr>
        <p:spPr>
          <a:xfrm>
            <a:off x="2908300" y="4981575"/>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15" name="AutoShape 56"/>
          <p:cNvSpPr/>
          <p:nvPr/>
        </p:nvSpPr>
        <p:spPr>
          <a:xfrm>
            <a:off x="2908300" y="5280025"/>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16" name="AutoShape 57"/>
          <p:cNvSpPr/>
          <p:nvPr/>
        </p:nvSpPr>
        <p:spPr>
          <a:xfrm>
            <a:off x="2527300" y="5267325"/>
            <a:ext cx="163513" cy="163513"/>
          </a:xfrm>
          <a:prstGeom prst="can">
            <a:avLst>
              <a:gd name="adj" fmla="val 25000"/>
            </a:avLst>
          </a:prstGeom>
          <a:solidFill>
            <a:srgbClr val="FF0000"/>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17" name="AutoShape 58"/>
          <p:cNvSpPr/>
          <p:nvPr/>
        </p:nvSpPr>
        <p:spPr>
          <a:xfrm>
            <a:off x="2717800" y="5276850"/>
            <a:ext cx="163513" cy="163513"/>
          </a:xfrm>
          <a:prstGeom prst="can">
            <a:avLst>
              <a:gd name="adj" fmla="val 25000"/>
            </a:avLst>
          </a:prstGeom>
          <a:solidFill>
            <a:srgbClr val="FF0000"/>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18" name="AutoShape 59"/>
          <p:cNvSpPr/>
          <p:nvPr/>
        </p:nvSpPr>
        <p:spPr>
          <a:xfrm>
            <a:off x="2514600" y="4964113"/>
            <a:ext cx="163513" cy="163512"/>
          </a:xfrm>
          <a:prstGeom prst="can">
            <a:avLst>
              <a:gd name="adj" fmla="val 25000"/>
            </a:avLst>
          </a:prstGeom>
          <a:solidFill>
            <a:srgbClr val="FF0000"/>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19" name="AutoShape 60"/>
          <p:cNvSpPr/>
          <p:nvPr/>
        </p:nvSpPr>
        <p:spPr>
          <a:xfrm>
            <a:off x="2527300" y="5608638"/>
            <a:ext cx="163513" cy="163512"/>
          </a:xfrm>
          <a:prstGeom prst="can">
            <a:avLst>
              <a:gd name="adj" fmla="val 25000"/>
            </a:avLst>
          </a:prstGeom>
          <a:solidFill>
            <a:schemeClr val="hlink"/>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20" name="AutoShape 61"/>
          <p:cNvSpPr/>
          <p:nvPr/>
        </p:nvSpPr>
        <p:spPr>
          <a:xfrm>
            <a:off x="2717800" y="5618163"/>
            <a:ext cx="163513" cy="163512"/>
          </a:xfrm>
          <a:prstGeom prst="can">
            <a:avLst>
              <a:gd name="adj" fmla="val 25000"/>
            </a:avLst>
          </a:prstGeom>
          <a:solidFill>
            <a:schemeClr val="hlink"/>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21" name="AutoShape 62"/>
          <p:cNvSpPr/>
          <p:nvPr/>
        </p:nvSpPr>
        <p:spPr>
          <a:xfrm>
            <a:off x="2908300" y="5627688"/>
            <a:ext cx="163513" cy="163512"/>
          </a:xfrm>
          <a:prstGeom prst="can">
            <a:avLst>
              <a:gd name="adj" fmla="val 25000"/>
            </a:avLst>
          </a:prstGeom>
          <a:solidFill>
            <a:schemeClr val="hlink"/>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22" name="AutoShape 63"/>
          <p:cNvSpPr/>
          <p:nvPr/>
        </p:nvSpPr>
        <p:spPr>
          <a:xfrm>
            <a:off x="3098800" y="4987925"/>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4323" name="AutoShape 64"/>
          <p:cNvSpPr/>
          <p:nvPr/>
        </p:nvSpPr>
        <p:spPr>
          <a:xfrm>
            <a:off x="3086100" y="5280025"/>
            <a:ext cx="163513" cy="163513"/>
          </a:xfrm>
          <a:prstGeom prst="can">
            <a:avLst>
              <a:gd name="adj" fmla="val 25000"/>
            </a:avLst>
          </a:prstGeom>
          <a:solidFill>
            <a:srgbClr val="FFCC33"/>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p:cNvSpPr>
          <p:nvPr>
            <p:ph type="title"/>
          </p:nvPr>
        </p:nvSpPr>
        <p:spPr>
          <a:xfrm>
            <a:off x="228600" y="104775"/>
            <a:ext cx="7086600" cy="576263"/>
          </a:xfrm>
          <a:ln/>
        </p:spPr>
        <p:txBody>
          <a:bodyPr vert="horz" wrap="square" lIns="91440" tIns="0" rIns="91440" bIns="0" anchor="ctr" anchorCtr="0">
            <a:spAutoFit/>
          </a:bodyPr>
          <a:p>
            <a:pPr eaLnBrk="1" hangingPunct="1"/>
            <a:r>
              <a:rPr dirty="0">
                <a:solidFill>
                  <a:schemeClr val="tx1"/>
                </a:solidFill>
              </a:rPr>
              <a:t>Read Caching</a:t>
            </a:r>
            <a:br>
              <a:rPr dirty="0">
                <a:solidFill>
                  <a:schemeClr val="tx1"/>
                </a:solidFill>
              </a:rPr>
            </a:br>
            <a:r>
              <a:rPr sz="1800" dirty="0">
                <a:solidFill>
                  <a:schemeClr val="tx1"/>
                </a:solidFill>
              </a:rPr>
              <a:t>(see Read Caching section for details)</a:t>
            </a:r>
            <a:endParaRPr sz="1800" dirty="0">
              <a:solidFill>
                <a:schemeClr val="tx1"/>
              </a:solidFill>
            </a:endParaRPr>
          </a:p>
        </p:txBody>
      </p:sp>
      <p:sp>
        <p:nvSpPr>
          <p:cNvPr id="56322" name="Rectangle 3"/>
          <p:cNvSpPr>
            <a:spLocks noGrp="1"/>
          </p:cNvSpPr>
          <p:nvPr>
            <p:ph type="body" sz="half" idx="2"/>
          </p:nvPr>
        </p:nvSpPr>
        <p:spPr>
          <a:xfrm>
            <a:off x="4649788" y="1219200"/>
            <a:ext cx="4038600" cy="4656138"/>
          </a:xfrm>
          <a:ln/>
        </p:spPr>
        <p:txBody>
          <a:bodyPr vert="horz" wrap="square" lIns="91440" tIns="45720" rIns="91440" bIns="45720" anchor="t" anchorCtr="0"/>
          <a:p>
            <a:pPr eaLnBrk="1" hangingPunct="1">
              <a:lnSpc>
                <a:spcPct val="90000"/>
              </a:lnSpc>
              <a:buClrTx/>
              <a:buSzTx/>
              <a:buFontTx/>
            </a:pPr>
            <a:r>
              <a:rPr sz="1800" dirty="0">
                <a:solidFill>
                  <a:schemeClr val="tx1"/>
                </a:solidFill>
              </a:rPr>
              <a:t>Features:</a:t>
            </a:r>
            <a:r>
              <a:rPr sz="1800" b="1" dirty="0">
                <a:solidFill>
                  <a:schemeClr val="tx1"/>
                </a:solidFill>
              </a:rPr>
              <a:t> </a:t>
            </a:r>
            <a:endParaRPr sz="1800" b="1" dirty="0">
              <a:solidFill>
                <a:schemeClr val="tx1"/>
              </a:solidFill>
            </a:endParaRPr>
          </a:p>
          <a:p>
            <a:pPr lvl="1" eaLnBrk="1" hangingPunct="1">
              <a:lnSpc>
                <a:spcPct val="90000"/>
              </a:lnSpc>
            </a:pPr>
            <a:r>
              <a:rPr sz="1600" dirty="0">
                <a:solidFill>
                  <a:schemeClr val="tx1"/>
                </a:solidFill>
              </a:rPr>
              <a:t>Designed for Demanding NFSv2/NFSv3 Based Protocol Workloads</a:t>
            </a:r>
            <a:endParaRPr sz="1600" dirty="0">
              <a:solidFill>
                <a:schemeClr val="tx1"/>
              </a:solidFill>
            </a:endParaRPr>
          </a:p>
          <a:p>
            <a:pPr lvl="1" eaLnBrk="1" hangingPunct="1">
              <a:lnSpc>
                <a:spcPct val="90000"/>
              </a:lnSpc>
            </a:pPr>
            <a:r>
              <a:rPr sz="1600" dirty="0">
                <a:solidFill>
                  <a:schemeClr val="tx1"/>
                </a:solidFill>
              </a:rPr>
              <a:t>Designed Read Traffic Profiles</a:t>
            </a:r>
            <a:endParaRPr sz="1600" dirty="0">
              <a:solidFill>
                <a:schemeClr val="tx1"/>
              </a:solidFill>
            </a:endParaRPr>
          </a:p>
          <a:p>
            <a:pPr lvl="1" eaLnBrk="1" hangingPunct="1">
              <a:lnSpc>
                <a:spcPct val="90000"/>
              </a:lnSpc>
            </a:pPr>
            <a:r>
              <a:rPr sz="1600" dirty="0">
                <a:solidFill>
                  <a:schemeClr val="tx1"/>
                </a:solidFill>
              </a:rPr>
              <a:t>Read Caching Accelerates NFSv2/NFSv3 Read Performance up to 7 times</a:t>
            </a:r>
            <a:endParaRPr sz="1600" dirty="0">
              <a:solidFill>
                <a:schemeClr val="tx1"/>
              </a:solidFill>
            </a:endParaRPr>
          </a:p>
          <a:p>
            <a:pPr lvl="1" eaLnBrk="1" hangingPunct="1">
              <a:lnSpc>
                <a:spcPct val="90000"/>
              </a:lnSpc>
            </a:pPr>
            <a:endParaRPr sz="1600" dirty="0">
              <a:solidFill>
                <a:schemeClr val="tx1"/>
              </a:solidFill>
            </a:endParaRPr>
          </a:p>
          <a:p>
            <a:pPr eaLnBrk="1" hangingPunct="1">
              <a:lnSpc>
                <a:spcPct val="90000"/>
              </a:lnSpc>
              <a:buClrTx/>
              <a:buSzTx/>
              <a:buFontTx/>
            </a:pPr>
            <a:r>
              <a:rPr sz="1800" dirty="0">
                <a:solidFill>
                  <a:schemeClr val="tx1"/>
                </a:solidFill>
              </a:rPr>
              <a:t>Benefits</a:t>
            </a:r>
            <a:endParaRPr sz="1800" dirty="0">
              <a:solidFill>
                <a:schemeClr val="tx1"/>
              </a:solidFill>
            </a:endParaRPr>
          </a:p>
          <a:p>
            <a:pPr lvl="1" eaLnBrk="1" hangingPunct="1">
              <a:lnSpc>
                <a:spcPct val="90000"/>
              </a:lnSpc>
            </a:pPr>
            <a:r>
              <a:rPr sz="1600" dirty="0">
                <a:solidFill>
                  <a:schemeClr val="tx1"/>
                </a:solidFill>
              </a:rPr>
              <a:t>Ideal for Unix Environments</a:t>
            </a:r>
            <a:endParaRPr sz="1600" dirty="0">
              <a:solidFill>
                <a:schemeClr val="tx1"/>
              </a:solidFill>
            </a:endParaRPr>
          </a:p>
          <a:p>
            <a:pPr lvl="1" eaLnBrk="1" hangingPunct="1">
              <a:lnSpc>
                <a:spcPct val="90000"/>
              </a:lnSpc>
            </a:pPr>
            <a:r>
              <a:rPr sz="1600" dirty="0">
                <a:solidFill>
                  <a:schemeClr val="tx1"/>
                </a:solidFill>
              </a:rPr>
              <a:t>Significant Increase in the Number of Servers and Clients Supported</a:t>
            </a:r>
            <a:endParaRPr sz="1200" dirty="0">
              <a:solidFill>
                <a:schemeClr val="tx1"/>
              </a:solidFill>
            </a:endParaRPr>
          </a:p>
        </p:txBody>
      </p:sp>
      <p:sp>
        <p:nvSpPr>
          <p:cNvPr id="56323" name="Rectangle 4"/>
          <p:cNvSpPr/>
          <p:nvPr/>
        </p:nvSpPr>
        <p:spPr>
          <a:xfrm>
            <a:off x="228600" y="1219200"/>
            <a:ext cx="4419600" cy="50292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56324" name="File"/>
          <p:cNvSpPr>
            <a:spLocks noEditPoints="1"/>
          </p:cNvSpPr>
          <p:nvPr/>
        </p:nvSpPr>
        <p:spPr>
          <a:xfrm>
            <a:off x="609600" y="2840038"/>
            <a:ext cx="655638" cy="403225"/>
          </a:xfrm>
          <a:custGeom>
            <a:avLst/>
            <a:gdLst>
              <a:gd name="txL" fmla="*/ 1086 w 21600"/>
              <a:gd name="txT" fmla="*/ 4628 h 21600"/>
              <a:gd name="txR" fmla="*/ 20635 w 21600"/>
              <a:gd name="txB" fmla="*/ 20289 h 21600"/>
            </a:gdLst>
            <a:ahLst/>
            <a:cxnLst>
              <a:cxn ang="0">
                <a:pos x="2147483647" y="2147483647"/>
              </a:cxn>
              <a:cxn ang="0">
                <a:pos x="0" y="2147483647"/>
              </a:cxn>
              <a:cxn ang="0">
                <a:pos x="2147483647" y="2147483647"/>
              </a:cxn>
              <a:cxn ang="0">
                <a:pos x="2147483647" y="2147483647"/>
              </a:cxn>
              <a:cxn ang="0">
                <a:pos x="0" y="2147483647"/>
              </a:cxn>
              <a:cxn ang="0">
                <a:pos x="2147483647" y="2147483647"/>
              </a:cxn>
            </a:cxnLst>
            <a:rect l="txL" t="txT" r="txR" b="txB"/>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lnTo>
                  <a:pt x="19790" y="3240"/>
                </a:lnTo>
                <a:close/>
              </a:path>
            </a:pathLst>
          </a:custGeom>
          <a:solidFill>
            <a:srgbClr val="FFCC33"/>
          </a:solidFill>
          <a:ln w="9525" cap="flat" cmpd="sng">
            <a:solidFill>
              <a:schemeClr val="tx1"/>
            </a:solidFill>
            <a:prstDash val="solid"/>
            <a:miter/>
            <a:headEnd type="none" w="med" len="med"/>
            <a:tailEnd type="none" w="med" len="med"/>
          </a:ln>
        </p:spPr>
        <p:txBody>
          <a:bodyPr/>
          <a:p>
            <a:r>
              <a:rPr sz="800" b="1" dirty="0">
                <a:solidFill>
                  <a:schemeClr val="tx1"/>
                </a:solidFill>
                <a:latin typeface="Tahoma" charset="0"/>
              </a:rPr>
              <a:t>Primary</a:t>
            </a:r>
            <a:endParaRPr sz="800" b="1" dirty="0">
              <a:solidFill>
                <a:schemeClr val="tx1"/>
              </a:solidFill>
              <a:latin typeface="Tahoma" charset="0"/>
            </a:endParaRPr>
          </a:p>
          <a:p>
            <a:r>
              <a:rPr sz="800" b="1" dirty="0">
                <a:solidFill>
                  <a:schemeClr val="tx1"/>
                </a:solidFill>
                <a:latin typeface="Tahoma" charset="0"/>
              </a:rPr>
              <a:t>Image</a:t>
            </a:r>
            <a:endParaRPr sz="800" b="1" dirty="0">
              <a:solidFill>
                <a:schemeClr val="tx1"/>
              </a:solidFill>
              <a:latin typeface="Tahoma" charset="0"/>
            </a:endParaRPr>
          </a:p>
        </p:txBody>
      </p:sp>
      <p:sp>
        <p:nvSpPr>
          <p:cNvPr id="56325" name="Text Box 6"/>
          <p:cNvSpPr txBox="1"/>
          <p:nvPr/>
        </p:nvSpPr>
        <p:spPr>
          <a:xfrm>
            <a:off x="2060575" y="4178300"/>
            <a:ext cx="819150" cy="336550"/>
          </a:xfrm>
          <a:prstGeom prst="rect">
            <a:avLst/>
          </a:prstGeom>
          <a:noFill/>
          <a:ln w="9525">
            <a:noFill/>
          </a:ln>
        </p:spPr>
        <p:txBody>
          <a:bodyPr>
            <a:spAutoFit/>
          </a:bodyPr>
          <a:p>
            <a:pPr algn="ctr">
              <a:spcBef>
                <a:spcPct val="50000"/>
              </a:spcBef>
            </a:pPr>
            <a:r>
              <a:rPr sz="1600" b="1" dirty="0">
                <a:solidFill>
                  <a:schemeClr val="tx1"/>
                </a:solidFill>
                <a:latin typeface="Arial" panose="020B0604020202020204" pitchFamily="34" charset="0"/>
              </a:rPr>
              <a:t>SAN</a:t>
            </a:r>
            <a:endParaRPr sz="1600" b="1" dirty="0">
              <a:solidFill>
                <a:schemeClr val="tx1"/>
              </a:solidFill>
              <a:latin typeface="Arial" panose="020B0604020202020204" pitchFamily="34" charset="0"/>
            </a:endParaRPr>
          </a:p>
        </p:txBody>
      </p:sp>
      <p:sp>
        <p:nvSpPr>
          <p:cNvPr id="578567" name="File"/>
          <p:cNvSpPr>
            <a:spLocks noEditPoints="1"/>
          </p:cNvSpPr>
          <p:nvPr/>
        </p:nvSpPr>
        <p:spPr>
          <a:xfrm>
            <a:off x="2667000" y="2846388"/>
            <a:ext cx="569913" cy="403225"/>
          </a:xfrm>
          <a:custGeom>
            <a:avLst/>
            <a:gdLst>
              <a:gd name="txL" fmla="*/ 1086 w 21600"/>
              <a:gd name="txT" fmla="*/ 4628 h 21600"/>
              <a:gd name="txR" fmla="*/ 20635 w 21600"/>
              <a:gd name="txB" fmla="*/ 20289 h 21600"/>
            </a:gdLst>
            <a:ahLst/>
            <a:cxnLst>
              <a:cxn ang="0">
                <a:pos x="2147483647" y="2147483647"/>
              </a:cxn>
              <a:cxn ang="0">
                <a:pos x="0" y="2147483647"/>
              </a:cxn>
              <a:cxn ang="0">
                <a:pos x="2147483647" y="2147483647"/>
              </a:cxn>
              <a:cxn ang="0">
                <a:pos x="2147483647" y="2147483647"/>
              </a:cxn>
              <a:cxn ang="0">
                <a:pos x="0" y="2147483647"/>
              </a:cxn>
              <a:cxn ang="0">
                <a:pos x="2147483647" y="2147483647"/>
              </a:cxn>
            </a:cxnLst>
            <a:rect l="txL" t="txT" r="txR" b="txB"/>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lnTo>
                  <a:pt x="19790" y="3240"/>
                </a:lnTo>
                <a:close/>
              </a:path>
            </a:pathLst>
          </a:custGeom>
          <a:solidFill>
            <a:srgbClr val="FFCC33"/>
          </a:solidFill>
          <a:ln w="9525" cap="flat" cmpd="sng">
            <a:solidFill>
              <a:schemeClr val="tx1"/>
            </a:solidFill>
            <a:prstDash val="solid"/>
            <a:miter/>
            <a:headEnd type="none" w="med" len="med"/>
            <a:tailEnd type="none" w="med" len="med"/>
          </a:ln>
        </p:spPr>
        <p:txBody>
          <a:bodyPr/>
          <a:p>
            <a:r>
              <a:rPr sz="800" b="1" dirty="0">
                <a:solidFill>
                  <a:schemeClr val="tx1"/>
                </a:solidFill>
                <a:latin typeface="Tahoma" charset="0"/>
              </a:rPr>
              <a:t>Copy3</a:t>
            </a:r>
            <a:endParaRPr sz="800" b="1" dirty="0">
              <a:solidFill>
                <a:schemeClr val="tx1"/>
              </a:solidFill>
              <a:latin typeface="Tahoma" charset="0"/>
            </a:endParaRPr>
          </a:p>
        </p:txBody>
      </p:sp>
      <p:sp>
        <p:nvSpPr>
          <p:cNvPr id="578568" name="File"/>
          <p:cNvSpPr>
            <a:spLocks noEditPoints="1"/>
          </p:cNvSpPr>
          <p:nvPr/>
        </p:nvSpPr>
        <p:spPr>
          <a:xfrm>
            <a:off x="1676400" y="2846388"/>
            <a:ext cx="560388" cy="403225"/>
          </a:xfrm>
          <a:custGeom>
            <a:avLst/>
            <a:gdLst>
              <a:gd name="txL" fmla="*/ 1086 w 21600"/>
              <a:gd name="txT" fmla="*/ 4628 h 21600"/>
              <a:gd name="txR" fmla="*/ 20635 w 21600"/>
              <a:gd name="txB" fmla="*/ 20289 h 21600"/>
            </a:gdLst>
            <a:ahLst/>
            <a:cxnLst>
              <a:cxn ang="0">
                <a:pos x="2147483647" y="2147483647"/>
              </a:cxn>
              <a:cxn ang="0">
                <a:pos x="0" y="2147483647"/>
              </a:cxn>
              <a:cxn ang="0">
                <a:pos x="2147483647" y="2147483647"/>
              </a:cxn>
              <a:cxn ang="0">
                <a:pos x="2147483647" y="2147483647"/>
              </a:cxn>
              <a:cxn ang="0">
                <a:pos x="0" y="2147483647"/>
              </a:cxn>
              <a:cxn ang="0">
                <a:pos x="2147483647" y="2147483647"/>
              </a:cxn>
            </a:cxnLst>
            <a:rect l="txL" t="txT" r="txR" b="txB"/>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lnTo>
                  <a:pt x="19790" y="3240"/>
                </a:lnTo>
                <a:close/>
              </a:path>
            </a:pathLst>
          </a:custGeom>
          <a:solidFill>
            <a:srgbClr val="FFCC33"/>
          </a:solidFill>
          <a:ln w="9525" cap="flat" cmpd="sng">
            <a:solidFill>
              <a:schemeClr val="tx1"/>
            </a:solidFill>
            <a:prstDash val="solid"/>
            <a:miter/>
            <a:headEnd type="none" w="med" len="med"/>
            <a:tailEnd type="none" w="med" len="med"/>
          </a:ln>
        </p:spPr>
        <p:txBody>
          <a:bodyPr/>
          <a:p>
            <a:r>
              <a:rPr sz="800" b="1" dirty="0">
                <a:solidFill>
                  <a:schemeClr val="tx1"/>
                </a:solidFill>
                <a:latin typeface="Tahoma" charset="0"/>
              </a:rPr>
              <a:t>Copy2</a:t>
            </a:r>
            <a:endParaRPr sz="800" b="1" dirty="0">
              <a:solidFill>
                <a:schemeClr val="tx1"/>
              </a:solidFill>
              <a:latin typeface="Tahoma" charset="0"/>
            </a:endParaRPr>
          </a:p>
        </p:txBody>
      </p:sp>
      <p:sp>
        <p:nvSpPr>
          <p:cNvPr id="578569" name="File"/>
          <p:cNvSpPr>
            <a:spLocks noEditPoints="1"/>
          </p:cNvSpPr>
          <p:nvPr/>
        </p:nvSpPr>
        <p:spPr>
          <a:xfrm>
            <a:off x="3678238" y="2844800"/>
            <a:ext cx="588962" cy="403225"/>
          </a:xfrm>
          <a:custGeom>
            <a:avLst/>
            <a:gdLst>
              <a:gd name="txL" fmla="*/ 1086 w 21600"/>
              <a:gd name="txT" fmla="*/ 4628 h 21600"/>
              <a:gd name="txR" fmla="*/ 20635 w 21600"/>
              <a:gd name="txB" fmla="*/ 20289 h 21600"/>
            </a:gdLst>
            <a:ahLst/>
            <a:cxnLst>
              <a:cxn ang="0">
                <a:pos x="2147483647" y="2147483647"/>
              </a:cxn>
              <a:cxn ang="0">
                <a:pos x="0" y="2147483647"/>
              </a:cxn>
              <a:cxn ang="0">
                <a:pos x="2147483647" y="2147483647"/>
              </a:cxn>
              <a:cxn ang="0">
                <a:pos x="2147483647" y="2147483647"/>
              </a:cxn>
              <a:cxn ang="0">
                <a:pos x="0" y="2147483647"/>
              </a:cxn>
              <a:cxn ang="0">
                <a:pos x="2147483647" y="2147483647"/>
              </a:cxn>
            </a:cxnLst>
            <a:rect l="txL" t="txT" r="txR" b="txB"/>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lnTo>
                  <a:pt x="19790" y="3240"/>
                </a:lnTo>
                <a:close/>
              </a:path>
            </a:pathLst>
          </a:custGeom>
          <a:solidFill>
            <a:srgbClr val="FFCC33"/>
          </a:solidFill>
          <a:ln w="9525" cap="flat" cmpd="sng">
            <a:solidFill>
              <a:schemeClr val="tx1"/>
            </a:solidFill>
            <a:prstDash val="solid"/>
            <a:miter/>
            <a:headEnd type="none" w="med" len="med"/>
            <a:tailEnd type="none" w="med" len="med"/>
          </a:ln>
        </p:spPr>
        <p:txBody>
          <a:bodyPr/>
          <a:p>
            <a:r>
              <a:rPr sz="800" b="1" dirty="0">
                <a:solidFill>
                  <a:schemeClr val="tx1"/>
                </a:solidFill>
                <a:latin typeface="Tahoma" charset="0"/>
              </a:rPr>
              <a:t>Copy4</a:t>
            </a:r>
            <a:endParaRPr sz="800" b="1" dirty="0">
              <a:solidFill>
                <a:schemeClr val="tx1"/>
              </a:solidFill>
              <a:latin typeface="Tahoma" charset="0"/>
            </a:endParaRPr>
          </a:p>
        </p:txBody>
      </p:sp>
      <p:sp>
        <p:nvSpPr>
          <p:cNvPr id="56329" name="AutoShape 10"/>
          <p:cNvSpPr/>
          <p:nvPr/>
        </p:nvSpPr>
        <p:spPr>
          <a:xfrm rot="-5400000">
            <a:off x="757238" y="2551113"/>
            <a:ext cx="382587" cy="176212"/>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hlink">
              <a:alpha val="100000"/>
            </a:schemeClr>
          </a:solidFill>
          <a:ln w="9525" cap="flat" cmpd="sng">
            <a:solidFill>
              <a:schemeClr val="tx1">
                <a:alpha val="100000"/>
              </a:schemeClr>
            </a:solidFill>
            <a:prstDash val="solid"/>
            <a:miter lim="800000"/>
            <a:headEnd type="none" w="med" len="med"/>
            <a:tailEnd type="none" w="med" len="med"/>
          </a:ln>
        </p:spPr>
        <p:txBody>
          <a:bodyPr/>
          <a:p>
            <a:endParaRPr lang="en-US"/>
          </a:p>
        </p:txBody>
      </p:sp>
      <p:sp>
        <p:nvSpPr>
          <p:cNvPr id="578571" name="AutoShape 11"/>
          <p:cNvSpPr/>
          <p:nvPr/>
        </p:nvSpPr>
        <p:spPr>
          <a:xfrm rot="-5400000">
            <a:off x="1785938" y="2541588"/>
            <a:ext cx="382587" cy="176212"/>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hlink">
              <a:alpha val="100000"/>
            </a:schemeClr>
          </a:solidFill>
          <a:ln w="9525" cap="flat" cmpd="sng">
            <a:solidFill>
              <a:schemeClr val="tx1">
                <a:alpha val="100000"/>
              </a:schemeClr>
            </a:solidFill>
            <a:prstDash val="solid"/>
            <a:miter lim="800000"/>
            <a:headEnd type="none" w="med" len="med"/>
            <a:tailEnd type="none" w="med" len="med"/>
          </a:ln>
        </p:spPr>
        <p:txBody>
          <a:bodyPr/>
          <a:p>
            <a:endParaRPr lang="en-US"/>
          </a:p>
        </p:txBody>
      </p:sp>
      <p:sp>
        <p:nvSpPr>
          <p:cNvPr id="578572" name="AutoShape 12"/>
          <p:cNvSpPr/>
          <p:nvPr/>
        </p:nvSpPr>
        <p:spPr>
          <a:xfrm rot="-5400000">
            <a:off x="3825875" y="2562225"/>
            <a:ext cx="382588" cy="176213"/>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hlink">
              <a:alpha val="100000"/>
            </a:schemeClr>
          </a:solidFill>
          <a:ln w="9525" cap="flat" cmpd="sng">
            <a:solidFill>
              <a:schemeClr val="tx1">
                <a:alpha val="100000"/>
              </a:schemeClr>
            </a:solidFill>
            <a:prstDash val="solid"/>
            <a:miter lim="800000"/>
            <a:headEnd type="none" w="med" len="med"/>
            <a:tailEnd type="none" w="med" len="med"/>
          </a:ln>
        </p:spPr>
        <p:txBody>
          <a:bodyPr/>
          <a:p>
            <a:endParaRPr lang="en-US"/>
          </a:p>
        </p:txBody>
      </p:sp>
      <p:sp>
        <p:nvSpPr>
          <p:cNvPr id="578573" name="AutoShape 13"/>
          <p:cNvSpPr/>
          <p:nvPr/>
        </p:nvSpPr>
        <p:spPr>
          <a:xfrm rot="-5400000">
            <a:off x="2767013" y="2551113"/>
            <a:ext cx="382587" cy="176212"/>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hlink">
              <a:alpha val="100000"/>
            </a:schemeClr>
          </a:solidFill>
          <a:ln w="9525" cap="flat" cmpd="sng">
            <a:solidFill>
              <a:schemeClr val="tx1">
                <a:alpha val="100000"/>
              </a:schemeClr>
            </a:solidFill>
            <a:prstDash val="solid"/>
            <a:miter lim="800000"/>
            <a:headEnd type="none" w="med" len="med"/>
            <a:tailEnd type="none" w="med" len="med"/>
          </a:ln>
        </p:spPr>
        <p:txBody>
          <a:bodyPr/>
          <a:p>
            <a:endParaRPr lang="en-US"/>
          </a:p>
        </p:txBody>
      </p:sp>
      <p:sp>
        <p:nvSpPr>
          <p:cNvPr id="56333" name="Text Box 14"/>
          <p:cNvSpPr txBox="1"/>
          <p:nvPr/>
        </p:nvSpPr>
        <p:spPr>
          <a:xfrm>
            <a:off x="971550" y="5334000"/>
            <a:ext cx="2990850" cy="641350"/>
          </a:xfrm>
          <a:prstGeom prst="rect">
            <a:avLst/>
          </a:prstGeom>
          <a:noFill/>
          <a:ln w="9525">
            <a:noFill/>
          </a:ln>
        </p:spPr>
        <p:txBody>
          <a:bodyPr wrap="none">
            <a:spAutoFit/>
          </a:bodyPr>
          <a:p>
            <a:pPr algn="ctr"/>
            <a:r>
              <a:rPr dirty="0">
                <a:solidFill>
                  <a:schemeClr val="tx1"/>
                </a:solidFill>
                <a:latin typeface="Arial" panose="020B0604020202020204" pitchFamily="34" charset="0"/>
              </a:rPr>
              <a:t>Multiple Local Copies</a:t>
            </a:r>
            <a:endParaRPr dirty="0">
              <a:solidFill>
                <a:schemeClr val="tx1"/>
              </a:solidFill>
              <a:latin typeface="Arial" panose="020B0604020202020204" pitchFamily="34" charset="0"/>
            </a:endParaRPr>
          </a:p>
          <a:p>
            <a:pPr algn="ctr"/>
            <a:r>
              <a:rPr dirty="0">
                <a:solidFill>
                  <a:schemeClr val="tx1"/>
                </a:solidFill>
                <a:latin typeface="Arial" panose="020B0604020202020204" pitchFamily="34" charset="0"/>
              </a:rPr>
              <a:t>Synchronized Read Images</a:t>
            </a:r>
            <a:endParaRPr dirty="0">
              <a:solidFill>
                <a:schemeClr val="tx1"/>
              </a:solidFill>
              <a:latin typeface="Arial" panose="020B0604020202020204" pitchFamily="34" charset="0"/>
            </a:endParaRPr>
          </a:p>
        </p:txBody>
      </p:sp>
      <p:sp>
        <p:nvSpPr>
          <p:cNvPr id="56334" name="Text Box 15"/>
          <p:cNvSpPr txBox="1"/>
          <p:nvPr/>
        </p:nvSpPr>
        <p:spPr>
          <a:xfrm>
            <a:off x="1752600" y="1600200"/>
            <a:ext cx="1385888" cy="822325"/>
          </a:xfrm>
          <a:prstGeom prst="rect">
            <a:avLst/>
          </a:prstGeom>
          <a:noFill/>
          <a:ln w="9525">
            <a:noFill/>
          </a:ln>
        </p:spPr>
        <p:txBody>
          <a:bodyPr wrap="none">
            <a:spAutoFit/>
          </a:bodyPr>
          <a:p>
            <a:pPr algn="ctr"/>
            <a:r>
              <a:rPr sz="2400" b="1" dirty="0">
                <a:solidFill>
                  <a:schemeClr val="tx1"/>
                </a:solidFill>
                <a:latin typeface="Arial" panose="020B0604020202020204" pitchFamily="34" charset="0"/>
              </a:rPr>
              <a:t>Read</a:t>
            </a:r>
            <a:endParaRPr sz="2400" b="1" dirty="0">
              <a:solidFill>
                <a:schemeClr val="tx1"/>
              </a:solidFill>
              <a:latin typeface="Arial" panose="020B0604020202020204" pitchFamily="34" charset="0"/>
            </a:endParaRPr>
          </a:p>
          <a:p>
            <a:pPr algn="ctr"/>
            <a:r>
              <a:rPr sz="2400" b="1" dirty="0">
                <a:solidFill>
                  <a:schemeClr val="tx1"/>
                </a:solidFill>
                <a:latin typeface="Arial" panose="020B0604020202020204" pitchFamily="34" charset="0"/>
              </a:rPr>
              <a:t>Caching</a:t>
            </a:r>
            <a:endParaRPr sz="2400" b="1" dirty="0">
              <a:solidFill>
                <a:schemeClr val="tx1"/>
              </a:solidFill>
              <a:latin typeface="Arial" panose="020B0604020202020204" pitchFamily="34" charset="0"/>
            </a:endParaRPr>
          </a:p>
        </p:txBody>
      </p:sp>
      <p:sp>
        <p:nvSpPr>
          <p:cNvPr id="56335" name="Rectangle 16"/>
          <p:cNvSpPr/>
          <p:nvPr/>
        </p:nvSpPr>
        <p:spPr>
          <a:xfrm>
            <a:off x="381000" y="3276600"/>
            <a:ext cx="4114800" cy="657225"/>
          </a:xfrm>
          <a:prstGeom prst="rect">
            <a:avLst/>
          </a:prstGeom>
          <a:solidFill>
            <a:srgbClr val="99CCFF">
              <a:alpha val="30196"/>
            </a:srgbClr>
          </a:solidFill>
          <a:ln w="9525" cap="flat" cmpd="sng">
            <a:solidFill>
              <a:schemeClr val="fo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56336" name="Picture 17" descr="Cloud"/>
          <p:cNvPicPr>
            <a:picLocks noChangeAspect="1"/>
          </p:cNvPicPr>
          <p:nvPr/>
        </p:nvPicPr>
        <p:blipFill>
          <a:blip r:embed="rId1"/>
          <a:stretch>
            <a:fillRect/>
          </a:stretch>
        </p:blipFill>
        <p:spPr>
          <a:xfrm>
            <a:off x="1116013" y="3776663"/>
            <a:ext cx="2573337" cy="801687"/>
          </a:xfrm>
          <a:prstGeom prst="rect">
            <a:avLst/>
          </a:prstGeom>
          <a:noFill/>
          <a:ln w="9525">
            <a:noFill/>
          </a:ln>
        </p:spPr>
      </p:pic>
      <p:sp>
        <p:nvSpPr>
          <p:cNvPr id="56337" name="Text Box 18"/>
          <p:cNvSpPr txBox="1"/>
          <p:nvPr/>
        </p:nvSpPr>
        <p:spPr>
          <a:xfrm>
            <a:off x="1776413" y="4038600"/>
            <a:ext cx="1279525" cy="304800"/>
          </a:xfrm>
          <a:prstGeom prst="rect">
            <a:avLst/>
          </a:prstGeom>
          <a:noFill/>
          <a:ln w="9525">
            <a:noFill/>
          </a:ln>
        </p:spPr>
        <p:txBody>
          <a:bodyPr>
            <a:spAutoFit/>
          </a:bodyPr>
          <a:p>
            <a:pPr algn="ctr">
              <a:spcBef>
                <a:spcPct val="50000"/>
              </a:spcBef>
            </a:pPr>
            <a:r>
              <a:rPr sz="1400" b="1" dirty="0">
                <a:solidFill>
                  <a:schemeClr val="tx1"/>
                </a:solidFill>
                <a:latin typeface="Arial" panose="020B0604020202020204" pitchFamily="34" charset="0"/>
              </a:rPr>
              <a:t>Shared SAN</a:t>
            </a:r>
            <a:endParaRPr sz="1400" b="1" dirty="0">
              <a:solidFill>
                <a:schemeClr val="tx1"/>
              </a:solidFill>
              <a:latin typeface="Arial" panose="020B0604020202020204" pitchFamily="34" charset="0"/>
            </a:endParaRPr>
          </a:p>
        </p:txBody>
      </p:sp>
      <p:pic>
        <p:nvPicPr>
          <p:cNvPr id="56338" name="Picture 24" descr="ams200_WMS100_nas"/>
          <p:cNvPicPr>
            <a:picLocks noChangeAspect="1"/>
          </p:cNvPicPr>
          <p:nvPr/>
        </p:nvPicPr>
        <p:blipFill>
          <a:blip r:embed="rId2"/>
          <a:stretch>
            <a:fillRect/>
          </a:stretch>
        </p:blipFill>
        <p:spPr>
          <a:xfrm>
            <a:off x="1295400" y="4343400"/>
            <a:ext cx="785813" cy="1020763"/>
          </a:xfrm>
          <a:prstGeom prst="rect">
            <a:avLst/>
          </a:prstGeom>
          <a:noFill/>
          <a:ln w="9525">
            <a:noFill/>
          </a:ln>
        </p:spPr>
      </p:pic>
      <p:pic>
        <p:nvPicPr>
          <p:cNvPr id="56339" name="Picture 25" descr="ams200_WMS100_nas"/>
          <p:cNvPicPr>
            <a:picLocks noChangeAspect="1"/>
          </p:cNvPicPr>
          <p:nvPr/>
        </p:nvPicPr>
        <p:blipFill>
          <a:blip r:embed="rId2"/>
          <a:stretch>
            <a:fillRect/>
          </a:stretch>
        </p:blipFill>
        <p:spPr>
          <a:xfrm>
            <a:off x="2819400" y="4343400"/>
            <a:ext cx="785813" cy="1020763"/>
          </a:xfrm>
          <a:prstGeom prst="rect">
            <a:avLst/>
          </a:prstGeom>
          <a:noFill/>
          <a:ln w="9525">
            <a:noFill/>
          </a:ln>
        </p:spPr>
      </p:pic>
      <p:pic>
        <p:nvPicPr>
          <p:cNvPr id="56340" name="Picture 36"/>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381000" y="3276600"/>
            <a:ext cx="990600" cy="446088"/>
          </a:xfrm>
          <a:prstGeom prst="rect">
            <a:avLst/>
          </a:prstGeom>
          <a:noFill/>
          <a:ln w="9525">
            <a:noFill/>
          </a:ln>
        </p:spPr>
      </p:pic>
      <p:pic>
        <p:nvPicPr>
          <p:cNvPr id="56341" name="Picture 41"/>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1371600" y="3276600"/>
            <a:ext cx="990600" cy="446088"/>
          </a:xfrm>
          <a:prstGeom prst="rect">
            <a:avLst/>
          </a:prstGeom>
          <a:noFill/>
          <a:ln w="9525">
            <a:noFill/>
          </a:ln>
        </p:spPr>
      </p:pic>
      <p:pic>
        <p:nvPicPr>
          <p:cNvPr id="56342" name="Picture 44"/>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2514600" y="3276600"/>
            <a:ext cx="990600" cy="446088"/>
          </a:xfrm>
          <a:prstGeom prst="rect">
            <a:avLst/>
          </a:prstGeom>
          <a:noFill/>
          <a:ln w="9525">
            <a:noFill/>
          </a:ln>
        </p:spPr>
      </p:pic>
      <p:pic>
        <p:nvPicPr>
          <p:cNvPr id="56343" name="Picture 47"/>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3505200" y="3276600"/>
            <a:ext cx="990600" cy="4460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78568"/>
                                        </p:tgtEl>
                                        <p:attrNameLst>
                                          <p:attrName>style.visibility</p:attrName>
                                        </p:attrNameLst>
                                      </p:cBhvr>
                                      <p:to>
                                        <p:strVal val="visible"/>
                                      </p:to>
                                    </p:set>
                                    <p:animEffect transition="in" filter="blinds(horizontal)">
                                      <p:cBhvr>
                                        <p:cTn id="7" dur="500"/>
                                        <p:tgtEl>
                                          <p:spTgt spid="578568"/>
                                        </p:tgtEl>
                                      </p:cBhvr>
                                    </p:animEffect>
                                  </p:childTnLst>
                                </p:cTn>
                              </p:par>
                              <p:par>
                                <p:cTn id="8" presetID="3" presetClass="entr" presetSubtype="10" fill="hold" nodeType="withEffect">
                                  <p:stCondLst>
                                    <p:cond delay="0"/>
                                  </p:stCondLst>
                                  <p:childTnLst>
                                    <p:set>
                                      <p:cBhvr>
                                        <p:cTn id="9" dur="1" fill="hold">
                                          <p:stCondLst>
                                            <p:cond delay="0"/>
                                          </p:stCondLst>
                                        </p:cTn>
                                        <p:tgtEl>
                                          <p:spTgt spid="578571"/>
                                        </p:tgtEl>
                                        <p:attrNameLst>
                                          <p:attrName>style.visibility</p:attrName>
                                        </p:attrNameLst>
                                      </p:cBhvr>
                                      <p:to>
                                        <p:strVal val="visible"/>
                                      </p:to>
                                    </p:set>
                                    <p:animEffect transition="in" filter="blinds(horizontal)">
                                      <p:cBhvr>
                                        <p:cTn id="10" dur="500"/>
                                        <p:tgtEl>
                                          <p:spTgt spid="578571"/>
                                        </p:tgtEl>
                                      </p:cBhvr>
                                    </p:animEffect>
                                  </p:childTnLst>
                                </p:cTn>
                              </p:par>
                              <p:par>
                                <p:cTn id="11" presetID="3" presetClass="entr" presetSubtype="10" fill="hold" grpId="0" nodeType="withEffect">
                                  <p:stCondLst>
                                    <p:cond delay="1000"/>
                                  </p:stCondLst>
                                  <p:childTnLst>
                                    <p:set>
                                      <p:cBhvr>
                                        <p:cTn id="12" dur="1" fill="hold">
                                          <p:stCondLst>
                                            <p:cond delay="0"/>
                                          </p:stCondLst>
                                        </p:cTn>
                                        <p:tgtEl>
                                          <p:spTgt spid="578567"/>
                                        </p:tgtEl>
                                        <p:attrNameLst>
                                          <p:attrName>style.visibility</p:attrName>
                                        </p:attrNameLst>
                                      </p:cBhvr>
                                      <p:to>
                                        <p:strVal val="visible"/>
                                      </p:to>
                                    </p:set>
                                    <p:animEffect transition="in" filter="blinds(horizontal)">
                                      <p:cBhvr>
                                        <p:cTn id="13" dur="500"/>
                                        <p:tgtEl>
                                          <p:spTgt spid="578567"/>
                                        </p:tgtEl>
                                      </p:cBhvr>
                                    </p:animEffect>
                                  </p:childTnLst>
                                </p:cTn>
                              </p:par>
                              <p:par>
                                <p:cTn id="14" presetID="3" presetClass="entr" presetSubtype="10" fill="hold" nodeType="withEffect">
                                  <p:stCondLst>
                                    <p:cond delay="1000"/>
                                  </p:stCondLst>
                                  <p:childTnLst>
                                    <p:set>
                                      <p:cBhvr>
                                        <p:cTn id="15" dur="1" fill="hold">
                                          <p:stCondLst>
                                            <p:cond delay="0"/>
                                          </p:stCondLst>
                                        </p:cTn>
                                        <p:tgtEl>
                                          <p:spTgt spid="578573"/>
                                        </p:tgtEl>
                                        <p:attrNameLst>
                                          <p:attrName>style.visibility</p:attrName>
                                        </p:attrNameLst>
                                      </p:cBhvr>
                                      <p:to>
                                        <p:strVal val="visible"/>
                                      </p:to>
                                    </p:set>
                                    <p:animEffect transition="in" filter="blinds(horizontal)">
                                      <p:cBhvr>
                                        <p:cTn id="16" dur="500"/>
                                        <p:tgtEl>
                                          <p:spTgt spid="578573"/>
                                        </p:tgtEl>
                                      </p:cBhvr>
                                    </p:animEffect>
                                  </p:childTnLst>
                                </p:cTn>
                              </p:par>
                              <p:par>
                                <p:cTn id="17" presetID="3" presetClass="entr" presetSubtype="10" fill="hold" grpId="0" nodeType="withEffect">
                                  <p:stCondLst>
                                    <p:cond delay="2000"/>
                                  </p:stCondLst>
                                  <p:childTnLst>
                                    <p:set>
                                      <p:cBhvr>
                                        <p:cTn id="18" dur="1" fill="hold">
                                          <p:stCondLst>
                                            <p:cond delay="0"/>
                                          </p:stCondLst>
                                        </p:cTn>
                                        <p:tgtEl>
                                          <p:spTgt spid="578569"/>
                                        </p:tgtEl>
                                        <p:attrNameLst>
                                          <p:attrName>style.visibility</p:attrName>
                                        </p:attrNameLst>
                                      </p:cBhvr>
                                      <p:to>
                                        <p:strVal val="visible"/>
                                      </p:to>
                                    </p:set>
                                    <p:animEffect transition="in" filter="blinds(horizontal)">
                                      <p:cBhvr>
                                        <p:cTn id="19" dur="500"/>
                                        <p:tgtEl>
                                          <p:spTgt spid="578569"/>
                                        </p:tgtEl>
                                      </p:cBhvr>
                                    </p:animEffect>
                                  </p:childTnLst>
                                </p:cTn>
                              </p:par>
                              <p:par>
                                <p:cTn id="20" presetID="3" presetClass="entr" presetSubtype="10" fill="hold" nodeType="withEffect">
                                  <p:stCondLst>
                                    <p:cond delay="2000"/>
                                  </p:stCondLst>
                                  <p:childTnLst>
                                    <p:set>
                                      <p:cBhvr>
                                        <p:cTn id="21" dur="1" fill="hold">
                                          <p:stCondLst>
                                            <p:cond delay="0"/>
                                          </p:stCondLst>
                                        </p:cTn>
                                        <p:tgtEl>
                                          <p:spTgt spid="578572"/>
                                        </p:tgtEl>
                                        <p:attrNameLst>
                                          <p:attrName>style.visibility</p:attrName>
                                        </p:attrNameLst>
                                      </p:cBhvr>
                                      <p:to>
                                        <p:strVal val="visible"/>
                                      </p:to>
                                    </p:set>
                                    <p:animEffect transition="in" filter="blinds(horizontal)">
                                      <p:cBhvr>
                                        <p:cTn id="22" dur="500"/>
                                        <p:tgtEl>
                                          <p:spTgt spid="578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7" grpId="0" animBg="1"/>
      <p:bldP spid="578568" grpId="0" animBg="1"/>
      <p:bldP spid="57856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idx="4294967295"/>
          </p:nvPr>
        </p:nvSpPr>
        <p:spPr>
          <a:ln/>
        </p:spPr>
        <p:txBody>
          <a:bodyPr vert="horz" wrap="square" lIns="91440" tIns="45720" rIns="91440" bIns="45720" anchor="ctr" anchorCtr="0">
            <a:spAutoFit/>
          </a:bodyPr>
          <a:p>
            <a:r>
              <a:rPr dirty="0"/>
              <a:t>Dynamic Write Balancing (DWB)</a:t>
            </a:r>
            <a:br>
              <a:rPr dirty="0"/>
            </a:br>
            <a:r>
              <a:rPr dirty="0"/>
              <a:t> </a:t>
            </a:r>
            <a:r>
              <a:rPr sz="1800" dirty="0">
                <a:solidFill>
                  <a:schemeClr val="tx1"/>
                </a:solidFill>
              </a:rPr>
              <a:t>(see DWB section for details)</a:t>
            </a:r>
            <a:endParaRPr sz="1800" dirty="0">
              <a:solidFill>
                <a:schemeClr val="tx1"/>
              </a:solidFill>
            </a:endParaRPr>
          </a:p>
        </p:txBody>
      </p:sp>
      <p:sp>
        <p:nvSpPr>
          <p:cNvPr id="58370" name="Rectangle 3"/>
          <p:cNvSpPr>
            <a:spLocks noGrp="1"/>
          </p:cNvSpPr>
          <p:nvPr>
            <p:ph type="body" idx="4294967295"/>
          </p:nvPr>
        </p:nvSpPr>
        <p:spPr>
          <a:xfrm>
            <a:off x="227013" y="1066800"/>
            <a:ext cx="8763000" cy="5014913"/>
          </a:xfrm>
          <a:ln/>
        </p:spPr>
        <p:txBody>
          <a:bodyPr vert="horz" wrap="square" lIns="91440" tIns="45720" rIns="91440" bIns="45720" anchor="t" anchorCtr="0"/>
          <a:p>
            <a:pPr marL="344805" indent="-344805">
              <a:lnSpc>
                <a:spcPct val="85000"/>
              </a:lnSpc>
              <a:tabLst>
                <a:tab pos="-635" algn="l"/>
              </a:tabLst>
            </a:pPr>
            <a:r>
              <a:rPr sz="1800" dirty="0"/>
              <a:t>A solution to the </a:t>
            </a:r>
            <a:r>
              <a:rPr lang="ja-JP" altLang="en-US" sz="1800" dirty="0"/>
              <a:t>“</a:t>
            </a:r>
            <a:r>
              <a:rPr lang="en-US" altLang="ja-JP" sz="1800" dirty="0"/>
              <a:t>re-striping problem</a:t>
            </a:r>
            <a:r>
              <a:rPr lang="ja-JP" altLang="en-US" sz="1800" dirty="0"/>
              <a:t>”</a:t>
            </a:r>
            <a:endParaRPr lang="en-US" altLang="ja-JP" sz="1800" dirty="0"/>
          </a:p>
          <a:p>
            <a:pPr marL="802005" lvl="1" indent="-336550">
              <a:lnSpc>
                <a:spcPct val="85000"/>
              </a:lnSpc>
              <a:tabLst>
                <a:tab pos="-635" algn="l"/>
              </a:tabLst>
            </a:pPr>
            <a:r>
              <a:rPr sz="1600" dirty="0"/>
              <a:t>Encountered by some customers as they expand a storage pool</a:t>
            </a:r>
            <a:endParaRPr sz="1600" dirty="0"/>
          </a:p>
          <a:p>
            <a:pPr marL="1208405" lvl="2" indent="-292100">
              <a:lnSpc>
                <a:spcPct val="85000"/>
              </a:lnSpc>
              <a:tabLst>
                <a:tab pos="-635" algn="l"/>
              </a:tabLst>
            </a:pPr>
            <a:r>
              <a:rPr sz="1600" dirty="0"/>
              <a:t>Performance does not increase linearly as storage is added</a:t>
            </a:r>
            <a:endParaRPr sz="1600" dirty="0"/>
          </a:p>
          <a:p>
            <a:pPr marL="1208405" lvl="2" indent="-292100">
              <a:lnSpc>
                <a:spcPct val="85000"/>
              </a:lnSpc>
              <a:tabLst>
                <a:tab pos="-635" algn="l"/>
              </a:tabLst>
            </a:pPr>
            <a:r>
              <a:rPr sz="1600" dirty="0"/>
              <a:t>And, in fact, it may decrease (e.g. adding stripeset that is of different Geometry)</a:t>
            </a:r>
            <a:endParaRPr sz="1600" dirty="0"/>
          </a:p>
          <a:p>
            <a:pPr marL="344805" indent="-344805">
              <a:lnSpc>
                <a:spcPct val="85000"/>
              </a:lnSpc>
              <a:tabLst>
                <a:tab pos="-635" algn="l"/>
              </a:tabLst>
            </a:pPr>
            <a:r>
              <a:rPr sz="1800" dirty="0"/>
              <a:t>DWB distributes writes </a:t>
            </a:r>
            <a:r>
              <a:rPr lang="ja-JP" altLang="en-US" sz="1800" dirty="0"/>
              <a:t>“</a:t>
            </a:r>
            <a:r>
              <a:rPr lang="en-US" altLang="ja-JP" sz="1800" dirty="0"/>
              <a:t>intelligently</a:t>
            </a:r>
            <a:r>
              <a:rPr lang="ja-JP" altLang="en-US" sz="1800" dirty="0"/>
              <a:t>”</a:t>
            </a:r>
            <a:r>
              <a:rPr lang="en-US" altLang="ja-JP" sz="1800" dirty="0"/>
              <a:t> across all available LUNs</a:t>
            </a:r>
            <a:endParaRPr lang="en-US" altLang="ja-JP" sz="1800" dirty="0"/>
          </a:p>
          <a:p>
            <a:pPr marL="802005" lvl="1" indent="-336550">
              <a:lnSpc>
                <a:spcPct val="85000"/>
              </a:lnSpc>
              <a:tabLst>
                <a:tab pos="-635" algn="l"/>
              </a:tabLst>
            </a:pPr>
            <a:r>
              <a:rPr sz="1600" dirty="0"/>
              <a:t>Performance will be more </a:t>
            </a:r>
            <a:r>
              <a:rPr lang="ja-JP" altLang="en-US" sz="1600" dirty="0"/>
              <a:t>“</a:t>
            </a:r>
            <a:r>
              <a:rPr lang="en-US" altLang="ja-JP" sz="1600" dirty="0"/>
              <a:t>balanced</a:t>
            </a:r>
            <a:r>
              <a:rPr lang="ja-JP" altLang="en-US" sz="1600" dirty="0"/>
              <a:t>”</a:t>
            </a:r>
            <a:endParaRPr lang="en-US" altLang="ja-JP" sz="1600" dirty="0"/>
          </a:p>
          <a:p>
            <a:pPr marL="802005" lvl="1" indent="-336550">
              <a:lnSpc>
                <a:spcPct val="85000"/>
              </a:lnSpc>
              <a:tabLst>
                <a:tab pos="-635" algn="l"/>
              </a:tabLst>
            </a:pPr>
            <a:r>
              <a:rPr sz="1600" dirty="0"/>
              <a:t>Performance </a:t>
            </a:r>
            <a:r>
              <a:rPr sz="1600" i="1" dirty="0"/>
              <a:t> </a:t>
            </a:r>
            <a:r>
              <a:rPr sz="1600" dirty="0"/>
              <a:t>will increase as you add storage</a:t>
            </a:r>
            <a:endParaRPr sz="1600" dirty="0"/>
          </a:p>
          <a:p>
            <a:pPr marL="1208405" lvl="2" indent="-292100">
              <a:lnSpc>
                <a:spcPct val="85000"/>
              </a:lnSpc>
              <a:tabLst>
                <a:tab pos="-635" algn="l"/>
              </a:tabLst>
            </a:pPr>
            <a:r>
              <a:rPr sz="1600" dirty="0"/>
              <a:t>HNAS will take advantage of new storage immediately</a:t>
            </a:r>
            <a:endParaRPr sz="1600" dirty="0"/>
          </a:p>
          <a:p>
            <a:pPr marL="344805" indent="-344805">
              <a:lnSpc>
                <a:spcPct val="85000"/>
              </a:lnSpc>
              <a:tabLst>
                <a:tab pos="-635" algn="l"/>
              </a:tabLst>
            </a:pPr>
            <a:r>
              <a:rPr sz="1800" dirty="0"/>
              <a:t>DWB is only supported on HNAS 3x00 generation</a:t>
            </a:r>
            <a:endParaRPr sz="1800" dirty="0"/>
          </a:p>
        </p:txBody>
      </p:sp>
      <p:sp>
        <p:nvSpPr>
          <p:cNvPr id="58371" name="Slide Number Placeholder 3"/>
          <p:cNvSpPr txBox="1">
            <a:spLocks noGrp="1"/>
          </p:cNvSpPr>
          <p:nvPr/>
        </p:nvSpPr>
        <p:spPr>
          <a:xfrm>
            <a:off x="153988" y="6565900"/>
            <a:ext cx="2133600" cy="254000"/>
          </a:xfrm>
          <a:prstGeom prst="rect">
            <a:avLst/>
          </a:prstGeom>
          <a:noFill/>
          <a:ln w="9525">
            <a:noFill/>
          </a:ln>
        </p:spPr>
        <p:txBody>
          <a:bodyPr/>
          <a:p>
            <a:fld id="{9A0DB2DC-4C9A-4742-B13C-FB6460FD3503}" type="slidenum">
              <a:rPr lang="en-US" sz="1000" dirty="0">
                <a:solidFill>
                  <a:srgbClr val="B2B2B2"/>
                </a:solidFill>
                <a:latin typeface="Arial" panose="020B0604020202020204" pitchFamily="34" charset="0"/>
              </a:rPr>
            </a:fld>
            <a:endParaRPr lang="en-US" sz="1000" dirty="0">
              <a:solidFill>
                <a:srgbClr val="B2B2B2"/>
              </a:solidFill>
              <a:latin typeface="Arial" panose="020B0604020202020204" pitchFamily="34" charset="0"/>
            </a:endParaRPr>
          </a:p>
        </p:txBody>
      </p:sp>
      <p:sp>
        <p:nvSpPr>
          <p:cNvPr id="58372" name="Footer Placeholder 4"/>
          <p:cNvSpPr txBox="1">
            <a:spLocks noGrp="1"/>
          </p:cNvSpPr>
          <p:nvPr/>
        </p:nvSpPr>
        <p:spPr>
          <a:xfrm>
            <a:off x="2778125" y="6564313"/>
            <a:ext cx="4344988" cy="255587"/>
          </a:xfrm>
          <a:prstGeom prst="rect">
            <a:avLst/>
          </a:prstGeom>
          <a:noFill/>
          <a:ln w="9525">
            <a:noFill/>
          </a:ln>
        </p:spPr>
        <p:txBody>
          <a:bodyPr/>
          <a:p>
            <a:pPr eaLnBrk="0" hangingPunct="0"/>
            <a:endParaRPr sz="1000" dirty="0">
              <a:solidFill>
                <a:srgbClr val="B2B2B2"/>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Grp="1"/>
          </p:cNvSpPr>
          <p:nvPr>
            <p:ph type="title"/>
          </p:nvPr>
        </p:nvSpPr>
        <p:spPr>
          <a:ln/>
        </p:spPr>
        <p:txBody>
          <a:bodyPr vert="horz" wrap="square" lIns="91440" tIns="0" rIns="91440" bIns="0" anchor="ctr" anchorCtr="0">
            <a:spAutoFit/>
          </a:bodyPr>
          <a:p>
            <a:r>
              <a:rPr dirty="0"/>
              <a:t>Dynamic Read Balancing (DRB)</a:t>
            </a:r>
            <a:endParaRPr dirty="0"/>
          </a:p>
        </p:txBody>
      </p:sp>
      <p:sp>
        <p:nvSpPr>
          <p:cNvPr id="60418" name="Rectangle 3"/>
          <p:cNvSpPr>
            <a:spLocks noGrp="1"/>
          </p:cNvSpPr>
          <p:nvPr>
            <p:ph idx="1"/>
          </p:nvPr>
        </p:nvSpPr>
        <p:spPr>
          <a:ln/>
        </p:spPr>
        <p:txBody>
          <a:bodyPr vert="horz" wrap="square" lIns="91440" tIns="45720" rIns="91440" bIns="45720" anchor="t" anchorCtr="0"/>
          <a:p>
            <a:pPr>
              <a:lnSpc>
                <a:spcPct val="85000"/>
              </a:lnSpc>
            </a:pPr>
            <a:r>
              <a:rPr dirty="0"/>
              <a:t>DRB (along with DWB) solves the </a:t>
            </a:r>
            <a:r>
              <a:rPr lang="ja-JP" altLang="en-US" dirty="0"/>
              <a:t>“</a:t>
            </a:r>
            <a:r>
              <a:rPr lang="en-US" altLang="ja-JP" dirty="0"/>
              <a:t>re-striping problem</a:t>
            </a:r>
            <a:r>
              <a:rPr lang="ja-JP" altLang="en-US" dirty="0"/>
              <a:t>”</a:t>
            </a:r>
            <a:endParaRPr lang="en-US" altLang="ja-JP" dirty="0"/>
          </a:p>
          <a:p>
            <a:pPr lvl="1">
              <a:lnSpc>
                <a:spcPct val="85000"/>
              </a:lnSpc>
            </a:pPr>
            <a:r>
              <a:rPr dirty="0"/>
              <a:t>Challenges encountered by customers as they expand storage pool</a:t>
            </a:r>
            <a:endParaRPr dirty="0"/>
          </a:p>
          <a:p>
            <a:pPr lvl="2">
              <a:lnSpc>
                <a:spcPct val="85000"/>
              </a:lnSpc>
            </a:pPr>
            <a:r>
              <a:rPr sz="1600" dirty="0"/>
              <a:t>Performance does not increase linearly as storage is added</a:t>
            </a:r>
            <a:endParaRPr sz="1600" dirty="0"/>
          </a:p>
          <a:p>
            <a:pPr lvl="2">
              <a:lnSpc>
                <a:spcPct val="85000"/>
              </a:lnSpc>
            </a:pPr>
            <a:r>
              <a:rPr sz="1600" dirty="0"/>
              <a:t>In fact, it may decrease (e.g. added stripeset is a lot smaller)</a:t>
            </a:r>
            <a:endParaRPr sz="1600" dirty="0"/>
          </a:p>
          <a:p>
            <a:pPr lvl="1">
              <a:lnSpc>
                <a:spcPct val="85000"/>
              </a:lnSpc>
            </a:pPr>
            <a:r>
              <a:rPr dirty="0"/>
              <a:t>Used against us as a </a:t>
            </a:r>
            <a:r>
              <a:rPr lang="ja-JP" altLang="en-US" dirty="0"/>
              <a:t>“</a:t>
            </a:r>
            <a:r>
              <a:rPr lang="en-US" altLang="ja-JP" dirty="0"/>
              <a:t>competitive advantage</a:t>
            </a:r>
            <a:r>
              <a:rPr lang="ja-JP" altLang="en-US" dirty="0"/>
              <a:t>”</a:t>
            </a:r>
            <a:r>
              <a:rPr lang="en-US" altLang="ja-JP" dirty="0"/>
              <a:t> by 3Par and Isilon</a:t>
            </a:r>
            <a:endParaRPr lang="en-US" altLang="ja-JP" dirty="0"/>
          </a:p>
          <a:p>
            <a:pPr>
              <a:lnSpc>
                <a:spcPct val="85000"/>
              </a:lnSpc>
            </a:pPr>
            <a:r>
              <a:rPr dirty="0"/>
              <a:t>DRB is a </a:t>
            </a:r>
            <a:r>
              <a:rPr lang="ja-JP" altLang="en-US" dirty="0"/>
              <a:t>“</a:t>
            </a:r>
            <a:r>
              <a:rPr lang="en-US" altLang="ja-JP" dirty="0"/>
              <a:t>complementary feature</a:t>
            </a:r>
            <a:r>
              <a:rPr lang="ja-JP" altLang="en-US" dirty="0"/>
              <a:t>”</a:t>
            </a:r>
            <a:r>
              <a:rPr lang="en-US" altLang="ja-JP" dirty="0"/>
              <a:t> to DWB</a:t>
            </a:r>
            <a:endParaRPr lang="en-US" altLang="ja-JP" dirty="0"/>
          </a:p>
          <a:p>
            <a:pPr lvl="1">
              <a:lnSpc>
                <a:spcPct val="85000"/>
              </a:lnSpc>
            </a:pPr>
            <a:r>
              <a:rPr dirty="0"/>
              <a:t>Utility that re-distributes existing files across multiple stripesets</a:t>
            </a:r>
            <a:endParaRPr dirty="0"/>
          </a:p>
          <a:p>
            <a:pPr lvl="1">
              <a:lnSpc>
                <a:spcPct val="85000"/>
              </a:lnSpc>
            </a:pPr>
            <a:r>
              <a:rPr dirty="0"/>
              <a:t>Once completed, reads will be distributed across all available LUNs</a:t>
            </a:r>
            <a:endParaRPr dirty="0"/>
          </a:p>
          <a:p>
            <a:pPr lvl="1">
              <a:lnSpc>
                <a:spcPct val="85000"/>
              </a:lnSpc>
            </a:pPr>
            <a:r>
              <a:rPr dirty="0"/>
              <a:t>DRB does requires DWB and thus only works on the 3000 generations (or later h/w)</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Storage handling Enhancements</a:t>
            </a:r>
            <a:endParaRPr dirty="0">
              <a:solidFill>
                <a:schemeClr val="tx1"/>
              </a:solidFill>
            </a:endParaRPr>
          </a:p>
        </p:txBody>
      </p:sp>
      <p:sp>
        <p:nvSpPr>
          <p:cNvPr id="62466" name="Rectangle 3"/>
          <p:cNvSpPr>
            <a:spLocks noGrp="1"/>
          </p:cNvSpPr>
          <p:nvPr>
            <p:ph type="body" idx="4294967295"/>
          </p:nvPr>
        </p:nvSpPr>
        <p:spPr>
          <a:xfrm>
            <a:off x="227013" y="1068388"/>
            <a:ext cx="6248400" cy="4525962"/>
          </a:xfrm>
          <a:ln/>
        </p:spPr>
        <p:txBody>
          <a:bodyPr vert="horz" wrap="square" lIns="91440" tIns="45720" rIns="91440" bIns="45720" anchor="t" anchorCtr="0"/>
          <a:p>
            <a:pPr eaLnBrk="1" hangingPunct="1"/>
            <a:r>
              <a:rPr sz="1800" dirty="0">
                <a:solidFill>
                  <a:schemeClr val="tx1"/>
                </a:solidFill>
              </a:rPr>
              <a:t>Features:</a:t>
            </a:r>
            <a:endParaRPr sz="1800" dirty="0">
              <a:solidFill>
                <a:schemeClr val="tx1"/>
              </a:solidFill>
            </a:endParaRPr>
          </a:p>
          <a:p>
            <a:pPr eaLnBrk="1" hangingPunct="1"/>
            <a:endParaRPr sz="1800" dirty="0">
              <a:solidFill>
                <a:schemeClr val="tx1"/>
              </a:solidFill>
            </a:endParaRPr>
          </a:p>
          <a:p>
            <a:pPr lvl="1" eaLnBrk="1" hangingPunct="1"/>
            <a:r>
              <a:rPr sz="1600" dirty="0">
                <a:solidFill>
                  <a:schemeClr val="tx1"/>
                </a:solidFill>
              </a:rPr>
              <a:t>Data Relocation (Transfer Between Sub-Systems)</a:t>
            </a:r>
            <a:endParaRPr sz="1600" dirty="0">
              <a:solidFill>
                <a:schemeClr val="tx1"/>
              </a:solidFill>
            </a:endParaRPr>
          </a:p>
          <a:p>
            <a:pPr lvl="1" eaLnBrk="1" hangingPunct="1"/>
            <a:r>
              <a:rPr sz="1600" dirty="0">
                <a:solidFill>
                  <a:schemeClr val="tx1"/>
                </a:solidFill>
              </a:rPr>
              <a:t>Storage SAN Automated Multi-Path Load Re-distribution and Optimization</a:t>
            </a:r>
            <a:endParaRPr sz="1600" dirty="0">
              <a:solidFill>
                <a:schemeClr val="tx1"/>
              </a:solidFill>
            </a:endParaRPr>
          </a:p>
          <a:p>
            <a:pPr lvl="1" eaLnBrk="1" hangingPunct="1">
              <a:buNone/>
            </a:pPr>
            <a:endParaRPr sz="1600" dirty="0">
              <a:solidFill>
                <a:schemeClr val="tx1"/>
              </a:solidFill>
            </a:endParaRPr>
          </a:p>
          <a:p>
            <a:pPr eaLnBrk="1" hangingPunct="1"/>
            <a:r>
              <a:rPr sz="1800" dirty="0">
                <a:solidFill>
                  <a:schemeClr val="tx1"/>
                </a:solidFill>
              </a:rPr>
              <a:t>Benefits:</a:t>
            </a:r>
            <a:endParaRPr sz="1800" dirty="0">
              <a:solidFill>
                <a:schemeClr val="tx1"/>
              </a:solidFill>
            </a:endParaRPr>
          </a:p>
          <a:p>
            <a:pPr eaLnBrk="1" hangingPunct="1"/>
            <a:endParaRPr sz="1800" dirty="0">
              <a:solidFill>
                <a:schemeClr val="tx1"/>
              </a:solidFill>
            </a:endParaRPr>
          </a:p>
          <a:p>
            <a:pPr lvl="1" eaLnBrk="1" hangingPunct="1"/>
            <a:r>
              <a:rPr sz="1600" dirty="0">
                <a:solidFill>
                  <a:schemeClr val="tx1"/>
                </a:solidFill>
              </a:rPr>
              <a:t>Better asset management over time, transition old to new</a:t>
            </a:r>
            <a:endParaRPr sz="1600" dirty="0">
              <a:solidFill>
                <a:schemeClr val="tx1"/>
              </a:solidFill>
            </a:endParaRPr>
          </a:p>
          <a:p>
            <a:pPr lvl="1" eaLnBrk="1" hangingPunct="1"/>
            <a:r>
              <a:rPr sz="1600" dirty="0">
                <a:solidFill>
                  <a:schemeClr val="tx1"/>
                </a:solidFill>
              </a:rPr>
              <a:t>The number of hard drives can be increased to expand performance levels</a:t>
            </a:r>
            <a:endParaRPr sz="1600" dirty="0">
              <a:solidFill>
                <a:schemeClr val="tx1"/>
              </a:solidFill>
            </a:endParaRPr>
          </a:p>
          <a:p>
            <a:pPr lvl="1" eaLnBrk="1" hangingPunct="1"/>
            <a:r>
              <a:rPr sz="1600" dirty="0">
                <a:solidFill>
                  <a:schemeClr val="tx1"/>
                </a:solidFill>
              </a:rPr>
              <a:t>Optimization of I/O workload distribution for the storage connectivity</a:t>
            </a:r>
            <a:endParaRPr sz="1600" dirty="0">
              <a:solidFill>
                <a:schemeClr val="tx1"/>
              </a:solidFill>
            </a:endParaRPr>
          </a:p>
          <a:p>
            <a:pPr lvl="1" eaLnBrk="1" hangingPunct="1"/>
            <a:endParaRPr sz="1600" dirty="0">
              <a:solidFill>
                <a:schemeClr val="tx1"/>
              </a:solidFill>
            </a:endParaRPr>
          </a:p>
        </p:txBody>
      </p:sp>
      <p:pic>
        <p:nvPicPr>
          <p:cNvPr id="62467" name="Picture 4" descr="USP"/>
          <p:cNvPicPr>
            <a:picLocks noChangeAspect="1"/>
          </p:cNvPicPr>
          <p:nvPr/>
        </p:nvPicPr>
        <p:blipFill>
          <a:blip r:embed="rId1"/>
          <a:stretch>
            <a:fillRect/>
          </a:stretch>
        </p:blipFill>
        <p:spPr>
          <a:xfrm>
            <a:off x="6781800" y="1371600"/>
            <a:ext cx="2043113" cy="4114800"/>
          </a:xfrm>
          <a:prstGeom prst="rect">
            <a:avLst/>
          </a:prstGeom>
          <a:noFill/>
          <a:ln w="9525">
            <a:noFill/>
          </a:ln>
        </p:spPr>
      </p:pic>
    </p:spTree>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Data and FS Relocation Solutions</a:t>
            </a:r>
            <a:endParaRPr dirty="0">
              <a:solidFill>
                <a:schemeClr val="tx1"/>
              </a:solidFill>
            </a:endParaRPr>
          </a:p>
        </p:txBody>
      </p:sp>
      <p:sp>
        <p:nvSpPr>
          <p:cNvPr id="64514" name="Rectangle 3"/>
          <p:cNvSpPr>
            <a:spLocks noGrp="1"/>
          </p:cNvSpPr>
          <p:nvPr>
            <p:ph idx="1"/>
          </p:nvPr>
        </p:nvSpPr>
        <p:spPr>
          <a:xfrm>
            <a:off x="227013" y="1066800"/>
            <a:ext cx="6326187" cy="5181600"/>
          </a:xfrm>
          <a:ln/>
        </p:spPr>
        <p:txBody>
          <a:bodyPr vert="horz" wrap="square" lIns="91440" tIns="45720" rIns="91440" bIns="45720" anchor="t" anchorCtr="0"/>
          <a:p>
            <a:pPr eaLnBrk="1" hangingPunct="1">
              <a:lnSpc>
                <a:spcPct val="75000"/>
              </a:lnSpc>
            </a:pPr>
            <a:r>
              <a:rPr sz="1800" dirty="0">
                <a:solidFill>
                  <a:schemeClr val="tx1"/>
                </a:solidFill>
                <a:latin typeface="Arial" panose="020B0604020202020204" pitchFamily="34" charset="0"/>
              </a:rPr>
              <a:t>Designed to support the following requirements:</a:t>
            </a:r>
            <a:endParaRPr sz="1800" dirty="0">
              <a:solidFill>
                <a:schemeClr val="tx1"/>
              </a:solidFill>
              <a:latin typeface="Arial" panose="020B0604020202020204" pitchFamily="34" charset="0"/>
            </a:endParaRPr>
          </a:p>
          <a:p>
            <a:pPr eaLnBrk="1" hangingPunct="1">
              <a:lnSpc>
                <a:spcPct val="75000"/>
              </a:lnSpc>
            </a:pPr>
            <a:endParaRPr sz="1800" dirty="0">
              <a:solidFill>
                <a:schemeClr val="tx1"/>
              </a:solidFill>
              <a:latin typeface="Arial" panose="020B0604020202020204" pitchFamily="34" charset="0"/>
            </a:endParaRPr>
          </a:p>
          <a:p>
            <a:pPr lvl="1" eaLnBrk="1" hangingPunct="1">
              <a:lnSpc>
                <a:spcPct val="90000"/>
              </a:lnSpc>
            </a:pPr>
            <a:r>
              <a:rPr sz="1600" dirty="0">
                <a:solidFill>
                  <a:schemeClr val="tx1"/>
                </a:solidFill>
                <a:latin typeface="Arial" panose="020B0604020202020204" pitchFamily="34" charset="0"/>
              </a:rPr>
              <a:t>Relocating data as well as configuration settings (e.g. CIFS shares, CNS links, etc.) from one file system to another. </a:t>
            </a:r>
            <a:endParaRPr sz="1600" dirty="0">
              <a:solidFill>
                <a:schemeClr val="tx1"/>
              </a:solidFill>
              <a:latin typeface="Arial" panose="020B0604020202020204" pitchFamily="34" charset="0"/>
            </a:endParaRPr>
          </a:p>
          <a:p>
            <a:pPr lvl="1" eaLnBrk="1" hangingPunct="1">
              <a:lnSpc>
                <a:spcPct val="90000"/>
              </a:lnSpc>
            </a:pPr>
            <a:r>
              <a:rPr sz="1600" dirty="0">
                <a:solidFill>
                  <a:schemeClr val="tx1"/>
                </a:solidFill>
                <a:latin typeface="Arial" panose="020B0604020202020204" pitchFamily="34" charset="0"/>
              </a:rPr>
              <a:t>Relocating or transferring data from any storage subsystem to a new storage subsystem</a:t>
            </a:r>
            <a:endParaRPr sz="1600" dirty="0">
              <a:solidFill>
                <a:schemeClr val="tx1"/>
              </a:solidFill>
              <a:latin typeface="Arial" panose="020B0604020202020204" pitchFamily="34" charset="0"/>
            </a:endParaRPr>
          </a:p>
          <a:p>
            <a:pPr lvl="1" eaLnBrk="1" hangingPunct="1">
              <a:lnSpc>
                <a:spcPct val="90000"/>
              </a:lnSpc>
            </a:pPr>
            <a:r>
              <a:rPr sz="1600" dirty="0">
                <a:solidFill>
                  <a:schemeClr val="tx1"/>
                </a:solidFill>
                <a:latin typeface="Arial" panose="020B0604020202020204" pitchFamily="34" charset="0"/>
              </a:rPr>
              <a:t>Breaking up a single large file system into multiple, smaller file systems in a storage pool</a:t>
            </a:r>
            <a:endParaRPr sz="1600" dirty="0">
              <a:solidFill>
                <a:schemeClr val="tx1"/>
              </a:solidFill>
              <a:latin typeface="Arial" panose="020B0604020202020204" pitchFamily="34" charset="0"/>
            </a:endParaRPr>
          </a:p>
          <a:p>
            <a:pPr lvl="1" eaLnBrk="1" hangingPunct="1">
              <a:lnSpc>
                <a:spcPct val="90000"/>
              </a:lnSpc>
            </a:pPr>
            <a:r>
              <a:rPr sz="1600" dirty="0">
                <a:solidFill>
                  <a:schemeClr val="tx1"/>
                </a:solidFill>
                <a:latin typeface="Arial" panose="020B0604020202020204" pitchFamily="34" charset="0"/>
              </a:rPr>
              <a:t>Moving an EVS and all its file systems to another NAS node unit that does not share the same storage devices (or if the structure of the data needs to be changed)</a:t>
            </a:r>
            <a:endParaRPr sz="1600" dirty="0">
              <a:solidFill>
                <a:schemeClr val="tx1"/>
              </a:solidFill>
              <a:latin typeface="Arial" panose="020B0604020202020204" pitchFamily="34" charset="0"/>
            </a:endParaRPr>
          </a:p>
          <a:p>
            <a:pPr lvl="1" eaLnBrk="1" hangingPunct="1">
              <a:lnSpc>
                <a:spcPct val="90000"/>
              </a:lnSpc>
            </a:pPr>
            <a:r>
              <a:rPr sz="1600" dirty="0">
                <a:solidFill>
                  <a:schemeClr val="tx1"/>
                </a:solidFill>
                <a:latin typeface="Arial" panose="020B0604020202020204" pitchFamily="34" charset="0"/>
              </a:rPr>
              <a:t>Rebalancing file system load by moving data from one file system to another</a:t>
            </a:r>
            <a:endParaRPr sz="1600" dirty="0">
              <a:solidFill>
                <a:schemeClr val="tx1"/>
              </a:solidFill>
              <a:latin typeface="Arial" panose="020B0604020202020204" pitchFamily="34" charset="0"/>
            </a:endParaRPr>
          </a:p>
          <a:p>
            <a:pPr lvl="1" eaLnBrk="1" hangingPunct="1">
              <a:lnSpc>
                <a:spcPct val="90000"/>
              </a:lnSpc>
            </a:pPr>
            <a:endParaRPr sz="1600" dirty="0">
              <a:solidFill>
                <a:schemeClr val="tx1"/>
              </a:solidFill>
              <a:latin typeface="Arial" panose="020B0604020202020204" pitchFamily="34" charset="0"/>
            </a:endParaRPr>
          </a:p>
          <a:p>
            <a:pPr eaLnBrk="1" hangingPunct="1">
              <a:lnSpc>
                <a:spcPct val="75000"/>
              </a:lnSpc>
            </a:pPr>
            <a:r>
              <a:rPr sz="1800" dirty="0">
                <a:solidFill>
                  <a:schemeClr val="tx1"/>
                </a:solidFill>
                <a:latin typeface="Arial" panose="020B0604020202020204" pitchFamily="34" charset="0"/>
              </a:rPr>
              <a:t>The majority of the transfers are done online, the actual take or give over was designed to minimize customer downtime and any reconfiguration changes.</a:t>
            </a:r>
            <a:endParaRPr sz="1800" dirty="0">
              <a:solidFill>
                <a:schemeClr val="tx1"/>
              </a:solidFill>
              <a:latin typeface="Arial" panose="020B0604020202020204" pitchFamily="34" charset="0"/>
            </a:endParaRPr>
          </a:p>
        </p:txBody>
      </p:sp>
      <p:pic>
        <p:nvPicPr>
          <p:cNvPr id="64515" name="Picture 4" descr="ams200_WMS100_nas"/>
          <p:cNvPicPr>
            <a:picLocks noChangeAspect="1"/>
          </p:cNvPicPr>
          <p:nvPr/>
        </p:nvPicPr>
        <p:blipFill>
          <a:blip r:embed="rId1"/>
          <a:stretch>
            <a:fillRect/>
          </a:stretch>
        </p:blipFill>
        <p:spPr>
          <a:xfrm>
            <a:off x="6858000" y="914400"/>
            <a:ext cx="2287588" cy="41910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type="title"/>
          </p:nvPr>
        </p:nvSpPr>
        <p:spPr>
          <a:xfrm>
            <a:off x="228600" y="254000"/>
            <a:ext cx="7086600" cy="331788"/>
          </a:xfrm>
          <a:ln/>
        </p:spPr>
        <p:txBody>
          <a:bodyPr vert="horz" wrap="square" lIns="91440" tIns="0" rIns="91440" bIns="0" anchor="ctr" anchorCtr="0">
            <a:spAutoFit/>
          </a:bodyPr>
          <a:p>
            <a:r>
              <a:rPr dirty="0"/>
              <a:t>Multi-stream replication </a:t>
            </a:r>
            <a:endParaRPr dirty="0"/>
          </a:p>
        </p:txBody>
      </p:sp>
      <p:sp>
        <p:nvSpPr>
          <p:cNvPr id="66562" name="Rectangle 3"/>
          <p:cNvSpPr>
            <a:spLocks noGrp="1"/>
          </p:cNvSpPr>
          <p:nvPr>
            <p:ph idx="1"/>
          </p:nvPr>
        </p:nvSpPr>
        <p:spPr>
          <a:xfrm>
            <a:off x="609600" y="914400"/>
            <a:ext cx="8153400" cy="5486400"/>
          </a:xfrm>
          <a:ln/>
        </p:spPr>
        <p:txBody>
          <a:bodyPr vert="horz" wrap="square" lIns="91440" tIns="45720" rIns="91440" bIns="45720" anchor="t" anchorCtr="0"/>
          <a:p>
            <a:pPr>
              <a:lnSpc>
                <a:spcPct val="85000"/>
              </a:lnSpc>
            </a:pPr>
            <a:r>
              <a:rPr dirty="0"/>
              <a:t>Uses multiple </a:t>
            </a:r>
            <a:r>
              <a:rPr lang="en-GB" altLang="x-none" dirty="0"/>
              <a:t>concurrent streams to transfer the data</a:t>
            </a:r>
            <a:endParaRPr lang="en-GB" altLang="x-none" dirty="0"/>
          </a:p>
          <a:p>
            <a:pPr lvl="1">
              <a:lnSpc>
                <a:spcPct val="85000"/>
              </a:lnSpc>
            </a:pPr>
            <a:r>
              <a:rPr lang="en-GB" altLang="x-none" dirty="0"/>
              <a:t>Different connections are used to copy different subdirectories (read-ahead)</a:t>
            </a:r>
            <a:endParaRPr dirty="0"/>
          </a:p>
          <a:p>
            <a:pPr lvl="1">
              <a:lnSpc>
                <a:spcPct val="85000"/>
              </a:lnSpc>
            </a:pPr>
            <a:r>
              <a:rPr lang="en-GB" altLang="x-none" dirty="0"/>
              <a:t>Overcomes the large delays inherent in metadata intensive I/O operations</a:t>
            </a:r>
            <a:r>
              <a:rPr dirty="0"/>
              <a:t> </a:t>
            </a:r>
            <a:endParaRPr dirty="0"/>
          </a:p>
          <a:p>
            <a:pPr>
              <a:lnSpc>
                <a:spcPct val="85000"/>
              </a:lnSpc>
            </a:pPr>
            <a:r>
              <a:rPr lang="en-GB" altLang="x-none" dirty="0"/>
              <a:t>Parallelism</a:t>
            </a:r>
            <a:endParaRPr lang="en-GB" altLang="x-none" dirty="0"/>
          </a:p>
          <a:p>
            <a:pPr lvl="1">
              <a:lnSpc>
                <a:spcPct val="85000"/>
              </a:lnSpc>
            </a:pPr>
            <a:r>
              <a:rPr lang="en-GB" altLang="x-none" sz="1600" dirty="0"/>
              <a:t>Better use of HNAS capabilities</a:t>
            </a:r>
            <a:endParaRPr lang="en-GB" altLang="x-none" sz="1600" dirty="0"/>
          </a:p>
          <a:p>
            <a:pPr lvl="2">
              <a:lnSpc>
                <a:spcPct val="90000"/>
              </a:lnSpc>
            </a:pPr>
            <a:r>
              <a:rPr lang="en-GB" altLang="x-none" dirty="0"/>
              <a:t>Metadata (and data) access occurs in parallel</a:t>
            </a:r>
            <a:endParaRPr lang="en-GB" altLang="x-none" sz="1600" dirty="0"/>
          </a:p>
          <a:p>
            <a:pPr lvl="2">
              <a:lnSpc>
                <a:spcPct val="90000"/>
              </a:lnSpc>
            </a:pPr>
            <a:r>
              <a:rPr lang="en-GB" altLang="x-none" dirty="0"/>
              <a:t>Alleviates some of the latency problems seen in the past</a:t>
            </a:r>
            <a:endParaRPr lang="en-GB" altLang="x-none" dirty="0"/>
          </a:p>
          <a:p>
            <a:pPr lvl="2">
              <a:lnSpc>
                <a:spcPct val="90000"/>
              </a:lnSpc>
            </a:pPr>
            <a:r>
              <a:rPr lang="en-GB" altLang="x-none" dirty="0"/>
              <a:t>Overcomes bandwidth limitations for individual connections</a:t>
            </a:r>
            <a:endParaRPr lang="en-GB" altLang="x-none" dirty="0"/>
          </a:p>
          <a:p>
            <a:pPr>
              <a:lnSpc>
                <a:spcPct val="85000"/>
              </a:lnSpc>
            </a:pPr>
            <a:r>
              <a:rPr lang="en-GB" altLang="x-none" dirty="0"/>
              <a:t>Widely spaced access</a:t>
            </a:r>
            <a:endParaRPr lang="en-GB" altLang="x-none" dirty="0"/>
          </a:p>
          <a:p>
            <a:pPr lvl="1">
              <a:lnSpc>
                <a:spcPct val="85000"/>
              </a:lnSpc>
            </a:pPr>
            <a:r>
              <a:rPr lang="en-GB" altLang="x-none" sz="1600" dirty="0"/>
              <a:t>Data accessed in different parts of the file system</a:t>
            </a:r>
            <a:endParaRPr lang="en-GB" altLang="x-none" sz="1600" dirty="0"/>
          </a:p>
          <a:p>
            <a:pPr lvl="2">
              <a:lnSpc>
                <a:spcPct val="90000"/>
              </a:lnSpc>
            </a:pPr>
            <a:r>
              <a:rPr lang="en-GB" altLang="x-none" dirty="0"/>
              <a:t>Should cause concurrent access across multiple LUNs</a:t>
            </a:r>
            <a:endParaRPr lang="en-GB" altLang="x-none" dirty="0"/>
          </a:p>
          <a:p>
            <a:pPr lvl="2">
              <a:lnSpc>
                <a:spcPct val="90000"/>
              </a:lnSpc>
            </a:pPr>
            <a:r>
              <a:rPr lang="en-GB" altLang="x-none" dirty="0"/>
              <a:t>Avoids some of the locking problems seen in previous releases  </a:t>
            </a:r>
            <a:endParaRPr lang="en-GB" altLang="x-none" dirty="0"/>
          </a:p>
          <a:p>
            <a:pPr lvl="1">
              <a:lnSpc>
                <a:spcPct val="85000"/>
              </a:lnSpc>
            </a:pPr>
            <a:r>
              <a:rPr lang="en-GB" altLang="x-none" sz="1600" dirty="0"/>
              <a:t>However, may could cause more disk head movement</a:t>
            </a:r>
            <a:endParaRPr lang="en-GB" altLang="x-none" sz="1600" dirty="0"/>
          </a:p>
          <a:p>
            <a:pPr>
              <a:lnSpc>
                <a:spcPct val="85000"/>
              </a:lnSpc>
              <a:buNone/>
            </a:pPr>
            <a:r>
              <a:rPr lang="en-GB" altLang="x-none" dirty="0"/>
              <a:t>Parameter</a:t>
            </a:r>
            <a:r>
              <a:rPr dirty="0"/>
              <a:t> </a:t>
            </a:r>
            <a:endParaRPr dirty="0"/>
          </a:p>
          <a:p>
            <a:pPr lvl="1">
              <a:lnSpc>
                <a:spcPct val="85000"/>
              </a:lnSpc>
            </a:pPr>
            <a:r>
              <a:rPr lang="en-GB" altLang="x-none" dirty="0"/>
              <a:t>Configurable (default = 4 substreams + 8 readahead processes)</a:t>
            </a:r>
            <a:endParaRPr lang="en-GB" altLang="x-none" dirty="0"/>
          </a:p>
          <a:p>
            <a:pPr lvl="1">
              <a:lnSpc>
                <a:spcPct val="85000"/>
              </a:lnSpc>
            </a:pPr>
            <a:r>
              <a:rPr lang="en-GB" altLang="x-none" dirty="0"/>
              <a:t>Max is 15 substreams per replication (30 readahead processes)</a:t>
            </a:r>
            <a:endParaRPr lang="en-GB" altLang="x-none" dirty="0"/>
          </a:p>
          <a:p>
            <a:pPr lvl="2">
              <a:lnSpc>
                <a:spcPct val="90000"/>
              </a:lnSpc>
            </a:pPr>
            <a:r>
              <a:rPr dirty="0"/>
              <a:t>Server-wide max is 64 substreams, 80 RA procs, 100  async reads </a:t>
            </a:r>
            <a:endParaRPr dirty="0"/>
          </a:p>
          <a:p>
            <a:pPr lvl="1">
              <a:lnSpc>
                <a:spcPct val="85000"/>
              </a:lnSpc>
            </a:pPr>
            <a:endParaRPr sz="1600" dirty="0"/>
          </a:p>
          <a:p>
            <a:pPr>
              <a:lnSpc>
                <a:spcPct val="75000"/>
              </a:lnSpc>
            </a:pP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8609" name="Picture 2" descr="GoldScreen"/>
          <p:cNvPicPr>
            <a:picLocks noChangeAspect="1"/>
          </p:cNvPicPr>
          <p:nvPr/>
        </p:nvPicPr>
        <p:blipFill>
          <a:blip r:embed="rId1"/>
          <a:stretch>
            <a:fillRect/>
          </a:stretch>
        </p:blipFill>
        <p:spPr>
          <a:xfrm>
            <a:off x="5907088" y="2659063"/>
            <a:ext cx="3236912" cy="3513137"/>
          </a:xfrm>
          <a:prstGeom prst="rect">
            <a:avLst/>
          </a:prstGeom>
          <a:noFill/>
          <a:ln w="9525">
            <a:noFill/>
          </a:ln>
        </p:spPr>
      </p:pic>
      <p:sp>
        <p:nvSpPr>
          <p:cNvPr id="68610" name="Rectangle 3"/>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Network and Protocol Enhancements</a:t>
            </a:r>
            <a:endParaRPr dirty="0">
              <a:solidFill>
                <a:schemeClr val="tx1"/>
              </a:solidFill>
            </a:endParaRPr>
          </a:p>
        </p:txBody>
      </p:sp>
      <p:sp>
        <p:nvSpPr>
          <p:cNvPr id="68611" name="Rectangle 4"/>
          <p:cNvSpPr>
            <a:spLocks noGrp="1"/>
          </p:cNvSpPr>
          <p:nvPr>
            <p:ph type="body" idx="4294967295"/>
          </p:nvPr>
        </p:nvSpPr>
        <p:spPr>
          <a:xfrm>
            <a:off x="227013" y="1068388"/>
            <a:ext cx="6019800" cy="4244975"/>
          </a:xfrm>
          <a:ln/>
        </p:spPr>
        <p:txBody>
          <a:bodyPr vert="horz" wrap="square" lIns="91440" tIns="45720" rIns="91440" bIns="45720" anchor="t" anchorCtr="0"/>
          <a:p>
            <a:pPr eaLnBrk="1" hangingPunct="1">
              <a:lnSpc>
                <a:spcPct val="85000"/>
              </a:lnSpc>
            </a:pPr>
            <a:r>
              <a:rPr sz="1800" dirty="0">
                <a:solidFill>
                  <a:schemeClr val="tx1"/>
                </a:solidFill>
              </a:rPr>
              <a:t>ICMP Protocol Support</a:t>
            </a:r>
            <a:endParaRPr sz="1800" dirty="0">
              <a:solidFill>
                <a:schemeClr val="tx1"/>
              </a:solidFill>
            </a:endParaRPr>
          </a:p>
          <a:p>
            <a:pPr lvl="1" eaLnBrk="1" hangingPunct="1">
              <a:lnSpc>
                <a:spcPct val="85000"/>
              </a:lnSpc>
            </a:pPr>
            <a:r>
              <a:rPr sz="1600" dirty="0">
                <a:solidFill>
                  <a:schemeClr val="tx1"/>
                </a:solidFill>
              </a:rPr>
              <a:t>Internet Control Message Passing Protocol</a:t>
            </a:r>
            <a:endParaRPr sz="1600" dirty="0">
              <a:solidFill>
                <a:schemeClr val="tx1"/>
              </a:solidFill>
            </a:endParaRPr>
          </a:p>
          <a:p>
            <a:pPr lvl="1" eaLnBrk="1" hangingPunct="1">
              <a:lnSpc>
                <a:spcPct val="85000"/>
              </a:lnSpc>
            </a:pPr>
            <a:r>
              <a:rPr sz="1600" dirty="0">
                <a:solidFill>
                  <a:schemeClr val="tx1"/>
                </a:solidFill>
              </a:rPr>
              <a:t>Provides automated gateway and router discovery</a:t>
            </a:r>
            <a:endParaRPr sz="1600" dirty="0">
              <a:solidFill>
                <a:schemeClr val="tx1"/>
              </a:solidFill>
            </a:endParaRPr>
          </a:p>
          <a:p>
            <a:pPr lvl="1" eaLnBrk="1" hangingPunct="1">
              <a:lnSpc>
                <a:spcPct val="85000"/>
              </a:lnSpc>
            </a:pPr>
            <a:endParaRPr sz="1600" dirty="0">
              <a:solidFill>
                <a:schemeClr val="tx1"/>
              </a:solidFill>
            </a:endParaRPr>
          </a:p>
          <a:p>
            <a:pPr eaLnBrk="1" hangingPunct="1">
              <a:lnSpc>
                <a:spcPct val="85000"/>
              </a:lnSpc>
            </a:pPr>
            <a:r>
              <a:rPr sz="1800" dirty="0">
                <a:solidFill>
                  <a:schemeClr val="tx1"/>
                </a:solidFill>
              </a:rPr>
              <a:t>RIPv2 Protocol Support</a:t>
            </a:r>
            <a:endParaRPr sz="1800" dirty="0">
              <a:solidFill>
                <a:schemeClr val="tx1"/>
              </a:solidFill>
            </a:endParaRPr>
          </a:p>
          <a:p>
            <a:pPr lvl="1" eaLnBrk="1" hangingPunct="1">
              <a:lnSpc>
                <a:spcPct val="85000"/>
              </a:lnSpc>
            </a:pPr>
            <a:r>
              <a:rPr sz="1600" dirty="0">
                <a:solidFill>
                  <a:schemeClr val="tx1"/>
                </a:solidFill>
              </a:rPr>
              <a:t>Routing Information Protocol Version 2</a:t>
            </a:r>
            <a:endParaRPr sz="1600" dirty="0">
              <a:solidFill>
                <a:schemeClr val="tx1"/>
              </a:solidFill>
            </a:endParaRPr>
          </a:p>
          <a:p>
            <a:pPr lvl="1" eaLnBrk="1" hangingPunct="1">
              <a:lnSpc>
                <a:spcPct val="85000"/>
              </a:lnSpc>
            </a:pPr>
            <a:r>
              <a:rPr sz="1600" dirty="0">
                <a:solidFill>
                  <a:schemeClr val="tx1"/>
                </a:solidFill>
              </a:rPr>
              <a:t>Helps HNAS to dynamically and automatically adapt to changes in routing paths through the network.</a:t>
            </a:r>
            <a:endParaRPr sz="1600" dirty="0">
              <a:solidFill>
                <a:schemeClr val="tx1"/>
              </a:solidFill>
            </a:endParaRPr>
          </a:p>
          <a:p>
            <a:pPr lvl="1" eaLnBrk="1" hangingPunct="1">
              <a:lnSpc>
                <a:spcPct val="85000"/>
              </a:lnSpc>
            </a:pPr>
            <a:endParaRPr sz="1600" dirty="0">
              <a:solidFill>
                <a:schemeClr val="tx1"/>
              </a:solidFill>
            </a:endParaRPr>
          </a:p>
          <a:p>
            <a:pPr eaLnBrk="1" hangingPunct="1">
              <a:lnSpc>
                <a:spcPct val="85000"/>
              </a:lnSpc>
            </a:pPr>
            <a:r>
              <a:rPr sz="1800" dirty="0">
                <a:solidFill>
                  <a:schemeClr val="tx1"/>
                </a:solidFill>
              </a:rPr>
              <a:t>Global Symbolic Link Support</a:t>
            </a:r>
            <a:endParaRPr sz="1800" dirty="0">
              <a:solidFill>
                <a:schemeClr val="tx1"/>
              </a:solidFill>
            </a:endParaRPr>
          </a:p>
          <a:p>
            <a:pPr eaLnBrk="1" hangingPunct="1">
              <a:lnSpc>
                <a:spcPct val="85000"/>
              </a:lnSpc>
            </a:pPr>
            <a:endParaRPr sz="1800" dirty="0">
              <a:solidFill>
                <a:schemeClr val="tx1"/>
              </a:solidFill>
            </a:endParaRPr>
          </a:p>
          <a:p>
            <a:pPr eaLnBrk="1" hangingPunct="1">
              <a:lnSpc>
                <a:spcPct val="85000"/>
              </a:lnSpc>
            </a:pPr>
            <a:r>
              <a:rPr sz="1800" dirty="0">
                <a:solidFill>
                  <a:schemeClr val="tx1"/>
                </a:solidFill>
              </a:rPr>
              <a:t>Client Link Aggregation Support (next slide)</a:t>
            </a:r>
            <a:endParaRPr sz="1800" dirty="0">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Client Link Aggregation Support</a:t>
            </a:r>
            <a:endParaRPr dirty="0">
              <a:solidFill>
                <a:schemeClr val="tx1"/>
              </a:solidFill>
            </a:endParaRPr>
          </a:p>
        </p:txBody>
      </p:sp>
      <p:sp>
        <p:nvSpPr>
          <p:cNvPr id="70658" name="Rectangle 3"/>
          <p:cNvSpPr>
            <a:spLocks noGrp="1"/>
          </p:cNvSpPr>
          <p:nvPr>
            <p:ph type="body" sz="half" idx="2"/>
          </p:nvPr>
        </p:nvSpPr>
        <p:spPr>
          <a:xfrm>
            <a:off x="3429000" y="1066800"/>
            <a:ext cx="5562600" cy="4549775"/>
          </a:xfrm>
          <a:ln/>
        </p:spPr>
        <p:txBody>
          <a:bodyPr vert="horz" wrap="square" lIns="91440" tIns="45720" rIns="91440" bIns="45720" anchor="t" anchorCtr="0"/>
          <a:p>
            <a:pPr eaLnBrk="1" hangingPunct="1">
              <a:buClrTx/>
              <a:buSzTx/>
              <a:buFontTx/>
              <a:buNone/>
            </a:pPr>
            <a:r>
              <a:rPr sz="1800" dirty="0">
                <a:solidFill>
                  <a:schemeClr val="tx1"/>
                </a:solidFill>
                <a:latin typeface="Arial" panose="020B0604020202020204" pitchFamily="34" charset="0"/>
              </a:rPr>
              <a:t>Features:</a:t>
            </a:r>
            <a:endParaRPr sz="18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Use of parallel GbE links to increase throughput  beyond  the speed of a single link, port, or cable (teaming, bonding, trunking, aggregation group)</a:t>
            </a:r>
            <a:endParaRPr sz="14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Designed for clients that have implemented Link Aggregation (Trunking/LAG/802.3ad) to better match their performance capability.</a:t>
            </a:r>
            <a:endParaRPr sz="14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Hitachi NAS Platform already supported LAG to switches, this enhancement extends it to support LAG from clients on the other side of the network for end-to-end LAG</a:t>
            </a:r>
            <a:endParaRPr sz="14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Support VLAN and VLAN tagging.</a:t>
            </a:r>
            <a:endParaRPr sz="14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Uses round robin distribution to optimize throughput</a:t>
            </a:r>
            <a:endParaRPr sz="1400" dirty="0">
              <a:solidFill>
                <a:schemeClr val="tx1"/>
              </a:solidFill>
              <a:latin typeface="Arial" panose="020B0604020202020204" pitchFamily="34" charset="0"/>
            </a:endParaRPr>
          </a:p>
          <a:p>
            <a:pPr eaLnBrk="1" hangingPunct="1">
              <a:buClrTx/>
              <a:buSzTx/>
              <a:buFontTx/>
              <a:buNone/>
            </a:pPr>
            <a:r>
              <a:rPr sz="1800" dirty="0">
                <a:solidFill>
                  <a:schemeClr val="tx1"/>
                </a:solidFill>
                <a:latin typeface="Arial" panose="020B0604020202020204" pitchFamily="34" charset="0"/>
              </a:rPr>
              <a:t>Benefits:</a:t>
            </a:r>
            <a:endParaRPr sz="18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Anywhere from 2 to 6 Ethernet connections can be aggregated into a single trunk with shared distributed workload across all links for performance.</a:t>
            </a:r>
            <a:endParaRPr sz="14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Significant performance improvements for specialized high performance client requirements like data bases, messaging applications and High Definition Video Processing.</a:t>
            </a:r>
            <a:endParaRPr sz="14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Includes NFS, CIFS and iSCSI Support</a:t>
            </a:r>
            <a:endParaRPr sz="1400" dirty="0">
              <a:solidFill>
                <a:schemeClr val="tx1"/>
              </a:solidFill>
              <a:latin typeface="Arial" panose="020B0604020202020204" pitchFamily="34" charset="0"/>
            </a:endParaRPr>
          </a:p>
          <a:p>
            <a:pPr eaLnBrk="1" hangingPunct="1">
              <a:buClrTx/>
              <a:buSzTx/>
              <a:buFontTx/>
            </a:pPr>
            <a:r>
              <a:rPr sz="1400" dirty="0">
                <a:solidFill>
                  <a:schemeClr val="tx1"/>
                </a:solidFill>
                <a:latin typeface="Arial" panose="020B0604020202020204" pitchFamily="34" charset="0"/>
              </a:rPr>
              <a:t>Primarily design for servicing client systems with a dedicated high performance workload requirement</a:t>
            </a:r>
            <a:endParaRPr sz="1400" dirty="0">
              <a:solidFill>
                <a:schemeClr val="tx1"/>
              </a:solidFill>
              <a:latin typeface="Arial" panose="020B0604020202020204" pitchFamily="34" charset="0"/>
            </a:endParaRPr>
          </a:p>
        </p:txBody>
      </p:sp>
      <p:sp>
        <p:nvSpPr>
          <p:cNvPr id="70659" name="Rectangle 5"/>
          <p:cNvSpPr/>
          <p:nvPr/>
        </p:nvSpPr>
        <p:spPr>
          <a:xfrm>
            <a:off x="304800" y="1120775"/>
            <a:ext cx="2971800" cy="5181600"/>
          </a:xfrm>
          <a:prstGeom prst="rect">
            <a:avLst/>
          </a:prstGeom>
          <a:solidFill>
            <a:schemeClr val="bg1"/>
          </a:solidFill>
          <a:ln w="38100" cap="flat" cmpd="sng">
            <a:solidFill>
              <a:schemeClr va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70660" name="Picture 6" descr="C-Storage"/>
          <p:cNvPicPr>
            <a:picLocks noChangeAspect="1"/>
          </p:cNvPicPr>
          <p:nvPr/>
        </p:nvPicPr>
        <p:blipFill>
          <a:blip r:embed="rId1"/>
          <a:stretch>
            <a:fillRect/>
          </a:stretch>
        </p:blipFill>
        <p:spPr>
          <a:xfrm>
            <a:off x="1266825" y="2035175"/>
            <a:ext cx="720725" cy="346075"/>
          </a:xfrm>
          <a:prstGeom prst="rect">
            <a:avLst/>
          </a:prstGeom>
          <a:noFill/>
          <a:ln w="9525" cap="flat" cmpd="sng">
            <a:solidFill>
              <a:schemeClr val="tx1"/>
            </a:solidFill>
            <a:prstDash val="solid"/>
            <a:miter/>
            <a:headEnd type="none" w="med" len="med"/>
            <a:tailEnd type="none" w="med" len="med"/>
          </a:ln>
        </p:spPr>
      </p:pic>
      <p:pic>
        <p:nvPicPr>
          <p:cNvPr id="70661" name="Picture 7" descr="BD18185_"/>
          <p:cNvPicPr>
            <a:picLocks noChangeAspect="1"/>
          </p:cNvPicPr>
          <p:nvPr/>
        </p:nvPicPr>
        <p:blipFill>
          <a:blip r:embed="rId2"/>
          <a:stretch>
            <a:fillRect/>
          </a:stretch>
        </p:blipFill>
        <p:spPr>
          <a:xfrm>
            <a:off x="985838" y="2619375"/>
            <a:ext cx="1274762" cy="722313"/>
          </a:xfrm>
          <a:prstGeom prst="rect">
            <a:avLst/>
          </a:prstGeom>
          <a:noFill/>
          <a:ln w="9525">
            <a:noFill/>
          </a:ln>
        </p:spPr>
      </p:pic>
      <p:sp>
        <p:nvSpPr>
          <p:cNvPr id="70662" name="Line 8"/>
          <p:cNvSpPr/>
          <p:nvPr/>
        </p:nvSpPr>
        <p:spPr>
          <a:xfrm flipH="1" flipV="1">
            <a:off x="1947863" y="2416175"/>
            <a:ext cx="0" cy="1066800"/>
          </a:xfrm>
          <a:prstGeom prst="line">
            <a:avLst/>
          </a:prstGeom>
          <a:ln w="63500" cap="flat" cmpd="sng">
            <a:solidFill>
              <a:schemeClr val="bg2"/>
            </a:solidFill>
            <a:prstDash val="solid"/>
            <a:headEnd type="triangle" w="med" len="med"/>
            <a:tailEnd type="triangle" w="med" len="med"/>
          </a:ln>
        </p:spPr>
      </p:sp>
      <p:sp>
        <p:nvSpPr>
          <p:cNvPr id="70663" name="Text Box 9"/>
          <p:cNvSpPr txBox="1"/>
          <p:nvPr/>
        </p:nvSpPr>
        <p:spPr>
          <a:xfrm>
            <a:off x="865188" y="1273175"/>
            <a:ext cx="1530350" cy="641350"/>
          </a:xfrm>
          <a:prstGeom prst="rect">
            <a:avLst/>
          </a:prstGeom>
          <a:noFill/>
          <a:ln w="9525">
            <a:noFill/>
          </a:ln>
        </p:spPr>
        <p:txBody>
          <a:bodyPr wrap="none">
            <a:spAutoFit/>
          </a:bodyPr>
          <a:p>
            <a:pPr algn="ctr"/>
            <a:r>
              <a:rPr b="1" dirty="0">
                <a:solidFill>
                  <a:schemeClr val="tx1"/>
                </a:solidFill>
                <a:latin typeface="Arial" panose="020B0604020202020204" pitchFamily="34" charset="0"/>
              </a:rPr>
              <a:t>Client Link </a:t>
            </a:r>
            <a:endParaRPr b="1" dirty="0">
              <a:solidFill>
                <a:schemeClr val="tx1"/>
              </a:solidFill>
              <a:latin typeface="Arial" panose="020B0604020202020204" pitchFamily="34" charset="0"/>
            </a:endParaRPr>
          </a:p>
          <a:p>
            <a:pPr algn="ctr"/>
            <a:r>
              <a:rPr b="1" dirty="0">
                <a:solidFill>
                  <a:schemeClr val="tx1"/>
                </a:solidFill>
                <a:latin typeface="Arial" panose="020B0604020202020204" pitchFamily="34" charset="0"/>
              </a:rPr>
              <a:t>Aggregation</a:t>
            </a:r>
            <a:endParaRPr b="1" dirty="0">
              <a:solidFill>
                <a:schemeClr val="tx1"/>
              </a:solidFill>
              <a:latin typeface="Arial" panose="020B0604020202020204" pitchFamily="34" charset="0"/>
            </a:endParaRPr>
          </a:p>
        </p:txBody>
      </p:sp>
      <p:sp>
        <p:nvSpPr>
          <p:cNvPr id="70664" name="Text Box 10"/>
          <p:cNvSpPr txBox="1"/>
          <p:nvPr/>
        </p:nvSpPr>
        <p:spPr>
          <a:xfrm>
            <a:off x="506413" y="5080000"/>
            <a:ext cx="2692400" cy="1069975"/>
          </a:xfrm>
          <a:prstGeom prst="rect">
            <a:avLst/>
          </a:prstGeom>
          <a:noFill/>
          <a:ln w="9525">
            <a:noFill/>
          </a:ln>
        </p:spPr>
        <p:txBody>
          <a:bodyPr>
            <a:spAutoFit/>
          </a:bodyPr>
          <a:p>
            <a:pPr>
              <a:buChar char="•"/>
            </a:pPr>
            <a:r>
              <a:rPr sz="1600" dirty="0">
                <a:solidFill>
                  <a:schemeClr val="tx1"/>
                </a:solidFill>
                <a:latin typeface="Arial" panose="020B0604020202020204" pitchFamily="34" charset="0"/>
              </a:rPr>
              <a:t> iSCSI Connections</a:t>
            </a:r>
            <a:endParaRPr sz="1600" dirty="0">
              <a:solidFill>
                <a:schemeClr val="tx1"/>
              </a:solidFill>
              <a:latin typeface="Arial" panose="020B0604020202020204" pitchFamily="34" charset="0"/>
            </a:endParaRPr>
          </a:p>
          <a:p>
            <a:pPr>
              <a:buChar char="•"/>
            </a:pPr>
            <a:r>
              <a:rPr sz="1600" dirty="0">
                <a:solidFill>
                  <a:schemeClr val="tx1"/>
                </a:solidFill>
                <a:latin typeface="Arial" panose="020B0604020202020204" pitchFamily="34" charset="0"/>
              </a:rPr>
              <a:t> Database Applications</a:t>
            </a:r>
            <a:endParaRPr sz="1600" dirty="0">
              <a:solidFill>
                <a:schemeClr val="tx1"/>
              </a:solidFill>
              <a:latin typeface="Arial" panose="020B0604020202020204" pitchFamily="34" charset="0"/>
            </a:endParaRPr>
          </a:p>
          <a:p>
            <a:pPr>
              <a:buChar char="•"/>
            </a:pPr>
            <a:r>
              <a:rPr sz="1600" dirty="0">
                <a:solidFill>
                  <a:schemeClr val="tx1"/>
                </a:solidFill>
                <a:latin typeface="Arial" panose="020B0604020202020204" pitchFamily="34" charset="0"/>
              </a:rPr>
              <a:t> HD Video Processing</a:t>
            </a:r>
            <a:endParaRPr sz="1600" dirty="0">
              <a:solidFill>
                <a:schemeClr val="tx1"/>
              </a:solidFill>
              <a:latin typeface="Arial" panose="020B0604020202020204" pitchFamily="34" charset="0"/>
            </a:endParaRPr>
          </a:p>
          <a:p>
            <a:pPr>
              <a:buChar char="•"/>
            </a:pPr>
            <a:r>
              <a:rPr sz="1600" dirty="0">
                <a:solidFill>
                  <a:schemeClr val="tx1"/>
                </a:solidFill>
                <a:latin typeface="Arial" panose="020B0604020202020204" pitchFamily="34" charset="0"/>
              </a:rPr>
              <a:t> Client/Application Clusters</a:t>
            </a:r>
            <a:endParaRPr sz="1600" dirty="0">
              <a:solidFill>
                <a:schemeClr val="tx1"/>
              </a:solidFill>
              <a:latin typeface="Arial" panose="020B0604020202020204" pitchFamily="34" charset="0"/>
            </a:endParaRPr>
          </a:p>
        </p:txBody>
      </p:sp>
      <p:pic>
        <p:nvPicPr>
          <p:cNvPr id="70665" name="Picture 11" descr="Jumbo_bezel"/>
          <p:cNvPicPr>
            <a:picLocks noChangeAspect="1"/>
          </p:cNvPicPr>
          <p:nvPr/>
        </p:nvPicPr>
        <p:blipFill>
          <a:blip r:embed="rId3"/>
          <a:stretch>
            <a:fillRect/>
          </a:stretch>
        </p:blipFill>
        <p:spPr>
          <a:xfrm>
            <a:off x="1087438" y="3843338"/>
            <a:ext cx="957262" cy="325437"/>
          </a:xfrm>
          <a:prstGeom prst="rect">
            <a:avLst/>
          </a:prstGeom>
          <a:noFill/>
          <a:ln w="9525">
            <a:noFill/>
          </a:ln>
        </p:spPr>
      </p:pic>
      <p:pic>
        <p:nvPicPr>
          <p:cNvPr id="70666" name="Picture 12" descr="Jumbo_bezel"/>
          <p:cNvPicPr>
            <a:picLocks noChangeAspect="1"/>
          </p:cNvPicPr>
          <p:nvPr/>
        </p:nvPicPr>
        <p:blipFill>
          <a:blip r:embed="rId3"/>
          <a:stretch>
            <a:fillRect/>
          </a:stretch>
        </p:blipFill>
        <p:spPr>
          <a:xfrm>
            <a:off x="1087438" y="3517900"/>
            <a:ext cx="957262" cy="325438"/>
          </a:xfrm>
          <a:prstGeom prst="rect">
            <a:avLst/>
          </a:prstGeom>
          <a:noFill/>
          <a:ln w="9525">
            <a:noFill/>
          </a:ln>
        </p:spPr>
      </p:pic>
      <p:pic>
        <p:nvPicPr>
          <p:cNvPr id="70667" name="Picture 13" descr="ams200_WMS100_nas"/>
          <p:cNvPicPr>
            <a:picLocks noChangeAspect="1"/>
          </p:cNvPicPr>
          <p:nvPr/>
        </p:nvPicPr>
        <p:blipFill>
          <a:blip r:embed="rId4"/>
          <a:stretch>
            <a:fillRect/>
          </a:stretch>
        </p:blipFill>
        <p:spPr>
          <a:xfrm>
            <a:off x="1243013" y="4062413"/>
            <a:ext cx="782637" cy="1096962"/>
          </a:xfrm>
          <a:prstGeom prst="rect">
            <a:avLst/>
          </a:prstGeom>
          <a:noFill/>
          <a:ln w="9525">
            <a:noFill/>
          </a:ln>
        </p:spPr>
      </p:pic>
      <p:sp>
        <p:nvSpPr>
          <p:cNvPr id="70668" name="Line 14"/>
          <p:cNvSpPr/>
          <p:nvPr/>
        </p:nvSpPr>
        <p:spPr>
          <a:xfrm flipH="1" flipV="1">
            <a:off x="1712913" y="2416175"/>
            <a:ext cx="0" cy="1066800"/>
          </a:xfrm>
          <a:prstGeom prst="line">
            <a:avLst/>
          </a:prstGeom>
          <a:ln w="63500" cap="flat" cmpd="sng">
            <a:solidFill>
              <a:schemeClr val="bg2"/>
            </a:solidFill>
            <a:prstDash val="solid"/>
            <a:headEnd type="triangle" w="med" len="med"/>
            <a:tailEnd type="triangle" w="med" len="med"/>
          </a:ln>
        </p:spPr>
      </p:sp>
      <p:sp>
        <p:nvSpPr>
          <p:cNvPr id="70669" name="Line 15"/>
          <p:cNvSpPr/>
          <p:nvPr/>
        </p:nvSpPr>
        <p:spPr>
          <a:xfrm flipH="1" flipV="1">
            <a:off x="1477963" y="2416175"/>
            <a:ext cx="0" cy="1066800"/>
          </a:xfrm>
          <a:prstGeom prst="line">
            <a:avLst/>
          </a:prstGeom>
          <a:ln w="63500" cap="flat" cmpd="sng">
            <a:solidFill>
              <a:schemeClr val="bg2"/>
            </a:solidFill>
            <a:prstDash val="solid"/>
            <a:headEnd type="triangle" w="med" len="med"/>
            <a:tailEnd type="triangle" w="med" len="med"/>
          </a:ln>
        </p:spPr>
      </p:sp>
      <p:sp>
        <p:nvSpPr>
          <p:cNvPr id="70670" name="Line 16"/>
          <p:cNvSpPr/>
          <p:nvPr/>
        </p:nvSpPr>
        <p:spPr>
          <a:xfrm flipH="1" flipV="1">
            <a:off x="1243013" y="2416175"/>
            <a:ext cx="0" cy="1066800"/>
          </a:xfrm>
          <a:prstGeom prst="line">
            <a:avLst/>
          </a:prstGeom>
          <a:ln w="63500" cap="flat" cmpd="sng">
            <a:solidFill>
              <a:schemeClr val="bg2"/>
            </a:solidFill>
            <a:prstDash val="solid"/>
            <a:headEnd type="triangle" w="med" len="med"/>
            <a:tailEnd type="triangle" w="med" len="med"/>
          </a:ln>
        </p:spPr>
      </p:sp>
      <p:grpSp>
        <p:nvGrpSpPr>
          <p:cNvPr id="70671" name="Group 17"/>
          <p:cNvGrpSpPr/>
          <p:nvPr/>
        </p:nvGrpSpPr>
        <p:grpSpPr>
          <a:xfrm>
            <a:off x="1066800" y="3429000"/>
            <a:ext cx="990600" cy="750888"/>
            <a:chOff x="4272" y="3168"/>
            <a:chExt cx="576" cy="473"/>
          </a:xfrm>
        </p:grpSpPr>
        <p:pic>
          <p:nvPicPr>
            <p:cNvPr id="70672" name="Picture 18"/>
            <p:cNvPicPr>
              <a:picLocks noChangeAspect="1"/>
            </p:cNvPicPr>
            <p:nvPr/>
          </p:nvPicPr>
          <p:blipFill>
            <a:blip r:embed="rId5">
              <a:clrChange>
                <a:clrFrom>
                  <a:srgbClr val="FFFFFF"/>
                </a:clrFrom>
                <a:clrTo>
                  <a:srgbClr val="FFFFFF">
                    <a:alpha val="0"/>
                  </a:srgbClr>
                </a:clrTo>
              </a:clrChange>
            </a:blip>
            <a:srcRect l="7292" t="26471" r="4167" b="9216"/>
            <a:stretch>
              <a:fillRect/>
            </a:stretch>
          </p:blipFill>
          <p:spPr>
            <a:xfrm>
              <a:off x="4272" y="3168"/>
              <a:ext cx="576" cy="281"/>
            </a:xfrm>
            <a:prstGeom prst="rect">
              <a:avLst/>
            </a:prstGeom>
            <a:noFill/>
            <a:ln w="9525">
              <a:noFill/>
            </a:ln>
          </p:spPr>
        </p:pic>
        <p:pic>
          <p:nvPicPr>
            <p:cNvPr id="70673" name="Picture 19"/>
            <p:cNvPicPr>
              <a:picLocks noChangeAspect="1"/>
            </p:cNvPicPr>
            <p:nvPr/>
          </p:nvPicPr>
          <p:blipFill>
            <a:blip r:embed="rId5">
              <a:clrChange>
                <a:clrFrom>
                  <a:srgbClr val="FFFFFF"/>
                </a:clrFrom>
                <a:clrTo>
                  <a:srgbClr val="FFFFFF">
                    <a:alpha val="0"/>
                  </a:srgbClr>
                </a:clrTo>
              </a:clrChange>
            </a:blip>
            <a:srcRect l="7292" t="26471" r="4167" b="9216"/>
            <a:stretch>
              <a:fillRect/>
            </a:stretch>
          </p:blipFill>
          <p:spPr>
            <a:xfrm>
              <a:off x="4272" y="3360"/>
              <a:ext cx="576" cy="281"/>
            </a:xfrm>
            <a:prstGeom prst="rect">
              <a:avLst/>
            </a:prstGeom>
            <a:noFill/>
            <a:ln w="9525">
              <a:noFill/>
            </a:ln>
          </p:spPr>
        </p:pic>
      </p:gr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p:nvPr/>
        </p:nvSpPr>
        <p:spPr>
          <a:xfrm>
            <a:off x="228600" y="1219200"/>
            <a:ext cx="4114800" cy="4876800"/>
          </a:xfrm>
          <a:prstGeom prst="rect">
            <a:avLst/>
          </a:prstGeom>
          <a:solidFill>
            <a:schemeClr val="bg1"/>
          </a:solidFill>
          <a:ln w="28575" cap="flat" cmpd="sng">
            <a:solidFill>
              <a:schemeClr val="hlink"/>
            </a:solidFill>
            <a:prstDash val="solid"/>
            <a:miter/>
            <a:headEnd type="none" w="med" len="med"/>
            <a:tailEnd type="none" w="med" len="med"/>
          </a:ln>
        </p:spPr>
        <p:txBody>
          <a:bodyPr wrap="none" anchor="ctr" anchorCtr="0"/>
          <a:p>
            <a:pPr algn="ctr"/>
            <a:endParaRPr sz="1000" dirty="0">
              <a:solidFill>
                <a:schemeClr val="tx1"/>
              </a:solidFill>
              <a:latin typeface="Arial" panose="020B0604020202020204" pitchFamily="34" charset="0"/>
            </a:endParaRPr>
          </a:p>
        </p:txBody>
      </p:sp>
      <p:sp>
        <p:nvSpPr>
          <p:cNvPr id="72706" name="Rectangle 4"/>
          <p:cNvSpPr>
            <a:spLocks noGrp="1"/>
          </p:cNvSpPr>
          <p:nvPr>
            <p:ph idx="1"/>
          </p:nvPr>
        </p:nvSpPr>
        <p:spPr>
          <a:xfrm>
            <a:off x="4532313" y="1189038"/>
            <a:ext cx="4440237" cy="4525962"/>
          </a:xfrm>
          <a:ln/>
        </p:spPr>
        <p:txBody>
          <a:bodyPr vert="horz" wrap="square" lIns="91440" tIns="45720" rIns="91440" bIns="45720" anchor="t" anchorCtr="0"/>
          <a:p>
            <a:pPr eaLnBrk="1" hangingPunct="1">
              <a:buNone/>
              <a:tabLst>
                <a:tab pos="1371600" algn="l"/>
              </a:tabLst>
            </a:pPr>
            <a:r>
              <a:rPr sz="1600" b="1" dirty="0">
                <a:solidFill>
                  <a:srgbClr val="000000"/>
                </a:solidFill>
              </a:rPr>
              <a:t>Features:</a:t>
            </a:r>
            <a:endParaRPr sz="1600" b="1" dirty="0">
              <a:solidFill>
                <a:srgbClr val="000000"/>
              </a:solidFill>
            </a:endParaRPr>
          </a:p>
          <a:p>
            <a:pPr eaLnBrk="1" hangingPunct="1">
              <a:tabLst>
                <a:tab pos="1371600" algn="l"/>
              </a:tabLst>
            </a:pPr>
            <a:r>
              <a:rPr sz="1600" dirty="0">
                <a:solidFill>
                  <a:srgbClr val="000000"/>
                </a:solidFill>
              </a:rPr>
              <a:t>Rules based policy engine</a:t>
            </a:r>
            <a:endParaRPr sz="1600" dirty="0">
              <a:solidFill>
                <a:srgbClr val="000000"/>
              </a:solidFill>
            </a:endParaRPr>
          </a:p>
          <a:p>
            <a:pPr lvl="1" eaLnBrk="1" hangingPunct="1">
              <a:tabLst>
                <a:tab pos="1371600" algn="l"/>
              </a:tabLst>
            </a:pPr>
            <a:r>
              <a:rPr sz="1400" dirty="0">
                <a:solidFill>
                  <a:srgbClr val="000000"/>
                </a:solidFill>
              </a:rPr>
              <a:t>Rich set of migration rules</a:t>
            </a:r>
            <a:endParaRPr sz="1400" dirty="0">
              <a:solidFill>
                <a:srgbClr val="000000"/>
              </a:solidFill>
            </a:endParaRPr>
          </a:p>
          <a:p>
            <a:pPr lvl="1" eaLnBrk="1" hangingPunct="1">
              <a:tabLst>
                <a:tab pos="1371600" algn="l"/>
              </a:tabLst>
            </a:pPr>
            <a:r>
              <a:rPr sz="1400" dirty="0">
                <a:solidFill>
                  <a:srgbClr val="000000"/>
                </a:solidFill>
              </a:rPr>
              <a:t>Capacity based thresholds</a:t>
            </a:r>
            <a:endParaRPr sz="1400" dirty="0">
              <a:solidFill>
                <a:srgbClr val="000000"/>
              </a:solidFill>
            </a:endParaRPr>
          </a:p>
          <a:p>
            <a:pPr lvl="1" eaLnBrk="1" hangingPunct="1">
              <a:lnSpc>
                <a:spcPct val="85000"/>
              </a:lnSpc>
              <a:tabLst>
                <a:tab pos="1371600" algn="l"/>
              </a:tabLst>
            </a:pPr>
            <a:r>
              <a:rPr lang="en-GB" altLang="x-none" sz="1400" dirty="0">
                <a:solidFill>
                  <a:srgbClr val="000000"/>
                </a:solidFill>
              </a:rPr>
              <a:t>Automated scheduler (one time or recurring)</a:t>
            </a:r>
            <a:endParaRPr lang="en-GB" altLang="x-none" sz="1400" dirty="0">
              <a:solidFill>
                <a:srgbClr val="000000"/>
              </a:solidFill>
            </a:endParaRPr>
          </a:p>
          <a:p>
            <a:pPr lvl="1" eaLnBrk="1" hangingPunct="1">
              <a:lnSpc>
                <a:spcPct val="85000"/>
              </a:lnSpc>
              <a:tabLst>
                <a:tab pos="1371600" algn="l"/>
              </a:tabLst>
            </a:pPr>
            <a:r>
              <a:rPr lang="ja-JP" altLang="en-US" sz="1400" dirty="0">
                <a:solidFill>
                  <a:srgbClr val="000000"/>
                </a:solidFill>
              </a:rPr>
              <a:t>“</a:t>
            </a:r>
            <a:r>
              <a:rPr lang="en-US" altLang="ja-JP" sz="1400" dirty="0">
                <a:solidFill>
                  <a:srgbClr val="000000"/>
                </a:solidFill>
              </a:rPr>
              <a:t>What if</a:t>
            </a:r>
            <a:r>
              <a:rPr lang="ja-JP" altLang="en-US" sz="1400" dirty="0">
                <a:solidFill>
                  <a:srgbClr val="000000"/>
                </a:solidFill>
              </a:rPr>
              <a:t>”</a:t>
            </a:r>
            <a:r>
              <a:rPr lang="en-US" altLang="ja-JP" sz="1400" dirty="0">
                <a:solidFill>
                  <a:srgbClr val="000000"/>
                </a:solidFill>
              </a:rPr>
              <a:t> analysis tools and reporting</a:t>
            </a:r>
            <a:endParaRPr lang="en-US" altLang="ja-JP" sz="1400" dirty="0">
              <a:solidFill>
                <a:srgbClr val="000000"/>
              </a:solidFill>
            </a:endParaRPr>
          </a:p>
          <a:p>
            <a:pPr eaLnBrk="1" hangingPunct="1">
              <a:tabLst>
                <a:tab pos="1371600" algn="l"/>
              </a:tabLst>
            </a:pPr>
            <a:r>
              <a:rPr sz="1600" dirty="0">
                <a:solidFill>
                  <a:srgbClr val="000000"/>
                </a:solidFill>
              </a:rPr>
              <a:t>Leverages MTS for</a:t>
            </a:r>
            <a:endParaRPr sz="1600" dirty="0">
              <a:solidFill>
                <a:srgbClr val="000000"/>
              </a:solidFill>
            </a:endParaRPr>
          </a:p>
          <a:p>
            <a:pPr lvl="1" eaLnBrk="1" hangingPunct="1">
              <a:tabLst>
                <a:tab pos="1371600" algn="l"/>
              </a:tabLst>
            </a:pPr>
            <a:r>
              <a:rPr sz="1400" dirty="0">
                <a:solidFill>
                  <a:srgbClr val="000000"/>
                </a:solidFill>
              </a:rPr>
              <a:t>Optimal performance</a:t>
            </a:r>
            <a:endParaRPr sz="1400" dirty="0">
              <a:solidFill>
                <a:srgbClr val="000000"/>
              </a:solidFill>
            </a:endParaRPr>
          </a:p>
          <a:p>
            <a:pPr lvl="1" eaLnBrk="1" hangingPunct="1">
              <a:tabLst>
                <a:tab pos="1371600" algn="l"/>
              </a:tabLst>
            </a:pPr>
            <a:r>
              <a:rPr sz="1400" dirty="0">
                <a:solidFill>
                  <a:srgbClr val="000000"/>
                </a:solidFill>
              </a:rPr>
              <a:t>Minimal impact on network</a:t>
            </a:r>
            <a:endParaRPr sz="1400" dirty="0">
              <a:solidFill>
                <a:srgbClr val="000000"/>
              </a:solidFill>
            </a:endParaRPr>
          </a:p>
          <a:p>
            <a:pPr lvl="1" eaLnBrk="1" hangingPunct="1">
              <a:tabLst>
                <a:tab pos="1371600" algn="l"/>
              </a:tabLst>
            </a:pPr>
            <a:endParaRPr sz="1400" dirty="0">
              <a:solidFill>
                <a:srgbClr val="000000"/>
              </a:solidFill>
            </a:endParaRPr>
          </a:p>
          <a:p>
            <a:pPr eaLnBrk="1" hangingPunct="1">
              <a:buNone/>
              <a:tabLst>
                <a:tab pos="1371600" algn="l"/>
              </a:tabLst>
            </a:pPr>
            <a:r>
              <a:rPr sz="1600" b="1" dirty="0">
                <a:solidFill>
                  <a:srgbClr val="000000"/>
                </a:solidFill>
              </a:rPr>
              <a:t>Benefits:</a:t>
            </a:r>
            <a:endParaRPr sz="1600" b="1" dirty="0">
              <a:solidFill>
                <a:srgbClr val="000000"/>
              </a:solidFill>
            </a:endParaRPr>
          </a:p>
          <a:p>
            <a:pPr eaLnBrk="1" hangingPunct="1">
              <a:tabLst>
                <a:tab pos="1371600" algn="l"/>
              </a:tabLst>
            </a:pPr>
            <a:r>
              <a:rPr sz="1600" dirty="0">
                <a:solidFill>
                  <a:srgbClr val="000000"/>
                </a:solidFill>
              </a:rPr>
              <a:t>Transparent to end users </a:t>
            </a:r>
            <a:endParaRPr sz="1600" dirty="0">
              <a:solidFill>
                <a:srgbClr val="000000"/>
              </a:solidFill>
            </a:endParaRPr>
          </a:p>
          <a:p>
            <a:pPr eaLnBrk="1" hangingPunct="1">
              <a:tabLst>
                <a:tab pos="1371600" algn="l"/>
              </a:tabLst>
            </a:pPr>
            <a:r>
              <a:rPr sz="1600" dirty="0">
                <a:solidFill>
                  <a:srgbClr val="000000"/>
                </a:solidFill>
              </a:rPr>
              <a:t>Simplifies management</a:t>
            </a:r>
            <a:endParaRPr sz="1600" dirty="0">
              <a:solidFill>
                <a:srgbClr val="000000"/>
              </a:solidFill>
            </a:endParaRPr>
          </a:p>
          <a:p>
            <a:pPr eaLnBrk="1" hangingPunct="1">
              <a:tabLst>
                <a:tab pos="1371600" algn="l"/>
              </a:tabLst>
            </a:pPr>
            <a:r>
              <a:rPr sz="1600" dirty="0">
                <a:solidFill>
                  <a:srgbClr val="000000"/>
                </a:solidFill>
              </a:rPr>
              <a:t>Lowers cost of ownership</a:t>
            </a:r>
            <a:endParaRPr sz="1600" dirty="0">
              <a:solidFill>
                <a:srgbClr val="000000"/>
              </a:solidFill>
            </a:endParaRPr>
          </a:p>
          <a:p>
            <a:pPr lvl="1" eaLnBrk="1" hangingPunct="1">
              <a:tabLst>
                <a:tab pos="1371600" algn="l"/>
              </a:tabLst>
            </a:pPr>
            <a:r>
              <a:rPr sz="1400" dirty="0">
                <a:solidFill>
                  <a:srgbClr val="000000"/>
                </a:solidFill>
              </a:rPr>
              <a:t>Does not require additional server</a:t>
            </a:r>
            <a:endParaRPr sz="1400" dirty="0">
              <a:solidFill>
                <a:srgbClr val="000000"/>
              </a:solidFill>
            </a:endParaRPr>
          </a:p>
          <a:p>
            <a:pPr lvl="1" eaLnBrk="1" hangingPunct="1">
              <a:tabLst>
                <a:tab pos="1371600" algn="l"/>
              </a:tabLst>
            </a:pPr>
            <a:r>
              <a:rPr sz="1400" dirty="0">
                <a:solidFill>
                  <a:srgbClr val="000000"/>
                </a:solidFill>
              </a:rPr>
              <a:t>Improves storage efficiency</a:t>
            </a:r>
            <a:endParaRPr sz="1400" dirty="0">
              <a:solidFill>
                <a:srgbClr val="000000"/>
              </a:solidFill>
            </a:endParaRPr>
          </a:p>
          <a:p>
            <a:pPr lvl="1" eaLnBrk="1" hangingPunct="1">
              <a:tabLst>
                <a:tab pos="1371600" algn="l"/>
              </a:tabLst>
            </a:pPr>
            <a:endParaRPr sz="1400" dirty="0">
              <a:solidFill>
                <a:srgbClr val="000000"/>
              </a:solidFill>
            </a:endParaRPr>
          </a:p>
        </p:txBody>
      </p:sp>
      <p:sp>
        <p:nvSpPr>
          <p:cNvPr id="72707" name="Text Box 5"/>
          <p:cNvSpPr txBox="1"/>
          <p:nvPr/>
        </p:nvSpPr>
        <p:spPr>
          <a:xfrm>
            <a:off x="2132013" y="2495550"/>
            <a:ext cx="1525587" cy="581025"/>
          </a:xfrm>
          <a:prstGeom prst="rect">
            <a:avLst/>
          </a:prstGeom>
          <a:noFill/>
          <a:ln w="9525">
            <a:noFill/>
          </a:ln>
        </p:spPr>
        <p:txBody>
          <a:bodyPr>
            <a:spAutoFit/>
          </a:bodyPr>
          <a:p>
            <a:pPr algn="ctr"/>
            <a:r>
              <a:rPr sz="1600" dirty="0">
                <a:solidFill>
                  <a:srgbClr val="000000"/>
                </a:solidFill>
                <a:latin typeface="Arial" panose="020B0604020202020204" pitchFamily="34" charset="0"/>
              </a:rPr>
              <a:t>Automatic Data Migration</a:t>
            </a:r>
            <a:endParaRPr sz="1600" dirty="0">
              <a:solidFill>
                <a:srgbClr val="000000"/>
              </a:solidFill>
              <a:latin typeface="Arial" panose="020B0604020202020204" pitchFamily="34" charset="0"/>
            </a:endParaRPr>
          </a:p>
        </p:txBody>
      </p:sp>
      <p:sp>
        <p:nvSpPr>
          <p:cNvPr id="72708" name="Text Box 6"/>
          <p:cNvSpPr txBox="1"/>
          <p:nvPr/>
        </p:nvSpPr>
        <p:spPr>
          <a:xfrm>
            <a:off x="1281113" y="5368925"/>
            <a:ext cx="1157287" cy="581025"/>
          </a:xfrm>
          <a:prstGeom prst="rect">
            <a:avLst/>
          </a:prstGeom>
          <a:noFill/>
          <a:ln w="9525">
            <a:noFill/>
          </a:ln>
        </p:spPr>
        <p:txBody>
          <a:bodyPr>
            <a:spAutoFit/>
          </a:bodyPr>
          <a:p>
            <a:r>
              <a:rPr sz="1600" b="1" dirty="0">
                <a:solidFill>
                  <a:srgbClr val="000000"/>
                </a:solidFill>
                <a:latin typeface="Arial" panose="020B0604020202020204" pitchFamily="34" charset="0"/>
              </a:rPr>
              <a:t>Fast Disk</a:t>
            </a:r>
            <a:r>
              <a:rPr sz="1600" dirty="0">
                <a:solidFill>
                  <a:srgbClr val="000000"/>
                </a:solidFill>
                <a:latin typeface="Arial" panose="020B0604020202020204" pitchFamily="34" charset="0"/>
              </a:rPr>
              <a:t> </a:t>
            </a:r>
            <a:endParaRPr sz="1600" dirty="0">
              <a:solidFill>
                <a:srgbClr val="000000"/>
              </a:solidFill>
              <a:latin typeface="Arial" panose="020B0604020202020204" pitchFamily="34" charset="0"/>
            </a:endParaRPr>
          </a:p>
          <a:p>
            <a:r>
              <a:rPr sz="1600" b="1" dirty="0">
                <a:solidFill>
                  <a:srgbClr val="000000"/>
                </a:solidFill>
                <a:latin typeface="Arial" panose="020B0604020202020204" pitchFamily="34" charset="0"/>
              </a:rPr>
              <a:t>$$$$</a:t>
            </a:r>
            <a:endParaRPr sz="1600" b="1" dirty="0">
              <a:solidFill>
                <a:srgbClr val="000000"/>
              </a:solidFill>
              <a:latin typeface="Arial" panose="020B0604020202020204" pitchFamily="34" charset="0"/>
            </a:endParaRPr>
          </a:p>
        </p:txBody>
      </p:sp>
      <p:sp>
        <p:nvSpPr>
          <p:cNvPr id="72709" name="Text Box 7"/>
          <p:cNvSpPr txBox="1"/>
          <p:nvPr/>
        </p:nvSpPr>
        <p:spPr>
          <a:xfrm>
            <a:off x="2768600" y="5364163"/>
            <a:ext cx="1346200" cy="581025"/>
          </a:xfrm>
          <a:prstGeom prst="rect">
            <a:avLst/>
          </a:prstGeom>
          <a:noFill/>
          <a:ln w="9525">
            <a:noFill/>
          </a:ln>
        </p:spPr>
        <p:txBody>
          <a:bodyPr>
            <a:spAutoFit/>
          </a:bodyPr>
          <a:p>
            <a:r>
              <a:rPr sz="1600" b="1" dirty="0">
                <a:solidFill>
                  <a:srgbClr val="000000"/>
                </a:solidFill>
                <a:latin typeface="Arial" panose="020B0604020202020204" pitchFamily="34" charset="0"/>
              </a:rPr>
              <a:t>Slow Disk </a:t>
            </a:r>
            <a:endParaRPr sz="1600" b="1" dirty="0">
              <a:solidFill>
                <a:srgbClr val="000000"/>
              </a:solidFill>
              <a:latin typeface="Arial" panose="020B0604020202020204" pitchFamily="34" charset="0"/>
            </a:endParaRPr>
          </a:p>
          <a:p>
            <a:r>
              <a:rPr sz="1600" b="1" dirty="0">
                <a:solidFill>
                  <a:srgbClr val="000000"/>
                </a:solidFill>
                <a:latin typeface="Arial" panose="020B0604020202020204" pitchFamily="34" charset="0"/>
              </a:rPr>
              <a:t>$$</a:t>
            </a:r>
            <a:endParaRPr sz="1600" b="1" dirty="0">
              <a:solidFill>
                <a:srgbClr val="000000"/>
              </a:solidFill>
              <a:latin typeface="Arial" panose="020B0604020202020204" pitchFamily="34" charset="0"/>
            </a:endParaRPr>
          </a:p>
        </p:txBody>
      </p:sp>
      <p:grpSp>
        <p:nvGrpSpPr>
          <p:cNvPr id="72710" name="Group 8"/>
          <p:cNvGrpSpPr/>
          <p:nvPr/>
        </p:nvGrpSpPr>
        <p:grpSpPr>
          <a:xfrm>
            <a:off x="354013" y="2232025"/>
            <a:ext cx="1262062" cy="1174750"/>
            <a:chOff x="1879" y="1331"/>
            <a:chExt cx="795" cy="740"/>
          </a:xfrm>
        </p:grpSpPr>
        <p:sp>
          <p:nvSpPr>
            <p:cNvPr id="72726" name="AutoShape 9"/>
            <p:cNvSpPr/>
            <p:nvPr/>
          </p:nvSpPr>
          <p:spPr>
            <a:xfrm>
              <a:off x="1886" y="1331"/>
              <a:ext cx="788" cy="740"/>
            </a:xfrm>
            <a:prstGeom prst="flowChartMultidocument">
              <a:avLst/>
            </a:prstGeom>
            <a:solidFill>
              <a:srgbClr val="99CCFF">
                <a:alpha val="50195"/>
              </a:srgbClr>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2727" name="Text Box 10"/>
            <p:cNvSpPr txBox="1"/>
            <p:nvPr/>
          </p:nvSpPr>
          <p:spPr>
            <a:xfrm>
              <a:off x="2014" y="1434"/>
              <a:ext cx="578" cy="173"/>
            </a:xfrm>
            <a:prstGeom prst="rect">
              <a:avLst/>
            </a:prstGeom>
            <a:noFill/>
            <a:ln w="9525">
              <a:noFill/>
            </a:ln>
          </p:spPr>
          <p:txBody>
            <a:bodyPr>
              <a:spAutoFit/>
            </a:bodyPr>
            <a:p>
              <a:r>
                <a:rPr sz="1200" b="1" dirty="0">
                  <a:solidFill>
                    <a:srgbClr val="000000"/>
                  </a:solidFill>
                  <a:latin typeface="Arial" panose="020B0604020202020204" pitchFamily="34" charset="0"/>
                </a:rPr>
                <a:t>Policies</a:t>
              </a:r>
              <a:endParaRPr sz="1200" b="1" dirty="0">
                <a:solidFill>
                  <a:srgbClr val="000000"/>
                </a:solidFill>
                <a:latin typeface="Arial" panose="020B0604020202020204" pitchFamily="34" charset="0"/>
              </a:endParaRPr>
            </a:p>
          </p:txBody>
        </p:sp>
        <p:sp>
          <p:nvSpPr>
            <p:cNvPr id="72728" name="Text Box 11"/>
            <p:cNvSpPr txBox="1"/>
            <p:nvPr/>
          </p:nvSpPr>
          <p:spPr>
            <a:xfrm>
              <a:off x="1879" y="1578"/>
              <a:ext cx="748" cy="289"/>
            </a:xfrm>
            <a:prstGeom prst="rect">
              <a:avLst/>
            </a:prstGeom>
            <a:noFill/>
            <a:ln w="9525">
              <a:noFill/>
            </a:ln>
          </p:spPr>
          <p:txBody>
            <a:bodyPr>
              <a:spAutoFit/>
            </a:bodyPr>
            <a:p>
              <a:r>
                <a:rPr sz="800" b="1" dirty="0">
                  <a:solidFill>
                    <a:srgbClr val="000000"/>
                  </a:solidFill>
                  <a:latin typeface="Arial" panose="020B0604020202020204" pitchFamily="34" charset="0"/>
                </a:rPr>
                <a:t>If not used recently</a:t>
              </a:r>
              <a:endParaRPr sz="800" b="1" dirty="0">
                <a:solidFill>
                  <a:srgbClr val="000000"/>
                </a:solidFill>
                <a:latin typeface="Arial" panose="020B0604020202020204" pitchFamily="34" charset="0"/>
              </a:endParaRPr>
            </a:p>
            <a:p>
              <a:r>
                <a:rPr sz="800" b="1" dirty="0">
                  <a:solidFill>
                    <a:srgbClr val="000000"/>
                  </a:solidFill>
                  <a:latin typeface="Arial" panose="020B0604020202020204" pitchFamily="34" charset="0"/>
                </a:rPr>
                <a:t>   Then move</a:t>
              </a:r>
              <a:endParaRPr sz="800" b="1" dirty="0">
                <a:solidFill>
                  <a:srgbClr val="000000"/>
                </a:solidFill>
                <a:latin typeface="Arial" panose="020B0604020202020204" pitchFamily="34" charset="0"/>
              </a:endParaRPr>
            </a:p>
            <a:p>
              <a:r>
                <a:rPr sz="800" b="1" dirty="0">
                  <a:solidFill>
                    <a:srgbClr val="000000"/>
                  </a:solidFill>
                  <a:latin typeface="Arial" panose="020B0604020202020204" pitchFamily="34" charset="0"/>
                </a:rPr>
                <a:t>Else….</a:t>
              </a:r>
              <a:endParaRPr sz="800" b="1" dirty="0">
                <a:solidFill>
                  <a:srgbClr val="000000"/>
                </a:solidFill>
                <a:latin typeface="Arial" panose="020B0604020202020204" pitchFamily="34" charset="0"/>
              </a:endParaRPr>
            </a:p>
          </p:txBody>
        </p:sp>
      </p:grpSp>
      <p:sp>
        <p:nvSpPr>
          <p:cNvPr id="72711" name="Line 12"/>
          <p:cNvSpPr/>
          <p:nvPr/>
        </p:nvSpPr>
        <p:spPr>
          <a:xfrm flipH="1" flipV="1">
            <a:off x="658813" y="3405188"/>
            <a:ext cx="531812" cy="798512"/>
          </a:xfrm>
          <a:prstGeom prst="line">
            <a:avLst/>
          </a:prstGeom>
          <a:ln w="19050" cap="flat" cmpd="sng">
            <a:solidFill>
              <a:schemeClr val="accent2"/>
            </a:solidFill>
            <a:prstDash val="solid"/>
            <a:headEnd type="none" w="med" len="med"/>
            <a:tailEnd type="none" w="med" len="med"/>
          </a:ln>
        </p:spPr>
      </p:sp>
      <p:sp>
        <p:nvSpPr>
          <p:cNvPr id="72712" name="Rectangle 13"/>
          <p:cNvSpPr/>
          <p:nvPr/>
        </p:nvSpPr>
        <p:spPr>
          <a:xfrm>
            <a:off x="344488" y="1223963"/>
            <a:ext cx="3944937" cy="942975"/>
          </a:xfrm>
          <a:prstGeom prst="rect">
            <a:avLst/>
          </a:prstGeom>
          <a:noFill/>
          <a:ln w="9525">
            <a:noFill/>
          </a:ln>
        </p:spPr>
        <p:txBody>
          <a:bodyPr>
            <a:spAutoFit/>
          </a:bodyPr>
          <a:p>
            <a:r>
              <a:rPr sz="1400" dirty="0">
                <a:solidFill>
                  <a:srgbClr val="000000"/>
                </a:solidFill>
                <a:latin typeface="Arial" panose="020B0604020202020204" pitchFamily="34" charset="0"/>
              </a:rPr>
              <a:t>Enables administrators to automatically migrate data from a file system or virtual volume using data management policies based on a set of rules, parameters, and triggers.</a:t>
            </a:r>
            <a:endParaRPr sz="1400" dirty="0">
              <a:solidFill>
                <a:srgbClr val="000000"/>
              </a:solidFill>
              <a:latin typeface="Arial" panose="020B0604020202020204" pitchFamily="34" charset="0"/>
            </a:endParaRPr>
          </a:p>
        </p:txBody>
      </p:sp>
      <p:sp>
        <p:nvSpPr>
          <p:cNvPr id="72713" name="Rectangle 14"/>
          <p:cNvSpPr/>
          <p:nvPr/>
        </p:nvSpPr>
        <p:spPr>
          <a:xfrm>
            <a:off x="422275" y="5345113"/>
            <a:ext cx="3759200" cy="588962"/>
          </a:xfrm>
          <a:prstGeom prst="rect">
            <a:avLst/>
          </a:prstGeom>
          <a:noFill/>
          <a:ln w="9525" cap="flat" cmpd="sng">
            <a:solidFill>
              <a:srgbClr val="99CC00"/>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2714" name="Freeform 15"/>
          <p:cNvSpPr/>
          <p:nvPr/>
        </p:nvSpPr>
        <p:spPr>
          <a:xfrm>
            <a:off x="1330325" y="3562350"/>
            <a:ext cx="1400175" cy="601663"/>
          </a:xfrm>
          <a:custGeom>
            <a:avLst/>
            <a:gdLst>
              <a:gd name="txL" fmla="*/ 0 w 861"/>
              <a:gd name="txT" fmla="*/ 0 h 583"/>
              <a:gd name="txR" fmla="*/ 861 w 861"/>
              <a:gd name="txB" fmla="*/ 583 h 583"/>
            </a:gdLst>
            <a:ahLst/>
            <a:cxnLst>
              <a:cxn ang="0">
                <a:pos x="0" y="2147483647"/>
              </a:cxn>
              <a:cxn ang="0">
                <a:pos x="0" y="0"/>
              </a:cxn>
              <a:cxn ang="0">
                <a:pos x="2147483647" y="0"/>
              </a:cxn>
              <a:cxn ang="0">
                <a:pos x="2147483647" y="2147483647"/>
              </a:cxn>
            </a:cxnLst>
            <a:rect l="txL" t="txT" r="txR" b="txB"/>
            <a:pathLst>
              <a:path w="861" h="583">
                <a:moveTo>
                  <a:pt x="0" y="263"/>
                </a:moveTo>
                <a:lnTo>
                  <a:pt x="0" y="0"/>
                </a:lnTo>
                <a:lnTo>
                  <a:pt x="861" y="0"/>
                </a:lnTo>
                <a:lnTo>
                  <a:pt x="861" y="583"/>
                </a:lnTo>
              </a:path>
            </a:pathLst>
          </a:custGeom>
          <a:noFill/>
          <a:ln w="38100" cap="flat" cmpd="sng">
            <a:solidFill>
              <a:schemeClr val="folHlink">
                <a:alpha val="100000"/>
              </a:schemeClr>
            </a:solidFill>
            <a:prstDash val="solid"/>
            <a:round/>
            <a:headEnd type="none" w="med" len="med"/>
            <a:tailEnd type="triangle" w="med" len="med"/>
          </a:ln>
        </p:spPr>
        <p:txBody>
          <a:bodyPr/>
          <a:p>
            <a:endParaRPr lang="en-US"/>
          </a:p>
        </p:txBody>
      </p:sp>
      <p:pic>
        <p:nvPicPr>
          <p:cNvPr id="72715" name="Picture 16" descr="ams200_WMS100_nas"/>
          <p:cNvPicPr>
            <a:picLocks noChangeAspect="1"/>
          </p:cNvPicPr>
          <p:nvPr/>
        </p:nvPicPr>
        <p:blipFill>
          <a:blip r:embed="rId1"/>
          <a:stretch>
            <a:fillRect/>
          </a:stretch>
        </p:blipFill>
        <p:spPr>
          <a:xfrm>
            <a:off x="3065463" y="3648075"/>
            <a:ext cx="820737" cy="1066800"/>
          </a:xfrm>
          <a:prstGeom prst="rect">
            <a:avLst/>
          </a:prstGeom>
          <a:noFill/>
          <a:ln w="9525">
            <a:noFill/>
          </a:ln>
        </p:spPr>
      </p:pic>
      <p:pic>
        <p:nvPicPr>
          <p:cNvPr id="72716" name="Picture 17" descr="Jumbo_bezel_2"/>
          <p:cNvPicPr>
            <a:picLocks noChangeAspect="1"/>
          </p:cNvPicPr>
          <p:nvPr/>
        </p:nvPicPr>
        <p:blipFill>
          <a:blip r:embed="rId2"/>
          <a:stretch>
            <a:fillRect/>
          </a:stretch>
        </p:blipFill>
        <p:spPr>
          <a:xfrm>
            <a:off x="838200" y="3884613"/>
            <a:ext cx="609600" cy="220662"/>
          </a:xfrm>
          <a:prstGeom prst="rect">
            <a:avLst/>
          </a:prstGeom>
          <a:noFill/>
          <a:ln w="9525">
            <a:noFill/>
          </a:ln>
        </p:spPr>
      </p:pic>
      <p:pic>
        <p:nvPicPr>
          <p:cNvPr id="72717" name="Picture 18" descr="Jumbo_bezel_2"/>
          <p:cNvPicPr>
            <a:picLocks noChangeAspect="1"/>
          </p:cNvPicPr>
          <p:nvPr/>
        </p:nvPicPr>
        <p:blipFill>
          <a:blip r:embed="rId2"/>
          <a:stretch>
            <a:fillRect/>
          </a:stretch>
        </p:blipFill>
        <p:spPr>
          <a:xfrm>
            <a:off x="2286000" y="4181475"/>
            <a:ext cx="609600" cy="220663"/>
          </a:xfrm>
          <a:prstGeom prst="rect">
            <a:avLst/>
          </a:prstGeom>
          <a:noFill/>
          <a:ln w="9525">
            <a:noFill/>
          </a:ln>
        </p:spPr>
      </p:pic>
      <p:pic>
        <p:nvPicPr>
          <p:cNvPr id="72718" name="Picture 19" descr="USP"/>
          <p:cNvPicPr>
            <a:picLocks noChangeAspect="1"/>
          </p:cNvPicPr>
          <p:nvPr/>
        </p:nvPicPr>
        <p:blipFill>
          <a:blip r:embed="rId3"/>
          <a:stretch>
            <a:fillRect/>
          </a:stretch>
        </p:blipFill>
        <p:spPr>
          <a:xfrm>
            <a:off x="1447800" y="3648075"/>
            <a:ext cx="611188" cy="1209675"/>
          </a:xfrm>
          <a:prstGeom prst="rect">
            <a:avLst/>
          </a:prstGeom>
          <a:noFill/>
          <a:ln w="9525">
            <a:noFill/>
          </a:ln>
        </p:spPr>
      </p:pic>
      <p:pic>
        <p:nvPicPr>
          <p:cNvPr id="72719" name="Picture 20" descr="Jumbo_bezel_2"/>
          <p:cNvPicPr>
            <a:picLocks noChangeAspect="1"/>
          </p:cNvPicPr>
          <p:nvPr/>
        </p:nvPicPr>
        <p:blipFill>
          <a:blip r:embed="rId2"/>
          <a:stretch>
            <a:fillRect/>
          </a:stretch>
        </p:blipFill>
        <p:spPr>
          <a:xfrm>
            <a:off x="838200" y="4189413"/>
            <a:ext cx="609600" cy="220662"/>
          </a:xfrm>
          <a:prstGeom prst="rect">
            <a:avLst/>
          </a:prstGeom>
          <a:noFill/>
          <a:ln w="9525">
            <a:noFill/>
          </a:ln>
        </p:spPr>
      </p:pic>
      <p:pic>
        <p:nvPicPr>
          <p:cNvPr id="72720" name="Picture 21" descr="ams200_WMS100_nas"/>
          <p:cNvPicPr>
            <a:picLocks noChangeAspect="1"/>
          </p:cNvPicPr>
          <p:nvPr/>
        </p:nvPicPr>
        <p:blipFill>
          <a:blip r:embed="rId1"/>
          <a:stretch>
            <a:fillRect/>
          </a:stretch>
        </p:blipFill>
        <p:spPr>
          <a:xfrm>
            <a:off x="2895600" y="3800475"/>
            <a:ext cx="820738" cy="1066800"/>
          </a:xfrm>
          <a:prstGeom prst="rect">
            <a:avLst/>
          </a:prstGeom>
          <a:noFill/>
          <a:ln w="9525">
            <a:noFill/>
          </a:ln>
        </p:spPr>
      </p:pic>
      <p:sp>
        <p:nvSpPr>
          <p:cNvPr id="72721" name="Text Box 22"/>
          <p:cNvSpPr txBox="1"/>
          <p:nvPr/>
        </p:nvSpPr>
        <p:spPr>
          <a:xfrm>
            <a:off x="1752600" y="3333750"/>
            <a:ext cx="838200" cy="244475"/>
          </a:xfrm>
          <a:prstGeom prst="rect">
            <a:avLst/>
          </a:prstGeom>
          <a:noFill/>
          <a:ln w="9525">
            <a:noFill/>
          </a:ln>
        </p:spPr>
        <p:txBody>
          <a:bodyPr>
            <a:spAutoFit/>
          </a:bodyPr>
          <a:p>
            <a:pPr>
              <a:spcBef>
                <a:spcPct val="50000"/>
              </a:spcBef>
            </a:pPr>
            <a:r>
              <a:rPr sz="1000" dirty="0">
                <a:solidFill>
                  <a:srgbClr val="000000"/>
                </a:solidFill>
                <a:latin typeface="Arial" panose="020B0604020202020204" pitchFamily="34" charset="0"/>
              </a:rPr>
              <a:t>File based</a:t>
            </a:r>
            <a:endParaRPr sz="1000" dirty="0">
              <a:solidFill>
                <a:srgbClr val="000000"/>
              </a:solidFill>
              <a:latin typeface="Arial" panose="020B0604020202020204" pitchFamily="34" charset="0"/>
            </a:endParaRPr>
          </a:p>
        </p:txBody>
      </p:sp>
      <p:sp>
        <p:nvSpPr>
          <p:cNvPr id="72722" name="Rectangle 23"/>
          <p:cNvSpPr>
            <a:spLocks noGrp="1"/>
          </p:cNvSpPr>
          <p:nvPr>
            <p:ph type="title"/>
          </p:nvPr>
        </p:nvSpPr>
        <p:spPr>
          <a:xfrm>
            <a:off x="228600" y="90488"/>
            <a:ext cx="7086600" cy="657225"/>
          </a:xfrm>
          <a:ln/>
        </p:spPr>
        <p:txBody>
          <a:bodyPr vert="horz" wrap="square" lIns="91440" tIns="0" rIns="91440" bIns="0" anchor="ctr" anchorCtr="0">
            <a:spAutoFit/>
          </a:bodyPr>
          <a:p>
            <a:pPr eaLnBrk="1" hangingPunct="1"/>
            <a:r>
              <a:rPr dirty="0">
                <a:solidFill>
                  <a:schemeClr val="tx1"/>
                </a:solidFill>
              </a:rPr>
              <a:t>Policy Based Data Management with NAS Data Migrator</a:t>
            </a:r>
            <a:endParaRPr dirty="0">
              <a:solidFill>
                <a:schemeClr val="tx1"/>
              </a:solidFill>
            </a:endParaRPr>
          </a:p>
        </p:txBody>
      </p:sp>
      <p:grpSp>
        <p:nvGrpSpPr>
          <p:cNvPr id="72723" name="Group 24"/>
          <p:cNvGrpSpPr/>
          <p:nvPr/>
        </p:nvGrpSpPr>
        <p:grpSpPr>
          <a:xfrm>
            <a:off x="533400" y="3810000"/>
            <a:ext cx="990600" cy="750888"/>
            <a:chOff x="4272" y="3168"/>
            <a:chExt cx="576" cy="473"/>
          </a:xfrm>
        </p:grpSpPr>
        <p:pic>
          <p:nvPicPr>
            <p:cNvPr id="72724" name="Picture 25"/>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4272" y="3168"/>
              <a:ext cx="576" cy="281"/>
            </a:xfrm>
            <a:prstGeom prst="rect">
              <a:avLst/>
            </a:prstGeom>
            <a:noFill/>
            <a:ln w="9525">
              <a:noFill/>
            </a:ln>
          </p:spPr>
        </p:pic>
        <p:pic>
          <p:nvPicPr>
            <p:cNvPr id="72725" name="Picture 26"/>
            <p:cNvPicPr>
              <a:picLocks noChangeAspect="1"/>
            </p:cNvPicPr>
            <p:nvPr/>
          </p:nvPicPr>
          <p:blipFill>
            <a:blip r:embed="rId4">
              <a:clrChange>
                <a:clrFrom>
                  <a:srgbClr val="FFFFFF"/>
                </a:clrFrom>
                <a:clrTo>
                  <a:srgbClr val="FFFFFF">
                    <a:alpha val="0"/>
                  </a:srgbClr>
                </a:clrTo>
              </a:clrChange>
            </a:blip>
            <a:srcRect l="7292" t="26471" r="4167" b="9216"/>
            <a:stretch>
              <a:fillRect/>
            </a:stretch>
          </p:blipFill>
          <p:spPr>
            <a:xfrm>
              <a:off x="4272" y="3360"/>
              <a:ext cx="576" cy="281"/>
            </a:xfrm>
            <a:prstGeom prst="rect">
              <a:avLst/>
            </a:prstGeom>
            <a:noFill/>
            <a:ln w="9525">
              <a:noFill/>
            </a:ln>
          </p:spPr>
        </p:pic>
      </p:gr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4753" name="Group 63"/>
          <p:cNvGrpSpPr/>
          <p:nvPr/>
        </p:nvGrpSpPr>
        <p:grpSpPr>
          <a:xfrm>
            <a:off x="47625" y="4076700"/>
            <a:ext cx="5297488" cy="676275"/>
            <a:chOff x="204" y="3078"/>
            <a:chExt cx="3337" cy="426"/>
          </a:xfrm>
        </p:grpSpPr>
        <p:pic>
          <p:nvPicPr>
            <p:cNvPr id="74808" name="Picture 58" descr="4"/>
            <p:cNvPicPr>
              <a:picLocks noChangeAspect="1"/>
            </p:cNvPicPr>
            <p:nvPr/>
          </p:nvPicPr>
          <p:blipFill>
            <a:blip r:embed="rId1"/>
            <a:stretch>
              <a:fillRect/>
            </a:stretch>
          </p:blipFill>
          <p:spPr>
            <a:xfrm>
              <a:off x="204" y="3078"/>
              <a:ext cx="3337" cy="407"/>
            </a:xfrm>
            <a:prstGeom prst="rect">
              <a:avLst/>
            </a:prstGeom>
            <a:noFill/>
            <a:ln w="9525">
              <a:noFill/>
            </a:ln>
          </p:spPr>
        </p:pic>
        <p:sp>
          <p:nvSpPr>
            <p:cNvPr id="74809" name="Text Box 59"/>
            <p:cNvSpPr txBox="1"/>
            <p:nvPr/>
          </p:nvSpPr>
          <p:spPr>
            <a:xfrm>
              <a:off x="432" y="3188"/>
              <a:ext cx="508" cy="230"/>
            </a:xfrm>
            <a:prstGeom prst="rect">
              <a:avLst/>
            </a:prstGeom>
            <a:noFill/>
            <a:ln w="38100">
              <a:noFill/>
            </a:ln>
          </p:spPr>
          <p:txBody>
            <a:bodyPr wrap="none">
              <a:spAutoFit/>
            </a:bodyPr>
            <a:p>
              <a:pPr algn="ctr">
                <a:lnSpc>
                  <a:spcPct val="90000"/>
                </a:lnSpc>
              </a:pPr>
              <a:r>
                <a:rPr sz="1000" b="1" dirty="0">
                  <a:solidFill>
                    <a:schemeClr val="tx1"/>
                  </a:solidFill>
                  <a:latin typeface="Helvetica" charset="0"/>
                </a:rPr>
                <a:t>THUNDER</a:t>
              </a:r>
              <a:br>
                <a:rPr sz="1000" b="1" dirty="0">
                  <a:solidFill>
                    <a:schemeClr val="tx1"/>
                  </a:solidFill>
                  <a:latin typeface="Helvetica" charset="0"/>
                </a:rPr>
              </a:br>
              <a:r>
                <a:rPr sz="1000" b="1" dirty="0">
                  <a:solidFill>
                    <a:schemeClr val="tx1"/>
                  </a:solidFill>
                  <a:latin typeface="Helvetica" charset="0"/>
                </a:rPr>
                <a:t>9585V</a:t>
              </a:r>
              <a:endParaRPr sz="1000" b="1" dirty="0">
                <a:solidFill>
                  <a:schemeClr val="tx1"/>
                </a:solidFill>
                <a:latin typeface="Helvetica" charset="0"/>
              </a:endParaRPr>
            </a:p>
          </p:txBody>
        </p:sp>
        <p:sp>
          <p:nvSpPr>
            <p:cNvPr id="74810" name="Text Box 60"/>
            <p:cNvSpPr txBox="1"/>
            <p:nvPr/>
          </p:nvSpPr>
          <p:spPr>
            <a:xfrm>
              <a:off x="1350" y="3188"/>
              <a:ext cx="408" cy="316"/>
            </a:xfrm>
            <a:prstGeom prst="rect">
              <a:avLst/>
            </a:prstGeom>
            <a:noFill/>
            <a:ln w="38100">
              <a:noFill/>
            </a:ln>
          </p:spPr>
          <p:txBody>
            <a:bodyPr wrap="none">
              <a:spAutoFit/>
            </a:bodyPr>
            <a:p>
              <a:pPr algn="ctr">
                <a:lnSpc>
                  <a:spcPct val="90000"/>
                </a:lnSpc>
              </a:pPr>
              <a:r>
                <a:rPr sz="1000" b="1" dirty="0">
                  <a:solidFill>
                    <a:schemeClr val="tx1"/>
                  </a:solidFill>
                  <a:latin typeface="Helvetica" charset="0"/>
                </a:rPr>
                <a:t>IBM</a:t>
              </a:r>
              <a:br>
                <a:rPr sz="1000" b="1" dirty="0">
                  <a:solidFill>
                    <a:schemeClr val="tx1"/>
                  </a:solidFill>
                  <a:latin typeface="Helvetica" charset="0"/>
                </a:rPr>
              </a:br>
              <a:r>
                <a:rPr sz="1000" b="1" dirty="0">
                  <a:solidFill>
                    <a:schemeClr val="tx1"/>
                  </a:solidFill>
                  <a:latin typeface="Helvetica" charset="0"/>
                </a:rPr>
                <a:t>DS4000</a:t>
              </a:r>
              <a:br>
                <a:rPr sz="1000" b="1" dirty="0">
                  <a:solidFill>
                    <a:schemeClr val="tx1"/>
                  </a:solidFill>
                  <a:latin typeface="Helvetica" charset="0"/>
                </a:rPr>
              </a:br>
              <a:r>
                <a:rPr sz="1000" b="1" dirty="0">
                  <a:solidFill>
                    <a:schemeClr val="tx1"/>
                  </a:solidFill>
                  <a:latin typeface="Helvetica" charset="0"/>
                </a:rPr>
                <a:t>SERIES</a:t>
              </a:r>
              <a:endParaRPr sz="1000" b="1" dirty="0">
                <a:solidFill>
                  <a:schemeClr val="tx1"/>
                </a:solidFill>
                <a:latin typeface="Helvetica" charset="0"/>
              </a:endParaRPr>
            </a:p>
          </p:txBody>
        </p:sp>
        <p:sp>
          <p:nvSpPr>
            <p:cNvPr id="74811" name="Text Box 61"/>
            <p:cNvSpPr txBox="1"/>
            <p:nvPr/>
          </p:nvSpPr>
          <p:spPr>
            <a:xfrm>
              <a:off x="2160" y="3224"/>
              <a:ext cx="444" cy="144"/>
            </a:xfrm>
            <a:prstGeom prst="rect">
              <a:avLst/>
            </a:prstGeom>
            <a:noFill/>
            <a:ln w="38100">
              <a:noFill/>
            </a:ln>
          </p:spPr>
          <p:txBody>
            <a:bodyPr wrap="none">
              <a:spAutoFit/>
            </a:bodyPr>
            <a:p>
              <a:pPr algn="ctr">
                <a:lnSpc>
                  <a:spcPct val="90000"/>
                </a:lnSpc>
              </a:pPr>
              <a:r>
                <a:rPr sz="1000" b="1" dirty="0">
                  <a:solidFill>
                    <a:schemeClr val="tx1"/>
                  </a:solidFill>
                  <a:latin typeface="Helvetica" charset="0"/>
                </a:rPr>
                <a:t>WMS100</a:t>
              </a:r>
              <a:endParaRPr sz="1000" b="1" dirty="0">
                <a:solidFill>
                  <a:schemeClr val="tx1"/>
                </a:solidFill>
                <a:latin typeface="Helvetica" charset="0"/>
              </a:endParaRPr>
            </a:p>
          </p:txBody>
        </p:sp>
        <p:sp>
          <p:nvSpPr>
            <p:cNvPr id="74812" name="Text Box 62"/>
            <p:cNvSpPr txBox="1"/>
            <p:nvPr/>
          </p:nvSpPr>
          <p:spPr>
            <a:xfrm>
              <a:off x="2960" y="3224"/>
              <a:ext cx="500" cy="230"/>
            </a:xfrm>
            <a:prstGeom prst="rect">
              <a:avLst/>
            </a:prstGeom>
            <a:noFill/>
            <a:ln w="38100">
              <a:noFill/>
            </a:ln>
          </p:spPr>
          <p:txBody>
            <a:bodyPr wrap="none">
              <a:spAutoFit/>
            </a:bodyPr>
            <a:p>
              <a:pPr algn="ctr">
                <a:lnSpc>
                  <a:spcPct val="90000"/>
                </a:lnSpc>
              </a:pPr>
              <a:r>
                <a:rPr sz="1000" b="1" dirty="0">
                  <a:solidFill>
                    <a:schemeClr val="tx1"/>
                  </a:solidFill>
                  <a:latin typeface="Helvetica" charset="0"/>
                </a:rPr>
                <a:t>EMC</a:t>
              </a:r>
              <a:br>
                <a:rPr sz="1000" b="1" dirty="0">
                  <a:solidFill>
                    <a:schemeClr val="tx1"/>
                  </a:solidFill>
                  <a:latin typeface="Helvetica" charset="0"/>
                </a:rPr>
              </a:br>
              <a:r>
                <a:rPr sz="1000" b="1" dirty="0">
                  <a:solidFill>
                    <a:schemeClr val="tx1"/>
                  </a:solidFill>
                  <a:latin typeface="Helvetica" charset="0"/>
                </a:rPr>
                <a:t>CLARiiON</a:t>
              </a:r>
              <a:endParaRPr sz="1000" b="1" dirty="0">
                <a:solidFill>
                  <a:schemeClr val="tx1"/>
                </a:solidFill>
                <a:latin typeface="Helvetica" charset="0"/>
              </a:endParaRPr>
            </a:p>
          </p:txBody>
        </p:sp>
      </p:grpSp>
      <p:sp>
        <p:nvSpPr>
          <p:cNvPr id="74754" name="Oval 2"/>
          <p:cNvSpPr/>
          <p:nvPr/>
        </p:nvSpPr>
        <p:spPr>
          <a:xfrm>
            <a:off x="3005138" y="2438400"/>
            <a:ext cx="533400" cy="1447800"/>
          </a:xfrm>
          <a:prstGeom prst="ellipse">
            <a:avLst/>
          </a:prstGeom>
          <a:solidFill>
            <a:srgbClr val="FFCC33"/>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74755" name="Rectangle 3"/>
          <p:cNvSpPr>
            <a:spLocks noGrp="1"/>
          </p:cNvSpPr>
          <p:nvPr>
            <p:ph type="title"/>
          </p:nvPr>
        </p:nvSpPr>
        <p:spPr>
          <a:xfrm>
            <a:off x="465138" y="166688"/>
            <a:ext cx="6719887" cy="549275"/>
          </a:xfrm>
          <a:ln/>
        </p:spPr>
        <p:txBody>
          <a:bodyPr vert="horz" wrap="square" lIns="91440" tIns="0" rIns="91440" bIns="0" anchor="ctr" anchorCtr="0">
            <a:spAutoFit/>
          </a:bodyPr>
          <a:p>
            <a:pPr eaLnBrk="1" hangingPunct="1"/>
            <a:r>
              <a:rPr dirty="0">
                <a:solidFill>
                  <a:schemeClr val="tx1"/>
                </a:solidFill>
              </a:rPr>
              <a:t>Combining NAS and SAN Virtualization</a:t>
            </a:r>
            <a:br>
              <a:rPr dirty="0">
                <a:solidFill>
                  <a:schemeClr val="tx1"/>
                </a:solidFill>
              </a:rPr>
            </a:br>
            <a:r>
              <a:rPr sz="1600" dirty="0">
                <a:solidFill>
                  <a:schemeClr val="tx1"/>
                </a:solidFill>
              </a:rPr>
              <a:t>Content Awareness</a:t>
            </a:r>
            <a:endParaRPr sz="1600" dirty="0">
              <a:solidFill>
                <a:schemeClr val="tx1"/>
              </a:solidFill>
            </a:endParaRPr>
          </a:p>
        </p:txBody>
      </p:sp>
      <p:sp>
        <p:nvSpPr>
          <p:cNvPr id="590852" name="Rectangle 4"/>
          <p:cNvSpPr>
            <a:spLocks noGrp="1"/>
          </p:cNvSpPr>
          <p:nvPr>
            <p:ph idx="1"/>
          </p:nvPr>
        </p:nvSpPr>
        <p:spPr>
          <a:xfrm>
            <a:off x="5486400" y="1295400"/>
            <a:ext cx="3505200" cy="3001963"/>
          </a:xfrm>
          <a:ln/>
        </p:spPr>
        <p:txBody>
          <a:bodyPr vert="horz" wrap="square" lIns="91440" tIns="45720" rIns="91440" bIns="45720" anchor="t" anchorCtr="0"/>
          <a:p>
            <a:pPr eaLnBrk="1" hangingPunct="1">
              <a:lnSpc>
                <a:spcPct val="85000"/>
              </a:lnSpc>
              <a:tabLst>
                <a:tab pos="1371600" algn="l"/>
              </a:tabLst>
            </a:pPr>
            <a:r>
              <a:rPr sz="1600" dirty="0">
                <a:solidFill>
                  <a:schemeClr val="tx1"/>
                </a:solidFill>
              </a:rPr>
              <a:t>Hierarchical Storage Management</a:t>
            </a:r>
            <a:endParaRPr sz="1600" dirty="0">
              <a:solidFill>
                <a:schemeClr val="tx1"/>
              </a:solidFill>
            </a:endParaRPr>
          </a:p>
          <a:p>
            <a:pPr lvl="1" eaLnBrk="1" hangingPunct="1">
              <a:lnSpc>
                <a:spcPct val="85000"/>
              </a:lnSpc>
              <a:tabLst>
                <a:tab pos="1371600" algn="l"/>
              </a:tabLst>
            </a:pPr>
            <a:r>
              <a:rPr sz="1400" dirty="0">
                <a:solidFill>
                  <a:schemeClr val="tx1"/>
                </a:solidFill>
              </a:rPr>
              <a:t>Moves files to new location and leave stub behind pointing to the new location</a:t>
            </a:r>
            <a:endParaRPr sz="1400" dirty="0">
              <a:solidFill>
                <a:schemeClr val="tx1"/>
              </a:solidFill>
            </a:endParaRPr>
          </a:p>
          <a:p>
            <a:pPr eaLnBrk="1" hangingPunct="1">
              <a:lnSpc>
                <a:spcPct val="85000"/>
              </a:lnSpc>
              <a:tabLst>
                <a:tab pos="1371600" algn="l"/>
              </a:tabLst>
            </a:pPr>
            <a:r>
              <a:rPr sz="1600" dirty="0">
                <a:solidFill>
                  <a:schemeClr val="tx1"/>
                </a:solidFill>
              </a:rPr>
              <a:t>Tiered storage</a:t>
            </a:r>
            <a:endParaRPr sz="1600" dirty="0">
              <a:solidFill>
                <a:schemeClr val="tx1"/>
              </a:solidFill>
            </a:endParaRPr>
          </a:p>
          <a:p>
            <a:pPr lvl="1" eaLnBrk="1" hangingPunct="1">
              <a:lnSpc>
                <a:spcPct val="85000"/>
              </a:lnSpc>
              <a:tabLst>
                <a:tab pos="1371600" algn="l"/>
              </a:tabLst>
            </a:pPr>
            <a:r>
              <a:rPr sz="1400" dirty="0">
                <a:solidFill>
                  <a:schemeClr val="tx1"/>
                </a:solidFill>
              </a:rPr>
              <a:t>External/Internal storage support for multi-tiered storage </a:t>
            </a:r>
            <a:endParaRPr sz="1400" dirty="0">
              <a:solidFill>
                <a:schemeClr val="tx1"/>
              </a:solidFill>
            </a:endParaRPr>
          </a:p>
          <a:p>
            <a:pPr eaLnBrk="1" hangingPunct="1">
              <a:lnSpc>
                <a:spcPct val="85000"/>
              </a:lnSpc>
              <a:tabLst>
                <a:tab pos="1371600" algn="l"/>
              </a:tabLst>
            </a:pPr>
            <a:r>
              <a:rPr sz="1600" dirty="0">
                <a:solidFill>
                  <a:schemeClr val="tx1"/>
                </a:solidFill>
              </a:rPr>
              <a:t>Central Policy based Engine</a:t>
            </a:r>
            <a:endParaRPr sz="1600" dirty="0">
              <a:solidFill>
                <a:schemeClr val="tx1"/>
              </a:solidFill>
            </a:endParaRPr>
          </a:p>
          <a:p>
            <a:pPr lvl="1" eaLnBrk="1" hangingPunct="1">
              <a:lnSpc>
                <a:spcPct val="85000"/>
              </a:lnSpc>
              <a:tabLst>
                <a:tab pos="1371600" algn="l"/>
              </a:tabLst>
            </a:pPr>
            <a:r>
              <a:rPr sz="1400" dirty="0">
                <a:solidFill>
                  <a:schemeClr val="tx1"/>
                </a:solidFill>
              </a:rPr>
              <a:t>File type (PPT, MP3, JPG etc.)</a:t>
            </a:r>
            <a:endParaRPr sz="1400" dirty="0">
              <a:solidFill>
                <a:schemeClr val="tx1"/>
              </a:solidFill>
            </a:endParaRPr>
          </a:p>
          <a:p>
            <a:pPr lvl="1" eaLnBrk="1" hangingPunct="1">
              <a:lnSpc>
                <a:spcPct val="85000"/>
              </a:lnSpc>
              <a:tabLst>
                <a:tab pos="1371600" algn="l"/>
              </a:tabLst>
            </a:pPr>
            <a:r>
              <a:rPr sz="1400" dirty="0">
                <a:solidFill>
                  <a:schemeClr val="tx1"/>
                </a:solidFill>
              </a:rPr>
              <a:t>File size</a:t>
            </a:r>
            <a:endParaRPr sz="1400" dirty="0">
              <a:solidFill>
                <a:schemeClr val="tx1"/>
              </a:solidFill>
            </a:endParaRPr>
          </a:p>
          <a:p>
            <a:pPr lvl="1" eaLnBrk="1" hangingPunct="1">
              <a:lnSpc>
                <a:spcPct val="85000"/>
              </a:lnSpc>
              <a:tabLst>
                <a:tab pos="1371600" algn="l"/>
              </a:tabLst>
            </a:pPr>
            <a:r>
              <a:rPr sz="1400" dirty="0">
                <a:solidFill>
                  <a:schemeClr val="tx1"/>
                </a:solidFill>
              </a:rPr>
              <a:t>Last access time</a:t>
            </a:r>
            <a:endParaRPr sz="1400" dirty="0">
              <a:solidFill>
                <a:schemeClr val="tx1"/>
              </a:solidFill>
            </a:endParaRPr>
          </a:p>
          <a:p>
            <a:pPr lvl="1" eaLnBrk="1" hangingPunct="1">
              <a:lnSpc>
                <a:spcPct val="85000"/>
              </a:lnSpc>
              <a:tabLst>
                <a:tab pos="1371600" algn="l"/>
              </a:tabLst>
            </a:pPr>
            <a:r>
              <a:rPr sz="1400" dirty="0">
                <a:solidFill>
                  <a:schemeClr val="tx1"/>
                </a:solidFill>
              </a:rPr>
              <a:t>File location</a:t>
            </a:r>
            <a:endParaRPr sz="1400" dirty="0">
              <a:solidFill>
                <a:schemeClr val="tx1"/>
              </a:solidFill>
            </a:endParaRPr>
          </a:p>
          <a:p>
            <a:pPr lvl="1" eaLnBrk="1" hangingPunct="1">
              <a:lnSpc>
                <a:spcPct val="85000"/>
              </a:lnSpc>
              <a:tabLst>
                <a:tab pos="1371600" algn="l"/>
              </a:tabLst>
            </a:pPr>
            <a:r>
              <a:rPr sz="1400" dirty="0">
                <a:solidFill>
                  <a:schemeClr val="tx1"/>
                </a:solidFill>
              </a:rPr>
              <a:t>Capacity threshold</a:t>
            </a:r>
            <a:endParaRPr sz="1400" dirty="0">
              <a:solidFill>
                <a:schemeClr val="tx1"/>
              </a:solidFill>
            </a:endParaRPr>
          </a:p>
          <a:p>
            <a:pPr eaLnBrk="1" hangingPunct="1">
              <a:lnSpc>
                <a:spcPct val="85000"/>
              </a:lnSpc>
              <a:tabLst>
                <a:tab pos="1371600" algn="l"/>
              </a:tabLst>
            </a:pPr>
            <a:r>
              <a:rPr sz="1600" dirty="0">
                <a:solidFill>
                  <a:schemeClr val="tx1"/>
                </a:solidFill>
              </a:rPr>
              <a:t>Data classification</a:t>
            </a:r>
            <a:endParaRPr sz="1600" dirty="0">
              <a:solidFill>
                <a:schemeClr val="tx1"/>
              </a:solidFill>
            </a:endParaRPr>
          </a:p>
          <a:p>
            <a:pPr lvl="1" eaLnBrk="1" hangingPunct="1">
              <a:lnSpc>
                <a:spcPct val="85000"/>
              </a:lnSpc>
              <a:tabLst>
                <a:tab pos="1371600" algn="l"/>
              </a:tabLst>
            </a:pPr>
            <a:endParaRPr sz="900" dirty="0">
              <a:solidFill>
                <a:schemeClr val="tx1"/>
              </a:solidFill>
            </a:endParaRPr>
          </a:p>
          <a:p>
            <a:pPr lvl="1" eaLnBrk="1" hangingPunct="1">
              <a:lnSpc>
                <a:spcPct val="85000"/>
              </a:lnSpc>
              <a:tabLst>
                <a:tab pos="1371600" algn="l"/>
              </a:tabLst>
            </a:pPr>
            <a:endParaRPr dirty="0">
              <a:solidFill>
                <a:schemeClr val="tx1"/>
              </a:solidFill>
            </a:endParaRPr>
          </a:p>
        </p:txBody>
      </p:sp>
      <p:sp>
        <p:nvSpPr>
          <p:cNvPr id="74757" name="AutoShape 5"/>
          <p:cNvSpPr/>
          <p:nvPr/>
        </p:nvSpPr>
        <p:spPr>
          <a:xfrm>
            <a:off x="3121025" y="2667000"/>
            <a:ext cx="307975" cy="298450"/>
          </a:xfrm>
          <a:prstGeom prst="can">
            <a:avLst>
              <a:gd name="adj" fmla="val 25000"/>
            </a:avLst>
          </a:prstGeom>
          <a:solidFill>
            <a:srgbClr val="99CC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4758" name="AutoShape 6"/>
          <p:cNvSpPr/>
          <p:nvPr/>
        </p:nvSpPr>
        <p:spPr>
          <a:xfrm>
            <a:off x="2895600" y="5029200"/>
            <a:ext cx="782638" cy="611188"/>
          </a:xfrm>
          <a:prstGeom prst="can">
            <a:avLst>
              <a:gd name="adj" fmla="val 25000"/>
            </a:avLst>
          </a:prstGeom>
          <a:solidFill>
            <a:srgbClr val="006699">
              <a:alpha val="50195"/>
            </a:srgbClr>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4759" name="AutoShape 7"/>
          <p:cNvSpPr/>
          <p:nvPr/>
        </p:nvSpPr>
        <p:spPr>
          <a:xfrm>
            <a:off x="3121025" y="3048000"/>
            <a:ext cx="307975" cy="298450"/>
          </a:xfrm>
          <a:prstGeom prst="can">
            <a:avLst>
              <a:gd name="adj" fmla="val 25000"/>
            </a:avLst>
          </a:prstGeom>
          <a:solidFill>
            <a:srgbClr val="99CC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4760" name="AutoShape 8"/>
          <p:cNvSpPr/>
          <p:nvPr/>
        </p:nvSpPr>
        <p:spPr>
          <a:xfrm>
            <a:off x="3121025" y="3429000"/>
            <a:ext cx="307975" cy="298450"/>
          </a:xfrm>
          <a:prstGeom prst="can">
            <a:avLst>
              <a:gd name="adj" fmla="val 25000"/>
            </a:avLst>
          </a:prstGeom>
          <a:solidFill>
            <a:srgbClr val="99CC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4761" name="AutoShape 9"/>
          <p:cNvSpPr/>
          <p:nvPr/>
        </p:nvSpPr>
        <p:spPr>
          <a:xfrm>
            <a:off x="304800" y="5029200"/>
            <a:ext cx="782638" cy="611188"/>
          </a:xfrm>
          <a:prstGeom prst="can">
            <a:avLst>
              <a:gd name="adj" fmla="val 25000"/>
            </a:avLst>
          </a:prstGeom>
          <a:solidFill>
            <a:srgbClr val="006699">
              <a:alpha val="50195"/>
            </a:srgbClr>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4762" name="AutoShape 10"/>
          <p:cNvSpPr/>
          <p:nvPr/>
        </p:nvSpPr>
        <p:spPr>
          <a:xfrm>
            <a:off x="1352550" y="1295400"/>
            <a:ext cx="323850" cy="312738"/>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MP3</a:t>
            </a:r>
            <a:endParaRPr sz="1400" baseline="-25000" dirty="0">
              <a:solidFill>
                <a:schemeClr val="tx1"/>
              </a:solidFill>
              <a:latin typeface="Helvetica" charset="0"/>
            </a:endParaRPr>
          </a:p>
        </p:txBody>
      </p:sp>
      <p:sp>
        <p:nvSpPr>
          <p:cNvPr id="74763" name="AutoShape 11"/>
          <p:cNvSpPr/>
          <p:nvPr/>
        </p:nvSpPr>
        <p:spPr>
          <a:xfrm>
            <a:off x="2300288" y="1311275"/>
            <a:ext cx="323850" cy="312738"/>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DOC</a:t>
            </a:r>
            <a:endParaRPr sz="1400" baseline="-25000" dirty="0">
              <a:solidFill>
                <a:schemeClr val="tx1"/>
              </a:solidFill>
              <a:latin typeface="Helvetica" charset="0"/>
            </a:endParaRPr>
          </a:p>
        </p:txBody>
      </p:sp>
      <p:sp>
        <p:nvSpPr>
          <p:cNvPr id="74764" name="AutoShape 12"/>
          <p:cNvSpPr/>
          <p:nvPr/>
        </p:nvSpPr>
        <p:spPr>
          <a:xfrm>
            <a:off x="2730500" y="1319213"/>
            <a:ext cx="323850" cy="312737"/>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XLS</a:t>
            </a:r>
            <a:endParaRPr sz="1400" baseline="-25000" dirty="0">
              <a:solidFill>
                <a:schemeClr val="tx1"/>
              </a:solidFill>
              <a:latin typeface="Helvetica" charset="0"/>
            </a:endParaRPr>
          </a:p>
        </p:txBody>
      </p:sp>
      <p:sp>
        <p:nvSpPr>
          <p:cNvPr id="74765" name="AutoShape 13"/>
          <p:cNvSpPr/>
          <p:nvPr/>
        </p:nvSpPr>
        <p:spPr>
          <a:xfrm>
            <a:off x="3182938" y="1327150"/>
            <a:ext cx="323850" cy="312738"/>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MDB</a:t>
            </a:r>
            <a:endParaRPr sz="1400" baseline="-25000" dirty="0">
              <a:solidFill>
                <a:schemeClr val="tx1"/>
              </a:solidFill>
              <a:latin typeface="Helvetica" charset="0"/>
            </a:endParaRPr>
          </a:p>
        </p:txBody>
      </p:sp>
      <p:grpSp>
        <p:nvGrpSpPr>
          <p:cNvPr id="74766" name="Group 14"/>
          <p:cNvGrpSpPr/>
          <p:nvPr/>
        </p:nvGrpSpPr>
        <p:grpSpPr>
          <a:xfrm>
            <a:off x="152400" y="1219200"/>
            <a:ext cx="782638" cy="946150"/>
            <a:chOff x="1613" y="1698"/>
            <a:chExt cx="807" cy="995"/>
          </a:xfrm>
        </p:grpSpPr>
        <p:pic>
          <p:nvPicPr>
            <p:cNvPr id="74806" name="Picture 15" descr="Computer"/>
            <p:cNvPicPr>
              <a:picLocks noChangeAspect="1"/>
            </p:cNvPicPr>
            <p:nvPr/>
          </p:nvPicPr>
          <p:blipFill>
            <a:blip r:embed="rId2"/>
            <a:stretch>
              <a:fillRect/>
            </a:stretch>
          </p:blipFill>
          <p:spPr>
            <a:xfrm>
              <a:off x="1613" y="1698"/>
              <a:ext cx="807" cy="995"/>
            </a:xfrm>
            <a:prstGeom prst="rect">
              <a:avLst/>
            </a:prstGeom>
            <a:noFill/>
            <a:ln w="9525">
              <a:noFill/>
            </a:ln>
          </p:spPr>
        </p:pic>
        <p:pic>
          <p:nvPicPr>
            <p:cNvPr id="74807" name="Picture 16"/>
            <p:cNvPicPr>
              <a:picLocks noChangeAspect="1"/>
            </p:cNvPicPr>
            <p:nvPr/>
          </p:nvPicPr>
          <p:blipFill>
            <a:blip r:embed="rId3"/>
            <a:stretch>
              <a:fillRect/>
            </a:stretch>
          </p:blipFill>
          <p:spPr>
            <a:xfrm>
              <a:off x="1742" y="1772"/>
              <a:ext cx="544" cy="443"/>
            </a:xfrm>
            <a:prstGeom prst="rect">
              <a:avLst/>
            </a:prstGeom>
            <a:noFill/>
            <a:ln w="9525">
              <a:noFill/>
            </a:ln>
          </p:spPr>
        </p:pic>
      </p:grpSp>
      <p:sp>
        <p:nvSpPr>
          <p:cNvPr id="74767" name="Text Box 17"/>
          <p:cNvSpPr txBox="1"/>
          <p:nvPr/>
        </p:nvSpPr>
        <p:spPr>
          <a:xfrm>
            <a:off x="-152400" y="2209800"/>
            <a:ext cx="1493838" cy="457200"/>
          </a:xfrm>
          <a:prstGeom prst="rect">
            <a:avLst/>
          </a:prstGeom>
          <a:noFill/>
          <a:ln w="9525">
            <a:noFill/>
          </a:ln>
        </p:spPr>
        <p:txBody>
          <a:bodyPr>
            <a:spAutoFit/>
          </a:bodyPr>
          <a:p>
            <a:pPr algn="ctr"/>
            <a:r>
              <a:rPr sz="1200" b="1" dirty="0">
                <a:solidFill>
                  <a:schemeClr val="tx1"/>
                </a:solidFill>
                <a:latin typeface="Helvetica" charset="0"/>
              </a:rPr>
              <a:t>Management</a:t>
            </a:r>
            <a:endParaRPr sz="1200" b="1" dirty="0">
              <a:solidFill>
                <a:schemeClr val="tx1"/>
              </a:solidFill>
              <a:latin typeface="Helvetica" charset="0"/>
            </a:endParaRPr>
          </a:p>
          <a:p>
            <a:pPr algn="ctr"/>
            <a:r>
              <a:rPr sz="1200" b="1" dirty="0">
                <a:solidFill>
                  <a:schemeClr val="tx1"/>
                </a:solidFill>
                <a:latin typeface="Helvetica" charset="0"/>
              </a:rPr>
              <a:t>Station</a:t>
            </a:r>
            <a:endParaRPr sz="1200" b="1" dirty="0">
              <a:solidFill>
                <a:schemeClr val="tx1"/>
              </a:solidFill>
              <a:latin typeface="Helvetica" charset="0"/>
            </a:endParaRPr>
          </a:p>
        </p:txBody>
      </p:sp>
      <p:pic>
        <p:nvPicPr>
          <p:cNvPr id="74768" name="Picture 18" descr="Jumbo_bezel_2"/>
          <p:cNvPicPr>
            <a:picLocks noChangeAspect="1"/>
          </p:cNvPicPr>
          <p:nvPr/>
        </p:nvPicPr>
        <p:blipFill>
          <a:blip r:embed="rId4"/>
          <a:stretch>
            <a:fillRect/>
          </a:stretch>
        </p:blipFill>
        <p:spPr>
          <a:xfrm>
            <a:off x="3124200" y="2009775"/>
            <a:ext cx="609600" cy="220663"/>
          </a:xfrm>
          <a:prstGeom prst="rect">
            <a:avLst/>
          </a:prstGeom>
          <a:noFill/>
          <a:ln w="9525">
            <a:noFill/>
          </a:ln>
        </p:spPr>
      </p:pic>
      <p:pic>
        <p:nvPicPr>
          <p:cNvPr id="74769" name="Picture 19" descr="Jumbo_bezel_2"/>
          <p:cNvPicPr>
            <a:picLocks noChangeAspect="1"/>
          </p:cNvPicPr>
          <p:nvPr/>
        </p:nvPicPr>
        <p:blipFill>
          <a:blip r:embed="rId4"/>
          <a:stretch>
            <a:fillRect/>
          </a:stretch>
        </p:blipFill>
        <p:spPr>
          <a:xfrm>
            <a:off x="1828800" y="2009775"/>
            <a:ext cx="609600" cy="220663"/>
          </a:xfrm>
          <a:prstGeom prst="rect">
            <a:avLst/>
          </a:prstGeom>
          <a:noFill/>
          <a:ln w="9525">
            <a:noFill/>
          </a:ln>
        </p:spPr>
      </p:pic>
      <p:sp>
        <p:nvSpPr>
          <p:cNvPr id="590868" name="Text Box 20"/>
          <p:cNvSpPr txBox="1"/>
          <p:nvPr/>
        </p:nvSpPr>
        <p:spPr>
          <a:xfrm>
            <a:off x="5562600" y="4648200"/>
            <a:ext cx="3200400" cy="1687513"/>
          </a:xfrm>
          <a:prstGeom prst="rect">
            <a:avLst/>
          </a:prstGeom>
          <a:noFill/>
          <a:ln w="9525">
            <a:noFill/>
          </a:ln>
        </p:spPr>
        <p:txBody>
          <a:bodyPr>
            <a:spAutoFit/>
          </a:bodyPr>
          <a:p>
            <a:pPr marL="342900" indent="-342900">
              <a:spcBef>
                <a:spcPct val="50000"/>
              </a:spcBef>
            </a:pPr>
            <a:r>
              <a:rPr sz="1400" b="1" dirty="0">
                <a:solidFill>
                  <a:schemeClr val="tx1"/>
                </a:solidFill>
                <a:latin typeface="Helvetica" charset="0"/>
              </a:rPr>
              <a:t>Example policies:</a:t>
            </a:r>
            <a:endParaRPr sz="1400" b="1" dirty="0">
              <a:solidFill>
                <a:schemeClr val="tx1"/>
              </a:solidFill>
              <a:latin typeface="Helvetica" charset="0"/>
            </a:endParaRPr>
          </a:p>
          <a:p>
            <a:pPr marL="342900" indent="-342900">
              <a:spcBef>
                <a:spcPct val="50000"/>
              </a:spcBef>
              <a:buChar char="•"/>
            </a:pPr>
            <a:r>
              <a:rPr sz="1400" dirty="0">
                <a:solidFill>
                  <a:schemeClr val="tx1"/>
                </a:solidFill>
                <a:latin typeface="Helvetica" charset="0"/>
              </a:rPr>
              <a:t>Move all files bigger than 10MB to SATA</a:t>
            </a:r>
            <a:endParaRPr sz="1400" dirty="0">
              <a:solidFill>
                <a:schemeClr val="tx1"/>
              </a:solidFill>
              <a:latin typeface="Helvetica" charset="0"/>
            </a:endParaRPr>
          </a:p>
          <a:p>
            <a:pPr marL="342900" indent="-342900">
              <a:spcBef>
                <a:spcPct val="50000"/>
              </a:spcBef>
              <a:buChar char="•"/>
            </a:pPr>
            <a:r>
              <a:rPr sz="1400" dirty="0">
                <a:solidFill>
                  <a:schemeClr val="tx1"/>
                </a:solidFill>
                <a:latin typeface="Helvetica" charset="0"/>
              </a:rPr>
              <a:t>Move all files older than 90 days to FC Tier 2</a:t>
            </a:r>
            <a:endParaRPr sz="1400" dirty="0">
              <a:solidFill>
                <a:schemeClr val="tx1"/>
              </a:solidFill>
              <a:latin typeface="Helvetica" charset="0"/>
            </a:endParaRPr>
          </a:p>
          <a:p>
            <a:pPr marL="342900" indent="-342900">
              <a:spcBef>
                <a:spcPct val="50000"/>
              </a:spcBef>
              <a:buChar char="•"/>
            </a:pPr>
            <a:r>
              <a:rPr sz="1400" dirty="0">
                <a:solidFill>
                  <a:schemeClr val="tx1"/>
                </a:solidFill>
                <a:latin typeface="Helvetica" charset="0"/>
              </a:rPr>
              <a:t>Move all XLS to Tier 1</a:t>
            </a:r>
            <a:endParaRPr sz="1400" dirty="0">
              <a:solidFill>
                <a:schemeClr val="tx1"/>
              </a:solidFill>
              <a:latin typeface="Helvetica" charset="0"/>
            </a:endParaRPr>
          </a:p>
        </p:txBody>
      </p:sp>
      <p:pic>
        <p:nvPicPr>
          <p:cNvPr id="74771" name="Picture 22" descr="USP"/>
          <p:cNvPicPr>
            <a:picLocks noChangeAspect="1"/>
          </p:cNvPicPr>
          <p:nvPr/>
        </p:nvPicPr>
        <p:blipFill>
          <a:blip r:embed="rId5"/>
          <a:stretch>
            <a:fillRect/>
          </a:stretch>
        </p:blipFill>
        <p:spPr>
          <a:xfrm>
            <a:off x="2286000" y="2590800"/>
            <a:ext cx="611188" cy="1209675"/>
          </a:xfrm>
          <a:prstGeom prst="rect">
            <a:avLst/>
          </a:prstGeom>
          <a:noFill/>
          <a:ln w="9525">
            <a:noFill/>
          </a:ln>
        </p:spPr>
      </p:pic>
      <p:sp>
        <p:nvSpPr>
          <p:cNvPr id="74772" name="Line 23"/>
          <p:cNvSpPr/>
          <p:nvPr/>
        </p:nvSpPr>
        <p:spPr>
          <a:xfrm>
            <a:off x="457200" y="3962400"/>
            <a:ext cx="4191000" cy="0"/>
          </a:xfrm>
          <a:prstGeom prst="line">
            <a:avLst/>
          </a:prstGeom>
          <a:ln w="44450" cap="flat" cmpd="sng">
            <a:solidFill>
              <a:schemeClr val="tx1"/>
            </a:solidFill>
            <a:prstDash val="solid"/>
            <a:headEnd type="none" w="sm" len="sm"/>
            <a:tailEnd type="none" w="sm" len="sm"/>
          </a:ln>
        </p:spPr>
      </p:sp>
      <p:sp>
        <p:nvSpPr>
          <p:cNvPr id="74773" name="Line 24"/>
          <p:cNvSpPr/>
          <p:nvPr/>
        </p:nvSpPr>
        <p:spPr>
          <a:xfrm>
            <a:off x="469900" y="3962400"/>
            <a:ext cx="0" cy="228600"/>
          </a:xfrm>
          <a:prstGeom prst="line">
            <a:avLst/>
          </a:prstGeom>
          <a:ln w="44450" cap="flat" cmpd="sng">
            <a:solidFill>
              <a:schemeClr val="tx1"/>
            </a:solidFill>
            <a:prstDash val="solid"/>
            <a:headEnd type="none" w="sm" len="sm"/>
            <a:tailEnd type="none" w="sm" len="sm"/>
          </a:ln>
        </p:spPr>
      </p:sp>
      <p:sp>
        <p:nvSpPr>
          <p:cNvPr id="74774" name="Line 25"/>
          <p:cNvSpPr/>
          <p:nvPr/>
        </p:nvSpPr>
        <p:spPr>
          <a:xfrm>
            <a:off x="1828800" y="3962400"/>
            <a:ext cx="0" cy="228600"/>
          </a:xfrm>
          <a:prstGeom prst="line">
            <a:avLst/>
          </a:prstGeom>
          <a:ln w="44450" cap="flat" cmpd="sng">
            <a:solidFill>
              <a:schemeClr val="tx1"/>
            </a:solidFill>
            <a:prstDash val="solid"/>
            <a:headEnd type="none" w="sm" len="sm"/>
            <a:tailEnd type="none" w="sm" len="sm"/>
          </a:ln>
        </p:spPr>
      </p:sp>
      <p:sp>
        <p:nvSpPr>
          <p:cNvPr id="74775" name="Line 26"/>
          <p:cNvSpPr/>
          <p:nvPr/>
        </p:nvSpPr>
        <p:spPr>
          <a:xfrm>
            <a:off x="3238500" y="3962400"/>
            <a:ext cx="0" cy="228600"/>
          </a:xfrm>
          <a:prstGeom prst="line">
            <a:avLst/>
          </a:prstGeom>
          <a:ln w="44450" cap="flat" cmpd="sng">
            <a:solidFill>
              <a:schemeClr val="tx1"/>
            </a:solidFill>
            <a:prstDash val="solid"/>
            <a:headEnd type="none" w="sm" len="sm"/>
            <a:tailEnd type="none" w="sm" len="sm"/>
          </a:ln>
        </p:spPr>
      </p:sp>
      <p:sp>
        <p:nvSpPr>
          <p:cNvPr id="74776" name="Line 27"/>
          <p:cNvSpPr/>
          <p:nvPr/>
        </p:nvSpPr>
        <p:spPr>
          <a:xfrm>
            <a:off x="4635500" y="3962400"/>
            <a:ext cx="0" cy="228600"/>
          </a:xfrm>
          <a:prstGeom prst="line">
            <a:avLst/>
          </a:prstGeom>
          <a:ln w="44450" cap="flat" cmpd="sng">
            <a:solidFill>
              <a:schemeClr val="tx1"/>
            </a:solidFill>
            <a:prstDash val="solid"/>
            <a:headEnd type="none" w="sm" len="sm"/>
            <a:tailEnd type="none" w="sm" len="sm"/>
          </a:ln>
        </p:spPr>
      </p:sp>
      <p:sp>
        <p:nvSpPr>
          <p:cNvPr id="74777" name="Line 29"/>
          <p:cNvSpPr/>
          <p:nvPr/>
        </p:nvSpPr>
        <p:spPr>
          <a:xfrm>
            <a:off x="2438400" y="3733800"/>
            <a:ext cx="0" cy="228600"/>
          </a:xfrm>
          <a:prstGeom prst="line">
            <a:avLst/>
          </a:prstGeom>
          <a:ln w="44450" cap="flat" cmpd="sng">
            <a:solidFill>
              <a:schemeClr val="tx1"/>
            </a:solidFill>
            <a:prstDash val="solid"/>
            <a:headEnd type="none" w="sm" len="sm"/>
            <a:tailEnd type="none" w="sm" len="sm"/>
          </a:ln>
        </p:spPr>
      </p:sp>
      <p:sp>
        <p:nvSpPr>
          <p:cNvPr id="74778" name="Line 30"/>
          <p:cNvSpPr/>
          <p:nvPr/>
        </p:nvSpPr>
        <p:spPr>
          <a:xfrm>
            <a:off x="2540000" y="3733800"/>
            <a:ext cx="0" cy="228600"/>
          </a:xfrm>
          <a:prstGeom prst="line">
            <a:avLst/>
          </a:prstGeom>
          <a:ln w="44450" cap="flat" cmpd="sng">
            <a:solidFill>
              <a:schemeClr val="tx1"/>
            </a:solidFill>
            <a:prstDash val="solid"/>
            <a:headEnd type="none" w="sm" len="sm"/>
            <a:tailEnd type="none" w="sm" len="sm"/>
          </a:ln>
        </p:spPr>
      </p:sp>
      <p:sp>
        <p:nvSpPr>
          <p:cNvPr id="74779" name="Line 31"/>
          <p:cNvSpPr/>
          <p:nvPr/>
        </p:nvSpPr>
        <p:spPr>
          <a:xfrm>
            <a:off x="2641600" y="3733800"/>
            <a:ext cx="0" cy="228600"/>
          </a:xfrm>
          <a:prstGeom prst="line">
            <a:avLst/>
          </a:prstGeom>
          <a:ln w="44450" cap="flat" cmpd="sng">
            <a:solidFill>
              <a:schemeClr val="tx1"/>
            </a:solidFill>
            <a:prstDash val="solid"/>
            <a:headEnd type="none" w="sm" len="sm"/>
            <a:tailEnd type="none" w="sm" len="sm"/>
          </a:ln>
        </p:spPr>
      </p:sp>
      <p:sp>
        <p:nvSpPr>
          <p:cNvPr id="74780" name="Line 32"/>
          <p:cNvSpPr/>
          <p:nvPr/>
        </p:nvSpPr>
        <p:spPr>
          <a:xfrm>
            <a:off x="2743200" y="3733800"/>
            <a:ext cx="0" cy="228600"/>
          </a:xfrm>
          <a:prstGeom prst="line">
            <a:avLst/>
          </a:prstGeom>
          <a:ln w="44450" cap="flat" cmpd="sng">
            <a:solidFill>
              <a:schemeClr val="tx1"/>
            </a:solidFill>
            <a:prstDash val="solid"/>
            <a:headEnd type="none" w="sm" len="sm"/>
            <a:tailEnd type="none" w="sm" len="sm"/>
          </a:ln>
        </p:spPr>
      </p:sp>
      <p:sp>
        <p:nvSpPr>
          <p:cNvPr id="74781" name="AutoShape 33"/>
          <p:cNvSpPr/>
          <p:nvPr/>
        </p:nvSpPr>
        <p:spPr>
          <a:xfrm>
            <a:off x="3681413" y="2667000"/>
            <a:ext cx="323850" cy="312738"/>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MP3</a:t>
            </a:r>
            <a:endParaRPr sz="1400" baseline="-25000" dirty="0">
              <a:solidFill>
                <a:schemeClr val="tx1"/>
              </a:solidFill>
              <a:latin typeface="Helvetica" charset="0"/>
            </a:endParaRPr>
          </a:p>
        </p:txBody>
      </p:sp>
      <p:sp>
        <p:nvSpPr>
          <p:cNvPr id="590882" name="AutoShape 34"/>
          <p:cNvSpPr/>
          <p:nvPr/>
        </p:nvSpPr>
        <p:spPr>
          <a:xfrm>
            <a:off x="3671888" y="3048000"/>
            <a:ext cx="323850" cy="312738"/>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DOC</a:t>
            </a:r>
            <a:endParaRPr sz="1400" baseline="-25000" dirty="0">
              <a:solidFill>
                <a:schemeClr val="tx1"/>
              </a:solidFill>
              <a:latin typeface="Helvetica" charset="0"/>
            </a:endParaRPr>
          </a:p>
        </p:txBody>
      </p:sp>
      <p:sp>
        <p:nvSpPr>
          <p:cNvPr id="74783" name="Line 35"/>
          <p:cNvSpPr/>
          <p:nvPr/>
        </p:nvSpPr>
        <p:spPr>
          <a:xfrm flipH="1">
            <a:off x="3429000" y="2819400"/>
            <a:ext cx="228600" cy="228600"/>
          </a:xfrm>
          <a:prstGeom prst="line">
            <a:avLst/>
          </a:prstGeom>
          <a:ln w="31750" cap="flat" cmpd="sng">
            <a:solidFill>
              <a:schemeClr val="tx1"/>
            </a:solidFill>
            <a:prstDash val="solid"/>
            <a:headEnd type="none" w="sm" len="sm"/>
            <a:tailEnd type="triangle" w="sm" len="sm"/>
          </a:ln>
        </p:spPr>
      </p:sp>
      <p:sp>
        <p:nvSpPr>
          <p:cNvPr id="590884" name="Line 36"/>
          <p:cNvSpPr/>
          <p:nvPr/>
        </p:nvSpPr>
        <p:spPr>
          <a:xfrm flipH="1" flipV="1">
            <a:off x="3429000" y="3200400"/>
            <a:ext cx="228600" cy="0"/>
          </a:xfrm>
          <a:prstGeom prst="line">
            <a:avLst/>
          </a:prstGeom>
          <a:ln w="31750" cap="flat" cmpd="sng">
            <a:solidFill>
              <a:schemeClr val="tx1"/>
            </a:solidFill>
            <a:prstDash val="solid"/>
            <a:headEnd type="none" w="sm" len="sm"/>
            <a:tailEnd type="triangle" w="sm" len="sm"/>
          </a:ln>
        </p:spPr>
      </p:sp>
      <p:sp>
        <p:nvSpPr>
          <p:cNvPr id="590885" name="Line 37"/>
          <p:cNvSpPr/>
          <p:nvPr/>
        </p:nvSpPr>
        <p:spPr>
          <a:xfrm flipH="1" flipV="1">
            <a:off x="3429000" y="3429000"/>
            <a:ext cx="228600" cy="180975"/>
          </a:xfrm>
          <a:prstGeom prst="line">
            <a:avLst/>
          </a:prstGeom>
          <a:ln w="31750" cap="flat" cmpd="sng">
            <a:solidFill>
              <a:schemeClr val="tx1"/>
            </a:solidFill>
            <a:prstDash val="solid"/>
            <a:headEnd type="none" w="sm" len="sm"/>
            <a:tailEnd type="triangle" w="sm" len="sm"/>
          </a:ln>
        </p:spPr>
      </p:sp>
      <p:grpSp>
        <p:nvGrpSpPr>
          <p:cNvPr id="4" name="Group 38"/>
          <p:cNvGrpSpPr/>
          <p:nvPr/>
        </p:nvGrpSpPr>
        <p:grpSpPr>
          <a:xfrm>
            <a:off x="1704975" y="2624138"/>
            <a:ext cx="533400" cy="1066800"/>
            <a:chOff x="1074" y="1653"/>
            <a:chExt cx="336" cy="672"/>
          </a:xfrm>
        </p:grpSpPr>
        <p:sp>
          <p:nvSpPr>
            <p:cNvPr id="74803" name="Oval 39"/>
            <p:cNvSpPr/>
            <p:nvPr/>
          </p:nvSpPr>
          <p:spPr>
            <a:xfrm>
              <a:off x="1074" y="1653"/>
              <a:ext cx="336" cy="672"/>
            </a:xfrm>
            <a:prstGeom prst="ellipse">
              <a:avLst/>
            </a:prstGeom>
            <a:solidFill>
              <a:srgbClr val="FFCC33"/>
            </a:solidFill>
            <a:ln w="9525" cap="flat" cmpd="sng">
              <a:solidFill>
                <a:schemeClr val="tx1"/>
              </a:solidFill>
              <a:prstDash val="solid"/>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74804" name="AutoShape 40"/>
            <p:cNvSpPr/>
            <p:nvPr/>
          </p:nvSpPr>
          <p:spPr>
            <a:xfrm>
              <a:off x="1152" y="1776"/>
              <a:ext cx="194" cy="188"/>
            </a:xfrm>
            <a:prstGeom prst="can">
              <a:avLst>
                <a:gd name="adj" fmla="val 25000"/>
              </a:avLst>
            </a:prstGeom>
            <a:solidFill>
              <a:srgbClr val="99CC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4805" name="AutoShape 41"/>
            <p:cNvSpPr/>
            <p:nvPr/>
          </p:nvSpPr>
          <p:spPr>
            <a:xfrm>
              <a:off x="1152" y="2016"/>
              <a:ext cx="194" cy="188"/>
            </a:xfrm>
            <a:prstGeom prst="can">
              <a:avLst>
                <a:gd name="adj" fmla="val 25000"/>
              </a:avLst>
            </a:prstGeom>
            <a:solidFill>
              <a:srgbClr val="99CC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grpSp>
      <p:sp>
        <p:nvSpPr>
          <p:cNvPr id="590890" name="Text Box 42"/>
          <p:cNvSpPr txBox="1"/>
          <p:nvPr/>
        </p:nvSpPr>
        <p:spPr>
          <a:xfrm>
            <a:off x="1371600" y="2362200"/>
            <a:ext cx="533400" cy="274638"/>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FS2</a:t>
            </a:r>
            <a:endParaRPr sz="1200" dirty="0">
              <a:solidFill>
                <a:schemeClr val="tx1"/>
              </a:solidFill>
              <a:latin typeface="Helvetica" charset="0"/>
            </a:endParaRPr>
          </a:p>
        </p:txBody>
      </p:sp>
      <p:sp>
        <p:nvSpPr>
          <p:cNvPr id="74788" name="Text Box 43"/>
          <p:cNvSpPr txBox="1"/>
          <p:nvPr/>
        </p:nvSpPr>
        <p:spPr>
          <a:xfrm>
            <a:off x="3429000" y="2286000"/>
            <a:ext cx="533400" cy="274638"/>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FS1</a:t>
            </a:r>
            <a:endParaRPr sz="1200" dirty="0">
              <a:solidFill>
                <a:schemeClr val="tx1"/>
              </a:solidFill>
              <a:latin typeface="Helvetica" charset="0"/>
            </a:endParaRPr>
          </a:p>
        </p:txBody>
      </p:sp>
      <p:sp>
        <p:nvSpPr>
          <p:cNvPr id="590892" name="Text Box 44"/>
          <p:cNvSpPr txBox="1"/>
          <p:nvPr/>
        </p:nvSpPr>
        <p:spPr>
          <a:xfrm>
            <a:off x="609600" y="5791200"/>
            <a:ext cx="4572000" cy="527050"/>
          </a:xfrm>
          <a:prstGeom prst="rect">
            <a:avLst/>
          </a:prstGeom>
          <a:solidFill>
            <a:srgbClr val="FFCC33"/>
          </a:solidFill>
          <a:ln w="9525" cap="flat" cmpd="sng">
            <a:solidFill>
              <a:schemeClr val="bg2"/>
            </a:solidFill>
            <a:prstDash val="solid"/>
            <a:miter/>
            <a:headEnd type="none" w="sm" len="sm"/>
            <a:tailEnd type="none" w="sm" len="sm"/>
          </a:ln>
        </p:spPr>
        <p:txBody>
          <a:bodyPr>
            <a:spAutoFit/>
          </a:bodyPr>
          <a:p>
            <a:pPr marL="342900" indent="-342900">
              <a:spcBef>
                <a:spcPct val="50000"/>
              </a:spcBef>
            </a:pPr>
            <a:r>
              <a:rPr sz="1400" dirty="0">
                <a:solidFill>
                  <a:schemeClr val="tx1"/>
                </a:solidFill>
                <a:latin typeface="Helvetica" charset="0"/>
              </a:rPr>
              <a:t>Tiered storage LUN migration after classification using Tiered Storage Manager from the USP/NSC</a:t>
            </a:r>
            <a:endParaRPr sz="1400" dirty="0">
              <a:solidFill>
                <a:schemeClr val="tx1"/>
              </a:solidFill>
              <a:latin typeface="Helvetica" charset="0"/>
            </a:endParaRPr>
          </a:p>
        </p:txBody>
      </p:sp>
      <p:sp>
        <p:nvSpPr>
          <p:cNvPr id="590893" name="AutoShape 45"/>
          <p:cNvSpPr/>
          <p:nvPr/>
        </p:nvSpPr>
        <p:spPr>
          <a:xfrm>
            <a:off x="3657600" y="3429000"/>
            <a:ext cx="323850" cy="312738"/>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XLS</a:t>
            </a:r>
            <a:endParaRPr sz="1400" baseline="-25000" dirty="0">
              <a:solidFill>
                <a:schemeClr val="tx1"/>
              </a:solidFill>
              <a:latin typeface="Helvetica" charset="0"/>
            </a:endParaRPr>
          </a:p>
        </p:txBody>
      </p:sp>
      <p:sp>
        <p:nvSpPr>
          <p:cNvPr id="74791" name="Text Box 46"/>
          <p:cNvSpPr txBox="1"/>
          <p:nvPr/>
        </p:nvSpPr>
        <p:spPr>
          <a:xfrm>
            <a:off x="1066800" y="5105400"/>
            <a:ext cx="533400" cy="549275"/>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FS4</a:t>
            </a:r>
            <a:endParaRPr sz="1200" dirty="0">
              <a:solidFill>
                <a:schemeClr val="tx1"/>
              </a:solidFill>
              <a:latin typeface="Helvetica" charset="0"/>
            </a:endParaRPr>
          </a:p>
          <a:p>
            <a:pPr marL="342900" indent="-342900">
              <a:spcBef>
                <a:spcPct val="50000"/>
              </a:spcBef>
            </a:pPr>
            <a:r>
              <a:rPr sz="1200" dirty="0">
                <a:solidFill>
                  <a:schemeClr val="tx1"/>
                </a:solidFill>
                <a:latin typeface="Helvetica" charset="0"/>
              </a:rPr>
              <a:t>FC</a:t>
            </a:r>
            <a:endParaRPr sz="1200" dirty="0">
              <a:solidFill>
                <a:schemeClr val="tx1"/>
              </a:solidFill>
              <a:latin typeface="Helvetica" charset="0"/>
            </a:endParaRPr>
          </a:p>
        </p:txBody>
      </p:sp>
      <p:sp>
        <p:nvSpPr>
          <p:cNvPr id="74792" name="Text Box 47"/>
          <p:cNvSpPr txBox="1"/>
          <p:nvPr/>
        </p:nvSpPr>
        <p:spPr>
          <a:xfrm>
            <a:off x="3657600" y="5105400"/>
            <a:ext cx="609600" cy="549275"/>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FS3</a:t>
            </a:r>
            <a:endParaRPr sz="1200" dirty="0">
              <a:solidFill>
                <a:schemeClr val="tx1"/>
              </a:solidFill>
              <a:latin typeface="Helvetica" charset="0"/>
            </a:endParaRPr>
          </a:p>
          <a:p>
            <a:pPr marL="342900" indent="-342900">
              <a:spcBef>
                <a:spcPct val="50000"/>
              </a:spcBef>
            </a:pPr>
            <a:r>
              <a:rPr sz="1200" dirty="0">
                <a:solidFill>
                  <a:schemeClr val="tx1"/>
                </a:solidFill>
                <a:latin typeface="Helvetica" charset="0"/>
              </a:rPr>
              <a:t>SATA</a:t>
            </a:r>
            <a:endParaRPr sz="1200" dirty="0">
              <a:solidFill>
                <a:schemeClr val="tx1"/>
              </a:solidFill>
              <a:latin typeface="Helvetica" charset="0"/>
            </a:endParaRPr>
          </a:p>
        </p:txBody>
      </p:sp>
      <p:sp>
        <p:nvSpPr>
          <p:cNvPr id="74793" name="Rectangle 48"/>
          <p:cNvSpPr/>
          <p:nvPr/>
        </p:nvSpPr>
        <p:spPr>
          <a:xfrm>
            <a:off x="1371600" y="1905000"/>
            <a:ext cx="2743200" cy="381000"/>
          </a:xfrm>
          <a:prstGeom prst="rect">
            <a:avLst/>
          </a:prstGeom>
          <a:solidFill>
            <a:srgbClr val="CCFFCC">
              <a:alpha val="50195"/>
            </a:srgbClr>
          </a:solidFill>
          <a:ln w="9525" cap="flat" cmpd="sng">
            <a:solidFill>
              <a:schemeClr val="tx1"/>
            </a:solidFill>
            <a:prstDash val="solid"/>
            <a:miter/>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74794" name="AutoShape 49"/>
          <p:cNvSpPr/>
          <p:nvPr/>
        </p:nvSpPr>
        <p:spPr>
          <a:xfrm>
            <a:off x="3606800" y="1325563"/>
            <a:ext cx="323850" cy="312737"/>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MOV</a:t>
            </a:r>
            <a:endParaRPr sz="1400" baseline="-25000" dirty="0">
              <a:solidFill>
                <a:schemeClr val="tx1"/>
              </a:solidFill>
              <a:latin typeface="Helvetica" charset="0"/>
            </a:endParaRPr>
          </a:p>
        </p:txBody>
      </p:sp>
      <p:sp>
        <p:nvSpPr>
          <p:cNvPr id="74795" name="AutoShape 50"/>
          <p:cNvSpPr/>
          <p:nvPr/>
        </p:nvSpPr>
        <p:spPr>
          <a:xfrm>
            <a:off x="4019550" y="1320800"/>
            <a:ext cx="323850" cy="312738"/>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PST</a:t>
            </a:r>
            <a:endParaRPr sz="1400" baseline="-25000" dirty="0">
              <a:solidFill>
                <a:schemeClr val="tx1"/>
              </a:solidFill>
              <a:latin typeface="Helvetica" charset="0"/>
            </a:endParaRPr>
          </a:p>
        </p:txBody>
      </p:sp>
      <p:sp>
        <p:nvSpPr>
          <p:cNvPr id="74796" name="Text Box 51"/>
          <p:cNvSpPr txBox="1"/>
          <p:nvPr/>
        </p:nvSpPr>
        <p:spPr>
          <a:xfrm>
            <a:off x="2474913" y="1792288"/>
            <a:ext cx="573087" cy="457200"/>
          </a:xfrm>
          <a:prstGeom prst="rect">
            <a:avLst/>
          </a:prstGeom>
          <a:noFill/>
          <a:ln w="9525">
            <a:noFill/>
          </a:ln>
        </p:spPr>
        <p:txBody>
          <a:bodyPr wrap="none">
            <a:spAutoFit/>
          </a:bodyPr>
          <a:p>
            <a:pPr marL="342900" indent="-342900">
              <a:spcBef>
                <a:spcPct val="20000"/>
              </a:spcBef>
            </a:pPr>
            <a:r>
              <a:rPr sz="2400" dirty="0">
                <a:solidFill>
                  <a:schemeClr val="tx1"/>
                </a:solidFill>
                <a:latin typeface="Helvetica" charset="0"/>
              </a:rPr>
              <a:t>….</a:t>
            </a:r>
            <a:endParaRPr sz="2400" dirty="0">
              <a:solidFill>
                <a:schemeClr val="tx1"/>
              </a:solidFill>
              <a:latin typeface="Helvetica" charset="0"/>
            </a:endParaRPr>
          </a:p>
        </p:txBody>
      </p:sp>
      <p:sp>
        <p:nvSpPr>
          <p:cNvPr id="74797" name="Text Box 52"/>
          <p:cNvSpPr txBox="1"/>
          <p:nvPr/>
        </p:nvSpPr>
        <p:spPr>
          <a:xfrm>
            <a:off x="4648200" y="1325563"/>
            <a:ext cx="914400" cy="274637"/>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Client files</a:t>
            </a:r>
            <a:endParaRPr sz="1200" dirty="0">
              <a:solidFill>
                <a:schemeClr val="tx1"/>
              </a:solidFill>
              <a:latin typeface="Helvetica" charset="0"/>
            </a:endParaRPr>
          </a:p>
        </p:txBody>
      </p:sp>
      <p:sp>
        <p:nvSpPr>
          <p:cNvPr id="74798" name="Text Box 53"/>
          <p:cNvSpPr txBox="1"/>
          <p:nvPr/>
        </p:nvSpPr>
        <p:spPr>
          <a:xfrm>
            <a:off x="4648200" y="1905000"/>
            <a:ext cx="1143000" cy="274638"/>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HNAS cluster</a:t>
            </a:r>
            <a:endParaRPr sz="1200" dirty="0">
              <a:solidFill>
                <a:schemeClr val="tx1"/>
              </a:solidFill>
              <a:latin typeface="Helvetica" charset="0"/>
            </a:endParaRPr>
          </a:p>
        </p:txBody>
      </p:sp>
      <p:sp>
        <p:nvSpPr>
          <p:cNvPr id="74799" name="Text Box 54"/>
          <p:cNvSpPr txBox="1"/>
          <p:nvPr/>
        </p:nvSpPr>
        <p:spPr>
          <a:xfrm>
            <a:off x="4648200" y="2681288"/>
            <a:ext cx="1143000" cy="823912"/>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USP</a:t>
            </a:r>
            <a:endParaRPr sz="1200" dirty="0">
              <a:solidFill>
                <a:schemeClr val="tx1"/>
              </a:solidFill>
              <a:latin typeface="Helvetica" charset="0"/>
            </a:endParaRPr>
          </a:p>
          <a:p>
            <a:pPr marL="342900" indent="-342900">
              <a:spcBef>
                <a:spcPct val="50000"/>
              </a:spcBef>
            </a:pPr>
            <a:r>
              <a:rPr sz="1200" dirty="0">
                <a:solidFill>
                  <a:schemeClr val="tx1"/>
                </a:solidFill>
                <a:latin typeface="Helvetica" charset="0"/>
              </a:rPr>
              <a:t>With internal </a:t>
            </a:r>
            <a:endParaRPr sz="1200" dirty="0">
              <a:solidFill>
                <a:schemeClr val="tx1"/>
              </a:solidFill>
              <a:latin typeface="Helvetica" charset="0"/>
            </a:endParaRPr>
          </a:p>
          <a:p>
            <a:pPr marL="342900" indent="-342900">
              <a:spcBef>
                <a:spcPct val="50000"/>
              </a:spcBef>
            </a:pPr>
            <a:r>
              <a:rPr sz="1200" dirty="0">
                <a:solidFill>
                  <a:schemeClr val="tx1"/>
                </a:solidFill>
                <a:latin typeface="Helvetica" charset="0"/>
              </a:rPr>
              <a:t>disks</a:t>
            </a:r>
            <a:endParaRPr sz="1200" dirty="0">
              <a:solidFill>
                <a:schemeClr val="tx1"/>
              </a:solidFill>
              <a:latin typeface="Helvetica" charset="0"/>
            </a:endParaRPr>
          </a:p>
        </p:txBody>
      </p:sp>
      <p:sp>
        <p:nvSpPr>
          <p:cNvPr id="74800" name="Text Box 55"/>
          <p:cNvSpPr txBox="1"/>
          <p:nvPr/>
        </p:nvSpPr>
        <p:spPr>
          <a:xfrm>
            <a:off x="4648200" y="3641725"/>
            <a:ext cx="1143000" cy="549275"/>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Virtualized </a:t>
            </a:r>
            <a:endParaRPr sz="1200" dirty="0">
              <a:solidFill>
                <a:schemeClr val="tx1"/>
              </a:solidFill>
              <a:latin typeface="Helvetica" charset="0"/>
            </a:endParaRPr>
          </a:p>
          <a:p>
            <a:pPr marL="342900" indent="-342900">
              <a:spcBef>
                <a:spcPct val="50000"/>
              </a:spcBef>
            </a:pPr>
            <a:r>
              <a:rPr sz="1200" dirty="0">
                <a:solidFill>
                  <a:schemeClr val="tx1"/>
                </a:solidFill>
                <a:latin typeface="Helvetica" charset="0"/>
              </a:rPr>
              <a:t>storage</a:t>
            </a:r>
            <a:endParaRPr sz="1200" dirty="0">
              <a:solidFill>
                <a:schemeClr val="tx1"/>
              </a:solidFill>
              <a:latin typeface="Helvetica" charset="0"/>
            </a:endParaRPr>
          </a:p>
        </p:txBody>
      </p:sp>
      <p:sp>
        <p:nvSpPr>
          <p:cNvPr id="590904" name="AutoShape 56"/>
          <p:cNvSpPr/>
          <p:nvPr/>
        </p:nvSpPr>
        <p:spPr>
          <a:xfrm>
            <a:off x="1809750" y="1295400"/>
            <a:ext cx="323850" cy="312738"/>
          </a:xfrm>
          <a:prstGeom prst="flowChartDocument">
            <a:avLst/>
          </a:prstGeom>
          <a:solidFill>
            <a:srgbClr val="CCCCCC">
              <a:alpha val="50195"/>
            </a:srgbClr>
          </a:solidFill>
          <a:ln w="9525" cap="flat" cmpd="sng">
            <a:solidFill>
              <a:schemeClr val="tx1"/>
            </a:solidFill>
            <a:prstDash val="solid"/>
            <a:miter/>
            <a:headEnd type="none" w="med" len="med"/>
            <a:tailEnd type="none" w="med" len="med"/>
          </a:ln>
        </p:spPr>
        <p:txBody>
          <a:bodyPr wrap="none" anchor="ctr" anchorCtr="0"/>
          <a:p>
            <a:pPr marL="342900" indent="-342900" algn="ctr">
              <a:spcBef>
                <a:spcPct val="20000"/>
              </a:spcBef>
            </a:pPr>
            <a:r>
              <a:rPr sz="1400" baseline="-25000" dirty="0">
                <a:solidFill>
                  <a:schemeClr val="tx1"/>
                </a:solidFill>
                <a:latin typeface="Helvetica" charset="0"/>
              </a:rPr>
              <a:t>PPT</a:t>
            </a:r>
            <a:endParaRPr sz="1400" baseline="-25000" dirty="0">
              <a:solidFill>
                <a:schemeClr val="tx1"/>
              </a:solidFill>
              <a:latin typeface="Helvetica" charset="0"/>
            </a:endParaRPr>
          </a:p>
        </p:txBody>
      </p:sp>
      <p:sp>
        <p:nvSpPr>
          <p:cNvPr id="74802" name="Text Box 57"/>
          <p:cNvSpPr txBox="1"/>
          <p:nvPr/>
        </p:nvSpPr>
        <p:spPr>
          <a:xfrm>
            <a:off x="2971800" y="6477000"/>
            <a:ext cx="3276600" cy="274638"/>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Whitepaper on Tiered Storage: </a:t>
            </a:r>
            <a:r>
              <a:rPr sz="1200" dirty="0">
                <a:solidFill>
                  <a:schemeClr val="tx1"/>
                </a:solidFill>
                <a:latin typeface="Helvetica" charset="0"/>
                <a:hlinkClick r:id="rId6"/>
              </a:rPr>
              <a:t>Click here</a:t>
            </a:r>
            <a:endParaRPr sz="1200" dirty="0">
              <a:solidFill>
                <a:schemeClr val="tx1"/>
              </a:solidFill>
              <a:latin typeface="Helvetica"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0852">
                                            <p:txEl>
                                              <p:charRg st="0" end="32"/>
                                            </p:txEl>
                                          </p:spTgt>
                                        </p:tgtEl>
                                        <p:attrNameLst>
                                          <p:attrName>style.visibility</p:attrName>
                                        </p:attrNameLst>
                                      </p:cBhvr>
                                      <p:to>
                                        <p:strVal val="visible"/>
                                      </p:to>
                                    </p:set>
                                    <p:animEffect transition="in" filter="blinds(horizontal)">
                                      <p:cBhvr>
                                        <p:cTn id="7" dur="500"/>
                                        <p:tgtEl>
                                          <p:spTgt spid="590852">
                                            <p:txEl>
                                              <p:charRg st="0" end="32"/>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90852">
                                            <p:txEl>
                                              <p:charRg st="32" end="111"/>
                                            </p:txEl>
                                          </p:spTgt>
                                        </p:tgtEl>
                                        <p:attrNameLst>
                                          <p:attrName>style.visibility</p:attrName>
                                        </p:attrNameLst>
                                      </p:cBhvr>
                                      <p:to>
                                        <p:strVal val="visible"/>
                                      </p:to>
                                    </p:set>
                                    <p:animEffect transition="in" filter="blinds(horizontal)">
                                      <p:cBhvr>
                                        <p:cTn id="10" dur="500"/>
                                        <p:tgtEl>
                                          <p:spTgt spid="590852">
                                            <p:txEl>
                                              <p:charRg st="32" end="11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90852">
                                            <p:txEl>
                                              <p:charRg st="111" end="126"/>
                                            </p:txEl>
                                          </p:spTgt>
                                        </p:tgtEl>
                                        <p:attrNameLst>
                                          <p:attrName>style.visibility</p:attrName>
                                        </p:attrNameLst>
                                      </p:cBhvr>
                                      <p:to>
                                        <p:strVal val="visible"/>
                                      </p:to>
                                    </p:set>
                                    <p:animEffect transition="in" filter="blinds(horizontal)">
                                      <p:cBhvr>
                                        <p:cTn id="15" dur="500"/>
                                        <p:tgtEl>
                                          <p:spTgt spid="590852">
                                            <p:txEl>
                                              <p:charRg st="111" end="126"/>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90852">
                                            <p:txEl>
                                              <p:charRg st="126" end="186"/>
                                            </p:txEl>
                                          </p:spTgt>
                                        </p:tgtEl>
                                        <p:attrNameLst>
                                          <p:attrName>style.visibility</p:attrName>
                                        </p:attrNameLst>
                                      </p:cBhvr>
                                      <p:to>
                                        <p:strVal val="visible"/>
                                      </p:to>
                                    </p:set>
                                    <p:animEffect transition="in" filter="blinds(horizontal)">
                                      <p:cBhvr>
                                        <p:cTn id="18" dur="500"/>
                                        <p:tgtEl>
                                          <p:spTgt spid="590852">
                                            <p:txEl>
                                              <p:charRg st="126" end="18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90852">
                                            <p:txEl>
                                              <p:charRg st="186" end="214"/>
                                            </p:txEl>
                                          </p:spTgt>
                                        </p:tgtEl>
                                        <p:attrNameLst>
                                          <p:attrName>style.visibility</p:attrName>
                                        </p:attrNameLst>
                                      </p:cBhvr>
                                      <p:to>
                                        <p:strVal val="visible"/>
                                      </p:to>
                                    </p:set>
                                    <p:animEffect transition="in" filter="blinds(horizontal)">
                                      <p:cBhvr>
                                        <p:cTn id="23" dur="500"/>
                                        <p:tgtEl>
                                          <p:spTgt spid="590852">
                                            <p:txEl>
                                              <p:charRg st="186" end="21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590852">
                                            <p:txEl>
                                              <p:charRg st="214" end="245"/>
                                            </p:txEl>
                                          </p:spTgt>
                                        </p:tgtEl>
                                        <p:attrNameLst>
                                          <p:attrName>style.visibility</p:attrName>
                                        </p:attrNameLst>
                                      </p:cBhvr>
                                      <p:to>
                                        <p:strVal val="visible"/>
                                      </p:to>
                                    </p:set>
                                    <p:animEffect transition="in" filter="blinds(horizontal)">
                                      <p:cBhvr>
                                        <p:cTn id="26" dur="500"/>
                                        <p:tgtEl>
                                          <p:spTgt spid="590852">
                                            <p:txEl>
                                              <p:charRg st="214" end="24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590852">
                                            <p:txEl>
                                              <p:charRg st="245" end="255"/>
                                            </p:txEl>
                                          </p:spTgt>
                                        </p:tgtEl>
                                        <p:attrNameLst>
                                          <p:attrName>style.visibility</p:attrName>
                                        </p:attrNameLst>
                                      </p:cBhvr>
                                      <p:to>
                                        <p:strVal val="visible"/>
                                      </p:to>
                                    </p:set>
                                    <p:animEffect transition="in" filter="blinds(horizontal)">
                                      <p:cBhvr>
                                        <p:cTn id="29" dur="500"/>
                                        <p:tgtEl>
                                          <p:spTgt spid="590852">
                                            <p:txEl>
                                              <p:charRg st="245" end="255"/>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590852">
                                            <p:txEl>
                                              <p:charRg st="255" end="272"/>
                                            </p:txEl>
                                          </p:spTgt>
                                        </p:tgtEl>
                                        <p:attrNameLst>
                                          <p:attrName>style.visibility</p:attrName>
                                        </p:attrNameLst>
                                      </p:cBhvr>
                                      <p:to>
                                        <p:strVal val="visible"/>
                                      </p:to>
                                    </p:set>
                                    <p:animEffect transition="in" filter="blinds(horizontal)">
                                      <p:cBhvr>
                                        <p:cTn id="32" dur="500"/>
                                        <p:tgtEl>
                                          <p:spTgt spid="590852">
                                            <p:txEl>
                                              <p:charRg st="255" end="272"/>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90852">
                                            <p:txEl>
                                              <p:charRg st="272" end="286"/>
                                            </p:txEl>
                                          </p:spTgt>
                                        </p:tgtEl>
                                        <p:attrNameLst>
                                          <p:attrName>style.visibility</p:attrName>
                                        </p:attrNameLst>
                                      </p:cBhvr>
                                      <p:to>
                                        <p:strVal val="visible"/>
                                      </p:to>
                                    </p:set>
                                    <p:animEffect transition="in" filter="blinds(horizontal)">
                                      <p:cBhvr>
                                        <p:cTn id="35" dur="500"/>
                                        <p:tgtEl>
                                          <p:spTgt spid="590852">
                                            <p:txEl>
                                              <p:charRg st="272" end="28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90852">
                                            <p:txEl>
                                              <p:charRg st="286" end="305"/>
                                            </p:txEl>
                                          </p:spTgt>
                                        </p:tgtEl>
                                        <p:attrNameLst>
                                          <p:attrName>style.visibility</p:attrName>
                                        </p:attrNameLst>
                                      </p:cBhvr>
                                      <p:to>
                                        <p:strVal val="visible"/>
                                      </p:to>
                                    </p:set>
                                    <p:animEffect transition="in" filter="blinds(horizontal)">
                                      <p:cBhvr>
                                        <p:cTn id="38" dur="500"/>
                                        <p:tgtEl>
                                          <p:spTgt spid="590852">
                                            <p:txEl>
                                              <p:charRg st="286" end="30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90852">
                                            <p:txEl>
                                              <p:charRg st="305" end="325"/>
                                            </p:txEl>
                                          </p:spTgt>
                                        </p:tgtEl>
                                        <p:attrNameLst>
                                          <p:attrName>style.visibility</p:attrName>
                                        </p:attrNameLst>
                                      </p:cBhvr>
                                      <p:to>
                                        <p:strVal val="visible"/>
                                      </p:to>
                                    </p:set>
                                    <p:animEffect transition="in" filter="blinds(horizontal)">
                                      <p:cBhvr>
                                        <p:cTn id="43" dur="500"/>
                                        <p:tgtEl>
                                          <p:spTgt spid="590852">
                                            <p:txEl>
                                              <p:charRg st="305" end="32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90868">
                                            <p:txEl>
                                              <p:charRg st="0" end="18"/>
                                            </p:txEl>
                                          </p:spTgt>
                                        </p:tgtEl>
                                        <p:attrNameLst>
                                          <p:attrName>style.visibility</p:attrName>
                                        </p:attrNameLst>
                                      </p:cBhvr>
                                      <p:to>
                                        <p:strVal val="visible"/>
                                      </p:to>
                                    </p:set>
                                    <p:animEffect transition="in" filter="blinds(horizontal)">
                                      <p:cBhvr>
                                        <p:cTn id="48" dur="500"/>
                                        <p:tgtEl>
                                          <p:spTgt spid="590868">
                                            <p:txEl>
                                              <p:charRg st="0" end="18"/>
                                            </p:txEl>
                                          </p:spTgt>
                                        </p:tgtEl>
                                      </p:cBhvr>
                                    </p:animEffect>
                                  </p:childTnLst>
                                </p:cTn>
                              </p:par>
                              <p:par>
                                <p:cTn id="49" presetID="3" presetClass="entr" presetSubtype="10" fill="hold" grpId="0" nodeType="withEffect">
                                  <p:stCondLst>
                                    <p:cond delay="0"/>
                                  </p:stCondLst>
                                  <p:iterate type="lt">
                                    <p:tmPct val="0"/>
                                  </p:iterate>
                                  <p:childTnLst>
                                    <p:set>
                                      <p:cBhvr>
                                        <p:cTn id="50" dur="1" fill="hold">
                                          <p:stCondLst>
                                            <p:cond delay="0"/>
                                          </p:stCondLst>
                                        </p:cTn>
                                        <p:tgtEl>
                                          <p:spTgt spid="590868">
                                            <p:txEl>
                                              <p:charRg st="18" end="58"/>
                                            </p:txEl>
                                          </p:spTgt>
                                        </p:tgtEl>
                                        <p:attrNameLst>
                                          <p:attrName>style.visibility</p:attrName>
                                        </p:attrNameLst>
                                      </p:cBhvr>
                                      <p:to>
                                        <p:strVal val="visible"/>
                                      </p:to>
                                    </p:set>
                                    <p:animEffect transition="in" filter="blinds(horizontal)">
                                      <p:cBhvr>
                                        <p:cTn id="51" dur="500"/>
                                        <p:tgtEl>
                                          <p:spTgt spid="590868">
                                            <p:txEl>
                                              <p:charRg st="18" end="58"/>
                                            </p:txEl>
                                          </p:spTgt>
                                        </p:tgtEl>
                                      </p:cBhvr>
                                    </p:animEffect>
                                  </p:childTnLst>
                                </p:cTn>
                              </p:par>
                              <p:par>
                                <p:cTn id="52" presetID="3" presetClass="entr" presetSubtype="10" fill="hold" grpId="0" nodeType="withEffect">
                                  <p:stCondLst>
                                    <p:cond delay="0"/>
                                  </p:stCondLst>
                                  <p:iterate type="lt">
                                    <p:tmPct val="0"/>
                                  </p:iterate>
                                  <p:childTnLst>
                                    <p:set>
                                      <p:cBhvr>
                                        <p:cTn id="53" dur="1" fill="hold">
                                          <p:stCondLst>
                                            <p:cond delay="0"/>
                                          </p:stCondLst>
                                        </p:cTn>
                                        <p:tgtEl>
                                          <p:spTgt spid="590868">
                                            <p:txEl>
                                              <p:charRg st="58" end="105"/>
                                            </p:txEl>
                                          </p:spTgt>
                                        </p:tgtEl>
                                        <p:attrNameLst>
                                          <p:attrName>style.visibility</p:attrName>
                                        </p:attrNameLst>
                                      </p:cBhvr>
                                      <p:to>
                                        <p:strVal val="visible"/>
                                      </p:to>
                                    </p:set>
                                    <p:animEffect transition="in" filter="blinds(horizontal)">
                                      <p:cBhvr>
                                        <p:cTn id="54" dur="500"/>
                                        <p:tgtEl>
                                          <p:spTgt spid="590868">
                                            <p:txEl>
                                              <p:charRg st="58" end="105"/>
                                            </p:txEl>
                                          </p:spTgt>
                                        </p:tgtEl>
                                      </p:cBhvr>
                                    </p:animEffect>
                                  </p:childTnLst>
                                </p:cTn>
                              </p:par>
                              <p:par>
                                <p:cTn id="55" presetID="3" presetClass="entr" presetSubtype="10" fill="hold" grpId="0" nodeType="withEffect">
                                  <p:stCondLst>
                                    <p:cond delay="0"/>
                                  </p:stCondLst>
                                  <p:iterate type="lt">
                                    <p:tmPct val="0"/>
                                  </p:iterate>
                                  <p:childTnLst>
                                    <p:set>
                                      <p:cBhvr>
                                        <p:cTn id="56" dur="1" fill="hold">
                                          <p:stCondLst>
                                            <p:cond delay="0"/>
                                          </p:stCondLst>
                                        </p:cTn>
                                        <p:tgtEl>
                                          <p:spTgt spid="590868">
                                            <p:txEl>
                                              <p:charRg st="105" end="128"/>
                                            </p:txEl>
                                          </p:spTgt>
                                        </p:tgtEl>
                                        <p:attrNameLst>
                                          <p:attrName>style.visibility</p:attrName>
                                        </p:attrNameLst>
                                      </p:cBhvr>
                                      <p:to>
                                        <p:strVal val="visible"/>
                                      </p:to>
                                    </p:set>
                                    <p:animEffect transition="in" filter="blinds(horizontal)">
                                      <p:cBhvr>
                                        <p:cTn id="57" dur="500"/>
                                        <p:tgtEl>
                                          <p:spTgt spid="590868">
                                            <p:txEl>
                                              <p:charRg st="105" end="12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0" presetClass="emph" presetSubtype="0" fill="hold" nodeType="clickEffect">
                                  <p:stCondLst>
                                    <p:cond delay="0"/>
                                  </p:stCondLst>
                                  <p:iterate type="lt">
                                    <p:tmPct val="10000"/>
                                  </p:iterate>
                                  <p:childTnLst>
                                    <p:set>
                                      <p:cBhvr override="childStyle">
                                        <p:cTn id="61" dur="250" autoRev="1" fill="hold"/>
                                        <p:tgtEl>
                                          <p:spTgt spid="590868">
                                            <p:txEl>
                                              <p:charRg st="18" end="58"/>
                                            </p:txEl>
                                          </p:spTgt>
                                        </p:tgtEl>
                                        <p:attrNameLst>
                                          <p:attrName>style.color</p:attrName>
                                        </p:attrNameLst>
                                      </p:cBhvr>
                                      <p:to>
                                        <p:clrVal>
                                          <a:srgbClr val="fa311c"/>
                                        </p:clrVal>
                                      </p:to>
                                    </p:set>
                                    <p:set>
                                      <p:cBhvr>
                                        <p:cTn id="62" dur="250" autoRev="1" fill="hold"/>
                                        <p:tgtEl>
                                          <p:spTgt spid="590868">
                                            <p:txEl>
                                              <p:charRg st="18" end="58"/>
                                            </p:txEl>
                                          </p:spTgt>
                                        </p:tgtEl>
                                        <p:attrNameLst>
                                          <p:attrName>fillcolor</p:attrName>
                                        </p:attrNameLst>
                                      </p:cBhvr>
                                      <p:to>
                                        <p:clrVal>
                                          <a:srgbClr val="fa311c"/>
                                        </p:clrVal>
                                      </p:to>
                                    </p:set>
                                    <p:set>
                                      <p:cBhvr>
                                        <p:cTn id="63" dur="250" autoRev="1" fill="hold"/>
                                        <p:tgtEl>
                                          <p:spTgt spid="590868">
                                            <p:txEl>
                                              <p:charRg st="18" end="58"/>
                                            </p:txEl>
                                          </p:spTgt>
                                        </p:tgtEl>
                                        <p:attrNameLst>
                                          <p:attrName>fill.type</p:attrName>
                                        </p:attrNameLst>
                                      </p:cBhvr>
                                      <p:to>
                                        <p:strVal val="solid"/>
                                      </p:to>
                                    </p:set>
                                  </p:childTnLst>
                                </p:cTn>
                              </p:par>
                              <p:par>
                                <p:cTn id="64" presetID="49" presetClass="path" presetSubtype="0" accel="50000" decel="50000" fill="hold" grpId="0" nodeType="withEffect">
                                  <p:stCondLst>
                                    <p:cond delay="0"/>
                                  </p:stCondLst>
                                  <p:childTnLst>
                                    <p:animMotion origin="layout" path="M 1.66667E-6 4.33526E-6 L 0.14062 0.19398 " pathEditMode="relative" rAng="0" ptsTypes="AA">
                                      <p:cBhvr>
                                        <p:cTn id="65" dur="2000" fill="hold"/>
                                        <p:tgtEl>
                                          <p:spTgt spid="590904"/>
                                        </p:tgtEl>
                                        <p:attrNameLst>
                                          <p:attrName>ppt_x</p:attrName>
                                          <p:attrName>ppt_y</p:attrName>
                                        </p:attrNameLst>
                                      </p:cBhvr>
                                      <p:rCtr x="7000" y="9700"/>
                                    </p:animMotion>
                                  </p:childTnLst>
                                </p:cTn>
                              </p:par>
                            </p:childTnLst>
                          </p:cTn>
                        </p:par>
                        <p:par>
                          <p:cTn id="66" fill="hold">
                            <p:stCondLst>
                              <p:cond delay="2400"/>
                            </p:stCondLst>
                            <p:childTnLst>
                              <p:par>
                                <p:cTn id="67" presetID="42" presetClass="path" presetSubtype="0" accel="50000" decel="50000" fill="hold" grpId="1" nodeType="afterEffect">
                                  <p:stCondLst>
                                    <p:cond delay="0"/>
                                  </p:stCondLst>
                                  <p:childTnLst>
                                    <p:animMotion origin="layout" path="M 0.14062 0.19398 L 0.14062 0.56023 " pathEditMode="relative" rAng="0" ptsTypes="AA">
                                      <p:cBhvr>
                                        <p:cTn id="68" dur="2000" fill="hold"/>
                                        <p:tgtEl>
                                          <p:spTgt spid="590904"/>
                                        </p:tgtEl>
                                        <p:attrNameLst>
                                          <p:attrName>ppt_x</p:attrName>
                                          <p:attrName>ppt_y</p:attrName>
                                        </p:attrNameLst>
                                      </p:cBhvr>
                                      <p:rCtr x="0" y="18300"/>
                                    </p:animMotion>
                                  </p:childTnLst>
                                </p:cTn>
                              </p:par>
                            </p:childTnLst>
                          </p:cTn>
                        </p:par>
                      </p:childTnLst>
                    </p:cTn>
                  </p:par>
                  <p:par>
                    <p:cTn id="69" fill="hold">
                      <p:stCondLst>
                        <p:cond delay="indefinite"/>
                      </p:stCondLst>
                      <p:childTnLst>
                        <p:par>
                          <p:cTn id="70" fill="hold">
                            <p:stCondLst>
                              <p:cond delay="0"/>
                            </p:stCondLst>
                            <p:childTnLst>
                              <p:par>
                                <p:cTn id="71" presetID="20" presetClass="emph" presetSubtype="0" fill="hold" nodeType="clickEffect">
                                  <p:stCondLst>
                                    <p:cond delay="0"/>
                                  </p:stCondLst>
                                  <p:iterate type="lt">
                                    <p:tmPct val="10000"/>
                                  </p:iterate>
                                  <p:childTnLst>
                                    <p:set>
                                      <p:cBhvr override="childStyle">
                                        <p:cTn id="72" dur="250" autoRev="1" fill="hold"/>
                                        <p:tgtEl>
                                          <p:spTgt spid="590868">
                                            <p:txEl>
                                              <p:charRg st="58" end="105"/>
                                            </p:txEl>
                                          </p:spTgt>
                                        </p:tgtEl>
                                        <p:attrNameLst>
                                          <p:attrName>style.color</p:attrName>
                                        </p:attrNameLst>
                                      </p:cBhvr>
                                      <p:to>
                                        <p:clrVal>
                                          <a:srgbClr val="fa311c"/>
                                        </p:clrVal>
                                      </p:to>
                                    </p:set>
                                    <p:set>
                                      <p:cBhvr>
                                        <p:cTn id="73" dur="250" autoRev="1" fill="hold"/>
                                        <p:tgtEl>
                                          <p:spTgt spid="590868">
                                            <p:txEl>
                                              <p:charRg st="58" end="105"/>
                                            </p:txEl>
                                          </p:spTgt>
                                        </p:tgtEl>
                                        <p:attrNameLst>
                                          <p:attrName>fillcolor</p:attrName>
                                        </p:attrNameLst>
                                      </p:cBhvr>
                                      <p:to>
                                        <p:clrVal>
                                          <a:srgbClr val="fa311c"/>
                                        </p:clrVal>
                                      </p:to>
                                    </p:set>
                                    <p:set>
                                      <p:cBhvr>
                                        <p:cTn id="74" dur="250" autoRev="1" fill="hold"/>
                                        <p:tgtEl>
                                          <p:spTgt spid="590868">
                                            <p:txEl>
                                              <p:charRg st="58" end="105"/>
                                            </p:txEl>
                                          </p:spTgt>
                                        </p:tgtEl>
                                        <p:attrNameLst>
                                          <p:attrName>fill.type</p:attrName>
                                        </p:attrNameLst>
                                      </p:cBhvr>
                                      <p:to>
                                        <p:strVal val="solid"/>
                                      </p:to>
                                    </p:set>
                                  </p:childTnLst>
                                </p:cTn>
                              </p:par>
                              <p:par>
                                <p:cTn id="75" presetID="3" presetClass="exit" presetSubtype="10" fill="hold" nodeType="withEffect">
                                  <p:stCondLst>
                                    <p:cond delay="0"/>
                                  </p:stCondLst>
                                  <p:childTnLst>
                                    <p:animEffect transition="out" filter="blinds(horizontal)">
                                      <p:cBhvr>
                                        <p:cTn id="76" dur="500"/>
                                        <p:tgtEl>
                                          <p:spTgt spid="590884"/>
                                        </p:tgtEl>
                                      </p:cBhvr>
                                    </p:animEffect>
                                    <p:set>
                                      <p:cBhvr>
                                        <p:cTn id="77" dur="1" fill="hold">
                                          <p:stCondLst>
                                            <p:cond delay="499"/>
                                          </p:stCondLst>
                                        </p:cTn>
                                        <p:tgtEl>
                                          <p:spTgt spid="590884"/>
                                        </p:tgtEl>
                                        <p:attrNameLst>
                                          <p:attrName>style.visibility</p:attrName>
                                        </p:attrNameLst>
                                      </p:cBhvr>
                                      <p:to>
                                        <p:strVal val="hidden"/>
                                      </p:to>
                                    </p:set>
                                  </p:childTnLst>
                                </p:cTn>
                              </p:par>
                              <p:par>
                                <p:cTn id="78" presetID="0" presetClass="path" presetSubtype="0" accel="50000" decel="50000" fill="hold" grpId="0" nodeType="withEffect">
                                  <p:stCondLst>
                                    <p:cond delay="0"/>
                                  </p:stCondLst>
                                  <p:childTnLst>
                                    <p:animMotion origin="layout" path="M -8.33333E-7 -0.00046 L -0.34427 0.32092 " pathEditMode="relative" rAng="0" ptsTypes="AA">
                                      <p:cBhvr>
                                        <p:cTn id="79" dur="2000" fill="hold"/>
                                        <p:tgtEl>
                                          <p:spTgt spid="590882"/>
                                        </p:tgtEl>
                                        <p:attrNameLst>
                                          <p:attrName>ppt_x</p:attrName>
                                          <p:attrName>ppt_y</p:attrName>
                                        </p:attrNameLst>
                                      </p:cBhvr>
                                      <p:rCtr x="-17200" y="16100"/>
                                    </p:animMotion>
                                  </p:childTnLst>
                                </p:cTn>
                              </p:par>
                            </p:childTnLst>
                          </p:cTn>
                        </p:par>
                      </p:childTnLst>
                    </p:cTn>
                  </p:par>
                  <p:par>
                    <p:cTn id="80" fill="hold">
                      <p:stCondLst>
                        <p:cond delay="indefinite"/>
                      </p:stCondLst>
                      <p:childTnLst>
                        <p:par>
                          <p:cTn id="81" fill="hold">
                            <p:stCondLst>
                              <p:cond delay="0"/>
                            </p:stCondLst>
                            <p:childTnLst>
                              <p:par>
                                <p:cTn id="82" presetID="20" presetClass="emph" presetSubtype="0" fill="hold" nodeType="clickEffect">
                                  <p:stCondLst>
                                    <p:cond delay="0"/>
                                  </p:stCondLst>
                                  <p:iterate type="lt">
                                    <p:tmPct val="10000"/>
                                  </p:iterate>
                                  <p:childTnLst>
                                    <p:set>
                                      <p:cBhvr override="childStyle">
                                        <p:cTn id="83" dur="250" autoRev="1" fill="hold"/>
                                        <p:tgtEl>
                                          <p:spTgt spid="590868">
                                            <p:txEl>
                                              <p:charRg st="105" end="128"/>
                                            </p:txEl>
                                          </p:spTgt>
                                        </p:tgtEl>
                                        <p:attrNameLst>
                                          <p:attrName>style.color</p:attrName>
                                        </p:attrNameLst>
                                      </p:cBhvr>
                                      <p:to>
                                        <p:clrVal>
                                          <a:srgbClr val="fa311c"/>
                                        </p:clrVal>
                                      </p:to>
                                    </p:set>
                                    <p:set>
                                      <p:cBhvr>
                                        <p:cTn id="84" dur="250" autoRev="1" fill="hold"/>
                                        <p:tgtEl>
                                          <p:spTgt spid="590868">
                                            <p:txEl>
                                              <p:charRg st="105" end="128"/>
                                            </p:txEl>
                                          </p:spTgt>
                                        </p:tgtEl>
                                        <p:attrNameLst>
                                          <p:attrName>fillcolor</p:attrName>
                                        </p:attrNameLst>
                                      </p:cBhvr>
                                      <p:to>
                                        <p:clrVal>
                                          <a:srgbClr val="fa311c"/>
                                        </p:clrVal>
                                      </p:to>
                                    </p:set>
                                    <p:set>
                                      <p:cBhvr>
                                        <p:cTn id="85" dur="250" autoRev="1" fill="hold"/>
                                        <p:tgtEl>
                                          <p:spTgt spid="590868">
                                            <p:txEl>
                                              <p:charRg st="105" end="128"/>
                                            </p:txEl>
                                          </p:spTgt>
                                        </p:tgtEl>
                                        <p:attrNameLst>
                                          <p:attrName>fill.type</p:attrName>
                                        </p:attrNameLst>
                                      </p:cBhvr>
                                      <p:to>
                                        <p:strVal val="solid"/>
                                      </p:to>
                                    </p:set>
                                  </p:childTnLst>
                                </p:cTn>
                              </p:par>
                              <p:par>
                                <p:cTn id="86" presetID="3" presetClass="exit" presetSubtype="10" fill="hold" nodeType="withEffect">
                                  <p:stCondLst>
                                    <p:cond delay="0"/>
                                  </p:stCondLst>
                                  <p:childTnLst>
                                    <p:animEffect transition="out" filter="blinds(horizontal)">
                                      <p:cBhvr>
                                        <p:cTn id="87" dur="500"/>
                                        <p:tgtEl>
                                          <p:spTgt spid="590885"/>
                                        </p:tgtEl>
                                      </p:cBhvr>
                                    </p:animEffect>
                                    <p:set>
                                      <p:cBhvr>
                                        <p:cTn id="88" dur="1" fill="hold">
                                          <p:stCondLst>
                                            <p:cond delay="499"/>
                                          </p:stCondLst>
                                        </p:cTn>
                                        <p:tgtEl>
                                          <p:spTgt spid="590885"/>
                                        </p:tgtEl>
                                        <p:attrNameLst>
                                          <p:attrName>style.visibility</p:attrName>
                                        </p:attrNameLst>
                                      </p:cBhvr>
                                      <p:to>
                                        <p:strVal val="hidden"/>
                                      </p:to>
                                    </p:set>
                                  </p:childTnLst>
                                </p:cTn>
                              </p:par>
                              <p:par>
                                <p:cTn id="89" presetID="0" presetClass="path" presetSubtype="0" accel="50000" decel="50000" fill="hold" grpId="0" nodeType="withEffect">
                                  <p:stCondLst>
                                    <p:cond delay="0"/>
                                  </p:stCondLst>
                                  <p:childTnLst>
                                    <p:animMotion origin="layout" path="M 1.66667E-6 4.27746E-6 L -0.2 -0.07769 " pathEditMode="relative" ptsTypes="AA">
                                      <p:cBhvr>
                                        <p:cTn id="90" dur="2000" fill="hold"/>
                                        <p:tgtEl>
                                          <p:spTgt spid="590893"/>
                                        </p:tgtEl>
                                        <p:attrNameLst>
                                          <p:attrName>ppt_x</p:attrName>
                                          <p:attrName>ppt_y</p:attrName>
                                        </p:attrNameLst>
                                      </p:cBhvr>
                                    </p:animMotion>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590892"/>
                                        </p:tgtEl>
                                        <p:attrNameLst>
                                          <p:attrName>style.visibility</p:attrName>
                                        </p:attrNameLst>
                                      </p:cBhvr>
                                      <p:to>
                                        <p:strVal val="visible"/>
                                      </p:to>
                                    </p:set>
                                    <p:animEffect transition="in" filter="blinds(horizontal)">
                                      <p:cBhvr>
                                        <p:cTn id="95" dur="500"/>
                                        <p:tgtEl>
                                          <p:spTgt spid="590892"/>
                                        </p:tgtEl>
                                      </p:cBhvr>
                                    </p:animEffect>
                                  </p:childTnLst>
                                </p:cTn>
                              </p:par>
                            </p:childTnLst>
                          </p:cTn>
                        </p:par>
                      </p:childTnLst>
                    </p:cTn>
                  </p:par>
                  <p:par>
                    <p:cTn id="96" fill="hold">
                      <p:stCondLst>
                        <p:cond delay="indefinite"/>
                      </p:stCondLst>
                      <p:childTnLst>
                        <p:par>
                          <p:cTn id="97" fill="hold">
                            <p:stCondLst>
                              <p:cond delay="0"/>
                            </p:stCondLst>
                            <p:childTnLst>
                              <p:par>
                                <p:cTn id="98" presetID="0" presetClass="path" presetSubtype="0" accel="50000" decel="50000" fill="hold" nodeType="clickEffect">
                                  <p:stCondLst>
                                    <p:cond delay="0"/>
                                  </p:stCondLst>
                                  <p:childTnLst>
                                    <p:animMotion origin="layout" path="M 5E-6 -4.39306E-6 L 0.32605 0.3392 " pathEditMode="relative" rAng="0" ptsTypes="AA">
                                      <p:cBhvr>
                                        <p:cTn id="99" dur="2000" fill="hold"/>
                                        <p:tgtEl>
                                          <p:spTgt spid="4"/>
                                        </p:tgtEl>
                                        <p:attrNameLst>
                                          <p:attrName>ppt_x</p:attrName>
                                          <p:attrName>ppt_y</p:attrName>
                                        </p:attrNameLst>
                                      </p:cBhvr>
                                      <p:rCtr x="16300" y="16900"/>
                                    </p:animMotion>
                                  </p:childTnLst>
                                </p:cTn>
                              </p:par>
                              <p:par>
                                <p:cTn id="100" presetID="0" presetClass="path" presetSubtype="0" accel="50000" decel="50000" fill="hold" grpId="1" nodeType="withEffect">
                                  <p:stCondLst>
                                    <p:cond delay="0"/>
                                  </p:stCondLst>
                                  <p:childTnLst>
                                    <p:animMotion origin="layout" path="M -0.2 -0.07769 L 0.11667 0.26636 " pathEditMode="relative" rAng="0" ptsTypes="AA">
                                      <p:cBhvr>
                                        <p:cTn id="101" dur="2000" fill="hold"/>
                                        <p:tgtEl>
                                          <p:spTgt spid="590893"/>
                                        </p:tgtEl>
                                        <p:attrNameLst>
                                          <p:attrName>ppt_x</p:attrName>
                                          <p:attrName>ppt_y</p:attrName>
                                        </p:attrNameLst>
                                      </p:cBhvr>
                                      <p:rCtr x="15800" y="17200"/>
                                    </p:animMotion>
                                  </p:childTnLst>
                                </p:cTn>
                              </p:par>
                              <p:par>
                                <p:cTn id="102" presetID="0" presetClass="path" presetSubtype="0" accel="50000" decel="50000" fill="hold" grpId="0" nodeType="withEffect">
                                  <p:stCondLst>
                                    <p:cond delay="0"/>
                                  </p:stCondLst>
                                  <p:childTnLst>
                                    <p:animMotion origin="layout" path="M 3.33333E-6 -6.35838E-7 L 0.3125 0.40185 " pathEditMode="relative" rAng="0" ptsTypes="AA">
                                      <p:cBhvr>
                                        <p:cTn id="103" dur="2000" fill="hold"/>
                                        <p:tgtEl>
                                          <p:spTgt spid="590890"/>
                                        </p:tgtEl>
                                        <p:attrNameLst>
                                          <p:attrName>ppt_x</p:attrName>
                                          <p:attrName>ppt_y</p:attrName>
                                        </p:attrNameLst>
                                      </p:cBhvr>
                                      <p:rCtr x="15600" y="20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2" grpId="0" build="p"/>
      <p:bldP spid="590868" grpId="0" build="allAtOnce"/>
      <p:bldP spid="590882" grpId="0" animBg="1"/>
      <p:bldP spid="590890" grpId="0"/>
      <p:bldP spid="590892" grpId="0" animBg="1"/>
      <p:bldP spid="590893" grpId="0" animBg="1"/>
      <p:bldP spid="590893" grpId="1" animBg="1"/>
      <p:bldP spid="590904" grpId="0" animBg="1"/>
      <p:bldP spid="590904"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801" name="Picture 19" descr="Jumbo_bezel_2"/>
          <p:cNvPicPr>
            <a:picLocks noChangeAspect="1"/>
          </p:cNvPicPr>
          <p:nvPr/>
        </p:nvPicPr>
        <p:blipFill>
          <a:blip r:embed="rId1"/>
          <a:stretch>
            <a:fillRect/>
          </a:stretch>
        </p:blipFill>
        <p:spPr>
          <a:xfrm>
            <a:off x="2819400" y="1828800"/>
            <a:ext cx="1263650" cy="457200"/>
          </a:xfrm>
          <a:prstGeom prst="rect">
            <a:avLst/>
          </a:prstGeom>
          <a:noFill/>
          <a:ln w="9525">
            <a:noFill/>
          </a:ln>
        </p:spPr>
      </p:pic>
      <p:grpSp>
        <p:nvGrpSpPr>
          <p:cNvPr id="76802" name="Group 45"/>
          <p:cNvGrpSpPr/>
          <p:nvPr/>
        </p:nvGrpSpPr>
        <p:grpSpPr>
          <a:xfrm>
            <a:off x="2895600" y="3024188"/>
            <a:ext cx="1981200" cy="3505200"/>
            <a:chOff x="5867400" y="2362200"/>
            <a:chExt cx="1676400" cy="3505200"/>
          </a:xfrm>
        </p:grpSpPr>
        <p:pic>
          <p:nvPicPr>
            <p:cNvPr id="76845" name="Picture 34"/>
            <p:cNvPicPr>
              <a:picLocks noChangeAspect="1"/>
            </p:cNvPicPr>
            <p:nvPr/>
          </p:nvPicPr>
          <p:blipFill>
            <a:blip r:embed="rId2"/>
            <a:stretch>
              <a:fillRect/>
            </a:stretch>
          </p:blipFill>
          <p:spPr>
            <a:xfrm>
              <a:off x="6096000" y="2514600"/>
              <a:ext cx="1278947" cy="3200400"/>
            </a:xfrm>
            <a:prstGeom prst="rect">
              <a:avLst/>
            </a:prstGeom>
            <a:noFill/>
            <a:ln w="9525">
              <a:noFill/>
            </a:ln>
          </p:spPr>
        </p:pic>
        <p:sp>
          <p:nvSpPr>
            <p:cNvPr id="45" name="Rectangle 44"/>
            <p:cNvSpPr/>
            <p:nvPr/>
          </p:nvSpPr>
          <p:spPr bwMode="auto">
            <a:xfrm>
              <a:off x="5867400" y="2362200"/>
              <a:ext cx="1676400" cy="3505200"/>
            </a:xfrm>
            <a:prstGeom prst="rect">
              <a:avLst/>
            </a:prstGeom>
            <a:solidFill>
              <a:schemeClr val="lt1">
                <a:alpha val="59000"/>
              </a:schemeClr>
            </a:solidFill>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grpSp>
      <p:grpSp>
        <p:nvGrpSpPr>
          <p:cNvPr id="76803" name="Group 40"/>
          <p:cNvGrpSpPr/>
          <p:nvPr/>
        </p:nvGrpSpPr>
        <p:grpSpPr>
          <a:xfrm>
            <a:off x="228600" y="2947988"/>
            <a:ext cx="2209800" cy="3581400"/>
            <a:chOff x="5486400" y="2362200"/>
            <a:chExt cx="2209800" cy="3581400"/>
          </a:xfrm>
        </p:grpSpPr>
        <p:pic>
          <p:nvPicPr>
            <p:cNvPr id="39" name="Picture 38" descr="USP-V.gif"/>
            <p:cNvPicPr>
              <a:picLocks noChangeAspect="1"/>
            </p:cNvPicPr>
            <p:nvPr/>
          </p:nvPicPr>
          <p:blipFill>
            <a:blip r:embed="rId3" cstate="print"/>
            <a:stretch>
              <a:fillRect/>
            </a:stretch>
          </p:blipFill>
          <p:spPr>
            <a:xfrm>
              <a:off x="5638800" y="2438400"/>
              <a:ext cx="1728695" cy="3267075"/>
            </a:xfrm>
            <a:prstGeom prst="rect">
              <a:avLst/>
            </a:prstGeom>
            <a:ln>
              <a:noFill/>
            </a:ln>
            <a:effectLst>
              <a:softEdge rad="112500"/>
            </a:effectLst>
          </p:spPr>
        </p:pic>
        <p:sp>
          <p:nvSpPr>
            <p:cNvPr id="40" name="Rectangle 39"/>
            <p:cNvSpPr/>
            <p:nvPr/>
          </p:nvSpPr>
          <p:spPr bwMode="auto">
            <a:xfrm>
              <a:off x="5486400" y="2362200"/>
              <a:ext cx="2209800" cy="3581400"/>
            </a:xfrm>
            <a:prstGeom prst="rect">
              <a:avLst/>
            </a:prstGeom>
            <a:solidFill>
              <a:schemeClr val="lt1">
                <a:alpha val="81000"/>
              </a:schemeClr>
            </a:solidFill>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a:lstStyle/>
            <a:p>
              <a:pPr marL="381000" marR="0" lvl="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grpSp>
      <p:sp>
        <p:nvSpPr>
          <p:cNvPr id="76804" name="Title 1"/>
          <p:cNvSpPr>
            <a:spLocks noGrp="1"/>
          </p:cNvSpPr>
          <p:nvPr>
            <p:ph type="title"/>
          </p:nvPr>
        </p:nvSpPr>
        <p:spPr>
          <a:xfrm>
            <a:off x="228600" y="131763"/>
            <a:ext cx="7086600" cy="576262"/>
          </a:xfrm>
          <a:ln/>
        </p:spPr>
        <p:txBody>
          <a:bodyPr vert="horz" wrap="square" lIns="91440" tIns="0" rIns="91440" bIns="0" anchor="ctr" anchorCtr="0">
            <a:spAutoFit/>
          </a:bodyPr>
          <a:p>
            <a:pPr eaLnBrk="1" hangingPunct="1"/>
            <a:r>
              <a:rPr dirty="0"/>
              <a:t>NAS Data Migrator CVL vs XVL</a:t>
            </a:r>
            <a:br>
              <a:rPr dirty="0"/>
            </a:br>
            <a:r>
              <a:rPr sz="1800" dirty="0">
                <a:solidFill>
                  <a:schemeClr val="tx1"/>
                </a:solidFill>
              </a:rPr>
              <a:t>(see XVL section for details)</a:t>
            </a:r>
            <a:endParaRPr sz="1800" dirty="0">
              <a:solidFill>
                <a:schemeClr val="tx1"/>
              </a:solidFill>
            </a:endParaRPr>
          </a:p>
        </p:txBody>
      </p:sp>
      <p:sp>
        <p:nvSpPr>
          <p:cNvPr id="4" name="AutoShape 10"/>
          <p:cNvSpPr>
            <a:spLocks noChangeArrowheads="1"/>
          </p:cNvSpPr>
          <p:nvPr/>
        </p:nvSpPr>
        <p:spPr bwMode="auto">
          <a:xfrm>
            <a:off x="990600" y="1143000"/>
            <a:ext cx="323850" cy="312738"/>
          </a:xfrm>
          <a:prstGeom prst="flowChartDocument">
            <a:avLst/>
          </a:prstGeom>
          <a:solidFill>
            <a:schemeClr val="accent1">
              <a:lumMod val="60000"/>
              <a:lumOff val="40000"/>
              <a:alpha val="50000"/>
            </a:schemeClr>
          </a:solidFill>
          <a:ln w="9525">
            <a:solidFill>
              <a:schemeClr val="tx1"/>
            </a:solidFill>
            <a:miter lim="800000"/>
          </a:ln>
          <a:effectLst/>
        </p:spPr>
        <p:txBody>
          <a:bodyPr wrap="none" anchor="ct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rPr>
              <a:t>MP3</a:t>
            </a:r>
            <a:endPar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endParaRPr>
          </a:p>
        </p:txBody>
      </p:sp>
      <p:sp>
        <p:nvSpPr>
          <p:cNvPr id="6" name="AutoShape 12"/>
          <p:cNvSpPr>
            <a:spLocks noChangeArrowheads="1"/>
          </p:cNvSpPr>
          <p:nvPr/>
        </p:nvSpPr>
        <p:spPr bwMode="auto">
          <a:xfrm>
            <a:off x="2368550" y="1166813"/>
            <a:ext cx="323850" cy="312738"/>
          </a:xfrm>
          <a:prstGeom prst="flowChartDocument">
            <a:avLst/>
          </a:prstGeom>
          <a:solidFill>
            <a:schemeClr val="accent1">
              <a:lumMod val="60000"/>
              <a:lumOff val="40000"/>
              <a:alpha val="50000"/>
            </a:schemeClr>
          </a:solidFill>
          <a:ln w="9525">
            <a:solidFill>
              <a:schemeClr val="tx1"/>
            </a:solidFill>
            <a:miter lim="800000"/>
          </a:ln>
          <a:effectLst/>
        </p:spPr>
        <p:txBody>
          <a:bodyPr wrap="none" anchor="ct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rPr>
              <a:t>XLS</a:t>
            </a:r>
            <a:endPar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endParaRPr>
          </a:p>
        </p:txBody>
      </p:sp>
      <p:sp>
        <p:nvSpPr>
          <p:cNvPr id="7" name="AutoShape 13"/>
          <p:cNvSpPr>
            <a:spLocks noChangeArrowheads="1"/>
          </p:cNvSpPr>
          <p:nvPr/>
        </p:nvSpPr>
        <p:spPr bwMode="auto">
          <a:xfrm>
            <a:off x="2820988" y="1174750"/>
            <a:ext cx="323850" cy="312738"/>
          </a:xfrm>
          <a:prstGeom prst="flowChartDocument">
            <a:avLst/>
          </a:prstGeom>
          <a:solidFill>
            <a:schemeClr val="accent1">
              <a:lumMod val="60000"/>
              <a:lumOff val="40000"/>
              <a:alpha val="50000"/>
            </a:schemeClr>
          </a:solidFill>
          <a:ln w="9525">
            <a:solidFill>
              <a:schemeClr val="tx1"/>
            </a:solidFill>
            <a:miter lim="800000"/>
          </a:ln>
          <a:effectLst/>
        </p:spPr>
        <p:txBody>
          <a:bodyPr wrap="none" anchor="ct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rPr>
              <a:t>MDB</a:t>
            </a:r>
            <a:endPar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endParaRPr>
          </a:p>
        </p:txBody>
      </p:sp>
      <p:pic>
        <p:nvPicPr>
          <p:cNvPr id="76808" name="Picture 19" descr="Jumbo_bezel_2"/>
          <p:cNvPicPr>
            <a:picLocks noChangeAspect="1"/>
          </p:cNvPicPr>
          <p:nvPr/>
        </p:nvPicPr>
        <p:blipFill>
          <a:blip r:embed="rId1"/>
          <a:stretch>
            <a:fillRect/>
          </a:stretch>
        </p:blipFill>
        <p:spPr>
          <a:xfrm>
            <a:off x="946150" y="1828800"/>
            <a:ext cx="1263650" cy="457200"/>
          </a:xfrm>
          <a:prstGeom prst="rect">
            <a:avLst/>
          </a:prstGeom>
          <a:noFill/>
          <a:ln w="9525">
            <a:noFill/>
          </a:ln>
        </p:spPr>
      </p:pic>
      <p:sp>
        <p:nvSpPr>
          <p:cNvPr id="11" name="AutoShape 49"/>
          <p:cNvSpPr>
            <a:spLocks noChangeArrowheads="1"/>
          </p:cNvSpPr>
          <p:nvPr/>
        </p:nvSpPr>
        <p:spPr bwMode="auto">
          <a:xfrm>
            <a:off x="3244850" y="1173163"/>
            <a:ext cx="323850" cy="312738"/>
          </a:xfrm>
          <a:prstGeom prst="flowChartDocument">
            <a:avLst/>
          </a:prstGeom>
          <a:solidFill>
            <a:schemeClr val="accent1">
              <a:lumMod val="60000"/>
              <a:lumOff val="40000"/>
              <a:alpha val="50000"/>
            </a:schemeClr>
          </a:solidFill>
          <a:ln w="9525">
            <a:solidFill>
              <a:schemeClr val="tx1"/>
            </a:solidFill>
            <a:miter lim="800000"/>
          </a:ln>
          <a:effectLst/>
        </p:spPr>
        <p:txBody>
          <a:bodyPr wrap="none" anchor="ct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rPr>
              <a:t>MOV</a:t>
            </a:r>
            <a:endPar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endParaRPr>
          </a:p>
        </p:txBody>
      </p:sp>
      <p:sp>
        <p:nvSpPr>
          <p:cNvPr id="12" name="AutoShape 50"/>
          <p:cNvSpPr>
            <a:spLocks noChangeArrowheads="1"/>
          </p:cNvSpPr>
          <p:nvPr/>
        </p:nvSpPr>
        <p:spPr bwMode="auto">
          <a:xfrm>
            <a:off x="3657600" y="1168400"/>
            <a:ext cx="323850" cy="312738"/>
          </a:xfrm>
          <a:prstGeom prst="flowChartDocument">
            <a:avLst/>
          </a:prstGeom>
          <a:solidFill>
            <a:schemeClr val="accent1">
              <a:lumMod val="60000"/>
              <a:lumOff val="40000"/>
              <a:alpha val="50000"/>
            </a:schemeClr>
          </a:solidFill>
          <a:ln w="9525">
            <a:solidFill>
              <a:schemeClr val="tx1"/>
            </a:solidFill>
            <a:miter lim="800000"/>
          </a:ln>
          <a:effectLst/>
        </p:spPr>
        <p:txBody>
          <a:bodyPr wrap="none" anchor="ct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rPr>
              <a:t>PST</a:t>
            </a:r>
            <a:endPar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endParaRPr>
          </a:p>
        </p:txBody>
      </p:sp>
      <p:sp>
        <p:nvSpPr>
          <p:cNvPr id="76811" name="Text Box 51"/>
          <p:cNvSpPr txBox="1"/>
          <p:nvPr/>
        </p:nvSpPr>
        <p:spPr>
          <a:xfrm>
            <a:off x="2246313" y="1716088"/>
            <a:ext cx="573087" cy="457200"/>
          </a:xfrm>
          <a:prstGeom prst="rect">
            <a:avLst/>
          </a:prstGeom>
          <a:noFill/>
          <a:ln w="9525">
            <a:noFill/>
          </a:ln>
        </p:spPr>
        <p:txBody>
          <a:bodyPr wrap="none">
            <a:spAutoFit/>
          </a:bodyPr>
          <a:p>
            <a:pPr marL="342900" indent="-342900">
              <a:spcBef>
                <a:spcPct val="20000"/>
              </a:spcBef>
            </a:pPr>
            <a:r>
              <a:rPr sz="2400" dirty="0">
                <a:solidFill>
                  <a:schemeClr val="tx1"/>
                </a:solidFill>
                <a:latin typeface="Helvetica" charset="0"/>
              </a:rPr>
              <a:t>….</a:t>
            </a:r>
            <a:endParaRPr sz="2400" dirty="0">
              <a:solidFill>
                <a:schemeClr val="tx1"/>
              </a:solidFill>
              <a:latin typeface="Helvetica" charset="0"/>
            </a:endParaRPr>
          </a:p>
        </p:txBody>
      </p:sp>
      <p:sp>
        <p:nvSpPr>
          <p:cNvPr id="76812" name="Text Box 52"/>
          <p:cNvSpPr txBox="1"/>
          <p:nvPr/>
        </p:nvSpPr>
        <p:spPr>
          <a:xfrm>
            <a:off x="4419600" y="1219200"/>
            <a:ext cx="914400" cy="274638"/>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Client files</a:t>
            </a:r>
            <a:endParaRPr sz="1200" dirty="0">
              <a:solidFill>
                <a:schemeClr val="tx1"/>
              </a:solidFill>
              <a:latin typeface="Helvetica" charset="0"/>
            </a:endParaRPr>
          </a:p>
        </p:txBody>
      </p:sp>
      <p:sp>
        <p:nvSpPr>
          <p:cNvPr id="76813" name="Text Box 53"/>
          <p:cNvSpPr txBox="1"/>
          <p:nvPr/>
        </p:nvSpPr>
        <p:spPr>
          <a:xfrm>
            <a:off x="4419600" y="1808163"/>
            <a:ext cx="1143000" cy="554037"/>
          </a:xfrm>
          <a:prstGeom prst="rect">
            <a:avLst/>
          </a:prstGeom>
          <a:noFill/>
          <a:ln w="9525">
            <a:noFill/>
          </a:ln>
        </p:spPr>
        <p:txBody>
          <a:bodyPr>
            <a:spAutoFit/>
          </a:bodyPr>
          <a:p>
            <a:pPr marL="342900" indent="-342900">
              <a:spcBef>
                <a:spcPct val="50000"/>
              </a:spcBef>
            </a:pPr>
            <a:r>
              <a:rPr sz="1200" dirty="0">
                <a:solidFill>
                  <a:schemeClr val="tx1"/>
                </a:solidFill>
                <a:latin typeface="Helvetica" charset="0"/>
              </a:rPr>
              <a:t>HNAS cluster</a:t>
            </a:r>
            <a:endParaRPr sz="1200" dirty="0">
              <a:solidFill>
                <a:schemeClr val="tx1"/>
              </a:solidFill>
              <a:latin typeface="Helvetica" charset="0"/>
            </a:endParaRPr>
          </a:p>
          <a:p>
            <a:pPr marL="342900" indent="-342900">
              <a:spcBef>
                <a:spcPct val="50000"/>
              </a:spcBef>
            </a:pPr>
            <a:r>
              <a:rPr sz="1200" dirty="0">
                <a:solidFill>
                  <a:schemeClr val="tx1"/>
                </a:solidFill>
                <a:latin typeface="Helvetica" charset="0"/>
              </a:rPr>
              <a:t>2 to 8 nodes</a:t>
            </a:r>
            <a:endParaRPr sz="1200" dirty="0">
              <a:solidFill>
                <a:schemeClr val="tx1"/>
              </a:solidFill>
              <a:latin typeface="Helvetica" charset="0"/>
            </a:endParaRPr>
          </a:p>
        </p:txBody>
      </p:sp>
      <p:sp>
        <p:nvSpPr>
          <p:cNvPr id="76814" name="AutoShape 9"/>
          <p:cNvSpPr/>
          <p:nvPr/>
        </p:nvSpPr>
        <p:spPr>
          <a:xfrm>
            <a:off x="762000" y="3860800"/>
            <a:ext cx="782638" cy="611188"/>
          </a:xfrm>
          <a:prstGeom prst="can">
            <a:avLst>
              <a:gd name="adj" fmla="val 25000"/>
            </a:avLst>
          </a:prstGeom>
          <a:solidFill>
            <a:srgbClr val="006699">
              <a:alpha val="50195"/>
            </a:srgbClr>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6815" name="AutoShape 9"/>
          <p:cNvSpPr/>
          <p:nvPr/>
        </p:nvSpPr>
        <p:spPr>
          <a:xfrm>
            <a:off x="762000" y="4700588"/>
            <a:ext cx="782638" cy="611187"/>
          </a:xfrm>
          <a:prstGeom prst="can">
            <a:avLst>
              <a:gd name="adj" fmla="val 25000"/>
            </a:avLst>
          </a:prstGeom>
          <a:solidFill>
            <a:srgbClr val="006699">
              <a:alpha val="50195"/>
            </a:srgbClr>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6816" name="AutoShape 9"/>
          <p:cNvSpPr/>
          <p:nvPr/>
        </p:nvSpPr>
        <p:spPr>
          <a:xfrm>
            <a:off x="3352800" y="3786188"/>
            <a:ext cx="782638" cy="1752600"/>
          </a:xfrm>
          <a:prstGeom prst="can">
            <a:avLst>
              <a:gd name="adj" fmla="val 24995"/>
            </a:avLst>
          </a:prstGeom>
          <a:solidFill>
            <a:srgbClr val="006699">
              <a:alpha val="50195"/>
            </a:srgbClr>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6817" name="TextBox 25"/>
          <p:cNvSpPr txBox="1"/>
          <p:nvPr/>
        </p:nvSpPr>
        <p:spPr>
          <a:xfrm>
            <a:off x="1524000" y="4014788"/>
            <a:ext cx="1143000" cy="381000"/>
          </a:xfrm>
          <a:prstGeom prst="rect">
            <a:avLst/>
          </a:prstGeom>
          <a:noFill/>
          <a:ln w="9525">
            <a:noFill/>
          </a:ln>
        </p:spPr>
        <p:txBody>
          <a:bodyPr>
            <a:spAutoFit/>
          </a:bodyPr>
          <a:p>
            <a:pPr>
              <a:spcBef>
                <a:spcPct val="20000"/>
              </a:spcBef>
            </a:pPr>
            <a:r>
              <a:rPr dirty="0">
                <a:latin typeface="Arial" panose="020B0604020202020204" pitchFamily="34" charset="0"/>
              </a:rPr>
              <a:t>256TB</a:t>
            </a:r>
            <a:endParaRPr dirty="0">
              <a:latin typeface="Arial" panose="020B0604020202020204" pitchFamily="34" charset="0"/>
            </a:endParaRPr>
          </a:p>
        </p:txBody>
      </p:sp>
      <p:sp>
        <p:nvSpPr>
          <p:cNvPr id="76818" name="TextBox 26"/>
          <p:cNvSpPr txBox="1"/>
          <p:nvPr/>
        </p:nvSpPr>
        <p:spPr>
          <a:xfrm>
            <a:off x="1524000" y="4852988"/>
            <a:ext cx="1143000" cy="381000"/>
          </a:xfrm>
          <a:prstGeom prst="rect">
            <a:avLst/>
          </a:prstGeom>
          <a:noFill/>
          <a:ln w="9525">
            <a:noFill/>
          </a:ln>
        </p:spPr>
        <p:txBody>
          <a:bodyPr>
            <a:spAutoFit/>
          </a:bodyPr>
          <a:p>
            <a:pPr>
              <a:spcBef>
                <a:spcPct val="20000"/>
              </a:spcBef>
            </a:pPr>
            <a:r>
              <a:rPr dirty="0">
                <a:latin typeface="Arial" panose="020B0604020202020204" pitchFamily="34" charset="0"/>
              </a:rPr>
              <a:t>256TB</a:t>
            </a:r>
            <a:endParaRPr dirty="0">
              <a:latin typeface="Arial" panose="020B0604020202020204" pitchFamily="34" charset="0"/>
            </a:endParaRPr>
          </a:p>
        </p:txBody>
      </p:sp>
      <p:sp>
        <p:nvSpPr>
          <p:cNvPr id="76819" name="TextBox 27"/>
          <p:cNvSpPr txBox="1"/>
          <p:nvPr/>
        </p:nvSpPr>
        <p:spPr>
          <a:xfrm>
            <a:off x="838200" y="3481388"/>
            <a:ext cx="1143000" cy="368300"/>
          </a:xfrm>
          <a:prstGeom prst="rect">
            <a:avLst/>
          </a:prstGeom>
          <a:noFill/>
          <a:ln w="9525">
            <a:noFill/>
          </a:ln>
        </p:spPr>
        <p:txBody>
          <a:bodyPr>
            <a:spAutoFit/>
          </a:bodyPr>
          <a:p>
            <a:pPr>
              <a:spcBef>
                <a:spcPct val="20000"/>
              </a:spcBef>
            </a:pPr>
            <a:r>
              <a:rPr dirty="0">
                <a:latin typeface="Arial" panose="020B0604020202020204" pitchFamily="34" charset="0"/>
              </a:rPr>
              <a:t>FS1</a:t>
            </a:r>
            <a:endParaRPr dirty="0">
              <a:latin typeface="Arial" panose="020B0604020202020204" pitchFamily="34" charset="0"/>
            </a:endParaRPr>
          </a:p>
        </p:txBody>
      </p:sp>
      <p:sp>
        <p:nvSpPr>
          <p:cNvPr id="76820" name="TextBox 28"/>
          <p:cNvSpPr txBox="1"/>
          <p:nvPr/>
        </p:nvSpPr>
        <p:spPr>
          <a:xfrm>
            <a:off x="838200" y="5321300"/>
            <a:ext cx="1143000" cy="369888"/>
          </a:xfrm>
          <a:prstGeom prst="rect">
            <a:avLst/>
          </a:prstGeom>
          <a:noFill/>
          <a:ln w="9525">
            <a:noFill/>
          </a:ln>
        </p:spPr>
        <p:txBody>
          <a:bodyPr>
            <a:spAutoFit/>
          </a:bodyPr>
          <a:p>
            <a:pPr>
              <a:spcBef>
                <a:spcPct val="20000"/>
              </a:spcBef>
            </a:pPr>
            <a:r>
              <a:rPr dirty="0">
                <a:latin typeface="Arial" panose="020B0604020202020204" pitchFamily="34" charset="0"/>
              </a:rPr>
              <a:t>FS2</a:t>
            </a:r>
            <a:endParaRPr dirty="0">
              <a:latin typeface="Arial" panose="020B0604020202020204" pitchFamily="34" charset="0"/>
            </a:endParaRPr>
          </a:p>
        </p:txBody>
      </p:sp>
      <p:sp>
        <p:nvSpPr>
          <p:cNvPr id="76821" name="TextBox 29"/>
          <p:cNvSpPr txBox="1"/>
          <p:nvPr/>
        </p:nvSpPr>
        <p:spPr>
          <a:xfrm>
            <a:off x="3429000" y="3481388"/>
            <a:ext cx="1143000" cy="368300"/>
          </a:xfrm>
          <a:prstGeom prst="rect">
            <a:avLst/>
          </a:prstGeom>
          <a:noFill/>
          <a:ln w="9525">
            <a:noFill/>
          </a:ln>
        </p:spPr>
        <p:txBody>
          <a:bodyPr>
            <a:spAutoFit/>
          </a:bodyPr>
          <a:p>
            <a:pPr>
              <a:spcBef>
                <a:spcPct val="20000"/>
              </a:spcBef>
            </a:pPr>
            <a:r>
              <a:rPr dirty="0">
                <a:latin typeface="Arial" panose="020B0604020202020204" pitchFamily="34" charset="0"/>
              </a:rPr>
              <a:t>FS3</a:t>
            </a:r>
            <a:endParaRPr dirty="0">
              <a:latin typeface="Arial" panose="020B0604020202020204" pitchFamily="34" charset="0"/>
            </a:endParaRPr>
          </a:p>
        </p:txBody>
      </p:sp>
      <p:sp>
        <p:nvSpPr>
          <p:cNvPr id="76822" name="TextBox 30"/>
          <p:cNvSpPr txBox="1"/>
          <p:nvPr/>
        </p:nvSpPr>
        <p:spPr>
          <a:xfrm>
            <a:off x="3429000" y="5473700"/>
            <a:ext cx="1143000" cy="369888"/>
          </a:xfrm>
          <a:prstGeom prst="rect">
            <a:avLst/>
          </a:prstGeom>
          <a:noFill/>
          <a:ln w="9525">
            <a:noFill/>
          </a:ln>
        </p:spPr>
        <p:txBody>
          <a:bodyPr>
            <a:spAutoFit/>
          </a:bodyPr>
          <a:p>
            <a:pPr>
              <a:spcBef>
                <a:spcPct val="20000"/>
              </a:spcBef>
            </a:pPr>
            <a:r>
              <a:rPr dirty="0">
                <a:latin typeface="Arial" panose="020B0604020202020204" pitchFamily="34" charset="0"/>
              </a:rPr>
              <a:t>80PB</a:t>
            </a:r>
            <a:endParaRPr dirty="0">
              <a:latin typeface="Arial" panose="020B0604020202020204" pitchFamily="34" charset="0"/>
            </a:endParaRPr>
          </a:p>
        </p:txBody>
      </p:sp>
      <p:sp>
        <p:nvSpPr>
          <p:cNvPr id="32" name="TextBox 31"/>
          <p:cNvSpPr txBox="1"/>
          <p:nvPr/>
        </p:nvSpPr>
        <p:spPr>
          <a:xfrm>
            <a:off x="228600" y="6199188"/>
            <a:ext cx="2362200" cy="635000"/>
          </a:xfrm>
          <a:prstGeom prst="rect">
            <a:avLst/>
          </a:prstGeom>
          <a:noFill/>
          <a:ln w="9525">
            <a:noFill/>
          </a:ln>
        </p:spPr>
        <p:txBody>
          <a:bodyPr>
            <a:spAutoFit/>
          </a:bodyPr>
          <a:p>
            <a:pPr>
              <a:spcBef>
                <a:spcPct val="20000"/>
              </a:spcBef>
            </a:pPr>
            <a:r>
              <a:rPr sz="1600" dirty="0">
                <a:latin typeface="Arial" panose="020B0604020202020204" pitchFamily="34" charset="0"/>
              </a:rPr>
              <a:t>Cross-Volume-Links</a:t>
            </a:r>
            <a:endParaRPr sz="1600" dirty="0">
              <a:latin typeface="Arial" panose="020B0604020202020204" pitchFamily="34" charset="0"/>
            </a:endParaRPr>
          </a:p>
          <a:p>
            <a:pPr>
              <a:spcBef>
                <a:spcPct val="20000"/>
              </a:spcBef>
            </a:pPr>
            <a:r>
              <a:rPr sz="1600" dirty="0">
                <a:latin typeface="Arial" panose="020B0604020202020204" pitchFamily="34" charset="0"/>
              </a:rPr>
              <a:t>	CVL</a:t>
            </a:r>
            <a:endParaRPr sz="1600" dirty="0">
              <a:latin typeface="Arial" panose="020B0604020202020204" pitchFamily="34" charset="0"/>
            </a:endParaRPr>
          </a:p>
        </p:txBody>
      </p:sp>
      <p:sp>
        <p:nvSpPr>
          <p:cNvPr id="33" name="TextBox 32"/>
          <p:cNvSpPr txBox="1"/>
          <p:nvPr/>
        </p:nvSpPr>
        <p:spPr>
          <a:xfrm>
            <a:off x="2667000" y="6224588"/>
            <a:ext cx="2514600" cy="633412"/>
          </a:xfrm>
          <a:prstGeom prst="rect">
            <a:avLst/>
          </a:prstGeom>
          <a:noFill/>
          <a:ln w="9525">
            <a:noFill/>
          </a:ln>
        </p:spPr>
        <p:txBody>
          <a:bodyPr>
            <a:spAutoFit/>
          </a:bodyPr>
          <a:p>
            <a:pPr>
              <a:spcBef>
                <a:spcPct val="20000"/>
              </a:spcBef>
            </a:pPr>
            <a:r>
              <a:rPr sz="1600" dirty="0">
                <a:latin typeface="Arial" panose="020B0604020202020204" pitchFamily="34" charset="0"/>
              </a:rPr>
              <a:t>External-Volume-Links</a:t>
            </a:r>
            <a:endParaRPr sz="1600" dirty="0">
              <a:latin typeface="Arial" panose="020B0604020202020204" pitchFamily="34" charset="0"/>
            </a:endParaRPr>
          </a:p>
          <a:p>
            <a:pPr>
              <a:spcBef>
                <a:spcPct val="20000"/>
              </a:spcBef>
            </a:pPr>
            <a:r>
              <a:rPr sz="1600" dirty="0">
                <a:latin typeface="Arial" panose="020B0604020202020204" pitchFamily="34" charset="0"/>
              </a:rPr>
              <a:t>	XVL</a:t>
            </a:r>
            <a:endParaRPr sz="1600" dirty="0">
              <a:latin typeface="Arial" panose="020B0604020202020204" pitchFamily="34" charset="0"/>
            </a:endParaRPr>
          </a:p>
        </p:txBody>
      </p:sp>
      <p:sp>
        <p:nvSpPr>
          <p:cNvPr id="76825" name="TextBox 41"/>
          <p:cNvSpPr txBox="1"/>
          <p:nvPr/>
        </p:nvSpPr>
        <p:spPr>
          <a:xfrm>
            <a:off x="228600" y="4014788"/>
            <a:ext cx="1143000" cy="381000"/>
          </a:xfrm>
          <a:prstGeom prst="rect">
            <a:avLst/>
          </a:prstGeom>
          <a:noFill/>
          <a:ln w="9525">
            <a:noFill/>
          </a:ln>
        </p:spPr>
        <p:txBody>
          <a:bodyPr>
            <a:spAutoFit/>
          </a:bodyPr>
          <a:p>
            <a:pPr>
              <a:spcBef>
                <a:spcPct val="20000"/>
              </a:spcBef>
            </a:pPr>
            <a:r>
              <a:rPr dirty="0">
                <a:latin typeface="Arial" panose="020B0604020202020204" pitchFamily="34" charset="0"/>
              </a:rPr>
              <a:t>FC</a:t>
            </a:r>
            <a:endParaRPr dirty="0">
              <a:latin typeface="Arial" panose="020B0604020202020204" pitchFamily="34" charset="0"/>
            </a:endParaRPr>
          </a:p>
        </p:txBody>
      </p:sp>
      <p:sp>
        <p:nvSpPr>
          <p:cNvPr id="76826" name="TextBox 42"/>
          <p:cNvSpPr txBox="1"/>
          <p:nvPr/>
        </p:nvSpPr>
        <p:spPr>
          <a:xfrm>
            <a:off x="76200" y="4852988"/>
            <a:ext cx="1143000" cy="381000"/>
          </a:xfrm>
          <a:prstGeom prst="rect">
            <a:avLst/>
          </a:prstGeom>
          <a:noFill/>
          <a:ln w="9525">
            <a:noFill/>
          </a:ln>
        </p:spPr>
        <p:txBody>
          <a:bodyPr>
            <a:spAutoFit/>
          </a:bodyPr>
          <a:p>
            <a:pPr>
              <a:spcBef>
                <a:spcPct val="20000"/>
              </a:spcBef>
            </a:pPr>
            <a:r>
              <a:rPr dirty="0">
                <a:latin typeface="Arial" panose="020B0604020202020204" pitchFamily="34" charset="0"/>
              </a:rPr>
              <a:t>SATA</a:t>
            </a:r>
            <a:endParaRPr dirty="0">
              <a:latin typeface="Arial" panose="020B0604020202020204" pitchFamily="34" charset="0"/>
            </a:endParaRPr>
          </a:p>
        </p:txBody>
      </p:sp>
      <p:sp>
        <p:nvSpPr>
          <p:cNvPr id="47" name="TextBox 46"/>
          <p:cNvSpPr txBox="1">
            <a:spLocks noChangeArrowheads="1"/>
          </p:cNvSpPr>
          <p:nvPr/>
        </p:nvSpPr>
        <p:spPr bwMode="auto">
          <a:xfrm>
            <a:off x="685800" y="3024188"/>
            <a:ext cx="990600" cy="368300"/>
          </a:xfrm>
          <a:prstGeom prst="rect">
            <a:avLst/>
          </a:prstGeom>
          <a:gradFill rotWithShape="1">
            <a:gsLst>
              <a:gs pos="0">
                <a:srgbClr val="BCBCBC"/>
              </a:gs>
              <a:gs pos="35001">
                <a:srgbClr val="D0D0D0"/>
              </a:gs>
              <a:gs pos="100000">
                <a:srgbClr val="EDEDED"/>
              </a:gs>
            </a:gsLst>
            <a:lin ang="16200000" scaled="1"/>
          </a:gradFill>
          <a:ln w="9525">
            <a:solidFill>
              <a:srgbClr val="000000"/>
            </a:solidFill>
            <a:miter lim="800000"/>
          </a:ln>
          <a:effectLst>
            <a:outerShdw blurRad="63500" dist="20000" dir="5400000" rotWithShape="0">
              <a:srgbClr val="000000">
                <a:alpha val="37999"/>
              </a:srgbClr>
            </a:outerShdw>
          </a:effectLst>
        </p:spPr>
        <p:txBody>
          <a:bodyPr>
            <a:spAutoFit/>
          </a:bodyPr>
          <a:lstStyle/>
          <a:p>
            <a:pPr marR="0" defTabSz="914400">
              <a:spcBef>
                <a:spcPct val="20000"/>
              </a:spcBef>
              <a:buClrTx/>
              <a:buSzTx/>
              <a:buFontTx/>
              <a:buNone/>
              <a:defRPr/>
            </a:pPr>
            <a:r>
              <a:rPr kumimoji="1" lang="en-US" kern="1200" cap="none" spc="0" normalizeH="0" baseline="0" noProof="0" dirty="0">
                <a:solidFill>
                  <a:schemeClr val="dk1"/>
                </a:solidFill>
                <a:latin typeface="+mn-lt"/>
                <a:ea typeface="+mn-ea"/>
                <a:cs typeface="+mn-cs"/>
              </a:rPr>
              <a:t>USP-V</a:t>
            </a:r>
            <a:endParaRPr kumimoji="1" lang="en-US" kern="1200" cap="none" spc="0" normalizeH="0" baseline="0" noProof="0" dirty="0">
              <a:solidFill>
                <a:schemeClr val="dk1"/>
              </a:solidFill>
              <a:latin typeface="+mn-lt"/>
              <a:ea typeface="+mn-ea"/>
              <a:cs typeface="+mn-cs"/>
            </a:endParaRPr>
          </a:p>
        </p:txBody>
      </p:sp>
      <p:sp>
        <p:nvSpPr>
          <p:cNvPr id="48" name="TextBox 47"/>
          <p:cNvSpPr txBox="1">
            <a:spLocks noChangeArrowheads="1"/>
          </p:cNvSpPr>
          <p:nvPr/>
        </p:nvSpPr>
        <p:spPr bwMode="auto">
          <a:xfrm>
            <a:off x="3276600" y="3035300"/>
            <a:ext cx="914400" cy="369888"/>
          </a:xfrm>
          <a:prstGeom prst="rect">
            <a:avLst/>
          </a:prstGeom>
          <a:gradFill rotWithShape="1">
            <a:gsLst>
              <a:gs pos="0">
                <a:srgbClr val="BCBCBC"/>
              </a:gs>
              <a:gs pos="35001">
                <a:srgbClr val="D0D0D0"/>
              </a:gs>
              <a:gs pos="100000">
                <a:srgbClr val="EDEDED"/>
              </a:gs>
            </a:gsLst>
            <a:lin ang="16200000" scaled="1"/>
          </a:gradFill>
          <a:ln w="9525">
            <a:solidFill>
              <a:srgbClr val="000000"/>
            </a:solidFill>
            <a:miter lim="800000"/>
          </a:ln>
          <a:effectLst>
            <a:outerShdw blurRad="63500" dist="20000" dir="5400000" rotWithShape="0">
              <a:srgbClr val="000000">
                <a:alpha val="37999"/>
              </a:srgbClr>
            </a:outerShdw>
          </a:effectLst>
        </p:spPr>
        <p:txBody>
          <a:bodyPr>
            <a:spAutoFit/>
          </a:bodyPr>
          <a:lstStyle/>
          <a:p>
            <a:pPr marR="0" defTabSz="914400">
              <a:spcBef>
                <a:spcPct val="20000"/>
              </a:spcBef>
              <a:buClrTx/>
              <a:buSzTx/>
              <a:buFontTx/>
              <a:buNone/>
              <a:defRPr/>
            </a:pPr>
            <a:r>
              <a:rPr kumimoji="1" lang="en-US" kern="1200" cap="none" spc="0" normalizeH="0" baseline="0" noProof="0" dirty="0">
                <a:solidFill>
                  <a:schemeClr val="dk1"/>
                </a:solidFill>
                <a:latin typeface="+mn-lt"/>
                <a:ea typeface="+mn-ea"/>
                <a:cs typeface="+mn-cs"/>
              </a:rPr>
              <a:t>HCAP</a:t>
            </a:r>
            <a:endParaRPr kumimoji="1" lang="en-US" kern="1200" cap="none" spc="0" normalizeH="0" baseline="0" noProof="0" dirty="0">
              <a:solidFill>
                <a:schemeClr val="dk1"/>
              </a:solidFill>
              <a:latin typeface="+mn-lt"/>
              <a:ea typeface="+mn-ea"/>
              <a:cs typeface="+mn-cs"/>
            </a:endParaRPr>
          </a:p>
        </p:txBody>
      </p:sp>
      <p:cxnSp>
        <p:nvCxnSpPr>
          <p:cNvPr id="76829" name="Elbow Connector 52"/>
          <p:cNvCxnSpPr>
            <a:endCxn id="47" idx="0"/>
          </p:cNvCxnSpPr>
          <p:nvPr/>
        </p:nvCxnSpPr>
        <p:spPr>
          <a:xfrm rot="5400000">
            <a:off x="1009650" y="2455863"/>
            <a:ext cx="738188" cy="396875"/>
          </a:xfrm>
          <a:prstGeom prst="bentConnector3">
            <a:avLst>
              <a:gd name="adj1" fmla="val 50000"/>
            </a:avLst>
          </a:prstGeom>
          <a:ln w="9525" cap="flat" cmpd="sng">
            <a:solidFill>
              <a:srgbClr val="000000"/>
            </a:solidFill>
            <a:prstDash val="solid"/>
            <a:round/>
            <a:headEnd type="none" w="med" len="med"/>
            <a:tailEnd type="none" w="med" len="med"/>
          </a:ln>
        </p:spPr>
      </p:cxnSp>
      <p:cxnSp>
        <p:nvCxnSpPr>
          <p:cNvPr id="55" name="Elbow Connector 54"/>
          <p:cNvCxnSpPr>
            <a:endCxn id="48" idx="0"/>
          </p:cNvCxnSpPr>
          <p:nvPr/>
        </p:nvCxnSpPr>
        <p:spPr>
          <a:xfrm rot="-5400000" flipH="1">
            <a:off x="2281238" y="1582738"/>
            <a:ext cx="749300" cy="2155825"/>
          </a:xfrm>
          <a:prstGeom prst="bentConnector3">
            <a:avLst>
              <a:gd name="adj1" fmla="val 50000"/>
            </a:avLst>
          </a:prstGeom>
          <a:ln w="9525" cap="flat" cmpd="sng">
            <a:solidFill>
              <a:srgbClr val="000000"/>
            </a:solidFill>
            <a:prstDash val="solid"/>
            <a:round/>
            <a:headEnd type="none" w="med" len="med"/>
            <a:tailEnd type="none" w="med" len="med"/>
          </a:ln>
        </p:spPr>
      </p:cxnSp>
      <p:sp>
        <p:nvSpPr>
          <p:cNvPr id="76831" name="Rectangle 48"/>
          <p:cNvSpPr/>
          <p:nvPr/>
        </p:nvSpPr>
        <p:spPr>
          <a:xfrm>
            <a:off x="762000" y="1676400"/>
            <a:ext cx="3429000" cy="762000"/>
          </a:xfrm>
          <a:prstGeom prst="rect">
            <a:avLst/>
          </a:prstGeom>
          <a:solidFill>
            <a:srgbClr val="CCFFCC">
              <a:alpha val="50195"/>
            </a:srgbClr>
          </a:solidFill>
          <a:ln w="9525" cap="flat" cmpd="sng">
            <a:solidFill>
              <a:schemeClr val="tx1"/>
            </a:solidFill>
            <a:prstDash val="solid"/>
            <a:miter/>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
        <p:nvSpPr>
          <p:cNvPr id="76832" name="TextBox 55"/>
          <p:cNvSpPr txBox="1"/>
          <p:nvPr/>
        </p:nvSpPr>
        <p:spPr>
          <a:xfrm>
            <a:off x="838200" y="2667000"/>
            <a:ext cx="609600" cy="261938"/>
          </a:xfrm>
          <a:prstGeom prst="rect">
            <a:avLst/>
          </a:prstGeom>
          <a:noFill/>
          <a:ln w="9525">
            <a:noFill/>
          </a:ln>
        </p:spPr>
        <p:txBody>
          <a:bodyPr>
            <a:spAutoFit/>
          </a:bodyPr>
          <a:p>
            <a:pPr>
              <a:spcBef>
                <a:spcPct val="20000"/>
              </a:spcBef>
            </a:pPr>
            <a:r>
              <a:rPr sz="1100" dirty="0">
                <a:latin typeface="Arial" panose="020B0604020202020204" pitchFamily="34" charset="0"/>
              </a:rPr>
              <a:t>FC</a:t>
            </a:r>
            <a:endParaRPr sz="1100" dirty="0">
              <a:latin typeface="Arial" panose="020B0604020202020204" pitchFamily="34" charset="0"/>
            </a:endParaRPr>
          </a:p>
        </p:txBody>
      </p:sp>
      <p:sp>
        <p:nvSpPr>
          <p:cNvPr id="57" name="TextBox 56"/>
          <p:cNvSpPr txBox="1"/>
          <p:nvPr/>
        </p:nvSpPr>
        <p:spPr>
          <a:xfrm>
            <a:off x="3124200" y="2667000"/>
            <a:ext cx="838200" cy="261938"/>
          </a:xfrm>
          <a:prstGeom prst="rect">
            <a:avLst/>
          </a:prstGeom>
          <a:noFill/>
          <a:ln w="9525">
            <a:noFill/>
          </a:ln>
        </p:spPr>
        <p:txBody>
          <a:bodyPr>
            <a:spAutoFit/>
          </a:bodyPr>
          <a:p>
            <a:pPr>
              <a:spcBef>
                <a:spcPct val="20000"/>
              </a:spcBef>
            </a:pPr>
            <a:r>
              <a:rPr sz="1100" dirty="0">
                <a:latin typeface="Arial" panose="020B0604020202020204" pitchFamily="34" charset="0"/>
              </a:rPr>
              <a:t>NFSv3</a:t>
            </a:r>
            <a:endParaRPr sz="1100" dirty="0">
              <a:latin typeface="Arial" panose="020B0604020202020204" pitchFamily="34" charset="0"/>
            </a:endParaRPr>
          </a:p>
        </p:txBody>
      </p:sp>
      <p:sp>
        <p:nvSpPr>
          <p:cNvPr id="76834" name="TextBox 57"/>
          <p:cNvSpPr txBox="1"/>
          <p:nvPr/>
        </p:nvSpPr>
        <p:spPr>
          <a:xfrm>
            <a:off x="5638800" y="1143000"/>
            <a:ext cx="3200400" cy="369888"/>
          </a:xfrm>
          <a:prstGeom prst="rect">
            <a:avLst/>
          </a:prstGeom>
          <a:noFill/>
          <a:ln w="9525">
            <a:noFill/>
          </a:ln>
        </p:spPr>
        <p:txBody>
          <a:bodyPr>
            <a:spAutoFit/>
          </a:bodyPr>
          <a:p>
            <a:pPr>
              <a:spcBef>
                <a:spcPct val="20000"/>
              </a:spcBef>
            </a:pPr>
            <a:r>
              <a:rPr b="1" dirty="0">
                <a:latin typeface="Arial" panose="020B0604020202020204" pitchFamily="34" charset="0"/>
              </a:rPr>
              <a:t>Example policies:</a:t>
            </a:r>
            <a:endParaRPr b="1" dirty="0">
              <a:latin typeface="Arial" panose="020B0604020202020204" pitchFamily="34" charset="0"/>
            </a:endParaRPr>
          </a:p>
        </p:txBody>
      </p:sp>
      <p:sp>
        <p:nvSpPr>
          <p:cNvPr id="59" name="TextBox 58"/>
          <p:cNvSpPr txBox="1"/>
          <p:nvPr/>
        </p:nvSpPr>
        <p:spPr>
          <a:xfrm>
            <a:off x="5562600" y="1676400"/>
            <a:ext cx="3124200" cy="923925"/>
          </a:xfrm>
          <a:prstGeom prst="rect">
            <a:avLst/>
          </a:prstGeom>
          <a:noFill/>
          <a:ln w="9525">
            <a:noFill/>
          </a:ln>
        </p:spPr>
        <p:txBody>
          <a:bodyPr>
            <a:spAutoFit/>
          </a:bodyPr>
          <a:p>
            <a:pPr marL="342900" indent="-342900">
              <a:spcBef>
                <a:spcPct val="20000"/>
              </a:spcBef>
              <a:buAutoNum type="arabicParenR"/>
            </a:pPr>
            <a:r>
              <a:rPr dirty="0">
                <a:latin typeface="Arial" panose="020B0604020202020204" pitchFamily="34" charset="0"/>
              </a:rPr>
              <a:t>Regardless of file type if bigger than 20MB move to Tier-2</a:t>
            </a:r>
            <a:endParaRPr dirty="0">
              <a:latin typeface="Arial" panose="020B0604020202020204" pitchFamily="34" charset="0"/>
            </a:endParaRPr>
          </a:p>
        </p:txBody>
      </p:sp>
      <p:sp>
        <p:nvSpPr>
          <p:cNvPr id="60" name="Rectangle 59"/>
          <p:cNvSpPr/>
          <p:nvPr/>
        </p:nvSpPr>
        <p:spPr>
          <a:xfrm>
            <a:off x="5562600" y="2590800"/>
            <a:ext cx="3200400" cy="646113"/>
          </a:xfrm>
          <a:prstGeom prst="rect">
            <a:avLst/>
          </a:prstGeom>
          <a:noFill/>
          <a:ln w="9525">
            <a:noFill/>
          </a:ln>
        </p:spPr>
        <p:txBody>
          <a:bodyPr>
            <a:spAutoFit/>
          </a:bodyPr>
          <a:p>
            <a:pPr marL="342900" indent="-342900">
              <a:spcBef>
                <a:spcPct val="20000"/>
              </a:spcBef>
              <a:buFont typeface="Helvetica" charset="0"/>
              <a:buAutoNum type="arabicParenR" startAt="2"/>
            </a:pPr>
            <a:r>
              <a:rPr dirty="0">
                <a:latin typeface="Arial" panose="020B0604020202020204" pitchFamily="34" charset="0"/>
              </a:rPr>
              <a:t>If file 6 months old move to HCAP</a:t>
            </a:r>
            <a:endParaRPr dirty="0">
              <a:latin typeface="Arial" panose="020B0604020202020204" pitchFamily="34" charset="0"/>
            </a:endParaRPr>
          </a:p>
        </p:txBody>
      </p:sp>
      <p:sp>
        <p:nvSpPr>
          <p:cNvPr id="14" name="AutoShape 56"/>
          <p:cNvSpPr>
            <a:spLocks noChangeArrowheads="1"/>
          </p:cNvSpPr>
          <p:nvPr/>
        </p:nvSpPr>
        <p:spPr bwMode="auto">
          <a:xfrm>
            <a:off x="1447800" y="1143000"/>
            <a:ext cx="323850" cy="312738"/>
          </a:xfrm>
          <a:prstGeom prst="flowChartDocument">
            <a:avLst/>
          </a:prstGeom>
          <a:solidFill>
            <a:schemeClr val="accent1">
              <a:lumMod val="60000"/>
              <a:lumOff val="40000"/>
              <a:alpha val="50000"/>
            </a:schemeClr>
          </a:solidFill>
          <a:ln w="9525">
            <a:solidFill>
              <a:schemeClr val="tx1"/>
            </a:solidFill>
            <a:miter lim="800000"/>
          </a:ln>
          <a:effectLst/>
        </p:spPr>
        <p:txBody>
          <a:bodyPr wrap="none" anchor="ct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rPr>
              <a:t>PPT</a:t>
            </a:r>
            <a:endParaRPr kumimoji="0" lang="en-US" sz="1400" b="0" i="0" u="none" strike="noStrike" kern="1200" cap="none" spc="0" normalizeH="0" baseline="-25000" noProof="0">
              <a:ln>
                <a:noFill/>
              </a:ln>
              <a:solidFill>
                <a:schemeClr val="tx1"/>
              </a:solidFill>
              <a:effectLst/>
              <a:uLnTx/>
              <a:uFillTx/>
              <a:latin typeface="Helvetica" charset="0"/>
              <a:ea typeface="MS PGothic" charset="-128"/>
              <a:cs typeface="Arial" panose="020B0604020202020204" pitchFamily="34" charset="0"/>
            </a:endParaRPr>
          </a:p>
        </p:txBody>
      </p:sp>
      <p:sp>
        <p:nvSpPr>
          <p:cNvPr id="61" name="Oval 60"/>
          <p:cNvSpPr/>
          <p:nvPr/>
        </p:nvSpPr>
        <p:spPr>
          <a:xfrm>
            <a:off x="1143000" y="4114800"/>
            <a:ext cx="152400" cy="152400"/>
          </a:xfrm>
          <a:prstGeom prst="ellipse">
            <a:avLst/>
          </a:prstGeom>
          <a:solidFill>
            <a:srgbClr val="00B050"/>
          </a:solidFill>
          <a:ln w="9525" cap="flat" cmpd="sng">
            <a:solidFill>
              <a:schemeClr val="tx1"/>
            </a:solidFill>
            <a:prstDash val="solid"/>
            <a:headEnd type="none" w="med" len="med"/>
            <a:tailEnd type="none" w="med" len="med"/>
          </a:ln>
        </p:spPr>
        <p:txBody>
          <a:bodyPr/>
          <a:p>
            <a:pPr marL="381000" indent="-381000" defTabSz="914400">
              <a:spcBef>
                <a:spcPct val="20000"/>
              </a:spcBef>
              <a:buChar char="•"/>
              <a:tabLst>
                <a:tab pos="2246630" algn="l"/>
                <a:tab pos="2514600" algn="l"/>
              </a:tabLst>
            </a:pPr>
            <a:endParaRPr dirty="0">
              <a:latin typeface="Arial" panose="020B0604020202020204" pitchFamily="34" charset="0"/>
            </a:endParaRPr>
          </a:p>
        </p:txBody>
      </p:sp>
      <p:sp>
        <p:nvSpPr>
          <p:cNvPr id="62" name="TextBox 61"/>
          <p:cNvSpPr txBox="1"/>
          <p:nvPr/>
        </p:nvSpPr>
        <p:spPr>
          <a:xfrm>
            <a:off x="1066800" y="4191000"/>
            <a:ext cx="685800" cy="517525"/>
          </a:xfrm>
          <a:prstGeom prst="rect">
            <a:avLst/>
          </a:prstGeom>
          <a:noFill/>
          <a:ln w="9525">
            <a:noFill/>
          </a:ln>
        </p:spPr>
        <p:txBody>
          <a:bodyPr>
            <a:spAutoFit/>
          </a:bodyPr>
          <a:p>
            <a:pPr>
              <a:spcBef>
                <a:spcPct val="20000"/>
              </a:spcBef>
            </a:pPr>
            <a:r>
              <a:rPr sz="1400" dirty="0">
                <a:latin typeface="Arial" panose="020B0604020202020204" pitchFamily="34" charset="0"/>
              </a:rPr>
              <a:t>Stub (1Kb)</a:t>
            </a:r>
            <a:endParaRPr sz="1400" dirty="0">
              <a:latin typeface="Arial" panose="020B0604020202020204" pitchFamily="34" charset="0"/>
            </a:endParaRPr>
          </a:p>
        </p:txBody>
      </p:sp>
      <p:sp>
        <p:nvSpPr>
          <p:cNvPr id="5" name="AutoShape 11"/>
          <p:cNvSpPr>
            <a:spLocks noChangeArrowheads="1"/>
          </p:cNvSpPr>
          <p:nvPr/>
        </p:nvSpPr>
        <p:spPr bwMode="auto">
          <a:xfrm>
            <a:off x="1938338" y="1158875"/>
            <a:ext cx="323850" cy="312738"/>
          </a:xfrm>
          <a:prstGeom prst="flowChartDocument">
            <a:avLst/>
          </a:prstGeom>
          <a:solidFill>
            <a:schemeClr val="accent1">
              <a:lumMod val="60000"/>
              <a:lumOff val="40000"/>
              <a:alpha val="50000"/>
            </a:schemeClr>
          </a:solidFill>
          <a:ln w="9525">
            <a:solidFill>
              <a:schemeClr val="tx1"/>
            </a:solidFill>
            <a:miter lim="800000"/>
          </a:ln>
          <a:effectLst/>
        </p:spPr>
        <p:txBody>
          <a:bodyPr wrap="none" anchor="ct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0" lang="en-US" sz="1400" b="0" i="0" u="none" strike="noStrike" kern="1200" cap="none" spc="0" normalizeH="0" baseline="-25000" noProof="0" dirty="0">
                <a:ln>
                  <a:noFill/>
                </a:ln>
                <a:solidFill>
                  <a:schemeClr val="tx1"/>
                </a:solidFill>
                <a:effectLst/>
                <a:uLnTx/>
                <a:uFillTx/>
                <a:latin typeface="Helvetica" charset="0"/>
                <a:ea typeface="MS PGothic" charset="-128"/>
                <a:cs typeface="Arial" panose="020B0604020202020204" pitchFamily="34" charset="0"/>
              </a:rPr>
              <a:t>DOC</a:t>
            </a:r>
            <a:endParaRPr kumimoji="0" lang="en-US" sz="1400" b="0" i="0" u="none" strike="noStrike" kern="1200" cap="none" spc="0" normalizeH="0" baseline="-25000" noProof="0" dirty="0">
              <a:ln>
                <a:noFill/>
              </a:ln>
              <a:solidFill>
                <a:schemeClr val="tx1"/>
              </a:solidFill>
              <a:effectLst/>
              <a:uLnTx/>
              <a:uFillTx/>
              <a:latin typeface="Helvetica" charset="0"/>
              <a:ea typeface="MS PGothic" charset="-128"/>
              <a:cs typeface="Arial" panose="020B0604020202020204" pitchFamily="34" charset="0"/>
            </a:endParaRPr>
          </a:p>
        </p:txBody>
      </p:sp>
      <p:sp>
        <p:nvSpPr>
          <p:cNvPr id="63" name="TextBox 62"/>
          <p:cNvSpPr txBox="1"/>
          <p:nvPr/>
        </p:nvSpPr>
        <p:spPr>
          <a:xfrm>
            <a:off x="5105400" y="3276600"/>
            <a:ext cx="3657600" cy="2898775"/>
          </a:xfrm>
          <a:prstGeom prst="rect">
            <a:avLst/>
          </a:prstGeom>
          <a:noFill/>
          <a:ln w="9525">
            <a:noFill/>
          </a:ln>
        </p:spPr>
        <p:txBody>
          <a:bodyPr>
            <a:spAutoFit/>
          </a:bodyPr>
          <a:p>
            <a:pPr>
              <a:spcBef>
                <a:spcPct val="20000"/>
              </a:spcBef>
            </a:pPr>
            <a:r>
              <a:rPr sz="1600" b="1" dirty="0">
                <a:latin typeface="Arial" panose="020B0604020202020204" pitchFamily="34" charset="0"/>
              </a:rPr>
              <a:t>Advantages:</a:t>
            </a:r>
            <a:endParaRPr sz="700" b="1" dirty="0">
              <a:latin typeface="Arial" panose="020B0604020202020204" pitchFamily="34" charset="0"/>
            </a:endParaRPr>
          </a:p>
          <a:p>
            <a:pPr>
              <a:spcBef>
                <a:spcPct val="20000"/>
              </a:spcBef>
            </a:pPr>
            <a:r>
              <a:rPr sz="1600" b="1" dirty="0">
                <a:latin typeface="Arial" panose="020B0604020202020204" pitchFamily="34" charset="0"/>
              </a:rPr>
              <a:t>CVL: </a:t>
            </a:r>
            <a:r>
              <a:rPr sz="1600" dirty="0">
                <a:latin typeface="Arial" panose="020B0604020202020204" pitchFamily="34" charset="0"/>
              </a:rPr>
              <a:t>Allows tiering between on FC attached file systems e.g. FC to SATA on same array or between multiple arrays</a:t>
            </a:r>
            <a:endParaRPr sz="1600" dirty="0">
              <a:latin typeface="Arial" panose="020B0604020202020204" pitchFamily="34" charset="0"/>
            </a:endParaRPr>
          </a:p>
          <a:p>
            <a:pPr>
              <a:spcBef>
                <a:spcPct val="20000"/>
              </a:spcBef>
            </a:pPr>
            <a:r>
              <a:rPr sz="1600" b="1" dirty="0">
                <a:latin typeface="Arial" panose="020B0604020202020204" pitchFamily="34" charset="0"/>
              </a:rPr>
              <a:t>XVL: </a:t>
            </a:r>
            <a:r>
              <a:rPr sz="1600" dirty="0">
                <a:latin typeface="Arial" panose="020B0604020202020204" pitchFamily="34" charset="0"/>
              </a:rPr>
              <a:t>Allows tiering between internal disks and external NFSv3 mounted  file systems. In the case of HCAP a single file system of 80PB which is single file instanced and compressed can be the target.</a:t>
            </a:r>
            <a:endParaRPr sz="1600" dirty="0">
              <a:latin typeface="Arial" panose="020B0604020202020204" pitchFamily="34" charset="0"/>
            </a:endParaRPr>
          </a:p>
        </p:txBody>
      </p:sp>
      <p:sp>
        <p:nvSpPr>
          <p:cNvPr id="2" name="TextBox 61"/>
          <p:cNvSpPr txBox="1"/>
          <p:nvPr/>
        </p:nvSpPr>
        <p:spPr>
          <a:xfrm>
            <a:off x="533400" y="4206875"/>
            <a:ext cx="1371600" cy="517525"/>
          </a:xfrm>
          <a:prstGeom prst="rect">
            <a:avLst/>
          </a:prstGeom>
          <a:noFill/>
          <a:ln w="9525">
            <a:noFill/>
          </a:ln>
        </p:spPr>
        <p:txBody>
          <a:bodyPr>
            <a:spAutoFit/>
          </a:bodyPr>
          <a:p>
            <a:pPr>
              <a:spcBef>
                <a:spcPct val="20000"/>
              </a:spcBef>
            </a:pPr>
            <a:r>
              <a:rPr sz="1400" dirty="0">
                <a:latin typeface="Arial" panose="020B0604020202020204" pitchFamily="34" charset="0"/>
              </a:rPr>
              <a:t>Stub (bs of FS + metadata)</a:t>
            </a:r>
            <a:endParaRPr sz="1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43 0.02546 C -0.00451 0.13542 -0.00382 0.07616 -0.00382 0.20324 C -0.01684 0.19167 -0.03316 0.20857 -0.04687 0.19954 C -0.03003 0.26644 -0.04687 0.35162 -0.04687 0.42546 " pathEditMode="relative" ptsTypes="fffA">
                                      <p:cBhvr>
                                        <p:cTn id="6" dur="2000" fill="hold"/>
                                        <p:tgtEl>
                                          <p:spTgt spid="14"/>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blinds(horizontal)">
                                      <p:cBhvr>
                                        <p:cTn id="11" dur="500"/>
                                        <p:tgtEl>
                                          <p:spTgt spid="61"/>
                                        </p:tgtEl>
                                      </p:cBhvr>
                                    </p:animEffect>
                                  </p:childTnLst>
                                </p:cTn>
                              </p:par>
                              <p:par>
                                <p:cTn id="12" presetID="3" presetClass="emph" presetSubtype="2" fill="hold" nodeType="withEffect">
                                  <p:stCondLst>
                                    <p:cond delay="0"/>
                                  </p:stCondLst>
                                  <p:childTnLst>
                                    <p:animClr clrSpc="rgb" dir="cw">
                                      <p:cBhvr override="childStyle">
                                        <p:cTn id="13" dur="500" fill="hold"/>
                                        <p:tgtEl>
                                          <p:spTgt spid="59">
                                            <p:txEl>
                                              <p:charRg st="0" end="59"/>
                                            </p:txEl>
                                          </p:spTgt>
                                        </p:tgtEl>
                                        <p:attrNameLst>
                                          <p:attrName>style.color</p:attrName>
                                        </p:attrNameLst>
                                      </p:cBhvr>
                                      <p:to>
                                        <a:srgbClr val="FF0000"/>
                                      </p:to>
                                    </p:animClr>
                                  </p:childTnLst>
                                </p:cTn>
                              </p:par>
                              <p:par>
                                <p:cTn id="14" presetID="42" presetClass="path" presetSubtype="0" accel="50000" decel="50000" fill="hold" grpId="1" nodeType="withEffect">
                                  <p:stCondLst>
                                    <p:cond delay="0"/>
                                  </p:stCondLst>
                                  <p:childTnLst>
                                    <p:animMotion origin="layout" path="M -0.04687 0.42176 L -0.04687 0.54398 " pathEditMode="relative" rAng="0" ptsTypes="AA">
                                      <p:cBhvr>
                                        <p:cTn id="15" dur="2000" fill="hold"/>
                                        <p:tgtEl>
                                          <p:spTgt spid="14"/>
                                        </p:tgtEl>
                                        <p:attrNameLst>
                                          <p:attrName>ppt_x</p:attrName>
                                          <p:attrName>ppt_y</p:attrName>
                                        </p:attrNameLst>
                                      </p:cBhvr>
                                      <p:rCtr x="0" y="6100"/>
                                    </p:animMotion>
                                  </p:childTnLst>
                                </p:cTn>
                              </p:par>
                              <p:par>
                                <p:cTn id="16" presetID="3" presetClass="entr" presetSubtype="10" fill="hold" grpId="0"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blinds(horizontal)">
                                      <p:cBhvr>
                                        <p:cTn id="18" dur="500"/>
                                        <p:tgtEl>
                                          <p:spTgt spid="62"/>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blinds(horizontal)">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xit" presetSubtype="10" fill="hold" grpId="2" nodeType="clickEffect">
                                  <p:stCondLst>
                                    <p:cond delay="0"/>
                                  </p:stCondLst>
                                  <p:childTnLst>
                                    <p:animEffect transition="out" filter="blinds(horizontal)">
                                      <p:cBhvr>
                                        <p:cTn id="25" dur="500"/>
                                        <p:tgtEl>
                                          <p:spTgt spid="14"/>
                                        </p:tgtEl>
                                      </p:cBhvr>
                                    </p:animEffect>
                                    <p:set>
                                      <p:cBhvr>
                                        <p:cTn id="26" dur="1" fill="hold">
                                          <p:stCondLst>
                                            <p:cond delay="499"/>
                                          </p:stCondLst>
                                        </p:cTn>
                                        <p:tgtEl>
                                          <p:spTgt spid="14"/>
                                        </p:tgtEl>
                                        <p:attrNameLst>
                                          <p:attrName>style.visibility</p:attrName>
                                        </p:attrNameLst>
                                      </p:cBhvr>
                                      <p:to>
                                        <p:strVal val="hidden"/>
                                      </p:to>
                                    </p:set>
                                  </p:childTnLst>
                                </p:cTn>
                              </p:par>
                              <p:par>
                                <p:cTn id="27" presetID="3" presetClass="exit" presetSubtype="10" fill="hold" grpId="1" nodeType="withEffect">
                                  <p:stCondLst>
                                    <p:cond delay="0"/>
                                  </p:stCondLst>
                                  <p:childTnLst>
                                    <p:animEffect transition="out" filter="blinds(horizontal)">
                                      <p:cBhvr>
                                        <p:cTn id="28" dur="500"/>
                                        <p:tgtEl>
                                          <p:spTgt spid="62"/>
                                        </p:tgtEl>
                                      </p:cBhvr>
                                    </p:animEffect>
                                    <p:set>
                                      <p:cBhvr>
                                        <p:cTn id="29" dur="1" fill="hold">
                                          <p:stCondLst>
                                            <p:cond delay="499"/>
                                          </p:stCondLst>
                                        </p:cTn>
                                        <p:tgtEl>
                                          <p:spTgt spid="62"/>
                                        </p:tgtEl>
                                        <p:attrNameLst>
                                          <p:attrName>style.visibility</p:attrName>
                                        </p:attrNameLst>
                                      </p:cBhvr>
                                      <p:to>
                                        <p:strVal val="hidden"/>
                                      </p:to>
                                    </p:set>
                                  </p:childTnLst>
                                </p:cTn>
                              </p:par>
                              <p:par>
                                <p:cTn id="30" presetID="3" presetClass="exit" presetSubtype="10" fill="hold" grpId="1" nodeType="withEffect">
                                  <p:stCondLst>
                                    <p:cond delay="0"/>
                                  </p:stCondLst>
                                  <p:childTnLst>
                                    <p:animEffect transition="out" filter="blinds(horizontal)">
                                      <p:cBhvr>
                                        <p:cTn id="31" dur="500"/>
                                        <p:tgtEl>
                                          <p:spTgt spid="61"/>
                                        </p:tgtEl>
                                      </p:cBhvr>
                                    </p:animEffect>
                                    <p:set>
                                      <p:cBhvr>
                                        <p:cTn id="32" dur="1" fill="hold">
                                          <p:stCondLst>
                                            <p:cond delay="499"/>
                                          </p:stCondLst>
                                        </p:cTn>
                                        <p:tgtEl>
                                          <p:spTgt spid="61"/>
                                        </p:tgtEl>
                                        <p:attrNameLst>
                                          <p:attrName>style.visibility</p:attrName>
                                        </p:attrNameLst>
                                      </p:cBhvr>
                                      <p:to>
                                        <p:strVal val="hidden"/>
                                      </p:to>
                                    </p:set>
                                  </p:childTnLst>
                                </p:cTn>
                              </p:par>
                              <p:par>
                                <p:cTn id="33" presetID="3" presetClass="emph" presetSubtype="2" fill="hold" nodeType="withEffect">
                                  <p:stCondLst>
                                    <p:cond delay="0"/>
                                  </p:stCondLst>
                                  <p:childTnLst>
                                    <p:animClr clrSpc="rgb" dir="cw">
                                      <p:cBhvr override="childStyle">
                                        <p:cTn id="34" dur="2000" fill="hold"/>
                                        <p:tgtEl>
                                          <p:spTgt spid="59">
                                            <p:txEl>
                                              <p:charRg st="0" end="59"/>
                                            </p:txEl>
                                          </p:spTgt>
                                        </p:tgtEl>
                                        <p:attrNameLst>
                                          <p:attrName>style.color</p:attrName>
                                        </p:attrNameLst>
                                      </p:cBhvr>
                                      <p:to>
                                        <a:schemeClr val="tx1"/>
                                      </p:to>
                                    </p:animClr>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0" nodeType="clickEffect">
                                  <p:stCondLst>
                                    <p:cond delay="0"/>
                                  </p:stCondLst>
                                  <p:childTnLst>
                                    <p:animMotion origin="layout" path="M 0.00087 0.03426 C -0.00295 0.07014 -0.02483 0.05347 -0.05469 0.05463 C -0.09549 0.07268 -0.05452 0.05254 -0.06163 0.21018 C -0.06181 0.21203 -0.06441 0.2118 -0.0658 0.21203 C -0.07639 0.21319 -0.08715 0.21319 -0.09774 0.21389 C -0.10191 0.23032 -0.10035 0.22245 -0.10052 0.25648 C -0.10087 0.31088 -0.10052 0.36504 -0.10052 0.41944 " pathEditMode="relative" ptsTypes="ffffffA">
                                      <p:cBhvr>
                                        <p:cTn id="38" dur="2000" fill="hold"/>
                                        <p:tgtEl>
                                          <p:spTgt spid="5"/>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2" nodeType="click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blinds(horizontal)">
                                      <p:cBhvr>
                                        <p:cTn id="43" dur="500"/>
                                        <p:tgtEl>
                                          <p:spTgt spid="61"/>
                                        </p:tgtEl>
                                      </p:cBhvr>
                                    </p:animEffect>
                                  </p:childTnLst>
                                </p:cTn>
                              </p:par>
                              <p:par>
                                <p:cTn id="44" presetID="3" presetClass="entr" presetSubtype="10" fill="hold" nodeType="with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blinds(horizontal)">
                                      <p:cBhvr>
                                        <p:cTn id="46" dur="500"/>
                                        <p:tgtEl>
                                          <p:spTgt spid="55"/>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blinds(horizontal)">
                                      <p:cBhvr>
                                        <p:cTn id="49" dur="500"/>
                                        <p:tgtEl>
                                          <p:spTgt spid="57"/>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blinds(horizontal)">
                                      <p:cBhvr>
                                        <p:cTn id="52" dur="500"/>
                                        <p:tgtEl>
                                          <p:spTgt spid="2"/>
                                        </p:tgtEl>
                                      </p:cBhvr>
                                    </p:animEffect>
                                  </p:childTnLst>
                                </p:cTn>
                              </p:par>
                              <p:par>
                                <p:cTn id="53" presetID="0" presetClass="path" presetSubtype="0" accel="50000" decel="50000" fill="hold" grpId="1" nodeType="withEffect">
                                  <p:stCondLst>
                                    <p:cond delay="0"/>
                                  </p:stCondLst>
                                  <p:childTnLst>
                                    <p:animMotion origin="layout" path="M -0.09931 0.40694 C -0.09983 0.36828 -0.0967 0.29305 -0.10347 0.24768 C -0.10174 0.17129 -0.11302 0.18611 -0.05903 0.18102 C -0.05087 0.225 -0.05938 0.18889 0.02708 0.19027 C 0.0776 0.19097 0.14514 0.14166 0.17847 0.19213 C 0.21614 0.24907 0.17847 0.34398 0.17847 0.4199 " pathEditMode="relative" rAng="0" ptsTypes="fffffA">
                                      <p:cBhvr>
                                        <p:cTn id="54" dur="2000" fill="hold"/>
                                        <p:tgtEl>
                                          <p:spTgt spid="5"/>
                                        </p:tgtEl>
                                        <p:attrNameLst>
                                          <p:attrName>ppt_x</p:attrName>
                                          <p:attrName>ppt_y</p:attrName>
                                        </p:attrNameLst>
                                      </p:cBhvr>
                                      <p:rCtr x="15100" y="-12600"/>
                                    </p:animMotion>
                                  </p:childTnLst>
                                </p:cTn>
                              </p:par>
                              <p:par>
                                <p:cTn id="55" presetID="3" presetClass="emph" presetSubtype="2" fill="hold" nodeType="withEffect">
                                  <p:stCondLst>
                                    <p:cond delay="0"/>
                                  </p:stCondLst>
                                  <p:childTnLst>
                                    <p:animClr clrSpc="rgb" dir="cw">
                                      <p:cBhvr override="childStyle">
                                        <p:cTn id="56" dur="500" fill="hold"/>
                                        <p:tgtEl>
                                          <p:spTgt spid="60">
                                            <p:txEl>
                                              <p:charRg st="0" end="34"/>
                                            </p:txEl>
                                          </p:spTgt>
                                        </p:tgtEl>
                                        <p:attrNameLst>
                                          <p:attrName>style.color</p:attrName>
                                        </p:attrNameLst>
                                      </p:cBhvr>
                                      <p:to>
                                        <a:srgbClr val="FF0000"/>
                                      </p:to>
                                    </p:animClr>
                                  </p:childTnLst>
                                </p:cTn>
                              </p:par>
                              <p:par>
                                <p:cTn id="57" presetID="3" presetClass="entr" presetSubtype="1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blinds(horizontal)">
                                      <p:cBhvr>
                                        <p:cTn id="59" dur="500"/>
                                        <p:tgtEl>
                                          <p:spTgt spid="33"/>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blinds(horizontal)">
                                      <p:cBhvr>
                                        <p:cTn id="64"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57" grpId="0"/>
      <p:bldP spid="14" grpId="0" animBg="1"/>
      <p:bldP spid="14" grpId="1" animBg="1"/>
      <p:bldP spid="14" grpId="2" animBg="1"/>
      <p:bldP spid="61" grpId="0" animBg="1"/>
      <p:bldP spid="61" grpId="1" animBg="1"/>
      <p:bldP spid="61" grpId="2" animBg="1"/>
      <p:bldP spid="62" grpId="0"/>
      <p:bldP spid="62" grpId="1"/>
      <p:bldP spid="5" grpId="0" animBg="1"/>
      <p:bldP spid="5" grpId="1" animBg="1"/>
      <p:bldP spid="63"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p:nvPr/>
        </p:nvSpPr>
        <p:spPr>
          <a:xfrm>
            <a:off x="304800" y="1219200"/>
            <a:ext cx="4038600" cy="4876800"/>
          </a:xfrm>
          <a:prstGeom prst="rect">
            <a:avLst/>
          </a:prstGeom>
          <a:solidFill>
            <a:schemeClr val="bg1"/>
          </a:solidFill>
          <a:ln w="28575" cap="flat" cmpd="sng">
            <a:solidFill>
              <a:srgbClr val="99CC00"/>
            </a:solidFill>
            <a:prstDash val="solid"/>
            <a:miter/>
            <a:headEnd type="none" w="med" len="med"/>
            <a:tailEnd type="none" w="med" len="med"/>
          </a:ln>
        </p:spPr>
        <p:txBody>
          <a:bodyPr wrap="none" anchor="ctr" anchorCtr="0"/>
          <a:p>
            <a:endParaRPr dirty="0">
              <a:solidFill>
                <a:schemeClr val="tx1"/>
              </a:solidFill>
              <a:latin typeface="Arial" panose="020B0604020202020204" pitchFamily="34" charset="0"/>
            </a:endParaRPr>
          </a:p>
        </p:txBody>
      </p:sp>
      <p:sp>
        <p:nvSpPr>
          <p:cNvPr id="78850" name="Rectangle 3"/>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iSCSI Overview</a:t>
            </a:r>
            <a:endParaRPr dirty="0">
              <a:solidFill>
                <a:schemeClr val="tx1"/>
              </a:solidFill>
            </a:endParaRPr>
          </a:p>
        </p:txBody>
      </p:sp>
      <p:sp>
        <p:nvSpPr>
          <p:cNvPr id="78851" name="Rectangle 4"/>
          <p:cNvSpPr>
            <a:spLocks noGrp="1"/>
          </p:cNvSpPr>
          <p:nvPr>
            <p:ph idx="1"/>
          </p:nvPr>
        </p:nvSpPr>
        <p:spPr>
          <a:xfrm>
            <a:off x="4560888" y="1189038"/>
            <a:ext cx="4441825" cy="4525962"/>
          </a:xfrm>
          <a:ln/>
        </p:spPr>
        <p:txBody>
          <a:bodyPr vert="horz" wrap="square" lIns="91440" tIns="45720" rIns="91440" bIns="45720" anchor="t" anchorCtr="0"/>
          <a:p>
            <a:pPr eaLnBrk="1" hangingPunct="1">
              <a:lnSpc>
                <a:spcPct val="85000"/>
              </a:lnSpc>
              <a:buNone/>
              <a:tabLst>
                <a:tab pos="1371600" algn="l"/>
              </a:tabLst>
            </a:pPr>
            <a:r>
              <a:rPr sz="1800" dirty="0">
                <a:solidFill>
                  <a:schemeClr val="tx1"/>
                </a:solidFill>
              </a:rPr>
              <a:t>Features:</a:t>
            </a:r>
            <a:endParaRPr sz="1800" dirty="0">
              <a:solidFill>
                <a:schemeClr val="tx1"/>
              </a:solidFill>
            </a:endParaRPr>
          </a:p>
          <a:p>
            <a:pPr eaLnBrk="1" hangingPunct="1">
              <a:tabLst>
                <a:tab pos="1371600" algn="l"/>
              </a:tabLst>
            </a:pPr>
            <a:r>
              <a:rPr sz="1600" dirty="0">
                <a:solidFill>
                  <a:schemeClr val="tx1"/>
                </a:solidFill>
              </a:rPr>
              <a:t>NAS and iSCSI in a single system</a:t>
            </a:r>
            <a:endParaRPr sz="1600" dirty="0">
              <a:solidFill>
                <a:schemeClr val="tx1"/>
              </a:solidFill>
            </a:endParaRPr>
          </a:p>
          <a:p>
            <a:pPr eaLnBrk="1" hangingPunct="1">
              <a:tabLst>
                <a:tab pos="1371600" algn="l"/>
              </a:tabLst>
            </a:pPr>
            <a:r>
              <a:rPr sz="1600" dirty="0">
                <a:solidFill>
                  <a:schemeClr val="tx1"/>
                </a:solidFill>
              </a:rPr>
              <a:t>Wire speed performance</a:t>
            </a:r>
            <a:endParaRPr sz="1600" dirty="0">
              <a:solidFill>
                <a:schemeClr val="tx1"/>
              </a:solidFill>
            </a:endParaRPr>
          </a:p>
          <a:p>
            <a:pPr eaLnBrk="1" hangingPunct="1">
              <a:tabLst>
                <a:tab pos="1371600" algn="l"/>
              </a:tabLst>
            </a:pPr>
            <a:r>
              <a:rPr sz="1600" dirty="0">
                <a:solidFill>
                  <a:schemeClr val="tx1"/>
                </a:solidFill>
              </a:rPr>
              <a:t>Maximum 8,192 LUNs per node</a:t>
            </a:r>
            <a:endParaRPr sz="1600" dirty="0">
              <a:solidFill>
                <a:schemeClr val="tx1"/>
              </a:solidFill>
            </a:endParaRPr>
          </a:p>
          <a:p>
            <a:pPr eaLnBrk="1" hangingPunct="1">
              <a:tabLst>
                <a:tab pos="1371600" algn="l"/>
              </a:tabLst>
            </a:pPr>
            <a:r>
              <a:rPr sz="1600" dirty="0">
                <a:solidFill>
                  <a:schemeClr val="tx1"/>
                </a:solidFill>
              </a:rPr>
              <a:t>Concurrent shared access to data </a:t>
            </a:r>
            <a:endParaRPr sz="1600" dirty="0">
              <a:solidFill>
                <a:schemeClr val="tx1"/>
              </a:solidFill>
            </a:endParaRPr>
          </a:p>
          <a:p>
            <a:pPr eaLnBrk="1" hangingPunct="1">
              <a:tabLst>
                <a:tab pos="1371600" algn="l"/>
              </a:tabLst>
            </a:pPr>
            <a:r>
              <a:rPr sz="1600" dirty="0">
                <a:solidFill>
                  <a:schemeClr val="tx1"/>
                </a:solidFill>
              </a:rPr>
              <a:t>Virtualization, data protection, management features</a:t>
            </a:r>
            <a:endParaRPr sz="1600" dirty="0">
              <a:solidFill>
                <a:schemeClr val="tx1"/>
              </a:solidFill>
            </a:endParaRPr>
          </a:p>
          <a:p>
            <a:pPr eaLnBrk="1" hangingPunct="1">
              <a:tabLst>
                <a:tab pos="1371600" algn="l"/>
              </a:tabLst>
            </a:pPr>
            <a:r>
              <a:rPr sz="1600" dirty="0">
                <a:solidFill>
                  <a:schemeClr val="tx1"/>
                </a:solidFill>
              </a:rPr>
              <a:t>Simplified setup with ISNS support</a:t>
            </a:r>
            <a:endParaRPr sz="1600" dirty="0">
              <a:solidFill>
                <a:schemeClr val="tx1"/>
              </a:solidFill>
            </a:endParaRPr>
          </a:p>
          <a:p>
            <a:pPr eaLnBrk="1" hangingPunct="1">
              <a:tabLst>
                <a:tab pos="1371600" algn="l"/>
              </a:tabLst>
            </a:pPr>
            <a:r>
              <a:rPr sz="1600" dirty="0">
                <a:solidFill>
                  <a:schemeClr val="tx1"/>
                </a:solidFill>
              </a:rPr>
              <a:t>Enhanced security with authentication between initiator and target </a:t>
            </a:r>
            <a:endParaRPr sz="1600" dirty="0">
              <a:solidFill>
                <a:schemeClr val="tx1"/>
              </a:solidFill>
            </a:endParaRPr>
          </a:p>
          <a:p>
            <a:pPr eaLnBrk="1" hangingPunct="1">
              <a:tabLst>
                <a:tab pos="1371600" algn="l"/>
              </a:tabLst>
            </a:pPr>
            <a:r>
              <a:rPr sz="1600" dirty="0">
                <a:solidFill>
                  <a:schemeClr val="tx1"/>
                </a:solidFill>
              </a:rPr>
              <a:t>Microsoft WHQL qualified</a:t>
            </a:r>
            <a:endParaRPr sz="1600" dirty="0">
              <a:solidFill>
                <a:schemeClr val="tx1"/>
              </a:solidFill>
            </a:endParaRPr>
          </a:p>
          <a:p>
            <a:pPr eaLnBrk="1" hangingPunct="1">
              <a:tabLst>
                <a:tab pos="1371600" algn="l"/>
              </a:tabLst>
            </a:pPr>
            <a:r>
              <a:rPr sz="1600" dirty="0">
                <a:solidFill>
                  <a:schemeClr val="tx1"/>
                </a:solidFill>
              </a:rPr>
              <a:t>Multi-pathing support</a:t>
            </a:r>
            <a:endParaRPr sz="1600" dirty="0">
              <a:solidFill>
                <a:schemeClr val="tx1"/>
              </a:solidFill>
            </a:endParaRPr>
          </a:p>
          <a:p>
            <a:pPr eaLnBrk="1" hangingPunct="1">
              <a:tabLst>
                <a:tab pos="1371600" algn="l"/>
              </a:tabLst>
            </a:pPr>
            <a:r>
              <a:rPr sz="1600" dirty="0">
                <a:solidFill>
                  <a:schemeClr val="tx1"/>
                </a:solidFill>
              </a:rPr>
              <a:t>iSCSI boot</a:t>
            </a:r>
            <a:endParaRPr sz="1600" dirty="0">
              <a:solidFill>
                <a:schemeClr val="tx1"/>
              </a:solidFill>
            </a:endParaRPr>
          </a:p>
          <a:p>
            <a:pPr eaLnBrk="1" hangingPunct="1">
              <a:tabLst>
                <a:tab pos="1371600" algn="l"/>
              </a:tabLst>
            </a:pPr>
            <a:endParaRPr sz="700" dirty="0">
              <a:solidFill>
                <a:schemeClr val="tx1"/>
              </a:solidFill>
            </a:endParaRPr>
          </a:p>
          <a:p>
            <a:pPr eaLnBrk="1" hangingPunct="1">
              <a:buNone/>
              <a:tabLst>
                <a:tab pos="1371600" algn="l"/>
              </a:tabLst>
            </a:pPr>
            <a:r>
              <a:rPr sz="1800" dirty="0">
                <a:solidFill>
                  <a:schemeClr val="tx1"/>
                </a:solidFill>
              </a:rPr>
              <a:t>Benefits:</a:t>
            </a:r>
            <a:endParaRPr sz="1800" dirty="0">
              <a:solidFill>
                <a:schemeClr val="tx1"/>
              </a:solidFill>
            </a:endParaRPr>
          </a:p>
          <a:p>
            <a:pPr eaLnBrk="1" hangingPunct="1">
              <a:tabLst>
                <a:tab pos="1371600" algn="l"/>
              </a:tabLst>
            </a:pPr>
            <a:r>
              <a:rPr sz="1600" dirty="0">
                <a:solidFill>
                  <a:schemeClr val="tx1"/>
                </a:solidFill>
              </a:rPr>
              <a:t>Improved performance and scalability</a:t>
            </a:r>
            <a:endParaRPr sz="1600" dirty="0">
              <a:solidFill>
                <a:schemeClr val="tx1"/>
              </a:solidFill>
            </a:endParaRPr>
          </a:p>
          <a:p>
            <a:pPr eaLnBrk="1" hangingPunct="1">
              <a:tabLst>
                <a:tab pos="1371600" algn="l"/>
              </a:tabLst>
            </a:pPr>
            <a:r>
              <a:rPr sz="1600" dirty="0">
                <a:solidFill>
                  <a:schemeClr val="tx1"/>
                </a:solidFill>
              </a:rPr>
              <a:t>Simplified management</a:t>
            </a:r>
            <a:endParaRPr sz="1600" dirty="0">
              <a:solidFill>
                <a:schemeClr val="tx1"/>
              </a:solidFill>
            </a:endParaRPr>
          </a:p>
          <a:p>
            <a:pPr eaLnBrk="1" hangingPunct="1">
              <a:tabLst>
                <a:tab pos="1371600" algn="l"/>
              </a:tabLst>
            </a:pPr>
            <a:r>
              <a:rPr sz="1600" dirty="0">
                <a:solidFill>
                  <a:schemeClr val="tx1"/>
                </a:solidFill>
              </a:rPr>
              <a:t>Lower cost of ownership</a:t>
            </a:r>
            <a:endParaRPr sz="1600" dirty="0">
              <a:solidFill>
                <a:schemeClr val="tx1"/>
              </a:solidFill>
            </a:endParaRPr>
          </a:p>
        </p:txBody>
      </p:sp>
      <p:sp>
        <p:nvSpPr>
          <p:cNvPr id="78852" name="Rectangle 5"/>
          <p:cNvSpPr/>
          <p:nvPr/>
        </p:nvSpPr>
        <p:spPr>
          <a:xfrm>
            <a:off x="333375" y="1223963"/>
            <a:ext cx="3976688" cy="517525"/>
          </a:xfrm>
          <a:prstGeom prst="rect">
            <a:avLst/>
          </a:prstGeom>
          <a:noFill/>
          <a:ln w="9525">
            <a:noFill/>
          </a:ln>
        </p:spPr>
        <p:txBody>
          <a:bodyPr>
            <a:spAutoFit/>
          </a:bodyPr>
          <a:p>
            <a:r>
              <a:rPr sz="1400" dirty="0">
                <a:solidFill>
                  <a:schemeClr val="tx1"/>
                </a:solidFill>
                <a:latin typeface="Arial" panose="020B0604020202020204" pitchFamily="34" charset="0"/>
              </a:rPr>
              <a:t>Enables block level data transfer over IP networks using standard SCSI commands.  </a:t>
            </a:r>
            <a:endParaRPr sz="1400" dirty="0">
              <a:solidFill>
                <a:schemeClr val="tx1"/>
              </a:solidFill>
              <a:latin typeface="Arial" panose="020B0604020202020204" pitchFamily="34" charset="0"/>
            </a:endParaRPr>
          </a:p>
        </p:txBody>
      </p:sp>
      <p:pic>
        <p:nvPicPr>
          <p:cNvPr id="78853" name="Picture 6" descr="Cloud"/>
          <p:cNvPicPr preferRelativeResize="0">
            <a:picLocks noChangeAspect="1"/>
          </p:cNvPicPr>
          <p:nvPr/>
        </p:nvPicPr>
        <p:blipFill>
          <a:blip r:embed="rId1"/>
          <a:stretch>
            <a:fillRect/>
          </a:stretch>
        </p:blipFill>
        <p:spPr>
          <a:xfrm>
            <a:off x="1893888" y="3252788"/>
            <a:ext cx="1477962" cy="798512"/>
          </a:xfrm>
          <a:prstGeom prst="rect">
            <a:avLst/>
          </a:prstGeom>
          <a:noFill/>
          <a:ln w="9525">
            <a:noFill/>
          </a:ln>
        </p:spPr>
      </p:pic>
      <p:pic>
        <p:nvPicPr>
          <p:cNvPr id="78854" name="Picture 7" descr="Server"/>
          <p:cNvPicPr preferRelativeResize="0">
            <a:picLocks noChangeAspect="1"/>
          </p:cNvPicPr>
          <p:nvPr/>
        </p:nvPicPr>
        <p:blipFill>
          <a:blip r:embed="rId2"/>
          <a:stretch>
            <a:fillRect/>
          </a:stretch>
        </p:blipFill>
        <p:spPr>
          <a:xfrm>
            <a:off x="3497263" y="1973263"/>
            <a:ext cx="412750" cy="936625"/>
          </a:xfrm>
          <a:prstGeom prst="rect">
            <a:avLst/>
          </a:prstGeom>
          <a:noFill/>
          <a:ln w="9525">
            <a:noFill/>
          </a:ln>
        </p:spPr>
      </p:pic>
      <p:sp>
        <p:nvSpPr>
          <p:cNvPr id="78855" name="Text Box 8"/>
          <p:cNvSpPr txBox="1"/>
          <p:nvPr/>
        </p:nvSpPr>
        <p:spPr>
          <a:xfrm>
            <a:off x="2552700" y="2368550"/>
            <a:ext cx="817563" cy="468313"/>
          </a:xfrm>
          <a:prstGeom prst="rect">
            <a:avLst/>
          </a:prstGeom>
          <a:noFill/>
          <a:ln w="9525" cap="flat" cmpd="sng">
            <a:solidFill>
              <a:schemeClr val="folHlink"/>
            </a:solidFill>
            <a:prstDash val="solid"/>
            <a:miter/>
            <a:headEnd type="none" w="med" len="med"/>
            <a:tailEnd type="none" w="med" len="med"/>
          </a:ln>
        </p:spPr>
        <p:txBody>
          <a:bodyPr>
            <a:spAutoFit/>
          </a:bodyPr>
          <a:p>
            <a:pPr marL="57150" indent="-57150">
              <a:buChar char="•"/>
            </a:pPr>
            <a:r>
              <a:rPr sz="800" b="1" dirty="0">
                <a:solidFill>
                  <a:schemeClr val="tx1"/>
                </a:solidFill>
                <a:latin typeface="Arial" panose="020B0604020202020204" pitchFamily="34" charset="0"/>
              </a:rPr>
              <a:t>Software or Hardware Initiator</a:t>
            </a:r>
            <a:endParaRPr sz="800" b="1" dirty="0">
              <a:solidFill>
                <a:schemeClr val="tx1"/>
              </a:solidFill>
              <a:latin typeface="Arial" panose="020B0604020202020204" pitchFamily="34" charset="0"/>
            </a:endParaRPr>
          </a:p>
        </p:txBody>
      </p:sp>
      <p:sp>
        <p:nvSpPr>
          <p:cNvPr id="78856" name="Text Box 9"/>
          <p:cNvSpPr txBox="1"/>
          <p:nvPr/>
        </p:nvSpPr>
        <p:spPr>
          <a:xfrm>
            <a:off x="3317875" y="2914650"/>
            <a:ext cx="804863" cy="304800"/>
          </a:xfrm>
          <a:prstGeom prst="rect">
            <a:avLst/>
          </a:prstGeom>
          <a:noFill/>
          <a:ln w="9525">
            <a:noFill/>
          </a:ln>
        </p:spPr>
        <p:txBody>
          <a:bodyPr>
            <a:spAutoFit/>
          </a:bodyPr>
          <a:p>
            <a:pPr marL="116205" indent="-116205"/>
            <a:r>
              <a:rPr sz="1400" b="1" dirty="0">
                <a:solidFill>
                  <a:schemeClr val="tx1"/>
                </a:solidFill>
                <a:latin typeface="Arial" panose="020B0604020202020204" pitchFamily="34" charset="0"/>
              </a:rPr>
              <a:t>Server</a:t>
            </a:r>
            <a:endParaRPr sz="1400" b="1" dirty="0">
              <a:solidFill>
                <a:schemeClr val="tx1"/>
              </a:solidFill>
              <a:latin typeface="Arial" panose="020B0604020202020204" pitchFamily="34" charset="0"/>
            </a:endParaRPr>
          </a:p>
        </p:txBody>
      </p:sp>
      <p:sp>
        <p:nvSpPr>
          <p:cNvPr id="78857" name="Text Box 10"/>
          <p:cNvSpPr txBox="1"/>
          <p:nvPr/>
        </p:nvSpPr>
        <p:spPr>
          <a:xfrm>
            <a:off x="2103438" y="4008438"/>
            <a:ext cx="1117600" cy="304800"/>
          </a:xfrm>
          <a:prstGeom prst="rect">
            <a:avLst/>
          </a:prstGeom>
          <a:noFill/>
          <a:ln w="9525">
            <a:noFill/>
          </a:ln>
        </p:spPr>
        <p:txBody>
          <a:bodyPr>
            <a:spAutoFit/>
          </a:bodyPr>
          <a:p>
            <a:pPr marL="116205" indent="-116205"/>
            <a:r>
              <a:rPr sz="1400" b="1" dirty="0">
                <a:solidFill>
                  <a:schemeClr val="tx1"/>
                </a:solidFill>
                <a:latin typeface="Arial" panose="020B0604020202020204" pitchFamily="34" charset="0"/>
              </a:rPr>
              <a:t>IP Network</a:t>
            </a:r>
            <a:endParaRPr sz="1400" b="1" dirty="0">
              <a:solidFill>
                <a:schemeClr val="tx1"/>
              </a:solidFill>
              <a:latin typeface="Arial" panose="020B0604020202020204" pitchFamily="34" charset="0"/>
            </a:endParaRPr>
          </a:p>
        </p:txBody>
      </p:sp>
      <p:pic>
        <p:nvPicPr>
          <p:cNvPr id="78858" name="Picture 11" descr="Server"/>
          <p:cNvPicPr preferRelativeResize="0">
            <a:picLocks noChangeAspect="1"/>
          </p:cNvPicPr>
          <p:nvPr/>
        </p:nvPicPr>
        <p:blipFill>
          <a:blip r:embed="rId2"/>
          <a:stretch>
            <a:fillRect/>
          </a:stretch>
        </p:blipFill>
        <p:spPr>
          <a:xfrm>
            <a:off x="1717675" y="1974850"/>
            <a:ext cx="412750" cy="936625"/>
          </a:xfrm>
          <a:prstGeom prst="rect">
            <a:avLst/>
          </a:prstGeom>
          <a:noFill/>
          <a:ln w="9525">
            <a:noFill/>
          </a:ln>
        </p:spPr>
      </p:pic>
      <p:sp>
        <p:nvSpPr>
          <p:cNvPr id="78859" name="Text Box 12"/>
          <p:cNvSpPr txBox="1"/>
          <p:nvPr/>
        </p:nvSpPr>
        <p:spPr>
          <a:xfrm>
            <a:off x="773113" y="2370138"/>
            <a:ext cx="817562" cy="468312"/>
          </a:xfrm>
          <a:prstGeom prst="rect">
            <a:avLst/>
          </a:prstGeom>
          <a:noFill/>
          <a:ln w="9525" cap="flat" cmpd="sng">
            <a:solidFill>
              <a:schemeClr val="folHlink"/>
            </a:solidFill>
            <a:prstDash val="solid"/>
            <a:miter/>
            <a:headEnd type="none" w="med" len="med"/>
            <a:tailEnd type="none" w="med" len="med"/>
          </a:ln>
        </p:spPr>
        <p:txBody>
          <a:bodyPr>
            <a:spAutoFit/>
          </a:bodyPr>
          <a:p>
            <a:pPr marL="57150" indent="-57150">
              <a:buChar char="•"/>
            </a:pPr>
            <a:r>
              <a:rPr sz="800" b="1" dirty="0">
                <a:solidFill>
                  <a:schemeClr val="tx1"/>
                </a:solidFill>
                <a:latin typeface="Arial" panose="020B0604020202020204" pitchFamily="34" charset="0"/>
              </a:rPr>
              <a:t>Software or Hardware Initiator</a:t>
            </a:r>
            <a:endParaRPr sz="800" b="1" dirty="0">
              <a:solidFill>
                <a:schemeClr val="tx1"/>
              </a:solidFill>
              <a:latin typeface="Arial" panose="020B0604020202020204" pitchFamily="34" charset="0"/>
            </a:endParaRPr>
          </a:p>
        </p:txBody>
      </p:sp>
      <p:sp>
        <p:nvSpPr>
          <p:cNvPr id="78860" name="Text Box 13"/>
          <p:cNvSpPr txBox="1"/>
          <p:nvPr/>
        </p:nvSpPr>
        <p:spPr>
          <a:xfrm>
            <a:off x="1481138" y="2881313"/>
            <a:ext cx="804862" cy="304800"/>
          </a:xfrm>
          <a:prstGeom prst="rect">
            <a:avLst/>
          </a:prstGeom>
          <a:noFill/>
          <a:ln w="9525">
            <a:noFill/>
          </a:ln>
        </p:spPr>
        <p:txBody>
          <a:bodyPr>
            <a:spAutoFit/>
          </a:bodyPr>
          <a:p>
            <a:pPr marL="116205" indent="-116205"/>
            <a:r>
              <a:rPr sz="1400" b="1" dirty="0">
                <a:solidFill>
                  <a:schemeClr val="tx1"/>
                </a:solidFill>
                <a:latin typeface="Arial" panose="020B0604020202020204" pitchFamily="34" charset="0"/>
              </a:rPr>
              <a:t>Server</a:t>
            </a:r>
            <a:endParaRPr sz="1400" b="1" dirty="0">
              <a:solidFill>
                <a:schemeClr val="tx1"/>
              </a:solidFill>
              <a:latin typeface="Arial" panose="020B0604020202020204" pitchFamily="34" charset="0"/>
            </a:endParaRPr>
          </a:p>
        </p:txBody>
      </p:sp>
      <p:sp>
        <p:nvSpPr>
          <p:cNvPr id="78861" name="Text Box 14"/>
          <p:cNvSpPr txBox="1"/>
          <p:nvPr/>
        </p:nvSpPr>
        <p:spPr>
          <a:xfrm>
            <a:off x="688975" y="4127500"/>
            <a:ext cx="612775" cy="346075"/>
          </a:xfrm>
          <a:prstGeom prst="rect">
            <a:avLst/>
          </a:prstGeom>
          <a:noFill/>
          <a:ln w="9525" cap="flat" cmpd="sng">
            <a:solidFill>
              <a:schemeClr val="folHlink"/>
            </a:solidFill>
            <a:prstDash val="solid"/>
            <a:miter/>
            <a:headEnd type="none" w="med" len="med"/>
            <a:tailEnd type="none" w="med" len="med"/>
          </a:ln>
        </p:spPr>
        <p:txBody>
          <a:bodyPr>
            <a:spAutoFit/>
          </a:bodyPr>
          <a:p>
            <a:pPr marL="57150" indent="-57150">
              <a:buChar char="•"/>
            </a:pPr>
            <a:r>
              <a:rPr sz="800" b="1" dirty="0">
                <a:solidFill>
                  <a:schemeClr val="tx1"/>
                </a:solidFill>
                <a:latin typeface="Arial" panose="020B0604020202020204" pitchFamily="34" charset="0"/>
              </a:rPr>
              <a:t>iSCSI </a:t>
            </a:r>
            <a:br>
              <a:rPr sz="800" b="1" dirty="0">
                <a:solidFill>
                  <a:schemeClr val="tx1"/>
                </a:solidFill>
                <a:latin typeface="Arial" panose="020B0604020202020204" pitchFamily="34" charset="0"/>
              </a:rPr>
            </a:br>
            <a:r>
              <a:rPr sz="800" b="1" dirty="0">
                <a:solidFill>
                  <a:schemeClr val="tx1"/>
                </a:solidFill>
                <a:latin typeface="Arial" panose="020B0604020202020204" pitchFamily="34" charset="0"/>
              </a:rPr>
              <a:t>Target</a:t>
            </a:r>
            <a:endParaRPr sz="800" b="1" dirty="0">
              <a:solidFill>
                <a:schemeClr val="tx1"/>
              </a:solidFill>
              <a:latin typeface="Arial" panose="020B0604020202020204" pitchFamily="34" charset="0"/>
            </a:endParaRPr>
          </a:p>
        </p:txBody>
      </p:sp>
      <p:sp>
        <p:nvSpPr>
          <p:cNvPr id="78862" name="AutoShape 15"/>
          <p:cNvSpPr/>
          <p:nvPr/>
        </p:nvSpPr>
        <p:spPr>
          <a:xfrm>
            <a:off x="3319463" y="4814888"/>
            <a:ext cx="268287" cy="234950"/>
          </a:xfrm>
          <a:prstGeom prst="cube">
            <a:avLst>
              <a:gd name="adj" fmla="val 25000"/>
            </a:avLst>
          </a:prstGeom>
          <a:solidFill>
            <a:srgbClr val="99CCFF"/>
          </a:solidFill>
          <a:ln w="9525" cap="flat" cmpd="sng">
            <a:solidFill>
              <a:schemeClr val="tx1"/>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8863" name="AutoShape 16"/>
          <p:cNvSpPr/>
          <p:nvPr/>
        </p:nvSpPr>
        <p:spPr>
          <a:xfrm>
            <a:off x="3294063" y="5367338"/>
            <a:ext cx="406400" cy="314325"/>
          </a:xfrm>
          <a:prstGeom prst="can">
            <a:avLst>
              <a:gd name="adj" fmla="val 25000"/>
            </a:avLst>
          </a:prstGeom>
          <a:solidFill>
            <a:srgbClr val="99CC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78864" name="Text Box 17"/>
          <p:cNvSpPr txBox="1"/>
          <p:nvPr/>
        </p:nvSpPr>
        <p:spPr>
          <a:xfrm>
            <a:off x="2079625" y="5407025"/>
            <a:ext cx="952500" cy="346075"/>
          </a:xfrm>
          <a:prstGeom prst="rect">
            <a:avLst/>
          </a:prstGeom>
          <a:noFill/>
          <a:ln w="9525" cap="flat" cmpd="sng">
            <a:solidFill>
              <a:schemeClr val="tx1"/>
            </a:solidFill>
            <a:prstDash val="solid"/>
            <a:miter/>
            <a:headEnd type="none" w="med" len="med"/>
            <a:tailEnd type="none" w="med" len="med"/>
          </a:ln>
        </p:spPr>
        <p:txBody>
          <a:bodyPr>
            <a:spAutoFit/>
          </a:bodyPr>
          <a:p>
            <a:pPr marL="57150" indent="-57150">
              <a:buChar char="•"/>
            </a:pPr>
            <a:r>
              <a:rPr sz="800" b="1" dirty="0">
                <a:solidFill>
                  <a:schemeClr val="tx1"/>
                </a:solidFill>
                <a:latin typeface="Arial" panose="020B0604020202020204" pitchFamily="34" charset="0"/>
              </a:rPr>
              <a:t>Logical Unit Number (LUN)</a:t>
            </a:r>
            <a:endParaRPr sz="800" b="1" dirty="0">
              <a:solidFill>
                <a:schemeClr val="tx1"/>
              </a:solidFill>
              <a:latin typeface="Arial" panose="020B0604020202020204" pitchFamily="34" charset="0"/>
            </a:endParaRPr>
          </a:p>
        </p:txBody>
      </p:sp>
      <p:sp>
        <p:nvSpPr>
          <p:cNvPr id="78865" name="Text Box 18"/>
          <p:cNvSpPr txBox="1"/>
          <p:nvPr/>
        </p:nvSpPr>
        <p:spPr>
          <a:xfrm>
            <a:off x="2073275" y="4784725"/>
            <a:ext cx="952500" cy="346075"/>
          </a:xfrm>
          <a:prstGeom prst="rect">
            <a:avLst/>
          </a:prstGeom>
          <a:noFill/>
          <a:ln w="9525" cap="flat" cmpd="sng">
            <a:solidFill>
              <a:schemeClr val="tx1"/>
            </a:solidFill>
            <a:prstDash val="solid"/>
            <a:miter/>
            <a:headEnd type="none" w="med" len="med"/>
            <a:tailEnd type="none" w="med" len="med"/>
          </a:ln>
        </p:spPr>
        <p:txBody>
          <a:bodyPr>
            <a:spAutoFit/>
          </a:bodyPr>
          <a:p>
            <a:pPr marL="57150" indent="-57150">
              <a:buChar char="•"/>
            </a:pPr>
            <a:r>
              <a:rPr sz="800" b="1" dirty="0">
                <a:solidFill>
                  <a:schemeClr val="tx1"/>
                </a:solidFill>
                <a:latin typeface="Arial" panose="020B0604020202020204" pitchFamily="34" charset="0"/>
              </a:rPr>
              <a:t>Virtual </a:t>
            </a:r>
            <a:br>
              <a:rPr sz="800" b="1" dirty="0">
                <a:solidFill>
                  <a:schemeClr val="tx1"/>
                </a:solidFill>
                <a:latin typeface="Arial" panose="020B0604020202020204" pitchFamily="34" charset="0"/>
              </a:rPr>
            </a:br>
            <a:r>
              <a:rPr sz="800" b="1" dirty="0">
                <a:solidFill>
                  <a:schemeClr val="tx1"/>
                </a:solidFill>
                <a:latin typeface="Arial" panose="020B0604020202020204" pitchFamily="34" charset="0"/>
              </a:rPr>
              <a:t>Server (EVS)</a:t>
            </a:r>
            <a:endParaRPr sz="800" b="1" dirty="0">
              <a:solidFill>
                <a:schemeClr val="tx1"/>
              </a:solidFill>
              <a:latin typeface="Arial" panose="020B0604020202020204" pitchFamily="34" charset="0"/>
            </a:endParaRPr>
          </a:p>
        </p:txBody>
      </p:sp>
      <p:sp>
        <p:nvSpPr>
          <p:cNvPr id="78866" name="Text Box 19"/>
          <p:cNvSpPr txBox="1"/>
          <p:nvPr/>
        </p:nvSpPr>
        <p:spPr>
          <a:xfrm>
            <a:off x="1949450" y="3441700"/>
            <a:ext cx="1290638" cy="457200"/>
          </a:xfrm>
          <a:prstGeom prst="rect">
            <a:avLst/>
          </a:prstGeom>
          <a:noFill/>
          <a:ln w="9525">
            <a:noFill/>
          </a:ln>
        </p:spPr>
        <p:txBody>
          <a:bodyPr>
            <a:spAutoFit/>
          </a:bodyPr>
          <a:p>
            <a:pPr marL="116205" indent="-116205" algn="ctr"/>
            <a:r>
              <a:rPr sz="1200" b="1" dirty="0">
                <a:solidFill>
                  <a:schemeClr val="tx1"/>
                </a:solidFill>
                <a:latin typeface="Arial" panose="020B0604020202020204" pitchFamily="34" charset="0"/>
              </a:rPr>
              <a:t>SCSI Commands</a:t>
            </a:r>
            <a:endParaRPr sz="1200" b="1" dirty="0">
              <a:solidFill>
                <a:schemeClr val="tx1"/>
              </a:solidFill>
              <a:latin typeface="Arial" panose="020B0604020202020204" pitchFamily="34" charset="0"/>
            </a:endParaRPr>
          </a:p>
        </p:txBody>
      </p:sp>
      <p:sp>
        <p:nvSpPr>
          <p:cNvPr id="78867" name="Line 20"/>
          <p:cNvSpPr/>
          <p:nvPr/>
        </p:nvSpPr>
        <p:spPr>
          <a:xfrm>
            <a:off x="2071688" y="2813050"/>
            <a:ext cx="498475" cy="485775"/>
          </a:xfrm>
          <a:prstGeom prst="line">
            <a:avLst/>
          </a:prstGeom>
          <a:ln w="9525" cap="flat" cmpd="sng">
            <a:solidFill>
              <a:schemeClr val="tx1"/>
            </a:solidFill>
            <a:prstDash val="solid"/>
            <a:headEnd type="none" w="med" len="med"/>
            <a:tailEnd type="none" w="med" len="med"/>
          </a:ln>
        </p:spPr>
      </p:sp>
      <p:sp>
        <p:nvSpPr>
          <p:cNvPr id="78868" name="Line 21"/>
          <p:cNvSpPr/>
          <p:nvPr/>
        </p:nvSpPr>
        <p:spPr>
          <a:xfrm flipH="1">
            <a:off x="1238250" y="3970338"/>
            <a:ext cx="787400" cy="601662"/>
          </a:xfrm>
          <a:prstGeom prst="line">
            <a:avLst/>
          </a:prstGeom>
          <a:ln w="9525" cap="flat" cmpd="sng">
            <a:solidFill>
              <a:schemeClr val="tx1"/>
            </a:solidFill>
            <a:prstDash val="solid"/>
            <a:headEnd type="none" w="med" len="med"/>
            <a:tailEnd type="none" w="med" len="med"/>
          </a:ln>
        </p:spPr>
      </p:sp>
      <p:sp>
        <p:nvSpPr>
          <p:cNvPr id="78869" name="Line 22"/>
          <p:cNvSpPr/>
          <p:nvPr/>
        </p:nvSpPr>
        <p:spPr>
          <a:xfrm flipV="1">
            <a:off x="2894013" y="2859088"/>
            <a:ext cx="612775" cy="485775"/>
          </a:xfrm>
          <a:prstGeom prst="line">
            <a:avLst/>
          </a:prstGeom>
          <a:ln w="9525" cap="flat" cmpd="sng">
            <a:solidFill>
              <a:schemeClr val="tx1"/>
            </a:solidFill>
            <a:prstDash val="solid"/>
            <a:headEnd type="none" w="med" len="med"/>
            <a:tailEnd type="none" w="med" len="med"/>
          </a:ln>
        </p:spPr>
      </p:sp>
      <p:sp>
        <p:nvSpPr>
          <p:cNvPr id="78870" name="AutoShape 23"/>
          <p:cNvSpPr/>
          <p:nvPr/>
        </p:nvSpPr>
        <p:spPr>
          <a:xfrm>
            <a:off x="1868488" y="4678363"/>
            <a:ext cx="2049462" cy="1290637"/>
          </a:xfrm>
          <a:prstGeom prst="roundRect">
            <a:avLst>
              <a:gd name="adj" fmla="val 16667"/>
            </a:avLst>
          </a:prstGeom>
          <a:noFill/>
          <a:ln w="9525" cap="flat" cmpd="sng">
            <a:solidFill>
              <a:schemeClr val="folHlink"/>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78871" name="Picture 24" descr="Jumbo_bezel_2"/>
          <p:cNvPicPr>
            <a:picLocks noChangeAspect="1"/>
          </p:cNvPicPr>
          <p:nvPr/>
        </p:nvPicPr>
        <p:blipFill>
          <a:blip r:embed="rId3"/>
          <a:stretch>
            <a:fillRect/>
          </a:stretch>
        </p:blipFill>
        <p:spPr>
          <a:xfrm>
            <a:off x="533400" y="4525963"/>
            <a:ext cx="914400" cy="331787"/>
          </a:xfrm>
          <a:prstGeom prst="rect">
            <a:avLst/>
          </a:prstGeom>
          <a:noFill/>
          <a:ln w="9525">
            <a:noFill/>
          </a:ln>
        </p:spPr>
      </p:pic>
      <p:pic>
        <p:nvPicPr>
          <p:cNvPr id="78872" name="Picture 25" descr="ams200_WMS100_nas"/>
          <p:cNvPicPr>
            <a:picLocks noChangeAspect="1"/>
          </p:cNvPicPr>
          <p:nvPr/>
        </p:nvPicPr>
        <p:blipFill>
          <a:blip r:embed="rId4"/>
          <a:stretch>
            <a:fillRect/>
          </a:stretch>
        </p:blipFill>
        <p:spPr>
          <a:xfrm>
            <a:off x="544513" y="4781550"/>
            <a:ext cx="1055687" cy="1371600"/>
          </a:xfrm>
          <a:prstGeom prst="rect">
            <a:avLst/>
          </a:prstGeom>
          <a:noFill/>
          <a:ln w="9525">
            <a:noFill/>
          </a:ln>
        </p:spPr>
      </p:pic>
      <p:pic>
        <p:nvPicPr>
          <p:cNvPr id="78873" name="Picture 27"/>
          <p:cNvPicPr>
            <a:picLocks noChangeAspect="1"/>
          </p:cNvPicPr>
          <p:nvPr/>
        </p:nvPicPr>
        <p:blipFill>
          <a:blip r:embed="rId5">
            <a:clrChange>
              <a:clrFrom>
                <a:srgbClr val="FFFFFF"/>
              </a:clrFrom>
              <a:clrTo>
                <a:srgbClr val="FFFFFF">
                  <a:alpha val="0"/>
                </a:srgbClr>
              </a:clrTo>
            </a:clrChange>
          </a:blip>
          <a:srcRect l="7292" t="26471" r="4167" b="9216"/>
          <a:stretch>
            <a:fillRect/>
          </a:stretch>
        </p:blipFill>
        <p:spPr>
          <a:xfrm>
            <a:off x="457200" y="4430713"/>
            <a:ext cx="990600" cy="446087"/>
          </a:xfrm>
          <a:prstGeom prst="rect">
            <a:avLst/>
          </a:prstGeom>
          <a:noFill/>
          <a:ln w="9525">
            <a:noFill/>
          </a:ln>
        </p:spPr>
      </p:pic>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Data Protection </a:t>
            </a:r>
            <a:r>
              <a:rPr sz="1600" dirty="0">
                <a:solidFill>
                  <a:schemeClr val="tx1"/>
                </a:solidFill>
              </a:rPr>
              <a:t>Anti-Virus Support</a:t>
            </a:r>
            <a:endParaRPr dirty="0">
              <a:solidFill>
                <a:schemeClr val="tx1"/>
              </a:solidFill>
            </a:endParaRPr>
          </a:p>
        </p:txBody>
      </p:sp>
      <p:sp>
        <p:nvSpPr>
          <p:cNvPr id="80898" name="Rectangle 3"/>
          <p:cNvSpPr>
            <a:spLocks noGrp="1"/>
          </p:cNvSpPr>
          <p:nvPr>
            <p:ph idx="1"/>
          </p:nvPr>
        </p:nvSpPr>
        <p:spPr>
          <a:xfrm>
            <a:off x="5132388" y="1371600"/>
            <a:ext cx="4011612" cy="5080000"/>
          </a:xfrm>
          <a:ln/>
        </p:spPr>
        <p:txBody>
          <a:bodyPr vert="horz" wrap="square" lIns="91440" tIns="45720" rIns="91440" bIns="45720" anchor="t" anchorCtr="0"/>
          <a:p>
            <a:pPr marL="230505" indent="-230505" eaLnBrk="1" hangingPunct="1">
              <a:lnSpc>
                <a:spcPct val="75000"/>
              </a:lnSpc>
              <a:tabLst>
                <a:tab pos="-635" algn="l"/>
              </a:tabLst>
            </a:pPr>
            <a:r>
              <a:rPr sz="1600" dirty="0"/>
              <a:t>Files scanned on read (open) and on file close</a:t>
            </a:r>
            <a:endParaRPr sz="1600" dirty="0"/>
          </a:p>
          <a:p>
            <a:pPr marL="230505" indent="-230505" eaLnBrk="1" hangingPunct="1">
              <a:lnSpc>
                <a:spcPct val="75000"/>
              </a:lnSpc>
              <a:tabLst>
                <a:tab pos="-635" algn="l"/>
              </a:tabLst>
            </a:pPr>
            <a:r>
              <a:rPr sz="1600" dirty="0"/>
              <a:t>Scanning configurable on a per share basis</a:t>
            </a:r>
            <a:endParaRPr sz="1600" dirty="0"/>
          </a:p>
          <a:p>
            <a:pPr marL="230505" indent="-230505" eaLnBrk="1" hangingPunct="1">
              <a:lnSpc>
                <a:spcPct val="75000"/>
              </a:lnSpc>
              <a:tabLst>
                <a:tab pos="-635" algn="l"/>
              </a:tabLst>
            </a:pPr>
            <a:r>
              <a:rPr sz="1600" dirty="0"/>
              <a:t>NAS node interfaces to external virus scanners who scan files for viruses on </a:t>
            </a:r>
            <a:r>
              <a:rPr sz="1600" i="1" dirty="0"/>
              <a:t>read</a:t>
            </a:r>
            <a:endParaRPr sz="1600" i="1" dirty="0"/>
          </a:p>
          <a:p>
            <a:pPr marL="681355" lvl="1" indent="-224155" eaLnBrk="1" hangingPunct="1">
              <a:lnSpc>
                <a:spcPct val="75000"/>
              </a:lnSpc>
              <a:tabLst>
                <a:tab pos="-635" algn="l"/>
              </a:tabLst>
            </a:pPr>
            <a:r>
              <a:rPr sz="1400" dirty="0"/>
              <a:t>External scanners not provided by Hitachi Data Systems</a:t>
            </a:r>
            <a:endParaRPr sz="1400" dirty="0"/>
          </a:p>
          <a:p>
            <a:pPr marL="230505" indent="-230505" eaLnBrk="1" hangingPunct="1">
              <a:lnSpc>
                <a:spcPct val="75000"/>
              </a:lnSpc>
              <a:tabLst>
                <a:tab pos="-635" algn="l"/>
              </a:tabLst>
            </a:pPr>
            <a:r>
              <a:rPr sz="1600" dirty="0"/>
              <a:t>Management and Configuration:</a:t>
            </a:r>
            <a:endParaRPr sz="1600" dirty="0"/>
          </a:p>
          <a:p>
            <a:pPr marL="681355" lvl="1" indent="-224155" eaLnBrk="1" hangingPunct="1">
              <a:lnSpc>
                <a:spcPct val="75000"/>
              </a:lnSpc>
              <a:tabLst>
                <a:tab pos="-635" algn="l"/>
              </a:tabLst>
            </a:pPr>
            <a:r>
              <a:rPr sz="1400" dirty="0"/>
              <a:t>Inclusion and exclusion lists supported</a:t>
            </a:r>
            <a:endParaRPr sz="1400" dirty="0"/>
          </a:p>
          <a:p>
            <a:pPr marL="681355" lvl="1" indent="-224155" eaLnBrk="1" hangingPunct="1">
              <a:lnSpc>
                <a:spcPct val="75000"/>
              </a:lnSpc>
              <a:tabLst>
                <a:tab pos="-635" algn="l"/>
              </a:tabLst>
            </a:pPr>
            <a:r>
              <a:rPr sz="1400" dirty="0"/>
              <a:t>File scanned statistics provided</a:t>
            </a:r>
            <a:endParaRPr sz="1400" dirty="0"/>
          </a:p>
          <a:p>
            <a:pPr marL="681355" lvl="1" indent="-224155" eaLnBrk="1" hangingPunct="1">
              <a:lnSpc>
                <a:spcPct val="75000"/>
              </a:lnSpc>
              <a:tabLst>
                <a:tab pos="-635" algn="l"/>
              </a:tabLst>
            </a:pPr>
            <a:r>
              <a:rPr sz="1400" i="1" dirty="0"/>
              <a:t>Standard</a:t>
            </a:r>
            <a:r>
              <a:rPr sz="1400" dirty="0"/>
              <a:t> configuration on AV scanners</a:t>
            </a:r>
            <a:endParaRPr sz="1400" dirty="0"/>
          </a:p>
        </p:txBody>
      </p:sp>
      <p:pic>
        <p:nvPicPr>
          <p:cNvPr id="80899" name="Picture 5" descr="AV_Scanners"/>
          <p:cNvPicPr>
            <a:picLocks noChangeAspect="1"/>
          </p:cNvPicPr>
          <p:nvPr/>
        </p:nvPicPr>
        <p:blipFill>
          <a:blip r:embed="rId1">
            <a:clrChange>
              <a:clrFrom>
                <a:srgbClr val="FFFFFF"/>
              </a:clrFrom>
              <a:clrTo>
                <a:srgbClr val="FFFFFF">
                  <a:alpha val="0"/>
                </a:srgbClr>
              </a:clrTo>
            </a:clrChange>
          </a:blip>
          <a:stretch>
            <a:fillRect/>
          </a:stretch>
        </p:blipFill>
        <p:spPr>
          <a:xfrm>
            <a:off x="425450" y="1506538"/>
            <a:ext cx="4848225" cy="3586162"/>
          </a:xfrm>
          <a:prstGeom prst="rect">
            <a:avLst/>
          </a:prstGeom>
          <a:noFill/>
          <a:ln w="9525">
            <a:noFill/>
          </a:ln>
        </p:spPr>
      </p:pic>
      <p:sp>
        <p:nvSpPr>
          <p:cNvPr id="80900" name="Rectangle 6"/>
          <p:cNvSpPr/>
          <p:nvPr/>
        </p:nvSpPr>
        <p:spPr>
          <a:xfrm>
            <a:off x="481013" y="3032125"/>
            <a:ext cx="2232025" cy="1924050"/>
          </a:xfrm>
          <a:prstGeom prst="rect">
            <a:avLst/>
          </a:prstGeom>
          <a:solidFill>
            <a:srgbClr val="FFFFFF"/>
          </a:solidFill>
          <a:ln w="9525">
            <a:noFill/>
          </a:ln>
        </p:spPr>
        <p:txBody>
          <a:bodyPr wrap="none" anchor="ctr" anchorCtr="0"/>
          <a:p>
            <a:pPr>
              <a:spcBef>
                <a:spcPct val="20000"/>
              </a:spcBef>
              <a:buChar char="•"/>
            </a:pPr>
            <a:endParaRPr dirty="0">
              <a:latin typeface="Arial" panose="020B0604020202020204" pitchFamily="34" charset="0"/>
            </a:endParaRPr>
          </a:p>
        </p:txBody>
      </p:sp>
      <p:sp>
        <p:nvSpPr>
          <p:cNvPr id="80901" name="Line 7"/>
          <p:cNvSpPr/>
          <p:nvPr/>
        </p:nvSpPr>
        <p:spPr>
          <a:xfrm>
            <a:off x="1138238" y="3895725"/>
            <a:ext cx="0" cy="576263"/>
          </a:xfrm>
          <a:prstGeom prst="line">
            <a:avLst/>
          </a:prstGeom>
          <a:ln w="38100" cap="flat" cmpd="sng">
            <a:solidFill>
              <a:schemeClr val="tx1"/>
            </a:solidFill>
            <a:prstDash val="solid"/>
            <a:headEnd type="none" w="med" len="med"/>
            <a:tailEnd type="none" w="med" len="med"/>
          </a:ln>
        </p:spPr>
      </p:sp>
      <p:sp>
        <p:nvSpPr>
          <p:cNvPr id="80902" name="Line 8"/>
          <p:cNvSpPr/>
          <p:nvPr/>
        </p:nvSpPr>
        <p:spPr>
          <a:xfrm>
            <a:off x="2136775" y="3895725"/>
            <a:ext cx="0" cy="576263"/>
          </a:xfrm>
          <a:prstGeom prst="line">
            <a:avLst/>
          </a:prstGeom>
          <a:ln w="38100" cap="flat" cmpd="sng">
            <a:solidFill>
              <a:schemeClr val="tx1"/>
            </a:solidFill>
            <a:prstDash val="solid"/>
            <a:headEnd type="none" w="med" len="med"/>
            <a:tailEnd type="none" w="med" len="med"/>
          </a:ln>
        </p:spPr>
      </p:sp>
      <p:sp>
        <p:nvSpPr>
          <p:cNvPr id="80903" name="AutoShape 9"/>
          <p:cNvSpPr/>
          <p:nvPr/>
        </p:nvSpPr>
        <p:spPr>
          <a:xfrm>
            <a:off x="739775" y="4256088"/>
            <a:ext cx="782638" cy="611187"/>
          </a:xfrm>
          <a:prstGeom prst="can">
            <a:avLst>
              <a:gd name="adj" fmla="val 25000"/>
            </a:avLst>
          </a:prstGeom>
          <a:solidFill>
            <a:srgbClr val="CCEC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80904" name="AutoShape 10"/>
          <p:cNvSpPr/>
          <p:nvPr/>
        </p:nvSpPr>
        <p:spPr>
          <a:xfrm>
            <a:off x="1730375" y="4256088"/>
            <a:ext cx="782638" cy="611187"/>
          </a:xfrm>
          <a:prstGeom prst="can">
            <a:avLst>
              <a:gd name="adj" fmla="val 25000"/>
            </a:avLst>
          </a:prstGeom>
          <a:solidFill>
            <a:srgbClr val="CCECFF"/>
          </a:solidFill>
          <a:ln w="9525" cap="flat" cmpd="sng">
            <a:solidFill>
              <a:schemeClr val="tx1"/>
            </a:solidFill>
            <a:prstDash val="solid"/>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80905" name="Rectangle 11"/>
          <p:cNvSpPr/>
          <p:nvPr/>
        </p:nvSpPr>
        <p:spPr>
          <a:xfrm>
            <a:off x="2320925" y="2724150"/>
            <a:ext cx="649288" cy="144463"/>
          </a:xfrm>
          <a:prstGeom prst="rect">
            <a:avLst/>
          </a:prstGeom>
          <a:solidFill>
            <a:schemeClr val="bg1"/>
          </a:solidFill>
          <a:ln w="9525">
            <a:noFill/>
          </a:ln>
        </p:spPr>
        <p:txBody>
          <a:bodyPr wrap="none" anchor="ctr" anchorCtr="0">
            <a:spAutoFit/>
          </a:bodyPr>
          <a:p>
            <a:pPr>
              <a:spcBef>
                <a:spcPct val="20000"/>
              </a:spcBef>
              <a:buChar char="•"/>
            </a:pPr>
            <a:endParaRPr dirty="0">
              <a:latin typeface="Arial" panose="020B0604020202020204" pitchFamily="34" charset="0"/>
            </a:endParaRPr>
          </a:p>
        </p:txBody>
      </p:sp>
      <p:sp>
        <p:nvSpPr>
          <p:cNvPr id="80906" name="Rectangle 12"/>
          <p:cNvSpPr/>
          <p:nvPr/>
        </p:nvSpPr>
        <p:spPr>
          <a:xfrm>
            <a:off x="2482850" y="1519238"/>
            <a:ext cx="649288" cy="144462"/>
          </a:xfrm>
          <a:prstGeom prst="rect">
            <a:avLst/>
          </a:prstGeom>
          <a:solidFill>
            <a:schemeClr val="bg1"/>
          </a:solidFill>
          <a:ln w="9525">
            <a:noFill/>
          </a:ln>
        </p:spPr>
        <p:txBody>
          <a:bodyPr wrap="none" anchor="ctr" anchorCtr="0">
            <a:spAutoFit/>
          </a:bodyPr>
          <a:p>
            <a:pPr>
              <a:spcBef>
                <a:spcPct val="20000"/>
              </a:spcBef>
              <a:buChar char="•"/>
            </a:pPr>
            <a:endParaRPr dirty="0">
              <a:latin typeface="Arial" panose="020B0604020202020204" pitchFamily="34" charset="0"/>
            </a:endParaRPr>
          </a:p>
        </p:txBody>
      </p:sp>
      <p:sp>
        <p:nvSpPr>
          <p:cNvPr id="80907" name="Rectangle 13"/>
          <p:cNvSpPr/>
          <p:nvPr/>
        </p:nvSpPr>
        <p:spPr>
          <a:xfrm>
            <a:off x="3184525" y="2676525"/>
            <a:ext cx="649288" cy="144463"/>
          </a:xfrm>
          <a:prstGeom prst="rect">
            <a:avLst/>
          </a:prstGeom>
          <a:solidFill>
            <a:schemeClr val="bg1"/>
          </a:solidFill>
          <a:ln w="9525">
            <a:noFill/>
          </a:ln>
        </p:spPr>
        <p:txBody>
          <a:bodyPr wrap="none" anchor="ctr" anchorCtr="0">
            <a:spAutoFit/>
          </a:bodyPr>
          <a:p>
            <a:pPr>
              <a:spcBef>
                <a:spcPct val="20000"/>
              </a:spcBef>
              <a:buChar char="•"/>
            </a:pPr>
            <a:endParaRPr dirty="0">
              <a:latin typeface="Arial" panose="020B0604020202020204" pitchFamily="34" charset="0"/>
            </a:endParaRPr>
          </a:p>
        </p:txBody>
      </p:sp>
      <p:sp>
        <p:nvSpPr>
          <p:cNvPr id="80908" name="Rectangle 14"/>
          <p:cNvSpPr/>
          <p:nvPr/>
        </p:nvSpPr>
        <p:spPr>
          <a:xfrm>
            <a:off x="2698750" y="4711700"/>
            <a:ext cx="1166813" cy="144463"/>
          </a:xfrm>
          <a:prstGeom prst="rect">
            <a:avLst/>
          </a:prstGeom>
          <a:solidFill>
            <a:schemeClr val="bg1"/>
          </a:solidFill>
          <a:ln w="9525">
            <a:noFill/>
          </a:ln>
        </p:spPr>
        <p:txBody>
          <a:bodyPr anchor="ctr" anchorCtr="0">
            <a:spAutoFit/>
          </a:bodyPr>
          <a:p>
            <a:pPr>
              <a:spcBef>
                <a:spcPct val="20000"/>
              </a:spcBef>
              <a:buChar char="•"/>
            </a:pPr>
            <a:endParaRPr dirty="0">
              <a:latin typeface="Arial" panose="020B0604020202020204" pitchFamily="34" charset="0"/>
            </a:endParaRPr>
          </a:p>
        </p:txBody>
      </p:sp>
      <p:sp>
        <p:nvSpPr>
          <p:cNvPr id="80909" name="Rectangle 15"/>
          <p:cNvSpPr/>
          <p:nvPr/>
        </p:nvSpPr>
        <p:spPr>
          <a:xfrm>
            <a:off x="2809875" y="4894263"/>
            <a:ext cx="1166813" cy="144462"/>
          </a:xfrm>
          <a:prstGeom prst="rect">
            <a:avLst/>
          </a:prstGeom>
          <a:solidFill>
            <a:schemeClr val="bg1"/>
          </a:solidFill>
          <a:ln w="9525">
            <a:noFill/>
          </a:ln>
        </p:spPr>
        <p:txBody>
          <a:bodyPr anchor="ctr" anchorCtr="0">
            <a:spAutoFit/>
          </a:bodyPr>
          <a:p>
            <a:pPr>
              <a:spcBef>
                <a:spcPct val="20000"/>
              </a:spcBef>
              <a:buChar char="•"/>
            </a:pPr>
            <a:endParaRPr dirty="0">
              <a:latin typeface="Arial" panose="020B0604020202020204" pitchFamily="34" charset="0"/>
            </a:endParaRPr>
          </a:p>
        </p:txBody>
      </p:sp>
      <p:sp>
        <p:nvSpPr>
          <p:cNvPr id="80910" name="Rectangle 16"/>
          <p:cNvSpPr/>
          <p:nvPr/>
        </p:nvSpPr>
        <p:spPr>
          <a:xfrm>
            <a:off x="3852863" y="4514850"/>
            <a:ext cx="1166812" cy="144463"/>
          </a:xfrm>
          <a:prstGeom prst="rect">
            <a:avLst/>
          </a:prstGeom>
          <a:solidFill>
            <a:schemeClr val="bg1"/>
          </a:solidFill>
          <a:ln w="9525">
            <a:noFill/>
          </a:ln>
        </p:spPr>
        <p:txBody>
          <a:bodyPr anchor="ctr" anchorCtr="0">
            <a:spAutoFit/>
          </a:bodyPr>
          <a:p>
            <a:pPr>
              <a:spcBef>
                <a:spcPct val="20000"/>
              </a:spcBef>
              <a:buChar char="•"/>
            </a:pPr>
            <a:endParaRPr dirty="0">
              <a:latin typeface="Arial" panose="020B0604020202020204" pitchFamily="34" charset="0"/>
            </a:endParaRPr>
          </a:p>
        </p:txBody>
      </p:sp>
      <p:sp>
        <p:nvSpPr>
          <p:cNvPr id="80911" name="Rectangle 17"/>
          <p:cNvSpPr/>
          <p:nvPr/>
        </p:nvSpPr>
        <p:spPr>
          <a:xfrm>
            <a:off x="4491038" y="3463925"/>
            <a:ext cx="719137" cy="144463"/>
          </a:xfrm>
          <a:prstGeom prst="rect">
            <a:avLst/>
          </a:prstGeom>
          <a:solidFill>
            <a:schemeClr val="bg1"/>
          </a:solidFill>
          <a:ln w="9525">
            <a:noFill/>
          </a:ln>
        </p:spPr>
        <p:txBody>
          <a:bodyPr anchor="ctr" anchorCtr="0">
            <a:spAutoFit/>
          </a:bodyPr>
          <a:p>
            <a:pPr>
              <a:spcBef>
                <a:spcPct val="20000"/>
              </a:spcBef>
              <a:buChar char="•"/>
            </a:pPr>
            <a:endParaRPr dirty="0">
              <a:latin typeface="Arial" panose="020B0604020202020204" pitchFamily="34" charset="0"/>
            </a:endParaRPr>
          </a:p>
        </p:txBody>
      </p:sp>
      <p:sp>
        <p:nvSpPr>
          <p:cNvPr id="80912" name="Text Box 18"/>
          <p:cNvSpPr txBox="1"/>
          <p:nvPr/>
        </p:nvSpPr>
        <p:spPr>
          <a:xfrm>
            <a:off x="3276600" y="4254500"/>
            <a:ext cx="1447800" cy="244475"/>
          </a:xfrm>
          <a:prstGeom prst="rect">
            <a:avLst/>
          </a:prstGeom>
          <a:noFill/>
          <a:ln w="9525">
            <a:noFill/>
          </a:ln>
        </p:spPr>
        <p:txBody>
          <a:bodyPr>
            <a:spAutoFit/>
          </a:bodyPr>
          <a:p>
            <a:pPr marL="342900" indent="-342900">
              <a:spcBef>
                <a:spcPct val="50000"/>
              </a:spcBef>
            </a:pPr>
            <a:r>
              <a:rPr sz="1000" dirty="0">
                <a:solidFill>
                  <a:schemeClr val="tx1"/>
                </a:solidFill>
                <a:latin typeface="Arial" panose="020B0604020202020204" pitchFamily="34" charset="0"/>
              </a:rPr>
              <a:t>File Access Request</a:t>
            </a:r>
            <a:endParaRPr sz="1000" dirty="0">
              <a:solidFill>
                <a:schemeClr val="tx1"/>
              </a:solidFill>
              <a:latin typeface="Arial" panose="020B0604020202020204" pitchFamily="34" charset="0"/>
            </a:endParaRPr>
          </a:p>
        </p:txBody>
      </p:sp>
      <p:sp>
        <p:nvSpPr>
          <p:cNvPr id="80913" name="Text Box 19"/>
          <p:cNvSpPr txBox="1"/>
          <p:nvPr/>
        </p:nvSpPr>
        <p:spPr>
          <a:xfrm>
            <a:off x="2641600" y="4471988"/>
            <a:ext cx="1701800" cy="244475"/>
          </a:xfrm>
          <a:prstGeom prst="rect">
            <a:avLst/>
          </a:prstGeom>
          <a:noFill/>
          <a:ln w="9525">
            <a:noFill/>
          </a:ln>
        </p:spPr>
        <p:txBody>
          <a:bodyPr>
            <a:spAutoFit/>
          </a:bodyPr>
          <a:p>
            <a:pPr marL="342900" indent="-342900">
              <a:spcBef>
                <a:spcPct val="50000"/>
              </a:spcBef>
            </a:pPr>
            <a:r>
              <a:rPr lang="ja-JP" altLang="en-US" sz="1000" dirty="0">
                <a:solidFill>
                  <a:schemeClr val="tx1"/>
                </a:solidFill>
                <a:latin typeface="Arial" panose="020B0604020202020204" pitchFamily="34" charset="0"/>
              </a:rPr>
              <a:t>“</a:t>
            </a:r>
            <a:r>
              <a:rPr lang="en-US" altLang="ja-JP" sz="1000" dirty="0">
                <a:solidFill>
                  <a:schemeClr val="tx1"/>
                </a:solidFill>
                <a:latin typeface="Arial" panose="020B0604020202020204" pitchFamily="34" charset="0"/>
              </a:rPr>
              <a:t>deny</a:t>
            </a:r>
            <a:r>
              <a:rPr lang="ja-JP" altLang="en-US" sz="1000" dirty="0">
                <a:solidFill>
                  <a:schemeClr val="tx1"/>
                </a:solidFill>
                <a:latin typeface="Arial" panose="020B0604020202020204" pitchFamily="34" charset="0"/>
              </a:rPr>
              <a:t>”</a:t>
            </a:r>
            <a:r>
              <a:rPr lang="en-US" altLang="ja-JP" sz="1000" dirty="0">
                <a:solidFill>
                  <a:schemeClr val="tx1"/>
                </a:solidFill>
                <a:latin typeface="Arial" panose="020B0604020202020204" pitchFamily="34" charset="0"/>
              </a:rPr>
              <a:t> if file is not scanned</a:t>
            </a:r>
            <a:endParaRPr sz="1000" dirty="0">
              <a:solidFill>
                <a:schemeClr val="tx1"/>
              </a:solidFill>
              <a:latin typeface="Arial" panose="020B0604020202020204" pitchFamily="34" charset="0"/>
            </a:endParaRPr>
          </a:p>
        </p:txBody>
      </p:sp>
      <p:sp>
        <p:nvSpPr>
          <p:cNvPr id="80914" name="Text Box 20"/>
          <p:cNvSpPr txBox="1"/>
          <p:nvPr/>
        </p:nvSpPr>
        <p:spPr>
          <a:xfrm>
            <a:off x="3162300" y="2486025"/>
            <a:ext cx="990600" cy="473075"/>
          </a:xfrm>
          <a:prstGeom prst="rect">
            <a:avLst/>
          </a:prstGeom>
          <a:noFill/>
          <a:ln w="9525">
            <a:noFill/>
          </a:ln>
        </p:spPr>
        <p:txBody>
          <a:bodyPr>
            <a:spAutoFit/>
          </a:bodyPr>
          <a:p>
            <a:pPr marL="342900" indent="-342900">
              <a:spcBef>
                <a:spcPct val="50000"/>
              </a:spcBef>
            </a:pPr>
            <a:r>
              <a:rPr sz="1000" dirty="0">
                <a:solidFill>
                  <a:schemeClr val="tx1"/>
                </a:solidFill>
                <a:latin typeface="Arial" panose="020B0604020202020204" pitchFamily="34" charset="0"/>
              </a:rPr>
              <a:t>File </a:t>
            </a:r>
            <a:endParaRPr sz="1000" dirty="0">
              <a:solidFill>
                <a:schemeClr val="tx1"/>
              </a:solidFill>
              <a:latin typeface="Arial" panose="020B0604020202020204" pitchFamily="34" charset="0"/>
            </a:endParaRPr>
          </a:p>
          <a:p>
            <a:pPr marL="342900" indent="-342900">
              <a:spcBef>
                <a:spcPct val="50000"/>
              </a:spcBef>
            </a:pPr>
            <a:r>
              <a:rPr sz="1000" dirty="0">
                <a:solidFill>
                  <a:schemeClr val="tx1"/>
                </a:solidFill>
                <a:latin typeface="Arial" panose="020B0604020202020204" pitchFamily="34" charset="0"/>
              </a:rPr>
              <a:t>Scan</a:t>
            </a:r>
            <a:endParaRPr sz="1000" dirty="0">
              <a:solidFill>
                <a:schemeClr val="tx1"/>
              </a:solidFill>
              <a:latin typeface="Arial" panose="020B0604020202020204" pitchFamily="34" charset="0"/>
            </a:endParaRPr>
          </a:p>
        </p:txBody>
      </p:sp>
      <p:sp>
        <p:nvSpPr>
          <p:cNvPr id="80915" name="Text Box 21"/>
          <p:cNvSpPr txBox="1"/>
          <p:nvPr/>
        </p:nvSpPr>
        <p:spPr>
          <a:xfrm>
            <a:off x="2370138" y="1447800"/>
            <a:ext cx="990600" cy="244475"/>
          </a:xfrm>
          <a:prstGeom prst="rect">
            <a:avLst/>
          </a:prstGeom>
          <a:noFill/>
          <a:ln w="9525">
            <a:noFill/>
          </a:ln>
        </p:spPr>
        <p:txBody>
          <a:bodyPr>
            <a:spAutoFit/>
          </a:bodyPr>
          <a:p>
            <a:pPr marL="342900" indent="-342900">
              <a:spcBef>
                <a:spcPct val="50000"/>
              </a:spcBef>
            </a:pPr>
            <a:r>
              <a:rPr sz="1000" dirty="0">
                <a:solidFill>
                  <a:schemeClr val="tx1"/>
                </a:solidFill>
                <a:latin typeface="Arial" panose="020B0604020202020204" pitchFamily="34" charset="0"/>
              </a:rPr>
              <a:t>AV Scanners</a:t>
            </a:r>
            <a:endParaRPr sz="1000" dirty="0">
              <a:solidFill>
                <a:schemeClr val="tx1"/>
              </a:solidFill>
              <a:latin typeface="Arial" panose="020B0604020202020204" pitchFamily="34" charset="0"/>
            </a:endParaRPr>
          </a:p>
        </p:txBody>
      </p:sp>
      <p:sp>
        <p:nvSpPr>
          <p:cNvPr id="80916" name="Text Box 22"/>
          <p:cNvSpPr txBox="1"/>
          <p:nvPr/>
        </p:nvSpPr>
        <p:spPr>
          <a:xfrm>
            <a:off x="2641600" y="4657725"/>
            <a:ext cx="1701800" cy="244475"/>
          </a:xfrm>
          <a:prstGeom prst="rect">
            <a:avLst/>
          </a:prstGeom>
          <a:noFill/>
          <a:ln w="9525">
            <a:noFill/>
          </a:ln>
        </p:spPr>
        <p:txBody>
          <a:bodyPr>
            <a:spAutoFit/>
          </a:bodyPr>
          <a:p>
            <a:pPr marL="342900" indent="-342900">
              <a:spcBef>
                <a:spcPct val="50000"/>
              </a:spcBef>
            </a:pPr>
            <a:r>
              <a:rPr lang="ja-JP" altLang="en-US" sz="1000" dirty="0">
                <a:solidFill>
                  <a:schemeClr val="tx1"/>
                </a:solidFill>
                <a:latin typeface="Arial" panose="020B0604020202020204" pitchFamily="34" charset="0"/>
              </a:rPr>
              <a:t>“</a:t>
            </a:r>
            <a:r>
              <a:rPr lang="en-US" altLang="ja-JP" sz="1000" dirty="0">
                <a:solidFill>
                  <a:schemeClr val="tx1"/>
                </a:solidFill>
                <a:latin typeface="Arial" panose="020B0604020202020204" pitchFamily="34" charset="0"/>
              </a:rPr>
              <a:t>allow</a:t>
            </a:r>
            <a:r>
              <a:rPr lang="ja-JP" altLang="en-US" sz="1000" dirty="0">
                <a:solidFill>
                  <a:schemeClr val="tx1"/>
                </a:solidFill>
                <a:latin typeface="Arial" panose="020B0604020202020204" pitchFamily="34" charset="0"/>
              </a:rPr>
              <a:t>”</a:t>
            </a:r>
            <a:r>
              <a:rPr lang="en-US" altLang="ja-JP" sz="1000" dirty="0">
                <a:solidFill>
                  <a:schemeClr val="tx1"/>
                </a:solidFill>
                <a:latin typeface="Arial" panose="020B0604020202020204" pitchFamily="34" charset="0"/>
              </a:rPr>
              <a:t> when file scanned</a:t>
            </a:r>
            <a:endParaRPr sz="1000" dirty="0">
              <a:solidFill>
                <a:schemeClr val="tx1"/>
              </a:solidFill>
              <a:latin typeface="Arial" panose="020B0604020202020204" pitchFamily="34" charset="0"/>
            </a:endParaRPr>
          </a:p>
        </p:txBody>
      </p:sp>
      <p:pic>
        <p:nvPicPr>
          <p:cNvPr id="80917" name="Picture 23" descr="hds-Bezel"/>
          <p:cNvPicPr>
            <a:picLocks noChangeAspect="1"/>
          </p:cNvPicPr>
          <p:nvPr/>
        </p:nvPicPr>
        <p:blipFill>
          <a:blip r:embed="rId2"/>
          <a:stretch>
            <a:fillRect/>
          </a:stretch>
        </p:blipFill>
        <p:spPr>
          <a:xfrm>
            <a:off x="696913" y="3244850"/>
            <a:ext cx="2016125" cy="795338"/>
          </a:xfrm>
          <a:prstGeom prst="rect">
            <a:avLst/>
          </a:prstGeom>
          <a:noFill/>
          <a:ln w="9525">
            <a:noFill/>
          </a:ln>
        </p:spPr>
      </p:pic>
      <p:sp>
        <p:nvSpPr>
          <p:cNvPr id="80918" name="Text Box 24"/>
          <p:cNvSpPr txBox="1"/>
          <p:nvPr/>
        </p:nvSpPr>
        <p:spPr>
          <a:xfrm>
            <a:off x="2443163" y="2486025"/>
            <a:ext cx="990600" cy="473075"/>
          </a:xfrm>
          <a:prstGeom prst="rect">
            <a:avLst/>
          </a:prstGeom>
          <a:noFill/>
          <a:ln w="9525">
            <a:noFill/>
          </a:ln>
        </p:spPr>
        <p:txBody>
          <a:bodyPr>
            <a:spAutoFit/>
          </a:bodyPr>
          <a:p>
            <a:pPr marL="342900" indent="-342900">
              <a:spcBef>
                <a:spcPct val="50000"/>
              </a:spcBef>
            </a:pPr>
            <a:r>
              <a:rPr sz="1000" dirty="0">
                <a:solidFill>
                  <a:schemeClr val="tx1"/>
                </a:solidFill>
                <a:latin typeface="Arial" panose="020B0604020202020204" pitchFamily="34" charset="0"/>
              </a:rPr>
              <a:t>Scan </a:t>
            </a:r>
            <a:endParaRPr sz="1000" dirty="0">
              <a:solidFill>
                <a:schemeClr val="tx1"/>
              </a:solidFill>
              <a:latin typeface="Arial" panose="020B0604020202020204" pitchFamily="34" charset="0"/>
            </a:endParaRPr>
          </a:p>
          <a:p>
            <a:pPr marL="342900" indent="-342900">
              <a:spcBef>
                <a:spcPct val="50000"/>
              </a:spcBef>
            </a:pPr>
            <a:r>
              <a:rPr sz="1000" dirty="0">
                <a:solidFill>
                  <a:schemeClr val="tx1"/>
                </a:solidFill>
                <a:latin typeface="Arial" panose="020B0604020202020204" pitchFamily="34" charset="0"/>
              </a:rPr>
              <a:t>request</a:t>
            </a:r>
            <a:endParaRPr sz="1000" dirty="0">
              <a:solidFill>
                <a:schemeClr val="tx1"/>
              </a:solidFill>
              <a:latin typeface="Arial" panose="020B0604020202020204" pitchFamily="34" charset="0"/>
            </a:endParaRPr>
          </a:p>
        </p:txBody>
      </p:sp>
      <p:sp>
        <p:nvSpPr>
          <p:cNvPr id="80919" name="Rectangle 25"/>
          <p:cNvSpPr/>
          <p:nvPr/>
        </p:nvSpPr>
        <p:spPr>
          <a:xfrm>
            <a:off x="149225" y="1409700"/>
            <a:ext cx="4956175" cy="3581400"/>
          </a:xfrm>
          <a:prstGeom prst="rect">
            <a:avLst/>
          </a:prstGeom>
          <a:noFill/>
          <a:ln w="28575" cap="flat" cmpd="sng">
            <a:solidFill>
              <a:srgbClr val="99CC00"/>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pic>
        <p:nvPicPr>
          <p:cNvPr id="80920" name="Picture 27"/>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533400" y="3084513"/>
            <a:ext cx="2286000" cy="1030287"/>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2945" name="Picture 4" descr="AV"/>
          <p:cNvPicPr>
            <a:picLocks noChangeAspect="1"/>
          </p:cNvPicPr>
          <p:nvPr/>
        </p:nvPicPr>
        <p:blipFill>
          <a:blip r:embed="rId1"/>
          <a:stretch>
            <a:fillRect/>
          </a:stretch>
        </p:blipFill>
        <p:spPr>
          <a:xfrm>
            <a:off x="6324600" y="1733550"/>
            <a:ext cx="2447925" cy="1924050"/>
          </a:xfrm>
          <a:prstGeom prst="rect">
            <a:avLst/>
          </a:prstGeom>
          <a:noFill/>
          <a:ln w="9525">
            <a:noFill/>
          </a:ln>
        </p:spPr>
      </p:pic>
      <p:sp>
        <p:nvSpPr>
          <p:cNvPr id="82946"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Data Protection </a:t>
            </a:r>
            <a:r>
              <a:rPr sz="1600" dirty="0">
                <a:solidFill>
                  <a:schemeClr val="tx1"/>
                </a:solidFill>
              </a:rPr>
              <a:t>Anti-Virus Support—details</a:t>
            </a:r>
            <a:endParaRPr dirty="0">
              <a:solidFill>
                <a:schemeClr val="tx1"/>
              </a:solidFill>
            </a:endParaRPr>
          </a:p>
        </p:txBody>
      </p:sp>
      <p:sp>
        <p:nvSpPr>
          <p:cNvPr id="82947" name="Rectangle 3"/>
          <p:cNvSpPr>
            <a:spLocks noGrp="1"/>
          </p:cNvSpPr>
          <p:nvPr>
            <p:ph idx="1"/>
          </p:nvPr>
        </p:nvSpPr>
        <p:spPr>
          <a:xfrm>
            <a:off x="227013" y="1068388"/>
            <a:ext cx="6630987" cy="5256212"/>
          </a:xfrm>
          <a:ln/>
        </p:spPr>
        <p:txBody>
          <a:bodyPr vert="horz" wrap="square" lIns="91440" tIns="45720" rIns="91440" bIns="45720" anchor="t" anchorCtr="0"/>
          <a:p>
            <a:pPr marL="230505" indent="-230505" eaLnBrk="1" hangingPunct="1">
              <a:lnSpc>
                <a:spcPct val="75000"/>
              </a:lnSpc>
              <a:tabLst>
                <a:tab pos="-635" algn="l"/>
              </a:tabLst>
            </a:pPr>
            <a:r>
              <a:rPr sz="1600" dirty="0"/>
              <a:t>File</a:t>
            </a:r>
            <a:r>
              <a:rPr lang="ja-JP" altLang="en-US" sz="1600" dirty="0"/>
              <a:t>’</a:t>
            </a:r>
            <a:r>
              <a:rPr lang="en-US" altLang="ja-JP" sz="1600" dirty="0"/>
              <a:t>s AV metadata:</a:t>
            </a:r>
            <a:endParaRPr lang="en-US" altLang="ja-JP" sz="1600" dirty="0"/>
          </a:p>
          <a:p>
            <a:pPr marL="681355" lvl="1" indent="-224155" eaLnBrk="1" hangingPunct="1">
              <a:lnSpc>
                <a:spcPct val="75000"/>
              </a:lnSpc>
              <a:tabLst>
                <a:tab pos="-635" algn="l"/>
              </a:tabLst>
            </a:pPr>
            <a:r>
              <a:rPr sz="1400" dirty="0"/>
              <a:t>Virus definitions version number</a:t>
            </a:r>
            <a:endParaRPr sz="1400" dirty="0"/>
          </a:p>
          <a:p>
            <a:pPr lvl="2" eaLnBrk="1" hangingPunct="1">
              <a:lnSpc>
                <a:spcPct val="75000"/>
              </a:lnSpc>
              <a:tabLst>
                <a:tab pos="-635" algn="l"/>
              </a:tabLst>
            </a:pPr>
            <a:r>
              <a:rPr sz="1400" dirty="0"/>
              <a:t>Reset to </a:t>
            </a:r>
            <a:r>
              <a:rPr lang="ja-JP" altLang="en-US" sz="1400" dirty="0"/>
              <a:t>“</a:t>
            </a:r>
            <a:r>
              <a:rPr lang="en-US" altLang="ja-JP" sz="1400" dirty="0"/>
              <a:t>0</a:t>
            </a:r>
            <a:r>
              <a:rPr lang="ja-JP" altLang="en-US" sz="1400" dirty="0"/>
              <a:t>”</a:t>
            </a:r>
            <a:r>
              <a:rPr lang="en-US" altLang="ja-JP" sz="1400" dirty="0"/>
              <a:t> for every time a file is written to</a:t>
            </a:r>
            <a:endParaRPr lang="en-US" altLang="ja-JP" sz="1400" dirty="0"/>
          </a:p>
          <a:p>
            <a:pPr marL="681355" lvl="1" indent="-224155" eaLnBrk="1" hangingPunct="1">
              <a:lnSpc>
                <a:spcPct val="75000"/>
              </a:lnSpc>
              <a:tabLst>
                <a:tab pos="-635" algn="l"/>
              </a:tabLst>
            </a:pPr>
            <a:r>
              <a:rPr sz="1400" dirty="0"/>
              <a:t>Volume Virus scan ID</a:t>
            </a:r>
            <a:endParaRPr sz="1400" dirty="0"/>
          </a:p>
          <a:p>
            <a:pPr lvl="2" eaLnBrk="1" hangingPunct="1">
              <a:lnSpc>
                <a:spcPct val="75000"/>
              </a:lnSpc>
              <a:tabLst>
                <a:tab pos="-635" algn="l"/>
              </a:tabLst>
            </a:pPr>
            <a:r>
              <a:rPr sz="1400" dirty="0"/>
              <a:t>Also stored in Volume dynamic superblocks</a:t>
            </a:r>
            <a:endParaRPr sz="1400" dirty="0"/>
          </a:p>
          <a:p>
            <a:pPr marL="230505" indent="-230505" eaLnBrk="1" hangingPunct="1">
              <a:lnSpc>
                <a:spcPct val="75000"/>
              </a:lnSpc>
              <a:tabLst>
                <a:tab pos="-635" algn="l"/>
              </a:tabLst>
            </a:pPr>
            <a:r>
              <a:rPr sz="1600" dirty="0"/>
              <a:t>File checks:</a:t>
            </a:r>
            <a:endParaRPr sz="1600" dirty="0"/>
          </a:p>
          <a:p>
            <a:pPr marL="681355" lvl="1" indent="-224155" eaLnBrk="1" hangingPunct="1">
              <a:lnSpc>
                <a:spcPct val="75000"/>
              </a:lnSpc>
              <a:tabLst>
                <a:tab pos="-635" algn="l"/>
              </a:tabLst>
            </a:pPr>
            <a:r>
              <a:rPr sz="1400" dirty="0"/>
              <a:t>If virus scanning is disabled, then grant access to the file. </a:t>
            </a:r>
            <a:endParaRPr sz="1400" dirty="0"/>
          </a:p>
          <a:p>
            <a:pPr marL="681355" lvl="1" indent="-224155" eaLnBrk="1" hangingPunct="1">
              <a:lnSpc>
                <a:spcPct val="75000"/>
              </a:lnSpc>
              <a:tabLst>
                <a:tab pos="-635" algn="l"/>
              </a:tabLst>
            </a:pPr>
            <a:r>
              <a:rPr sz="1400" dirty="0"/>
              <a:t>If the file has already been virus scanned, then grant access. </a:t>
            </a:r>
            <a:endParaRPr sz="1400" dirty="0"/>
          </a:p>
          <a:p>
            <a:pPr marL="681355" lvl="1" indent="-224155" eaLnBrk="1" hangingPunct="1">
              <a:lnSpc>
                <a:spcPct val="75000"/>
              </a:lnSpc>
              <a:tabLst>
                <a:tab pos="-635" algn="l"/>
              </a:tabLst>
            </a:pPr>
            <a:r>
              <a:rPr sz="1400" dirty="0"/>
              <a:t>If the client is a virus scan server, then grant access. </a:t>
            </a:r>
            <a:endParaRPr sz="1400" dirty="0"/>
          </a:p>
          <a:p>
            <a:pPr marL="681355" lvl="1" indent="-224155" eaLnBrk="1" hangingPunct="1">
              <a:lnSpc>
                <a:spcPct val="75000"/>
              </a:lnSpc>
              <a:tabLst>
                <a:tab pos="-635" algn="l"/>
              </a:tabLst>
            </a:pPr>
            <a:r>
              <a:rPr sz="1400" dirty="0"/>
              <a:t>If the file is currently being scanned, then wait for the result of that scan instead of sending a new one. </a:t>
            </a:r>
            <a:endParaRPr sz="1400" dirty="0"/>
          </a:p>
          <a:p>
            <a:pPr marL="681355" lvl="1" indent="-224155" eaLnBrk="1" hangingPunct="1">
              <a:lnSpc>
                <a:spcPct val="75000"/>
              </a:lnSpc>
              <a:tabLst>
                <a:tab pos="-635" algn="l"/>
              </a:tabLst>
            </a:pPr>
            <a:r>
              <a:rPr sz="1400" dirty="0"/>
              <a:t>If the file isn't in the list of file types to scan, then grant access. </a:t>
            </a:r>
            <a:endParaRPr sz="1400" dirty="0"/>
          </a:p>
          <a:p>
            <a:pPr marL="681355" lvl="1" indent="-224155" eaLnBrk="1" hangingPunct="1">
              <a:lnSpc>
                <a:spcPct val="75000"/>
              </a:lnSpc>
              <a:tabLst>
                <a:tab pos="-635" algn="l"/>
              </a:tabLst>
            </a:pPr>
            <a:r>
              <a:rPr sz="1400" dirty="0"/>
              <a:t>If there aren't any scan servers available to scan the file, then deny access. </a:t>
            </a:r>
            <a:endParaRPr sz="1400" dirty="0"/>
          </a:p>
          <a:p>
            <a:pPr marL="681355" lvl="1" indent="-224155" eaLnBrk="1" hangingPunct="1">
              <a:lnSpc>
                <a:spcPct val="75000"/>
              </a:lnSpc>
              <a:tabLst>
                <a:tab pos="-635" algn="l"/>
              </a:tabLst>
            </a:pPr>
            <a:r>
              <a:rPr sz="1400" dirty="0"/>
              <a:t>Send a request to a scan server to scan the file. </a:t>
            </a:r>
            <a:endParaRPr sz="1400" dirty="0"/>
          </a:p>
          <a:p>
            <a:pPr marL="681355" lvl="1" indent="-224155" eaLnBrk="1" hangingPunct="1">
              <a:lnSpc>
                <a:spcPct val="75000"/>
              </a:lnSpc>
              <a:tabLst>
                <a:tab pos="-635" algn="l"/>
              </a:tabLst>
            </a:pPr>
            <a:r>
              <a:rPr sz="1400" dirty="0"/>
              <a:t>If the file is clean or was repaired, then grant access. </a:t>
            </a:r>
            <a:endParaRPr sz="1400" dirty="0"/>
          </a:p>
          <a:p>
            <a:pPr marL="681355" lvl="1" indent="-224155" eaLnBrk="1" hangingPunct="1">
              <a:lnSpc>
                <a:spcPct val="75000"/>
              </a:lnSpc>
              <a:tabLst>
                <a:tab pos="-635" algn="l"/>
              </a:tabLst>
            </a:pPr>
            <a:r>
              <a:rPr sz="1400" dirty="0"/>
              <a:t>If the file is infected or was deleted/quarantined, then deny access. </a:t>
            </a:r>
            <a:endParaRPr sz="1400" dirty="0"/>
          </a:p>
          <a:p>
            <a:pPr marL="230505" indent="-230505" eaLnBrk="1" hangingPunct="1">
              <a:lnSpc>
                <a:spcPct val="75000"/>
              </a:lnSpc>
              <a:tabLst>
                <a:tab pos="-635" algn="l"/>
              </a:tabLst>
            </a:pPr>
            <a:r>
              <a:rPr sz="1600" dirty="0"/>
              <a:t>AV servers:</a:t>
            </a:r>
            <a:endParaRPr sz="1600" dirty="0"/>
          </a:p>
          <a:p>
            <a:pPr marL="681355" lvl="1" indent="-224155" eaLnBrk="1" hangingPunct="1">
              <a:lnSpc>
                <a:spcPct val="75000"/>
              </a:lnSpc>
              <a:tabLst>
                <a:tab pos="-635" algn="l"/>
              </a:tabLst>
            </a:pPr>
            <a:r>
              <a:rPr sz="1400" dirty="0"/>
              <a:t>Named Pipes over CIFS used for bi-directional communication</a:t>
            </a:r>
            <a:endParaRPr sz="1400" dirty="0"/>
          </a:p>
          <a:p>
            <a:pPr marL="681355" lvl="1" indent="-224155" eaLnBrk="1" hangingPunct="1">
              <a:lnSpc>
                <a:spcPct val="75000"/>
              </a:lnSpc>
              <a:tabLst>
                <a:tab pos="-635" algn="l"/>
              </a:tabLst>
            </a:pPr>
            <a:r>
              <a:rPr sz="1400" dirty="0"/>
              <a:t>Round-robin load balancing when sending AV scan requests</a:t>
            </a:r>
            <a:endParaRPr sz="1400" dirty="0"/>
          </a:p>
          <a:p>
            <a:pPr marL="681355" lvl="1" indent="-224155" eaLnBrk="1" hangingPunct="1">
              <a:lnSpc>
                <a:spcPct val="75000"/>
              </a:lnSpc>
              <a:tabLst>
                <a:tab pos="-635" algn="l"/>
              </a:tabLst>
            </a:pPr>
            <a:r>
              <a:rPr sz="1400" dirty="0"/>
              <a:t>Should not have any user-level </a:t>
            </a:r>
            <a:r>
              <a:rPr lang="ja-JP" altLang="en-US" sz="1400" dirty="0"/>
              <a:t>“</a:t>
            </a:r>
            <a:r>
              <a:rPr lang="en-US" altLang="ja-JP" sz="1400" dirty="0"/>
              <a:t>CIFS</a:t>
            </a:r>
            <a:r>
              <a:rPr lang="ja-JP" altLang="en-US" sz="1400" dirty="0"/>
              <a:t>”</a:t>
            </a:r>
            <a:r>
              <a:rPr lang="en-US" altLang="ja-JP" sz="1400" dirty="0"/>
              <a:t> access to NAS node</a:t>
            </a:r>
            <a:endParaRPr lang="en-US" altLang="ja-JP" sz="1400" dirty="0"/>
          </a:p>
          <a:p>
            <a:pPr marL="230505" indent="-230505" eaLnBrk="1" hangingPunct="1">
              <a:lnSpc>
                <a:spcPct val="75000"/>
              </a:lnSpc>
              <a:tabLst>
                <a:tab pos="-635" algn="l"/>
              </a:tabLst>
            </a:pPr>
            <a:endParaRP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p:nvPr/>
        </p:nvSpPr>
        <p:spPr>
          <a:xfrm>
            <a:off x="304800" y="1219200"/>
            <a:ext cx="4038600" cy="4876800"/>
          </a:xfrm>
          <a:prstGeom prst="rect">
            <a:avLst/>
          </a:prstGeom>
          <a:solidFill>
            <a:schemeClr val="bg1"/>
          </a:solidFill>
          <a:ln w="28575" cap="flat" cmpd="sng">
            <a:solidFill>
              <a:srgbClr val="99CC00"/>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84994" name="Rectangle 3"/>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Snapshots Overview</a:t>
            </a:r>
            <a:endParaRPr dirty="0">
              <a:solidFill>
                <a:schemeClr val="tx1"/>
              </a:solidFill>
            </a:endParaRPr>
          </a:p>
        </p:txBody>
      </p:sp>
      <p:sp>
        <p:nvSpPr>
          <p:cNvPr id="599044" name="AutoShape 4"/>
          <p:cNvSpPr>
            <a:spLocks noChangeArrowheads="1"/>
          </p:cNvSpPr>
          <p:nvPr/>
        </p:nvSpPr>
        <p:spPr bwMode="auto">
          <a:xfrm>
            <a:off x="1771650" y="4879975"/>
            <a:ext cx="914400" cy="609600"/>
          </a:xfrm>
          <a:prstGeom prst="flowChartMagneticDisk">
            <a:avLst/>
          </a:prstGeom>
          <a:gradFill rotWithShape="0">
            <a:gsLst>
              <a:gs pos="0">
                <a:schemeClr val="accent1"/>
              </a:gs>
              <a:gs pos="50000">
                <a:srgbClr val="99CCFF"/>
              </a:gs>
              <a:gs pos="100000">
                <a:schemeClr val="accent1"/>
              </a:gs>
            </a:gsLst>
            <a:lin ang="2700000" scaled="1"/>
          </a:gra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84996" name="Rectangle 5"/>
          <p:cNvSpPr>
            <a:spLocks noGrp="1"/>
          </p:cNvSpPr>
          <p:nvPr>
            <p:ph type="body" sz="half" idx="1"/>
          </p:nvPr>
        </p:nvSpPr>
        <p:spPr>
          <a:xfrm>
            <a:off x="4464050" y="1222375"/>
            <a:ext cx="4548188" cy="4570413"/>
          </a:xfrm>
          <a:ln/>
        </p:spPr>
        <p:txBody>
          <a:bodyPr vert="horz" wrap="square" lIns="91440" tIns="45720" rIns="91440" bIns="45720" anchor="t" anchorCtr="0"/>
          <a:p>
            <a:pPr marL="342900" indent="-342900" eaLnBrk="1" hangingPunct="1">
              <a:lnSpc>
                <a:spcPct val="85000"/>
              </a:lnSpc>
              <a:buClrTx/>
              <a:buSzTx/>
              <a:buFontTx/>
              <a:buNone/>
              <a:tabLst>
                <a:tab pos="-635" algn="l"/>
              </a:tabLst>
            </a:pPr>
            <a:r>
              <a:rPr lang="en-GB" altLang="x-none" sz="1800" dirty="0">
                <a:solidFill>
                  <a:srgbClr val="000000"/>
                </a:solidFill>
              </a:rPr>
              <a:t>Features:</a:t>
            </a:r>
            <a:endParaRPr lang="en-GB" altLang="x-none" sz="18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Stores block level changes to data</a:t>
            </a:r>
            <a:endParaRPr lang="en-GB" altLang="x-none" sz="1600" dirty="0">
              <a:solidFill>
                <a:srgbClr val="000000"/>
              </a:solidFill>
            </a:endParaRPr>
          </a:p>
          <a:p>
            <a:pPr marL="742950" lvl="1" indent="-285750" eaLnBrk="1" hangingPunct="1">
              <a:lnSpc>
                <a:spcPct val="85000"/>
              </a:lnSpc>
              <a:tabLst>
                <a:tab pos="-635" algn="l"/>
              </a:tabLst>
            </a:pPr>
            <a:r>
              <a:rPr lang="en-GB" altLang="x-none" sz="1400" dirty="0">
                <a:solidFill>
                  <a:srgbClr val="000000"/>
                </a:solidFill>
              </a:rPr>
              <a:t>Hardware implementation for low overhead</a:t>
            </a:r>
            <a:endParaRPr lang="en-GB" altLang="x-none" sz="14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Policy based snapshot management</a:t>
            </a:r>
            <a:endParaRPr lang="en-GB" altLang="x-none" sz="1600" dirty="0">
              <a:solidFill>
                <a:srgbClr val="000000"/>
              </a:solidFill>
            </a:endParaRPr>
          </a:p>
          <a:p>
            <a:pPr marL="742950" lvl="1" indent="-285750" eaLnBrk="1" hangingPunct="1">
              <a:lnSpc>
                <a:spcPct val="85000"/>
              </a:lnSpc>
              <a:tabLst>
                <a:tab pos="-635" algn="l"/>
              </a:tabLst>
            </a:pPr>
            <a:r>
              <a:rPr lang="en-GB" altLang="x-none" sz="1400" dirty="0">
                <a:solidFill>
                  <a:srgbClr val="000000"/>
                </a:solidFill>
              </a:rPr>
              <a:t>Automated scheduler (one time or recurring)</a:t>
            </a:r>
            <a:endParaRPr lang="en-GB" altLang="x-none" sz="14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Up 1,024 snapshots per file system</a:t>
            </a:r>
            <a:endParaRPr lang="en-GB" altLang="x-none" sz="16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Frequency can go down to 1 snapshot per second</a:t>
            </a:r>
            <a:endParaRPr lang="en-GB" altLang="x-none" sz="16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File system, directory and file permissions are maintained</a:t>
            </a:r>
            <a:endParaRPr lang="en-GB" altLang="x-none" sz="16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File system can be backed up from snapshots automatically</a:t>
            </a:r>
            <a:endParaRPr lang="en-GB" altLang="x-none" sz="1600" dirty="0">
              <a:solidFill>
                <a:srgbClr val="000000"/>
              </a:solidFill>
            </a:endParaRPr>
          </a:p>
          <a:p>
            <a:pPr marL="342900" indent="-342900" eaLnBrk="1" hangingPunct="1">
              <a:lnSpc>
                <a:spcPct val="85000"/>
              </a:lnSpc>
              <a:buClrTx/>
              <a:buSzTx/>
              <a:buFontTx/>
              <a:tabLst>
                <a:tab pos="-635" algn="l"/>
              </a:tabLst>
            </a:pPr>
            <a:endParaRPr lang="en-GB" altLang="x-none" sz="1600" dirty="0">
              <a:solidFill>
                <a:srgbClr val="000000"/>
              </a:solidFill>
            </a:endParaRPr>
          </a:p>
          <a:p>
            <a:pPr marL="342900" indent="-342900" eaLnBrk="1" hangingPunct="1">
              <a:lnSpc>
                <a:spcPct val="85000"/>
              </a:lnSpc>
              <a:buClrTx/>
              <a:buSzTx/>
              <a:buFontTx/>
              <a:buNone/>
              <a:tabLst>
                <a:tab pos="-635" algn="l"/>
              </a:tabLst>
            </a:pPr>
            <a:r>
              <a:rPr lang="en-GB" altLang="x-none" sz="1800" dirty="0">
                <a:solidFill>
                  <a:srgbClr val="000000"/>
                </a:solidFill>
              </a:rPr>
              <a:t>Benefits:</a:t>
            </a:r>
            <a:endParaRPr lang="en-GB" altLang="x-none" sz="18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Increased data copy infrastructure performance</a:t>
            </a:r>
            <a:endParaRPr lang="en-GB" altLang="x-none" sz="16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Improved data protection</a:t>
            </a:r>
            <a:endParaRPr lang="en-GB" altLang="x-none" sz="16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Simplified management</a:t>
            </a:r>
            <a:endParaRPr lang="en-GB" altLang="x-none" sz="1600" dirty="0">
              <a:solidFill>
                <a:srgbClr val="000000"/>
              </a:solidFill>
            </a:endParaRPr>
          </a:p>
          <a:p>
            <a:pPr marL="342900" indent="-342900" eaLnBrk="1" hangingPunct="1">
              <a:lnSpc>
                <a:spcPct val="85000"/>
              </a:lnSpc>
              <a:buClrTx/>
              <a:buSzTx/>
              <a:buFontTx/>
              <a:tabLst>
                <a:tab pos="-635" algn="l"/>
              </a:tabLst>
            </a:pPr>
            <a:r>
              <a:rPr lang="en-GB" altLang="x-none" sz="1600" dirty="0">
                <a:solidFill>
                  <a:srgbClr val="000000"/>
                </a:solidFill>
              </a:rPr>
              <a:t>Lower cost of ownership</a:t>
            </a:r>
            <a:endParaRPr lang="en-GB" altLang="x-none" sz="1600" dirty="0">
              <a:solidFill>
                <a:srgbClr val="000000"/>
              </a:solidFill>
            </a:endParaRPr>
          </a:p>
          <a:p>
            <a:pPr marL="342900" indent="-342900" eaLnBrk="1" hangingPunct="1">
              <a:lnSpc>
                <a:spcPct val="85000"/>
              </a:lnSpc>
              <a:buClrTx/>
              <a:buSzTx/>
              <a:buFontTx/>
              <a:tabLst>
                <a:tab pos="-635" algn="l"/>
              </a:tabLst>
            </a:pPr>
            <a:endParaRPr lang="en-GB" altLang="x-none" sz="1600" dirty="0">
              <a:solidFill>
                <a:srgbClr val="000000"/>
              </a:solidFill>
            </a:endParaRPr>
          </a:p>
        </p:txBody>
      </p:sp>
      <p:sp>
        <p:nvSpPr>
          <p:cNvPr id="84997" name="Rectangle 6"/>
          <p:cNvSpPr/>
          <p:nvPr/>
        </p:nvSpPr>
        <p:spPr>
          <a:xfrm>
            <a:off x="333375" y="1223963"/>
            <a:ext cx="4025900" cy="1155700"/>
          </a:xfrm>
          <a:prstGeom prst="rect">
            <a:avLst/>
          </a:prstGeom>
          <a:noFill/>
          <a:ln w="9525">
            <a:noFill/>
          </a:ln>
        </p:spPr>
        <p:txBody>
          <a:bodyPr>
            <a:spAutoFit/>
          </a:bodyPr>
          <a:p>
            <a:r>
              <a:rPr sz="1400" dirty="0">
                <a:solidFill>
                  <a:srgbClr val="000000"/>
                </a:solidFill>
                <a:latin typeface="Arial" panose="020B0604020202020204" pitchFamily="34" charset="0"/>
              </a:rPr>
              <a:t>Allows administrators to create a cumulative history of data without duplication.  Once the initial reference point is set then snapshots efficiently copy just the changes or differences that occurred between selected intervals.</a:t>
            </a:r>
            <a:endParaRPr sz="1400" dirty="0">
              <a:solidFill>
                <a:srgbClr val="000000"/>
              </a:solidFill>
              <a:latin typeface="Arial" panose="020B0604020202020204" pitchFamily="34" charset="0"/>
            </a:endParaRPr>
          </a:p>
        </p:txBody>
      </p:sp>
      <p:sp>
        <p:nvSpPr>
          <p:cNvPr id="84998" name="Text Box 7"/>
          <p:cNvSpPr txBox="1"/>
          <p:nvPr/>
        </p:nvSpPr>
        <p:spPr>
          <a:xfrm>
            <a:off x="1752600" y="5038725"/>
            <a:ext cx="1076325" cy="457200"/>
          </a:xfrm>
          <a:prstGeom prst="rect">
            <a:avLst/>
          </a:prstGeom>
          <a:noFill/>
          <a:ln w="9525">
            <a:noFill/>
          </a:ln>
        </p:spPr>
        <p:txBody>
          <a:bodyPr>
            <a:spAutoFit/>
          </a:bodyPr>
          <a:p>
            <a:pPr algn="ctr"/>
            <a:r>
              <a:rPr sz="1200" b="1" dirty="0">
                <a:solidFill>
                  <a:srgbClr val="000000"/>
                </a:solidFill>
                <a:latin typeface="Arial" panose="020B0604020202020204" pitchFamily="34" charset="0"/>
              </a:rPr>
              <a:t>Live File System</a:t>
            </a:r>
            <a:endParaRPr sz="1200" b="1" dirty="0">
              <a:solidFill>
                <a:srgbClr val="000000"/>
              </a:solidFill>
              <a:latin typeface="Arial" panose="020B0604020202020204" pitchFamily="34" charset="0"/>
            </a:endParaRPr>
          </a:p>
        </p:txBody>
      </p:sp>
      <p:sp>
        <p:nvSpPr>
          <p:cNvPr id="84999" name="Text Box 8"/>
          <p:cNvSpPr txBox="1"/>
          <p:nvPr/>
        </p:nvSpPr>
        <p:spPr>
          <a:xfrm>
            <a:off x="3246438" y="3570288"/>
            <a:ext cx="946150" cy="274637"/>
          </a:xfrm>
          <a:prstGeom prst="rect">
            <a:avLst/>
          </a:prstGeom>
          <a:noFill/>
          <a:ln w="9525">
            <a:noFill/>
          </a:ln>
        </p:spPr>
        <p:txBody>
          <a:bodyPr wrap="none">
            <a:spAutoFit/>
          </a:bodyPr>
          <a:p>
            <a:r>
              <a:rPr sz="1200" b="1" dirty="0">
                <a:solidFill>
                  <a:srgbClr val="000000"/>
                </a:solidFill>
                <a:latin typeface="Arial" panose="020B0604020202020204" pitchFamily="34" charset="0"/>
              </a:rPr>
              <a:t>Delta View</a:t>
            </a:r>
            <a:endParaRPr sz="1200" b="1" dirty="0">
              <a:solidFill>
                <a:srgbClr val="000000"/>
              </a:solidFill>
              <a:latin typeface="Arial" panose="020B0604020202020204" pitchFamily="34" charset="0"/>
            </a:endParaRPr>
          </a:p>
        </p:txBody>
      </p:sp>
      <p:sp>
        <p:nvSpPr>
          <p:cNvPr id="85000" name="Text Box 9"/>
          <p:cNvSpPr txBox="1"/>
          <p:nvPr/>
        </p:nvSpPr>
        <p:spPr>
          <a:xfrm>
            <a:off x="3246438" y="4373563"/>
            <a:ext cx="946150" cy="274637"/>
          </a:xfrm>
          <a:prstGeom prst="rect">
            <a:avLst/>
          </a:prstGeom>
          <a:noFill/>
          <a:ln w="9525">
            <a:noFill/>
          </a:ln>
        </p:spPr>
        <p:txBody>
          <a:bodyPr wrap="none">
            <a:spAutoFit/>
          </a:bodyPr>
          <a:p>
            <a:r>
              <a:rPr sz="1200" b="1" dirty="0">
                <a:solidFill>
                  <a:srgbClr val="000000"/>
                </a:solidFill>
                <a:latin typeface="Arial" panose="020B0604020202020204" pitchFamily="34" charset="0"/>
              </a:rPr>
              <a:t>Delta View</a:t>
            </a:r>
            <a:endParaRPr sz="1200" b="1" dirty="0">
              <a:solidFill>
                <a:srgbClr val="000000"/>
              </a:solidFill>
              <a:latin typeface="Arial" panose="020B0604020202020204" pitchFamily="34" charset="0"/>
            </a:endParaRPr>
          </a:p>
        </p:txBody>
      </p:sp>
      <p:sp>
        <p:nvSpPr>
          <p:cNvPr id="599050" name="AutoShape 10"/>
          <p:cNvSpPr>
            <a:spLocks noChangeArrowheads="1"/>
          </p:cNvSpPr>
          <p:nvPr/>
        </p:nvSpPr>
        <p:spPr bwMode="auto">
          <a:xfrm>
            <a:off x="2619375" y="3548063"/>
            <a:ext cx="508000" cy="315913"/>
          </a:xfrm>
          <a:prstGeom prst="flowChartMagneticDisk">
            <a:avLst/>
          </a:prstGeom>
          <a:gradFill rotWithShape="0">
            <a:gsLst>
              <a:gs pos="0">
                <a:schemeClr val="accent1"/>
              </a:gs>
              <a:gs pos="50000">
                <a:srgbClr val="99CCFF"/>
              </a:gs>
              <a:gs pos="100000">
                <a:schemeClr val="accent1"/>
              </a:gs>
            </a:gsLst>
            <a:lin ang="2700000" scaled="1"/>
          </a:gra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599051" name="AutoShape 11"/>
          <p:cNvSpPr>
            <a:spLocks noChangeArrowheads="1"/>
          </p:cNvSpPr>
          <p:nvPr/>
        </p:nvSpPr>
        <p:spPr bwMode="auto">
          <a:xfrm>
            <a:off x="2619375" y="3944938"/>
            <a:ext cx="508000" cy="315913"/>
          </a:xfrm>
          <a:prstGeom prst="flowChartMagneticDisk">
            <a:avLst/>
          </a:prstGeom>
          <a:gradFill rotWithShape="0">
            <a:gsLst>
              <a:gs pos="0">
                <a:schemeClr val="accent1"/>
              </a:gs>
              <a:gs pos="50000">
                <a:srgbClr val="99CCFF"/>
              </a:gs>
              <a:gs pos="100000">
                <a:schemeClr val="accent1"/>
              </a:gs>
            </a:gsLst>
            <a:lin ang="2700000" scaled="1"/>
          </a:gra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599052" name="AutoShape 12"/>
          <p:cNvSpPr>
            <a:spLocks noChangeArrowheads="1"/>
          </p:cNvSpPr>
          <p:nvPr/>
        </p:nvSpPr>
        <p:spPr bwMode="auto">
          <a:xfrm>
            <a:off x="2619375" y="4354513"/>
            <a:ext cx="508000" cy="315913"/>
          </a:xfrm>
          <a:prstGeom prst="flowChartMagneticDisk">
            <a:avLst/>
          </a:prstGeom>
          <a:gradFill rotWithShape="0">
            <a:gsLst>
              <a:gs pos="0">
                <a:schemeClr val="accent1"/>
              </a:gs>
              <a:gs pos="50000">
                <a:srgbClr val="99CCFF"/>
              </a:gs>
              <a:gs pos="100000">
                <a:schemeClr val="accent1"/>
              </a:gs>
            </a:gsLst>
            <a:lin ang="2700000" scaled="1"/>
          </a:gra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1" lang="en-US" sz="1800" b="0" i="0" u="none" strike="noStrike" kern="1200" cap="none" spc="0" normalizeH="0" baseline="0" noProof="0">
              <a:ln>
                <a:noFill/>
              </a:ln>
              <a:solidFill>
                <a:srgbClr val="333333"/>
              </a:solidFill>
              <a:effectLst/>
              <a:uLnTx/>
              <a:uFillTx/>
              <a:latin typeface="Arial" panose="020B0604020202020204" pitchFamily="34" charset="0"/>
              <a:ea typeface="MS PGothic" charset="0"/>
              <a:cs typeface="MS PGothic" charset="0"/>
            </a:endParaRPr>
          </a:p>
        </p:txBody>
      </p:sp>
      <p:sp>
        <p:nvSpPr>
          <p:cNvPr id="85004" name="Text Box 13"/>
          <p:cNvSpPr txBox="1"/>
          <p:nvPr/>
        </p:nvSpPr>
        <p:spPr>
          <a:xfrm>
            <a:off x="3246438" y="3973513"/>
            <a:ext cx="946150" cy="274637"/>
          </a:xfrm>
          <a:prstGeom prst="rect">
            <a:avLst/>
          </a:prstGeom>
          <a:noFill/>
          <a:ln w="9525">
            <a:noFill/>
          </a:ln>
        </p:spPr>
        <p:txBody>
          <a:bodyPr wrap="none">
            <a:spAutoFit/>
          </a:bodyPr>
          <a:p>
            <a:r>
              <a:rPr sz="1200" b="1" dirty="0">
                <a:solidFill>
                  <a:srgbClr val="000000"/>
                </a:solidFill>
                <a:latin typeface="Arial" panose="020B0604020202020204" pitchFamily="34" charset="0"/>
              </a:rPr>
              <a:t>Delta View</a:t>
            </a:r>
            <a:endParaRPr sz="1200" b="1" dirty="0">
              <a:solidFill>
                <a:srgbClr val="000000"/>
              </a:solidFill>
              <a:latin typeface="Arial" panose="020B0604020202020204" pitchFamily="34" charset="0"/>
            </a:endParaRPr>
          </a:p>
        </p:txBody>
      </p:sp>
      <p:sp>
        <p:nvSpPr>
          <p:cNvPr id="85005" name="Freeform 14"/>
          <p:cNvSpPr/>
          <p:nvPr/>
        </p:nvSpPr>
        <p:spPr>
          <a:xfrm>
            <a:off x="923925" y="5540375"/>
            <a:ext cx="1341438" cy="404813"/>
          </a:xfrm>
          <a:custGeom>
            <a:avLst/>
            <a:gdLst>
              <a:gd name="txL" fmla="*/ 0 w 845"/>
              <a:gd name="txT" fmla="*/ 0 h 300"/>
              <a:gd name="txR" fmla="*/ 845 w 845"/>
              <a:gd name="txB" fmla="*/ 300 h 300"/>
            </a:gdLst>
            <a:ahLst/>
            <a:cxnLst>
              <a:cxn ang="0">
                <a:pos x="0" y="2147483647"/>
              </a:cxn>
              <a:cxn ang="0">
                <a:pos x="0" y="2147483647"/>
              </a:cxn>
              <a:cxn ang="0">
                <a:pos x="2147483647" y="2147483647"/>
              </a:cxn>
              <a:cxn ang="0">
                <a:pos x="2147483647" y="0"/>
              </a:cxn>
            </a:cxnLst>
            <a:rect l="txL" t="txT" r="txR" b="txB"/>
            <a:pathLst>
              <a:path w="845" h="300">
                <a:moveTo>
                  <a:pt x="0" y="115"/>
                </a:moveTo>
                <a:lnTo>
                  <a:pt x="0" y="300"/>
                </a:lnTo>
                <a:lnTo>
                  <a:pt x="845" y="300"/>
                </a:lnTo>
                <a:lnTo>
                  <a:pt x="845" y="0"/>
                </a:lnTo>
              </a:path>
            </a:pathLst>
          </a:custGeom>
          <a:noFill/>
          <a:ln w="38100" cap="flat" cmpd="sng">
            <a:solidFill>
              <a:schemeClr val="tx1">
                <a:alpha val="100000"/>
              </a:schemeClr>
            </a:solidFill>
            <a:prstDash val="solid"/>
            <a:round/>
            <a:headEnd type="none" w="med" len="med"/>
            <a:tailEnd type="triangle" w="med" len="med"/>
          </a:ln>
        </p:spPr>
        <p:txBody>
          <a:bodyPr/>
          <a:p>
            <a:endParaRPr lang="en-US"/>
          </a:p>
        </p:txBody>
      </p:sp>
      <p:sp>
        <p:nvSpPr>
          <p:cNvPr id="85006" name="Rectangle 15"/>
          <p:cNvSpPr/>
          <p:nvPr/>
        </p:nvSpPr>
        <p:spPr>
          <a:xfrm>
            <a:off x="1717675" y="3357563"/>
            <a:ext cx="2489200" cy="2195512"/>
          </a:xfrm>
          <a:prstGeom prst="rect">
            <a:avLst/>
          </a:prstGeom>
          <a:noFill/>
          <a:ln w="9525" cap="flat" cmpd="sng">
            <a:solidFill>
              <a:schemeClr val="folHlink"/>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85007" name="Text Box 16"/>
          <p:cNvSpPr txBox="1"/>
          <p:nvPr/>
        </p:nvSpPr>
        <p:spPr>
          <a:xfrm>
            <a:off x="1944688" y="3003550"/>
            <a:ext cx="2036762" cy="336550"/>
          </a:xfrm>
          <a:prstGeom prst="rect">
            <a:avLst/>
          </a:prstGeom>
          <a:noFill/>
          <a:ln w="9525">
            <a:noFill/>
          </a:ln>
        </p:spPr>
        <p:txBody>
          <a:bodyPr wrap="none">
            <a:spAutoFit/>
          </a:bodyPr>
          <a:p>
            <a:r>
              <a:rPr sz="1600" b="1" dirty="0">
                <a:solidFill>
                  <a:srgbClr val="000000"/>
                </a:solidFill>
                <a:latin typeface="Arial" panose="020B0604020202020204" pitchFamily="34" charset="0"/>
              </a:rPr>
              <a:t>Cumulative History</a:t>
            </a:r>
            <a:endParaRPr sz="1600" b="1" dirty="0">
              <a:solidFill>
                <a:srgbClr val="000000"/>
              </a:solidFill>
              <a:latin typeface="Arial" panose="020B0604020202020204" pitchFamily="34" charset="0"/>
            </a:endParaRPr>
          </a:p>
        </p:txBody>
      </p:sp>
      <p:pic>
        <p:nvPicPr>
          <p:cNvPr id="85008" name="Picture 17" descr="USP"/>
          <p:cNvPicPr>
            <a:picLocks noChangeAspect="1"/>
          </p:cNvPicPr>
          <p:nvPr/>
        </p:nvPicPr>
        <p:blipFill>
          <a:blip r:embed="rId1"/>
          <a:stretch>
            <a:fillRect/>
          </a:stretch>
        </p:blipFill>
        <p:spPr>
          <a:xfrm>
            <a:off x="457200" y="3333750"/>
            <a:ext cx="1231900" cy="2438400"/>
          </a:xfrm>
          <a:prstGeom prst="rect">
            <a:avLst/>
          </a:prstGeom>
          <a:noFill/>
          <a:ln w="9525">
            <a:noFill/>
          </a:ln>
        </p:spPr>
      </p:pic>
      <p:pic>
        <p:nvPicPr>
          <p:cNvPr id="85009" name="Picture 18" descr="Jumbo_bezel_2"/>
          <p:cNvPicPr>
            <a:picLocks noChangeAspect="1"/>
          </p:cNvPicPr>
          <p:nvPr/>
        </p:nvPicPr>
        <p:blipFill>
          <a:blip r:embed="rId2"/>
          <a:stretch>
            <a:fillRect/>
          </a:stretch>
        </p:blipFill>
        <p:spPr>
          <a:xfrm>
            <a:off x="533400" y="2876550"/>
            <a:ext cx="1066800" cy="385763"/>
          </a:xfrm>
          <a:prstGeom prst="rect">
            <a:avLst/>
          </a:prstGeom>
          <a:noFill/>
          <a:ln w="9525">
            <a:noFill/>
          </a:ln>
        </p:spPr>
      </p:pic>
      <p:pic>
        <p:nvPicPr>
          <p:cNvPr id="85010" name="Picture 20"/>
          <p:cNvPicPr>
            <a:picLocks noChangeAspect="1"/>
          </p:cNvPicPr>
          <p:nvPr/>
        </p:nvPicPr>
        <p:blipFill>
          <a:blip r:embed="rId3">
            <a:clrChange>
              <a:clrFrom>
                <a:srgbClr val="FFFFFF"/>
              </a:clrFrom>
              <a:clrTo>
                <a:srgbClr val="FFFFFF">
                  <a:alpha val="0"/>
                </a:srgbClr>
              </a:clrTo>
            </a:clrChange>
          </a:blip>
          <a:srcRect l="7292" t="26471" r="4167" b="9216"/>
          <a:stretch>
            <a:fillRect/>
          </a:stretch>
        </p:blipFill>
        <p:spPr>
          <a:xfrm>
            <a:off x="469900" y="2768600"/>
            <a:ext cx="1143000" cy="514350"/>
          </a:xfrm>
          <a:prstGeom prst="rect">
            <a:avLst/>
          </a:prstGeom>
          <a:noFill/>
          <a:ln w="9525">
            <a:noFill/>
          </a:ln>
        </p:spPr>
      </p:pic>
    </p:spTree>
  </p:cSld>
  <p:clrMapOvr>
    <a:masterClrMapping/>
  </p:clrMapOvr>
  <p:transition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p:nvPr/>
        </p:nvSpPr>
        <p:spPr>
          <a:xfrm>
            <a:off x="187325" y="1219200"/>
            <a:ext cx="4156075" cy="4999038"/>
          </a:xfrm>
          <a:prstGeom prst="rect">
            <a:avLst/>
          </a:prstGeom>
          <a:solidFill>
            <a:schemeClr val="bg1"/>
          </a:solidFill>
          <a:ln w="25400" cap="flat" cmpd="sng">
            <a:solidFill>
              <a:srgbClr val="99CC00"/>
            </a:solidFill>
            <a:prstDash val="solid"/>
            <a:miter/>
            <a:headEnd type="none" w="med" len="med"/>
            <a:tailEnd type="none" w="med" len="med"/>
          </a:ln>
        </p:spPr>
        <p:txBody>
          <a:bodyPr wrap="none" anchor="ctr" anchorCtr="0"/>
          <a:p>
            <a:pPr>
              <a:spcBef>
                <a:spcPct val="20000"/>
              </a:spcBef>
              <a:buChar char="•"/>
            </a:pPr>
            <a:endParaRPr dirty="0">
              <a:latin typeface="Arial" panose="020B0604020202020204" pitchFamily="34" charset="0"/>
            </a:endParaRPr>
          </a:p>
        </p:txBody>
      </p:sp>
      <p:sp>
        <p:nvSpPr>
          <p:cNvPr id="601091" name="AutoShape 3"/>
          <p:cNvSpPr/>
          <p:nvPr/>
        </p:nvSpPr>
        <p:spPr>
          <a:xfrm>
            <a:off x="3086100" y="4398963"/>
            <a:ext cx="1117600" cy="488950"/>
          </a:xfrm>
          <a:prstGeom prst="flowChartOnlineStorage">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r>
              <a:rPr b="1" dirty="0">
                <a:solidFill>
                  <a:schemeClr val="tx1"/>
                </a:solidFill>
                <a:latin typeface="Helvetica" charset="0"/>
              </a:rPr>
              <a:t>C</a:t>
            </a:r>
            <a:r>
              <a:rPr lang="ja-JP" altLang="en-US" b="1" dirty="0">
                <a:solidFill>
                  <a:schemeClr val="tx1"/>
                </a:solidFill>
                <a:latin typeface="Helvetica" charset="0"/>
              </a:rPr>
              <a:t>’</a:t>
            </a:r>
            <a:endParaRPr b="1" dirty="0">
              <a:solidFill>
                <a:schemeClr val="tx1"/>
              </a:solidFill>
              <a:latin typeface="Helvetica" charset="0"/>
            </a:endParaRPr>
          </a:p>
        </p:txBody>
      </p:sp>
      <p:sp>
        <p:nvSpPr>
          <p:cNvPr id="601092" name="Rectangle 4"/>
          <p:cNvSpPr/>
          <p:nvPr/>
        </p:nvSpPr>
        <p:spPr>
          <a:xfrm>
            <a:off x="4370388" y="1277938"/>
            <a:ext cx="4648200" cy="4687887"/>
          </a:xfrm>
          <a:prstGeom prst="rect">
            <a:avLst/>
          </a:prstGeom>
          <a:noFill/>
          <a:ln w="9525">
            <a:noFill/>
          </a:ln>
        </p:spPr>
        <p:txBody>
          <a:bodyPr/>
          <a:p>
            <a:pPr marL="266700" indent="-266700">
              <a:lnSpc>
                <a:spcPct val="75000"/>
              </a:lnSpc>
              <a:spcBef>
                <a:spcPct val="20000"/>
              </a:spcBef>
              <a:buFont typeface="Wingdings" panose="05000000000000000000" pitchFamily="2" charset="2"/>
              <a:buAutoNum type="arabicPeriod"/>
            </a:pPr>
            <a:r>
              <a:rPr sz="1500" dirty="0">
                <a:solidFill>
                  <a:schemeClr val="tx1"/>
                </a:solidFill>
                <a:latin typeface="Helvetica" charset="0"/>
              </a:rPr>
              <a:t>Pre-snapshot filesystem view </a:t>
            </a:r>
            <a:r>
              <a:rPr sz="1200" b="1" dirty="0">
                <a:solidFill>
                  <a:schemeClr val="tx1"/>
                </a:solidFill>
                <a:latin typeface="Helvetica" charset="0"/>
              </a:rPr>
              <a:t>@ </a:t>
            </a:r>
            <a:r>
              <a:rPr sz="1500" dirty="0">
                <a:solidFill>
                  <a:schemeClr val="tx1"/>
                </a:solidFill>
                <a:latin typeface="Helvetica" charset="0"/>
              </a:rPr>
              <a:t>t</a:t>
            </a:r>
            <a:r>
              <a:rPr sz="1500" b="1" baseline="-25000" dirty="0">
                <a:solidFill>
                  <a:schemeClr val="tx1"/>
                </a:solidFill>
                <a:latin typeface="Helvetica" charset="0"/>
              </a:rPr>
              <a:t>0</a:t>
            </a:r>
            <a:r>
              <a:rPr sz="1500" dirty="0">
                <a:solidFill>
                  <a:schemeClr val="tx1"/>
                </a:solidFill>
                <a:latin typeface="Helvetica" charset="0"/>
              </a:rPr>
              <a:t>: Blocks A, B, C</a:t>
            </a:r>
            <a:endParaRPr sz="1500" dirty="0">
              <a:solidFill>
                <a:schemeClr val="tx1"/>
              </a:solidFill>
              <a:latin typeface="Helvetica" charset="0"/>
            </a:endParaRPr>
          </a:p>
          <a:p>
            <a:pPr marL="266700" indent="-266700">
              <a:lnSpc>
                <a:spcPct val="75000"/>
              </a:lnSpc>
              <a:spcBef>
                <a:spcPct val="20000"/>
              </a:spcBef>
              <a:buFont typeface="Wingdings" panose="05000000000000000000" pitchFamily="2" charset="2"/>
              <a:buAutoNum type="arabicPeriod"/>
            </a:pPr>
            <a:r>
              <a:rPr sz="1500" dirty="0">
                <a:solidFill>
                  <a:schemeClr val="tx1"/>
                </a:solidFill>
                <a:latin typeface="Helvetica" charset="0"/>
              </a:rPr>
              <a:t>Snapshot creation is instant, no data is copied t</a:t>
            </a:r>
            <a:r>
              <a:rPr sz="1500" b="1" baseline="-25000" dirty="0">
                <a:solidFill>
                  <a:schemeClr val="tx1"/>
                </a:solidFill>
                <a:latin typeface="Helvetica" charset="0"/>
              </a:rPr>
              <a:t>1</a:t>
            </a:r>
            <a:endParaRPr sz="1500" dirty="0">
              <a:solidFill>
                <a:schemeClr val="tx1"/>
              </a:solidFill>
              <a:latin typeface="Helvetica" charset="0"/>
            </a:endParaRPr>
          </a:p>
          <a:p>
            <a:pPr marL="266700" indent="-266700">
              <a:lnSpc>
                <a:spcPct val="75000"/>
              </a:lnSpc>
              <a:spcBef>
                <a:spcPct val="20000"/>
              </a:spcBef>
              <a:buFont typeface="Wingdings" panose="05000000000000000000" pitchFamily="2" charset="2"/>
              <a:buAutoNum type="arabicPeriod"/>
            </a:pPr>
            <a:r>
              <a:rPr sz="1500" dirty="0">
                <a:solidFill>
                  <a:schemeClr val="tx1"/>
                </a:solidFill>
                <a:latin typeface="Helvetica" charset="0"/>
              </a:rPr>
              <a:t>When a write occurs to the file system at t</a:t>
            </a:r>
            <a:r>
              <a:rPr sz="1500" b="1" baseline="-25000" dirty="0">
                <a:solidFill>
                  <a:schemeClr val="tx1"/>
                </a:solidFill>
                <a:latin typeface="Helvetica" charset="0"/>
              </a:rPr>
              <a:t>2</a:t>
            </a:r>
            <a:r>
              <a:rPr sz="1500" dirty="0">
                <a:solidFill>
                  <a:schemeClr val="tx1"/>
                </a:solidFill>
                <a:latin typeface="Helvetica" charset="0"/>
              </a:rPr>
              <a:t>, a copy of the </a:t>
            </a:r>
            <a:r>
              <a:rPr sz="1500" u="sng" dirty="0">
                <a:solidFill>
                  <a:schemeClr val="tx1"/>
                </a:solidFill>
                <a:latin typeface="Helvetica" charset="0"/>
              </a:rPr>
              <a:t>Root Onode</a:t>
            </a:r>
            <a:r>
              <a:rPr sz="1500" dirty="0">
                <a:solidFill>
                  <a:schemeClr val="tx1"/>
                </a:solidFill>
                <a:latin typeface="Helvetica" charset="0"/>
              </a:rPr>
              <a:t> is created for the Snapshot. This Snapshot Onode points to the preserved data blocks</a:t>
            </a:r>
            <a:endParaRPr sz="1500" dirty="0">
              <a:solidFill>
                <a:schemeClr val="tx1"/>
              </a:solidFill>
              <a:latin typeface="Helvetica" charset="0"/>
            </a:endParaRPr>
          </a:p>
          <a:p>
            <a:pPr marL="266700" indent="-266700">
              <a:lnSpc>
                <a:spcPct val="75000"/>
              </a:lnSpc>
              <a:spcBef>
                <a:spcPct val="20000"/>
              </a:spcBef>
              <a:buFont typeface="Wingdings" panose="05000000000000000000" pitchFamily="2" charset="2"/>
              <a:buAutoNum type="arabicPeriod"/>
            </a:pPr>
            <a:r>
              <a:rPr sz="1500" dirty="0">
                <a:solidFill>
                  <a:schemeClr val="tx1"/>
                </a:solidFill>
                <a:latin typeface="Helvetica" charset="0"/>
              </a:rPr>
              <a:t>The incoming data blocks B</a:t>
            </a:r>
            <a:r>
              <a:rPr lang="ja-JP" altLang="en-US" sz="1500" dirty="0">
                <a:solidFill>
                  <a:schemeClr val="tx1"/>
                </a:solidFill>
                <a:latin typeface="Helvetica" charset="0"/>
              </a:rPr>
              <a:t>’</a:t>
            </a:r>
            <a:r>
              <a:rPr lang="en-US" altLang="ja-JP" sz="1500" dirty="0">
                <a:solidFill>
                  <a:schemeClr val="tx1"/>
                </a:solidFill>
                <a:latin typeface="Helvetica" charset="0"/>
              </a:rPr>
              <a:t> &amp; C</a:t>
            </a:r>
            <a:r>
              <a:rPr lang="ja-JP" altLang="en-US" sz="1500" dirty="0">
                <a:solidFill>
                  <a:schemeClr val="tx1"/>
                </a:solidFill>
                <a:latin typeface="Helvetica" charset="0"/>
              </a:rPr>
              <a:t>’</a:t>
            </a:r>
            <a:r>
              <a:rPr lang="en-US" altLang="ja-JP" sz="1500" dirty="0">
                <a:solidFill>
                  <a:schemeClr val="tx1"/>
                </a:solidFill>
                <a:latin typeface="Helvetica" charset="0"/>
              </a:rPr>
              <a:t> are written to new available blocks. The new block (B</a:t>
            </a:r>
            <a:r>
              <a:rPr lang="ja-JP" altLang="en-US" sz="1500" dirty="0">
                <a:solidFill>
                  <a:schemeClr val="tx1"/>
                </a:solidFill>
                <a:latin typeface="Helvetica" charset="0"/>
              </a:rPr>
              <a:t>’</a:t>
            </a:r>
            <a:r>
              <a:rPr lang="en-US" altLang="ja-JP" sz="1500" dirty="0">
                <a:solidFill>
                  <a:schemeClr val="tx1"/>
                </a:solidFill>
                <a:latin typeface="Helvetica" charset="0"/>
              </a:rPr>
              <a:t> &amp; C</a:t>
            </a:r>
            <a:r>
              <a:rPr lang="ja-JP" altLang="en-US" sz="1500" dirty="0">
                <a:solidFill>
                  <a:schemeClr val="tx1"/>
                </a:solidFill>
                <a:latin typeface="Helvetica" charset="0"/>
              </a:rPr>
              <a:t>’</a:t>
            </a:r>
            <a:r>
              <a:rPr lang="en-US" altLang="ja-JP" sz="1500" dirty="0">
                <a:solidFill>
                  <a:schemeClr val="tx1"/>
                </a:solidFill>
                <a:latin typeface="Helvetica" charset="0"/>
              </a:rPr>
              <a:t>) pointers are added to the live Root Onode and the old pointers are removed (B &amp; C)</a:t>
            </a:r>
            <a:endParaRPr lang="en-US" altLang="ja-JP" sz="1500" dirty="0">
              <a:solidFill>
                <a:schemeClr val="tx1"/>
              </a:solidFill>
              <a:latin typeface="Helvetica" charset="0"/>
            </a:endParaRPr>
          </a:p>
          <a:p>
            <a:pPr marL="266700" indent="-266700">
              <a:lnSpc>
                <a:spcPct val="75000"/>
              </a:lnSpc>
              <a:spcBef>
                <a:spcPct val="20000"/>
              </a:spcBef>
              <a:buFont typeface="Wingdings" panose="05000000000000000000" pitchFamily="2" charset="2"/>
              <a:buAutoNum type="arabicPeriod"/>
            </a:pPr>
            <a:r>
              <a:rPr sz="1500" dirty="0">
                <a:solidFill>
                  <a:schemeClr val="tx1"/>
                </a:solidFill>
                <a:latin typeface="Helvetica" charset="0"/>
              </a:rPr>
              <a:t>The live Root Onode is used when reading the live volume, linking to live blocks (A, B</a:t>
            </a:r>
            <a:r>
              <a:rPr lang="ja-JP" altLang="en-US" sz="1500" dirty="0">
                <a:solidFill>
                  <a:schemeClr val="tx1"/>
                </a:solidFill>
                <a:latin typeface="Helvetica" charset="0"/>
              </a:rPr>
              <a:t>’</a:t>
            </a:r>
            <a:r>
              <a:rPr lang="en-US" altLang="ja-JP" sz="1500" dirty="0">
                <a:solidFill>
                  <a:schemeClr val="tx1"/>
                </a:solidFill>
                <a:latin typeface="Helvetica" charset="0"/>
              </a:rPr>
              <a:t>,  C</a:t>
            </a:r>
            <a:r>
              <a:rPr lang="ja-JP" altLang="en-US" sz="1500" dirty="0">
                <a:solidFill>
                  <a:schemeClr val="tx1"/>
                </a:solidFill>
                <a:latin typeface="Helvetica" charset="0"/>
              </a:rPr>
              <a:t>’</a:t>
            </a:r>
            <a:r>
              <a:rPr lang="en-US" altLang="ja-JP" sz="1500" dirty="0">
                <a:solidFill>
                  <a:schemeClr val="tx1"/>
                </a:solidFill>
                <a:latin typeface="Helvetica" charset="0"/>
              </a:rPr>
              <a:t>)</a:t>
            </a:r>
            <a:endParaRPr lang="en-US" altLang="ja-JP" sz="1500" dirty="0">
              <a:solidFill>
                <a:schemeClr val="tx1"/>
              </a:solidFill>
              <a:latin typeface="Helvetica" charset="0"/>
            </a:endParaRPr>
          </a:p>
          <a:p>
            <a:pPr marL="266700" indent="-266700">
              <a:lnSpc>
                <a:spcPct val="75000"/>
              </a:lnSpc>
              <a:spcBef>
                <a:spcPct val="20000"/>
              </a:spcBef>
              <a:buFont typeface="Wingdings" panose="05000000000000000000" pitchFamily="2" charset="2"/>
              <a:buAutoNum type="arabicPeriod"/>
            </a:pPr>
            <a:r>
              <a:rPr sz="1500" dirty="0">
                <a:solidFill>
                  <a:schemeClr val="tx1"/>
                </a:solidFill>
                <a:latin typeface="Helvetica" charset="0"/>
              </a:rPr>
              <a:t>The snapshot Onode is used when reading the snapshot volume, linking to the preserved blocks (B &amp; C) and shared blocks (A) </a:t>
            </a:r>
            <a:endParaRPr sz="1500" dirty="0">
              <a:solidFill>
                <a:schemeClr val="tx1"/>
              </a:solidFill>
              <a:latin typeface="Helvetica" charset="0"/>
            </a:endParaRPr>
          </a:p>
          <a:p>
            <a:pPr marL="266700" indent="-266700">
              <a:lnSpc>
                <a:spcPct val="75000"/>
              </a:lnSpc>
              <a:spcBef>
                <a:spcPct val="20000"/>
              </a:spcBef>
              <a:buFont typeface="Wingdings" panose="05000000000000000000" pitchFamily="2" charset="2"/>
              <a:buAutoNum type="arabicPeriod"/>
            </a:pPr>
            <a:r>
              <a:rPr sz="1500" dirty="0">
                <a:solidFill>
                  <a:schemeClr val="tx1"/>
                </a:solidFill>
                <a:latin typeface="Helvetica" charset="0"/>
              </a:rPr>
              <a:t>Not all blocks are freed up upon snapshot deletion</a:t>
            </a:r>
            <a:endParaRPr sz="1500" dirty="0">
              <a:solidFill>
                <a:schemeClr val="tx1"/>
              </a:solidFill>
              <a:latin typeface="Helvetica" charset="0"/>
            </a:endParaRPr>
          </a:p>
          <a:p>
            <a:pPr marL="266700" indent="-266700">
              <a:lnSpc>
                <a:spcPct val="75000"/>
              </a:lnSpc>
              <a:spcBef>
                <a:spcPct val="20000"/>
              </a:spcBef>
              <a:buChar char="•"/>
            </a:pPr>
            <a:r>
              <a:rPr sz="1500" dirty="0">
                <a:solidFill>
                  <a:schemeClr val="tx1"/>
                </a:solidFill>
                <a:latin typeface="Helvetica" charset="0"/>
              </a:rPr>
              <a:t>Snapshots done in hardware - with no performance loss on reads or writes</a:t>
            </a:r>
            <a:endParaRPr sz="1500" dirty="0">
              <a:solidFill>
                <a:schemeClr val="tx1"/>
              </a:solidFill>
              <a:latin typeface="Helvetica" charset="0"/>
            </a:endParaRPr>
          </a:p>
          <a:p>
            <a:pPr marL="266700" indent="-266700">
              <a:lnSpc>
                <a:spcPct val="75000"/>
              </a:lnSpc>
              <a:spcBef>
                <a:spcPct val="20000"/>
              </a:spcBef>
              <a:buChar char="•"/>
            </a:pPr>
            <a:r>
              <a:rPr sz="1500" dirty="0">
                <a:solidFill>
                  <a:schemeClr val="tx1"/>
                </a:solidFill>
                <a:latin typeface="Helvetica" charset="0"/>
              </a:rPr>
              <a:t>Aggressive </a:t>
            </a:r>
            <a:r>
              <a:rPr sz="1500" u="sng" dirty="0">
                <a:solidFill>
                  <a:schemeClr val="tx1"/>
                </a:solidFill>
                <a:latin typeface="Helvetica" charset="0"/>
              </a:rPr>
              <a:t>object</a:t>
            </a:r>
            <a:r>
              <a:rPr sz="1500" dirty="0">
                <a:solidFill>
                  <a:schemeClr val="tx1"/>
                </a:solidFill>
                <a:latin typeface="Helvetica" charset="0"/>
              </a:rPr>
              <a:t> read-aheads ensures high performance reads</a:t>
            </a:r>
            <a:endParaRPr sz="1500" dirty="0">
              <a:solidFill>
                <a:schemeClr val="tx1"/>
              </a:solidFill>
              <a:latin typeface="Helvetica" charset="0"/>
            </a:endParaRPr>
          </a:p>
          <a:p>
            <a:pPr marL="266700" indent="-266700">
              <a:lnSpc>
                <a:spcPct val="75000"/>
              </a:lnSpc>
              <a:spcBef>
                <a:spcPct val="20000"/>
              </a:spcBef>
              <a:buChar char="•"/>
            </a:pPr>
            <a:r>
              <a:rPr sz="1500" dirty="0">
                <a:solidFill>
                  <a:schemeClr val="tx1"/>
                </a:solidFill>
                <a:latin typeface="Helvetica" charset="0"/>
              </a:rPr>
              <a:t>Snapshots are done within the file system and not with copy-on-write differential volumes</a:t>
            </a:r>
            <a:endParaRPr sz="1500" dirty="0">
              <a:solidFill>
                <a:schemeClr val="tx1"/>
              </a:solidFill>
              <a:latin typeface="Helvetica" charset="0"/>
            </a:endParaRPr>
          </a:p>
        </p:txBody>
      </p:sp>
      <p:sp>
        <p:nvSpPr>
          <p:cNvPr id="601093" name="Rectangle 5"/>
          <p:cNvSpPr/>
          <p:nvPr/>
        </p:nvSpPr>
        <p:spPr>
          <a:xfrm>
            <a:off x="2014538" y="3270250"/>
            <a:ext cx="966787" cy="588963"/>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r>
              <a:rPr sz="1600" dirty="0">
                <a:solidFill>
                  <a:schemeClr val="tx1"/>
                </a:solidFill>
                <a:latin typeface="Helvetica" charset="0"/>
              </a:rPr>
              <a:t>Root</a:t>
            </a:r>
            <a:endParaRPr sz="1600" dirty="0">
              <a:solidFill>
                <a:schemeClr val="tx1"/>
              </a:solidFill>
              <a:latin typeface="Helvetica" charset="0"/>
            </a:endParaRPr>
          </a:p>
          <a:p>
            <a:pPr algn="ctr"/>
            <a:r>
              <a:rPr sz="1600" dirty="0">
                <a:solidFill>
                  <a:schemeClr val="tx1"/>
                </a:solidFill>
                <a:latin typeface="Helvetica" charset="0"/>
              </a:rPr>
              <a:t>Onode</a:t>
            </a:r>
            <a:endParaRPr sz="900" dirty="0">
              <a:solidFill>
                <a:schemeClr val="tx1"/>
              </a:solidFill>
              <a:latin typeface="Helvetica" charset="0"/>
            </a:endParaRPr>
          </a:p>
        </p:txBody>
      </p:sp>
      <p:pic>
        <p:nvPicPr>
          <p:cNvPr id="601094" name="Picture 6" descr="Info-Database"/>
          <p:cNvPicPr>
            <a:picLocks noChangeAspect="1"/>
          </p:cNvPicPr>
          <p:nvPr/>
        </p:nvPicPr>
        <p:blipFill>
          <a:blip r:embed="rId1"/>
          <a:stretch>
            <a:fillRect/>
          </a:stretch>
        </p:blipFill>
        <p:spPr>
          <a:xfrm>
            <a:off x="1339850" y="1428750"/>
            <a:ext cx="598488" cy="669925"/>
          </a:xfrm>
          <a:prstGeom prst="rect">
            <a:avLst/>
          </a:prstGeom>
          <a:noFill/>
          <a:ln w="9525">
            <a:noFill/>
          </a:ln>
        </p:spPr>
      </p:pic>
      <p:sp>
        <p:nvSpPr>
          <p:cNvPr id="601095" name="Text Box 7"/>
          <p:cNvSpPr txBox="1"/>
          <p:nvPr/>
        </p:nvSpPr>
        <p:spPr>
          <a:xfrm>
            <a:off x="1963738" y="1452563"/>
            <a:ext cx="1897062" cy="581025"/>
          </a:xfrm>
          <a:prstGeom prst="rect">
            <a:avLst/>
          </a:prstGeom>
          <a:noFill/>
          <a:ln w="9525">
            <a:noFill/>
          </a:ln>
        </p:spPr>
        <p:txBody>
          <a:bodyPr>
            <a:spAutoFit/>
          </a:bodyPr>
          <a:p>
            <a:pPr algn="ctr">
              <a:spcBef>
                <a:spcPct val="50000"/>
              </a:spcBef>
            </a:pPr>
            <a:r>
              <a:rPr sz="1600" dirty="0">
                <a:solidFill>
                  <a:schemeClr val="tx1"/>
                </a:solidFill>
                <a:latin typeface="Helvetica" charset="0"/>
              </a:rPr>
              <a:t>Instant Snapshot Creation </a:t>
            </a:r>
            <a:r>
              <a:rPr sz="1400" dirty="0">
                <a:solidFill>
                  <a:schemeClr val="tx1"/>
                </a:solidFill>
                <a:latin typeface="Helvetica" charset="0"/>
              </a:rPr>
              <a:t>t</a:t>
            </a:r>
            <a:r>
              <a:rPr sz="1400" b="1" baseline="-25000" dirty="0">
                <a:solidFill>
                  <a:schemeClr val="tx1"/>
                </a:solidFill>
                <a:latin typeface="Helvetica" charset="0"/>
              </a:rPr>
              <a:t>1</a:t>
            </a:r>
            <a:endParaRPr sz="1600" dirty="0">
              <a:solidFill>
                <a:schemeClr val="tx1"/>
              </a:solidFill>
              <a:latin typeface="Helvetica" charset="0"/>
            </a:endParaRPr>
          </a:p>
        </p:txBody>
      </p:sp>
      <p:sp>
        <p:nvSpPr>
          <p:cNvPr id="601096" name="Rectangle 8"/>
          <p:cNvSpPr/>
          <p:nvPr/>
        </p:nvSpPr>
        <p:spPr>
          <a:xfrm>
            <a:off x="476250" y="3268663"/>
            <a:ext cx="969963" cy="59055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r>
              <a:rPr sz="1600" dirty="0">
                <a:solidFill>
                  <a:schemeClr val="tx1"/>
                </a:solidFill>
                <a:latin typeface="Helvetica" charset="0"/>
              </a:rPr>
              <a:t>Snapshot</a:t>
            </a:r>
            <a:endParaRPr sz="1600" dirty="0">
              <a:solidFill>
                <a:schemeClr val="tx1"/>
              </a:solidFill>
              <a:latin typeface="Helvetica" charset="0"/>
            </a:endParaRPr>
          </a:p>
          <a:p>
            <a:pPr algn="ctr"/>
            <a:r>
              <a:rPr sz="1600" dirty="0">
                <a:solidFill>
                  <a:schemeClr val="tx1"/>
                </a:solidFill>
                <a:latin typeface="Helvetica" charset="0"/>
              </a:rPr>
              <a:t>Onode</a:t>
            </a:r>
            <a:endParaRPr sz="1000" dirty="0">
              <a:solidFill>
                <a:schemeClr val="tx1"/>
              </a:solidFill>
              <a:latin typeface="Helvetica" charset="0"/>
            </a:endParaRPr>
          </a:p>
        </p:txBody>
      </p:sp>
      <p:cxnSp>
        <p:nvCxnSpPr>
          <p:cNvPr id="601097" name="AutoShape 9"/>
          <p:cNvCxnSpPr>
            <a:stCxn id="601096" idx="2"/>
            <a:endCxn id="601108" idx="0"/>
          </p:cNvCxnSpPr>
          <p:nvPr/>
        </p:nvCxnSpPr>
        <p:spPr>
          <a:xfrm>
            <a:off x="962025" y="3859213"/>
            <a:ext cx="660400" cy="1422400"/>
          </a:xfrm>
          <a:prstGeom prst="straightConnector1">
            <a:avLst/>
          </a:prstGeom>
          <a:ln w="25400" cap="flat" cmpd="sng">
            <a:solidFill>
              <a:srgbClr val="33CCCC"/>
            </a:solidFill>
            <a:prstDash val="solid"/>
            <a:headEnd type="none" w="med" len="med"/>
            <a:tailEnd type="none" w="med" len="med"/>
          </a:ln>
        </p:spPr>
      </p:cxnSp>
      <p:sp>
        <p:nvSpPr>
          <p:cNvPr id="601098" name="AutoShape 10"/>
          <p:cNvSpPr/>
          <p:nvPr/>
        </p:nvSpPr>
        <p:spPr>
          <a:xfrm rot="10800000">
            <a:off x="1385888" y="3430588"/>
            <a:ext cx="579437" cy="23495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FFFF">
              <a:alpha val="100000"/>
            </a:srgbClr>
          </a:solidFill>
          <a:ln w="9525" cap="flat" cmpd="sng">
            <a:solidFill>
              <a:schemeClr val="tx1">
                <a:alpha val="100000"/>
              </a:schemeClr>
            </a:solidFill>
            <a:prstDash val="solid"/>
            <a:miter lim="800000"/>
            <a:headEnd type="none" w="med" len="med"/>
            <a:tailEnd type="none" w="med" len="med"/>
          </a:ln>
        </p:spPr>
        <p:txBody>
          <a:bodyPr/>
          <a:p>
            <a:endParaRPr lang="en-US"/>
          </a:p>
        </p:txBody>
      </p:sp>
      <p:sp>
        <p:nvSpPr>
          <p:cNvPr id="601099" name="Rectangle 11"/>
          <p:cNvSpPr/>
          <p:nvPr/>
        </p:nvSpPr>
        <p:spPr>
          <a:xfrm>
            <a:off x="2274888" y="4398963"/>
            <a:ext cx="1154112" cy="492125"/>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r>
              <a:rPr b="1" dirty="0">
                <a:solidFill>
                  <a:schemeClr val="tx1"/>
                </a:solidFill>
                <a:latin typeface="Helvetica" charset="0"/>
              </a:rPr>
              <a:t>B</a:t>
            </a:r>
            <a:r>
              <a:rPr lang="ja-JP" altLang="en-US" b="1" dirty="0">
                <a:solidFill>
                  <a:schemeClr val="tx1"/>
                </a:solidFill>
                <a:latin typeface="Helvetica" charset="0"/>
              </a:rPr>
              <a:t>’</a:t>
            </a:r>
            <a:endParaRPr b="1" dirty="0">
              <a:solidFill>
                <a:schemeClr val="tx1"/>
              </a:solidFill>
              <a:latin typeface="Helvetica" charset="0"/>
            </a:endParaRPr>
          </a:p>
        </p:txBody>
      </p:sp>
      <p:cxnSp>
        <p:nvCxnSpPr>
          <p:cNvPr id="601100" name="AutoShape 12"/>
          <p:cNvCxnSpPr>
            <a:stCxn id="601093" idx="2"/>
            <a:endCxn id="601108" idx="0"/>
          </p:cNvCxnSpPr>
          <p:nvPr/>
        </p:nvCxnSpPr>
        <p:spPr>
          <a:xfrm flipH="1">
            <a:off x="1622425" y="3859213"/>
            <a:ext cx="876300" cy="1422400"/>
          </a:xfrm>
          <a:prstGeom prst="straightConnector1">
            <a:avLst/>
          </a:prstGeom>
          <a:ln w="25400" cap="flat" cmpd="sng">
            <a:solidFill>
              <a:schemeClr val="hlink"/>
            </a:solidFill>
            <a:prstDash val="solid"/>
            <a:headEnd type="none" w="med" len="med"/>
            <a:tailEnd type="none" w="med" len="med"/>
          </a:ln>
        </p:spPr>
      </p:cxnSp>
      <p:sp>
        <p:nvSpPr>
          <p:cNvPr id="601101" name="Oval 13"/>
          <p:cNvSpPr/>
          <p:nvPr/>
        </p:nvSpPr>
        <p:spPr>
          <a:xfrm>
            <a:off x="1187450" y="1860550"/>
            <a:ext cx="263525" cy="263525"/>
          </a:xfrm>
          <a:prstGeom prst="ellipse">
            <a:avLst/>
          </a:prstGeom>
          <a:solidFill>
            <a:srgbClr val="EAEAEA"/>
          </a:solidFill>
          <a:ln w="9525" cap="flat" cmpd="sng">
            <a:solidFill>
              <a:schemeClr val="tx1"/>
            </a:solidFill>
            <a:prstDash val="solid"/>
            <a:headEnd type="none" w="med" len="med"/>
            <a:tailEnd type="none" w="med" len="med"/>
          </a:ln>
        </p:spPr>
        <p:txBody>
          <a:bodyPr wrap="none" anchor="ctr" anchorCtr="0"/>
          <a:p>
            <a:pPr algn="ctr"/>
            <a:r>
              <a:rPr sz="1400" dirty="0">
                <a:solidFill>
                  <a:schemeClr val="tx1"/>
                </a:solidFill>
                <a:latin typeface="Helvetica" charset="0"/>
              </a:rPr>
              <a:t>2</a:t>
            </a:r>
            <a:endParaRPr sz="1400" dirty="0">
              <a:solidFill>
                <a:schemeClr val="tx1"/>
              </a:solidFill>
              <a:latin typeface="Helvetica" charset="0"/>
            </a:endParaRPr>
          </a:p>
        </p:txBody>
      </p:sp>
      <p:sp>
        <p:nvSpPr>
          <p:cNvPr id="601102" name="Oval 14"/>
          <p:cNvSpPr/>
          <p:nvPr/>
        </p:nvSpPr>
        <p:spPr>
          <a:xfrm>
            <a:off x="1595438" y="3311525"/>
            <a:ext cx="263525" cy="263525"/>
          </a:xfrm>
          <a:prstGeom prst="ellipse">
            <a:avLst/>
          </a:prstGeom>
          <a:solidFill>
            <a:srgbClr val="EAEAEA"/>
          </a:solidFill>
          <a:ln w="9525" cap="flat" cmpd="sng">
            <a:solidFill>
              <a:schemeClr val="tx1"/>
            </a:solidFill>
            <a:prstDash val="solid"/>
            <a:headEnd type="none" w="med" len="med"/>
            <a:tailEnd type="none" w="med" len="med"/>
          </a:ln>
        </p:spPr>
        <p:txBody>
          <a:bodyPr wrap="none" anchor="ctr" anchorCtr="0"/>
          <a:p>
            <a:pPr algn="ctr"/>
            <a:r>
              <a:rPr sz="1400" dirty="0">
                <a:solidFill>
                  <a:schemeClr val="tx1"/>
                </a:solidFill>
                <a:latin typeface="Helvetica" charset="0"/>
              </a:rPr>
              <a:t>3</a:t>
            </a:r>
            <a:endParaRPr sz="1400" dirty="0">
              <a:solidFill>
                <a:schemeClr val="tx1"/>
              </a:solidFill>
              <a:latin typeface="Helvetica" charset="0"/>
            </a:endParaRPr>
          </a:p>
        </p:txBody>
      </p:sp>
      <p:sp>
        <p:nvSpPr>
          <p:cNvPr id="601103" name="AutoShape 15"/>
          <p:cNvSpPr/>
          <p:nvPr/>
        </p:nvSpPr>
        <p:spPr>
          <a:xfrm rot="5400000">
            <a:off x="2400300" y="2816225"/>
            <a:ext cx="750888" cy="23495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hlink">
              <a:alpha val="100000"/>
            </a:schemeClr>
          </a:solidFill>
          <a:ln w="9525" cap="flat" cmpd="sng">
            <a:solidFill>
              <a:schemeClr val="tx1">
                <a:alpha val="100000"/>
              </a:schemeClr>
            </a:solidFill>
            <a:prstDash val="solid"/>
            <a:miter lim="800000"/>
            <a:headEnd type="none" w="med" len="med"/>
            <a:tailEnd type="none" w="med" len="med"/>
          </a:ln>
        </p:spPr>
        <p:txBody>
          <a:bodyPr/>
          <a:p>
            <a:endParaRPr lang="en-US"/>
          </a:p>
        </p:txBody>
      </p:sp>
      <p:sp>
        <p:nvSpPr>
          <p:cNvPr id="601104" name="Text Box 16"/>
          <p:cNvSpPr txBox="1"/>
          <p:nvPr/>
        </p:nvSpPr>
        <p:spPr>
          <a:xfrm>
            <a:off x="2290763" y="2239963"/>
            <a:ext cx="909637" cy="336550"/>
          </a:xfrm>
          <a:prstGeom prst="rect">
            <a:avLst/>
          </a:prstGeom>
          <a:noFill/>
          <a:ln w="9525">
            <a:noFill/>
          </a:ln>
        </p:spPr>
        <p:txBody>
          <a:bodyPr>
            <a:spAutoFit/>
          </a:bodyPr>
          <a:p>
            <a:pPr algn="ctr">
              <a:spcBef>
                <a:spcPct val="50000"/>
              </a:spcBef>
            </a:pPr>
            <a:r>
              <a:rPr sz="1600" dirty="0">
                <a:solidFill>
                  <a:schemeClr val="tx1"/>
                </a:solidFill>
                <a:latin typeface="Helvetica" charset="0"/>
              </a:rPr>
              <a:t>Write </a:t>
            </a:r>
            <a:r>
              <a:rPr sz="1400" dirty="0">
                <a:solidFill>
                  <a:schemeClr val="tx1"/>
                </a:solidFill>
                <a:latin typeface="Helvetica" charset="0"/>
              </a:rPr>
              <a:t>t</a:t>
            </a:r>
            <a:r>
              <a:rPr sz="1400" b="1" baseline="-25000" dirty="0">
                <a:solidFill>
                  <a:schemeClr val="tx1"/>
                </a:solidFill>
                <a:latin typeface="Helvetica" charset="0"/>
              </a:rPr>
              <a:t>2</a:t>
            </a:r>
            <a:endParaRPr sz="1400" b="1" baseline="-25000" dirty="0">
              <a:solidFill>
                <a:schemeClr val="tx1"/>
              </a:solidFill>
              <a:latin typeface="Helvetica" charset="0"/>
            </a:endParaRPr>
          </a:p>
        </p:txBody>
      </p:sp>
      <p:sp>
        <p:nvSpPr>
          <p:cNvPr id="601105" name="Oval 17"/>
          <p:cNvSpPr/>
          <p:nvPr/>
        </p:nvSpPr>
        <p:spPr>
          <a:xfrm>
            <a:off x="3216275" y="4325938"/>
            <a:ext cx="263525" cy="263525"/>
          </a:xfrm>
          <a:prstGeom prst="ellipse">
            <a:avLst/>
          </a:prstGeom>
          <a:solidFill>
            <a:srgbClr val="EAEAEA"/>
          </a:solidFill>
          <a:ln w="9525" cap="flat" cmpd="sng">
            <a:solidFill>
              <a:schemeClr val="tx1"/>
            </a:solidFill>
            <a:prstDash val="solid"/>
            <a:headEnd type="none" w="med" len="med"/>
            <a:tailEnd type="none" w="med" len="med"/>
          </a:ln>
        </p:spPr>
        <p:txBody>
          <a:bodyPr wrap="none" anchor="ctr" anchorCtr="0"/>
          <a:p>
            <a:pPr algn="ctr"/>
            <a:r>
              <a:rPr sz="1400" dirty="0">
                <a:solidFill>
                  <a:schemeClr val="tx1"/>
                </a:solidFill>
                <a:latin typeface="Helvetica" charset="0"/>
              </a:rPr>
              <a:t>4</a:t>
            </a:r>
            <a:endParaRPr sz="1400" dirty="0">
              <a:solidFill>
                <a:schemeClr val="tx1"/>
              </a:solidFill>
              <a:latin typeface="Helvetica" charset="0"/>
            </a:endParaRPr>
          </a:p>
        </p:txBody>
      </p:sp>
      <p:sp>
        <p:nvSpPr>
          <p:cNvPr id="601106" name="AutoShape 18"/>
          <p:cNvSpPr/>
          <p:nvPr/>
        </p:nvSpPr>
        <p:spPr>
          <a:xfrm>
            <a:off x="1968500" y="5283200"/>
            <a:ext cx="1117600" cy="488950"/>
          </a:xfrm>
          <a:prstGeom prst="flowChartOnlineStorage">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r>
              <a:rPr dirty="0">
                <a:solidFill>
                  <a:schemeClr val="tx1"/>
                </a:solidFill>
                <a:latin typeface="Helvetica" charset="0"/>
              </a:rPr>
              <a:t>C</a:t>
            </a:r>
            <a:endParaRPr dirty="0">
              <a:solidFill>
                <a:schemeClr val="tx1"/>
              </a:solidFill>
              <a:latin typeface="Helvetica" charset="0"/>
            </a:endParaRPr>
          </a:p>
        </p:txBody>
      </p:sp>
      <p:sp>
        <p:nvSpPr>
          <p:cNvPr id="601107" name="AutoShape 19"/>
          <p:cNvSpPr/>
          <p:nvPr/>
        </p:nvSpPr>
        <p:spPr>
          <a:xfrm flipH="1">
            <a:off x="271463" y="5283200"/>
            <a:ext cx="1117600" cy="488950"/>
          </a:xfrm>
          <a:prstGeom prst="flowChartOnlineStorage">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r>
              <a:rPr b="1" dirty="0">
                <a:solidFill>
                  <a:schemeClr val="tx1"/>
                </a:solidFill>
                <a:latin typeface="Helvetica" charset="0"/>
              </a:rPr>
              <a:t>A</a:t>
            </a:r>
            <a:endParaRPr b="1" dirty="0">
              <a:solidFill>
                <a:schemeClr val="tx1"/>
              </a:solidFill>
              <a:latin typeface="Helvetica" charset="0"/>
            </a:endParaRPr>
          </a:p>
        </p:txBody>
      </p:sp>
      <p:sp>
        <p:nvSpPr>
          <p:cNvPr id="601108" name="Rectangle 20"/>
          <p:cNvSpPr/>
          <p:nvPr/>
        </p:nvSpPr>
        <p:spPr>
          <a:xfrm>
            <a:off x="1030288" y="5281613"/>
            <a:ext cx="1182687" cy="492125"/>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r>
              <a:rPr sz="1600" dirty="0">
                <a:solidFill>
                  <a:schemeClr val="tx1"/>
                </a:solidFill>
                <a:latin typeface="Helvetica" charset="0"/>
              </a:rPr>
              <a:t>B</a:t>
            </a:r>
            <a:endParaRPr sz="1600" dirty="0">
              <a:solidFill>
                <a:schemeClr val="tx1"/>
              </a:solidFill>
              <a:latin typeface="Helvetica" charset="0"/>
            </a:endParaRPr>
          </a:p>
        </p:txBody>
      </p:sp>
      <p:sp>
        <p:nvSpPr>
          <p:cNvPr id="601109" name="AutoShape 21"/>
          <p:cNvSpPr/>
          <p:nvPr/>
        </p:nvSpPr>
        <p:spPr>
          <a:xfrm rot="-5400000">
            <a:off x="630238" y="2928938"/>
            <a:ext cx="476250" cy="23495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bg2">
              <a:alpha val="100000"/>
            </a:schemeClr>
          </a:solidFill>
          <a:ln w="9525" cap="flat" cmpd="sng">
            <a:solidFill>
              <a:schemeClr val="tx1">
                <a:alpha val="100000"/>
              </a:schemeClr>
            </a:solidFill>
            <a:prstDash val="solid"/>
            <a:miter lim="800000"/>
            <a:headEnd type="none" w="med" len="med"/>
            <a:tailEnd type="none" w="med" len="med"/>
          </a:ln>
        </p:spPr>
        <p:txBody>
          <a:bodyPr/>
          <a:p>
            <a:endParaRPr lang="en-US"/>
          </a:p>
        </p:txBody>
      </p:sp>
      <p:sp>
        <p:nvSpPr>
          <p:cNvPr id="601110" name="Text Box 22"/>
          <p:cNvSpPr txBox="1"/>
          <p:nvPr/>
        </p:nvSpPr>
        <p:spPr>
          <a:xfrm>
            <a:off x="1574800" y="2276475"/>
            <a:ext cx="1001713" cy="581025"/>
          </a:xfrm>
          <a:prstGeom prst="rect">
            <a:avLst/>
          </a:prstGeom>
          <a:noFill/>
          <a:ln w="9525">
            <a:noFill/>
          </a:ln>
        </p:spPr>
        <p:txBody>
          <a:bodyPr>
            <a:spAutoFit/>
          </a:bodyPr>
          <a:p>
            <a:pPr algn="ctr">
              <a:spcBef>
                <a:spcPct val="50000"/>
              </a:spcBef>
            </a:pPr>
            <a:r>
              <a:rPr sz="1600" dirty="0">
                <a:solidFill>
                  <a:schemeClr val="tx1"/>
                </a:solidFill>
                <a:latin typeface="Helvetica" charset="0"/>
              </a:rPr>
              <a:t>Live Read</a:t>
            </a:r>
            <a:endParaRPr sz="1600" dirty="0">
              <a:solidFill>
                <a:schemeClr val="tx1"/>
              </a:solidFill>
              <a:latin typeface="Helvetica" charset="0"/>
            </a:endParaRPr>
          </a:p>
        </p:txBody>
      </p:sp>
      <p:sp>
        <p:nvSpPr>
          <p:cNvPr id="601111" name="AutoShape 23"/>
          <p:cNvSpPr/>
          <p:nvPr/>
        </p:nvSpPr>
        <p:spPr>
          <a:xfrm rot="-5400000">
            <a:off x="1846263" y="2927350"/>
            <a:ext cx="476250" cy="23495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hlink">
              <a:alpha val="100000"/>
            </a:schemeClr>
          </a:solidFill>
          <a:ln w="9525" cap="flat" cmpd="sng">
            <a:solidFill>
              <a:schemeClr val="tx1">
                <a:alpha val="100000"/>
              </a:schemeClr>
            </a:solidFill>
            <a:prstDash val="solid"/>
            <a:miter lim="800000"/>
            <a:headEnd type="none" w="med" len="med"/>
            <a:tailEnd type="none" w="med" len="med"/>
          </a:ln>
        </p:spPr>
        <p:txBody>
          <a:bodyPr/>
          <a:p>
            <a:endParaRPr lang="en-US"/>
          </a:p>
        </p:txBody>
      </p:sp>
      <p:sp>
        <p:nvSpPr>
          <p:cNvPr id="601112" name="Text Box 24"/>
          <p:cNvSpPr txBox="1"/>
          <p:nvPr/>
        </p:nvSpPr>
        <p:spPr>
          <a:xfrm>
            <a:off x="217488" y="2308225"/>
            <a:ext cx="1306512" cy="581025"/>
          </a:xfrm>
          <a:prstGeom prst="rect">
            <a:avLst/>
          </a:prstGeom>
          <a:noFill/>
          <a:ln w="9525">
            <a:noFill/>
          </a:ln>
        </p:spPr>
        <p:txBody>
          <a:bodyPr>
            <a:spAutoFit/>
          </a:bodyPr>
          <a:p>
            <a:pPr algn="ctr">
              <a:spcBef>
                <a:spcPct val="50000"/>
              </a:spcBef>
            </a:pPr>
            <a:r>
              <a:rPr sz="1600" dirty="0">
                <a:solidFill>
                  <a:schemeClr val="tx1"/>
                </a:solidFill>
                <a:latin typeface="Helvetica" charset="0"/>
              </a:rPr>
              <a:t>Snapshot Read</a:t>
            </a:r>
            <a:endParaRPr sz="1600" dirty="0">
              <a:solidFill>
                <a:schemeClr val="tx1"/>
              </a:solidFill>
              <a:latin typeface="Helvetica" charset="0"/>
            </a:endParaRPr>
          </a:p>
        </p:txBody>
      </p:sp>
      <p:cxnSp>
        <p:nvCxnSpPr>
          <p:cNvPr id="601113" name="AutoShape 25"/>
          <p:cNvCxnSpPr>
            <a:stCxn id="601096" idx="2"/>
            <a:endCxn id="601107" idx="0"/>
          </p:cNvCxnSpPr>
          <p:nvPr/>
        </p:nvCxnSpPr>
        <p:spPr>
          <a:xfrm flipH="1">
            <a:off x="830263" y="3859213"/>
            <a:ext cx="131762" cy="1423987"/>
          </a:xfrm>
          <a:prstGeom prst="straightConnector1">
            <a:avLst/>
          </a:prstGeom>
          <a:ln w="25400" cap="flat" cmpd="sng">
            <a:solidFill>
              <a:srgbClr val="33CCCC"/>
            </a:solidFill>
            <a:prstDash val="solid"/>
            <a:headEnd type="none" w="med" len="med"/>
            <a:tailEnd type="none" w="med" len="med"/>
          </a:ln>
        </p:spPr>
      </p:cxnSp>
      <p:cxnSp>
        <p:nvCxnSpPr>
          <p:cNvPr id="601114" name="AutoShape 26"/>
          <p:cNvCxnSpPr>
            <a:stCxn id="601093" idx="2"/>
            <a:endCxn id="601106" idx="0"/>
          </p:cNvCxnSpPr>
          <p:nvPr/>
        </p:nvCxnSpPr>
        <p:spPr>
          <a:xfrm>
            <a:off x="2498725" y="3859213"/>
            <a:ext cx="28575" cy="1423987"/>
          </a:xfrm>
          <a:prstGeom prst="straightConnector1">
            <a:avLst/>
          </a:prstGeom>
          <a:ln w="25400" cap="flat" cmpd="sng">
            <a:solidFill>
              <a:schemeClr val="hlink"/>
            </a:solidFill>
            <a:prstDash val="solid"/>
            <a:headEnd type="none" w="med" len="med"/>
            <a:tailEnd type="none" w="med" len="med"/>
          </a:ln>
        </p:spPr>
      </p:cxnSp>
      <p:cxnSp>
        <p:nvCxnSpPr>
          <p:cNvPr id="601115" name="AutoShape 27"/>
          <p:cNvCxnSpPr>
            <a:stCxn id="601093" idx="2"/>
            <a:endCxn id="601107" idx="0"/>
          </p:cNvCxnSpPr>
          <p:nvPr/>
        </p:nvCxnSpPr>
        <p:spPr>
          <a:xfrm flipH="1">
            <a:off x="830263" y="3859213"/>
            <a:ext cx="1668462" cy="1423987"/>
          </a:xfrm>
          <a:prstGeom prst="straightConnector1">
            <a:avLst/>
          </a:prstGeom>
          <a:ln w="25400" cap="flat" cmpd="sng">
            <a:solidFill>
              <a:schemeClr val="hlink"/>
            </a:solidFill>
            <a:prstDash val="solid"/>
            <a:headEnd type="none" w="med" len="med"/>
            <a:tailEnd type="none" w="med" len="med"/>
          </a:ln>
        </p:spPr>
      </p:cxnSp>
      <p:cxnSp>
        <p:nvCxnSpPr>
          <p:cNvPr id="601116" name="AutoShape 28"/>
          <p:cNvCxnSpPr>
            <a:stCxn id="601096" idx="2"/>
            <a:endCxn id="601106" idx="0"/>
          </p:cNvCxnSpPr>
          <p:nvPr/>
        </p:nvCxnSpPr>
        <p:spPr>
          <a:xfrm>
            <a:off x="962025" y="3859213"/>
            <a:ext cx="1565275" cy="1423987"/>
          </a:xfrm>
          <a:prstGeom prst="straightConnector1">
            <a:avLst/>
          </a:prstGeom>
          <a:ln w="25400" cap="flat" cmpd="sng">
            <a:solidFill>
              <a:srgbClr val="33CCCC"/>
            </a:solidFill>
            <a:prstDash val="solid"/>
            <a:headEnd type="none" w="med" len="med"/>
            <a:tailEnd type="none" w="med" len="med"/>
          </a:ln>
        </p:spPr>
      </p:cxnSp>
      <p:sp>
        <p:nvSpPr>
          <p:cNvPr id="601117" name="Text Box 29"/>
          <p:cNvSpPr txBox="1"/>
          <p:nvPr/>
        </p:nvSpPr>
        <p:spPr>
          <a:xfrm>
            <a:off x="674688" y="5738813"/>
            <a:ext cx="1990725" cy="304800"/>
          </a:xfrm>
          <a:prstGeom prst="rect">
            <a:avLst/>
          </a:prstGeom>
          <a:noFill/>
          <a:ln w="9525">
            <a:noFill/>
          </a:ln>
        </p:spPr>
        <p:txBody>
          <a:bodyPr>
            <a:spAutoFit/>
          </a:bodyPr>
          <a:p>
            <a:pPr algn="ctr">
              <a:spcBef>
                <a:spcPct val="50000"/>
              </a:spcBef>
            </a:pPr>
            <a:r>
              <a:rPr sz="1400" dirty="0">
                <a:solidFill>
                  <a:schemeClr val="tx1"/>
                </a:solidFill>
                <a:latin typeface="Helvetica" charset="0"/>
              </a:rPr>
              <a:t>t</a:t>
            </a:r>
            <a:r>
              <a:rPr sz="1400" b="1" baseline="-25000" dirty="0">
                <a:solidFill>
                  <a:schemeClr val="tx1"/>
                </a:solidFill>
                <a:latin typeface="Helvetica" charset="0"/>
              </a:rPr>
              <a:t>0</a:t>
            </a:r>
            <a:endParaRPr sz="1400" b="1" baseline="-25000" dirty="0">
              <a:solidFill>
                <a:schemeClr val="tx1"/>
              </a:solidFill>
              <a:latin typeface="Helvetica" charset="0"/>
            </a:endParaRPr>
          </a:p>
        </p:txBody>
      </p:sp>
      <p:sp>
        <p:nvSpPr>
          <p:cNvPr id="601118" name="Text Box 30"/>
          <p:cNvSpPr txBox="1"/>
          <p:nvPr/>
        </p:nvSpPr>
        <p:spPr>
          <a:xfrm>
            <a:off x="2327275" y="4875213"/>
            <a:ext cx="1990725" cy="304800"/>
          </a:xfrm>
          <a:prstGeom prst="rect">
            <a:avLst/>
          </a:prstGeom>
          <a:noFill/>
          <a:ln w="9525">
            <a:noFill/>
          </a:ln>
        </p:spPr>
        <p:txBody>
          <a:bodyPr>
            <a:spAutoFit/>
          </a:bodyPr>
          <a:p>
            <a:pPr algn="ctr">
              <a:spcBef>
                <a:spcPct val="50000"/>
              </a:spcBef>
            </a:pPr>
            <a:r>
              <a:rPr sz="1400" dirty="0">
                <a:solidFill>
                  <a:schemeClr val="tx1"/>
                </a:solidFill>
                <a:latin typeface="Helvetica" charset="0"/>
              </a:rPr>
              <a:t>t</a:t>
            </a:r>
            <a:r>
              <a:rPr sz="1400" b="1" baseline="-25000" dirty="0">
                <a:solidFill>
                  <a:schemeClr val="tx1"/>
                </a:solidFill>
                <a:latin typeface="Helvetica" charset="0"/>
              </a:rPr>
              <a:t>2</a:t>
            </a:r>
            <a:endParaRPr sz="1400" b="1" baseline="-25000" dirty="0">
              <a:solidFill>
                <a:schemeClr val="tx1"/>
              </a:solidFill>
              <a:latin typeface="Helvetica" charset="0"/>
            </a:endParaRPr>
          </a:p>
        </p:txBody>
      </p:sp>
      <p:sp>
        <p:nvSpPr>
          <p:cNvPr id="601119" name="Oval 31"/>
          <p:cNvSpPr/>
          <p:nvPr/>
        </p:nvSpPr>
        <p:spPr>
          <a:xfrm>
            <a:off x="2089150" y="2970213"/>
            <a:ext cx="263525" cy="263525"/>
          </a:xfrm>
          <a:prstGeom prst="ellipse">
            <a:avLst/>
          </a:prstGeom>
          <a:solidFill>
            <a:srgbClr val="EAEAEA"/>
          </a:solidFill>
          <a:ln w="9525" cap="flat" cmpd="sng">
            <a:solidFill>
              <a:schemeClr val="tx1"/>
            </a:solidFill>
            <a:prstDash val="solid"/>
            <a:headEnd type="none" w="med" len="med"/>
            <a:tailEnd type="none" w="med" len="med"/>
          </a:ln>
        </p:spPr>
        <p:txBody>
          <a:bodyPr wrap="none" anchor="ctr" anchorCtr="0"/>
          <a:p>
            <a:pPr algn="ctr"/>
            <a:r>
              <a:rPr sz="1400" dirty="0">
                <a:solidFill>
                  <a:schemeClr val="tx1"/>
                </a:solidFill>
                <a:latin typeface="Helvetica" charset="0"/>
              </a:rPr>
              <a:t>5</a:t>
            </a:r>
            <a:endParaRPr sz="1400" dirty="0">
              <a:solidFill>
                <a:schemeClr val="tx1"/>
              </a:solidFill>
              <a:latin typeface="Helvetica" charset="0"/>
            </a:endParaRPr>
          </a:p>
        </p:txBody>
      </p:sp>
      <p:sp>
        <p:nvSpPr>
          <p:cNvPr id="601120" name="Oval 32"/>
          <p:cNvSpPr/>
          <p:nvPr/>
        </p:nvSpPr>
        <p:spPr>
          <a:xfrm>
            <a:off x="839788" y="2951163"/>
            <a:ext cx="263525" cy="263525"/>
          </a:xfrm>
          <a:prstGeom prst="ellipse">
            <a:avLst/>
          </a:prstGeom>
          <a:solidFill>
            <a:srgbClr val="EAEAEA"/>
          </a:solidFill>
          <a:ln w="9525" cap="flat" cmpd="sng">
            <a:solidFill>
              <a:schemeClr val="tx1"/>
            </a:solidFill>
            <a:prstDash val="solid"/>
            <a:headEnd type="none" w="med" len="med"/>
            <a:tailEnd type="none" w="med" len="med"/>
          </a:ln>
        </p:spPr>
        <p:txBody>
          <a:bodyPr wrap="none" anchor="ctr" anchorCtr="0"/>
          <a:p>
            <a:pPr algn="ctr"/>
            <a:r>
              <a:rPr sz="1400" dirty="0">
                <a:solidFill>
                  <a:schemeClr val="tx1"/>
                </a:solidFill>
                <a:latin typeface="Helvetica" charset="0"/>
              </a:rPr>
              <a:t>6</a:t>
            </a:r>
            <a:endParaRPr sz="1400" dirty="0">
              <a:solidFill>
                <a:schemeClr val="tx1"/>
              </a:solidFill>
              <a:latin typeface="Helvetica" charset="0"/>
            </a:endParaRPr>
          </a:p>
        </p:txBody>
      </p:sp>
      <p:sp>
        <p:nvSpPr>
          <p:cNvPr id="601121" name="Line 33"/>
          <p:cNvSpPr/>
          <p:nvPr/>
        </p:nvSpPr>
        <p:spPr>
          <a:xfrm>
            <a:off x="2501900" y="3875088"/>
            <a:ext cx="304800" cy="520700"/>
          </a:xfrm>
          <a:prstGeom prst="line">
            <a:avLst/>
          </a:prstGeom>
          <a:ln w="25400" cap="flat" cmpd="sng">
            <a:solidFill>
              <a:schemeClr val="hlink"/>
            </a:solidFill>
            <a:prstDash val="solid"/>
            <a:headEnd type="none" w="med" len="med"/>
            <a:tailEnd type="none" w="med" len="med"/>
          </a:ln>
        </p:spPr>
      </p:sp>
      <p:sp>
        <p:nvSpPr>
          <p:cNvPr id="601122" name="Line 34"/>
          <p:cNvSpPr/>
          <p:nvPr/>
        </p:nvSpPr>
        <p:spPr>
          <a:xfrm>
            <a:off x="2501900" y="3865563"/>
            <a:ext cx="1219200" cy="538162"/>
          </a:xfrm>
          <a:prstGeom prst="line">
            <a:avLst/>
          </a:prstGeom>
          <a:ln w="25400" cap="flat" cmpd="sng">
            <a:solidFill>
              <a:schemeClr val="hlink"/>
            </a:solidFill>
            <a:prstDash val="solid"/>
            <a:headEnd type="none" w="med" len="med"/>
            <a:tailEnd type="none" w="med" len="med"/>
          </a:ln>
        </p:spPr>
      </p:sp>
      <p:sp>
        <p:nvSpPr>
          <p:cNvPr id="601123" name="AutoShape 35"/>
          <p:cNvSpPr/>
          <p:nvPr/>
        </p:nvSpPr>
        <p:spPr>
          <a:xfrm>
            <a:off x="1968500" y="5280025"/>
            <a:ext cx="1117600" cy="488950"/>
          </a:xfrm>
          <a:prstGeom prst="flowChartOnlineStorage">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r>
              <a:rPr b="1" dirty="0">
                <a:solidFill>
                  <a:schemeClr val="tx1"/>
                </a:solidFill>
                <a:latin typeface="Helvetica" charset="0"/>
              </a:rPr>
              <a:t>C</a:t>
            </a:r>
            <a:endParaRPr b="1" dirty="0">
              <a:solidFill>
                <a:schemeClr val="tx1"/>
              </a:solidFill>
              <a:latin typeface="Helvetica" charset="0"/>
            </a:endParaRPr>
          </a:p>
        </p:txBody>
      </p:sp>
      <p:sp>
        <p:nvSpPr>
          <p:cNvPr id="601124" name="Rectangle 36"/>
          <p:cNvSpPr/>
          <p:nvPr/>
        </p:nvSpPr>
        <p:spPr>
          <a:xfrm>
            <a:off x="1030288" y="5278438"/>
            <a:ext cx="1182687" cy="492125"/>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r>
              <a:rPr b="1" dirty="0">
                <a:solidFill>
                  <a:schemeClr val="tx1"/>
                </a:solidFill>
                <a:latin typeface="Helvetica" charset="0"/>
              </a:rPr>
              <a:t>B</a:t>
            </a:r>
            <a:endParaRPr b="1" dirty="0">
              <a:solidFill>
                <a:schemeClr val="tx1"/>
              </a:solidFill>
              <a:latin typeface="Helvetica" charset="0"/>
            </a:endParaRPr>
          </a:p>
        </p:txBody>
      </p:sp>
      <p:sp>
        <p:nvSpPr>
          <p:cNvPr id="601125" name="Oval 37"/>
          <p:cNvSpPr/>
          <p:nvPr/>
        </p:nvSpPr>
        <p:spPr>
          <a:xfrm>
            <a:off x="3036888" y="3376613"/>
            <a:ext cx="263525" cy="263525"/>
          </a:xfrm>
          <a:prstGeom prst="ellipse">
            <a:avLst/>
          </a:prstGeom>
          <a:solidFill>
            <a:srgbClr val="EAEAEA"/>
          </a:solidFill>
          <a:ln w="9525" cap="flat" cmpd="sng">
            <a:solidFill>
              <a:schemeClr val="tx1"/>
            </a:solidFill>
            <a:prstDash val="solid"/>
            <a:headEnd type="none" w="med" len="med"/>
            <a:tailEnd type="none" w="med" len="med"/>
          </a:ln>
        </p:spPr>
        <p:txBody>
          <a:bodyPr wrap="none" anchor="ctr" anchorCtr="0"/>
          <a:p>
            <a:pPr algn="ctr"/>
            <a:r>
              <a:rPr sz="1400" dirty="0">
                <a:solidFill>
                  <a:schemeClr val="tx1"/>
                </a:solidFill>
                <a:latin typeface="Helvetica" charset="0"/>
              </a:rPr>
              <a:t>1</a:t>
            </a:r>
            <a:endParaRPr sz="1400" dirty="0">
              <a:solidFill>
                <a:schemeClr val="tx1"/>
              </a:solidFill>
              <a:latin typeface="Helvetica" charset="0"/>
            </a:endParaRPr>
          </a:p>
        </p:txBody>
      </p:sp>
      <p:sp>
        <p:nvSpPr>
          <p:cNvPr id="87077" name="Rectangle 38"/>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Snapshots Implementation</a:t>
            </a:r>
            <a:endParaRPr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01108"/>
                                        </p:tgtEl>
                                        <p:attrNameLst>
                                          <p:attrName>style.visibility</p:attrName>
                                        </p:attrNameLst>
                                      </p:cBhvr>
                                      <p:to>
                                        <p:strVal val="visible"/>
                                      </p:to>
                                    </p:set>
                                    <p:anim calcmode="lin" valueType="num">
                                      <p:cBhvr additive="base">
                                        <p:cTn id="7" dur="500" fill="hold"/>
                                        <p:tgtEl>
                                          <p:spTgt spid="601108"/>
                                        </p:tgtEl>
                                        <p:attrNameLst>
                                          <p:attrName>ppt_x</p:attrName>
                                        </p:attrNameLst>
                                      </p:cBhvr>
                                      <p:tavLst>
                                        <p:tav tm="0">
                                          <p:val>
                                            <p:strVal val="#ppt_x"/>
                                          </p:val>
                                        </p:tav>
                                        <p:tav tm="100000">
                                          <p:val>
                                            <p:strVal val="#ppt_x"/>
                                          </p:val>
                                        </p:tav>
                                      </p:tavLst>
                                    </p:anim>
                                    <p:anim calcmode="lin" valueType="num">
                                      <p:cBhvr additive="base">
                                        <p:cTn id="8" dur="500" fill="hold"/>
                                        <p:tgtEl>
                                          <p:spTgt spid="60110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01115"/>
                                        </p:tgtEl>
                                        <p:attrNameLst>
                                          <p:attrName>style.visibility</p:attrName>
                                        </p:attrNameLst>
                                      </p:cBhvr>
                                      <p:to>
                                        <p:strVal val="visible"/>
                                      </p:to>
                                    </p:set>
                                    <p:anim calcmode="lin" valueType="num">
                                      <p:cBhvr additive="base">
                                        <p:cTn id="11" dur="500" fill="hold"/>
                                        <p:tgtEl>
                                          <p:spTgt spid="601115"/>
                                        </p:tgtEl>
                                        <p:attrNameLst>
                                          <p:attrName>ppt_x</p:attrName>
                                        </p:attrNameLst>
                                      </p:cBhvr>
                                      <p:tavLst>
                                        <p:tav tm="0">
                                          <p:val>
                                            <p:strVal val="#ppt_x"/>
                                          </p:val>
                                        </p:tav>
                                        <p:tav tm="100000">
                                          <p:val>
                                            <p:strVal val="#ppt_x"/>
                                          </p:val>
                                        </p:tav>
                                      </p:tavLst>
                                    </p:anim>
                                    <p:anim calcmode="lin" valueType="num">
                                      <p:cBhvr additive="base">
                                        <p:cTn id="12" dur="500" fill="hold"/>
                                        <p:tgtEl>
                                          <p:spTgt spid="60111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01100"/>
                                        </p:tgtEl>
                                        <p:attrNameLst>
                                          <p:attrName>style.visibility</p:attrName>
                                        </p:attrNameLst>
                                      </p:cBhvr>
                                      <p:to>
                                        <p:strVal val="visible"/>
                                      </p:to>
                                    </p:set>
                                    <p:anim calcmode="lin" valueType="num">
                                      <p:cBhvr additive="base">
                                        <p:cTn id="15" dur="500" fill="hold"/>
                                        <p:tgtEl>
                                          <p:spTgt spid="601100"/>
                                        </p:tgtEl>
                                        <p:attrNameLst>
                                          <p:attrName>ppt_x</p:attrName>
                                        </p:attrNameLst>
                                      </p:cBhvr>
                                      <p:tavLst>
                                        <p:tav tm="0">
                                          <p:val>
                                            <p:strVal val="#ppt_x"/>
                                          </p:val>
                                        </p:tav>
                                        <p:tav tm="100000">
                                          <p:val>
                                            <p:strVal val="#ppt_x"/>
                                          </p:val>
                                        </p:tav>
                                      </p:tavLst>
                                    </p:anim>
                                    <p:anim calcmode="lin" valueType="num">
                                      <p:cBhvr additive="base">
                                        <p:cTn id="16" dur="500" fill="hold"/>
                                        <p:tgtEl>
                                          <p:spTgt spid="60110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01114"/>
                                        </p:tgtEl>
                                        <p:attrNameLst>
                                          <p:attrName>style.visibility</p:attrName>
                                        </p:attrNameLst>
                                      </p:cBhvr>
                                      <p:to>
                                        <p:strVal val="visible"/>
                                      </p:to>
                                    </p:set>
                                    <p:anim calcmode="lin" valueType="num">
                                      <p:cBhvr additive="base">
                                        <p:cTn id="19" dur="500" fill="hold"/>
                                        <p:tgtEl>
                                          <p:spTgt spid="601114"/>
                                        </p:tgtEl>
                                        <p:attrNameLst>
                                          <p:attrName>ppt_x</p:attrName>
                                        </p:attrNameLst>
                                      </p:cBhvr>
                                      <p:tavLst>
                                        <p:tav tm="0">
                                          <p:val>
                                            <p:strVal val="#ppt_x"/>
                                          </p:val>
                                        </p:tav>
                                        <p:tav tm="100000">
                                          <p:val>
                                            <p:strVal val="#ppt_x"/>
                                          </p:val>
                                        </p:tav>
                                      </p:tavLst>
                                    </p:anim>
                                    <p:anim calcmode="lin" valueType="num">
                                      <p:cBhvr additive="base">
                                        <p:cTn id="20" dur="500" fill="hold"/>
                                        <p:tgtEl>
                                          <p:spTgt spid="60111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01093"/>
                                        </p:tgtEl>
                                        <p:attrNameLst>
                                          <p:attrName>style.visibility</p:attrName>
                                        </p:attrNameLst>
                                      </p:cBhvr>
                                      <p:to>
                                        <p:strVal val="visible"/>
                                      </p:to>
                                    </p:set>
                                    <p:anim calcmode="lin" valueType="num">
                                      <p:cBhvr additive="base">
                                        <p:cTn id="23" dur="500" fill="hold"/>
                                        <p:tgtEl>
                                          <p:spTgt spid="601093"/>
                                        </p:tgtEl>
                                        <p:attrNameLst>
                                          <p:attrName>ppt_x</p:attrName>
                                        </p:attrNameLst>
                                      </p:cBhvr>
                                      <p:tavLst>
                                        <p:tav tm="0">
                                          <p:val>
                                            <p:strVal val="#ppt_x"/>
                                          </p:val>
                                        </p:tav>
                                        <p:tav tm="100000">
                                          <p:val>
                                            <p:strVal val="#ppt_x"/>
                                          </p:val>
                                        </p:tav>
                                      </p:tavLst>
                                    </p:anim>
                                    <p:anim calcmode="lin" valueType="num">
                                      <p:cBhvr additive="base">
                                        <p:cTn id="24" dur="500" fill="hold"/>
                                        <p:tgtEl>
                                          <p:spTgt spid="60109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01125"/>
                                        </p:tgtEl>
                                        <p:attrNameLst>
                                          <p:attrName>style.visibility</p:attrName>
                                        </p:attrNameLst>
                                      </p:cBhvr>
                                      <p:to>
                                        <p:strVal val="visible"/>
                                      </p:to>
                                    </p:set>
                                    <p:anim calcmode="lin" valueType="num">
                                      <p:cBhvr additive="base">
                                        <p:cTn id="27" dur="500" fill="hold"/>
                                        <p:tgtEl>
                                          <p:spTgt spid="601125"/>
                                        </p:tgtEl>
                                        <p:attrNameLst>
                                          <p:attrName>ppt_x</p:attrName>
                                        </p:attrNameLst>
                                      </p:cBhvr>
                                      <p:tavLst>
                                        <p:tav tm="0">
                                          <p:val>
                                            <p:strVal val="#ppt_x"/>
                                          </p:val>
                                        </p:tav>
                                        <p:tav tm="100000">
                                          <p:val>
                                            <p:strVal val="#ppt_x"/>
                                          </p:val>
                                        </p:tav>
                                      </p:tavLst>
                                    </p:anim>
                                    <p:anim calcmode="lin" valueType="num">
                                      <p:cBhvr additive="base">
                                        <p:cTn id="28" dur="500" fill="hold"/>
                                        <p:tgtEl>
                                          <p:spTgt spid="60112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01092">
                                            <p:txEl>
                                              <p:charRg st="0" end="50"/>
                                            </p:txEl>
                                          </p:spTgt>
                                        </p:tgtEl>
                                        <p:attrNameLst>
                                          <p:attrName>style.visibility</p:attrName>
                                        </p:attrNameLst>
                                      </p:cBhvr>
                                      <p:to>
                                        <p:strVal val="visible"/>
                                      </p:to>
                                    </p:set>
                                    <p:anim calcmode="lin" valueType="num">
                                      <p:cBhvr additive="base">
                                        <p:cTn id="31" dur="500" fill="hold"/>
                                        <p:tgtEl>
                                          <p:spTgt spid="601092">
                                            <p:txEl>
                                              <p:charRg st="0" end="5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01092">
                                            <p:txEl>
                                              <p:charRg st="0" end="5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601117"/>
                                        </p:tgtEl>
                                        <p:attrNameLst>
                                          <p:attrName>style.visibility</p:attrName>
                                        </p:attrNameLst>
                                      </p:cBhvr>
                                      <p:to>
                                        <p:strVal val="visible"/>
                                      </p:to>
                                    </p:set>
                                    <p:anim calcmode="lin" valueType="num">
                                      <p:cBhvr additive="base">
                                        <p:cTn id="35" dur="500" fill="hold"/>
                                        <p:tgtEl>
                                          <p:spTgt spid="601117"/>
                                        </p:tgtEl>
                                        <p:attrNameLst>
                                          <p:attrName>ppt_x</p:attrName>
                                        </p:attrNameLst>
                                      </p:cBhvr>
                                      <p:tavLst>
                                        <p:tav tm="0">
                                          <p:val>
                                            <p:strVal val="#ppt_x"/>
                                          </p:val>
                                        </p:tav>
                                        <p:tav tm="100000">
                                          <p:val>
                                            <p:strVal val="#ppt_x"/>
                                          </p:val>
                                        </p:tav>
                                      </p:tavLst>
                                    </p:anim>
                                    <p:anim calcmode="lin" valueType="num">
                                      <p:cBhvr additive="base">
                                        <p:cTn id="36" dur="500" fill="hold"/>
                                        <p:tgtEl>
                                          <p:spTgt spid="601117"/>
                                        </p:tgtEl>
                                        <p:attrNameLst>
                                          <p:attrName>ppt_y</p:attrName>
                                        </p:attrNameLst>
                                      </p:cBhvr>
                                      <p:tavLst>
                                        <p:tav tm="0">
                                          <p:val>
                                            <p:strVal val="1+#ppt_h/2"/>
                                          </p:val>
                                        </p:tav>
                                        <p:tav tm="100000">
                                          <p:val>
                                            <p:strVal val="#ppt_y"/>
                                          </p:val>
                                        </p:tav>
                                      </p:tavLst>
                                    </p:anim>
                                  </p:childTnLst>
                                </p:cTn>
                              </p:par>
                              <p:par>
                                <p:cTn id="37" presetID="2" presetClass="entr" presetSubtype="4" fill="hold" grpId="1" nodeType="withEffect">
                                  <p:stCondLst>
                                    <p:cond delay="0"/>
                                  </p:stCondLst>
                                  <p:childTnLst>
                                    <p:set>
                                      <p:cBhvr>
                                        <p:cTn id="38" dur="1" fill="hold">
                                          <p:stCondLst>
                                            <p:cond delay="0"/>
                                          </p:stCondLst>
                                        </p:cTn>
                                        <p:tgtEl>
                                          <p:spTgt spid="601107"/>
                                        </p:tgtEl>
                                        <p:attrNameLst>
                                          <p:attrName>style.visibility</p:attrName>
                                        </p:attrNameLst>
                                      </p:cBhvr>
                                      <p:to>
                                        <p:strVal val="visible"/>
                                      </p:to>
                                    </p:set>
                                    <p:anim calcmode="lin" valueType="num">
                                      <p:cBhvr additive="base">
                                        <p:cTn id="39" dur="500" fill="hold"/>
                                        <p:tgtEl>
                                          <p:spTgt spid="601107"/>
                                        </p:tgtEl>
                                        <p:attrNameLst>
                                          <p:attrName>ppt_x</p:attrName>
                                        </p:attrNameLst>
                                      </p:cBhvr>
                                      <p:tavLst>
                                        <p:tav tm="0">
                                          <p:val>
                                            <p:strVal val="#ppt_x"/>
                                          </p:val>
                                        </p:tav>
                                        <p:tav tm="100000">
                                          <p:val>
                                            <p:strVal val="#ppt_x"/>
                                          </p:val>
                                        </p:tav>
                                      </p:tavLst>
                                    </p:anim>
                                    <p:anim calcmode="lin" valueType="num">
                                      <p:cBhvr additive="base">
                                        <p:cTn id="40" dur="500" fill="hold"/>
                                        <p:tgtEl>
                                          <p:spTgt spid="601107"/>
                                        </p:tgtEl>
                                        <p:attrNameLst>
                                          <p:attrName>ppt_y</p:attrName>
                                        </p:attrNameLst>
                                      </p:cBhvr>
                                      <p:tavLst>
                                        <p:tav tm="0">
                                          <p:val>
                                            <p:strVal val="1+#ppt_h/2"/>
                                          </p:val>
                                        </p:tav>
                                        <p:tav tm="100000">
                                          <p:val>
                                            <p:strVal val="#ppt_y"/>
                                          </p:val>
                                        </p:tav>
                                      </p:tavLst>
                                    </p:anim>
                                  </p:childTnLst>
                                </p:cTn>
                              </p:par>
                              <p:par>
                                <p:cTn id="41" presetID="2" presetClass="entr" presetSubtype="4" fill="hold" grpId="1" nodeType="withEffect">
                                  <p:stCondLst>
                                    <p:cond delay="0"/>
                                  </p:stCondLst>
                                  <p:iterate type="lt">
                                    <p:tmPct val="0"/>
                                  </p:iterate>
                                  <p:childTnLst>
                                    <p:set>
                                      <p:cBhvr>
                                        <p:cTn id="42" dur="1" fill="hold">
                                          <p:stCondLst>
                                            <p:cond delay="0"/>
                                          </p:stCondLst>
                                        </p:cTn>
                                        <p:tgtEl>
                                          <p:spTgt spid="601107">
                                            <p:txEl>
                                              <p:charRg st="0" end="2"/>
                                            </p:txEl>
                                          </p:spTgt>
                                        </p:tgtEl>
                                        <p:attrNameLst>
                                          <p:attrName>style.visibility</p:attrName>
                                        </p:attrNameLst>
                                      </p:cBhvr>
                                      <p:to>
                                        <p:strVal val="visible"/>
                                      </p:to>
                                    </p:set>
                                    <p:anim calcmode="lin" valueType="num">
                                      <p:cBhvr additive="base">
                                        <p:cTn id="43" dur="500" fill="hold"/>
                                        <p:tgtEl>
                                          <p:spTgt spid="601107">
                                            <p:txEl>
                                              <p:charRg st="0"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01107">
                                            <p:txEl>
                                              <p:charRg st="0" end="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01124">
                                            <p:txEl>
                                              <p:charRg st="0" end="2"/>
                                            </p:txEl>
                                          </p:spTgt>
                                        </p:tgtEl>
                                        <p:attrNameLst>
                                          <p:attrName>style.visibility</p:attrName>
                                        </p:attrNameLst>
                                      </p:cBhvr>
                                      <p:to>
                                        <p:strVal val="visible"/>
                                      </p:to>
                                    </p:set>
                                    <p:anim calcmode="lin" valueType="num">
                                      <p:cBhvr additive="base">
                                        <p:cTn id="47" dur="500" fill="hold"/>
                                        <p:tgtEl>
                                          <p:spTgt spid="601124">
                                            <p:txEl>
                                              <p:charRg st="0"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01124">
                                            <p:txEl>
                                              <p:charRg st="0" end="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601123">
                                            <p:txEl>
                                              <p:charRg st="0" end="2"/>
                                            </p:txEl>
                                          </p:spTgt>
                                        </p:tgtEl>
                                        <p:attrNameLst>
                                          <p:attrName>style.visibility</p:attrName>
                                        </p:attrNameLst>
                                      </p:cBhvr>
                                      <p:to>
                                        <p:strVal val="visible"/>
                                      </p:to>
                                    </p:set>
                                    <p:anim calcmode="lin" valueType="num">
                                      <p:cBhvr additive="base">
                                        <p:cTn id="51" dur="500" fill="hold"/>
                                        <p:tgtEl>
                                          <p:spTgt spid="601123">
                                            <p:txEl>
                                              <p:charRg st="0"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01123">
                                            <p:txEl>
                                              <p:charRg st="0" end="2"/>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1" nodeType="withEffect">
                                  <p:stCondLst>
                                    <p:cond delay="0"/>
                                  </p:stCondLst>
                                  <p:childTnLst>
                                    <p:set>
                                      <p:cBhvr>
                                        <p:cTn id="54" dur="1" fill="hold">
                                          <p:stCondLst>
                                            <p:cond delay="0"/>
                                          </p:stCondLst>
                                        </p:cTn>
                                        <p:tgtEl>
                                          <p:spTgt spid="601106"/>
                                        </p:tgtEl>
                                        <p:attrNameLst>
                                          <p:attrName>style.visibility</p:attrName>
                                        </p:attrNameLst>
                                      </p:cBhvr>
                                      <p:to>
                                        <p:strVal val="visible"/>
                                      </p:to>
                                    </p:set>
                                    <p:anim calcmode="lin" valueType="num">
                                      <p:cBhvr additive="base">
                                        <p:cTn id="55" dur="500" fill="hold"/>
                                        <p:tgtEl>
                                          <p:spTgt spid="601106"/>
                                        </p:tgtEl>
                                        <p:attrNameLst>
                                          <p:attrName>ppt_x</p:attrName>
                                        </p:attrNameLst>
                                      </p:cBhvr>
                                      <p:tavLst>
                                        <p:tav tm="0">
                                          <p:val>
                                            <p:strVal val="#ppt_x"/>
                                          </p:val>
                                        </p:tav>
                                        <p:tav tm="100000">
                                          <p:val>
                                            <p:strVal val="#ppt_x"/>
                                          </p:val>
                                        </p:tav>
                                      </p:tavLst>
                                    </p:anim>
                                    <p:anim calcmode="lin" valueType="num">
                                      <p:cBhvr additive="base">
                                        <p:cTn id="56" dur="500" fill="hold"/>
                                        <p:tgtEl>
                                          <p:spTgt spid="60110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01101"/>
                                        </p:tgtEl>
                                        <p:attrNameLst>
                                          <p:attrName>style.visibility</p:attrName>
                                        </p:attrNameLst>
                                      </p:cBhvr>
                                      <p:to>
                                        <p:strVal val="visible"/>
                                      </p:to>
                                    </p:set>
                                    <p:anim calcmode="lin" valueType="num">
                                      <p:cBhvr additive="base">
                                        <p:cTn id="61" dur="500" fill="hold"/>
                                        <p:tgtEl>
                                          <p:spTgt spid="601101"/>
                                        </p:tgtEl>
                                        <p:attrNameLst>
                                          <p:attrName>ppt_x</p:attrName>
                                        </p:attrNameLst>
                                      </p:cBhvr>
                                      <p:tavLst>
                                        <p:tav tm="0">
                                          <p:val>
                                            <p:strVal val="#ppt_x"/>
                                          </p:val>
                                        </p:tav>
                                        <p:tav tm="100000">
                                          <p:val>
                                            <p:strVal val="#ppt_x"/>
                                          </p:val>
                                        </p:tav>
                                      </p:tavLst>
                                    </p:anim>
                                    <p:anim calcmode="lin" valueType="num">
                                      <p:cBhvr additive="base">
                                        <p:cTn id="62" dur="500" fill="hold"/>
                                        <p:tgtEl>
                                          <p:spTgt spid="601101"/>
                                        </p:tgtEl>
                                        <p:attrNameLst>
                                          <p:attrName>ppt_y</p:attrName>
                                        </p:attrNameLst>
                                      </p:cBhvr>
                                      <p:tavLst>
                                        <p:tav tm="0">
                                          <p:val>
                                            <p:strVal val="1+#ppt_h/2"/>
                                          </p:val>
                                        </p:tav>
                                        <p:tav tm="100000">
                                          <p:val>
                                            <p:strVal val="#ppt_y"/>
                                          </p:val>
                                        </p:tav>
                                      </p:tavLst>
                                    </p:anim>
                                  </p:childTnLst>
                                </p:cTn>
                              </p:par>
                              <p:par>
                                <p:cTn id="63" presetID="2" presetClass="entr" presetSubtype="8" fill="hold" nodeType="withEffect">
                                  <p:stCondLst>
                                    <p:cond delay="0"/>
                                  </p:stCondLst>
                                  <p:childTnLst>
                                    <p:set>
                                      <p:cBhvr>
                                        <p:cTn id="64" dur="1" fill="hold">
                                          <p:stCondLst>
                                            <p:cond delay="0"/>
                                          </p:stCondLst>
                                        </p:cTn>
                                        <p:tgtEl>
                                          <p:spTgt spid="601094"/>
                                        </p:tgtEl>
                                        <p:attrNameLst>
                                          <p:attrName>style.visibility</p:attrName>
                                        </p:attrNameLst>
                                      </p:cBhvr>
                                      <p:to>
                                        <p:strVal val="visible"/>
                                      </p:to>
                                    </p:set>
                                    <p:anim calcmode="lin" valueType="num">
                                      <p:cBhvr additive="base">
                                        <p:cTn id="65" dur="500" fill="hold"/>
                                        <p:tgtEl>
                                          <p:spTgt spid="601094"/>
                                        </p:tgtEl>
                                        <p:attrNameLst>
                                          <p:attrName>ppt_x</p:attrName>
                                        </p:attrNameLst>
                                      </p:cBhvr>
                                      <p:tavLst>
                                        <p:tav tm="0">
                                          <p:val>
                                            <p:strVal val="0-#ppt_w/2"/>
                                          </p:val>
                                        </p:tav>
                                        <p:tav tm="100000">
                                          <p:val>
                                            <p:strVal val="#ppt_x"/>
                                          </p:val>
                                        </p:tav>
                                      </p:tavLst>
                                    </p:anim>
                                    <p:anim calcmode="lin" valueType="num">
                                      <p:cBhvr additive="base">
                                        <p:cTn id="66" dur="500" fill="hold"/>
                                        <p:tgtEl>
                                          <p:spTgt spid="601094"/>
                                        </p:tgtEl>
                                        <p:attrNameLst>
                                          <p:attrName>ppt_y</p:attrName>
                                        </p:attrNameLst>
                                      </p:cBhvr>
                                      <p:tavLst>
                                        <p:tav tm="0">
                                          <p:val>
                                            <p:strVal val="#ppt_y"/>
                                          </p:val>
                                        </p:tav>
                                        <p:tav tm="100000">
                                          <p:val>
                                            <p:strVal val="#ppt_y"/>
                                          </p:val>
                                        </p:tav>
                                      </p:tavLst>
                                    </p:anim>
                                  </p:childTnLst>
                                </p:cTn>
                              </p:par>
                              <p:par>
                                <p:cTn id="67" presetID="2" presetClass="entr" presetSubtype="8" fill="hold" nodeType="withEffect">
                                  <p:stCondLst>
                                    <p:cond delay="0"/>
                                  </p:stCondLst>
                                  <p:childTnLst>
                                    <p:set>
                                      <p:cBhvr>
                                        <p:cTn id="68" dur="1" fill="hold">
                                          <p:stCondLst>
                                            <p:cond delay="0"/>
                                          </p:stCondLst>
                                        </p:cTn>
                                        <p:tgtEl>
                                          <p:spTgt spid="601095"/>
                                        </p:tgtEl>
                                        <p:attrNameLst>
                                          <p:attrName>style.visibility</p:attrName>
                                        </p:attrNameLst>
                                      </p:cBhvr>
                                      <p:to>
                                        <p:strVal val="visible"/>
                                      </p:to>
                                    </p:set>
                                    <p:anim calcmode="lin" valueType="num">
                                      <p:cBhvr additive="base">
                                        <p:cTn id="69" dur="500" fill="hold"/>
                                        <p:tgtEl>
                                          <p:spTgt spid="601095"/>
                                        </p:tgtEl>
                                        <p:attrNameLst>
                                          <p:attrName>ppt_x</p:attrName>
                                        </p:attrNameLst>
                                      </p:cBhvr>
                                      <p:tavLst>
                                        <p:tav tm="0">
                                          <p:val>
                                            <p:strVal val="0-#ppt_w/2"/>
                                          </p:val>
                                        </p:tav>
                                        <p:tav tm="100000">
                                          <p:val>
                                            <p:strVal val="#ppt_x"/>
                                          </p:val>
                                        </p:tav>
                                      </p:tavLst>
                                    </p:anim>
                                    <p:anim calcmode="lin" valueType="num">
                                      <p:cBhvr additive="base">
                                        <p:cTn id="70" dur="500" fill="hold"/>
                                        <p:tgtEl>
                                          <p:spTgt spid="601095"/>
                                        </p:tgtEl>
                                        <p:attrNameLst>
                                          <p:attrName>ppt_y</p:attrName>
                                        </p:attrNameLst>
                                      </p:cBhvr>
                                      <p:tavLst>
                                        <p:tav tm="0">
                                          <p:val>
                                            <p:strVal val="#ppt_y"/>
                                          </p:val>
                                        </p:tav>
                                        <p:tav tm="100000">
                                          <p:val>
                                            <p:strVal val="#ppt_y"/>
                                          </p:val>
                                        </p:tav>
                                      </p:tavLst>
                                    </p:anim>
                                  </p:childTnLst>
                                </p:cTn>
                              </p:par>
                              <p:par>
                                <p:cTn id="71" presetID="4" presetClass="exit" presetSubtype="16" fill="hold" nodeType="withEffect">
                                  <p:stCondLst>
                                    <p:cond delay="0"/>
                                  </p:stCondLst>
                                  <p:childTnLst>
                                    <p:animEffect transition="out" filter="box(in)">
                                      <p:cBhvr>
                                        <p:cTn id="72" dur="500"/>
                                        <p:tgtEl>
                                          <p:spTgt spid="601125"/>
                                        </p:tgtEl>
                                      </p:cBhvr>
                                    </p:animEffect>
                                    <p:set>
                                      <p:cBhvr>
                                        <p:cTn id="73" dur="1" fill="hold">
                                          <p:stCondLst>
                                            <p:cond delay="499"/>
                                          </p:stCondLst>
                                        </p:cTn>
                                        <p:tgtEl>
                                          <p:spTgt spid="601125"/>
                                        </p:tgtEl>
                                        <p:attrNameLst>
                                          <p:attrName>style.visibility</p:attrName>
                                        </p:attrNameLst>
                                      </p:cBhvr>
                                      <p:to>
                                        <p:strVal val="hidden"/>
                                      </p:to>
                                    </p:set>
                                  </p:childTnLst>
                                </p:cTn>
                              </p:par>
                              <p:par>
                                <p:cTn id="74" presetID="2" presetClass="entr" presetSubtype="4" fill="hold" grpId="0" nodeType="withEffect">
                                  <p:stCondLst>
                                    <p:cond delay="0"/>
                                  </p:stCondLst>
                                  <p:childTnLst>
                                    <p:set>
                                      <p:cBhvr>
                                        <p:cTn id="75" dur="1" fill="hold">
                                          <p:stCondLst>
                                            <p:cond delay="0"/>
                                          </p:stCondLst>
                                        </p:cTn>
                                        <p:tgtEl>
                                          <p:spTgt spid="601092">
                                            <p:txEl>
                                              <p:charRg st="50" end="101"/>
                                            </p:txEl>
                                          </p:spTgt>
                                        </p:tgtEl>
                                        <p:attrNameLst>
                                          <p:attrName>style.visibility</p:attrName>
                                        </p:attrNameLst>
                                      </p:cBhvr>
                                      <p:to>
                                        <p:strVal val="visible"/>
                                      </p:to>
                                    </p:set>
                                    <p:anim calcmode="lin" valueType="num">
                                      <p:cBhvr additive="base">
                                        <p:cTn id="76" dur="500" fill="hold"/>
                                        <p:tgtEl>
                                          <p:spTgt spid="601092">
                                            <p:txEl>
                                              <p:charRg st="50" end="101"/>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601092">
                                            <p:txEl>
                                              <p:charRg st="50" end="101"/>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grpId="0" nodeType="clickEffect">
                                  <p:stCondLst>
                                    <p:cond delay="0"/>
                                  </p:stCondLst>
                                  <p:childTnLst>
                                    <p:set>
                                      <p:cBhvr>
                                        <p:cTn id="81" dur="1" fill="hold">
                                          <p:stCondLst>
                                            <p:cond delay="0"/>
                                          </p:stCondLst>
                                        </p:cTn>
                                        <p:tgtEl>
                                          <p:spTgt spid="601102"/>
                                        </p:tgtEl>
                                        <p:attrNameLst>
                                          <p:attrName>style.visibility</p:attrName>
                                        </p:attrNameLst>
                                      </p:cBhvr>
                                      <p:to>
                                        <p:strVal val="visible"/>
                                      </p:to>
                                    </p:set>
                                    <p:anim calcmode="lin" valueType="num">
                                      <p:cBhvr additive="base">
                                        <p:cTn id="82" dur="500" fill="hold"/>
                                        <p:tgtEl>
                                          <p:spTgt spid="601102"/>
                                        </p:tgtEl>
                                        <p:attrNameLst>
                                          <p:attrName>ppt_x</p:attrName>
                                        </p:attrNameLst>
                                      </p:cBhvr>
                                      <p:tavLst>
                                        <p:tav tm="0">
                                          <p:val>
                                            <p:strVal val="0-#ppt_w/2"/>
                                          </p:val>
                                        </p:tav>
                                        <p:tav tm="100000">
                                          <p:val>
                                            <p:strVal val="#ppt_x"/>
                                          </p:val>
                                        </p:tav>
                                      </p:tavLst>
                                    </p:anim>
                                    <p:anim calcmode="lin" valueType="num">
                                      <p:cBhvr additive="base">
                                        <p:cTn id="83" dur="500" fill="hold"/>
                                        <p:tgtEl>
                                          <p:spTgt spid="601102"/>
                                        </p:tgtEl>
                                        <p:attrNameLst>
                                          <p:attrName>ppt_y</p:attrName>
                                        </p:attrNameLst>
                                      </p:cBhvr>
                                      <p:tavLst>
                                        <p:tav tm="0">
                                          <p:val>
                                            <p:strVal val="#ppt_y"/>
                                          </p:val>
                                        </p:tav>
                                        <p:tav tm="100000">
                                          <p:val>
                                            <p:strVal val="#ppt_y"/>
                                          </p:val>
                                        </p:tav>
                                      </p:tavLst>
                                    </p:anim>
                                  </p:childTnLst>
                                </p:cTn>
                              </p:par>
                              <p:par>
                                <p:cTn id="84" presetID="2" presetClass="entr" presetSubtype="8" fill="hold" nodeType="withEffect">
                                  <p:stCondLst>
                                    <p:cond delay="0"/>
                                  </p:stCondLst>
                                  <p:childTnLst>
                                    <p:set>
                                      <p:cBhvr>
                                        <p:cTn id="85" dur="1" fill="hold">
                                          <p:stCondLst>
                                            <p:cond delay="0"/>
                                          </p:stCondLst>
                                        </p:cTn>
                                        <p:tgtEl>
                                          <p:spTgt spid="601098"/>
                                        </p:tgtEl>
                                        <p:attrNameLst>
                                          <p:attrName>style.visibility</p:attrName>
                                        </p:attrNameLst>
                                      </p:cBhvr>
                                      <p:to>
                                        <p:strVal val="visible"/>
                                      </p:to>
                                    </p:set>
                                    <p:anim calcmode="lin" valueType="num">
                                      <p:cBhvr additive="base">
                                        <p:cTn id="86" dur="500" fill="hold"/>
                                        <p:tgtEl>
                                          <p:spTgt spid="601098"/>
                                        </p:tgtEl>
                                        <p:attrNameLst>
                                          <p:attrName>ppt_x</p:attrName>
                                        </p:attrNameLst>
                                      </p:cBhvr>
                                      <p:tavLst>
                                        <p:tav tm="0">
                                          <p:val>
                                            <p:strVal val="0-#ppt_w/2"/>
                                          </p:val>
                                        </p:tav>
                                        <p:tav tm="100000">
                                          <p:val>
                                            <p:strVal val="#ppt_x"/>
                                          </p:val>
                                        </p:tav>
                                      </p:tavLst>
                                    </p:anim>
                                    <p:anim calcmode="lin" valueType="num">
                                      <p:cBhvr additive="base">
                                        <p:cTn id="87" dur="500" fill="hold"/>
                                        <p:tgtEl>
                                          <p:spTgt spid="601098"/>
                                        </p:tgtEl>
                                        <p:attrNameLst>
                                          <p:attrName>ppt_y</p:attrName>
                                        </p:attrNameLst>
                                      </p:cBhvr>
                                      <p:tavLst>
                                        <p:tav tm="0">
                                          <p:val>
                                            <p:strVal val="#ppt_y"/>
                                          </p:val>
                                        </p:tav>
                                        <p:tav tm="100000">
                                          <p:val>
                                            <p:strVal val="#ppt_y"/>
                                          </p:val>
                                        </p:tav>
                                      </p:tavLst>
                                    </p:anim>
                                  </p:childTnLst>
                                </p:cTn>
                              </p:par>
                              <p:par>
                                <p:cTn id="88" presetID="2" presetClass="entr" presetSubtype="8" fill="hold" grpId="0" nodeType="withEffect">
                                  <p:stCondLst>
                                    <p:cond delay="0"/>
                                  </p:stCondLst>
                                  <p:childTnLst>
                                    <p:set>
                                      <p:cBhvr>
                                        <p:cTn id="89" dur="1" fill="hold">
                                          <p:stCondLst>
                                            <p:cond delay="0"/>
                                          </p:stCondLst>
                                        </p:cTn>
                                        <p:tgtEl>
                                          <p:spTgt spid="601096"/>
                                        </p:tgtEl>
                                        <p:attrNameLst>
                                          <p:attrName>style.visibility</p:attrName>
                                        </p:attrNameLst>
                                      </p:cBhvr>
                                      <p:to>
                                        <p:strVal val="visible"/>
                                      </p:to>
                                    </p:set>
                                    <p:anim calcmode="lin" valueType="num">
                                      <p:cBhvr additive="base">
                                        <p:cTn id="90" dur="500" fill="hold"/>
                                        <p:tgtEl>
                                          <p:spTgt spid="601096"/>
                                        </p:tgtEl>
                                        <p:attrNameLst>
                                          <p:attrName>ppt_x</p:attrName>
                                        </p:attrNameLst>
                                      </p:cBhvr>
                                      <p:tavLst>
                                        <p:tav tm="0">
                                          <p:val>
                                            <p:strVal val="0-#ppt_w/2"/>
                                          </p:val>
                                        </p:tav>
                                        <p:tav tm="100000">
                                          <p:val>
                                            <p:strVal val="#ppt_x"/>
                                          </p:val>
                                        </p:tav>
                                      </p:tavLst>
                                    </p:anim>
                                    <p:anim calcmode="lin" valueType="num">
                                      <p:cBhvr additive="base">
                                        <p:cTn id="91" dur="500" fill="hold"/>
                                        <p:tgtEl>
                                          <p:spTgt spid="601096"/>
                                        </p:tgtEl>
                                        <p:attrNameLst>
                                          <p:attrName>ppt_y</p:attrName>
                                        </p:attrNameLst>
                                      </p:cBhvr>
                                      <p:tavLst>
                                        <p:tav tm="0">
                                          <p:val>
                                            <p:strVal val="#ppt_y"/>
                                          </p:val>
                                        </p:tav>
                                        <p:tav tm="100000">
                                          <p:val>
                                            <p:strVal val="#ppt_y"/>
                                          </p:val>
                                        </p:tav>
                                      </p:tavLst>
                                    </p:anim>
                                  </p:childTnLst>
                                </p:cTn>
                              </p:par>
                              <p:par>
                                <p:cTn id="92" presetID="2" presetClass="entr" presetSubtype="8" fill="hold" nodeType="withEffect">
                                  <p:stCondLst>
                                    <p:cond delay="0"/>
                                  </p:stCondLst>
                                  <p:childTnLst>
                                    <p:set>
                                      <p:cBhvr>
                                        <p:cTn id="93" dur="1" fill="hold">
                                          <p:stCondLst>
                                            <p:cond delay="0"/>
                                          </p:stCondLst>
                                        </p:cTn>
                                        <p:tgtEl>
                                          <p:spTgt spid="601113"/>
                                        </p:tgtEl>
                                        <p:attrNameLst>
                                          <p:attrName>style.visibility</p:attrName>
                                        </p:attrNameLst>
                                      </p:cBhvr>
                                      <p:to>
                                        <p:strVal val="visible"/>
                                      </p:to>
                                    </p:set>
                                    <p:anim calcmode="lin" valueType="num">
                                      <p:cBhvr additive="base">
                                        <p:cTn id="94" dur="500" fill="hold"/>
                                        <p:tgtEl>
                                          <p:spTgt spid="601113"/>
                                        </p:tgtEl>
                                        <p:attrNameLst>
                                          <p:attrName>ppt_x</p:attrName>
                                        </p:attrNameLst>
                                      </p:cBhvr>
                                      <p:tavLst>
                                        <p:tav tm="0">
                                          <p:val>
                                            <p:strVal val="0-#ppt_w/2"/>
                                          </p:val>
                                        </p:tav>
                                        <p:tav tm="100000">
                                          <p:val>
                                            <p:strVal val="#ppt_x"/>
                                          </p:val>
                                        </p:tav>
                                      </p:tavLst>
                                    </p:anim>
                                    <p:anim calcmode="lin" valueType="num">
                                      <p:cBhvr additive="base">
                                        <p:cTn id="95" dur="500" fill="hold"/>
                                        <p:tgtEl>
                                          <p:spTgt spid="601113"/>
                                        </p:tgtEl>
                                        <p:attrNameLst>
                                          <p:attrName>ppt_y</p:attrName>
                                        </p:attrNameLst>
                                      </p:cBhvr>
                                      <p:tavLst>
                                        <p:tav tm="0">
                                          <p:val>
                                            <p:strVal val="#ppt_y"/>
                                          </p:val>
                                        </p:tav>
                                        <p:tav tm="100000">
                                          <p:val>
                                            <p:strVal val="#ppt_y"/>
                                          </p:val>
                                        </p:tav>
                                      </p:tavLst>
                                    </p:anim>
                                  </p:childTnLst>
                                </p:cTn>
                              </p:par>
                              <p:par>
                                <p:cTn id="96" presetID="2" presetClass="entr" presetSubtype="8" fill="hold" nodeType="withEffect">
                                  <p:stCondLst>
                                    <p:cond delay="0"/>
                                  </p:stCondLst>
                                  <p:childTnLst>
                                    <p:set>
                                      <p:cBhvr>
                                        <p:cTn id="97" dur="1" fill="hold">
                                          <p:stCondLst>
                                            <p:cond delay="0"/>
                                          </p:stCondLst>
                                        </p:cTn>
                                        <p:tgtEl>
                                          <p:spTgt spid="601097"/>
                                        </p:tgtEl>
                                        <p:attrNameLst>
                                          <p:attrName>style.visibility</p:attrName>
                                        </p:attrNameLst>
                                      </p:cBhvr>
                                      <p:to>
                                        <p:strVal val="visible"/>
                                      </p:to>
                                    </p:set>
                                    <p:anim calcmode="lin" valueType="num">
                                      <p:cBhvr additive="base">
                                        <p:cTn id="98" dur="500" fill="hold"/>
                                        <p:tgtEl>
                                          <p:spTgt spid="601097"/>
                                        </p:tgtEl>
                                        <p:attrNameLst>
                                          <p:attrName>ppt_x</p:attrName>
                                        </p:attrNameLst>
                                      </p:cBhvr>
                                      <p:tavLst>
                                        <p:tav tm="0">
                                          <p:val>
                                            <p:strVal val="0-#ppt_w/2"/>
                                          </p:val>
                                        </p:tav>
                                        <p:tav tm="100000">
                                          <p:val>
                                            <p:strVal val="#ppt_x"/>
                                          </p:val>
                                        </p:tav>
                                      </p:tavLst>
                                    </p:anim>
                                    <p:anim calcmode="lin" valueType="num">
                                      <p:cBhvr additive="base">
                                        <p:cTn id="99" dur="500" fill="hold"/>
                                        <p:tgtEl>
                                          <p:spTgt spid="601097"/>
                                        </p:tgtEl>
                                        <p:attrNameLst>
                                          <p:attrName>ppt_y</p:attrName>
                                        </p:attrNameLst>
                                      </p:cBhvr>
                                      <p:tavLst>
                                        <p:tav tm="0">
                                          <p:val>
                                            <p:strVal val="#ppt_y"/>
                                          </p:val>
                                        </p:tav>
                                        <p:tav tm="100000">
                                          <p:val>
                                            <p:strVal val="#ppt_y"/>
                                          </p:val>
                                        </p:tav>
                                      </p:tavLst>
                                    </p:anim>
                                  </p:childTnLst>
                                </p:cTn>
                              </p:par>
                              <p:par>
                                <p:cTn id="100" presetID="2" presetClass="entr" presetSubtype="8" fill="hold" nodeType="withEffect">
                                  <p:stCondLst>
                                    <p:cond delay="0"/>
                                  </p:stCondLst>
                                  <p:childTnLst>
                                    <p:set>
                                      <p:cBhvr>
                                        <p:cTn id="101" dur="1" fill="hold">
                                          <p:stCondLst>
                                            <p:cond delay="0"/>
                                          </p:stCondLst>
                                        </p:cTn>
                                        <p:tgtEl>
                                          <p:spTgt spid="601116"/>
                                        </p:tgtEl>
                                        <p:attrNameLst>
                                          <p:attrName>style.visibility</p:attrName>
                                        </p:attrNameLst>
                                      </p:cBhvr>
                                      <p:to>
                                        <p:strVal val="visible"/>
                                      </p:to>
                                    </p:set>
                                    <p:anim calcmode="lin" valueType="num">
                                      <p:cBhvr additive="base">
                                        <p:cTn id="102" dur="500" fill="hold"/>
                                        <p:tgtEl>
                                          <p:spTgt spid="601116"/>
                                        </p:tgtEl>
                                        <p:attrNameLst>
                                          <p:attrName>ppt_x</p:attrName>
                                        </p:attrNameLst>
                                      </p:cBhvr>
                                      <p:tavLst>
                                        <p:tav tm="0">
                                          <p:val>
                                            <p:strVal val="0-#ppt_w/2"/>
                                          </p:val>
                                        </p:tav>
                                        <p:tav tm="100000">
                                          <p:val>
                                            <p:strVal val="#ppt_x"/>
                                          </p:val>
                                        </p:tav>
                                      </p:tavLst>
                                    </p:anim>
                                    <p:anim calcmode="lin" valueType="num">
                                      <p:cBhvr additive="base">
                                        <p:cTn id="103" dur="500" fill="hold"/>
                                        <p:tgtEl>
                                          <p:spTgt spid="601116"/>
                                        </p:tgtEl>
                                        <p:attrNameLst>
                                          <p:attrName>ppt_y</p:attrName>
                                        </p:attrNameLst>
                                      </p:cBhvr>
                                      <p:tavLst>
                                        <p:tav tm="0">
                                          <p:val>
                                            <p:strVal val="#ppt_y"/>
                                          </p:val>
                                        </p:tav>
                                        <p:tav tm="100000">
                                          <p:val>
                                            <p:strVal val="#ppt_y"/>
                                          </p:val>
                                        </p:tav>
                                      </p:tavLst>
                                    </p:anim>
                                  </p:childTnLst>
                                </p:cTn>
                              </p:par>
                              <p:par>
                                <p:cTn id="104" presetID="4" presetClass="exit" presetSubtype="16" fill="hold" grpId="0" nodeType="withEffect">
                                  <p:stCondLst>
                                    <p:cond delay="0"/>
                                  </p:stCondLst>
                                  <p:childTnLst>
                                    <p:animEffect transition="out" filter="box(in)">
                                      <p:cBhvr>
                                        <p:cTn id="105" dur="500"/>
                                        <p:tgtEl>
                                          <p:spTgt spid="601095"/>
                                        </p:tgtEl>
                                      </p:cBhvr>
                                    </p:animEffect>
                                    <p:set>
                                      <p:cBhvr>
                                        <p:cTn id="106" dur="1" fill="hold">
                                          <p:stCondLst>
                                            <p:cond delay="499"/>
                                          </p:stCondLst>
                                        </p:cTn>
                                        <p:tgtEl>
                                          <p:spTgt spid="601095"/>
                                        </p:tgtEl>
                                        <p:attrNameLst>
                                          <p:attrName>style.visibility</p:attrName>
                                        </p:attrNameLst>
                                      </p:cBhvr>
                                      <p:to>
                                        <p:strVal val="hidden"/>
                                      </p:to>
                                    </p:set>
                                  </p:childTnLst>
                                </p:cTn>
                              </p:par>
                              <p:par>
                                <p:cTn id="107" presetID="4" presetClass="exit" presetSubtype="16" fill="hold" nodeType="withEffect">
                                  <p:stCondLst>
                                    <p:cond delay="0"/>
                                  </p:stCondLst>
                                  <p:childTnLst>
                                    <p:animEffect transition="out" filter="box(in)">
                                      <p:cBhvr>
                                        <p:cTn id="108" dur="500"/>
                                        <p:tgtEl>
                                          <p:spTgt spid="601094"/>
                                        </p:tgtEl>
                                      </p:cBhvr>
                                    </p:animEffect>
                                    <p:set>
                                      <p:cBhvr>
                                        <p:cTn id="109" dur="1" fill="hold">
                                          <p:stCondLst>
                                            <p:cond delay="499"/>
                                          </p:stCondLst>
                                        </p:cTn>
                                        <p:tgtEl>
                                          <p:spTgt spid="601094"/>
                                        </p:tgtEl>
                                        <p:attrNameLst>
                                          <p:attrName>style.visibility</p:attrName>
                                        </p:attrNameLst>
                                      </p:cBhvr>
                                      <p:to>
                                        <p:strVal val="hidden"/>
                                      </p:to>
                                    </p:set>
                                  </p:childTnLst>
                                </p:cTn>
                              </p:par>
                              <p:par>
                                <p:cTn id="110" presetID="2" presetClass="entr" presetSubtype="4" fill="hold" grpId="0" nodeType="withEffect">
                                  <p:stCondLst>
                                    <p:cond delay="0"/>
                                  </p:stCondLst>
                                  <p:childTnLst>
                                    <p:set>
                                      <p:cBhvr>
                                        <p:cTn id="111" dur="1" fill="hold">
                                          <p:stCondLst>
                                            <p:cond delay="0"/>
                                          </p:stCondLst>
                                        </p:cTn>
                                        <p:tgtEl>
                                          <p:spTgt spid="601092">
                                            <p:txEl>
                                              <p:charRg st="101" end="257"/>
                                            </p:txEl>
                                          </p:spTgt>
                                        </p:tgtEl>
                                        <p:attrNameLst>
                                          <p:attrName>style.visibility</p:attrName>
                                        </p:attrNameLst>
                                      </p:cBhvr>
                                      <p:to>
                                        <p:strVal val="visible"/>
                                      </p:to>
                                    </p:set>
                                    <p:anim calcmode="lin" valueType="num">
                                      <p:cBhvr additive="base">
                                        <p:cTn id="112" dur="500" fill="hold"/>
                                        <p:tgtEl>
                                          <p:spTgt spid="601092">
                                            <p:txEl>
                                              <p:charRg st="101" end="257"/>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601092">
                                            <p:txEl>
                                              <p:charRg st="101" end="257"/>
                                            </p:txEl>
                                          </p:spTgt>
                                        </p:tgtEl>
                                        <p:attrNameLst>
                                          <p:attrName>ppt_y</p:attrName>
                                        </p:attrNameLst>
                                      </p:cBhvr>
                                      <p:tavLst>
                                        <p:tav tm="0">
                                          <p:val>
                                            <p:strVal val="1+#ppt_h/2"/>
                                          </p:val>
                                        </p:tav>
                                        <p:tav tm="100000">
                                          <p:val>
                                            <p:strVal val="#ppt_y"/>
                                          </p:val>
                                        </p:tav>
                                      </p:tavLst>
                                    </p:anim>
                                  </p:childTnLst>
                                </p:cTn>
                              </p:par>
                              <p:par>
                                <p:cTn id="114" presetID="4" presetClass="exit" presetSubtype="16" fill="hold" grpId="1" nodeType="withEffect">
                                  <p:stCondLst>
                                    <p:cond delay="0"/>
                                  </p:stCondLst>
                                  <p:childTnLst>
                                    <p:animEffect transition="out" filter="box(in)">
                                      <p:cBhvr>
                                        <p:cTn id="115" dur="500"/>
                                        <p:tgtEl>
                                          <p:spTgt spid="601101"/>
                                        </p:tgtEl>
                                      </p:cBhvr>
                                    </p:animEffect>
                                    <p:set>
                                      <p:cBhvr>
                                        <p:cTn id="116" dur="1" fill="hold">
                                          <p:stCondLst>
                                            <p:cond delay="499"/>
                                          </p:stCondLst>
                                        </p:cTn>
                                        <p:tgtEl>
                                          <p:spTgt spid="601101"/>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5" presetClass="exit" presetSubtype="10" fill="hold" nodeType="clickEffect">
                                  <p:stCondLst>
                                    <p:cond delay="0"/>
                                  </p:stCondLst>
                                  <p:childTnLst>
                                    <p:animEffect transition="out" filter="checkerboard(across)">
                                      <p:cBhvr>
                                        <p:cTn id="120" dur="2000"/>
                                        <p:tgtEl>
                                          <p:spTgt spid="601100"/>
                                        </p:tgtEl>
                                      </p:cBhvr>
                                    </p:animEffect>
                                    <p:set>
                                      <p:cBhvr>
                                        <p:cTn id="121" dur="1" fill="hold">
                                          <p:stCondLst>
                                            <p:cond delay="1999"/>
                                          </p:stCondLst>
                                        </p:cTn>
                                        <p:tgtEl>
                                          <p:spTgt spid="601100"/>
                                        </p:tgtEl>
                                        <p:attrNameLst>
                                          <p:attrName>style.visibility</p:attrName>
                                        </p:attrNameLst>
                                      </p:cBhvr>
                                      <p:to>
                                        <p:strVal val="hidden"/>
                                      </p:to>
                                    </p:set>
                                  </p:childTnLst>
                                </p:cTn>
                              </p:par>
                              <p:par>
                                <p:cTn id="122" presetID="5" presetClass="exit" presetSubtype="10" fill="hold" nodeType="withEffect">
                                  <p:stCondLst>
                                    <p:cond delay="0"/>
                                  </p:stCondLst>
                                  <p:childTnLst>
                                    <p:animEffect transition="out" filter="checkerboard(across)">
                                      <p:cBhvr>
                                        <p:cTn id="123" dur="2000"/>
                                        <p:tgtEl>
                                          <p:spTgt spid="601114"/>
                                        </p:tgtEl>
                                      </p:cBhvr>
                                    </p:animEffect>
                                    <p:set>
                                      <p:cBhvr>
                                        <p:cTn id="124" dur="1" fill="hold">
                                          <p:stCondLst>
                                            <p:cond delay="1999"/>
                                          </p:stCondLst>
                                        </p:cTn>
                                        <p:tgtEl>
                                          <p:spTgt spid="601114"/>
                                        </p:tgtEl>
                                        <p:attrNameLst>
                                          <p:attrName>style.visibility</p:attrName>
                                        </p:attrNameLst>
                                      </p:cBhvr>
                                      <p:to>
                                        <p:strVal val="hidden"/>
                                      </p:to>
                                    </p:set>
                                  </p:childTnLst>
                                </p:cTn>
                              </p:par>
                              <p:par>
                                <p:cTn id="125" presetID="4" presetClass="exit" presetSubtype="16" fill="hold" nodeType="withEffect">
                                  <p:stCondLst>
                                    <p:cond delay="0"/>
                                  </p:stCondLst>
                                  <p:childTnLst>
                                    <p:animEffect transition="out" filter="box(in)">
                                      <p:cBhvr>
                                        <p:cTn id="126" dur="500"/>
                                        <p:tgtEl>
                                          <p:spTgt spid="601102"/>
                                        </p:tgtEl>
                                      </p:cBhvr>
                                    </p:animEffect>
                                    <p:set>
                                      <p:cBhvr>
                                        <p:cTn id="127" dur="1" fill="hold">
                                          <p:stCondLst>
                                            <p:cond delay="499"/>
                                          </p:stCondLst>
                                        </p:cTn>
                                        <p:tgtEl>
                                          <p:spTgt spid="601102"/>
                                        </p:tgtEl>
                                        <p:attrNameLst>
                                          <p:attrName>style.visibility</p:attrName>
                                        </p:attrNameLst>
                                      </p:cBhvr>
                                      <p:to>
                                        <p:strVal val="hidden"/>
                                      </p:to>
                                    </p:set>
                                  </p:childTnLst>
                                </p:cTn>
                              </p:par>
                              <p:par>
                                <p:cTn id="128" presetID="5" presetClass="entr" presetSubtype="10" fill="hold" nodeType="withEffect">
                                  <p:stCondLst>
                                    <p:cond delay="0"/>
                                  </p:stCondLst>
                                  <p:childTnLst>
                                    <p:set>
                                      <p:cBhvr>
                                        <p:cTn id="129" dur="1" fill="hold">
                                          <p:stCondLst>
                                            <p:cond delay="0"/>
                                          </p:stCondLst>
                                        </p:cTn>
                                        <p:tgtEl>
                                          <p:spTgt spid="601124"/>
                                        </p:tgtEl>
                                        <p:attrNameLst>
                                          <p:attrName>style.visibility</p:attrName>
                                        </p:attrNameLst>
                                      </p:cBhvr>
                                      <p:to>
                                        <p:strVal val="visible"/>
                                      </p:to>
                                    </p:set>
                                    <p:animEffect transition="in" filter="checkerboard(across)">
                                      <p:cBhvr>
                                        <p:cTn id="130" dur="1000"/>
                                        <p:tgtEl>
                                          <p:spTgt spid="601124"/>
                                        </p:tgtEl>
                                      </p:cBhvr>
                                    </p:animEffect>
                                  </p:childTnLst>
                                </p:cTn>
                              </p:par>
                              <p:par>
                                <p:cTn id="131" presetID="5" presetClass="entr" presetSubtype="10" fill="hold" nodeType="withEffect">
                                  <p:stCondLst>
                                    <p:cond delay="0"/>
                                  </p:stCondLst>
                                  <p:childTnLst>
                                    <p:set>
                                      <p:cBhvr>
                                        <p:cTn id="132" dur="1" fill="hold">
                                          <p:stCondLst>
                                            <p:cond delay="0"/>
                                          </p:stCondLst>
                                        </p:cTn>
                                        <p:tgtEl>
                                          <p:spTgt spid="601123"/>
                                        </p:tgtEl>
                                        <p:attrNameLst>
                                          <p:attrName>style.visibility</p:attrName>
                                        </p:attrNameLst>
                                      </p:cBhvr>
                                      <p:to>
                                        <p:strVal val="visible"/>
                                      </p:to>
                                    </p:set>
                                    <p:animEffect transition="in" filter="checkerboard(across)">
                                      <p:cBhvr>
                                        <p:cTn id="133" dur="1000"/>
                                        <p:tgtEl>
                                          <p:spTgt spid="601123"/>
                                        </p:tgtEl>
                                      </p:cBhvr>
                                    </p:animEffect>
                                  </p:childTnLst>
                                </p:cTn>
                              </p:par>
                              <p:par>
                                <p:cTn id="134" presetID="5" presetClass="entr" presetSubtype="10" fill="hold" grpId="0" nodeType="withEffect">
                                  <p:stCondLst>
                                    <p:cond delay="0"/>
                                  </p:stCondLst>
                                  <p:childTnLst>
                                    <p:set>
                                      <p:cBhvr>
                                        <p:cTn id="135" dur="1" fill="hold">
                                          <p:stCondLst>
                                            <p:cond delay="0"/>
                                          </p:stCondLst>
                                        </p:cTn>
                                        <p:tgtEl>
                                          <p:spTgt spid="601099"/>
                                        </p:tgtEl>
                                        <p:attrNameLst>
                                          <p:attrName>style.visibility</p:attrName>
                                        </p:attrNameLst>
                                      </p:cBhvr>
                                      <p:to>
                                        <p:strVal val="visible"/>
                                      </p:to>
                                    </p:set>
                                    <p:animEffect transition="in" filter="checkerboard(across)">
                                      <p:cBhvr>
                                        <p:cTn id="136" dur="1000"/>
                                        <p:tgtEl>
                                          <p:spTgt spid="601099"/>
                                        </p:tgtEl>
                                      </p:cBhvr>
                                    </p:animEffect>
                                  </p:childTnLst>
                                </p:cTn>
                              </p:par>
                              <p:par>
                                <p:cTn id="137" presetID="5" presetClass="entr" presetSubtype="10" fill="hold" grpId="0" nodeType="withEffect">
                                  <p:stCondLst>
                                    <p:cond delay="0"/>
                                  </p:stCondLst>
                                  <p:childTnLst>
                                    <p:set>
                                      <p:cBhvr>
                                        <p:cTn id="138" dur="1" fill="hold">
                                          <p:stCondLst>
                                            <p:cond delay="0"/>
                                          </p:stCondLst>
                                        </p:cTn>
                                        <p:tgtEl>
                                          <p:spTgt spid="601099">
                                            <p:txEl>
                                              <p:charRg st="0" end="3"/>
                                            </p:txEl>
                                          </p:spTgt>
                                        </p:tgtEl>
                                        <p:attrNameLst>
                                          <p:attrName>style.visibility</p:attrName>
                                        </p:attrNameLst>
                                      </p:cBhvr>
                                      <p:to>
                                        <p:strVal val="visible"/>
                                      </p:to>
                                    </p:set>
                                    <p:animEffect transition="in" filter="checkerboard(across)">
                                      <p:cBhvr>
                                        <p:cTn id="139" dur="1000"/>
                                        <p:tgtEl>
                                          <p:spTgt spid="601099">
                                            <p:txEl>
                                              <p:charRg st="0" end="3"/>
                                            </p:txEl>
                                          </p:spTgt>
                                        </p:tgtEl>
                                      </p:cBhvr>
                                    </p:animEffect>
                                  </p:childTnLst>
                                </p:cTn>
                              </p:par>
                              <p:par>
                                <p:cTn id="140" presetID="5" presetClass="entr" presetSubtype="10" fill="hold" grpId="0" nodeType="withEffect">
                                  <p:stCondLst>
                                    <p:cond delay="0"/>
                                  </p:stCondLst>
                                  <p:childTnLst>
                                    <p:set>
                                      <p:cBhvr>
                                        <p:cTn id="141" dur="1" fill="hold">
                                          <p:stCondLst>
                                            <p:cond delay="0"/>
                                          </p:stCondLst>
                                        </p:cTn>
                                        <p:tgtEl>
                                          <p:spTgt spid="601091"/>
                                        </p:tgtEl>
                                        <p:attrNameLst>
                                          <p:attrName>style.visibility</p:attrName>
                                        </p:attrNameLst>
                                      </p:cBhvr>
                                      <p:to>
                                        <p:strVal val="visible"/>
                                      </p:to>
                                    </p:set>
                                    <p:animEffect transition="in" filter="checkerboard(across)">
                                      <p:cBhvr>
                                        <p:cTn id="142" dur="1000"/>
                                        <p:tgtEl>
                                          <p:spTgt spid="601091"/>
                                        </p:tgtEl>
                                      </p:cBhvr>
                                    </p:animEffect>
                                  </p:childTnLst>
                                </p:cTn>
                              </p:par>
                              <p:par>
                                <p:cTn id="143" presetID="5" presetClass="entr" presetSubtype="10" fill="hold" grpId="0" nodeType="withEffect">
                                  <p:stCondLst>
                                    <p:cond delay="0"/>
                                  </p:stCondLst>
                                  <p:childTnLst>
                                    <p:set>
                                      <p:cBhvr>
                                        <p:cTn id="144" dur="1" fill="hold">
                                          <p:stCondLst>
                                            <p:cond delay="0"/>
                                          </p:stCondLst>
                                        </p:cTn>
                                        <p:tgtEl>
                                          <p:spTgt spid="601091">
                                            <p:txEl>
                                              <p:charRg st="0" end="3"/>
                                            </p:txEl>
                                          </p:spTgt>
                                        </p:tgtEl>
                                        <p:attrNameLst>
                                          <p:attrName>style.visibility</p:attrName>
                                        </p:attrNameLst>
                                      </p:cBhvr>
                                      <p:to>
                                        <p:strVal val="visible"/>
                                      </p:to>
                                    </p:set>
                                    <p:animEffect transition="in" filter="checkerboard(across)">
                                      <p:cBhvr>
                                        <p:cTn id="145" dur="1000"/>
                                        <p:tgtEl>
                                          <p:spTgt spid="601091">
                                            <p:txEl>
                                              <p:charRg st="0" end="3"/>
                                            </p:txEl>
                                          </p:spTgt>
                                        </p:tgtEl>
                                      </p:cBhvr>
                                    </p:animEffect>
                                  </p:childTnLst>
                                </p:cTn>
                              </p:par>
                              <p:par>
                                <p:cTn id="146" presetID="5" presetClass="entr" presetSubtype="10" fill="hold" grpId="0" nodeType="withEffect">
                                  <p:stCondLst>
                                    <p:cond delay="0"/>
                                  </p:stCondLst>
                                  <p:childTnLst>
                                    <p:set>
                                      <p:cBhvr>
                                        <p:cTn id="147" dur="1" fill="hold">
                                          <p:stCondLst>
                                            <p:cond delay="0"/>
                                          </p:stCondLst>
                                        </p:cTn>
                                        <p:tgtEl>
                                          <p:spTgt spid="601118"/>
                                        </p:tgtEl>
                                        <p:attrNameLst>
                                          <p:attrName>style.visibility</p:attrName>
                                        </p:attrNameLst>
                                      </p:cBhvr>
                                      <p:to>
                                        <p:strVal val="visible"/>
                                      </p:to>
                                    </p:set>
                                    <p:animEffect transition="in" filter="checkerboard(across)">
                                      <p:cBhvr>
                                        <p:cTn id="148" dur="1000"/>
                                        <p:tgtEl>
                                          <p:spTgt spid="601118"/>
                                        </p:tgtEl>
                                      </p:cBhvr>
                                    </p:animEffect>
                                  </p:childTnLst>
                                </p:cTn>
                              </p:par>
                              <p:par>
                                <p:cTn id="149" presetID="5" presetClass="entr" presetSubtype="10" fill="hold" nodeType="withEffect">
                                  <p:stCondLst>
                                    <p:cond delay="0"/>
                                  </p:stCondLst>
                                  <p:childTnLst>
                                    <p:set>
                                      <p:cBhvr>
                                        <p:cTn id="150" dur="1" fill="hold">
                                          <p:stCondLst>
                                            <p:cond delay="0"/>
                                          </p:stCondLst>
                                        </p:cTn>
                                        <p:tgtEl>
                                          <p:spTgt spid="601121"/>
                                        </p:tgtEl>
                                        <p:attrNameLst>
                                          <p:attrName>style.visibility</p:attrName>
                                        </p:attrNameLst>
                                      </p:cBhvr>
                                      <p:to>
                                        <p:strVal val="visible"/>
                                      </p:to>
                                    </p:set>
                                    <p:animEffect transition="in" filter="checkerboard(across)">
                                      <p:cBhvr>
                                        <p:cTn id="151" dur="2000"/>
                                        <p:tgtEl>
                                          <p:spTgt spid="601121"/>
                                        </p:tgtEl>
                                      </p:cBhvr>
                                    </p:animEffect>
                                  </p:childTnLst>
                                </p:cTn>
                              </p:par>
                              <p:par>
                                <p:cTn id="152" presetID="5" presetClass="entr" presetSubtype="10" fill="hold" nodeType="withEffect">
                                  <p:stCondLst>
                                    <p:cond delay="0"/>
                                  </p:stCondLst>
                                  <p:childTnLst>
                                    <p:set>
                                      <p:cBhvr>
                                        <p:cTn id="153" dur="1" fill="hold">
                                          <p:stCondLst>
                                            <p:cond delay="0"/>
                                          </p:stCondLst>
                                        </p:cTn>
                                        <p:tgtEl>
                                          <p:spTgt spid="601122"/>
                                        </p:tgtEl>
                                        <p:attrNameLst>
                                          <p:attrName>style.visibility</p:attrName>
                                        </p:attrNameLst>
                                      </p:cBhvr>
                                      <p:to>
                                        <p:strVal val="visible"/>
                                      </p:to>
                                    </p:set>
                                    <p:animEffect transition="in" filter="checkerboard(across)">
                                      <p:cBhvr>
                                        <p:cTn id="154" dur="2000"/>
                                        <p:tgtEl>
                                          <p:spTgt spid="601122"/>
                                        </p:tgtEl>
                                      </p:cBhvr>
                                    </p:animEffect>
                                  </p:childTnLst>
                                </p:cTn>
                              </p:par>
                              <p:par>
                                <p:cTn id="155" presetID="5" presetClass="entr" presetSubtype="10" fill="hold" nodeType="withEffect">
                                  <p:stCondLst>
                                    <p:cond delay="0"/>
                                  </p:stCondLst>
                                  <p:childTnLst>
                                    <p:set>
                                      <p:cBhvr>
                                        <p:cTn id="156" dur="1" fill="hold">
                                          <p:stCondLst>
                                            <p:cond delay="0"/>
                                          </p:stCondLst>
                                        </p:cTn>
                                        <p:tgtEl>
                                          <p:spTgt spid="601103"/>
                                        </p:tgtEl>
                                        <p:attrNameLst>
                                          <p:attrName>style.visibility</p:attrName>
                                        </p:attrNameLst>
                                      </p:cBhvr>
                                      <p:to>
                                        <p:strVal val="visible"/>
                                      </p:to>
                                    </p:set>
                                    <p:animEffect transition="in" filter="checkerboard(across)">
                                      <p:cBhvr>
                                        <p:cTn id="157" dur="1000"/>
                                        <p:tgtEl>
                                          <p:spTgt spid="601103"/>
                                        </p:tgtEl>
                                      </p:cBhvr>
                                    </p:animEffect>
                                  </p:childTnLst>
                                </p:cTn>
                              </p:par>
                              <p:par>
                                <p:cTn id="158" presetID="5" presetClass="entr" presetSubtype="10" fill="hold" nodeType="withEffect">
                                  <p:stCondLst>
                                    <p:cond delay="0"/>
                                  </p:stCondLst>
                                  <p:childTnLst>
                                    <p:set>
                                      <p:cBhvr>
                                        <p:cTn id="159" dur="1" fill="hold">
                                          <p:stCondLst>
                                            <p:cond delay="0"/>
                                          </p:stCondLst>
                                        </p:cTn>
                                        <p:tgtEl>
                                          <p:spTgt spid="601104"/>
                                        </p:tgtEl>
                                        <p:attrNameLst>
                                          <p:attrName>style.visibility</p:attrName>
                                        </p:attrNameLst>
                                      </p:cBhvr>
                                      <p:to>
                                        <p:strVal val="visible"/>
                                      </p:to>
                                    </p:set>
                                    <p:animEffect transition="in" filter="checkerboard(across)">
                                      <p:cBhvr>
                                        <p:cTn id="160" dur="1000"/>
                                        <p:tgtEl>
                                          <p:spTgt spid="601104"/>
                                        </p:tgtEl>
                                      </p:cBhvr>
                                    </p:animEffect>
                                  </p:childTnLst>
                                </p:cTn>
                              </p:par>
                              <p:par>
                                <p:cTn id="161" presetID="4" presetClass="exit" presetSubtype="16" fill="hold" nodeType="withEffect">
                                  <p:stCondLst>
                                    <p:cond delay="0"/>
                                  </p:stCondLst>
                                  <p:childTnLst>
                                    <p:animEffect transition="out" filter="box(in)">
                                      <p:cBhvr>
                                        <p:cTn id="162" dur="500"/>
                                        <p:tgtEl>
                                          <p:spTgt spid="601098"/>
                                        </p:tgtEl>
                                      </p:cBhvr>
                                    </p:animEffect>
                                    <p:set>
                                      <p:cBhvr>
                                        <p:cTn id="163" dur="1" fill="hold">
                                          <p:stCondLst>
                                            <p:cond delay="499"/>
                                          </p:stCondLst>
                                        </p:cTn>
                                        <p:tgtEl>
                                          <p:spTgt spid="601098"/>
                                        </p:tgtEl>
                                        <p:attrNameLst>
                                          <p:attrName>style.visibility</p:attrName>
                                        </p:attrNameLst>
                                      </p:cBhvr>
                                      <p:to>
                                        <p:strVal val="hidden"/>
                                      </p:to>
                                    </p:set>
                                  </p:childTnLst>
                                </p:cTn>
                              </p:par>
                              <p:par>
                                <p:cTn id="164" presetID="2" presetClass="entr" presetSubtype="4" fill="hold" grpId="0" nodeType="withEffect">
                                  <p:stCondLst>
                                    <p:cond delay="0"/>
                                  </p:stCondLst>
                                  <p:childTnLst>
                                    <p:set>
                                      <p:cBhvr>
                                        <p:cTn id="165" dur="1" fill="hold">
                                          <p:stCondLst>
                                            <p:cond delay="0"/>
                                          </p:stCondLst>
                                        </p:cTn>
                                        <p:tgtEl>
                                          <p:spTgt spid="601092">
                                            <p:txEl>
                                              <p:charRg st="257" end="434"/>
                                            </p:txEl>
                                          </p:spTgt>
                                        </p:tgtEl>
                                        <p:attrNameLst>
                                          <p:attrName>style.visibility</p:attrName>
                                        </p:attrNameLst>
                                      </p:cBhvr>
                                      <p:to>
                                        <p:strVal val="visible"/>
                                      </p:to>
                                    </p:set>
                                    <p:anim calcmode="lin" valueType="num">
                                      <p:cBhvr additive="base">
                                        <p:cTn id="166" dur="500" fill="hold"/>
                                        <p:tgtEl>
                                          <p:spTgt spid="601092">
                                            <p:txEl>
                                              <p:charRg st="257" end="434"/>
                                            </p:txEl>
                                          </p:spTgt>
                                        </p:tgtEl>
                                        <p:attrNameLst>
                                          <p:attrName>ppt_x</p:attrName>
                                        </p:attrNameLst>
                                      </p:cBhvr>
                                      <p:tavLst>
                                        <p:tav tm="0">
                                          <p:val>
                                            <p:strVal val="#ppt_x"/>
                                          </p:val>
                                        </p:tav>
                                        <p:tav tm="100000">
                                          <p:val>
                                            <p:strVal val="#ppt_x"/>
                                          </p:val>
                                        </p:tav>
                                      </p:tavLst>
                                    </p:anim>
                                    <p:anim calcmode="lin" valueType="num">
                                      <p:cBhvr additive="base">
                                        <p:cTn id="167" dur="500" fill="hold"/>
                                        <p:tgtEl>
                                          <p:spTgt spid="601092">
                                            <p:txEl>
                                              <p:charRg st="257" end="434"/>
                                            </p:txEl>
                                          </p:spTgt>
                                        </p:tgtEl>
                                        <p:attrNameLst>
                                          <p:attrName>ppt_y</p:attrName>
                                        </p:attrNameLst>
                                      </p:cBhvr>
                                      <p:tavLst>
                                        <p:tav tm="0">
                                          <p:val>
                                            <p:strVal val="1+#ppt_h/2"/>
                                          </p:val>
                                        </p:tav>
                                        <p:tav tm="100000">
                                          <p:val>
                                            <p:strVal val="#ppt_y"/>
                                          </p:val>
                                        </p:tav>
                                      </p:tavLst>
                                    </p:anim>
                                  </p:childTnLst>
                                </p:cTn>
                              </p:par>
                              <p:par>
                                <p:cTn id="168" presetID="5" presetClass="entr" presetSubtype="10" fill="hold" grpId="0" nodeType="withEffect">
                                  <p:stCondLst>
                                    <p:cond delay="0"/>
                                  </p:stCondLst>
                                  <p:childTnLst>
                                    <p:set>
                                      <p:cBhvr>
                                        <p:cTn id="169" dur="1" fill="hold">
                                          <p:stCondLst>
                                            <p:cond delay="0"/>
                                          </p:stCondLst>
                                        </p:cTn>
                                        <p:tgtEl>
                                          <p:spTgt spid="601105"/>
                                        </p:tgtEl>
                                        <p:attrNameLst>
                                          <p:attrName>style.visibility</p:attrName>
                                        </p:attrNameLst>
                                      </p:cBhvr>
                                      <p:to>
                                        <p:strVal val="visible"/>
                                      </p:to>
                                    </p:set>
                                    <p:animEffect transition="in" filter="checkerboard(across)">
                                      <p:cBhvr>
                                        <p:cTn id="170" dur="500"/>
                                        <p:tgtEl>
                                          <p:spTgt spid="601105"/>
                                        </p:tgtEl>
                                      </p:cBhvr>
                                    </p:animEffect>
                                  </p:childTnLst>
                                </p:cTn>
                              </p:par>
                              <p:par>
                                <p:cTn id="171" presetID="5" presetClass="exit" presetSubtype="10" fill="hold" grpId="0" nodeType="withEffect">
                                  <p:stCondLst>
                                    <p:cond delay="0"/>
                                  </p:stCondLst>
                                  <p:childTnLst>
                                    <p:animEffect transition="out" filter="checkerboard(across)">
                                      <p:cBhvr>
                                        <p:cTn id="172" dur="500"/>
                                        <p:tgtEl>
                                          <p:spTgt spid="601108"/>
                                        </p:tgtEl>
                                      </p:cBhvr>
                                    </p:animEffect>
                                    <p:set>
                                      <p:cBhvr>
                                        <p:cTn id="173" dur="1" fill="hold">
                                          <p:stCondLst>
                                            <p:cond delay="499"/>
                                          </p:stCondLst>
                                        </p:cTn>
                                        <p:tgtEl>
                                          <p:spTgt spid="601108"/>
                                        </p:tgtEl>
                                        <p:attrNameLst>
                                          <p:attrName>style.visibility</p:attrName>
                                        </p:attrNameLst>
                                      </p:cBhvr>
                                      <p:to>
                                        <p:strVal val="hidden"/>
                                      </p:to>
                                    </p:set>
                                  </p:childTnLst>
                                </p:cTn>
                              </p:par>
                              <p:par>
                                <p:cTn id="174" presetID="5" presetClass="exit" presetSubtype="10" fill="hold" grpId="0" nodeType="withEffect">
                                  <p:stCondLst>
                                    <p:cond delay="0"/>
                                  </p:stCondLst>
                                  <p:childTnLst>
                                    <p:animEffect transition="out" filter="checkerboard(across)">
                                      <p:cBhvr>
                                        <p:cTn id="175" dur="500"/>
                                        <p:tgtEl>
                                          <p:spTgt spid="601106"/>
                                        </p:tgtEl>
                                      </p:cBhvr>
                                    </p:animEffect>
                                    <p:set>
                                      <p:cBhvr>
                                        <p:cTn id="176" dur="1" fill="hold">
                                          <p:stCondLst>
                                            <p:cond delay="499"/>
                                          </p:stCondLst>
                                        </p:cTn>
                                        <p:tgtEl>
                                          <p:spTgt spid="601106"/>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4" presetClass="exit" presetSubtype="16" fill="hold" nodeType="clickEffect">
                                  <p:stCondLst>
                                    <p:cond delay="0"/>
                                  </p:stCondLst>
                                  <p:childTnLst>
                                    <p:animEffect transition="out" filter="box(in)">
                                      <p:cBhvr>
                                        <p:cTn id="180" dur="2000"/>
                                        <p:tgtEl>
                                          <p:spTgt spid="601103"/>
                                        </p:tgtEl>
                                      </p:cBhvr>
                                    </p:animEffect>
                                    <p:set>
                                      <p:cBhvr>
                                        <p:cTn id="181" dur="1" fill="hold">
                                          <p:stCondLst>
                                            <p:cond delay="1999"/>
                                          </p:stCondLst>
                                        </p:cTn>
                                        <p:tgtEl>
                                          <p:spTgt spid="601103"/>
                                        </p:tgtEl>
                                        <p:attrNameLst>
                                          <p:attrName>style.visibility</p:attrName>
                                        </p:attrNameLst>
                                      </p:cBhvr>
                                      <p:to>
                                        <p:strVal val="hidden"/>
                                      </p:to>
                                    </p:set>
                                  </p:childTnLst>
                                </p:cTn>
                              </p:par>
                              <p:par>
                                <p:cTn id="182" presetID="4" presetClass="exit" presetSubtype="16" fill="hold" grpId="0" nodeType="withEffect">
                                  <p:stCondLst>
                                    <p:cond delay="0"/>
                                  </p:stCondLst>
                                  <p:childTnLst>
                                    <p:animEffect transition="out" filter="box(in)">
                                      <p:cBhvr>
                                        <p:cTn id="183" dur="2000"/>
                                        <p:tgtEl>
                                          <p:spTgt spid="601104"/>
                                        </p:tgtEl>
                                      </p:cBhvr>
                                    </p:animEffect>
                                    <p:set>
                                      <p:cBhvr>
                                        <p:cTn id="184" dur="1" fill="hold">
                                          <p:stCondLst>
                                            <p:cond delay="1999"/>
                                          </p:stCondLst>
                                        </p:cTn>
                                        <p:tgtEl>
                                          <p:spTgt spid="601104"/>
                                        </p:tgtEl>
                                        <p:attrNameLst>
                                          <p:attrName>style.visibility</p:attrName>
                                        </p:attrNameLst>
                                      </p:cBhvr>
                                      <p:to>
                                        <p:strVal val="hidden"/>
                                      </p:to>
                                    </p:set>
                                  </p:childTnLst>
                                </p:cTn>
                              </p:par>
                              <p:par>
                                <p:cTn id="185" presetID="4" presetClass="entr" presetSubtype="16" fill="hold" grpId="0" nodeType="withEffect">
                                  <p:stCondLst>
                                    <p:cond delay="0"/>
                                  </p:stCondLst>
                                  <p:childTnLst>
                                    <p:set>
                                      <p:cBhvr>
                                        <p:cTn id="186" dur="1" fill="hold">
                                          <p:stCondLst>
                                            <p:cond delay="0"/>
                                          </p:stCondLst>
                                        </p:cTn>
                                        <p:tgtEl>
                                          <p:spTgt spid="601119"/>
                                        </p:tgtEl>
                                        <p:attrNameLst>
                                          <p:attrName>style.visibility</p:attrName>
                                        </p:attrNameLst>
                                      </p:cBhvr>
                                      <p:to>
                                        <p:strVal val="visible"/>
                                      </p:to>
                                    </p:set>
                                    <p:animEffect transition="in" filter="box(in)">
                                      <p:cBhvr>
                                        <p:cTn id="187" dur="2000"/>
                                        <p:tgtEl>
                                          <p:spTgt spid="601119"/>
                                        </p:tgtEl>
                                      </p:cBhvr>
                                    </p:animEffect>
                                  </p:childTnLst>
                                </p:cTn>
                              </p:par>
                              <p:par>
                                <p:cTn id="188" presetID="4" presetClass="entr" presetSubtype="16" fill="hold" nodeType="withEffect">
                                  <p:stCondLst>
                                    <p:cond delay="0"/>
                                  </p:stCondLst>
                                  <p:childTnLst>
                                    <p:set>
                                      <p:cBhvr>
                                        <p:cTn id="189" dur="1" fill="hold">
                                          <p:stCondLst>
                                            <p:cond delay="0"/>
                                          </p:stCondLst>
                                        </p:cTn>
                                        <p:tgtEl>
                                          <p:spTgt spid="601111"/>
                                        </p:tgtEl>
                                        <p:attrNameLst>
                                          <p:attrName>style.visibility</p:attrName>
                                        </p:attrNameLst>
                                      </p:cBhvr>
                                      <p:to>
                                        <p:strVal val="visible"/>
                                      </p:to>
                                    </p:set>
                                    <p:animEffect transition="in" filter="box(in)">
                                      <p:cBhvr>
                                        <p:cTn id="190" dur="2000"/>
                                        <p:tgtEl>
                                          <p:spTgt spid="601111"/>
                                        </p:tgtEl>
                                      </p:cBhvr>
                                    </p:animEffect>
                                  </p:childTnLst>
                                </p:cTn>
                              </p:par>
                              <p:par>
                                <p:cTn id="191" presetID="4" presetClass="entr" presetSubtype="16" fill="hold" grpId="0" nodeType="withEffect">
                                  <p:stCondLst>
                                    <p:cond delay="0"/>
                                  </p:stCondLst>
                                  <p:childTnLst>
                                    <p:set>
                                      <p:cBhvr>
                                        <p:cTn id="192" dur="1" fill="hold">
                                          <p:stCondLst>
                                            <p:cond delay="0"/>
                                          </p:stCondLst>
                                        </p:cTn>
                                        <p:tgtEl>
                                          <p:spTgt spid="601110"/>
                                        </p:tgtEl>
                                        <p:attrNameLst>
                                          <p:attrName>style.visibility</p:attrName>
                                        </p:attrNameLst>
                                      </p:cBhvr>
                                      <p:to>
                                        <p:strVal val="visible"/>
                                      </p:to>
                                    </p:set>
                                    <p:animEffect transition="in" filter="box(in)">
                                      <p:cBhvr>
                                        <p:cTn id="193" dur="2000"/>
                                        <p:tgtEl>
                                          <p:spTgt spid="601110"/>
                                        </p:tgtEl>
                                      </p:cBhvr>
                                    </p:animEffect>
                                  </p:childTnLst>
                                </p:cTn>
                              </p:par>
                              <p:par>
                                <p:cTn id="194" presetID="27" presetClass="emph" presetSubtype="0" fill="hold" grpId="0" nodeType="withEffect">
                                  <p:stCondLst>
                                    <p:cond delay="0"/>
                                  </p:stCondLst>
                                  <p:iterate type="lt">
                                    <p:tmPct val="0"/>
                                  </p:iterate>
                                  <p:childTnLst>
                                    <p:animClr clrSpc="rgb" dir="cw">
                                      <p:cBhvr override="childStyle">
                                        <p:cTn id="195" dur="1500" autoRev="1" fill="hold"/>
                                        <p:tgtEl>
                                          <p:spTgt spid="601107">
                                            <p:txEl>
                                              <p:charRg st="0" end="2"/>
                                            </p:txEl>
                                          </p:spTgt>
                                        </p:tgtEl>
                                        <p:attrNameLst>
                                          <p:attrName>style.color</p:attrName>
                                        </p:attrNameLst>
                                      </p:cBhvr>
                                      <p:to>
                                        <a:schemeClr val="bg1"/>
                                      </p:to>
                                    </p:animClr>
                                    <p:animClr clrSpc="rgb" dir="cw">
                                      <p:cBhvr>
                                        <p:cTn id="196" dur="1500" autoRev="1" fill="hold"/>
                                        <p:tgtEl>
                                          <p:spTgt spid="601107">
                                            <p:txEl>
                                              <p:charRg st="0" end="2"/>
                                            </p:txEl>
                                          </p:spTgt>
                                        </p:tgtEl>
                                        <p:attrNameLst>
                                          <p:attrName>fillcolor</p:attrName>
                                        </p:attrNameLst>
                                      </p:cBhvr>
                                      <p:to>
                                        <a:schemeClr val="bg1"/>
                                      </p:to>
                                    </p:animClr>
                                    <p:set>
                                      <p:cBhvr>
                                        <p:cTn id="197" dur="1500" autoRev="1" fill="hold"/>
                                        <p:tgtEl>
                                          <p:spTgt spid="601107">
                                            <p:txEl>
                                              <p:charRg st="0" end="2"/>
                                            </p:txEl>
                                          </p:spTgt>
                                        </p:tgtEl>
                                        <p:attrNameLst>
                                          <p:attrName>fill.type</p:attrName>
                                        </p:attrNameLst>
                                      </p:cBhvr>
                                      <p:to>
                                        <p:strVal val="solid"/>
                                      </p:to>
                                    </p:set>
                                    <p:set>
                                      <p:cBhvr>
                                        <p:cTn id="198" dur="1500" autoRev="1" fill="hold"/>
                                        <p:tgtEl>
                                          <p:spTgt spid="601107">
                                            <p:txEl>
                                              <p:charRg st="0" end="2"/>
                                            </p:txEl>
                                          </p:spTgt>
                                        </p:tgtEl>
                                        <p:attrNameLst>
                                          <p:attrName>fill.on</p:attrName>
                                        </p:attrNameLst>
                                      </p:cBhvr>
                                      <p:to>
                                        <p:strVal val="true"/>
                                      </p:to>
                                    </p:set>
                                  </p:childTnLst>
                                </p:cTn>
                              </p:par>
                              <p:par>
                                <p:cTn id="199" presetID="27" presetClass="emph" presetSubtype="0" fill="hold" nodeType="withEffect">
                                  <p:stCondLst>
                                    <p:cond delay="0"/>
                                  </p:stCondLst>
                                  <p:childTnLst>
                                    <p:animClr clrSpc="rgb" dir="cw">
                                      <p:cBhvr override="childStyle">
                                        <p:cTn id="200" dur="1500" autoRev="1" fill="hold"/>
                                        <p:tgtEl>
                                          <p:spTgt spid="601099">
                                            <p:txEl>
                                              <p:charRg st="0" end="3"/>
                                            </p:txEl>
                                          </p:spTgt>
                                        </p:tgtEl>
                                        <p:attrNameLst>
                                          <p:attrName>style.color</p:attrName>
                                        </p:attrNameLst>
                                      </p:cBhvr>
                                      <p:to>
                                        <a:schemeClr val="bg1"/>
                                      </p:to>
                                    </p:animClr>
                                    <p:animClr clrSpc="rgb" dir="cw">
                                      <p:cBhvr>
                                        <p:cTn id="201" dur="1500" autoRev="1" fill="hold"/>
                                        <p:tgtEl>
                                          <p:spTgt spid="601099">
                                            <p:txEl>
                                              <p:charRg st="0" end="3"/>
                                            </p:txEl>
                                          </p:spTgt>
                                        </p:tgtEl>
                                        <p:attrNameLst>
                                          <p:attrName>fillcolor</p:attrName>
                                        </p:attrNameLst>
                                      </p:cBhvr>
                                      <p:to>
                                        <a:schemeClr val="bg1"/>
                                      </p:to>
                                    </p:animClr>
                                    <p:set>
                                      <p:cBhvr>
                                        <p:cTn id="202" dur="1500" autoRev="1" fill="hold"/>
                                        <p:tgtEl>
                                          <p:spTgt spid="601099">
                                            <p:txEl>
                                              <p:charRg st="0" end="3"/>
                                            </p:txEl>
                                          </p:spTgt>
                                        </p:tgtEl>
                                        <p:attrNameLst>
                                          <p:attrName>fill.type</p:attrName>
                                        </p:attrNameLst>
                                      </p:cBhvr>
                                      <p:to>
                                        <p:strVal val="solid"/>
                                      </p:to>
                                    </p:set>
                                    <p:set>
                                      <p:cBhvr>
                                        <p:cTn id="203" dur="1500" autoRev="1" fill="hold"/>
                                        <p:tgtEl>
                                          <p:spTgt spid="601099">
                                            <p:txEl>
                                              <p:charRg st="0" end="3"/>
                                            </p:txEl>
                                          </p:spTgt>
                                        </p:tgtEl>
                                        <p:attrNameLst>
                                          <p:attrName>fill.on</p:attrName>
                                        </p:attrNameLst>
                                      </p:cBhvr>
                                      <p:to>
                                        <p:strVal val="true"/>
                                      </p:to>
                                    </p:set>
                                  </p:childTnLst>
                                </p:cTn>
                              </p:par>
                              <p:par>
                                <p:cTn id="204" presetID="27" presetClass="emph" presetSubtype="0" fill="hold" nodeType="withEffect">
                                  <p:stCondLst>
                                    <p:cond delay="0"/>
                                  </p:stCondLst>
                                  <p:childTnLst>
                                    <p:animClr clrSpc="rgb" dir="cw">
                                      <p:cBhvr override="childStyle">
                                        <p:cTn id="205" dur="1500" autoRev="1" fill="hold"/>
                                        <p:tgtEl>
                                          <p:spTgt spid="601091">
                                            <p:txEl>
                                              <p:charRg st="0" end="3"/>
                                            </p:txEl>
                                          </p:spTgt>
                                        </p:tgtEl>
                                        <p:attrNameLst>
                                          <p:attrName>style.color</p:attrName>
                                        </p:attrNameLst>
                                      </p:cBhvr>
                                      <p:to>
                                        <a:schemeClr val="bg1"/>
                                      </p:to>
                                    </p:animClr>
                                    <p:animClr clrSpc="rgb" dir="cw">
                                      <p:cBhvr>
                                        <p:cTn id="206" dur="1500" autoRev="1" fill="hold"/>
                                        <p:tgtEl>
                                          <p:spTgt spid="601091">
                                            <p:txEl>
                                              <p:charRg st="0" end="3"/>
                                            </p:txEl>
                                          </p:spTgt>
                                        </p:tgtEl>
                                        <p:attrNameLst>
                                          <p:attrName>fillcolor</p:attrName>
                                        </p:attrNameLst>
                                      </p:cBhvr>
                                      <p:to>
                                        <a:schemeClr val="bg1"/>
                                      </p:to>
                                    </p:animClr>
                                    <p:set>
                                      <p:cBhvr>
                                        <p:cTn id="207" dur="1500" autoRev="1" fill="hold"/>
                                        <p:tgtEl>
                                          <p:spTgt spid="601091">
                                            <p:txEl>
                                              <p:charRg st="0" end="3"/>
                                            </p:txEl>
                                          </p:spTgt>
                                        </p:tgtEl>
                                        <p:attrNameLst>
                                          <p:attrName>fill.type</p:attrName>
                                        </p:attrNameLst>
                                      </p:cBhvr>
                                      <p:to>
                                        <p:strVal val="solid"/>
                                      </p:to>
                                    </p:set>
                                    <p:set>
                                      <p:cBhvr>
                                        <p:cTn id="208" dur="1500" autoRev="1" fill="hold"/>
                                        <p:tgtEl>
                                          <p:spTgt spid="601091">
                                            <p:txEl>
                                              <p:charRg st="0" end="3"/>
                                            </p:txEl>
                                          </p:spTgt>
                                        </p:tgtEl>
                                        <p:attrNameLst>
                                          <p:attrName>fill.on</p:attrName>
                                        </p:attrNameLst>
                                      </p:cBhvr>
                                      <p:to>
                                        <p:strVal val="true"/>
                                      </p:to>
                                    </p:set>
                                  </p:childTnLst>
                                </p:cTn>
                              </p:par>
                              <p:par>
                                <p:cTn id="209" presetID="2" presetClass="entr" presetSubtype="4" fill="hold" grpId="0" nodeType="withEffect">
                                  <p:stCondLst>
                                    <p:cond delay="0"/>
                                  </p:stCondLst>
                                  <p:childTnLst>
                                    <p:set>
                                      <p:cBhvr>
                                        <p:cTn id="210" dur="1" fill="hold">
                                          <p:stCondLst>
                                            <p:cond delay="0"/>
                                          </p:stCondLst>
                                        </p:cTn>
                                        <p:tgtEl>
                                          <p:spTgt spid="601092">
                                            <p:txEl>
                                              <p:charRg st="434" end="528"/>
                                            </p:txEl>
                                          </p:spTgt>
                                        </p:tgtEl>
                                        <p:attrNameLst>
                                          <p:attrName>style.visibility</p:attrName>
                                        </p:attrNameLst>
                                      </p:cBhvr>
                                      <p:to>
                                        <p:strVal val="visible"/>
                                      </p:to>
                                    </p:set>
                                    <p:anim calcmode="lin" valueType="num">
                                      <p:cBhvr additive="base">
                                        <p:cTn id="211" dur="500" fill="hold"/>
                                        <p:tgtEl>
                                          <p:spTgt spid="601092">
                                            <p:txEl>
                                              <p:charRg st="434" end="528"/>
                                            </p:txEl>
                                          </p:spTgt>
                                        </p:tgtEl>
                                        <p:attrNameLst>
                                          <p:attrName>ppt_x</p:attrName>
                                        </p:attrNameLst>
                                      </p:cBhvr>
                                      <p:tavLst>
                                        <p:tav tm="0">
                                          <p:val>
                                            <p:strVal val="#ppt_x"/>
                                          </p:val>
                                        </p:tav>
                                        <p:tav tm="100000">
                                          <p:val>
                                            <p:strVal val="#ppt_x"/>
                                          </p:val>
                                        </p:tav>
                                      </p:tavLst>
                                    </p:anim>
                                    <p:anim calcmode="lin" valueType="num">
                                      <p:cBhvr additive="base">
                                        <p:cTn id="212" dur="500" fill="hold"/>
                                        <p:tgtEl>
                                          <p:spTgt spid="601092">
                                            <p:txEl>
                                              <p:charRg st="434" end="528"/>
                                            </p:txEl>
                                          </p:spTgt>
                                        </p:tgtEl>
                                        <p:attrNameLst>
                                          <p:attrName>ppt_y</p:attrName>
                                        </p:attrNameLst>
                                      </p:cBhvr>
                                      <p:tavLst>
                                        <p:tav tm="0">
                                          <p:val>
                                            <p:strVal val="1+#ppt_h/2"/>
                                          </p:val>
                                        </p:tav>
                                        <p:tav tm="100000">
                                          <p:val>
                                            <p:strVal val="#ppt_y"/>
                                          </p:val>
                                        </p:tav>
                                      </p:tavLst>
                                    </p:anim>
                                  </p:childTnLst>
                                </p:cTn>
                              </p:par>
                              <p:par>
                                <p:cTn id="213" presetID="4" presetClass="exit" presetSubtype="16" fill="hold" grpId="1" nodeType="withEffect">
                                  <p:stCondLst>
                                    <p:cond delay="0"/>
                                  </p:stCondLst>
                                  <p:childTnLst>
                                    <p:animEffect transition="out" filter="box(in)">
                                      <p:cBhvr>
                                        <p:cTn id="214" dur="500"/>
                                        <p:tgtEl>
                                          <p:spTgt spid="601105"/>
                                        </p:tgtEl>
                                      </p:cBhvr>
                                    </p:animEffect>
                                    <p:set>
                                      <p:cBhvr>
                                        <p:cTn id="215" dur="1" fill="hold">
                                          <p:stCondLst>
                                            <p:cond delay="499"/>
                                          </p:stCondLst>
                                        </p:cTn>
                                        <p:tgtEl>
                                          <p:spTgt spid="601105"/>
                                        </p:tgtEl>
                                        <p:attrNameLst>
                                          <p:attrName>style.visibility</p:attrName>
                                        </p:attrNameLst>
                                      </p:cBhvr>
                                      <p:to>
                                        <p:strVal val="hidden"/>
                                      </p:to>
                                    </p:set>
                                  </p:childTnLst>
                                </p:cTn>
                              </p:par>
                              <p:par>
                                <p:cTn id="216" presetID="4" presetClass="exit" presetSubtype="16" fill="hold" grpId="1" nodeType="withEffect">
                                  <p:stCondLst>
                                    <p:cond delay="0"/>
                                  </p:stCondLst>
                                  <p:childTnLst>
                                    <p:animEffect transition="out" filter="box(in)">
                                      <p:cBhvr>
                                        <p:cTn id="217" dur="500"/>
                                        <p:tgtEl>
                                          <p:spTgt spid="601118"/>
                                        </p:tgtEl>
                                      </p:cBhvr>
                                    </p:animEffect>
                                    <p:set>
                                      <p:cBhvr>
                                        <p:cTn id="218" dur="1" fill="hold">
                                          <p:stCondLst>
                                            <p:cond delay="499"/>
                                          </p:stCondLst>
                                        </p:cTn>
                                        <p:tgtEl>
                                          <p:spTgt spid="601118"/>
                                        </p:tgtEl>
                                        <p:attrNameLst>
                                          <p:attrName>style.visibility</p:attrName>
                                        </p:attrNameLst>
                                      </p:cBhvr>
                                      <p:to>
                                        <p:strVal val="hidden"/>
                                      </p:to>
                                    </p:set>
                                  </p:childTnLst>
                                </p:cTn>
                              </p:par>
                            </p:childTnLst>
                          </p:cTn>
                        </p:par>
                      </p:childTnLst>
                    </p:cTn>
                  </p:par>
                  <p:par>
                    <p:cTn id="219" fill="hold">
                      <p:stCondLst>
                        <p:cond delay="indefinite"/>
                      </p:stCondLst>
                      <p:childTnLst>
                        <p:par>
                          <p:cTn id="220" fill="hold">
                            <p:stCondLst>
                              <p:cond delay="0"/>
                            </p:stCondLst>
                            <p:childTnLst>
                              <p:par>
                                <p:cTn id="221" presetID="4" presetClass="entr" presetSubtype="16" fill="hold" nodeType="clickEffect">
                                  <p:stCondLst>
                                    <p:cond delay="0"/>
                                  </p:stCondLst>
                                  <p:childTnLst>
                                    <p:set>
                                      <p:cBhvr>
                                        <p:cTn id="222" dur="1" fill="hold">
                                          <p:stCondLst>
                                            <p:cond delay="0"/>
                                          </p:stCondLst>
                                        </p:cTn>
                                        <p:tgtEl>
                                          <p:spTgt spid="601109"/>
                                        </p:tgtEl>
                                        <p:attrNameLst>
                                          <p:attrName>style.visibility</p:attrName>
                                        </p:attrNameLst>
                                      </p:cBhvr>
                                      <p:to>
                                        <p:strVal val="visible"/>
                                      </p:to>
                                    </p:set>
                                    <p:animEffect transition="in" filter="box(in)">
                                      <p:cBhvr>
                                        <p:cTn id="223" dur="500"/>
                                        <p:tgtEl>
                                          <p:spTgt spid="601109"/>
                                        </p:tgtEl>
                                      </p:cBhvr>
                                    </p:animEffect>
                                  </p:childTnLst>
                                </p:cTn>
                              </p:par>
                              <p:par>
                                <p:cTn id="224" presetID="4" presetClass="entr" presetSubtype="16" fill="hold" grpId="0" nodeType="withEffect">
                                  <p:stCondLst>
                                    <p:cond delay="0"/>
                                  </p:stCondLst>
                                  <p:childTnLst>
                                    <p:set>
                                      <p:cBhvr>
                                        <p:cTn id="225" dur="1" fill="hold">
                                          <p:stCondLst>
                                            <p:cond delay="0"/>
                                          </p:stCondLst>
                                        </p:cTn>
                                        <p:tgtEl>
                                          <p:spTgt spid="601120"/>
                                        </p:tgtEl>
                                        <p:attrNameLst>
                                          <p:attrName>style.visibility</p:attrName>
                                        </p:attrNameLst>
                                      </p:cBhvr>
                                      <p:to>
                                        <p:strVal val="visible"/>
                                      </p:to>
                                    </p:set>
                                    <p:animEffect transition="in" filter="box(in)">
                                      <p:cBhvr>
                                        <p:cTn id="226" dur="500"/>
                                        <p:tgtEl>
                                          <p:spTgt spid="601120"/>
                                        </p:tgtEl>
                                      </p:cBhvr>
                                    </p:animEffect>
                                  </p:childTnLst>
                                </p:cTn>
                              </p:par>
                              <p:par>
                                <p:cTn id="227" presetID="4" presetClass="entr" presetSubtype="16" fill="hold" grpId="0" nodeType="withEffect">
                                  <p:stCondLst>
                                    <p:cond delay="0"/>
                                  </p:stCondLst>
                                  <p:childTnLst>
                                    <p:set>
                                      <p:cBhvr>
                                        <p:cTn id="228" dur="1" fill="hold">
                                          <p:stCondLst>
                                            <p:cond delay="0"/>
                                          </p:stCondLst>
                                        </p:cTn>
                                        <p:tgtEl>
                                          <p:spTgt spid="601112"/>
                                        </p:tgtEl>
                                        <p:attrNameLst>
                                          <p:attrName>style.visibility</p:attrName>
                                        </p:attrNameLst>
                                      </p:cBhvr>
                                      <p:to>
                                        <p:strVal val="visible"/>
                                      </p:to>
                                    </p:set>
                                    <p:animEffect transition="in" filter="box(in)">
                                      <p:cBhvr>
                                        <p:cTn id="229" dur="500"/>
                                        <p:tgtEl>
                                          <p:spTgt spid="601112"/>
                                        </p:tgtEl>
                                      </p:cBhvr>
                                    </p:animEffect>
                                  </p:childTnLst>
                                </p:cTn>
                              </p:par>
                              <p:par>
                                <p:cTn id="230" presetID="4" presetClass="exit" presetSubtype="16" fill="hold" nodeType="withEffect">
                                  <p:stCondLst>
                                    <p:cond delay="0"/>
                                  </p:stCondLst>
                                  <p:childTnLst>
                                    <p:animEffect transition="out" filter="box(in)">
                                      <p:cBhvr>
                                        <p:cTn id="231" dur="500"/>
                                        <p:tgtEl>
                                          <p:spTgt spid="601111"/>
                                        </p:tgtEl>
                                      </p:cBhvr>
                                    </p:animEffect>
                                    <p:set>
                                      <p:cBhvr>
                                        <p:cTn id="232" dur="1" fill="hold">
                                          <p:stCondLst>
                                            <p:cond delay="499"/>
                                          </p:stCondLst>
                                        </p:cTn>
                                        <p:tgtEl>
                                          <p:spTgt spid="601111"/>
                                        </p:tgtEl>
                                        <p:attrNameLst>
                                          <p:attrName>style.visibility</p:attrName>
                                        </p:attrNameLst>
                                      </p:cBhvr>
                                      <p:to>
                                        <p:strVal val="hidden"/>
                                      </p:to>
                                    </p:set>
                                  </p:childTnLst>
                                </p:cTn>
                              </p:par>
                              <p:par>
                                <p:cTn id="233" presetID="4" presetClass="exit" presetSubtype="16" fill="hold" grpId="1" nodeType="withEffect">
                                  <p:stCondLst>
                                    <p:cond delay="0"/>
                                  </p:stCondLst>
                                  <p:childTnLst>
                                    <p:animEffect transition="out" filter="box(in)">
                                      <p:cBhvr>
                                        <p:cTn id="234" dur="500"/>
                                        <p:tgtEl>
                                          <p:spTgt spid="601119"/>
                                        </p:tgtEl>
                                      </p:cBhvr>
                                    </p:animEffect>
                                    <p:set>
                                      <p:cBhvr>
                                        <p:cTn id="235" dur="1" fill="hold">
                                          <p:stCondLst>
                                            <p:cond delay="499"/>
                                          </p:stCondLst>
                                        </p:cTn>
                                        <p:tgtEl>
                                          <p:spTgt spid="601119"/>
                                        </p:tgtEl>
                                        <p:attrNameLst>
                                          <p:attrName>style.visibility</p:attrName>
                                        </p:attrNameLst>
                                      </p:cBhvr>
                                      <p:to>
                                        <p:strVal val="hidden"/>
                                      </p:to>
                                    </p:set>
                                  </p:childTnLst>
                                </p:cTn>
                              </p:par>
                              <p:par>
                                <p:cTn id="236" presetID="4" presetClass="exit" presetSubtype="16" fill="hold" grpId="1" nodeType="withEffect">
                                  <p:stCondLst>
                                    <p:cond delay="0"/>
                                  </p:stCondLst>
                                  <p:childTnLst>
                                    <p:animEffect transition="out" filter="box(in)">
                                      <p:cBhvr>
                                        <p:cTn id="237" dur="500"/>
                                        <p:tgtEl>
                                          <p:spTgt spid="601110"/>
                                        </p:tgtEl>
                                      </p:cBhvr>
                                    </p:animEffect>
                                    <p:set>
                                      <p:cBhvr>
                                        <p:cTn id="238" dur="1" fill="hold">
                                          <p:stCondLst>
                                            <p:cond delay="499"/>
                                          </p:stCondLst>
                                        </p:cTn>
                                        <p:tgtEl>
                                          <p:spTgt spid="601110"/>
                                        </p:tgtEl>
                                        <p:attrNameLst>
                                          <p:attrName>style.visibility</p:attrName>
                                        </p:attrNameLst>
                                      </p:cBhvr>
                                      <p:to>
                                        <p:strVal val="hidden"/>
                                      </p:to>
                                    </p:set>
                                  </p:childTnLst>
                                </p:cTn>
                              </p:par>
                              <p:par>
                                <p:cTn id="239" presetID="27" presetClass="emph" presetSubtype="0" fill="hold" nodeType="withEffect">
                                  <p:stCondLst>
                                    <p:cond delay="0"/>
                                  </p:stCondLst>
                                  <p:childTnLst>
                                    <p:animClr clrSpc="rgb" dir="cw">
                                      <p:cBhvr override="childStyle">
                                        <p:cTn id="240" dur="1500" autoRev="1" fill="hold"/>
                                        <p:tgtEl>
                                          <p:spTgt spid="601123">
                                            <p:txEl>
                                              <p:charRg st="0" end="2"/>
                                            </p:txEl>
                                          </p:spTgt>
                                        </p:tgtEl>
                                        <p:attrNameLst>
                                          <p:attrName>style.color</p:attrName>
                                        </p:attrNameLst>
                                      </p:cBhvr>
                                      <p:to>
                                        <a:schemeClr val="bg1"/>
                                      </p:to>
                                    </p:animClr>
                                    <p:animClr clrSpc="rgb" dir="cw">
                                      <p:cBhvr>
                                        <p:cTn id="241" dur="1500" autoRev="1" fill="hold"/>
                                        <p:tgtEl>
                                          <p:spTgt spid="601123">
                                            <p:txEl>
                                              <p:charRg st="0" end="2"/>
                                            </p:txEl>
                                          </p:spTgt>
                                        </p:tgtEl>
                                        <p:attrNameLst>
                                          <p:attrName>fillcolor</p:attrName>
                                        </p:attrNameLst>
                                      </p:cBhvr>
                                      <p:to>
                                        <a:schemeClr val="bg1"/>
                                      </p:to>
                                    </p:animClr>
                                    <p:set>
                                      <p:cBhvr>
                                        <p:cTn id="242" dur="1500" autoRev="1" fill="hold"/>
                                        <p:tgtEl>
                                          <p:spTgt spid="601123">
                                            <p:txEl>
                                              <p:charRg st="0" end="2"/>
                                            </p:txEl>
                                          </p:spTgt>
                                        </p:tgtEl>
                                        <p:attrNameLst>
                                          <p:attrName>fill.type</p:attrName>
                                        </p:attrNameLst>
                                      </p:cBhvr>
                                      <p:to>
                                        <p:strVal val="solid"/>
                                      </p:to>
                                    </p:set>
                                    <p:set>
                                      <p:cBhvr>
                                        <p:cTn id="243" dur="1500" autoRev="1" fill="hold"/>
                                        <p:tgtEl>
                                          <p:spTgt spid="601123">
                                            <p:txEl>
                                              <p:charRg st="0" end="2"/>
                                            </p:txEl>
                                          </p:spTgt>
                                        </p:tgtEl>
                                        <p:attrNameLst>
                                          <p:attrName>fill.on</p:attrName>
                                        </p:attrNameLst>
                                      </p:cBhvr>
                                      <p:to>
                                        <p:strVal val="true"/>
                                      </p:to>
                                    </p:set>
                                  </p:childTnLst>
                                </p:cTn>
                              </p:par>
                              <p:par>
                                <p:cTn id="244" presetID="27" presetClass="emph" presetSubtype="0" fill="hold" nodeType="withEffect">
                                  <p:stCondLst>
                                    <p:cond delay="0"/>
                                  </p:stCondLst>
                                  <p:childTnLst>
                                    <p:animClr clrSpc="rgb" dir="cw">
                                      <p:cBhvr override="childStyle">
                                        <p:cTn id="245" dur="1500" autoRev="1" fill="hold"/>
                                        <p:tgtEl>
                                          <p:spTgt spid="601124">
                                            <p:txEl>
                                              <p:charRg st="0" end="2"/>
                                            </p:txEl>
                                          </p:spTgt>
                                        </p:tgtEl>
                                        <p:attrNameLst>
                                          <p:attrName>style.color</p:attrName>
                                        </p:attrNameLst>
                                      </p:cBhvr>
                                      <p:to>
                                        <a:schemeClr val="bg1"/>
                                      </p:to>
                                    </p:animClr>
                                    <p:animClr clrSpc="rgb" dir="cw">
                                      <p:cBhvr>
                                        <p:cTn id="246" dur="1500" autoRev="1" fill="hold"/>
                                        <p:tgtEl>
                                          <p:spTgt spid="601124">
                                            <p:txEl>
                                              <p:charRg st="0" end="2"/>
                                            </p:txEl>
                                          </p:spTgt>
                                        </p:tgtEl>
                                        <p:attrNameLst>
                                          <p:attrName>fillcolor</p:attrName>
                                        </p:attrNameLst>
                                      </p:cBhvr>
                                      <p:to>
                                        <a:schemeClr val="bg1"/>
                                      </p:to>
                                    </p:animClr>
                                    <p:set>
                                      <p:cBhvr>
                                        <p:cTn id="247" dur="1500" autoRev="1" fill="hold"/>
                                        <p:tgtEl>
                                          <p:spTgt spid="601124">
                                            <p:txEl>
                                              <p:charRg st="0" end="2"/>
                                            </p:txEl>
                                          </p:spTgt>
                                        </p:tgtEl>
                                        <p:attrNameLst>
                                          <p:attrName>fill.type</p:attrName>
                                        </p:attrNameLst>
                                      </p:cBhvr>
                                      <p:to>
                                        <p:strVal val="solid"/>
                                      </p:to>
                                    </p:set>
                                    <p:set>
                                      <p:cBhvr>
                                        <p:cTn id="248" dur="1500" autoRev="1" fill="hold"/>
                                        <p:tgtEl>
                                          <p:spTgt spid="601124">
                                            <p:txEl>
                                              <p:charRg st="0" end="2"/>
                                            </p:txEl>
                                          </p:spTgt>
                                        </p:tgtEl>
                                        <p:attrNameLst>
                                          <p:attrName>fill.on</p:attrName>
                                        </p:attrNameLst>
                                      </p:cBhvr>
                                      <p:to>
                                        <p:strVal val="true"/>
                                      </p:to>
                                    </p:set>
                                  </p:childTnLst>
                                </p:cTn>
                              </p:par>
                              <p:par>
                                <p:cTn id="249" presetID="27" presetClass="emph" presetSubtype="0" fill="hold" nodeType="withEffect">
                                  <p:stCondLst>
                                    <p:cond delay="0"/>
                                  </p:stCondLst>
                                  <p:iterate type="lt">
                                    <p:tmPct val="0"/>
                                  </p:iterate>
                                  <p:childTnLst>
                                    <p:animClr clrSpc="rgb" dir="cw">
                                      <p:cBhvr override="childStyle">
                                        <p:cTn id="250" dur="1500" autoRev="1" fill="hold"/>
                                        <p:tgtEl>
                                          <p:spTgt spid="601107">
                                            <p:txEl>
                                              <p:charRg st="0" end="2"/>
                                            </p:txEl>
                                          </p:spTgt>
                                        </p:tgtEl>
                                        <p:attrNameLst>
                                          <p:attrName>style.color</p:attrName>
                                        </p:attrNameLst>
                                      </p:cBhvr>
                                      <p:to>
                                        <a:schemeClr val="bg1"/>
                                      </p:to>
                                    </p:animClr>
                                    <p:animClr clrSpc="rgb" dir="cw">
                                      <p:cBhvr>
                                        <p:cTn id="251" dur="1500" autoRev="1" fill="hold"/>
                                        <p:tgtEl>
                                          <p:spTgt spid="601107">
                                            <p:txEl>
                                              <p:charRg st="0" end="2"/>
                                            </p:txEl>
                                          </p:spTgt>
                                        </p:tgtEl>
                                        <p:attrNameLst>
                                          <p:attrName>fillcolor</p:attrName>
                                        </p:attrNameLst>
                                      </p:cBhvr>
                                      <p:to>
                                        <a:schemeClr val="bg1"/>
                                      </p:to>
                                    </p:animClr>
                                    <p:set>
                                      <p:cBhvr>
                                        <p:cTn id="252" dur="1500" autoRev="1" fill="hold"/>
                                        <p:tgtEl>
                                          <p:spTgt spid="601107">
                                            <p:txEl>
                                              <p:charRg st="0" end="2"/>
                                            </p:txEl>
                                          </p:spTgt>
                                        </p:tgtEl>
                                        <p:attrNameLst>
                                          <p:attrName>fill.type</p:attrName>
                                        </p:attrNameLst>
                                      </p:cBhvr>
                                      <p:to>
                                        <p:strVal val="solid"/>
                                      </p:to>
                                    </p:set>
                                    <p:set>
                                      <p:cBhvr>
                                        <p:cTn id="253" dur="1500" autoRev="1" fill="hold"/>
                                        <p:tgtEl>
                                          <p:spTgt spid="601107">
                                            <p:txEl>
                                              <p:charRg st="0" end="2"/>
                                            </p:txEl>
                                          </p:spTgt>
                                        </p:tgtEl>
                                        <p:attrNameLst>
                                          <p:attrName>fill.on</p:attrName>
                                        </p:attrNameLst>
                                      </p:cBhvr>
                                      <p:to>
                                        <p:strVal val="true"/>
                                      </p:to>
                                    </p:set>
                                  </p:childTnLst>
                                </p:cTn>
                              </p:par>
                              <p:par>
                                <p:cTn id="254" presetID="2" presetClass="entr" presetSubtype="4" fill="hold" grpId="0" nodeType="withEffect">
                                  <p:stCondLst>
                                    <p:cond delay="0"/>
                                  </p:stCondLst>
                                  <p:childTnLst>
                                    <p:set>
                                      <p:cBhvr>
                                        <p:cTn id="255" dur="1" fill="hold">
                                          <p:stCondLst>
                                            <p:cond delay="0"/>
                                          </p:stCondLst>
                                        </p:cTn>
                                        <p:tgtEl>
                                          <p:spTgt spid="601092">
                                            <p:txEl>
                                              <p:charRg st="528" end="652"/>
                                            </p:txEl>
                                          </p:spTgt>
                                        </p:tgtEl>
                                        <p:attrNameLst>
                                          <p:attrName>style.visibility</p:attrName>
                                        </p:attrNameLst>
                                      </p:cBhvr>
                                      <p:to>
                                        <p:strVal val="visible"/>
                                      </p:to>
                                    </p:set>
                                    <p:anim calcmode="lin" valueType="num">
                                      <p:cBhvr additive="base">
                                        <p:cTn id="256" dur="500" fill="hold"/>
                                        <p:tgtEl>
                                          <p:spTgt spid="601092">
                                            <p:txEl>
                                              <p:charRg st="528" end="652"/>
                                            </p:txEl>
                                          </p:spTgt>
                                        </p:tgtEl>
                                        <p:attrNameLst>
                                          <p:attrName>ppt_x</p:attrName>
                                        </p:attrNameLst>
                                      </p:cBhvr>
                                      <p:tavLst>
                                        <p:tav tm="0">
                                          <p:val>
                                            <p:strVal val="#ppt_x"/>
                                          </p:val>
                                        </p:tav>
                                        <p:tav tm="100000">
                                          <p:val>
                                            <p:strVal val="#ppt_x"/>
                                          </p:val>
                                        </p:tav>
                                      </p:tavLst>
                                    </p:anim>
                                    <p:anim calcmode="lin" valueType="num">
                                      <p:cBhvr additive="base">
                                        <p:cTn id="257" dur="500" fill="hold"/>
                                        <p:tgtEl>
                                          <p:spTgt spid="601092">
                                            <p:txEl>
                                              <p:charRg st="528" end="652"/>
                                            </p:txEl>
                                          </p:spTgt>
                                        </p:tgtEl>
                                        <p:attrNameLst>
                                          <p:attrName>ppt_y</p:attrName>
                                        </p:attrNameLst>
                                      </p:cBhvr>
                                      <p:tavLst>
                                        <p:tav tm="0">
                                          <p:val>
                                            <p:strVal val="1+#ppt_h/2"/>
                                          </p:val>
                                        </p:tav>
                                        <p:tav tm="100000">
                                          <p:val>
                                            <p:strVal val="#ppt_y"/>
                                          </p:val>
                                        </p:tav>
                                      </p:tavLst>
                                    </p:anim>
                                  </p:childTnLst>
                                </p:cTn>
                              </p:par>
                            </p:childTnLst>
                          </p:cTn>
                        </p:par>
                      </p:childTnLst>
                    </p:cTn>
                  </p:par>
                  <p:par>
                    <p:cTn id="258" fill="hold">
                      <p:stCondLst>
                        <p:cond delay="indefinite"/>
                      </p:stCondLst>
                      <p:childTnLst>
                        <p:par>
                          <p:cTn id="259" fill="hold">
                            <p:stCondLst>
                              <p:cond delay="0"/>
                            </p:stCondLst>
                            <p:childTnLst>
                              <p:par>
                                <p:cTn id="260" presetID="2" presetClass="entr" presetSubtype="4" fill="hold" grpId="0" nodeType="clickEffect">
                                  <p:stCondLst>
                                    <p:cond delay="0"/>
                                  </p:stCondLst>
                                  <p:childTnLst>
                                    <p:set>
                                      <p:cBhvr>
                                        <p:cTn id="261" dur="1" fill="hold">
                                          <p:stCondLst>
                                            <p:cond delay="0"/>
                                          </p:stCondLst>
                                        </p:cTn>
                                        <p:tgtEl>
                                          <p:spTgt spid="601092">
                                            <p:txEl>
                                              <p:charRg st="652" end="703"/>
                                            </p:txEl>
                                          </p:spTgt>
                                        </p:tgtEl>
                                        <p:attrNameLst>
                                          <p:attrName>style.visibility</p:attrName>
                                        </p:attrNameLst>
                                      </p:cBhvr>
                                      <p:to>
                                        <p:strVal val="visible"/>
                                      </p:to>
                                    </p:set>
                                    <p:anim calcmode="lin" valueType="num">
                                      <p:cBhvr additive="base">
                                        <p:cTn id="262" dur="500" fill="hold"/>
                                        <p:tgtEl>
                                          <p:spTgt spid="601092">
                                            <p:txEl>
                                              <p:charRg st="652" end="703"/>
                                            </p:txEl>
                                          </p:spTgt>
                                        </p:tgtEl>
                                        <p:attrNameLst>
                                          <p:attrName>ppt_x</p:attrName>
                                        </p:attrNameLst>
                                      </p:cBhvr>
                                      <p:tavLst>
                                        <p:tav tm="0">
                                          <p:val>
                                            <p:strVal val="#ppt_x"/>
                                          </p:val>
                                        </p:tav>
                                        <p:tav tm="100000">
                                          <p:val>
                                            <p:strVal val="#ppt_x"/>
                                          </p:val>
                                        </p:tav>
                                      </p:tavLst>
                                    </p:anim>
                                    <p:anim calcmode="lin" valueType="num">
                                      <p:cBhvr additive="base">
                                        <p:cTn id="263" dur="500" fill="hold"/>
                                        <p:tgtEl>
                                          <p:spTgt spid="601092">
                                            <p:txEl>
                                              <p:charRg st="652" end="703"/>
                                            </p:txEl>
                                          </p:spTgt>
                                        </p:tgtEl>
                                        <p:attrNameLst>
                                          <p:attrName>ppt_y</p:attrName>
                                        </p:attrNameLst>
                                      </p:cBhvr>
                                      <p:tavLst>
                                        <p:tav tm="0">
                                          <p:val>
                                            <p:strVal val="1+#ppt_h/2"/>
                                          </p:val>
                                        </p:tav>
                                        <p:tav tm="100000">
                                          <p:val>
                                            <p:strVal val="#ppt_y"/>
                                          </p:val>
                                        </p:tav>
                                      </p:tavLst>
                                    </p:anim>
                                  </p:childTnLst>
                                </p:cTn>
                              </p:par>
                              <p:par>
                                <p:cTn id="264" presetID="4" presetClass="exit" presetSubtype="16" fill="hold" grpId="0" nodeType="withEffect">
                                  <p:stCondLst>
                                    <p:cond delay="0"/>
                                  </p:stCondLst>
                                  <p:childTnLst>
                                    <p:animEffect transition="out" filter="box(in)">
                                      <p:cBhvr>
                                        <p:cTn id="265" dur="500"/>
                                        <p:tgtEl>
                                          <p:spTgt spid="601123">
                                            <p:txEl>
                                              <p:charRg st="0" end="2"/>
                                            </p:txEl>
                                          </p:spTgt>
                                        </p:tgtEl>
                                      </p:cBhvr>
                                    </p:animEffect>
                                    <p:set>
                                      <p:cBhvr>
                                        <p:cTn id="266" dur="1" fill="hold">
                                          <p:stCondLst>
                                            <p:cond delay="499"/>
                                          </p:stCondLst>
                                        </p:cTn>
                                        <p:tgtEl>
                                          <p:spTgt spid="601123">
                                            <p:txEl>
                                              <p:charRg st="0" end="2"/>
                                            </p:txEl>
                                          </p:spTgt>
                                        </p:tgtEl>
                                        <p:attrNameLst>
                                          <p:attrName>style.visibility</p:attrName>
                                        </p:attrNameLst>
                                      </p:cBhvr>
                                      <p:to>
                                        <p:strVal val="hidden"/>
                                      </p:to>
                                    </p:set>
                                  </p:childTnLst>
                                </p:cTn>
                              </p:par>
                              <p:par>
                                <p:cTn id="267" presetID="4" presetClass="exit" presetSubtype="16" fill="hold" grpId="0" nodeType="withEffect">
                                  <p:stCondLst>
                                    <p:cond delay="0"/>
                                  </p:stCondLst>
                                  <p:childTnLst>
                                    <p:animEffect transition="out" filter="box(in)">
                                      <p:cBhvr>
                                        <p:cTn id="268" dur="500"/>
                                        <p:tgtEl>
                                          <p:spTgt spid="601123"/>
                                        </p:tgtEl>
                                      </p:cBhvr>
                                    </p:animEffect>
                                    <p:set>
                                      <p:cBhvr>
                                        <p:cTn id="269" dur="1" fill="hold">
                                          <p:stCondLst>
                                            <p:cond delay="499"/>
                                          </p:stCondLst>
                                        </p:cTn>
                                        <p:tgtEl>
                                          <p:spTgt spid="601123"/>
                                        </p:tgtEl>
                                        <p:attrNameLst>
                                          <p:attrName>style.visibility</p:attrName>
                                        </p:attrNameLst>
                                      </p:cBhvr>
                                      <p:to>
                                        <p:strVal val="hidden"/>
                                      </p:to>
                                    </p:set>
                                  </p:childTnLst>
                                </p:cTn>
                              </p:par>
                              <p:par>
                                <p:cTn id="270" presetID="4" presetClass="exit" presetSubtype="16" fill="hold" grpId="0" nodeType="withEffect">
                                  <p:stCondLst>
                                    <p:cond delay="0"/>
                                  </p:stCondLst>
                                  <p:childTnLst>
                                    <p:animEffect transition="out" filter="box(in)">
                                      <p:cBhvr>
                                        <p:cTn id="271" dur="500"/>
                                        <p:tgtEl>
                                          <p:spTgt spid="601124">
                                            <p:txEl>
                                              <p:charRg st="0" end="2"/>
                                            </p:txEl>
                                          </p:spTgt>
                                        </p:tgtEl>
                                      </p:cBhvr>
                                    </p:animEffect>
                                    <p:set>
                                      <p:cBhvr>
                                        <p:cTn id="272" dur="1" fill="hold">
                                          <p:stCondLst>
                                            <p:cond delay="499"/>
                                          </p:stCondLst>
                                        </p:cTn>
                                        <p:tgtEl>
                                          <p:spTgt spid="601124">
                                            <p:txEl>
                                              <p:charRg st="0" end="2"/>
                                            </p:txEl>
                                          </p:spTgt>
                                        </p:tgtEl>
                                        <p:attrNameLst>
                                          <p:attrName>style.visibility</p:attrName>
                                        </p:attrNameLst>
                                      </p:cBhvr>
                                      <p:to>
                                        <p:strVal val="hidden"/>
                                      </p:to>
                                    </p:set>
                                  </p:childTnLst>
                                </p:cTn>
                              </p:par>
                              <p:par>
                                <p:cTn id="273" presetID="4" presetClass="exit" presetSubtype="16" fill="hold" grpId="0" nodeType="withEffect">
                                  <p:stCondLst>
                                    <p:cond delay="0"/>
                                  </p:stCondLst>
                                  <p:childTnLst>
                                    <p:animEffect transition="out" filter="box(in)">
                                      <p:cBhvr>
                                        <p:cTn id="274" dur="500"/>
                                        <p:tgtEl>
                                          <p:spTgt spid="601124"/>
                                        </p:tgtEl>
                                      </p:cBhvr>
                                    </p:animEffect>
                                    <p:set>
                                      <p:cBhvr>
                                        <p:cTn id="275" dur="1" fill="hold">
                                          <p:stCondLst>
                                            <p:cond delay="499"/>
                                          </p:stCondLst>
                                        </p:cTn>
                                        <p:tgtEl>
                                          <p:spTgt spid="601124"/>
                                        </p:tgtEl>
                                        <p:attrNameLst>
                                          <p:attrName>style.visibility</p:attrName>
                                        </p:attrNameLst>
                                      </p:cBhvr>
                                      <p:to>
                                        <p:strVal val="hidden"/>
                                      </p:to>
                                    </p:set>
                                  </p:childTnLst>
                                </p:cTn>
                              </p:par>
                              <p:par>
                                <p:cTn id="276" presetID="4" presetClass="exit" presetSubtype="16" fill="hold" nodeType="withEffect">
                                  <p:stCondLst>
                                    <p:cond delay="0"/>
                                  </p:stCondLst>
                                  <p:childTnLst>
                                    <p:animEffect transition="out" filter="box(in)">
                                      <p:cBhvr>
                                        <p:cTn id="277" dur="500"/>
                                        <p:tgtEl>
                                          <p:spTgt spid="601097"/>
                                        </p:tgtEl>
                                      </p:cBhvr>
                                    </p:animEffect>
                                    <p:set>
                                      <p:cBhvr>
                                        <p:cTn id="278" dur="1" fill="hold">
                                          <p:stCondLst>
                                            <p:cond delay="499"/>
                                          </p:stCondLst>
                                        </p:cTn>
                                        <p:tgtEl>
                                          <p:spTgt spid="601097"/>
                                        </p:tgtEl>
                                        <p:attrNameLst>
                                          <p:attrName>style.visibility</p:attrName>
                                        </p:attrNameLst>
                                      </p:cBhvr>
                                      <p:to>
                                        <p:strVal val="hidden"/>
                                      </p:to>
                                    </p:set>
                                  </p:childTnLst>
                                </p:cTn>
                              </p:par>
                              <p:par>
                                <p:cTn id="279" presetID="4" presetClass="exit" presetSubtype="16" fill="hold" nodeType="withEffect">
                                  <p:stCondLst>
                                    <p:cond delay="0"/>
                                  </p:stCondLst>
                                  <p:childTnLst>
                                    <p:animEffect transition="out" filter="box(in)">
                                      <p:cBhvr>
                                        <p:cTn id="280" dur="500"/>
                                        <p:tgtEl>
                                          <p:spTgt spid="601116"/>
                                        </p:tgtEl>
                                      </p:cBhvr>
                                    </p:animEffect>
                                    <p:set>
                                      <p:cBhvr>
                                        <p:cTn id="281" dur="1" fill="hold">
                                          <p:stCondLst>
                                            <p:cond delay="499"/>
                                          </p:stCondLst>
                                        </p:cTn>
                                        <p:tgtEl>
                                          <p:spTgt spid="601116"/>
                                        </p:tgtEl>
                                        <p:attrNameLst>
                                          <p:attrName>style.visibility</p:attrName>
                                        </p:attrNameLst>
                                      </p:cBhvr>
                                      <p:to>
                                        <p:strVal val="hidden"/>
                                      </p:to>
                                    </p:set>
                                  </p:childTnLst>
                                </p:cTn>
                              </p:par>
                              <p:par>
                                <p:cTn id="282" presetID="4" presetClass="exit" presetSubtype="16" fill="hold" grpId="1" nodeType="withEffect">
                                  <p:stCondLst>
                                    <p:cond delay="0"/>
                                  </p:stCondLst>
                                  <p:childTnLst>
                                    <p:animEffect transition="out" filter="box(in)">
                                      <p:cBhvr>
                                        <p:cTn id="283" dur="500"/>
                                        <p:tgtEl>
                                          <p:spTgt spid="601096"/>
                                        </p:tgtEl>
                                      </p:cBhvr>
                                    </p:animEffect>
                                    <p:set>
                                      <p:cBhvr>
                                        <p:cTn id="284" dur="1" fill="hold">
                                          <p:stCondLst>
                                            <p:cond delay="499"/>
                                          </p:stCondLst>
                                        </p:cTn>
                                        <p:tgtEl>
                                          <p:spTgt spid="601096"/>
                                        </p:tgtEl>
                                        <p:attrNameLst>
                                          <p:attrName>style.visibility</p:attrName>
                                        </p:attrNameLst>
                                      </p:cBhvr>
                                      <p:to>
                                        <p:strVal val="hidden"/>
                                      </p:to>
                                    </p:set>
                                  </p:childTnLst>
                                </p:cTn>
                              </p:par>
                              <p:par>
                                <p:cTn id="285" presetID="4" presetClass="exit" presetSubtype="16" fill="hold" nodeType="withEffect">
                                  <p:stCondLst>
                                    <p:cond delay="0"/>
                                  </p:stCondLst>
                                  <p:childTnLst>
                                    <p:animEffect transition="out" filter="box(in)">
                                      <p:cBhvr>
                                        <p:cTn id="286" dur="500"/>
                                        <p:tgtEl>
                                          <p:spTgt spid="601109"/>
                                        </p:tgtEl>
                                      </p:cBhvr>
                                    </p:animEffect>
                                    <p:set>
                                      <p:cBhvr>
                                        <p:cTn id="287" dur="1" fill="hold">
                                          <p:stCondLst>
                                            <p:cond delay="499"/>
                                          </p:stCondLst>
                                        </p:cTn>
                                        <p:tgtEl>
                                          <p:spTgt spid="601109"/>
                                        </p:tgtEl>
                                        <p:attrNameLst>
                                          <p:attrName>style.visibility</p:attrName>
                                        </p:attrNameLst>
                                      </p:cBhvr>
                                      <p:to>
                                        <p:strVal val="hidden"/>
                                      </p:to>
                                    </p:set>
                                  </p:childTnLst>
                                </p:cTn>
                              </p:par>
                              <p:par>
                                <p:cTn id="288" presetID="4" presetClass="exit" presetSubtype="16" fill="hold" grpId="1" nodeType="withEffect">
                                  <p:stCondLst>
                                    <p:cond delay="0"/>
                                  </p:stCondLst>
                                  <p:childTnLst>
                                    <p:animEffect transition="out" filter="box(in)">
                                      <p:cBhvr>
                                        <p:cTn id="289" dur="500"/>
                                        <p:tgtEl>
                                          <p:spTgt spid="601112"/>
                                        </p:tgtEl>
                                      </p:cBhvr>
                                    </p:animEffect>
                                    <p:set>
                                      <p:cBhvr>
                                        <p:cTn id="290" dur="1" fill="hold">
                                          <p:stCondLst>
                                            <p:cond delay="499"/>
                                          </p:stCondLst>
                                        </p:cTn>
                                        <p:tgtEl>
                                          <p:spTgt spid="601112"/>
                                        </p:tgtEl>
                                        <p:attrNameLst>
                                          <p:attrName>style.visibility</p:attrName>
                                        </p:attrNameLst>
                                      </p:cBhvr>
                                      <p:to>
                                        <p:strVal val="hidden"/>
                                      </p:to>
                                    </p:set>
                                  </p:childTnLst>
                                </p:cTn>
                              </p:par>
                              <p:par>
                                <p:cTn id="291" presetID="4" presetClass="exit" presetSubtype="16" fill="hold" grpId="1" nodeType="withEffect">
                                  <p:stCondLst>
                                    <p:cond delay="0"/>
                                  </p:stCondLst>
                                  <p:childTnLst>
                                    <p:animEffect transition="out" filter="box(in)">
                                      <p:cBhvr>
                                        <p:cTn id="292" dur="500"/>
                                        <p:tgtEl>
                                          <p:spTgt spid="601120"/>
                                        </p:tgtEl>
                                      </p:cBhvr>
                                    </p:animEffect>
                                    <p:set>
                                      <p:cBhvr>
                                        <p:cTn id="293" dur="1" fill="hold">
                                          <p:stCondLst>
                                            <p:cond delay="499"/>
                                          </p:stCondLst>
                                        </p:cTn>
                                        <p:tgtEl>
                                          <p:spTgt spid="601120"/>
                                        </p:tgtEl>
                                        <p:attrNameLst>
                                          <p:attrName>style.visibility</p:attrName>
                                        </p:attrNameLst>
                                      </p:cBhvr>
                                      <p:to>
                                        <p:strVal val="hidden"/>
                                      </p:to>
                                    </p:set>
                                  </p:childTnLst>
                                </p:cTn>
                              </p:par>
                              <p:par>
                                <p:cTn id="294" presetID="4" presetClass="exit" presetSubtype="16" fill="hold" grpId="1" nodeType="withEffect">
                                  <p:stCondLst>
                                    <p:cond delay="0"/>
                                  </p:stCondLst>
                                  <p:childTnLst>
                                    <p:animEffect transition="out" filter="box(in)">
                                      <p:cBhvr>
                                        <p:cTn id="295" dur="500"/>
                                        <p:tgtEl>
                                          <p:spTgt spid="601123">
                                            <p:txEl>
                                              <p:charRg st="0" end="2"/>
                                            </p:txEl>
                                          </p:spTgt>
                                        </p:tgtEl>
                                      </p:cBhvr>
                                    </p:animEffect>
                                    <p:set>
                                      <p:cBhvr>
                                        <p:cTn id="296" dur="1" fill="hold">
                                          <p:stCondLst>
                                            <p:cond delay="499"/>
                                          </p:stCondLst>
                                        </p:cTn>
                                        <p:tgtEl>
                                          <p:spTgt spid="601123">
                                            <p:txEl>
                                              <p:charRg st="0" end="2"/>
                                            </p:txEl>
                                          </p:spTgt>
                                        </p:tgtEl>
                                        <p:attrNameLst>
                                          <p:attrName>style.visibility</p:attrName>
                                        </p:attrNameLst>
                                      </p:cBhvr>
                                      <p:to>
                                        <p:strVal val="hidden"/>
                                      </p:to>
                                    </p:set>
                                  </p:childTnLst>
                                </p:cTn>
                              </p:par>
                              <p:par>
                                <p:cTn id="297" presetID="4" presetClass="exit" presetSubtype="16" fill="hold" grpId="1" nodeType="withEffect">
                                  <p:stCondLst>
                                    <p:cond delay="0"/>
                                  </p:stCondLst>
                                  <p:childTnLst>
                                    <p:animEffect transition="out" filter="box(in)">
                                      <p:cBhvr>
                                        <p:cTn id="298" dur="500"/>
                                        <p:tgtEl>
                                          <p:spTgt spid="601123"/>
                                        </p:tgtEl>
                                      </p:cBhvr>
                                    </p:animEffect>
                                    <p:set>
                                      <p:cBhvr>
                                        <p:cTn id="299" dur="1" fill="hold">
                                          <p:stCondLst>
                                            <p:cond delay="499"/>
                                          </p:stCondLst>
                                        </p:cTn>
                                        <p:tgtEl>
                                          <p:spTgt spid="601123"/>
                                        </p:tgtEl>
                                        <p:attrNameLst>
                                          <p:attrName>style.visibility</p:attrName>
                                        </p:attrNameLst>
                                      </p:cBhvr>
                                      <p:to>
                                        <p:strVal val="hidden"/>
                                      </p:to>
                                    </p:set>
                                  </p:childTnLst>
                                </p:cTn>
                              </p:par>
                              <p:par>
                                <p:cTn id="300" presetID="4" presetClass="exit" presetSubtype="16" fill="hold" grpId="1" nodeType="withEffect">
                                  <p:stCondLst>
                                    <p:cond delay="0"/>
                                  </p:stCondLst>
                                  <p:childTnLst>
                                    <p:animEffect transition="out" filter="box(in)">
                                      <p:cBhvr>
                                        <p:cTn id="301" dur="500"/>
                                        <p:tgtEl>
                                          <p:spTgt spid="601117"/>
                                        </p:tgtEl>
                                      </p:cBhvr>
                                    </p:animEffect>
                                    <p:set>
                                      <p:cBhvr>
                                        <p:cTn id="302" dur="1" fill="hold">
                                          <p:stCondLst>
                                            <p:cond delay="499"/>
                                          </p:stCondLst>
                                        </p:cTn>
                                        <p:tgtEl>
                                          <p:spTgt spid="601117"/>
                                        </p:tgtEl>
                                        <p:attrNameLst>
                                          <p:attrName>style.visibility</p:attrName>
                                        </p:attrNameLst>
                                      </p:cBhvr>
                                      <p:to>
                                        <p:strVal val="hidden"/>
                                      </p:to>
                                    </p:set>
                                  </p:childTnLst>
                                </p:cTn>
                              </p:par>
                              <p:par>
                                <p:cTn id="303" presetID="4" presetClass="exit" presetSubtype="16" fill="hold" nodeType="withEffect">
                                  <p:stCondLst>
                                    <p:cond delay="0"/>
                                  </p:stCondLst>
                                  <p:childTnLst>
                                    <p:animEffect transition="out" filter="box(in)">
                                      <p:cBhvr>
                                        <p:cTn id="304" dur="500"/>
                                        <p:tgtEl>
                                          <p:spTgt spid="601113"/>
                                        </p:tgtEl>
                                      </p:cBhvr>
                                    </p:animEffect>
                                    <p:set>
                                      <p:cBhvr>
                                        <p:cTn id="305" dur="1" fill="hold">
                                          <p:stCondLst>
                                            <p:cond delay="499"/>
                                          </p:stCondLst>
                                        </p:cTn>
                                        <p:tgtEl>
                                          <p:spTgt spid="601113"/>
                                        </p:tgtEl>
                                        <p:attrNameLst>
                                          <p:attrName>style.visibility</p:attrName>
                                        </p:attrNameLst>
                                      </p:cBhvr>
                                      <p:to>
                                        <p:strVal val="hidden"/>
                                      </p:to>
                                    </p:set>
                                  </p:childTnLst>
                                </p:cTn>
                              </p:par>
                            </p:childTnLst>
                          </p:cTn>
                        </p:par>
                      </p:childTnLst>
                    </p:cTn>
                  </p:par>
                  <p:par>
                    <p:cTn id="306" fill="hold">
                      <p:stCondLst>
                        <p:cond delay="indefinite"/>
                      </p:stCondLst>
                      <p:childTnLst>
                        <p:par>
                          <p:cTn id="307" fill="hold">
                            <p:stCondLst>
                              <p:cond delay="0"/>
                            </p:stCondLst>
                            <p:childTnLst>
                              <p:par>
                                <p:cTn id="308" presetID="2" presetClass="entr" presetSubtype="4" fill="hold" grpId="0" nodeType="clickEffect">
                                  <p:stCondLst>
                                    <p:cond delay="0"/>
                                  </p:stCondLst>
                                  <p:childTnLst>
                                    <p:set>
                                      <p:cBhvr>
                                        <p:cTn id="309" dur="1" fill="hold">
                                          <p:stCondLst>
                                            <p:cond delay="0"/>
                                          </p:stCondLst>
                                        </p:cTn>
                                        <p:tgtEl>
                                          <p:spTgt spid="601092">
                                            <p:txEl>
                                              <p:charRg st="703" end="776"/>
                                            </p:txEl>
                                          </p:spTgt>
                                        </p:tgtEl>
                                        <p:attrNameLst>
                                          <p:attrName>style.visibility</p:attrName>
                                        </p:attrNameLst>
                                      </p:cBhvr>
                                      <p:to>
                                        <p:strVal val="visible"/>
                                      </p:to>
                                    </p:set>
                                    <p:anim calcmode="lin" valueType="num">
                                      <p:cBhvr additive="base">
                                        <p:cTn id="310" dur="500" fill="hold"/>
                                        <p:tgtEl>
                                          <p:spTgt spid="601092">
                                            <p:txEl>
                                              <p:charRg st="703" end="776"/>
                                            </p:txEl>
                                          </p:spTgt>
                                        </p:tgtEl>
                                        <p:attrNameLst>
                                          <p:attrName>ppt_x</p:attrName>
                                        </p:attrNameLst>
                                      </p:cBhvr>
                                      <p:tavLst>
                                        <p:tav tm="0">
                                          <p:val>
                                            <p:strVal val="#ppt_x"/>
                                          </p:val>
                                        </p:tav>
                                        <p:tav tm="100000">
                                          <p:val>
                                            <p:strVal val="#ppt_x"/>
                                          </p:val>
                                        </p:tav>
                                      </p:tavLst>
                                    </p:anim>
                                    <p:anim calcmode="lin" valueType="num">
                                      <p:cBhvr additive="base">
                                        <p:cTn id="311" dur="500" fill="hold"/>
                                        <p:tgtEl>
                                          <p:spTgt spid="601092">
                                            <p:txEl>
                                              <p:charRg st="703" end="776"/>
                                            </p:txEl>
                                          </p:spTgt>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601092">
                                            <p:txEl>
                                              <p:charRg st="776" end="837"/>
                                            </p:txEl>
                                          </p:spTgt>
                                        </p:tgtEl>
                                        <p:attrNameLst>
                                          <p:attrName>style.visibility</p:attrName>
                                        </p:attrNameLst>
                                      </p:cBhvr>
                                      <p:to>
                                        <p:strVal val="visible"/>
                                      </p:to>
                                    </p:set>
                                    <p:anim calcmode="lin" valueType="num">
                                      <p:cBhvr additive="base">
                                        <p:cTn id="314" dur="500" fill="hold"/>
                                        <p:tgtEl>
                                          <p:spTgt spid="601092">
                                            <p:txEl>
                                              <p:charRg st="776" end="837"/>
                                            </p:txEl>
                                          </p:spTgt>
                                        </p:tgtEl>
                                        <p:attrNameLst>
                                          <p:attrName>ppt_x</p:attrName>
                                        </p:attrNameLst>
                                      </p:cBhvr>
                                      <p:tavLst>
                                        <p:tav tm="0">
                                          <p:val>
                                            <p:strVal val="#ppt_x"/>
                                          </p:val>
                                        </p:tav>
                                        <p:tav tm="100000">
                                          <p:val>
                                            <p:strVal val="#ppt_x"/>
                                          </p:val>
                                        </p:tav>
                                      </p:tavLst>
                                    </p:anim>
                                    <p:anim calcmode="lin" valueType="num">
                                      <p:cBhvr additive="base">
                                        <p:cTn id="315" dur="500" fill="hold"/>
                                        <p:tgtEl>
                                          <p:spTgt spid="601092">
                                            <p:txEl>
                                              <p:charRg st="776" end="837"/>
                                            </p:txEl>
                                          </p:spTgt>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601092">
                                            <p:txEl>
                                              <p:charRg st="837" end="927"/>
                                            </p:txEl>
                                          </p:spTgt>
                                        </p:tgtEl>
                                        <p:attrNameLst>
                                          <p:attrName>style.visibility</p:attrName>
                                        </p:attrNameLst>
                                      </p:cBhvr>
                                      <p:to>
                                        <p:strVal val="visible"/>
                                      </p:to>
                                    </p:set>
                                    <p:anim calcmode="lin" valueType="num">
                                      <p:cBhvr additive="base">
                                        <p:cTn id="318" dur="500" fill="hold"/>
                                        <p:tgtEl>
                                          <p:spTgt spid="601092">
                                            <p:txEl>
                                              <p:charRg st="837" end="927"/>
                                            </p:txEl>
                                          </p:spTgt>
                                        </p:tgtEl>
                                        <p:attrNameLst>
                                          <p:attrName>ppt_x</p:attrName>
                                        </p:attrNameLst>
                                      </p:cBhvr>
                                      <p:tavLst>
                                        <p:tav tm="0">
                                          <p:val>
                                            <p:strVal val="#ppt_x"/>
                                          </p:val>
                                        </p:tav>
                                        <p:tav tm="100000">
                                          <p:val>
                                            <p:strVal val="#ppt_x"/>
                                          </p:val>
                                        </p:tav>
                                      </p:tavLst>
                                    </p:anim>
                                    <p:anim calcmode="lin" valueType="num">
                                      <p:cBhvr additive="base">
                                        <p:cTn id="319" dur="500" fill="hold"/>
                                        <p:tgtEl>
                                          <p:spTgt spid="601092">
                                            <p:txEl>
                                              <p:charRg st="837" end="92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091" grpId="0" animBg="1" build="allAtOnce"/>
      <p:bldP spid="601092" grpId="0" build="p"/>
      <p:bldP spid="601095" grpId="0"/>
      <p:bldP spid="601096" grpId="0" animBg="1"/>
      <p:bldP spid="601096" grpId="1" animBg="1"/>
      <p:bldP spid="601099" grpId="0" animBg="1" build="allAtOnce"/>
      <p:bldP spid="601101" grpId="0" animBg="1"/>
      <p:bldP spid="601101" grpId="1" animBg="1"/>
      <p:bldP spid="601102" grpId="0" animBg="1"/>
      <p:bldP spid="601104" grpId="0"/>
      <p:bldP spid="601105" grpId="0" animBg="1"/>
      <p:bldP spid="601105" grpId="1" animBg="1"/>
      <p:bldP spid="601106" grpId="0" animBg="1"/>
      <p:bldP spid="601106" grpId="1" animBg="1"/>
      <p:bldP spid="601107" grpId="0" build="allAtOnce"/>
      <p:bldP spid="601107" grpId="1" animBg="1" build="allAtOnce"/>
      <p:bldP spid="601108" grpId="0" animBg="1"/>
      <p:bldP spid="601110" grpId="0"/>
      <p:bldP spid="601110" grpId="1"/>
      <p:bldP spid="601112" grpId="0"/>
      <p:bldP spid="601112" grpId="1"/>
      <p:bldP spid="601117" grpId="0"/>
      <p:bldP spid="601117" grpId="1"/>
      <p:bldP spid="601118" grpId="0"/>
      <p:bldP spid="601118" grpId="1"/>
      <p:bldP spid="601119" grpId="0" animBg="1"/>
      <p:bldP spid="601119" grpId="1" animBg="1"/>
      <p:bldP spid="601120" grpId="0" animBg="1"/>
      <p:bldP spid="601120" grpId="1" animBg="1"/>
      <p:bldP spid="601123" grpId="0" animBg="1" build="allAtOnce"/>
      <p:bldP spid="601123" grpId="1" animBg="1" build="allAtOnce"/>
      <p:bldP spid="601124" grpId="0" animBg="1" build="allAtOnce"/>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a:xfrm>
            <a:off x="228600" y="254000"/>
            <a:ext cx="7086600" cy="331788"/>
          </a:xfrm>
          <a:ln/>
        </p:spPr>
        <p:txBody>
          <a:bodyPr vert="horz" wrap="square" lIns="91440" tIns="0" rIns="91440" bIns="0" anchor="ctr" anchorCtr="0">
            <a:spAutoFit/>
          </a:bodyPr>
          <a:p>
            <a:r>
              <a:rPr dirty="0"/>
              <a:t>Restore file system from a snapshot (FSRS)</a:t>
            </a:r>
            <a:endParaRPr dirty="0"/>
          </a:p>
        </p:txBody>
      </p:sp>
      <p:sp>
        <p:nvSpPr>
          <p:cNvPr id="89090" name="Rectangle 3"/>
          <p:cNvSpPr>
            <a:spLocks noGrp="1"/>
          </p:cNvSpPr>
          <p:nvPr>
            <p:ph idx="1"/>
          </p:nvPr>
        </p:nvSpPr>
        <p:spPr>
          <a:xfrm>
            <a:off x="730250" y="1295400"/>
            <a:ext cx="7956550" cy="4887913"/>
          </a:xfrm>
          <a:ln/>
        </p:spPr>
        <p:txBody>
          <a:bodyPr vert="horz" wrap="square" lIns="91440" tIns="45720" rIns="91440" bIns="45720" anchor="t" anchorCtr="0"/>
          <a:p>
            <a:pPr>
              <a:lnSpc>
                <a:spcPct val="75000"/>
              </a:lnSpc>
            </a:pPr>
            <a:r>
              <a:rPr sz="1800" dirty="0"/>
              <a:t>This is a licensed feature</a:t>
            </a:r>
            <a:endParaRPr sz="1800" dirty="0"/>
          </a:p>
          <a:p>
            <a:pPr>
              <a:lnSpc>
                <a:spcPct val="75000"/>
              </a:lnSpc>
            </a:pPr>
            <a:endParaRPr sz="1800" dirty="0"/>
          </a:p>
          <a:p>
            <a:pPr>
              <a:lnSpc>
                <a:spcPct val="75000"/>
              </a:lnSpc>
            </a:pPr>
            <a:r>
              <a:rPr sz="1800" dirty="0"/>
              <a:t>Near-instant rollback of entire FS to a snapshot</a:t>
            </a:r>
            <a:endParaRPr sz="1800" dirty="0"/>
          </a:p>
          <a:p>
            <a:pPr lvl="1">
              <a:lnSpc>
                <a:spcPct val="75000"/>
              </a:lnSpc>
            </a:pPr>
            <a:r>
              <a:rPr lang="en-GB" altLang="x-none" sz="1600" dirty="0"/>
              <a:t>Different from the </a:t>
            </a:r>
            <a:r>
              <a:rPr lang="en-GB" altLang="en-US" sz="1600" dirty="0"/>
              <a:t>“</a:t>
            </a:r>
            <a:r>
              <a:rPr lang="en-GB" altLang="x-none" sz="1600" dirty="0"/>
              <a:t>File rollback</a:t>
            </a:r>
            <a:r>
              <a:rPr lang="en-GB" altLang="en-US" sz="1600" dirty="0"/>
              <a:t>”</a:t>
            </a:r>
            <a:r>
              <a:rPr lang="en-GB" altLang="x-none" sz="1600" dirty="0"/>
              <a:t> function requiring to copy preserved data for each file (slower)</a:t>
            </a:r>
            <a:endParaRPr lang="en-GB" altLang="x-none" sz="1600" dirty="0"/>
          </a:p>
          <a:p>
            <a:pPr lvl="1">
              <a:lnSpc>
                <a:spcPct val="75000"/>
              </a:lnSpc>
            </a:pPr>
            <a:r>
              <a:rPr lang="en-GB" altLang="x-none" sz="1600" dirty="0"/>
              <a:t>Made possible by the fact that WFS-2 preserves bitmaps with each snapshot</a:t>
            </a:r>
            <a:endParaRPr lang="en-GB" altLang="x-none" sz="1600" dirty="0"/>
          </a:p>
          <a:p>
            <a:pPr lvl="2">
              <a:lnSpc>
                <a:spcPct val="75000"/>
              </a:lnSpc>
            </a:pPr>
            <a:r>
              <a:rPr lang="en-GB" altLang="x-none" sz="1400" dirty="0"/>
              <a:t>WFS-2 can restore directly from the snapshot</a:t>
            </a:r>
            <a:endParaRPr lang="en-GB" altLang="x-none" sz="1400" dirty="0"/>
          </a:p>
          <a:p>
            <a:pPr lvl="2">
              <a:lnSpc>
                <a:spcPct val="75000"/>
              </a:lnSpc>
            </a:pPr>
            <a:r>
              <a:rPr lang="en-GB" altLang="x-none" sz="1400" dirty="0"/>
              <a:t>This works even if the live FS is not consistent</a:t>
            </a:r>
            <a:endParaRPr lang="en-GB" altLang="x-none" sz="1400" dirty="0"/>
          </a:p>
          <a:p>
            <a:pPr lvl="1">
              <a:lnSpc>
                <a:spcPct val="75000"/>
              </a:lnSpc>
            </a:pPr>
            <a:r>
              <a:rPr lang="en-GB" altLang="x-none" sz="1600" dirty="0"/>
              <a:t>The time required depends on the size of the file system</a:t>
            </a:r>
            <a:endParaRPr lang="en-GB" altLang="x-none" sz="1600" dirty="0"/>
          </a:p>
          <a:p>
            <a:pPr lvl="2">
              <a:lnSpc>
                <a:spcPct val="75000"/>
              </a:lnSpc>
            </a:pPr>
            <a:r>
              <a:rPr lang="en-GB" altLang="x-none" sz="1400" dirty="0"/>
              <a:t>Not on the number of files in a file system</a:t>
            </a:r>
            <a:endParaRPr lang="en-GB" altLang="x-none" sz="1400" dirty="0"/>
          </a:p>
          <a:p>
            <a:pPr lvl="1">
              <a:lnSpc>
                <a:spcPct val="75000"/>
              </a:lnSpc>
            </a:pPr>
            <a:r>
              <a:rPr lang="en-GB" altLang="x-none" sz="1600" dirty="0"/>
              <a:t>The ability to run chkfs on a snapshot makes it possible to validate the snapshot before it is restored</a:t>
            </a:r>
            <a:r>
              <a:rPr sz="1600" dirty="0"/>
              <a:t> </a:t>
            </a:r>
            <a:endParaRPr sz="1600" dirty="0"/>
          </a:p>
        </p:txBody>
      </p:sp>
      <p:sp>
        <p:nvSpPr>
          <p:cNvPr id="89091" name="Slide Number Placeholder 3"/>
          <p:cNvSpPr txBox="1">
            <a:spLocks noGrp="1"/>
          </p:cNvSpPr>
          <p:nvPr/>
        </p:nvSpPr>
        <p:spPr>
          <a:xfrm>
            <a:off x="153988" y="6565900"/>
            <a:ext cx="2133600" cy="254000"/>
          </a:xfrm>
          <a:prstGeom prst="rect">
            <a:avLst/>
          </a:prstGeom>
          <a:noFill/>
          <a:ln w="9525">
            <a:noFill/>
          </a:ln>
        </p:spPr>
        <p:txBody>
          <a:bodyPr/>
          <a:p>
            <a:pPr>
              <a:spcBef>
                <a:spcPct val="20000"/>
              </a:spcBef>
              <a:buChar char="•"/>
            </a:pPr>
            <a:fld id="{9A0DB2DC-4C9A-4742-B13C-FB6460FD3503}" type="slidenum">
              <a:rPr lang="en-US" sz="1000" dirty="0">
                <a:solidFill>
                  <a:srgbClr val="B2B2B2"/>
                </a:solidFill>
                <a:latin typeface="Arial" panose="020B0604020202020204" pitchFamily="34" charset="0"/>
              </a:rPr>
            </a:fld>
            <a:endParaRPr lang="en-US" sz="1000" dirty="0">
              <a:solidFill>
                <a:srgbClr val="B2B2B2"/>
              </a:solidFill>
              <a:latin typeface="Arial" panose="020B0604020202020204" pitchFamily="34" charset="0"/>
            </a:endParaRPr>
          </a:p>
        </p:txBody>
      </p:sp>
      <p:sp>
        <p:nvSpPr>
          <p:cNvPr id="89092" name="Footer Placeholder 4"/>
          <p:cNvSpPr txBox="1">
            <a:spLocks noGrp="1"/>
          </p:cNvSpPr>
          <p:nvPr/>
        </p:nvSpPr>
        <p:spPr>
          <a:xfrm>
            <a:off x="2778125" y="6564313"/>
            <a:ext cx="4344988" cy="255587"/>
          </a:xfrm>
          <a:prstGeom prst="rect">
            <a:avLst/>
          </a:prstGeom>
          <a:noFill/>
          <a:ln w="9525">
            <a:noFill/>
          </a:ln>
        </p:spPr>
        <p:txBody>
          <a:bodyPr/>
          <a:p>
            <a:pPr eaLnBrk="0" hangingPunct="0">
              <a:spcBef>
                <a:spcPct val="20000"/>
              </a:spcBef>
              <a:buChar char="•"/>
            </a:pPr>
            <a:r>
              <a:rPr sz="1000" dirty="0">
                <a:solidFill>
                  <a:srgbClr val="B2B2B2"/>
                </a:solidFill>
                <a:latin typeface="Arial" panose="020B0604020202020204" pitchFamily="34" charset="0"/>
              </a:rPr>
              <a:t>© 2009 BlueArc, Corp. Proprietary and Confidential.</a:t>
            </a:r>
            <a:endParaRPr sz="1000" dirty="0">
              <a:solidFill>
                <a:srgbClr val="B2B2B2"/>
              </a:solidFill>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Management Console</a:t>
            </a:r>
            <a:endParaRPr dirty="0">
              <a:solidFill>
                <a:schemeClr val="tx1"/>
              </a:solidFill>
            </a:endParaRPr>
          </a:p>
        </p:txBody>
      </p:sp>
      <p:sp>
        <p:nvSpPr>
          <p:cNvPr id="91138" name="Text Box 3"/>
          <p:cNvSpPr txBox="1"/>
          <p:nvPr/>
        </p:nvSpPr>
        <p:spPr>
          <a:xfrm>
            <a:off x="206375" y="5988050"/>
            <a:ext cx="1539875" cy="641350"/>
          </a:xfrm>
          <a:prstGeom prst="rect">
            <a:avLst/>
          </a:prstGeom>
          <a:noFill/>
          <a:ln w="9525">
            <a:noFill/>
          </a:ln>
        </p:spPr>
        <p:txBody>
          <a:bodyPr>
            <a:spAutoFit/>
          </a:bodyPr>
          <a:p>
            <a:pPr algn="ctr"/>
            <a:r>
              <a:rPr dirty="0">
                <a:solidFill>
                  <a:schemeClr val="bg1"/>
                </a:solidFill>
                <a:latin typeface="Arial" panose="020B0604020202020204" pitchFamily="34" charset="0"/>
              </a:rPr>
              <a:t>Management Station</a:t>
            </a:r>
            <a:endParaRPr dirty="0">
              <a:solidFill>
                <a:schemeClr val="bg1"/>
              </a:solidFill>
              <a:latin typeface="Arial" panose="020B0604020202020204" pitchFamily="34" charset="0"/>
            </a:endParaRPr>
          </a:p>
        </p:txBody>
      </p:sp>
      <p:sp>
        <p:nvSpPr>
          <p:cNvPr id="91139" name="Rectangle 4"/>
          <p:cNvSpPr>
            <a:spLocks noGrp="1"/>
          </p:cNvSpPr>
          <p:nvPr>
            <p:ph idx="1"/>
          </p:nvPr>
        </p:nvSpPr>
        <p:spPr>
          <a:xfrm>
            <a:off x="4851400" y="1449388"/>
            <a:ext cx="4217988" cy="4525962"/>
          </a:xfrm>
          <a:ln/>
        </p:spPr>
        <p:txBody>
          <a:bodyPr vert="horz" wrap="square" lIns="91440" tIns="45720" rIns="91440" bIns="45720" anchor="t" anchorCtr="0"/>
          <a:p>
            <a:pPr marL="342900" indent="-342900" eaLnBrk="1" hangingPunct="1">
              <a:lnSpc>
                <a:spcPct val="85000"/>
              </a:lnSpc>
              <a:tabLst>
                <a:tab pos="-635" algn="l"/>
              </a:tabLst>
            </a:pPr>
            <a:r>
              <a:rPr sz="1600" dirty="0"/>
              <a:t>At-glance dashboard</a:t>
            </a:r>
            <a:endParaRPr sz="1600" dirty="0"/>
          </a:p>
          <a:p>
            <a:pPr marL="342900" indent="-342900" eaLnBrk="1" hangingPunct="1">
              <a:lnSpc>
                <a:spcPct val="85000"/>
              </a:lnSpc>
              <a:tabLst>
                <a:tab pos="-635" algn="l"/>
              </a:tabLst>
            </a:pPr>
            <a:r>
              <a:rPr sz="1600" dirty="0"/>
              <a:t>Status alerts and monitoring</a:t>
            </a:r>
            <a:endParaRPr sz="1600" dirty="0"/>
          </a:p>
          <a:p>
            <a:pPr marL="342900" indent="-342900" eaLnBrk="1" hangingPunct="1">
              <a:lnSpc>
                <a:spcPct val="85000"/>
              </a:lnSpc>
              <a:tabLst>
                <a:tab pos="-635" algn="l"/>
              </a:tabLst>
            </a:pPr>
            <a:r>
              <a:rPr sz="1600" dirty="0"/>
              <a:t>File and cluster services</a:t>
            </a:r>
            <a:endParaRPr sz="1600" dirty="0"/>
          </a:p>
          <a:p>
            <a:pPr marL="342900" indent="-342900" eaLnBrk="1" hangingPunct="1">
              <a:lnSpc>
                <a:spcPct val="85000"/>
              </a:lnSpc>
              <a:tabLst>
                <a:tab pos="-635" algn="l"/>
              </a:tabLst>
            </a:pPr>
            <a:r>
              <a:rPr sz="1600" dirty="0"/>
              <a:t>Data management and protection</a:t>
            </a:r>
            <a:endParaRPr sz="1600" dirty="0"/>
          </a:p>
          <a:p>
            <a:pPr marL="342900" indent="-342900" eaLnBrk="1" hangingPunct="1">
              <a:lnSpc>
                <a:spcPct val="85000"/>
              </a:lnSpc>
              <a:tabLst>
                <a:tab pos="-635" algn="l"/>
              </a:tabLst>
            </a:pPr>
            <a:r>
              <a:rPr sz="1600" dirty="0"/>
              <a:t>Anti-virus scanning</a:t>
            </a:r>
            <a:endParaRPr sz="1600" dirty="0"/>
          </a:p>
          <a:p>
            <a:pPr marL="342900" indent="-342900" eaLnBrk="1" hangingPunct="1">
              <a:lnSpc>
                <a:spcPct val="85000"/>
              </a:lnSpc>
              <a:tabLst>
                <a:tab pos="-635" algn="l"/>
              </a:tabLst>
            </a:pPr>
            <a:r>
              <a:rPr sz="1600" dirty="0"/>
              <a:t>Network and security administration</a:t>
            </a:r>
            <a:endParaRPr sz="1600" dirty="0"/>
          </a:p>
          <a:p>
            <a:pPr marL="342900" indent="-342900" eaLnBrk="1" hangingPunct="1">
              <a:lnSpc>
                <a:spcPct val="85000"/>
              </a:lnSpc>
              <a:tabLst>
                <a:tab pos="-635" algn="l"/>
              </a:tabLst>
            </a:pPr>
            <a:r>
              <a:rPr sz="1600" dirty="0"/>
              <a:t>Policy manager and scheduler</a:t>
            </a:r>
            <a:endParaRPr sz="1600" dirty="0"/>
          </a:p>
          <a:p>
            <a:pPr marL="342900" indent="-342900" eaLnBrk="1" hangingPunct="1">
              <a:lnSpc>
                <a:spcPct val="85000"/>
              </a:lnSpc>
              <a:tabLst>
                <a:tab pos="-635" algn="l"/>
              </a:tabLst>
            </a:pPr>
            <a:r>
              <a:rPr sz="1600" dirty="0"/>
              <a:t>CLI and scripting</a:t>
            </a:r>
            <a:endParaRPr sz="1600" dirty="0"/>
          </a:p>
          <a:p>
            <a:pPr marL="342900" indent="-342900" eaLnBrk="1" hangingPunct="1">
              <a:lnSpc>
                <a:spcPct val="85000"/>
              </a:lnSpc>
              <a:tabLst>
                <a:tab pos="-635" algn="l"/>
              </a:tabLst>
            </a:pPr>
            <a:r>
              <a:rPr sz="1600" dirty="0"/>
              <a:t>SSH, SSL, and ACL protection</a:t>
            </a:r>
            <a:endParaRPr sz="1600" dirty="0"/>
          </a:p>
          <a:p>
            <a:pPr marL="342900" indent="-342900" eaLnBrk="1" hangingPunct="1">
              <a:lnSpc>
                <a:spcPct val="85000"/>
              </a:lnSpc>
              <a:tabLst>
                <a:tab pos="-635" algn="l"/>
              </a:tabLst>
            </a:pPr>
            <a:r>
              <a:rPr sz="1600" dirty="0"/>
              <a:t>On-line documentation library</a:t>
            </a:r>
            <a:endParaRPr sz="1600" dirty="0"/>
          </a:p>
        </p:txBody>
      </p:sp>
      <p:grpSp>
        <p:nvGrpSpPr>
          <p:cNvPr id="91140" name="Group 5"/>
          <p:cNvGrpSpPr/>
          <p:nvPr/>
        </p:nvGrpSpPr>
        <p:grpSpPr>
          <a:xfrm>
            <a:off x="658813" y="5000625"/>
            <a:ext cx="1031875" cy="1187450"/>
            <a:chOff x="1613" y="1698"/>
            <a:chExt cx="807" cy="995"/>
          </a:xfrm>
        </p:grpSpPr>
        <p:pic>
          <p:nvPicPr>
            <p:cNvPr id="91144" name="Picture 6" descr="Computer"/>
            <p:cNvPicPr>
              <a:picLocks noChangeAspect="1"/>
            </p:cNvPicPr>
            <p:nvPr/>
          </p:nvPicPr>
          <p:blipFill>
            <a:blip r:embed="rId1"/>
            <a:stretch>
              <a:fillRect/>
            </a:stretch>
          </p:blipFill>
          <p:spPr>
            <a:xfrm>
              <a:off x="1613" y="1698"/>
              <a:ext cx="807" cy="995"/>
            </a:xfrm>
            <a:prstGeom prst="rect">
              <a:avLst/>
            </a:prstGeom>
            <a:noFill/>
            <a:ln w="9525">
              <a:noFill/>
            </a:ln>
          </p:spPr>
        </p:pic>
        <p:pic>
          <p:nvPicPr>
            <p:cNvPr id="91145" name="Picture 7"/>
            <p:cNvPicPr>
              <a:picLocks noChangeAspect="1"/>
            </p:cNvPicPr>
            <p:nvPr/>
          </p:nvPicPr>
          <p:blipFill>
            <a:blip r:embed="rId2"/>
            <a:stretch>
              <a:fillRect/>
            </a:stretch>
          </p:blipFill>
          <p:spPr>
            <a:xfrm>
              <a:off x="1742" y="1772"/>
              <a:ext cx="544" cy="443"/>
            </a:xfrm>
            <a:prstGeom prst="rect">
              <a:avLst/>
            </a:prstGeom>
            <a:noFill/>
            <a:ln w="9525">
              <a:noFill/>
            </a:ln>
          </p:spPr>
        </p:pic>
      </p:grpSp>
      <p:sp>
        <p:nvSpPr>
          <p:cNvPr id="91141" name="Freeform 8"/>
          <p:cNvSpPr/>
          <p:nvPr/>
        </p:nvSpPr>
        <p:spPr>
          <a:xfrm>
            <a:off x="460375" y="4322763"/>
            <a:ext cx="4302125" cy="722312"/>
          </a:xfrm>
          <a:custGeom>
            <a:avLst/>
            <a:gdLst>
              <a:gd name="txL" fmla="*/ 0 w 2710"/>
              <a:gd name="txT" fmla="*/ 0 h 455"/>
              <a:gd name="txR" fmla="*/ 2710 w 2710"/>
              <a:gd name="txB" fmla="*/ 455 h 455"/>
            </a:gdLst>
            <a:ahLst/>
            <a:cxnLst>
              <a:cxn ang="0">
                <a:pos x="2147483647" y="2147483647"/>
              </a:cxn>
              <a:cxn ang="0">
                <a:pos x="0" y="0"/>
              </a:cxn>
              <a:cxn ang="0">
                <a:pos x="2147483647" y="0"/>
              </a:cxn>
              <a:cxn ang="0">
                <a:pos x="2147483647" y="2147483647"/>
              </a:cxn>
              <a:cxn ang="0">
                <a:pos x="2147483647" y="2147483647"/>
              </a:cxn>
            </a:cxnLst>
            <a:rect l="txL" t="txT" r="txR" b="txB"/>
            <a:pathLst>
              <a:path w="2710" h="455">
                <a:moveTo>
                  <a:pt x="188" y="437"/>
                </a:moveTo>
                <a:lnTo>
                  <a:pt x="0" y="0"/>
                </a:lnTo>
                <a:lnTo>
                  <a:pt x="2710" y="0"/>
                </a:lnTo>
                <a:lnTo>
                  <a:pt x="722" y="455"/>
                </a:lnTo>
                <a:lnTo>
                  <a:pt x="188" y="437"/>
                </a:lnTo>
                <a:close/>
              </a:path>
            </a:pathLst>
          </a:custGeom>
          <a:solidFill>
            <a:srgbClr val="006699">
              <a:alpha val="50195"/>
            </a:srgbClr>
          </a:solidFill>
          <a:ln w="9525" cap="flat" cmpd="sng">
            <a:solidFill>
              <a:schemeClr val="tx1">
                <a:alpha val="100000"/>
              </a:schemeClr>
            </a:solidFill>
            <a:prstDash val="solid"/>
            <a:round/>
            <a:headEnd type="none" w="med" len="med"/>
            <a:tailEnd type="none" w="med" len="med"/>
          </a:ln>
        </p:spPr>
        <p:txBody>
          <a:bodyPr/>
          <a:p>
            <a:endParaRPr lang="en-US"/>
          </a:p>
        </p:txBody>
      </p:sp>
      <p:pic>
        <p:nvPicPr>
          <p:cNvPr id="91142" name="Picture 9" descr="menu004"/>
          <p:cNvPicPr>
            <a:picLocks noChangeAspect="1"/>
          </p:cNvPicPr>
          <p:nvPr/>
        </p:nvPicPr>
        <p:blipFill>
          <a:blip r:embed="rId3"/>
          <a:stretch>
            <a:fillRect/>
          </a:stretch>
        </p:blipFill>
        <p:spPr>
          <a:xfrm>
            <a:off x="428625" y="1573213"/>
            <a:ext cx="4321175" cy="2744787"/>
          </a:xfrm>
          <a:prstGeom prst="rect">
            <a:avLst/>
          </a:prstGeom>
          <a:noFill/>
          <a:ln w="28575" cap="flat" cmpd="sng">
            <a:solidFill>
              <a:schemeClr val="tx1"/>
            </a:solidFill>
            <a:prstDash val="solid"/>
            <a:miter/>
            <a:headEnd type="none" w="med" len="med"/>
            <a:tailEnd type="none" w="med" len="med"/>
          </a:ln>
        </p:spPr>
      </p:pic>
      <p:pic>
        <p:nvPicPr>
          <p:cNvPr id="91143" name="Picture 10" descr="menu004"/>
          <p:cNvPicPr/>
          <p:nvPr/>
        </p:nvPicPr>
        <p:blipFill>
          <a:blip r:embed="rId4"/>
          <a:srcRect b="1199"/>
          <a:stretch>
            <a:fillRect/>
          </a:stretch>
        </p:blipFill>
        <p:spPr>
          <a:xfrm>
            <a:off x="823913" y="5087938"/>
            <a:ext cx="695325" cy="542925"/>
          </a:xfrm>
          <a:prstGeom prst="rect">
            <a:avLst/>
          </a:prstGeom>
          <a:noFill/>
          <a:ln w="28575">
            <a:noFill/>
          </a:ln>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type="title"/>
          </p:nvPr>
        </p:nvSpPr>
        <p:spPr>
          <a:xfrm>
            <a:off x="228600" y="90488"/>
            <a:ext cx="7086600" cy="657225"/>
          </a:xfrm>
          <a:ln/>
        </p:spPr>
        <p:txBody>
          <a:bodyPr vert="horz" wrap="square" lIns="91440" tIns="0" rIns="91440" bIns="0" anchor="ctr" anchorCtr="0">
            <a:spAutoFit/>
          </a:bodyPr>
          <a:p>
            <a:pPr eaLnBrk="1" hangingPunct="1"/>
            <a:r>
              <a:rPr dirty="0">
                <a:solidFill>
                  <a:srgbClr val="000000"/>
                </a:solidFill>
              </a:rPr>
              <a:t>Hitachi HiCommand</a:t>
            </a:r>
            <a:r>
              <a:rPr dirty="0">
                <a:solidFill>
                  <a:srgbClr val="000000"/>
                </a:solidFill>
                <a:cs typeface="Arial" panose="020B0604020202020204" pitchFamily="34" charset="0"/>
              </a:rPr>
              <a:t>® </a:t>
            </a:r>
            <a:r>
              <a:rPr dirty="0">
                <a:solidFill>
                  <a:srgbClr val="000000"/>
                </a:solidFill>
              </a:rPr>
              <a:t>Integration with Device Manager</a:t>
            </a:r>
            <a:endParaRPr dirty="0">
              <a:solidFill>
                <a:srgbClr val="000000"/>
              </a:solidFill>
            </a:endParaRPr>
          </a:p>
        </p:txBody>
      </p:sp>
      <p:pic>
        <p:nvPicPr>
          <p:cNvPr id="93186" name="Picture 3" descr="HNAS-HDvM-1"/>
          <p:cNvPicPr>
            <a:picLocks noChangeAspect="1"/>
          </p:cNvPicPr>
          <p:nvPr/>
        </p:nvPicPr>
        <p:blipFill>
          <a:blip r:embed="rId1"/>
          <a:stretch>
            <a:fillRect/>
          </a:stretch>
        </p:blipFill>
        <p:spPr>
          <a:xfrm>
            <a:off x="304800" y="1028700"/>
            <a:ext cx="7391400" cy="5676900"/>
          </a:xfrm>
          <a:prstGeom prst="rect">
            <a:avLst/>
          </a:prstGeom>
          <a:noFill/>
          <a:ln w="9525">
            <a:noFill/>
          </a:ln>
        </p:spPr>
      </p:pic>
      <p:sp>
        <p:nvSpPr>
          <p:cNvPr id="93187" name="Rectangle 4"/>
          <p:cNvSpPr/>
          <p:nvPr/>
        </p:nvSpPr>
        <p:spPr>
          <a:xfrm>
            <a:off x="1371600" y="4191000"/>
            <a:ext cx="5486400" cy="228600"/>
          </a:xfrm>
          <a:prstGeom prst="rect">
            <a:avLst/>
          </a:prstGeom>
          <a:noFill/>
          <a:ln w="28575" cap="flat" cmpd="sng">
            <a:solidFill>
              <a:srgbClr val="FF0000"/>
            </a:solidFill>
            <a:prstDash val="solid"/>
            <a:miter/>
            <a:headEnd type="none" w="sm" len="sm"/>
            <a:tailEnd type="none" w="sm" len="sm"/>
          </a:ln>
        </p:spPr>
        <p:txBody>
          <a:bodyPr wrap="none" anchor="ctr" anchorCtr="0"/>
          <a:p>
            <a:pPr>
              <a:spcBef>
                <a:spcPct val="20000"/>
              </a:spcBef>
              <a:buChar char="•"/>
            </a:pPr>
            <a:endParaRPr dirty="0">
              <a:latin typeface="Arial" panose="020B0604020202020204" pitchFamily="3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type="title"/>
          </p:nvPr>
        </p:nvSpPr>
        <p:spPr>
          <a:ln/>
        </p:spPr>
        <p:txBody>
          <a:bodyPr vert="horz" wrap="square" lIns="91440" tIns="0" rIns="91440" bIns="0" anchor="ctr" anchorCtr="0">
            <a:spAutoFit/>
          </a:bodyPr>
          <a:p>
            <a:pPr eaLnBrk="1" hangingPunct="1"/>
            <a:r>
              <a:rPr dirty="0">
                <a:solidFill>
                  <a:schemeClr val="tx1"/>
                </a:solidFill>
              </a:rPr>
              <a:t>Reporting and Management access</a:t>
            </a:r>
            <a:endParaRPr dirty="0">
              <a:solidFill>
                <a:schemeClr val="tx1"/>
              </a:solidFill>
            </a:endParaRPr>
          </a:p>
        </p:txBody>
      </p:sp>
      <p:sp>
        <p:nvSpPr>
          <p:cNvPr id="95234" name="Rectangle 3"/>
          <p:cNvSpPr/>
          <p:nvPr/>
        </p:nvSpPr>
        <p:spPr>
          <a:xfrm>
            <a:off x="531813" y="1265238"/>
            <a:ext cx="5640387" cy="4525962"/>
          </a:xfrm>
          <a:prstGeom prst="rect">
            <a:avLst/>
          </a:prstGeom>
          <a:noFill/>
          <a:ln w="9525">
            <a:noFill/>
          </a:ln>
        </p:spPr>
        <p:txBody>
          <a:bodyPr/>
          <a:p>
            <a:pPr marL="342900" indent="-342900">
              <a:lnSpc>
                <a:spcPct val="85000"/>
              </a:lnSpc>
              <a:spcBef>
                <a:spcPct val="20000"/>
              </a:spcBef>
              <a:buChar char="•"/>
            </a:pPr>
            <a:r>
              <a:rPr sz="2000" dirty="0">
                <a:solidFill>
                  <a:schemeClr val="tx1"/>
                </a:solidFill>
                <a:latin typeface="Helvetica" charset="0"/>
              </a:rPr>
              <a:t>Hitachi HiTrack® integrated</a:t>
            </a:r>
            <a:endParaRPr sz="2000" dirty="0">
              <a:solidFill>
                <a:schemeClr val="tx1"/>
              </a:solidFill>
              <a:latin typeface="Helvetica" charset="0"/>
            </a:endParaRPr>
          </a:p>
          <a:p>
            <a:pPr marL="342900" indent="-342900">
              <a:lnSpc>
                <a:spcPct val="85000"/>
              </a:lnSpc>
              <a:spcBef>
                <a:spcPct val="20000"/>
              </a:spcBef>
              <a:buChar char="•"/>
            </a:pPr>
            <a:endParaRPr sz="2000" dirty="0">
              <a:solidFill>
                <a:schemeClr val="tx1"/>
              </a:solidFill>
              <a:latin typeface="Helvetica" charset="0"/>
            </a:endParaRPr>
          </a:p>
          <a:p>
            <a:pPr marL="342900" indent="-342900">
              <a:lnSpc>
                <a:spcPct val="85000"/>
              </a:lnSpc>
              <a:spcBef>
                <a:spcPct val="20000"/>
              </a:spcBef>
              <a:buChar char="•"/>
            </a:pPr>
            <a:r>
              <a:rPr sz="2000" dirty="0">
                <a:solidFill>
                  <a:schemeClr val="tx1"/>
                </a:solidFill>
                <a:latin typeface="Helvetica" charset="0"/>
              </a:rPr>
              <a:t>SNMP v1/v2c</a:t>
            </a:r>
            <a:endParaRPr sz="2000" dirty="0">
              <a:solidFill>
                <a:schemeClr val="tx1"/>
              </a:solidFill>
              <a:latin typeface="Helvetica" charset="0"/>
            </a:endParaRPr>
          </a:p>
          <a:p>
            <a:pPr marL="342900" indent="-342900">
              <a:lnSpc>
                <a:spcPct val="85000"/>
              </a:lnSpc>
              <a:spcBef>
                <a:spcPct val="20000"/>
              </a:spcBef>
              <a:buChar char="•"/>
            </a:pPr>
            <a:endParaRPr sz="2000" dirty="0">
              <a:solidFill>
                <a:schemeClr val="tx1"/>
              </a:solidFill>
              <a:latin typeface="Helvetica" charset="0"/>
            </a:endParaRPr>
          </a:p>
          <a:p>
            <a:pPr marL="342900" indent="-342900">
              <a:lnSpc>
                <a:spcPct val="85000"/>
              </a:lnSpc>
              <a:spcBef>
                <a:spcPct val="20000"/>
              </a:spcBef>
              <a:buChar char="•"/>
            </a:pPr>
            <a:r>
              <a:rPr sz="2000" dirty="0">
                <a:solidFill>
                  <a:schemeClr val="tx1"/>
                </a:solidFill>
                <a:latin typeface="Helvetica" charset="0"/>
              </a:rPr>
              <a:t>Syslog</a:t>
            </a:r>
            <a:endParaRPr sz="2000" dirty="0">
              <a:solidFill>
                <a:schemeClr val="tx1"/>
              </a:solidFill>
              <a:latin typeface="Helvetica" charset="0"/>
            </a:endParaRPr>
          </a:p>
          <a:p>
            <a:pPr marL="342900" indent="-342900">
              <a:lnSpc>
                <a:spcPct val="85000"/>
              </a:lnSpc>
              <a:spcBef>
                <a:spcPct val="20000"/>
              </a:spcBef>
              <a:buChar char="•"/>
            </a:pPr>
            <a:endParaRPr sz="2000" dirty="0">
              <a:solidFill>
                <a:schemeClr val="tx1"/>
              </a:solidFill>
              <a:latin typeface="Helvetica" charset="0"/>
            </a:endParaRPr>
          </a:p>
          <a:p>
            <a:pPr marL="342900" indent="-342900">
              <a:lnSpc>
                <a:spcPct val="85000"/>
              </a:lnSpc>
              <a:spcBef>
                <a:spcPct val="20000"/>
              </a:spcBef>
              <a:buChar char="•"/>
            </a:pPr>
            <a:r>
              <a:rPr sz="2000" dirty="0">
                <a:solidFill>
                  <a:schemeClr val="tx1"/>
                </a:solidFill>
                <a:latin typeface="Helvetica" charset="0"/>
              </a:rPr>
              <a:t>Microsoft Windows Popups</a:t>
            </a:r>
            <a:endParaRPr sz="2000" dirty="0">
              <a:solidFill>
                <a:schemeClr val="tx1"/>
              </a:solidFill>
              <a:latin typeface="Helvetica" charset="0"/>
            </a:endParaRPr>
          </a:p>
          <a:p>
            <a:pPr marL="342900" indent="-342900">
              <a:lnSpc>
                <a:spcPct val="85000"/>
              </a:lnSpc>
              <a:spcBef>
                <a:spcPct val="20000"/>
              </a:spcBef>
              <a:buChar char="•"/>
            </a:pPr>
            <a:endParaRPr sz="2000" dirty="0">
              <a:solidFill>
                <a:schemeClr val="tx1"/>
              </a:solidFill>
              <a:latin typeface="Helvetica" charset="0"/>
            </a:endParaRPr>
          </a:p>
          <a:p>
            <a:pPr marL="342900" indent="-342900">
              <a:lnSpc>
                <a:spcPct val="85000"/>
              </a:lnSpc>
              <a:spcBef>
                <a:spcPct val="20000"/>
              </a:spcBef>
              <a:buChar char="•"/>
            </a:pPr>
            <a:r>
              <a:rPr sz="2000" dirty="0">
                <a:solidFill>
                  <a:schemeClr val="tx1"/>
                </a:solidFill>
                <a:latin typeface="Helvetica" charset="0"/>
              </a:rPr>
              <a:t>Telnet/SSH/SSC access to NAS node CLI</a:t>
            </a:r>
            <a:endParaRPr sz="2000" dirty="0">
              <a:solidFill>
                <a:schemeClr val="tx1"/>
              </a:solidFill>
              <a:latin typeface="Helvetica" charset="0"/>
            </a:endParaRPr>
          </a:p>
        </p:txBody>
      </p:sp>
      <p:pic>
        <p:nvPicPr>
          <p:cNvPr id="95235" name="Picture 4" descr="education"/>
          <p:cNvPicPr>
            <a:picLocks noChangeAspect="1"/>
          </p:cNvPicPr>
          <p:nvPr/>
        </p:nvPicPr>
        <p:blipFill>
          <a:blip r:embed="rId1"/>
          <a:stretch>
            <a:fillRect/>
          </a:stretch>
        </p:blipFill>
        <p:spPr>
          <a:xfrm>
            <a:off x="5486400" y="1219200"/>
            <a:ext cx="3124200" cy="2082800"/>
          </a:xfrm>
          <a:prstGeom prst="rect">
            <a:avLst/>
          </a:prstGeom>
          <a:noFill/>
          <a:ln w="9525" cap="flat" cmpd="sng">
            <a:solidFill>
              <a:schemeClr val="tx1"/>
            </a:solidFill>
            <a:prstDash val="solid"/>
            <a:miter/>
            <a:headEnd type="none" w="med" len="med"/>
            <a:tailEnd type="none" w="med" len="med"/>
          </a:ln>
        </p:spPr>
      </p:pic>
    </p:spTree>
  </p:cSld>
  <p:clrMapOvr>
    <a:masterClrMapping/>
  </p:clrMapOvr>
  <p:transition/>
</p:sld>
</file>

<file path=ppt/theme/theme1.xml><?xml version="1.0" encoding="utf-8"?>
<a:theme xmlns:a="http://schemas.openxmlformats.org/drawingml/2006/main" name="Blank">
  <a:themeElements>
    <a:clrScheme name="Blank 1">
      <a:dk1>
        <a:srgbClr val="000000"/>
      </a:dk1>
      <a:lt1>
        <a:srgbClr val="FFFFFF"/>
      </a:lt1>
      <a:dk2>
        <a:srgbClr val="000000"/>
      </a:dk2>
      <a:lt2>
        <a:srgbClr val="969696"/>
      </a:lt2>
      <a:accent1>
        <a:srgbClr val="CC0000"/>
      </a:accent1>
      <a:accent2>
        <a:srgbClr val="990000"/>
      </a:accent2>
      <a:accent3>
        <a:srgbClr val="FFFFFF"/>
      </a:accent3>
      <a:accent4>
        <a:srgbClr val="000000"/>
      </a:accent4>
      <a:accent5>
        <a:srgbClr val="E2AAAA"/>
      </a:accent5>
      <a:accent6>
        <a:srgbClr val="8A0000"/>
      </a:accent6>
      <a:hlink>
        <a:srgbClr val="66CC00"/>
      </a:hlink>
      <a:folHlink>
        <a:srgbClr val="006633"/>
      </a:folHlink>
    </a:clrScheme>
    <a:fontScheme name="Blank">
      <a:majorFont>
        <a:latin typeface="Helvetica"/>
        <a:ea typeface="HGPSoeiKakugothicUB"/>
        <a:cs typeface=""/>
      </a:majorFont>
      <a:minorFont>
        <a:latin typeface="Helvetica"/>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381000" marR="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kumimoji="1" lang="en-US" sz="1800" b="0" i="0" u="none" strike="noStrike" cap="none" normalizeH="0" baseline="0" smtClean="0">
            <a:ln>
              <a:noFill/>
            </a:ln>
            <a:solidFill>
              <a:srgbClr val="333333"/>
            </a:solidFill>
            <a:effectLst/>
            <a:latin typeface="Arial" panose="020B0604020202020204" pitchFamily="34" charset="0"/>
            <a:ea typeface="MS PGothic" charset="-128"/>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381000" marR="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kumimoji="1" lang="en-US" sz="1800" b="0" i="0" u="none" strike="noStrike" cap="none" normalizeH="0" baseline="0" smtClean="0">
            <a:ln>
              <a:noFill/>
            </a:ln>
            <a:solidFill>
              <a:srgbClr val="333333"/>
            </a:solidFill>
            <a:effectLst/>
            <a:latin typeface="Arial" panose="020B0604020202020204" pitchFamily="34" charset="0"/>
            <a:ea typeface="MS PGothic" charset="-128"/>
          </a:defRPr>
        </a:defPPr>
      </a:lstStyle>
    </a:lnDef>
  </a:objectDefaults>
  <a:extraClrSchemeLst>
    <a:extraClrScheme>
      <a:clrScheme name="Blank 1">
        <a:dk1>
          <a:srgbClr val="000000"/>
        </a:dk1>
        <a:lt1>
          <a:srgbClr val="FFFFFF"/>
        </a:lt1>
        <a:dk2>
          <a:srgbClr val="000000"/>
        </a:dk2>
        <a:lt2>
          <a:srgbClr val="969696"/>
        </a:lt2>
        <a:accent1>
          <a:srgbClr val="CC0000"/>
        </a:accent1>
        <a:accent2>
          <a:srgbClr val="990000"/>
        </a:accent2>
        <a:accent3>
          <a:srgbClr val="FFFFFF"/>
        </a:accent3>
        <a:accent4>
          <a:srgbClr val="000000"/>
        </a:accent4>
        <a:accent5>
          <a:srgbClr val="E2AAAA"/>
        </a:accent5>
        <a:accent6>
          <a:srgbClr val="8A0000"/>
        </a:accent6>
        <a:hlink>
          <a:srgbClr val="66CC00"/>
        </a:hlink>
        <a:folHlink>
          <a:srgbClr val="00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Custom Design">
  <a:themeElements>
    <a:clrScheme name="7_Custom Design 1">
      <a:dk1>
        <a:srgbClr val="000000"/>
      </a:dk1>
      <a:lt1>
        <a:srgbClr val="FFFFFF"/>
      </a:lt1>
      <a:dk2>
        <a:srgbClr val="000000"/>
      </a:dk2>
      <a:lt2>
        <a:srgbClr val="969696"/>
      </a:lt2>
      <a:accent1>
        <a:srgbClr val="CC0000"/>
      </a:accent1>
      <a:accent2>
        <a:srgbClr val="990000"/>
      </a:accent2>
      <a:accent3>
        <a:srgbClr val="FFFFFF"/>
      </a:accent3>
      <a:accent4>
        <a:srgbClr val="000000"/>
      </a:accent4>
      <a:accent5>
        <a:srgbClr val="E2AAAA"/>
      </a:accent5>
      <a:accent6>
        <a:srgbClr val="8A0000"/>
      </a:accent6>
      <a:hlink>
        <a:srgbClr val="66CC00"/>
      </a:hlink>
      <a:folHlink>
        <a:srgbClr val="006633"/>
      </a:folHlink>
    </a:clrScheme>
    <a:fontScheme name="7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381000" marR="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kumimoji="1" lang="en-US" sz="1800" b="0" i="0" u="none" strike="noStrike" cap="none" normalizeH="0" baseline="0" smtClean="0">
            <a:ln>
              <a:noFill/>
            </a:ln>
            <a:solidFill>
              <a:srgbClr val="333333"/>
            </a:solidFill>
            <a:effectLst/>
            <a:latin typeface="Arial" panose="020B0604020202020204" pitchFamily="34" charset="0"/>
            <a:ea typeface="MS PGothic" charset="-128"/>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381000" marR="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kumimoji="1" lang="en-US" sz="1800" b="0" i="0" u="none" strike="noStrike" cap="none" normalizeH="0" baseline="0" smtClean="0">
            <a:ln>
              <a:noFill/>
            </a:ln>
            <a:solidFill>
              <a:srgbClr val="333333"/>
            </a:solidFill>
            <a:effectLst/>
            <a:latin typeface="Arial" panose="020B0604020202020204" pitchFamily="34" charset="0"/>
            <a:ea typeface="MS PGothic" charset="-128"/>
          </a:defRPr>
        </a:defPPr>
      </a:lstStyle>
    </a:lnDef>
  </a:objectDefaults>
  <a:extraClrSchemeLst>
    <a:extraClrScheme>
      <a:clrScheme name="7_Custom Design 1">
        <a:dk1>
          <a:srgbClr val="000000"/>
        </a:dk1>
        <a:lt1>
          <a:srgbClr val="FFFFFF"/>
        </a:lt1>
        <a:dk2>
          <a:srgbClr val="000000"/>
        </a:dk2>
        <a:lt2>
          <a:srgbClr val="969696"/>
        </a:lt2>
        <a:accent1>
          <a:srgbClr val="CC0000"/>
        </a:accent1>
        <a:accent2>
          <a:srgbClr val="990000"/>
        </a:accent2>
        <a:accent3>
          <a:srgbClr val="FFFFFF"/>
        </a:accent3>
        <a:accent4>
          <a:srgbClr val="000000"/>
        </a:accent4>
        <a:accent5>
          <a:srgbClr val="E2AAAA"/>
        </a:accent5>
        <a:accent6>
          <a:srgbClr val="8A0000"/>
        </a:accent6>
        <a:hlink>
          <a:srgbClr val="66CC00"/>
        </a:hlink>
        <a:folHlink>
          <a:srgbClr val="00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8_Custom Design">
  <a:themeElements>
    <a:clrScheme name="8_Custom Design 1">
      <a:dk1>
        <a:srgbClr val="000000"/>
      </a:dk1>
      <a:lt1>
        <a:srgbClr val="FFFFFF"/>
      </a:lt1>
      <a:dk2>
        <a:srgbClr val="000000"/>
      </a:dk2>
      <a:lt2>
        <a:srgbClr val="969696"/>
      </a:lt2>
      <a:accent1>
        <a:srgbClr val="CC0000"/>
      </a:accent1>
      <a:accent2>
        <a:srgbClr val="990000"/>
      </a:accent2>
      <a:accent3>
        <a:srgbClr val="FFFFFF"/>
      </a:accent3>
      <a:accent4>
        <a:srgbClr val="000000"/>
      </a:accent4>
      <a:accent5>
        <a:srgbClr val="E2AAAA"/>
      </a:accent5>
      <a:accent6>
        <a:srgbClr val="8A0000"/>
      </a:accent6>
      <a:hlink>
        <a:srgbClr val="66CC00"/>
      </a:hlink>
      <a:folHlink>
        <a:srgbClr val="006633"/>
      </a:folHlink>
    </a:clrScheme>
    <a:fontScheme name="8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381000" marR="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kumimoji="1" lang="en-US" sz="1800" b="0" i="0" u="none" strike="noStrike" cap="none" normalizeH="0" baseline="0" smtClean="0">
            <a:ln>
              <a:noFill/>
            </a:ln>
            <a:solidFill>
              <a:srgbClr val="333333"/>
            </a:solidFill>
            <a:effectLst/>
            <a:latin typeface="Arial" panose="020B0604020202020204" pitchFamily="34" charset="0"/>
            <a:ea typeface="MS PGothic" charset="-128"/>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381000" marR="0" indent="-381000" algn="l" defTabSz="914400" rtl="0" eaLnBrk="1" fontAlgn="base" latinLnBrk="0" hangingPunct="1">
          <a:lnSpc>
            <a:spcPct val="100000"/>
          </a:lnSpc>
          <a:spcBef>
            <a:spcPct val="20000"/>
          </a:spcBef>
          <a:spcAft>
            <a:spcPct val="0"/>
          </a:spcAft>
          <a:buClrTx/>
          <a:buSzTx/>
          <a:buFontTx/>
          <a:buChar char="•"/>
          <a:tabLst>
            <a:tab pos="2245995" algn="l"/>
            <a:tab pos="2514600" algn="l"/>
          </a:tabLst>
          <a:defRPr kumimoji="1" lang="en-US" sz="1800" b="0" i="0" u="none" strike="noStrike" cap="none" normalizeH="0" baseline="0" smtClean="0">
            <a:ln>
              <a:noFill/>
            </a:ln>
            <a:solidFill>
              <a:srgbClr val="333333"/>
            </a:solidFill>
            <a:effectLst/>
            <a:latin typeface="Arial" panose="020B0604020202020204" pitchFamily="34" charset="0"/>
            <a:ea typeface="MS PGothic" charset="-128"/>
          </a:defRPr>
        </a:defPPr>
      </a:lstStyle>
    </a:lnDef>
  </a:objectDefaults>
  <a:extraClrSchemeLst>
    <a:extraClrScheme>
      <a:clrScheme name="8_Custom Design 1">
        <a:dk1>
          <a:srgbClr val="000000"/>
        </a:dk1>
        <a:lt1>
          <a:srgbClr val="FFFFFF"/>
        </a:lt1>
        <a:dk2>
          <a:srgbClr val="000000"/>
        </a:dk2>
        <a:lt2>
          <a:srgbClr val="969696"/>
        </a:lt2>
        <a:accent1>
          <a:srgbClr val="CC0000"/>
        </a:accent1>
        <a:accent2>
          <a:srgbClr val="990000"/>
        </a:accent2>
        <a:accent3>
          <a:srgbClr val="FFFFFF"/>
        </a:accent3>
        <a:accent4>
          <a:srgbClr val="000000"/>
        </a:accent4>
        <a:accent5>
          <a:srgbClr val="E2AAAA"/>
        </a:accent5>
        <a:accent6>
          <a:srgbClr val="8A0000"/>
        </a:accent6>
        <a:hlink>
          <a:srgbClr val="66CC00"/>
        </a:hlink>
        <a:folHlink>
          <a:srgbClr val="00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23767</Words>
  <Application>WPS Presentation</Application>
  <PresentationFormat>On-screen Show (4:3)</PresentationFormat>
  <Paragraphs>1240</Paragraphs>
  <Slides>44</Slides>
  <Notes>44</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44</vt:i4>
      </vt:variant>
    </vt:vector>
  </HeadingPairs>
  <TitlesOfParts>
    <vt:vector size="62" baseType="lpstr">
      <vt:lpstr>Arial</vt:lpstr>
      <vt:lpstr>SimSun</vt:lpstr>
      <vt:lpstr>Wingdings</vt:lpstr>
      <vt:lpstr>MS PGothic</vt:lpstr>
      <vt:lpstr>Droid Sans Fallback</vt:lpstr>
      <vt:lpstr>Helvetica</vt:lpstr>
      <vt:lpstr>MS PGothic</vt:lpstr>
      <vt:lpstr>Gubbi</vt:lpstr>
      <vt:lpstr>Tahoma</vt:lpstr>
      <vt:lpstr>DejaVu Sans</vt:lpstr>
      <vt:lpstr>MS PGothic</vt:lpstr>
      <vt:lpstr>HGP創英角ｺﾞｼｯｸUB</vt:lpstr>
      <vt:lpstr>HGPSoeiKakugothicUB</vt:lpstr>
      <vt:lpstr>Microsoft YaHei</vt:lpstr>
      <vt:lpstr>Arial Unicode MS</vt:lpstr>
      <vt:lpstr>Blank</vt:lpstr>
      <vt:lpstr>7_Custom Design</vt:lpstr>
      <vt:lpstr>8_Custom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Hitachi Data Systems</Company>
  <LinksUpToDate>false</LinksUpToDate>
  <SharedDoc>false</SharedDoc>
  <HyperlinksChanged>false</HyperlinksChanged>
  <AppVersion>14.0000</AppVersion>
  <Manager>George Pamboris</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Hitachi NAS 3080/3090 Technical Presentation</dc:title>
  <dc:creator>John Dupuis</dc:creator>
  <cp:keywords>NAS, HNAS, MetroCluster, IP replication</cp:keywords>
  <dc:subject>Technical Presentation</dc:subject>
  <cp:category>NAS</cp:category>
  <cp:lastModifiedBy>Cem Tan</cp:lastModifiedBy>
  <cp:revision>237</cp:revision>
  <dcterms:created xsi:type="dcterms:W3CDTF">2023-05-04T12:58:34Z</dcterms:created>
  <dcterms:modified xsi:type="dcterms:W3CDTF">2023-05-04T12:58:34Z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0x0101006C5A2EA7A3966A418C0721493C773217</vt:lpwstr>
  </property>
  <property fmtid="{D5CDD505-2E9C-101B-9397-08002B2CF9AE}" pid="3" name="ICV">
    <vt:lpwstr/>
  </property>
  <property fmtid="{D5CDD505-2E9C-101B-9397-08002B2CF9AE}" pid="4" name="KSOProductBuildVer">
    <vt:lpwstr>1033-11.1.0.11698</vt:lpwstr>
  </property>
</Properties>
</file>