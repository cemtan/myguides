
<file path=[Content_Types].xml><?xml version="1.0" encoding="utf-8"?>
<Types xmlns="http://schemas.openxmlformats.org/package/2006/content-types">
  <Default ContentType="image/png" Extension="png"/>
  <Default ContentType="image/x-emf" Extension="emf"/>
  <Default ContentType="image/jpeg" Extension="jpeg"/>
  <Default ContentType="application/vnd.openxmlformats-package.relationships+xml" Extension="rels"/>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notesMaster+xml" PartName="/ppt/notesMasters/notesMaster1.xml"/>
  <Override ContentType="application/vnd.openxmlformats-officedocument.presentationml.handoutMaster+xml" PartName="/ppt/handoutMasters/handoutMaster1.xml"/>
  <Override ContentType="application/vnd.openxmlformats-officedocument.presentationml.tags+xml" PartName="/ppt/tags/tag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theme+xml" PartName="/ppt/theme/theme2.xml"/>
  <Override ContentType="application/vnd.openxmlformats-officedocument.theme+xml" PartName="/ppt/theme/theme3.xml"/>
  <Override ContentType="application/vnd.openxmlformats-officedocument.presentationml.tags+xml" PartName="/ppt/tags/tag2.xml"/>
  <Override ContentType="application/vnd.openxmlformats-officedocument.presentationml.notesSlide+xml" PartName="/ppt/notesSlides/notesSlide1.xml"/>
  <Override ContentType="application/vnd.openxmlformats-officedocument.presentationml.tags+xml" PartName="/ppt/tags/tag3.xml"/>
  <Override ContentType="application/vnd.openxmlformats-officedocument.presentationml.tags+xml" PartName="/ppt/tags/tag4.xml"/>
  <Override ContentType="application/vnd.openxmlformats-officedocument.presentationml.tags+xml" PartName="/ppt/tags/tag5.xml"/>
  <Override ContentType="application/vnd.openxmlformats-officedocument.presentationml.tags+xml" PartName="/ppt/tags/tag6.xml"/>
  <Override ContentType="application/vnd.openxmlformats-officedocument.presentationml.notesSlide+xml" PartName="/ppt/notesSlides/notesSlide2.xml"/>
  <Override ContentType="application/vnd.openxmlformats-officedocument.presentationml.tags+xml" PartName="/ppt/tags/tag7.xml"/>
  <Override ContentType="application/vnd.openxmlformats-officedocument.presentationml.tags+xml" PartName="/ppt/tags/tag8.xml"/>
  <Override ContentType="application/vnd.openxmlformats-officedocument.presentationml.tags+xml" PartName="/ppt/tags/tag9.xml"/>
  <Override ContentType="application/vnd.openxmlformats-officedocument.presentationml.tags+xml" PartName="/ppt/tags/tag10.xml"/>
  <Override ContentType="application/vnd.openxmlformats-officedocument.presentationml.tags+xml" PartName="/ppt/tags/tag11.xml"/>
  <Override ContentType="application/vnd.openxmlformats-officedocument.presentationml.tags+xml" PartName="/ppt/tags/tag12.xml"/>
  <Override ContentType="application/vnd.openxmlformats-officedocument.presentationml.tags+xml" PartName="/ppt/tags/tag13.xml"/>
  <Override ContentType="application/vnd.openxmlformats-officedocument.presentationml.notesSlide+xml" PartName="/ppt/notesSlides/notesSlide3.xml"/>
  <Override ContentType="application/vnd.openxmlformats-officedocument.presentationml.tags+xml" PartName="/ppt/tags/tag14.xml"/>
  <Override ContentType="application/vnd.openxmlformats-officedocument.presentationml.notesSlide+xml" PartName="/ppt/notesSlides/notesSlide4.xml"/>
  <Override ContentType="application/vnd.openxmlformats-officedocument.presentationml.tags+xml" PartName="/ppt/tags/tag15.xml"/>
  <Override ContentType="application/vnd.openxmlformats-officedocument.presentationml.notesSlide+xml" PartName="/ppt/notesSlides/notesSlide5.xml"/>
  <Override ContentType="application/vnd.openxmlformats-officedocument.presentationml.tags+xml" PartName="/ppt/tags/tag16.xml"/>
  <Override ContentType="application/vnd.openxmlformats-officedocument.presentationml.tags+xml" PartName="/ppt/tags/tag17.xml"/>
  <Override ContentType="application/vnd.openxmlformats-officedocument.presentationml.tags+xml" PartName="/ppt/tags/tag18.xml"/>
  <Override ContentType="application/vnd.openxmlformats-officedocument.presentationml.notesSlide+xml" PartName="/ppt/notesSlides/notesSlide6.xml"/>
  <Override ContentType="application/vnd.openxmlformats-officedocument.presentationml.tags+xml" PartName="/ppt/tags/tag19.xml"/>
  <Override ContentType="application/vnd.openxmlformats-officedocument.presentationml.tags+xml" PartName="/ppt/tags/tag20.xml"/>
  <Override ContentType="application/vnd.openxmlformats-officedocument.presentationml.tags+xml" PartName="/ppt/tags/tag21.xml"/>
  <Override ContentType="application/vnd.openxmlformats-officedocument.presentationml.notesSlide+xml" PartName="/ppt/notesSlides/notesSlide7.xml"/>
  <Override ContentType="application/vnd.openxmlformats-officedocument.presentationml.tags+xml" PartName="/ppt/tags/tag22.xml"/>
  <Override ContentType="application/vnd.openxmlformats-officedocument.presentationml.tags+xml" PartName="/ppt/tags/tag23.xml"/>
  <Override ContentType="application/vnd.openxmlformats-officedocument.presentationml.tags+xml" PartName="/ppt/tags/tag24.xml"/>
  <Override ContentType="application/vnd.openxmlformats-officedocument.presentationml.tags+xml" PartName="/ppt/tags/tag25.xml"/>
  <Override ContentType="application/vnd.openxmlformats-officedocument.presentationml.tags+xml" PartName="/ppt/tags/tag26.xml"/>
  <Override ContentType="application/vnd.openxmlformats-officedocument.presentationml.tags+xml" PartName="/ppt/tags/tag27.xml"/>
  <Override ContentType="application/vnd.openxmlformats-officedocument.presentationml.notesSlide+xml" PartName="/ppt/notesSlides/notesSlide8.xml"/>
  <Override ContentType="application/vnd.openxmlformats-officedocument.presentationml.tags+xml" PartName="/ppt/tags/tag28.xml"/>
  <Override ContentType="application/vnd.openxmlformats-officedocument.presentationml.notesSlide+xml" PartName="/ppt/notesSlides/notesSlide9.xml"/>
  <Override ContentType="application/vnd.openxmlformats-officedocument.presentationml.tags+xml" PartName="/ppt/tags/tag29.xml"/>
  <Override ContentType="application/vnd.openxmlformats-officedocument.presentationml.notesSlide+xml" PartName="/ppt/notesSlides/notesSlide10.xml"/>
  <Override ContentType="application/vnd.openxmlformats-officedocument.presentationml.tags+xml" PartName="/ppt/tags/tag30.xml"/>
  <Override ContentType="application/vnd.openxmlformats-officedocument.presentationml.notesSlide+xml" PartName="/ppt/notesSlides/notesSlide11.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300" r:id="rId2"/>
    <p:sldId id="341" r:id="rId3"/>
    <p:sldId id="340" r:id="rId4"/>
    <p:sldId id="330" r:id="rId5"/>
    <p:sldId id="343" r:id="rId6"/>
    <p:sldId id="312" r:id="rId7"/>
    <p:sldId id="313" r:id="rId8"/>
    <p:sldId id="332" r:id="rId9"/>
    <p:sldId id="314" r:id="rId10"/>
    <p:sldId id="315" r:id="rId11"/>
    <p:sldId id="333" r:id="rId12"/>
    <p:sldId id="316" r:id="rId13"/>
    <p:sldId id="344" r:id="rId14"/>
    <p:sldId id="342" r:id="rId15"/>
    <p:sldId id="334" r:id="rId16"/>
    <p:sldId id="318" r:id="rId17"/>
    <p:sldId id="319" r:id="rId18"/>
    <p:sldId id="320" r:id="rId19"/>
    <p:sldId id="321" r:id="rId20"/>
    <p:sldId id="322" r:id="rId21"/>
    <p:sldId id="345" r:id="rId22"/>
    <p:sldId id="323" r:id="rId23"/>
    <p:sldId id="338" r:id="rId24"/>
    <p:sldId id="325" r:id="rId25"/>
    <p:sldId id="337" r:id="rId26"/>
    <p:sldId id="326" r:id="rId27"/>
    <p:sldId id="336" r:id="rId28"/>
    <p:sldId id="281" r:id="rId29"/>
    <p:sldId id="306" r:id="rId30"/>
  </p:sldIdLst>
  <p:sldSz cx="9144000" cy="5143500" type="screen16x9"/>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8DC"/>
    <a:srgbClr val="A4CE4E"/>
    <a:srgbClr val="731A7F"/>
    <a:srgbClr val="414141"/>
    <a:srgbClr val="DB2E16"/>
    <a:srgbClr val="F9E547"/>
    <a:srgbClr val="000000"/>
    <a:srgbClr val="8F1A95"/>
    <a:srgbClr val="737373"/>
    <a:srgbClr val="4C4C4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40" autoAdjust="0"/>
    <p:restoredTop sz="78849" autoAdjust="0"/>
  </p:normalViewPr>
  <p:slideViewPr>
    <p:cSldViewPr snapToGrid="0" snapToObjects="1" showGuides="1">
      <p:cViewPr varScale="1">
        <p:scale>
          <a:sx n="124" d="100"/>
          <a:sy n="124" d="100"/>
        </p:scale>
        <p:origin x="-468" y="-102"/>
      </p:cViewPr>
      <p:guideLst>
        <p:guide orient="horz" pos="226"/>
        <p:guide orient="horz" pos="150"/>
        <p:guide orient="horz" pos="1278"/>
        <p:guide orient="horz" pos="2844"/>
        <p:guide orient="horz" pos="696"/>
        <p:guide orient="horz" pos="2423"/>
        <p:guide orient="horz" pos="2960"/>
        <p:guide pos="2932"/>
        <p:guide pos="372"/>
        <p:guide pos="4638"/>
        <p:guide pos="5617"/>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99" d="100"/>
          <a:sy n="99" d="100"/>
        </p:scale>
        <p:origin x="-3540" y="-96"/>
      </p:cViewPr>
      <p:guideLst>
        <p:guide orient="horz" pos="2880"/>
        <p:guide pos="2160"/>
        <p:guide pos="173"/>
        <p:guide pos="414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8B3F974-BB90-4059-9901-8147A3A63439}" type="datetimeFigureOut">
              <a:rPr lang="en-US" smtClean="0"/>
              <a:pPr/>
              <a:t>2014-08-28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55FBB6-509D-433A-BC0A-FC2E7C728BAD}" type="slidenum">
              <a:rPr lang="en-US" smtClean="0"/>
              <a:pPr/>
              <a:t>‹#›</a:t>
            </a:fld>
            <a:endParaRPr lang="en-US"/>
          </a:p>
        </p:txBody>
      </p:sp>
    </p:spTree>
    <p:extLst>
      <p:ext uri="{BB962C8B-B14F-4D97-AF65-F5344CB8AC3E}">
        <p14:creationId xmlns:p14="http://schemas.microsoft.com/office/powerpoint/2010/main" val="397338065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84200" y="849313"/>
            <a:ext cx="5689600" cy="32004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5010" y="4236396"/>
            <a:ext cx="6414557"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43"/>
          <p:cNvSpPr>
            <a:spLocks noChangeArrowheads="1"/>
          </p:cNvSpPr>
          <p:nvPr/>
        </p:nvSpPr>
        <p:spPr bwMode="auto">
          <a:xfrm>
            <a:off x="5748942" y="566532"/>
            <a:ext cx="1109058" cy="116427"/>
          </a:xfrm>
          <a:prstGeom prst="rect">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13" name="Rectangle 41"/>
          <p:cNvSpPr>
            <a:spLocks noChangeArrowheads="1"/>
          </p:cNvSpPr>
          <p:nvPr/>
        </p:nvSpPr>
        <p:spPr bwMode="auto">
          <a:xfrm>
            <a:off x="3201" y="566532"/>
            <a:ext cx="5745740" cy="11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grpSp>
        <p:nvGrpSpPr>
          <p:cNvPr id="14" name="Group 13"/>
          <p:cNvGrpSpPr/>
          <p:nvPr/>
        </p:nvGrpSpPr>
        <p:grpSpPr>
          <a:xfrm>
            <a:off x="5867808" y="232999"/>
            <a:ext cx="873369" cy="251284"/>
            <a:chOff x="7823590" y="310702"/>
            <a:chExt cx="1164628" cy="335085"/>
          </a:xfrm>
        </p:grpSpPr>
        <p:grpSp>
          <p:nvGrpSpPr>
            <p:cNvPr id="15" name="Group 5"/>
            <p:cNvGrpSpPr>
              <a:grpSpLocks noChangeAspect="1"/>
            </p:cNvGrpSpPr>
            <p:nvPr userDrawn="1"/>
          </p:nvGrpSpPr>
          <p:grpSpPr bwMode="auto">
            <a:xfrm>
              <a:off x="7823590" y="310702"/>
              <a:ext cx="1164628" cy="335085"/>
              <a:chOff x="3182" y="1394"/>
              <a:chExt cx="855" cy="246"/>
            </a:xfrm>
          </p:grpSpPr>
          <p:sp>
            <p:nvSpPr>
              <p:cNvPr id="17" name="Freeform 16"/>
              <p:cNvSpPr>
                <a:spLocks/>
              </p:cNvSpPr>
              <p:nvPr/>
            </p:nvSpPr>
            <p:spPr bwMode="auto">
              <a:xfrm>
                <a:off x="3810" y="1397"/>
                <a:ext cx="123" cy="115"/>
              </a:xfrm>
              <a:custGeom>
                <a:avLst/>
                <a:gdLst>
                  <a:gd name="T0" fmla="*/ 31 w 123"/>
                  <a:gd name="T1" fmla="*/ 0 h 115"/>
                  <a:gd name="T2" fmla="*/ 31 w 123"/>
                  <a:gd name="T3" fmla="*/ 47 h 115"/>
                  <a:gd name="T4" fmla="*/ 92 w 123"/>
                  <a:gd name="T5" fmla="*/ 47 h 115"/>
                  <a:gd name="T6" fmla="*/ 92 w 123"/>
                  <a:gd name="T7" fmla="*/ 0 h 115"/>
                  <a:gd name="T8" fmla="*/ 123 w 123"/>
                  <a:gd name="T9" fmla="*/ 0 h 115"/>
                  <a:gd name="T10" fmla="*/ 123 w 123"/>
                  <a:gd name="T11" fmla="*/ 115 h 115"/>
                  <a:gd name="T12" fmla="*/ 92 w 123"/>
                  <a:gd name="T13" fmla="*/ 115 h 115"/>
                  <a:gd name="T14" fmla="*/ 92 w 123"/>
                  <a:gd name="T15" fmla="*/ 64 h 115"/>
                  <a:gd name="T16" fmla="*/ 31 w 123"/>
                  <a:gd name="T17" fmla="*/ 64 h 115"/>
                  <a:gd name="T18" fmla="*/ 31 w 123"/>
                  <a:gd name="T19" fmla="*/ 115 h 115"/>
                  <a:gd name="T20" fmla="*/ 0 w 123"/>
                  <a:gd name="T21" fmla="*/ 115 h 115"/>
                  <a:gd name="T22" fmla="*/ 0 w 123"/>
                  <a:gd name="T23" fmla="*/ 0 h 115"/>
                  <a:gd name="T24" fmla="*/ 31 w 123"/>
                  <a:gd name="T25"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115">
                    <a:moveTo>
                      <a:pt x="31" y="0"/>
                    </a:moveTo>
                    <a:lnTo>
                      <a:pt x="31" y="47"/>
                    </a:lnTo>
                    <a:lnTo>
                      <a:pt x="92" y="47"/>
                    </a:lnTo>
                    <a:lnTo>
                      <a:pt x="92" y="0"/>
                    </a:lnTo>
                    <a:lnTo>
                      <a:pt x="123" y="0"/>
                    </a:lnTo>
                    <a:lnTo>
                      <a:pt x="123" y="115"/>
                    </a:lnTo>
                    <a:lnTo>
                      <a:pt x="92" y="115"/>
                    </a:lnTo>
                    <a:lnTo>
                      <a:pt x="92" y="64"/>
                    </a:lnTo>
                    <a:lnTo>
                      <a:pt x="31" y="64"/>
                    </a:lnTo>
                    <a:lnTo>
                      <a:pt x="31" y="115"/>
                    </a:lnTo>
                    <a:lnTo>
                      <a:pt x="0" y="115"/>
                    </a:lnTo>
                    <a:lnTo>
                      <a:pt x="0" y="0"/>
                    </a:lnTo>
                    <a:lnTo>
                      <a:pt x="31" y="0"/>
                    </a:ln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18" name="Freeform 17"/>
              <p:cNvSpPr>
                <a:spLocks/>
              </p:cNvSpPr>
              <p:nvPr/>
            </p:nvSpPr>
            <p:spPr bwMode="auto">
              <a:xfrm>
                <a:off x="3810" y="1397"/>
                <a:ext cx="123" cy="115"/>
              </a:xfrm>
              <a:custGeom>
                <a:avLst/>
                <a:gdLst>
                  <a:gd name="T0" fmla="*/ 31 w 123"/>
                  <a:gd name="T1" fmla="*/ 0 h 115"/>
                  <a:gd name="T2" fmla="*/ 31 w 123"/>
                  <a:gd name="T3" fmla="*/ 47 h 115"/>
                  <a:gd name="T4" fmla="*/ 92 w 123"/>
                  <a:gd name="T5" fmla="*/ 47 h 115"/>
                  <a:gd name="T6" fmla="*/ 92 w 123"/>
                  <a:gd name="T7" fmla="*/ 0 h 115"/>
                  <a:gd name="T8" fmla="*/ 123 w 123"/>
                  <a:gd name="T9" fmla="*/ 0 h 115"/>
                  <a:gd name="T10" fmla="*/ 123 w 123"/>
                  <a:gd name="T11" fmla="*/ 115 h 115"/>
                  <a:gd name="T12" fmla="*/ 92 w 123"/>
                  <a:gd name="T13" fmla="*/ 115 h 115"/>
                  <a:gd name="T14" fmla="*/ 92 w 123"/>
                  <a:gd name="T15" fmla="*/ 64 h 115"/>
                  <a:gd name="T16" fmla="*/ 31 w 123"/>
                  <a:gd name="T17" fmla="*/ 64 h 115"/>
                  <a:gd name="T18" fmla="*/ 31 w 123"/>
                  <a:gd name="T19" fmla="*/ 115 h 115"/>
                  <a:gd name="T20" fmla="*/ 0 w 123"/>
                  <a:gd name="T21" fmla="*/ 115 h 115"/>
                  <a:gd name="T22" fmla="*/ 0 w 123"/>
                  <a:gd name="T23" fmla="*/ 0 h 115"/>
                  <a:gd name="T24" fmla="*/ 31 w 123"/>
                  <a:gd name="T25"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115">
                    <a:moveTo>
                      <a:pt x="31" y="0"/>
                    </a:moveTo>
                    <a:lnTo>
                      <a:pt x="31" y="47"/>
                    </a:lnTo>
                    <a:lnTo>
                      <a:pt x="92" y="47"/>
                    </a:lnTo>
                    <a:lnTo>
                      <a:pt x="92" y="0"/>
                    </a:lnTo>
                    <a:lnTo>
                      <a:pt x="123" y="0"/>
                    </a:lnTo>
                    <a:lnTo>
                      <a:pt x="123" y="115"/>
                    </a:lnTo>
                    <a:lnTo>
                      <a:pt x="92" y="115"/>
                    </a:lnTo>
                    <a:lnTo>
                      <a:pt x="92" y="64"/>
                    </a:lnTo>
                    <a:lnTo>
                      <a:pt x="31" y="64"/>
                    </a:lnTo>
                    <a:lnTo>
                      <a:pt x="31" y="115"/>
                    </a:lnTo>
                    <a:lnTo>
                      <a:pt x="0" y="115"/>
                    </a:lnTo>
                    <a:lnTo>
                      <a:pt x="0" y="0"/>
                    </a:lnTo>
                    <a:lnTo>
                      <a:pt x="31" y="0"/>
                    </a:ln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19" name="Freeform 18"/>
              <p:cNvSpPr>
                <a:spLocks/>
              </p:cNvSpPr>
              <p:nvPr/>
            </p:nvSpPr>
            <p:spPr bwMode="auto">
              <a:xfrm>
                <a:off x="3428" y="1397"/>
                <a:ext cx="123" cy="115"/>
              </a:xfrm>
              <a:custGeom>
                <a:avLst/>
                <a:gdLst>
                  <a:gd name="T0" fmla="*/ 123 w 123"/>
                  <a:gd name="T1" fmla="*/ 0 h 115"/>
                  <a:gd name="T2" fmla="*/ 123 w 123"/>
                  <a:gd name="T3" fmla="*/ 19 h 115"/>
                  <a:gd name="T4" fmla="*/ 75 w 123"/>
                  <a:gd name="T5" fmla="*/ 19 h 115"/>
                  <a:gd name="T6" fmla="*/ 75 w 123"/>
                  <a:gd name="T7" fmla="*/ 115 h 115"/>
                  <a:gd name="T8" fmla="*/ 45 w 123"/>
                  <a:gd name="T9" fmla="*/ 115 h 115"/>
                  <a:gd name="T10" fmla="*/ 45 w 123"/>
                  <a:gd name="T11" fmla="*/ 19 h 115"/>
                  <a:gd name="T12" fmla="*/ 0 w 123"/>
                  <a:gd name="T13" fmla="*/ 19 h 115"/>
                  <a:gd name="T14" fmla="*/ 0 w 123"/>
                  <a:gd name="T15" fmla="*/ 0 h 115"/>
                  <a:gd name="T16" fmla="*/ 123 w 123"/>
                  <a:gd name="T1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115">
                    <a:moveTo>
                      <a:pt x="123" y="0"/>
                    </a:moveTo>
                    <a:lnTo>
                      <a:pt x="123" y="19"/>
                    </a:lnTo>
                    <a:lnTo>
                      <a:pt x="75" y="19"/>
                    </a:lnTo>
                    <a:lnTo>
                      <a:pt x="75" y="115"/>
                    </a:lnTo>
                    <a:lnTo>
                      <a:pt x="45" y="115"/>
                    </a:lnTo>
                    <a:lnTo>
                      <a:pt x="45" y="19"/>
                    </a:lnTo>
                    <a:lnTo>
                      <a:pt x="0" y="19"/>
                    </a:lnTo>
                    <a:lnTo>
                      <a:pt x="0" y="0"/>
                    </a:lnTo>
                    <a:lnTo>
                      <a:pt x="123" y="0"/>
                    </a:ln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0" name="Freeform 19"/>
              <p:cNvSpPr>
                <a:spLocks/>
              </p:cNvSpPr>
              <p:nvPr/>
            </p:nvSpPr>
            <p:spPr bwMode="auto">
              <a:xfrm>
                <a:off x="3428" y="1397"/>
                <a:ext cx="123" cy="115"/>
              </a:xfrm>
              <a:custGeom>
                <a:avLst/>
                <a:gdLst>
                  <a:gd name="T0" fmla="*/ 123 w 123"/>
                  <a:gd name="T1" fmla="*/ 0 h 115"/>
                  <a:gd name="T2" fmla="*/ 123 w 123"/>
                  <a:gd name="T3" fmla="*/ 19 h 115"/>
                  <a:gd name="T4" fmla="*/ 75 w 123"/>
                  <a:gd name="T5" fmla="*/ 19 h 115"/>
                  <a:gd name="T6" fmla="*/ 75 w 123"/>
                  <a:gd name="T7" fmla="*/ 115 h 115"/>
                  <a:gd name="T8" fmla="*/ 45 w 123"/>
                  <a:gd name="T9" fmla="*/ 115 h 115"/>
                  <a:gd name="T10" fmla="*/ 45 w 123"/>
                  <a:gd name="T11" fmla="*/ 19 h 115"/>
                  <a:gd name="T12" fmla="*/ 0 w 123"/>
                  <a:gd name="T13" fmla="*/ 19 h 115"/>
                  <a:gd name="T14" fmla="*/ 0 w 123"/>
                  <a:gd name="T15" fmla="*/ 0 h 115"/>
                  <a:gd name="T16" fmla="*/ 123 w 123"/>
                  <a:gd name="T1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115">
                    <a:moveTo>
                      <a:pt x="123" y="0"/>
                    </a:moveTo>
                    <a:lnTo>
                      <a:pt x="123" y="19"/>
                    </a:lnTo>
                    <a:lnTo>
                      <a:pt x="75" y="19"/>
                    </a:lnTo>
                    <a:lnTo>
                      <a:pt x="75" y="115"/>
                    </a:lnTo>
                    <a:lnTo>
                      <a:pt x="45" y="115"/>
                    </a:lnTo>
                    <a:lnTo>
                      <a:pt x="45" y="19"/>
                    </a:lnTo>
                    <a:lnTo>
                      <a:pt x="0" y="19"/>
                    </a:lnTo>
                    <a:lnTo>
                      <a:pt x="0" y="0"/>
                    </a:lnTo>
                    <a:lnTo>
                      <a:pt x="123" y="0"/>
                    </a:ln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1" name="Freeform 20"/>
              <p:cNvSpPr>
                <a:spLocks noEditPoints="1"/>
              </p:cNvSpPr>
              <p:nvPr/>
            </p:nvSpPr>
            <p:spPr bwMode="auto">
              <a:xfrm>
                <a:off x="3525" y="1397"/>
                <a:ext cx="144" cy="115"/>
              </a:xfrm>
              <a:custGeom>
                <a:avLst/>
                <a:gdLst>
                  <a:gd name="T0" fmla="*/ 144 w 144"/>
                  <a:gd name="T1" fmla="*/ 115 h 115"/>
                  <a:gd name="T2" fmla="*/ 111 w 144"/>
                  <a:gd name="T3" fmla="*/ 115 h 115"/>
                  <a:gd name="T4" fmla="*/ 101 w 144"/>
                  <a:gd name="T5" fmla="*/ 90 h 115"/>
                  <a:gd name="T6" fmla="*/ 42 w 144"/>
                  <a:gd name="T7" fmla="*/ 90 h 115"/>
                  <a:gd name="T8" fmla="*/ 33 w 144"/>
                  <a:gd name="T9" fmla="*/ 115 h 115"/>
                  <a:gd name="T10" fmla="*/ 0 w 144"/>
                  <a:gd name="T11" fmla="*/ 115 h 115"/>
                  <a:gd name="T12" fmla="*/ 54 w 144"/>
                  <a:gd name="T13" fmla="*/ 0 h 115"/>
                  <a:gd name="T14" fmla="*/ 92 w 144"/>
                  <a:gd name="T15" fmla="*/ 0 h 115"/>
                  <a:gd name="T16" fmla="*/ 144 w 144"/>
                  <a:gd name="T17" fmla="*/ 115 h 115"/>
                  <a:gd name="T18" fmla="*/ 73 w 144"/>
                  <a:gd name="T19" fmla="*/ 19 h 115"/>
                  <a:gd name="T20" fmla="*/ 52 w 144"/>
                  <a:gd name="T21" fmla="*/ 73 h 115"/>
                  <a:gd name="T22" fmla="*/ 94 w 144"/>
                  <a:gd name="T23" fmla="*/ 73 h 115"/>
                  <a:gd name="T24" fmla="*/ 73 w 144"/>
                  <a:gd name="T25" fmla="*/ 1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115">
                    <a:moveTo>
                      <a:pt x="144" y="115"/>
                    </a:moveTo>
                    <a:lnTo>
                      <a:pt x="111" y="115"/>
                    </a:lnTo>
                    <a:lnTo>
                      <a:pt x="101" y="90"/>
                    </a:lnTo>
                    <a:lnTo>
                      <a:pt x="42" y="90"/>
                    </a:lnTo>
                    <a:lnTo>
                      <a:pt x="33" y="115"/>
                    </a:lnTo>
                    <a:lnTo>
                      <a:pt x="0" y="115"/>
                    </a:lnTo>
                    <a:lnTo>
                      <a:pt x="54" y="0"/>
                    </a:lnTo>
                    <a:lnTo>
                      <a:pt x="92" y="0"/>
                    </a:lnTo>
                    <a:lnTo>
                      <a:pt x="144" y="115"/>
                    </a:lnTo>
                    <a:close/>
                    <a:moveTo>
                      <a:pt x="73" y="19"/>
                    </a:moveTo>
                    <a:lnTo>
                      <a:pt x="52" y="73"/>
                    </a:lnTo>
                    <a:lnTo>
                      <a:pt x="94" y="73"/>
                    </a:lnTo>
                    <a:lnTo>
                      <a:pt x="73" y="19"/>
                    </a:ln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2" name="Freeform 21"/>
              <p:cNvSpPr>
                <a:spLocks noEditPoints="1"/>
              </p:cNvSpPr>
              <p:nvPr/>
            </p:nvSpPr>
            <p:spPr bwMode="auto">
              <a:xfrm>
                <a:off x="3525" y="1397"/>
                <a:ext cx="144" cy="115"/>
              </a:xfrm>
              <a:custGeom>
                <a:avLst/>
                <a:gdLst>
                  <a:gd name="T0" fmla="*/ 144 w 144"/>
                  <a:gd name="T1" fmla="*/ 115 h 115"/>
                  <a:gd name="T2" fmla="*/ 111 w 144"/>
                  <a:gd name="T3" fmla="*/ 115 h 115"/>
                  <a:gd name="T4" fmla="*/ 101 w 144"/>
                  <a:gd name="T5" fmla="*/ 90 h 115"/>
                  <a:gd name="T6" fmla="*/ 42 w 144"/>
                  <a:gd name="T7" fmla="*/ 90 h 115"/>
                  <a:gd name="T8" fmla="*/ 33 w 144"/>
                  <a:gd name="T9" fmla="*/ 115 h 115"/>
                  <a:gd name="T10" fmla="*/ 0 w 144"/>
                  <a:gd name="T11" fmla="*/ 115 h 115"/>
                  <a:gd name="T12" fmla="*/ 54 w 144"/>
                  <a:gd name="T13" fmla="*/ 0 h 115"/>
                  <a:gd name="T14" fmla="*/ 92 w 144"/>
                  <a:gd name="T15" fmla="*/ 0 h 115"/>
                  <a:gd name="T16" fmla="*/ 144 w 144"/>
                  <a:gd name="T17" fmla="*/ 115 h 115"/>
                  <a:gd name="T18" fmla="*/ 73 w 144"/>
                  <a:gd name="T19" fmla="*/ 19 h 115"/>
                  <a:gd name="T20" fmla="*/ 52 w 144"/>
                  <a:gd name="T21" fmla="*/ 73 h 115"/>
                  <a:gd name="T22" fmla="*/ 94 w 144"/>
                  <a:gd name="T23" fmla="*/ 73 h 115"/>
                  <a:gd name="T24" fmla="*/ 73 w 144"/>
                  <a:gd name="T25" fmla="*/ 1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115">
                    <a:moveTo>
                      <a:pt x="144" y="115"/>
                    </a:moveTo>
                    <a:lnTo>
                      <a:pt x="111" y="115"/>
                    </a:lnTo>
                    <a:lnTo>
                      <a:pt x="101" y="90"/>
                    </a:lnTo>
                    <a:lnTo>
                      <a:pt x="42" y="90"/>
                    </a:lnTo>
                    <a:lnTo>
                      <a:pt x="33" y="115"/>
                    </a:lnTo>
                    <a:lnTo>
                      <a:pt x="0" y="115"/>
                    </a:lnTo>
                    <a:lnTo>
                      <a:pt x="54" y="0"/>
                    </a:lnTo>
                    <a:lnTo>
                      <a:pt x="92" y="0"/>
                    </a:lnTo>
                    <a:lnTo>
                      <a:pt x="144" y="115"/>
                    </a:lnTo>
                    <a:moveTo>
                      <a:pt x="73" y="19"/>
                    </a:moveTo>
                    <a:lnTo>
                      <a:pt x="52" y="73"/>
                    </a:lnTo>
                    <a:lnTo>
                      <a:pt x="94" y="73"/>
                    </a:lnTo>
                    <a:lnTo>
                      <a:pt x="73" y="19"/>
                    </a:ln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3" name="Rectangle 22"/>
              <p:cNvSpPr>
                <a:spLocks noChangeArrowheads="1"/>
              </p:cNvSpPr>
              <p:nvPr/>
            </p:nvSpPr>
            <p:spPr bwMode="auto">
              <a:xfrm>
                <a:off x="3957" y="1397"/>
                <a:ext cx="30" cy="115"/>
              </a:xfrm>
              <a:prstGeom prst="rect">
                <a:avLst/>
              </a:prstGeom>
              <a:solidFill>
                <a:srgbClr val="1A1A1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4" name="Freeform 23"/>
              <p:cNvSpPr>
                <a:spLocks/>
              </p:cNvSpPr>
              <p:nvPr/>
            </p:nvSpPr>
            <p:spPr bwMode="auto">
              <a:xfrm>
                <a:off x="3239" y="1397"/>
                <a:ext cx="123" cy="115"/>
              </a:xfrm>
              <a:custGeom>
                <a:avLst/>
                <a:gdLst>
                  <a:gd name="T0" fmla="*/ 31 w 123"/>
                  <a:gd name="T1" fmla="*/ 0 h 115"/>
                  <a:gd name="T2" fmla="*/ 31 w 123"/>
                  <a:gd name="T3" fmla="*/ 47 h 115"/>
                  <a:gd name="T4" fmla="*/ 92 w 123"/>
                  <a:gd name="T5" fmla="*/ 47 h 115"/>
                  <a:gd name="T6" fmla="*/ 92 w 123"/>
                  <a:gd name="T7" fmla="*/ 0 h 115"/>
                  <a:gd name="T8" fmla="*/ 123 w 123"/>
                  <a:gd name="T9" fmla="*/ 0 h 115"/>
                  <a:gd name="T10" fmla="*/ 123 w 123"/>
                  <a:gd name="T11" fmla="*/ 115 h 115"/>
                  <a:gd name="T12" fmla="*/ 92 w 123"/>
                  <a:gd name="T13" fmla="*/ 115 h 115"/>
                  <a:gd name="T14" fmla="*/ 92 w 123"/>
                  <a:gd name="T15" fmla="*/ 64 h 115"/>
                  <a:gd name="T16" fmla="*/ 31 w 123"/>
                  <a:gd name="T17" fmla="*/ 64 h 115"/>
                  <a:gd name="T18" fmla="*/ 31 w 123"/>
                  <a:gd name="T19" fmla="*/ 115 h 115"/>
                  <a:gd name="T20" fmla="*/ 0 w 123"/>
                  <a:gd name="T21" fmla="*/ 115 h 115"/>
                  <a:gd name="T22" fmla="*/ 0 w 123"/>
                  <a:gd name="T23" fmla="*/ 0 h 115"/>
                  <a:gd name="T24" fmla="*/ 31 w 123"/>
                  <a:gd name="T25"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115">
                    <a:moveTo>
                      <a:pt x="31" y="0"/>
                    </a:moveTo>
                    <a:lnTo>
                      <a:pt x="31" y="47"/>
                    </a:lnTo>
                    <a:lnTo>
                      <a:pt x="92" y="47"/>
                    </a:lnTo>
                    <a:lnTo>
                      <a:pt x="92" y="0"/>
                    </a:lnTo>
                    <a:lnTo>
                      <a:pt x="123" y="0"/>
                    </a:lnTo>
                    <a:lnTo>
                      <a:pt x="123" y="115"/>
                    </a:lnTo>
                    <a:lnTo>
                      <a:pt x="92" y="115"/>
                    </a:lnTo>
                    <a:lnTo>
                      <a:pt x="92" y="64"/>
                    </a:lnTo>
                    <a:lnTo>
                      <a:pt x="31" y="64"/>
                    </a:lnTo>
                    <a:lnTo>
                      <a:pt x="31" y="115"/>
                    </a:lnTo>
                    <a:lnTo>
                      <a:pt x="0" y="115"/>
                    </a:lnTo>
                    <a:lnTo>
                      <a:pt x="0" y="0"/>
                    </a:lnTo>
                    <a:lnTo>
                      <a:pt x="31" y="0"/>
                    </a:ln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5" name="Freeform 24"/>
              <p:cNvSpPr>
                <a:spLocks/>
              </p:cNvSpPr>
              <p:nvPr/>
            </p:nvSpPr>
            <p:spPr bwMode="auto">
              <a:xfrm>
                <a:off x="3239" y="1397"/>
                <a:ext cx="123" cy="115"/>
              </a:xfrm>
              <a:custGeom>
                <a:avLst/>
                <a:gdLst>
                  <a:gd name="T0" fmla="*/ 31 w 123"/>
                  <a:gd name="T1" fmla="*/ 0 h 115"/>
                  <a:gd name="T2" fmla="*/ 31 w 123"/>
                  <a:gd name="T3" fmla="*/ 47 h 115"/>
                  <a:gd name="T4" fmla="*/ 92 w 123"/>
                  <a:gd name="T5" fmla="*/ 47 h 115"/>
                  <a:gd name="T6" fmla="*/ 92 w 123"/>
                  <a:gd name="T7" fmla="*/ 0 h 115"/>
                  <a:gd name="T8" fmla="*/ 123 w 123"/>
                  <a:gd name="T9" fmla="*/ 0 h 115"/>
                  <a:gd name="T10" fmla="*/ 123 w 123"/>
                  <a:gd name="T11" fmla="*/ 115 h 115"/>
                  <a:gd name="T12" fmla="*/ 92 w 123"/>
                  <a:gd name="T13" fmla="*/ 115 h 115"/>
                  <a:gd name="T14" fmla="*/ 92 w 123"/>
                  <a:gd name="T15" fmla="*/ 64 h 115"/>
                  <a:gd name="T16" fmla="*/ 31 w 123"/>
                  <a:gd name="T17" fmla="*/ 64 h 115"/>
                  <a:gd name="T18" fmla="*/ 31 w 123"/>
                  <a:gd name="T19" fmla="*/ 115 h 115"/>
                  <a:gd name="T20" fmla="*/ 0 w 123"/>
                  <a:gd name="T21" fmla="*/ 115 h 115"/>
                  <a:gd name="T22" fmla="*/ 0 w 123"/>
                  <a:gd name="T23" fmla="*/ 0 h 115"/>
                  <a:gd name="T24" fmla="*/ 31 w 123"/>
                  <a:gd name="T25"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115">
                    <a:moveTo>
                      <a:pt x="31" y="0"/>
                    </a:moveTo>
                    <a:lnTo>
                      <a:pt x="31" y="47"/>
                    </a:lnTo>
                    <a:lnTo>
                      <a:pt x="92" y="47"/>
                    </a:lnTo>
                    <a:lnTo>
                      <a:pt x="92" y="0"/>
                    </a:lnTo>
                    <a:lnTo>
                      <a:pt x="123" y="0"/>
                    </a:lnTo>
                    <a:lnTo>
                      <a:pt x="123" y="115"/>
                    </a:lnTo>
                    <a:lnTo>
                      <a:pt x="92" y="115"/>
                    </a:lnTo>
                    <a:lnTo>
                      <a:pt x="92" y="64"/>
                    </a:lnTo>
                    <a:lnTo>
                      <a:pt x="31" y="64"/>
                    </a:lnTo>
                    <a:lnTo>
                      <a:pt x="31" y="115"/>
                    </a:lnTo>
                    <a:lnTo>
                      <a:pt x="0" y="115"/>
                    </a:lnTo>
                    <a:lnTo>
                      <a:pt x="0" y="0"/>
                    </a:lnTo>
                    <a:lnTo>
                      <a:pt x="31" y="0"/>
                    </a:ln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6" name="Rectangle 25"/>
              <p:cNvSpPr>
                <a:spLocks noChangeArrowheads="1"/>
              </p:cNvSpPr>
              <p:nvPr/>
            </p:nvSpPr>
            <p:spPr bwMode="auto">
              <a:xfrm>
                <a:off x="3385" y="1397"/>
                <a:ext cx="31" cy="115"/>
              </a:xfrm>
              <a:prstGeom prst="rect">
                <a:avLst/>
              </a:prstGeom>
              <a:solidFill>
                <a:srgbClr val="1A1A1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7" name="Freeform 26"/>
              <p:cNvSpPr>
                <a:spLocks/>
              </p:cNvSpPr>
              <p:nvPr/>
            </p:nvSpPr>
            <p:spPr bwMode="auto">
              <a:xfrm>
                <a:off x="3664" y="1394"/>
                <a:ext cx="130" cy="121"/>
              </a:xfrm>
              <a:custGeom>
                <a:avLst/>
                <a:gdLst>
                  <a:gd name="T0" fmla="*/ 2 w 55"/>
                  <a:gd name="T1" fmla="*/ 36 h 51"/>
                  <a:gd name="T2" fmla="*/ 0 w 55"/>
                  <a:gd name="T3" fmla="*/ 26 h 51"/>
                  <a:gd name="T4" fmla="*/ 4 w 55"/>
                  <a:gd name="T5" fmla="*/ 12 h 51"/>
                  <a:gd name="T6" fmla="*/ 15 w 55"/>
                  <a:gd name="T7" fmla="*/ 2 h 51"/>
                  <a:gd name="T8" fmla="*/ 29 w 55"/>
                  <a:gd name="T9" fmla="*/ 0 h 51"/>
                  <a:gd name="T10" fmla="*/ 45 w 55"/>
                  <a:gd name="T11" fmla="*/ 3 h 51"/>
                  <a:gd name="T12" fmla="*/ 55 w 55"/>
                  <a:gd name="T13" fmla="*/ 15 h 51"/>
                  <a:gd name="T14" fmla="*/ 55 w 55"/>
                  <a:gd name="T15" fmla="*/ 18 h 51"/>
                  <a:gd name="T16" fmla="*/ 41 w 55"/>
                  <a:gd name="T17" fmla="*/ 18 h 51"/>
                  <a:gd name="T18" fmla="*/ 41 w 55"/>
                  <a:gd name="T19" fmla="*/ 14 h 51"/>
                  <a:gd name="T20" fmla="*/ 35 w 55"/>
                  <a:gd name="T21" fmla="*/ 8 h 51"/>
                  <a:gd name="T22" fmla="*/ 29 w 55"/>
                  <a:gd name="T23" fmla="*/ 7 h 51"/>
                  <a:gd name="T24" fmla="*/ 23 w 55"/>
                  <a:gd name="T25" fmla="*/ 9 h 51"/>
                  <a:gd name="T26" fmla="*/ 16 w 55"/>
                  <a:gd name="T27" fmla="*/ 16 h 51"/>
                  <a:gd name="T28" fmla="*/ 14 w 55"/>
                  <a:gd name="T29" fmla="*/ 26 h 51"/>
                  <a:gd name="T30" fmla="*/ 15 w 55"/>
                  <a:gd name="T31" fmla="*/ 35 h 51"/>
                  <a:gd name="T32" fmla="*/ 22 w 55"/>
                  <a:gd name="T33" fmla="*/ 42 h 51"/>
                  <a:gd name="T34" fmla="*/ 29 w 55"/>
                  <a:gd name="T35" fmla="*/ 44 h 51"/>
                  <a:gd name="T36" fmla="*/ 35 w 55"/>
                  <a:gd name="T37" fmla="*/ 43 h 51"/>
                  <a:gd name="T38" fmla="*/ 41 w 55"/>
                  <a:gd name="T39" fmla="*/ 38 h 51"/>
                  <a:gd name="T40" fmla="*/ 42 w 55"/>
                  <a:gd name="T41" fmla="*/ 32 h 51"/>
                  <a:gd name="T42" fmla="*/ 55 w 55"/>
                  <a:gd name="T43" fmla="*/ 32 h 51"/>
                  <a:gd name="T44" fmla="*/ 55 w 55"/>
                  <a:gd name="T45" fmla="*/ 37 h 51"/>
                  <a:gd name="T46" fmla="*/ 46 w 55"/>
                  <a:gd name="T47" fmla="*/ 48 h 51"/>
                  <a:gd name="T48" fmla="*/ 29 w 55"/>
                  <a:gd name="T49" fmla="*/ 51 h 51"/>
                  <a:gd name="T50" fmla="*/ 16 w 55"/>
                  <a:gd name="T51" fmla="*/ 49 h 51"/>
                  <a:gd name="T52" fmla="*/ 2 w 55"/>
                  <a:gd name="T53"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1">
                    <a:moveTo>
                      <a:pt x="2" y="36"/>
                    </a:moveTo>
                    <a:cubicBezTo>
                      <a:pt x="1" y="33"/>
                      <a:pt x="0" y="30"/>
                      <a:pt x="0" y="26"/>
                    </a:cubicBezTo>
                    <a:cubicBezTo>
                      <a:pt x="0" y="21"/>
                      <a:pt x="1" y="16"/>
                      <a:pt x="4" y="12"/>
                    </a:cubicBezTo>
                    <a:cubicBezTo>
                      <a:pt x="6" y="8"/>
                      <a:pt x="10" y="4"/>
                      <a:pt x="15" y="2"/>
                    </a:cubicBezTo>
                    <a:cubicBezTo>
                      <a:pt x="19" y="1"/>
                      <a:pt x="24" y="0"/>
                      <a:pt x="29" y="0"/>
                    </a:cubicBezTo>
                    <a:cubicBezTo>
                      <a:pt x="35" y="0"/>
                      <a:pt x="40" y="1"/>
                      <a:pt x="45" y="3"/>
                    </a:cubicBezTo>
                    <a:cubicBezTo>
                      <a:pt x="50" y="5"/>
                      <a:pt x="54" y="10"/>
                      <a:pt x="55" y="15"/>
                    </a:cubicBezTo>
                    <a:cubicBezTo>
                      <a:pt x="55" y="16"/>
                      <a:pt x="55" y="17"/>
                      <a:pt x="55" y="18"/>
                    </a:cubicBezTo>
                    <a:cubicBezTo>
                      <a:pt x="41" y="18"/>
                      <a:pt x="41" y="18"/>
                      <a:pt x="41" y="18"/>
                    </a:cubicBezTo>
                    <a:cubicBezTo>
                      <a:pt x="41" y="16"/>
                      <a:pt x="41" y="15"/>
                      <a:pt x="41" y="14"/>
                    </a:cubicBezTo>
                    <a:cubicBezTo>
                      <a:pt x="40" y="11"/>
                      <a:pt x="38" y="9"/>
                      <a:pt x="35" y="8"/>
                    </a:cubicBezTo>
                    <a:cubicBezTo>
                      <a:pt x="33" y="8"/>
                      <a:pt x="31" y="7"/>
                      <a:pt x="29" y="7"/>
                    </a:cubicBezTo>
                    <a:cubicBezTo>
                      <a:pt x="27" y="7"/>
                      <a:pt x="25" y="8"/>
                      <a:pt x="23" y="9"/>
                    </a:cubicBezTo>
                    <a:cubicBezTo>
                      <a:pt x="19" y="10"/>
                      <a:pt x="17" y="12"/>
                      <a:pt x="16" y="16"/>
                    </a:cubicBezTo>
                    <a:cubicBezTo>
                      <a:pt x="14" y="19"/>
                      <a:pt x="14" y="22"/>
                      <a:pt x="14" y="26"/>
                    </a:cubicBezTo>
                    <a:cubicBezTo>
                      <a:pt x="14" y="29"/>
                      <a:pt x="14" y="32"/>
                      <a:pt x="15" y="35"/>
                    </a:cubicBezTo>
                    <a:cubicBezTo>
                      <a:pt x="16" y="38"/>
                      <a:pt x="19" y="41"/>
                      <a:pt x="22" y="42"/>
                    </a:cubicBezTo>
                    <a:cubicBezTo>
                      <a:pt x="24" y="43"/>
                      <a:pt x="27" y="44"/>
                      <a:pt x="29" y="44"/>
                    </a:cubicBezTo>
                    <a:cubicBezTo>
                      <a:pt x="31" y="44"/>
                      <a:pt x="33" y="43"/>
                      <a:pt x="35" y="43"/>
                    </a:cubicBezTo>
                    <a:cubicBezTo>
                      <a:pt x="38" y="42"/>
                      <a:pt x="40" y="40"/>
                      <a:pt x="41" y="38"/>
                    </a:cubicBezTo>
                    <a:cubicBezTo>
                      <a:pt x="41" y="36"/>
                      <a:pt x="42" y="34"/>
                      <a:pt x="42" y="32"/>
                    </a:cubicBezTo>
                    <a:cubicBezTo>
                      <a:pt x="55" y="32"/>
                      <a:pt x="55" y="32"/>
                      <a:pt x="55" y="32"/>
                    </a:cubicBezTo>
                    <a:cubicBezTo>
                      <a:pt x="55" y="34"/>
                      <a:pt x="55" y="36"/>
                      <a:pt x="55" y="37"/>
                    </a:cubicBezTo>
                    <a:cubicBezTo>
                      <a:pt x="54" y="42"/>
                      <a:pt x="50" y="46"/>
                      <a:pt x="46" y="48"/>
                    </a:cubicBezTo>
                    <a:cubicBezTo>
                      <a:pt x="41" y="50"/>
                      <a:pt x="35" y="51"/>
                      <a:pt x="29" y="51"/>
                    </a:cubicBezTo>
                    <a:cubicBezTo>
                      <a:pt x="24" y="51"/>
                      <a:pt x="20" y="50"/>
                      <a:pt x="16" y="49"/>
                    </a:cubicBezTo>
                    <a:cubicBezTo>
                      <a:pt x="10" y="47"/>
                      <a:pt x="4" y="43"/>
                      <a:pt x="2" y="36"/>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8" name="Freeform 27"/>
              <p:cNvSpPr>
                <a:spLocks/>
              </p:cNvSpPr>
              <p:nvPr/>
            </p:nvSpPr>
            <p:spPr bwMode="auto">
              <a:xfrm>
                <a:off x="3182" y="1546"/>
                <a:ext cx="29" cy="73"/>
              </a:xfrm>
              <a:custGeom>
                <a:avLst/>
                <a:gdLst>
                  <a:gd name="T0" fmla="*/ 12 w 12"/>
                  <a:gd name="T1" fmla="*/ 0 h 31"/>
                  <a:gd name="T2" fmla="*/ 0 w 12"/>
                  <a:gd name="T3" fmla="*/ 1 h 31"/>
                  <a:gd name="T4" fmla="*/ 0 w 12"/>
                  <a:gd name="T5" fmla="*/ 2 h 31"/>
                  <a:gd name="T6" fmla="*/ 1 w 12"/>
                  <a:gd name="T7" fmla="*/ 2 h 31"/>
                  <a:gd name="T8" fmla="*/ 5 w 12"/>
                  <a:gd name="T9" fmla="*/ 6 h 31"/>
                  <a:gd name="T10" fmla="*/ 5 w 12"/>
                  <a:gd name="T11" fmla="*/ 31 h 31"/>
                  <a:gd name="T12" fmla="*/ 12 w 12"/>
                  <a:gd name="T13" fmla="*/ 31 h 31"/>
                  <a:gd name="T14" fmla="*/ 12 w 12"/>
                  <a:gd name="T15" fmla="*/ 0 h 31"/>
                  <a:gd name="T16" fmla="*/ 12 w 1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31">
                    <a:moveTo>
                      <a:pt x="12" y="0"/>
                    </a:moveTo>
                    <a:cubicBezTo>
                      <a:pt x="0" y="1"/>
                      <a:pt x="0" y="1"/>
                      <a:pt x="0" y="1"/>
                    </a:cubicBezTo>
                    <a:cubicBezTo>
                      <a:pt x="0" y="2"/>
                      <a:pt x="0" y="2"/>
                      <a:pt x="0" y="2"/>
                    </a:cubicBezTo>
                    <a:cubicBezTo>
                      <a:pt x="1" y="2"/>
                      <a:pt x="1" y="2"/>
                      <a:pt x="1" y="2"/>
                    </a:cubicBezTo>
                    <a:cubicBezTo>
                      <a:pt x="5" y="3"/>
                      <a:pt x="5" y="3"/>
                      <a:pt x="5" y="6"/>
                    </a:cubicBezTo>
                    <a:cubicBezTo>
                      <a:pt x="5" y="31"/>
                      <a:pt x="5" y="31"/>
                      <a:pt x="5" y="31"/>
                    </a:cubicBezTo>
                    <a:cubicBezTo>
                      <a:pt x="12" y="31"/>
                      <a:pt x="12" y="31"/>
                      <a:pt x="12" y="31"/>
                    </a:cubicBezTo>
                    <a:cubicBezTo>
                      <a:pt x="12" y="0"/>
                      <a:pt x="12" y="0"/>
                      <a:pt x="12" y="0"/>
                    </a:cubicBezTo>
                    <a:cubicBezTo>
                      <a:pt x="12" y="0"/>
                      <a:pt x="12" y="0"/>
                      <a:pt x="12" y="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29" name="Freeform 28"/>
              <p:cNvSpPr>
                <a:spLocks/>
              </p:cNvSpPr>
              <p:nvPr/>
            </p:nvSpPr>
            <p:spPr bwMode="auto">
              <a:xfrm>
                <a:off x="3227" y="1567"/>
                <a:ext cx="57" cy="52"/>
              </a:xfrm>
              <a:custGeom>
                <a:avLst/>
                <a:gdLst>
                  <a:gd name="T0" fmla="*/ 17 w 24"/>
                  <a:gd name="T1" fmla="*/ 0 h 22"/>
                  <a:gd name="T2" fmla="*/ 9 w 24"/>
                  <a:gd name="T3" fmla="*/ 4 h 22"/>
                  <a:gd name="T4" fmla="*/ 9 w 24"/>
                  <a:gd name="T5" fmla="*/ 0 h 22"/>
                  <a:gd name="T6" fmla="*/ 9 w 24"/>
                  <a:gd name="T7" fmla="*/ 0 h 22"/>
                  <a:gd name="T8" fmla="*/ 0 w 24"/>
                  <a:gd name="T9" fmla="*/ 1 h 22"/>
                  <a:gd name="T10" fmla="*/ 0 w 24"/>
                  <a:gd name="T11" fmla="*/ 3 h 22"/>
                  <a:gd name="T12" fmla="*/ 0 w 24"/>
                  <a:gd name="T13" fmla="*/ 3 h 22"/>
                  <a:gd name="T14" fmla="*/ 4 w 24"/>
                  <a:gd name="T15" fmla="*/ 6 h 22"/>
                  <a:gd name="T16" fmla="*/ 4 w 24"/>
                  <a:gd name="T17" fmla="*/ 22 h 22"/>
                  <a:gd name="T18" fmla="*/ 9 w 24"/>
                  <a:gd name="T19" fmla="*/ 22 h 22"/>
                  <a:gd name="T20" fmla="*/ 9 w 24"/>
                  <a:gd name="T21" fmla="*/ 10 h 22"/>
                  <a:gd name="T22" fmla="*/ 15 w 24"/>
                  <a:gd name="T23" fmla="*/ 4 h 22"/>
                  <a:gd name="T24" fmla="*/ 18 w 24"/>
                  <a:gd name="T25" fmla="*/ 10 h 22"/>
                  <a:gd name="T26" fmla="*/ 18 w 24"/>
                  <a:gd name="T27" fmla="*/ 22 h 22"/>
                  <a:gd name="T28" fmla="*/ 24 w 24"/>
                  <a:gd name="T29" fmla="*/ 22 h 22"/>
                  <a:gd name="T30" fmla="*/ 24 w 24"/>
                  <a:gd name="T31" fmla="*/ 6 h 22"/>
                  <a:gd name="T32" fmla="*/ 17 w 24"/>
                  <a:gd name="T3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22">
                    <a:moveTo>
                      <a:pt x="17" y="0"/>
                    </a:moveTo>
                    <a:cubicBezTo>
                      <a:pt x="13" y="0"/>
                      <a:pt x="11" y="3"/>
                      <a:pt x="9" y="4"/>
                    </a:cubicBezTo>
                    <a:cubicBezTo>
                      <a:pt x="9" y="3"/>
                      <a:pt x="9" y="0"/>
                      <a:pt x="9" y="0"/>
                    </a:cubicBezTo>
                    <a:cubicBezTo>
                      <a:pt x="9" y="0"/>
                      <a:pt x="9" y="0"/>
                      <a:pt x="9" y="0"/>
                    </a:cubicBezTo>
                    <a:cubicBezTo>
                      <a:pt x="0" y="1"/>
                      <a:pt x="0" y="1"/>
                      <a:pt x="0" y="1"/>
                    </a:cubicBezTo>
                    <a:cubicBezTo>
                      <a:pt x="0" y="3"/>
                      <a:pt x="0" y="3"/>
                      <a:pt x="0" y="3"/>
                    </a:cubicBezTo>
                    <a:cubicBezTo>
                      <a:pt x="0" y="3"/>
                      <a:pt x="0" y="3"/>
                      <a:pt x="0" y="3"/>
                    </a:cubicBezTo>
                    <a:cubicBezTo>
                      <a:pt x="3" y="3"/>
                      <a:pt x="4" y="4"/>
                      <a:pt x="4" y="6"/>
                    </a:cubicBezTo>
                    <a:cubicBezTo>
                      <a:pt x="4" y="22"/>
                      <a:pt x="4" y="22"/>
                      <a:pt x="4" y="22"/>
                    </a:cubicBezTo>
                    <a:cubicBezTo>
                      <a:pt x="9" y="22"/>
                      <a:pt x="9" y="22"/>
                      <a:pt x="9" y="22"/>
                    </a:cubicBezTo>
                    <a:cubicBezTo>
                      <a:pt x="9" y="10"/>
                      <a:pt x="9" y="10"/>
                      <a:pt x="9" y="10"/>
                    </a:cubicBezTo>
                    <a:cubicBezTo>
                      <a:pt x="9" y="7"/>
                      <a:pt x="12" y="4"/>
                      <a:pt x="15" y="4"/>
                    </a:cubicBezTo>
                    <a:cubicBezTo>
                      <a:pt x="18" y="4"/>
                      <a:pt x="18" y="6"/>
                      <a:pt x="18" y="10"/>
                    </a:cubicBezTo>
                    <a:cubicBezTo>
                      <a:pt x="18" y="22"/>
                      <a:pt x="18" y="22"/>
                      <a:pt x="18" y="22"/>
                    </a:cubicBezTo>
                    <a:cubicBezTo>
                      <a:pt x="24" y="22"/>
                      <a:pt x="24" y="22"/>
                      <a:pt x="24" y="22"/>
                    </a:cubicBezTo>
                    <a:cubicBezTo>
                      <a:pt x="24" y="6"/>
                      <a:pt x="24" y="6"/>
                      <a:pt x="24" y="6"/>
                    </a:cubicBezTo>
                    <a:cubicBezTo>
                      <a:pt x="24" y="2"/>
                      <a:pt x="22" y="0"/>
                      <a:pt x="17" y="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0" name="Freeform 29"/>
              <p:cNvSpPr>
                <a:spLocks/>
              </p:cNvSpPr>
              <p:nvPr/>
            </p:nvSpPr>
            <p:spPr bwMode="auto">
              <a:xfrm>
                <a:off x="3300" y="1567"/>
                <a:ext cx="38" cy="52"/>
              </a:xfrm>
              <a:custGeom>
                <a:avLst/>
                <a:gdLst>
                  <a:gd name="T0" fmla="*/ 9 w 16"/>
                  <a:gd name="T1" fmla="*/ 8 h 22"/>
                  <a:gd name="T2" fmla="*/ 5 w 16"/>
                  <a:gd name="T3" fmla="*/ 5 h 22"/>
                  <a:gd name="T4" fmla="*/ 8 w 16"/>
                  <a:gd name="T5" fmla="*/ 3 h 22"/>
                  <a:gd name="T6" fmla="*/ 14 w 16"/>
                  <a:gd name="T7" fmla="*/ 4 h 22"/>
                  <a:gd name="T8" fmla="*/ 14 w 16"/>
                  <a:gd name="T9" fmla="*/ 5 h 22"/>
                  <a:gd name="T10" fmla="*/ 14 w 16"/>
                  <a:gd name="T11" fmla="*/ 1 h 22"/>
                  <a:gd name="T12" fmla="*/ 14 w 16"/>
                  <a:gd name="T13" fmla="*/ 0 h 22"/>
                  <a:gd name="T14" fmla="*/ 8 w 16"/>
                  <a:gd name="T15" fmla="*/ 0 h 22"/>
                  <a:gd name="T16" fmla="*/ 0 w 16"/>
                  <a:gd name="T17" fmla="*/ 6 h 22"/>
                  <a:gd name="T18" fmla="*/ 6 w 16"/>
                  <a:gd name="T19" fmla="*/ 13 h 22"/>
                  <a:gd name="T20" fmla="*/ 11 w 16"/>
                  <a:gd name="T21" fmla="*/ 17 h 22"/>
                  <a:gd name="T22" fmla="*/ 7 w 16"/>
                  <a:gd name="T23" fmla="*/ 19 h 22"/>
                  <a:gd name="T24" fmla="*/ 0 w 16"/>
                  <a:gd name="T25" fmla="*/ 17 h 22"/>
                  <a:gd name="T26" fmla="*/ 0 w 16"/>
                  <a:gd name="T27" fmla="*/ 17 h 22"/>
                  <a:gd name="T28" fmla="*/ 0 w 16"/>
                  <a:gd name="T29" fmla="*/ 21 h 22"/>
                  <a:gd name="T30" fmla="*/ 0 w 16"/>
                  <a:gd name="T31" fmla="*/ 21 h 22"/>
                  <a:gd name="T32" fmla="*/ 7 w 16"/>
                  <a:gd name="T33" fmla="*/ 22 h 22"/>
                  <a:gd name="T34" fmla="*/ 16 w 16"/>
                  <a:gd name="T35" fmla="*/ 16 h 22"/>
                  <a:gd name="T36" fmla="*/ 9 w 16"/>
                  <a:gd name="T37" fmla="*/ 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22">
                    <a:moveTo>
                      <a:pt x="9" y="8"/>
                    </a:moveTo>
                    <a:cubicBezTo>
                      <a:pt x="7" y="7"/>
                      <a:pt x="5" y="6"/>
                      <a:pt x="5" y="5"/>
                    </a:cubicBezTo>
                    <a:cubicBezTo>
                      <a:pt x="5" y="3"/>
                      <a:pt x="7" y="3"/>
                      <a:pt x="8" y="3"/>
                    </a:cubicBezTo>
                    <a:cubicBezTo>
                      <a:pt x="11" y="3"/>
                      <a:pt x="13" y="4"/>
                      <a:pt x="14" y="4"/>
                    </a:cubicBezTo>
                    <a:cubicBezTo>
                      <a:pt x="14" y="5"/>
                      <a:pt x="14" y="5"/>
                      <a:pt x="14" y="5"/>
                    </a:cubicBezTo>
                    <a:cubicBezTo>
                      <a:pt x="14" y="1"/>
                      <a:pt x="14" y="1"/>
                      <a:pt x="14" y="1"/>
                    </a:cubicBezTo>
                    <a:cubicBezTo>
                      <a:pt x="14" y="0"/>
                      <a:pt x="14" y="0"/>
                      <a:pt x="14" y="0"/>
                    </a:cubicBezTo>
                    <a:cubicBezTo>
                      <a:pt x="13" y="0"/>
                      <a:pt x="11" y="0"/>
                      <a:pt x="8" y="0"/>
                    </a:cubicBezTo>
                    <a:cubicBezTo>
                      <a:pt x="3" y="0"/>
                      <a:pt x="0" y="2"/>
                      <a:pt x="0" y="6"/>
                    </a:cubicBezTo>
                    <a:cubicBezTo>
                      <a:pt x="0" y="10"/>
                      <a:pt x="3" y="11"/>
                      <a:pt x="6" y="13"/>
                    </a:cubicBezTo>
                    <a:cubicBezTo>
                      <a:pt x="8" y="14"/>
                      <a:pt x="11" y="15"/>
                      <a:pt x="11" y="17"/>
                    </a:cubicBezTo>
                    <a:cubicBezTo>
                      <a:pt x="11" y="18"/>
                      <a:pt x="9" y="19"/>
                      <a:pt x="7" y="19"/>
                    </a:cubicBezTo>
                    <a:cubicBezTo>
                      <a:pt x="4" y="19"/>
                      <a:pt x="2" y="18"/>
                      <a:pt x="0" y="17"/>
                    </a:cubicBezTo>
                    <a:cubicBezTo>
                      <a:pt x="0" y="17"/>
                      <a:pt x="0" y="17"/>
                      <a:pt x="0" y="17"/>
                    </a:cubicBezTo>
                    <a:cubicBezTo>
                      <a:pt x="0" y="21"/>
                      <a:pt x="0" y="21"/>
                      <a:pt x="0" y="21"/>
                    </a:cubicBezTo>
                    <a:cubicBezTo>
                      <a:pt x="0" y="21"/>
                      <a:pt x="0" y="21"/>
                      <a:pt x="0" y="21"/>
                    </a:cubicBezTo>
                    <a:cubicBezTo>
                      <a:pt x="1" y="22"/>
                      <a:pt x="4" y="22"/>
                      <a:pt x="7" y="22"/>
                    </a:cubicBezTo>
                    <a:cubicBezTo>
                      <a:pt x="12" y="22"/>
                      <a:pt x="16" y="20"/>
                      <a:pt x="16" y="16"/>
                    </a:cubicBezTo>
                    <a:cubicBezTo>
                      <a:pt x="16" y="12"/>
                      <a:pt x="12" y="10"/>
                      <a:pt x="9" y="8"/>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1" name="Freeform 30"/>
              <p:cNvSpPr>
                <a:spLocks noEditPoints="1"/>
              </p:cNvSpPr>
              <p:nvPr/>
            </p:nvSpPr>
            <p:spPr bwMode="auto">
              <a:xfrm>
                <a:off x="3345" y="1567"/>
                <a:ext cx="59" cy="73"/>
              </a:xfrm>
              <a:custGeom>
                <a:avLst/>
                <a:gdLst>
                  <a:gd name="T0" fmla="*/ 16 w 25"/>
                  <a:gd name="T1" fmla="*/ 0 h 31"/>
                  <a:gd name="T2" fmla="*/ 10 w 25"/>
                  <a:gd name="T3" fmla="*/ 3 h 31"/>
                  <a:gd name="T4" fmla="*/ 10 w 25"/>
                  <a:gd name="T5" fmla="*/ 0 h 31"/>
                  <a:gd name="T6" fmla="*/ 9 w 25"/>
                  <a:gd name="T7" fmla="*/ 0 h 31"/>
                  <a:gd name="T8" fmla="*/ 0 w 25"/>
                  <a:gd name="T9" fmla="*/ 1 h 31"/>
                  <a:gd name="T10" fmla="*/ 0 w 25"/>
                  <a:gd name="T11" fmla="*/ 3 h 31"/>
                  <a:gd name="T12" fmla="*/ 0 w 25"/>
                  <a:gd name="T13" fmla="*/ 3 h 31"/>
                  <a:gd name="T14" fmla="*/ 4 w 25"/>
                  <a:gd name="T15" fmla="*/ 6 h 31"/>
                  <a:gd name="T16" fmla="*/ 4 w 25"/>
                  <a:gd name="T17" fmla="*/ 31 h 31"/>
                  <a:gd name="T18" fmla="*/ 10 w 25"/>
                  <a:gd name="T19" fmla="*/ 31 h 31"/>
                  <a:gd name="T20" fmla="*/ 10 w 25"/>
                  <a:gd name="T21" fmla="*/ 20 h 31"/>
                  <a:gd name="T22" fmla="*/ 16 w 25"/>
                  <a:gd name="T23" fmla="*/ 22 h 31"/>
                  <a:gd name="T24" fmla="*/ 25 w 25"/>
                  <a:gd name="T25" fmla="*/ 11 h 31"/>
                  <a:gd name="T26" fmla="*/ 16 w 25"/>
                  <a:gd name="T27" fmla="*/ 0 h 31"/>
                  <a:gd name="T28" fmla="*/ 14 w 25"/>
                  <a:gd name="T29" fmla="*/ 3 h 31"/>
                  <a:gd name="T30" fmla="*/ 19 w 25"/>
                  <a:gd name="T31" fmla="*/ 11 h 31"/>
                  <a:gd name="T32" fmla="*/ 14 w 25"/>
                  <a:gd name="T33" fmla="*/ 19 h 31"/>
                  <a:gd name="T34" fmla="*/ 10 w 25"/>
                  <a:gd name="T35" fmla="*/ 12 h 31"/>
                  <a:gd name="T36" fmla="*/ 10 w 25"/>
                  <a:gd name="T37" fmla="*/ 10 h 31"/>
                  <a:gd name="T38" fmla="*/ 14 w 25"/>
                  <a:gd name="T39"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31">
                    <a:moveTo>
                      <a:pt x="16" y="0"/>
                    </a:moveTo>
                    <a:cubicBezTo>
                      <a:pt x="14" y="0"/>
                      <a:pt x="12" y="1"/>
                      <a:pt x="10" y="3"/>
                    </a:cubicBezTo>
                    <a:cubicBezTo>
                      <a:pt x="10" y="2"/>
                      <a:pt x="10" y="0"/>
                      <a:pt x="10" y="0"/>
                    </a:cubicBezTo>
                    <a:cubicBezTo>
                      <a:pt x="9" y="0"/>
                      <a:pt x="9" y="0"/>
                      <a:pt x="9" y="0"/>
                    </a:cubicBezTo>
                    <a:cubicBezTo>
                      <a:pt x="0" y="1"/>
                      <a:pt x="0" y="1"/>
                      <a:pt x="0" y="1"/>
                    </a:cubicBezTo>
                    <a:cubicBezTo>
                      <a:pt x="0" y="3"/>
                      <a:pt x="0" y="3"/>
                      <a:pt x="0" y="3"/>
                    </a:cubicBezTo>
                    <a:cubicBezTo>
                      <a:pt x="0" y="3"/>
                      <a:pt x="0" y="3"/>
                      <a:pt x="0" y="3"/>
                    </a:cubicBezTo>
                    <a:cubicBezTo>
                      <a:pt x="3" y="3"/>
                      <a:pt x="4" y="4"/>
                      <a:pt x="4" y="6"/>
                    </a:cubicBezTo>
                    <a:cubicBezTo>
                      <a:pt x="4" y="31"/>
                      <a:pt x="4" y="31"/>
                      <a:pt x="4" y="31"/>
                    </a:cubicBezTo>
                    <a:cubicBezTo>
                      <a:pt x="10" y="31"/>
                      <a:pt x="10" y="31"/>
                      <a:pt x="10" y="31"/>
                    </a:cubicBezTo>
                    <a:cubicBezTo>
                      <a:pt x="10" y="31"/>
                      <a:pt x="10" y="21"/>
                      <a:pt x="10" y="20"/>
                    </a:cubicBezTo>
                    <a:cubicBezTo>
                      <a:pt x="11" y="21"/>
                      <a:pt x="13" y="22"/>
                      <a:pt x="16" y="22"/>
                    </a:cubicBezTo>
                    <a:cubicBezTo>
                      <a:pt x="22" y="22"/>
                      <a:pt x="25" y="18"/>
                      <a:pt x="25" y="11"/>
                    </a:cubicBezTo>
                    <a:cubicBezTo>
                      <a:pt x="25" y="4"/>
                      <a:pt x="22" y="0"/>
                      <a:pt x="16" y="0"/>
                    </a:cubicBezTo>
                    <a:moveTo>
                      <a:pt x="14" y="3"/>
                    </a:moveTo>
                    <a:cubicBezTo>
                      <a:pt x="18" y="3"/>
                      <a:pt x="19" y="7"/>
                      <a:pt x="19" y="11"/>
                    </a:cubicBezTo>
                    <a:cubicBezTo>
                      <a:pt x="19" y="16"/>
                      <a:pt x="17" y="19"/>
                      <a:pt x="14" y="19"/>
                    </a:cubicBezTo>
                    <a:cubicBezTo>
                      <a:pt x="11" y="19"/>
                      <a:pt x="10" y="15"/>
                      <a:pt x="10" y="12"/>
                    </a:cubicBezTo>
                    <a:cubicBezTo>
                      <a:pt x="10" y="10"/>
                      <a:pt x="10" y="10"/>
                      <a:pt x="10" y="10"/>
                    </a:cubicBezTo>
                    <a:cubicBezTo>
                      <a:pt x="10" y="8"/>
                      <a:pt x="10" y="3"/>
                      <a:pt x="14" y="3"/>
                    </a:cubicBez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2" name="Freeform 31"/>
              <p:cNvSpPr>
                <a:spLocks/>
              </p:cNvSpPr>
              <p:nvPr/>
            </p:nvSpPr>
            <p:spPr bwMode="auto">
              <a:xfrm>
                <a:off x="3414" y="1567"/>
                <a:ext cx="23" cy="52"/>
              </a:xfrm>
              <a:custGeom>
                <a:avLst/>
                <a:gdLst>
                  <a:gd name="T0" fmla="*/ 0 w 10"/>
                  <a:gd name="T1" fmla="*/ 1 h 22"/>
                  <a:gd name="T2" fmla="*/ 0 w 10"/>
                  <a:gd name="T3" fmla="*/ 3 h 22"/>
                  <a:gd name="T4" fmla="*/ 1 w 10"/>
                  <a:gd name="T5" fmla="*/ 3 h 22"/>
                  <a:gd name="T6" fmla="*/ 4 w 10"/>
                  <a:gd name="T7" fmla="*/ 6 h 22"/>
                  <a:gd name="T8" fmla="*/ 4 w 10"/>
                  <a:gd name="T9" fmla="*/ 22 h 22"/>
                  <a:gd name="T10" fmla="*/ 10 w 10"/>
                  <a:gd name="T11" fmla="*/ 22 h 22"/>
                  <a:gd name="T12" fmla="*/ 10 w 10"/>
                  <a:gd name="T13" fmla="*/ 0 h 22"/>
                  <a:gd name="T14" fmla="*/ 9 w 10"/>
                  <a:gd name="T15" fmla="*/ 0 h 22"/>
                  <a:gd name="T16" fmla="*/ 0 w 10"/>
                  <a:gd name="T17"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22">
                    <a:moveTo>
                      <a:pt x="0" y="1"/>
                    </a:moveTo>
                    <a:cubicBezTo>
                      <a:pt x="0" y="3"/>
                      <a:pt x="0" y="3"/>
                      <a:pt x="0" y="3"/>
                    </a:cubicBezTo>
                    <a:cubicBezTo>
                      <a:pt x="1" y="3"/>
                      <a:pt x="1" y="3"/>
                      <a:pt x="1" y="3"/>
                    </a:cubicBezTo>
                    <a:cubicBezTo>
                      <a:pt x="3" y="3"/>
                      <a:pt x="4" y="4"/>
                      <a:pt x="4" y="6"/>
                    </a:cubicBezTo>
                    <a:cubicBezTo>
                      <a:pt x="4" y="22"/>
                      <a:pt x="4" y="22"/>
                      <a:pt x="4" y="22"/>
                    </a:cubicBezTo>
                    <a:cubicBezTo>
                      <a:pt x="10" y="22"/>
                      <a:pt x="10" y="22"/>
                      <a:pt x="10" y="22"/>
                    </a:cubicBezTo>
                    <a:cubicBezTo>
                      <a:pt x="10" y="0"/>
                      <a:pt x="10" y="0"/>
                      <a:pt x="10" y="0"/>
                    </a:cubicBezTo>
                    <a:cubicBezTo>
                      <a:pt x="9" y="0"/>
                      <a:pt x="9" y="0"/>
                      <a:pt x="9" y="0"/>
                    </a:cubicBezTo>
                    <a:cubicBezTo>
                      <a:pt x="0" y="1"/>
                      <a:pt x="0" y="1"/>
                      <a:pt x="0" y="1"/>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3" name="Oval 32"/>
              <p:cNvSpPr>
                <a:spLocks noChangeArrowheads="1"/>
              </p:cNvSpPr>
              <p:nvPr/>
            </p:nvSpPr>
            <p:spPr bwMode="auto">
              <a:xfrm>
                <a:off x="3421" y="1546"/>
                <a:ext cx="19" cy="14"/>
              </a:xfrm>
              <a:prstGeom prst="ellipse">
                <a:avLst/>
              </a:pr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4" name="Freeform 33"/>
              <p:cNvSpPr>
                <a:spLocks/>
              </p:cNvSpPr>
              <p:nvPr/>
            </p:nvSpPr>
            <p:spPr bwMode="auto">
              <a:xfrm>
                <a:off x="3449" y="1567"/>
                <a:ext cx="45" cy="52"/>
              </a:xfrm>
              <a:custGeom>
                <a:avLst/>
                <a:gdLst>
                  <a:gd name="T0" fmla="*/ 19 w 19"/>
                  <a:gd name="T1" fmla="*/ 5 h 22"/>
                  <a:gd name="T2" fmla="*/ 19 w 19"/>
                  <a:gd name="T3" fmla="*/ 0 h 22"/>
                  <a:gd name="T4" fmla="*/ 19 w 19"/>
                  <a:gd name="T5" fmla="*/ 0 h 22"/>
                  <a:gd name="T6" fmla="*/ 16 w 19"/>
                  <a:gd name="T7" fmla="*/ 0 h 22"/>
                  <a:gd name="T8" fmla="*/ 10 w 19"/>
                  <a:gd name="T9" fmla="*/ 4 h 22"/>
                  <a:gd name="T10" fmla="*/ 10 w 19"/>
                  <a:gd name="T11" fmla="*/ 0 h 22"/>
                  <a:gd name="T12" fmla="*/ 10 w 19"/>
                  <a:gd name="T13" fmla="*/ 0 h 22"/>
                  <a:gd name="T14" fmla="*/ 0 w 19"/>
                  <a:gd name="T15" fmla="*/ 1 h 22"/>
                  <a:gd name="T16" fmla="*/ 0 w 19"/>
                  <a:gd name="T17" fmla="*/ 3 h 22"/>
                  <a:gd name="T18" fmla="*/ 1 w 19"/>
                  <a:gd name="T19" fmla="*/ 3 h 22"/>
                  <a:gd name="T20" fmla="*/ 4 w 19"/>
                  <a:gd name="T21" fmla="*/ 6 h 22"/>
                  <a:gd name="T22" fmla="*/ 4 w 19"/>
                  <a:gd name="T23" fmla="*/ 22 h 22"/>
                  <a:gd name="T24" fmla="*/ 10 w 19"/>
                  <a:gd name="T25" fmla="*/ 22 h 22"/>
                  <a:gd name="T26" fmla="*/ 10 w 19"/>
                  <a:gd name="T27" fmla="*/ 11 h 22"/>
                  <a:gd name="T28" fmla="*/ 16 w 19"/>
                  <a:gd name="T29" fmla="*/ 4 h 22"/>
                  <a:gd name="T30" fmla="*/ 18 w 19"/>
                  <a:gd name="T31" fmla="*/ 5 h 22"/>
                  <a:gd name="T32" fmla="*/ 19 w 19"/>
                  <a:gd name="T33" fmla="*/ 5 h 22"/>
                  <a:gd name="T34" fmla="*/ 19 w 19"/>
                  <a:gd name="T35"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 h="22">
                    <a:moveTo>
                      <a:pt x="19" y="5"/>
                    </a:moveTo>
                    <a:cubicBezTo>
                      <a:pt x="19" y="0"/>
                      <a:pt x="19" y="0"/>
                      <a:pt x="19" y="0"/>
                    </a:cubicBezTo>
                    <a:cubicBezTo>
                      <a:pt x="19" y="0"/>
                      <a:pt x="19" y="0"/>
                      <a:pt x="19" y="0"/>
                    </a:cubicBezTo>
                    <a:cubicBezTo>
                      <a:pt x="18" y="0"/>
                      <a:pt x="17" y="0"/>
                      <a:pt x="16" y="0"/>
                    </a:cubicBezTo>
                    <a:cubicBezTo>
                      <a:pt x="13" y="0"/>
                      <a:pt x="11" y="2"/>
                      <a:pt x="10" y="4"/>
                    </a:cubicBezTo>
                    <a:cubicBezTo>
                      <a:pt x="10" y="2"/>
                      <a:pt x="10" y="0"/>
                      <a:pt x="10" y="0"/>
                    </a:cubicBezTo>
                    <a:cubicBezTo>
                      <a:pt x="10" y="0"/>
                      <a:pt x="10" y="0"/>
                      <a:pt x="10" y="0"/>
                    </a:cubicBezTo>
                    <a:cubicBezTo>
                      <a:pt x="0" y="1"/>
                      <a:pt x="0" y="1"/>
                      <a:pt x="0" y="1"/>
                    </a:cubicBezTo>
                    <a:cubicBezTo>
                      <a:pt x="0" y="3"/>
                      <a:pt x="0" y="3"/>
                      <a:pt x="0" y="3"/>
                    </a:cubicBezTo>
                    <a:cubicBezTo>
                      <a:pt x="1" y="3"/>
                      <a:pt x="1" y="3"/>
                      <a:pt x="1" y="3"/>
                    </a:cubicBezTo>
                    <a:cubicBezTo>
                      <a:pt x="4" y="3"/>
                      <a:pt x="4" y="4"/>
                      <a:pt x="4" y="6"/>
                    </a:cubicBezTo>
                    <a:cubicBezTo>
                      <a:pt x="4" y="22"/>
                      <a:pt x="4" y="22"/>
                      <a:pt x="4" y="22"/>
                    </a:cubicBezTo>
                    <a:cubicBezTo>
                      <a:pt x="10" y="22"/>
                      <a:pt x="10" y="22"/>
                      <a:pt x="10" y="22"/>
                    </a:cubicBezTo>
                    <a:cubicBezTo>
                      <a:pt x="10" y="11"/>
                      <a:pt x="10" y="11"/>
                      <a:pt x="10" y="11"/>
                    </a:cubicBezTo>
                    <a:cubicBezTo>
                      <a:pt x="10" y="9"/>
                      <a:pt x="11" y="4"/>
                      <a:pt x="16" y="4"/>
                    </a:cubicBezTo>
                    <a:cubicBezTo>
                      <a:pt x="17" y="4"/>
                      <a:pt x="18" y="5"/>
                      <a:pt x="18" y="5"/>
                    </a:cubicBezTo>
                    <a:cubicBezTo>
                      <a:pt x="19" y="5"/>
                      <a:pt x="19" y="5"/>
                      <a:pt x="19" y="5"/>
                    </a:cubicBezTo>
                    <a:cubicBezTo>
                      <a:pt x="19" y="5"/>
                      <a:pt x="19" y="5"/>
                      <a:pt x="19" y="5"/>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5" name="Freeform 34"/>
              <p:cNvSpPr>
                <a:spLocks noEditPoints="1"/>
              </p:cNvSpPr>
              <p:nvPr/>
            </p:nvSpPr>
            <p:spPr bwMode="auto">
              <a:xfrm>
                <a:off x="3501" y="1567"/>
                <a:ext cx="47" cy="52"/>
              </a:xfrm>
              <a:custGeom>
                <a:avLst/>
                <a:gdLst>
                  <a:gd name="T0" fmla="*/ 20 w 20"/>
                  <a:gd name="T1" fmla="*/ 9 h 22"/>
                  <a:gd name="T2" fmla="*/ 11 w 20"/>
                  <a:gd name="T3" fmla="*/ 0 h 22"/>
                  <a:gd name="T4" fmla="*/ 0 w 20"/>
                  <a:gd name="T5" fmla="*/ 10 h 22"/>
                  <a:gd name="T6" fmla="*/ 12 w 20"/>
                  <a:gd name="T7" fmla="*/ 22 h 22"/>
                  <a:gd name="T8" fmla="*/ 20 w 20"/>
                  <a:gd name="T9" fmla="*/ 21 h 22"/>
                  <a:gd name="T10" fmla="*/ 20 w 20"/>
                  <a:gd name="T11" fmla="*/ 21 h 22"/>
                  <a:gd name="T12" fmla="*/ 20 w 20"/>
                  <a:gd name="T13" fmla="*/ 18 h 22"/>
                  <a:gd name="T14" fmla="*/ 19 w 20"/>
                  <a:gd name="T15" fmla="*/ 18 h 22"/>
                  <a:gd name="T16" fmla="*/ 15 w 20"/>
                  <a:gd name="T17" fmla="*/ 19 h 22"/>
                  <a:gd name="T18" fmla="*/ 6 w 20"/>
                  <a:gd name="T19" fmla="*/ 9 h 22"/>
                  <a:gd name="T20" fmla="*/ 20 w 20"/>
                  <a:gd name="T21" fmla="*/ 9 h 22"/>
                  <a:gd name="T22" fmla="*/ 20 w 20"/>
                  <a:gd name="T23" fmla="*/ 9 h 22"/>
                  <a:gd name="T24" fmla="*/ 10 w 20"/>
                  <a:gd name="T25" fmla="*/ 2 h 22"/>
                  <a:gd name="T26" fmla="*/ 14 w 20"/>
                  <a:gd name="T27" fmla="*/ 6 h 22"/>
                  <a:gd name="T28" fmla="*/ 6 w 20"/>
                  <a:gd name="T29" fmla="*/ 6 h 22"/>
                  <a:gd name="T30" fmla="*/ 10 w 20"/>
                  <a:gd name="T3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22">
                    <a:moveTo>
                      <a:pt x="20" y="9"/>
                    </a:moveTo>
                    <a:cubicBezTo>
                      <a:pt x="20" y="3"/>
                      <a:pt x="17" y="0"/>
                      <a:pt x="11" y="0"/>
                    </a:cubicBezTo>
                    <a:cubicBezTo>
                      <a:pt x="3" y="0"/>
                      <a:pt x="0" y="3"/>
                      <a:pt x="0" y="10"/>
                    </a:cubicBezTo>
                    <a:cubicBezTo>
                      <a:pt x="0" y="18"/>
                      <a:pt x="4" y="22"/>
                      <a:pt x="12" y="22"/>
                    </a:cubicBezTo>
                    <a:cubicBezTo>
                      <a:pt x="16" y="22"/>
                      <a:pt x="19" y="21"/>
                      <a:pt x="20" y="21"/>
                    </a:cubicBezTo>
                    <a:cubicBezTo>
                      <a:pt x="20" y="21"/>
                      <a:pt x="20" y="21"/>
                      <a:pt x="20" y="21"/>
                    </a:cubicBezTo>
                    <a:cubicBezTo>
                      <a:pt x="20" y="18"/>
                      <a:pt x="20" y="18"/>
                      <a:pt x="20" y="18"/>
                    </a:cubicBezTo>
                    <a:cubicBezTo>
                      <a:pt x="19" y="18"/>
                      <a:pt x="19" y="18"/>
                      <a:pt x="19" y="18"/>
                    </a:cubicBezTo>
                    <a:cubicBezTo>
                      <a:pt x="18" y="18"/>
                      <a:pt x="17" y="19"/>
                      <a:pt x="15" y="19"/>
                    </a:cubicBezTo>
                    <a:cubicBezTo>
                      <a:pt x="9" y="19"/>
                      <a:pt x="6" y="14"/>
                      <a:pt x="6" y="9"/>
                    </a:cubicBezTo>
                    <a:cubicBezTo>
                      <a:pt x="7" y="9"/>
                      <a:pt x="20" y="9"/>
                      <a:pt x="20" y="9"/>
                    </a:cubicBezTo>
                    <a:cubicBezTo>
                      <a:pt x="20" y="9"/>
                      <a:pt x="20" y="9"/>
                      <a:pt x="20" y="9"/>
                    </a:cubicBezTo>
                    <a:moveTo>
                      <a:pt x="10" y="2"/>
                    </a:moveTo>
                    <a:cubicBezTo>
                      <a:pt x="14" y="2"/>
                      <a:pt x="14" y="4"/>
                      <a:pt x="14" y="6"/>
                    </a:cubicBezTo>
                    <a:cubicBezTo>
                      <a:pt x="14" y="6"/>
                      <a:pt x="7" y="6"/>
                      <a:pt x="6" y="6"/>
                    </a:cubicBezTo>
                    <a:cubicBezTo>
                      <a:pt x="6" y="5"/>
                      <a:pt x="7" y="2"/>
                      <a:pt x="10" y="2"/>
                    </a:cubicBez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6" name="Freeform 35"/>
              <p:cNvSpPr>
                <a:spLocks/>
              </p:cNvSpPr>
              <p:nvPr/>
            </p:nvSpPr>
            <p:spPr bwMode="auto">
              <a:xfrm>
                <a:off x="3633" y="1543"/>
                <a:ext cx="57" cy="76"/>
              </a:xfrm>
              <a:custGeom>
                <a:avLst/>
                <a:gdLst>
                  <a:gd name="T0" fmla="*/ 18 w 24"/>
                  <a:gd name="T1" fmla="*/ 10 h 32"/>
                  <a:gd name="T2" fmla="*/ 10 w 24"/>
                  <a:gd name="T3" fmla="*/ 14 h 32"/>
                  <a:gd name="T4" fmla="*/ 10 w 24"/>
                  <a:gd name="T5" fmla="*/ 0 h 32"/>
                  <a:gd name="T6" fmla="*/ 9 w 24"/>
                  <a:gd name="T7" fmla="*/ 0 h 32"/>
                  <a:gd name="T8" fmla="*/ 0 w 24"/>
                  <a:gd name="T9" fmla="*/ 1 h 32"/>
                  <a:gd name="T10" fmla="*/ 0 w 24"/>
                  <a:gd name="T11" fmla="*/ 3 h 32"/>
                  <a:gd name="T12" fmla="*/ 0 w 24"/>
                  <a:gd name="T13" fmla="*/ 3 h 32"/>
                  <a:gd name="T14" fmla="*/ 4 w 24"/>
                  <a:gd name="T15" fmla="*/ 6 h 32"/>
                  <a:gd name="T16" fmla="*/ 4 w 24"/>
                  <a:gd name="T17" fmla="*/ 32 h 32"/>
                  <a:gd name="T18" fmla="*/ 10 w 24"/>
                  <a:gd name="T19" fmla="*/ 32 h 32"/>
                  <a:gd name="T20" fmla="*/ 10 w 24"/>
                  <a:gd name="T21" fmla="*/ 21 h 32"/>
                  <a:gd name="T22" fmla="*/ 15 w 24"/>
                  <a:gd name="T23" fmla="*/ 14 h 32"/>
                  <a:gd name="T24" fmla="*/ 18 w 24"/>
                  <a:gd name="T25" fmla="*/ 18 h 32"/>
                  <a:gd name="T26" fmla="*/ 18 w 24"/>
                  <a:gd name="T27" fmla="*/ 32 h 32"/>
                  <a:gd name="T28" fmla="*/ 24 w 24"/>
                  <a:gd name="T29" fmla="*/ 32 h 32"/>
                  <a:gd name="T30" fmla="*/ 24 w 24"/>
                  <a:gd name="T31" fmla="*/ 18 h 32"/>
                  <a:gd name="T32" fmla="*/ 18 w 24"/>
                  <a:gd name="T33"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32">
                    <a:moveTo>
                      <a:pt x="18" y="10"/>
                    </a:moveTo>
                    <a:cubicBezTo>
                      <a:pt x="13" y="10"/>
                      <a:pt x="11" y="12"/>
                      <a:pt x="10" y="14"/>
                    </a:cubicBezTo>
                    <a:cubicBezTo>
                      <a:pt x="10" y="12"/>
                      <a:pt x="10" y="0"/>
                      <a:pt x="10" y="0"/>
                    </a:cubicBezTo>
                    <a:cubicBezTo>
                      <a:pt x="9" y="0"/>
                      <a:pt x="9" y="0"/>
                      <a:pt x="9" y="0"/>
                    </a:cubicBezTo>
                    <a:cubicBezTo>
                      <a:pt x="0" y="1"/>
                      <a:pt x="0" y="1"/>
                      <a:pt x="0" y="1"/>
                    </a:cubicBezTo>
                    <a:cubicBezTo>
                      <a:pt x="0" y="3"/>
                      <a:pt x="0" y="3"/>
                      <a:pt x="0" y="3"/>
                    </a:cubicBezTo>
                    <a:cubicBezTo>
                      <a:pt x="0" y="3"/>
                      <a:pt x="0" y="3"/>
                      <a:pt x="0" y="3"/>
                    </a:cubicBezTo>
                    <a:cubicBezTo>
                      <a:pt x="3" y="3"/>
                      <a:pt x="4" y="4"/>
                      <a:pt x="4" y="6"/>
                    </a:cubicBezTo>
                    <a:cubicBezTo>
                      <a:pt x="4" y="32"/>
                      <a:pt x="4" y="32"/>
                      <a:pt x="4" y="32"/>
                    </a:cubicBezTo>
                    <a:cubicBezTo>
                      <a:pt x="10" y="32"/>
                      <a:pt x="10" y="32"/>
                      <a:pt x="10" y="32"/>
                    </a:cubicBezTo>
                    <a:cubicBezTo>
                      <a:pt x="10" y="21"/>
                      <a:pt x="10" y="21"/>
                      <a:pt x="10" y="21"/>
                    </a:cubicBezTo>
                    <a:cubicBezTo>
                      <a:pt x="10" y="17"/>
                      <a:pt x="13" y="14"/>
                      <a:pt x="15" y="14"/>
                    </a:cubicBezTo>
                    <a:cubicBezTo>
                      <a:pt x="18" y="14"/>
                      <a:pt x="18" y="16"/>
                      <a:pt x="18" y="18"/>
                    </a:cubicBezTo>
                    <a:cubicBezTo>
                      <a:pt x="18" y="32"/>
                      <a:pt x="18" y="32"/>
                      <a:pt x="18" y="32"/>
                    </a:cubicBezTo>
                    <a:cubicBezTo>
                      <a:pt x="24" y="32"/>
                      <a:pt x="24" y="32"/>
                      <a:pt x="24" y="32"/>
                    </a:cubicBezTo>
                    <a:cubicBezTo>
                      <a:pt x="24" y="18"/>
                      <a:pt x="24" y="18"/>
                      <a:pt x="24" y="18"/>
                    </a:cubicBezTo>
                    <a:cubicBezTo>
                      <a:pt x="24" y="15"/>
                      <a:pt x="24" y="10"/>
                      <a:pt x="18" y="1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7" name="Freeform 36"/>
              <p:cNvSpPr>
                <a:spLocks noEditPoints="1"/>
              </p:cNvSpPr>
              <p:nvPr/>
            </p:nvSpPr>
            <p:spPr bwMode="auto">
              <a:xfrm>
                <a:off x="3704" y="1567"/>
                <a:ext cx="47" cy="52"/>
              </a:xfrm>
              <a:custGeom>
                <a:avLst/>
                <a:gdLst>
                  <a:gd name="T0" fmla="*/ 20 w 20"/>
                  <a:gd name="T1" fmla="*/ 9 h 22"/>
                  <a:gd name="T2" fmla="*/ 11 w 20"/>
                  <a:gd name="T3" fmla="*/ 0 h 22"/>
                  <a:gd name="T4" fmla="*/ 0 w 20"/>
                  <a:gd name="T5" fmla="*/ 10 h 22"/>
                  <a:gd name="T6" fmla="*/ 12 w 20"/>
                  <a:gd name="T7" fmla="*/ 22 h 22"/>
                  <a:gd name="T8" fmla="*/ 20 w 20"/>
                  <a:gd name="T9" fmla="*/ 21 h 22"/>
                  <a:gd name="T10" fmla="*/ 20 w 20"/>
                  <a:gd name="T11" fmla="*/ 21 h 22"/>
                  <a:gd name="T12" fmla="*/ 20 w 20"/>
                  <a:gd name="T13" fmla="*/ 18 h 22"/>
                  <a:gd name="T14" fmla="*/ 19 w 20"/>
                  <a:gd name="T15" fmla="*/ 18 h 22"/>
                  <a:gd name="T16" fmla="*/ 15 w 20"/>
                  <a:gd name="T17" fmla="*/ 19 h 22"/>
                  <a:gd name="T18" fmla="*/ 6 w 20"/>
                  <a:gd name="T19" fmla="*/ 9 h 22"/>
                  <a:gd name="T20" fmla="*/ 20 w 20"/>
                  <a:gd name="T21" fmla="*/ 9 h 22"/>
                  <a:gd name="T22" fmla="*/ 20 w 20"/>
                  <a:gd name="T23" fmla="*/ 9 h 22"/>
                  <a:gd name="T24" fmla="*/ 10 w 20"/>
                  <a:gd name="T25" fmla="*/ 2 h 22"/>
                  <a:gd name="T26" fmla="*/ 14 w 20"/>
                  <a:gd name="T27" fmla="*/ 6 h 22"/>
                  <a:gd name="T28" fmla="*/ 6 w 20"/>
                  <a:gd name="T29" fmla="*/ 6 h 22"/>
                  <a:gd name="T30" fmla="*/ 10 w 20"/>
                  <a:gd name="T3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22">
                    <a:moveTo>
                      <a:pt x="20" y="9"/>
                    </a:moveTo>
                    <a:cubicBezTo>
                      <a:pt x="20" y="3"/>
                      <a:pt x="17" y="0"/>
                      <a:pt x="11" y="0"/>
                    </a:cubicBezTo>
                    <a:cubicBezTo>
                      <a:pt x="3" y="0"/>
                      <a:pt x="0" y="3"/>
                      <a:pt x="0" y="10"/>
                    </a:cubicBezTo>
                    <a:cubicBezTo>
                      <a:pt x="0" y="18"/>
                      <a:pt x="4" y="22"/>
                      <a:pt x="12" y="22"/>
                    </a:cubicBezTo>
                    <a:cubicBezTo>
                      <a:pt x="16" y="22"/>
                      <a:pt x="19" y="21"/>
                      <a:pt x="20" y="21"/>
                    </a:cubicBezTo>
                    <a:cubicBezTo>
                      <a:pt x="20" y="21"/>
                      <a:pt x="20" y="21"/>
                      <a:pt x="20" y="21"/>
                    </a:cubicBezTo>
                    <a:cubicBezTo>
                      <a:pt x="20" y="18"/>
                      <a:pt x="20" y="18"/>
                      <a:pt x="20" y="18"/>
                    </a:cubicBezTo>
                    <a:cubicBezTo>
                      <a:pt x="19" y="18"/>
                      <a:pt x="19" y="18"/>
                      <a:pt x="19" y="18"/>
                    </a:cubicBezTo>
                    <a:cubicBezTo>
                      <a:pt x="18" y="18"/>
                      <a:pt x="17" y="19"/>
                      <a:pt x="15" y="19"/>
                    </a:cubicBezTo>
                    <a:cubicBezTo>
                      <a:pt x="9" y="19"/>
                      <a:pt x="6" y="14"/>
                      <a:pt x="6" y="9"/>
                    </a:cubicBezTo>
                    <a:cubicBezTo>
                      <a:pt x="7" y="9"/>
                      <a:pt x="20" y="9"/>
                      <a:pt x="20" y="9"/>
                    </a:cubicBezTo>
                    <a:cubicBezTo>
                      <a:pt x="20" y="9"/>
                      <a:pt x="20" y="9"/>
                      <a:pt x="20" y="9"/>
                    </a:cubicBezTo>
                    <a:moveTo>
                      <a:pt x="10" y="2"/>
                    </a:moveTo>
                    <a:cubicBezTo>
                      <a:pt x="14" y="2"/>
                      <a:pt x="14" y="4"/>
                      <a:pt x="14" y="6"/>
                    </a:cubicBezTo>
                    <a:cubicBezTo>
                      <a:pt x="14" y="6"/>
                      <a:pt x="7" y="6"/>
                      <a:pt x="6" y="6"/>
                    </a:cubicBezTo>
                    <a:cubicBezTo>
                      <a:pt x="6" y="5"/>
                      <a:pt x="7" y="2"/>
                      <a:pt x="10" y="2"/>
                    </a:cubicBez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8" name="Freeform 37"/>
              <p:cNvSpPr>
                <a:spLocks/>
              </p:cNvSpPr>
              <p:nvPr/>
            </p:nvSpPr>
            <p:spPr bwMode="auto">
              <a:xfrm>
                <a:off x="3588" y="1553"/>
                <a:ext cx="38" cy="66"/>
              </a:xfrm>
              <a:custGeom>
                <a:avLst/>
                <a:gdLst>
                  <a:gd name="T0" fmla="*/ 4 w 16"/>
                  <a:gd name="T1" fmla="*/ 0 h 28"/>
                  <a:gd name="T2" fmla="*/ 4 w 16"/>
                  <a:gd name="T3" fmla="*/ 6 h 28"/>
                  <a:gd name="T4" fmla="*/ 0 w 16"/>
                  <a:gd name="T5" fmla="*/ 6 h 28"/>
                  <a:gd name="T6" fmla="*/ 0 w 16"/>
                  <a:gd name="T7" fmla="*/ 9 h 28"/>
                  <a:gd name="T8" fmla="*/ 4 w 16"/>
                  <a:gd name="T9" fmla="*/ 9 h 28"/>
                  <a:gd name="T10" fmla="*/ 4 w 16"/>
                  <a:gd name="T11" fmla="*/ 22 h 28"/>
                  <a:gd name="T12" fmla="*/ 12 w 16"/>
                  <a:gd name="T13" fmla="*/ 28 h 28"/>
                  <a:gd name="T14" fmla="*/ 15 w 16"/>
                  <a:gd name="T15" fmla="*/ 28 h 28"/>
                  <a:gd name="T16" fmla="*/ 16 w 16"/>
                  <a:gd name="T17" fmla="*/ 28 h 28"/>
                  <a:gd name="T18" fmla="*/ 16 w 16"/>
                  <a:gd name="T19" fmla="*/ 25 h 28"/>
                  <a:gd name="T20" fmla="*/ 15 w 16"/>
                  <a:gd name="T21" fmla="*/ 25 h 28"/>
                  <a:gd name="T22" fmla="*/ 13 w 16"/>
                  <a:gd name="T23" fmla="*/ 25 h 28"/>
                  <a:gd name="T24" fmla="*/ 10 w 16"/>
                  <a:gd name="T25" fmla="*/ 21 h 28"/>
                  <a:gd name="T26" fmla="*/ 10 w 16"/>
                  <a:gd name="T27" fmla="*/ 9 h 28"/>
                  <a:gd name="T28" fmla="*/ 16 w 16"/>
                  <a:gd name="T29" fmla="*/ 9 h 28"/>
                  <a:gd name="T30" fmla="*/ 16 w 16"/>
                  <a:gd name="T31" fmla="*/ 6 h 28"/>
                  <a:gd name="T32" fmla="*/ 10 w 16"/>
                  <a:gd name="T33" fmla="*/ 6 h 28"/>
                  <a:gd name="T34" fmla="*/ 10 w 16"/>
                  <a:gd name="T35" fmla="*/ 0 h 28"/>
                  <a:gd name="T36" fmla="*/ 4 w 16"/>
                  <a:gd name="T3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28">
                    <a:moveTo>
                      <a:pt x="4" y="0"/>
                    </a:moveTo>
                    <a:cubicBezTo>
                      <a:pt x="4" y="0"/>
                      <a:pt x="4" y="6"/>
                      <a:pt x="4" y="6"/>
                    </a:cubicBezTo>
                    <a:cubicBezTo>
                      <a:pt x="3" y="6"/>
                      <a:pt x="0" y="6"/>
                      <a:pt x="0" y="6"/>
                    </a:cubicBezTo>
                    <a:cubicBezTo>
                      <a:pt x="0" y="9"/>
                      <a:pt x="0" y="9"/>
                      <a:pt x="0" y="9"/>
                    </a:cubicBezTo>
                    <a:cubicBezTo>
                      <a:pt x="0" y="9"/>
                      <a:pt x="3" y="9"/>
                      <a:pt x="4" y="9"/>
                    </a:cubicBezTo>
                    <a:cubicBezTo>
                      <a:pt x="4" y="10"/>
                      <a:pt x="4" y="22"/>
                      <a:pt x="4" y="22"/>
                    </a:cubicBezTo>
                    <a:cubicBezTo>
                      <a:pt x="4" y="28"/>
                      <a:pt x="7" y="28"/>
                      <a:pt x="12" y="28"/>
                    </a:cubicBezTo>
                    <a:cubicBezTo>
                      <a:pt x="13" y="28"/>
                      <a:pt x="14" y="28"/>
                      <a:pt x="15" y="28"/>
                    </a:cubicBezTo>
                    <a:cubicBezTo>
                      <a:pt x="16" y="28"/>
                      <a:pt x="16" y="28"/>
                      <a:pt x="16" y="28"/>
                    </a:cubicBezTo>
                    <a:cubicBezTo>
                      <a:pt x="16" y="25"/>
                      <a:pt x="16" y="25"/>
                      <a:pt x="16" y="25"/>
                    </a:cubicBezTo>
                    <a:cubicBezTo>
                      <a:pt x="15" y="25"/>
                      <a:pt x="15" y="25"/>
                      <a:pt x="15" y="25"/>
                    </a:cubicBezTo>
                    <a:cubicBezTo>
                      <a:pt x="15" y="25"/>
                      <a:pt x="14" y="25"/>
                      <a:pt x="13" y="25"/>
                    </a:cubicBezTo>
                    <a:cubicBezTo>
                      <a:pt x="10" y="25"/>
                      <a:pt x="10" y="24"/>
                      <a:pt x="10" y="21"/>
                    </a:cubicBezTo>
                    <a:cubicBezTo>
                      <a:pt x="10" y="21"/>
                      <a:pt x="10" y="10"/>
                      <a:pt x="10" y="9"/>
                    </a:cubicBezTo>
                    <a:cubicBezTo>
                      <a:pt x="10" y="9"/>
                      <a:pt x="16" y="9"/>
                      <a:pt x="16" y="9"/>
                    </a:cubicBezTo>
                    <a:cubicBezTo>
                      <a:pt x="16" y="6"/>
                      <a:pt x="16" y="6"/>
                      <a:pt x="16" y="6"/>
                    </a:cubicBezTo>
                    <a:cubicBezTo>
                      <a:pt x="16" y="6"/>
                      <a:pt x="10" y="6"/>
                      <a:pt x="10" y="6"/>
                    </a:cubicBezTo>
                    <a:cubicBezTo>
                      <a:pt x="10" y="6"/>
                      <a:pt x="10" y="0"/>
                      <a:pt x="10" y="0"/>
                    </a:cubicBezTo>
                    <a:cubicBezTo>
                      <a:pt x="4" y="0"/>
                      <a:pt x="4" y="0"/>
                      <a:pt x="4" y="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39" name="Freeform 38"/>
              <p:cNvSpPr>
                <a:spLocks/>
              </p:cNvSpPr>
              <p:nvPr/>
            </p:nvSpPr>
            <p:spPr bwMode="auto">
              <a:xfrm>
                <a:off x="3787" y="1546"/>
                <a:ext cx="82" cy="73"/>
              </a:xfrm>
              <a:custGeom>
                <a:avLst/>
                <a:gdLst>
                  <a:gd name="T0" fmla="*/ 35 w 35"/>
                  <a:gd name="T1" fmla="*/ 0 h 31"/>
                  <a:gd name="T2" fmla="*/ 29 w 35"/>
                  <a:gd name="T3" fmla="*/ 0 h 31"/>
                  <a:gd name="T4" fmla="*/ 29 w 35"/>
                  <a:gd name="T5" fmla="*/ 23 h 31"/>
                  <a:gd name="T6" fmla="*/ 14 w 35"/>
                  <a:gd name="T7" fmla="*/ 0 h 31"/>
                  <a:gd name="T8" fmla="*/ 0 w 35"/>
                  <a:gd name="T9" fmla="*/ 0 h 31"/>
                  <a:gd name="T10" fmla="*/ 0 w 35"/>
                  <a:gd name="T11" fmla="*/ 2 h 31"/>
                  <a:gd name="T12" fmla="*/ 1 w 35"/>
                  <a:gd name="T13" fmla="*/ 2 h 31"/>
                  <a:gd name="T14" fmla="*/ 5 w 35"/>
                  <a:gd name="T15" fmla="*/ 6 h 31"/>
                  <a:gd name="T16" fmla="*/ 5 w 35"/>
                  <a:gd name="T17" fmla="*/ 31 h 31"/>
                  <a:gd name="T18" fmla="*/ 11 w 35"/>
                  <a:gd name="T19" fmla="*/ 31 h 31"/>
                  <a:gd name="T20" fmla="*/ 11 w 35"/>
                  <a:gd name="T21" fmla="*/ 6 h 31"/>
                  <a:gd name="T22" fmla="*/ 27 w 35"/>
                  <a:gd name="T23" fmla="*/ 31 h 31"/>
                  <a:gd name="T24" fmla="*/ 35 w 35"/>
                  <a:gd name="T25" fmla="*/ 31 h 31"/>
                  <a:gd name="T26" fmla="*/ 35 w 35"/>
                  <a:gd name="T27" fmla="*/ 0 h 31"/>
                  <a:gd name="T28" fmla="*/ 35 w 35"/>
                  <a:gd name="T29"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1">
                    <a:moveTo>
                      <a:pt x="35" y="0"/>
                    </a:moveTo>
                    <a:cubicBezTo>
                      <a:pt x="29" y="0"/>
                      <a:pt x="29" y="0"/>
                      <a:pt x="29" y="0"/>
                    </a:cubicBezTo>
                    <a:cubicBezTo>
                      <a:pt x="29" y="0"/>
                      <a:pt x="29" y="21"/>
                      <a:pt x="29" y="23"/>
                    </a:cubicBezTo>
                    <a:cubicBezTo>
                      <a:pt x="28" y="21"/>
                      <a:pt x="14" y="0"/>
                      <a:pt x="14" y="0"/>
                    </a:cubicBezTo>
                    <a:cubicBezTo>
                      <a:pt x="0" y="0"/>
                      <a:pt x="0" y="0"/>
                      <a:pt x="0" y="0"/>
                    </a:cubicBezTo>
                    <a:cubicBezTo>
                      <a:pt x="0" y="2"/>
                      <a:pt x="0" y="2"/>
                      <a:pt x="0" y="2"/>
                    </a:cubicBezTo>
                    <a:cubicBezTo>
                      <a:pt x="1" y="2"/>
                      <a:pt x="1" y="2"/>
                      <a:pt x="1" y="2"/>
                    </a:cubicBezTo>
                    <a:cubicBezTo>
                      <a:pt x="5" y="3"/>
                      <a:pt x="5" y="3"/>
                      <a:pt x="5" y="6"/>
                    </a:cubicBezTo>
                    <a:cubicBezTo>
                      <a:pt x="5" y="31"/>
                      <a:pt x="5" y="31"/>
                      <a:pt x="5" y="31"/>
                    </a:cubicBezTo>
                    <a:cubicBezTo>
                      <a:pt x="11" y="31"/>
                      <a:pt x="11" y="31"/>
                      <a:pt x="11" y="31"/>
                    </a:cubicBezTo>
                    <a:cubicBezTo>
                      <a:pt x="11" y="31"/>
                      <a:pt x="11" y="9"/>
                      <a:pt x="11" y="6"/>
                    </a:cubicBezTo>
                    <a:cubicBezTo>
                      <a:pt x="13" y="8"/>
                      <a:pt x="27" y="31"/>
                      <a:pt x="27" y="31"/>
                    </a:cubicBezTo>
                    <a:cubicBezTo>
                      <a:pt x="35" y="31"/>
                      <a:pt x="35" y="31"/>
                      <a:pt x="35" y="31"/>
                    </a:cubicBezTo>
                    <a:cubicBezTo>
                      <a:pt x="35" y="0"/>
                      <a:pt x="35" y="0"/>
                      <a:pt x="35" y="0"/>
                    </a:cubicBezTo>
                    <a:cubicBezTo>
                      <a:pt x="35" y="0"/>
                      <a:pt x="35" y="0"/>
                      <a:pt x="35" y="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40" name="Freeform 39"/>
              <p:cNvSpPr>
                <a:spLocks noEditPoints="1"/>
              </p:cNvSpPr>
              <p:nvPr/>
            </p:nvSpPr>
            <p:spPr bwMode="auto">
              <a:xfrm>
                <a:off x="3883" y="1567"/>
                <a:ext cx="48" cy="52"/>
              </a:xfrm>
              <a:custGeom>
                <a:avLst/>
                <a:gdLst>
                  <a:gd name="T0" fmla="*/ 20 w 20"/>
                  <a:gd name="T1" fmla="*/ 9 h 22"/>
                  <a:gd name="T2" fmla="*/ 11 w 20"/>
                  <a:gd name="T3" fmla="*/ 0 h 22"/>
                  <a:gd name="T4" fmla="*/ 0 w 20"/>
                  <a:gd name="T5" fmla="*/ 10 h 22"/>
                  <a:gd name="T6" fmla="*/ 12 w 20"/>
                  <a:gd name="T7" fmla="*/ 22 h 22"/>
                  <a:gd name="T8" fmla="*/ 19 w 20"/>
                  <a:gd name="T9" fmla="*/ 21 h 22"/>
                  <a:gd name="T10" fmla="*/ 20 w 20"/>
                  <a:gd name="T11" fmla="*/ 21 h 22"/>
                  <a:gd name="T12" fmla="*/ 20 w 20"/>
                  <a:gd name="T13" fmla="*/ 18 h 22"/>
                  <a:gd name="T14" fmla="*/ 19 w 20"/>
                  <a:gd name="T15" fmla="*/ 18 h 22"/>
                  <a:gd name="T16" fmla="*/ 15 w 20"/>
                  <a:gd name="T17" fmla="*/ 19 h 22"/>
                  <a:gd name="T18" fmla="*/ 6 w 20"/>
                  <a:gd name="T19" fmla="*/ 9 h 22"/>
                  <a:gd name="T20" fmla="*/ 20 w 20"/>
                  <a:gd name="T21" fmla="*/ 9 h 22"/>
                  <a:gd name="T22" fmla="*/ 20 w 20"/>
                  <a:gd name="T23" fmla="*/ 9 h 22"/>
                  <a:gd name="T24" fmla="*/ 10 w 20"/>
                  <a:gd name="T25" fmla="*/ 2 h 22"/>
                  <a:gd name="T26" fmla="*/ 14 w 20"/>
                  <a:gd name="T27" fmla="*/ 6 h 22"/>
                  <a:gd name="T28" fmla="*/ 6 w 20"/>
                  <a:gd name="T29" fmla="*/ 6 h 22"/>
                  <a:gd name="T30" fmla="*/ 10 w 20"/>
                  <a:gd name="T3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22">
                    <a:moveTo>
                      <a:pt x="20" y="9"/>
                    </a:moveTo>
                    <a:cubicBezTo>
                      <a:pt x="20" y="3"/>
                      <a:pt x="17" y="0"/>
                      <a:pt x="11" y="0"/>
                    </a:cubicBezTo>
                    <a:cubicBezTo>
                      <a:pt x="3" y="0"/>
                      <a:pt x="0" y="3"/>
                      <a:pt x="0" y="10"/>
                    </a:cubicBezTo>
                    <a:cubicBezTo>
                      <a:pt x="0" y="18"/>
                      <a:pt x="4" y="22"/>
                      <a:pt x="12" y="22"/>
                    </a:cubicBezTo>
                    <a:cubicBezTo>
                      <a:pt x="16" y="22"/>
                      <a:pt x="18" y="21"/>
                      <a:pt x="19" y="21"/>
                    </a:cubicBezTo>
                    <a:cubicBezTo>
                      <a:pt x="20" y="21"/>
                      <a:pt x="20" y="21"/>
                      <a:pt x="20" y="21"/>
                    </a:cubicBezTo>
                    <a:cubicBezTo>
                      <a:pt x="20" y="18"/>
                      <a:pt x="20" y="18"/>
                      <a:pt x="20" y="18"/>
                    </a:cubicBezTo>
                    <a:cubicBezTo>
                      <a:pt x="19" y="18"/>
                      <a:pt x="19" y="18"/>
                      <a:pt x="19" y="18"/>
                    </a:cubicBezTo>
                    <a:cubicBezTo>
                      <a:pt x="18" y="18"/>
                      <a:pt x="17" y="19"/>
                      <a:pt x="15" y="19"/>
                    </a:cubicBezTo>
                    <a:cubicBezTo>
                      <a:pt x="8" y="19"/>
                      <a:pt x="6" y="14"/>
                      <a:pt x="6" y="9"/>
                    </a:cubicBezTo>
                    <a:cubicBezTo>
                      <a:pt x="7" y="9"/>
                      <a:pt x="20" y="9"/>
                      <a:pt x="20" y="9"/>
                    </a:cubicBezTo>
                    <a:cubicBezTo>
                      <a:pt x="20" y="9"/>
                      <a:pt x="20" y="9"/>
                      <a:pt x="20" y="9"/>
                    </a:cubicBezTo>
                    <a:moveTo>
                      <a:pt x="10" y="2"/>
                    </a:moveTo>
                    <a:cubicBezTo>
                      <a:pt x="13" y="2"/>
                      <a:pt x="14" y="4"/>
                      <a:pt x="14" y="6"/>
                    </a:cubicBezTo>
                    <a:cubicBezTo>
                      <a:pt x="14" y="6"/>
                      <a:pt x="7" y="6"/>
                      <a:pt x="6" y="6"/>
                    </a:cubicBezTo>
                    <a:cubicBezTo>
                      <a:pt x="6" y="5"/>
                      <a:pt x="7" y="2"/>
                      <a:pt x="10" y="2"/>
                    </a:cubicBez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41" name="Freeform 40"/>
              <p:cNvSpPr>
                <a:spLocks/>
              </p:cNvSpPr>
              <p:nvPr/>
            </p:nvSpPr>
            <p:spPr bwMode="auto">
              <a:xfrm>
                <a:off x="3997" y="1553"/>
                <a:ext cx="40" cy="66"/>
              </a:xfrm>
              <a:custGeom>
                <a:avLst/>
                <a:gdLst>
                  <a:gd name="T0" fmla="*/ 4 w 17"/>
                  <a:gd name="T1" fmla="*/ 0 h 28"/>
                  <a:gd name="T2" fmla="*/ 4 w 17"/>
                  <a:gd name="T3" fmla="*/ 6 h 28"/>
                  <a:gd name="T4" fmla="*/ 0 w 17"/>
                  <a:gd name="T5" fmla="*/ 6 h 28"/>
                  <a:gd name="T6" fmla="*/ 0 w 17"/>
                  <a:gd name="T7" fmla="*/ 9 h 28"/>
                  <a:gd name="T8" fmla="*/ 4 w 17"/>
                  <a:gd name="T9" fmla="*/ 9 h 28"/>
                  <a:gd name="T10" fmla="*/ 4 w 17"/>
                  <a:gd name="T11" fmla="*/ 22 h 28"/>
                  <a:gd name="T12" fmla="*/ 12 w 17"/>
                  <a:gd name="T13" fmla="*/ 28 h 28"/>
                  <a:gd name="T14" fmla="*/ 16 w 17"/>
                  <a:gd name="T15" fmla="*/ 28 h 28"/>
                  <a:gd name="T16" fmla="*/ 16 w 17"/>
                  <a:gd name="T17" fmla="*/ 28 h 28"/>
                  <a:gd name="T18" fmla="*/ 16 w 17"/>
                  <a:gd name="T19" fmla="*/ 25 h 28"/>
                  <a:gd name="T20" fmla="*/ 16 w 17"/>
                  <a:gd name="T21" fmla="*/ 25 h 28"/>
                  <a:gd name="T22" fmla="*/ 14 w 17"/>
                  <a:gd name="T23" fmla="*/ 25 h 28"/>
                  <a:gd name="T24" fmla="*/ 10 w 17"/>
                  <a:gd name="T25" fmla="*/ 21 h 28"/>
                  <a:gd name="T26" fmla="*/ 10 w 17"/>
                  <a:gd name="T27" fmla="*/ 9 h 28"/>
                  <a:gd name="T28" fmla="*/ 17 w 17"/>
                  <a:gd name="T29" fmla="*/ 9 h 28"/>
                  <a:gd name="T30" fmla="*/ 17 w 17"/>
                  <a:gd name="T31" fmla="*/ 6 h 28"/>
                  <a:gd name="T32" fmla="*/ 10 w 17"/>
                  <a:gd name="T33" fmla="*/ 6 h 28"/>
                  <a:gd name="T34" fmla="*/ 10 w 17"/>
                  <a:gd name="T35" fmla="*/ 0 h 28"/>
                  <a:gd name="T36" fmla="*/ 4 w 17"/>
                  <a:gd name="T3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8">
                    <a:moveTo>
                      <a:pt x="4" y="0"/>
                    </a:moveTo>
                    <a:cubicBezTo>
                      <a:pt x="4" y="0"/>
                      <a:pt x="4" y="6"/>
                      <a:pt x="4" y="6"/>
                    </a:cubicBezTo>
                    <a:cubicBezTo>
                      <a:pt x="4" y="6"/>
                      <a:pt x="0" y="6"/>
                      <a:pt x="0" y="6"/>
                    </a:cubicBezTo>
                    <a:cubicBezTo>
                      <a:pt x="0" y="9"/>
                      <a:pt x="0" y="9"/>
                      <a:pt x="0" y="9"/>
                    </a:cubicBezTo>
                    <a:cubicBezTo>
                      <a:pt x="0" y="9"/>
                      <a:pt x="4" y="9"/>
                      <a:pt x="4" y="9"/>
                    </a:cubicBezTo>
                    <a:cubicBezTo>
                      <a:pt x="4" y="10"/>
                      <a:pt x="4" y="22"/>
                      <a:pt x="4" y="22"/>
                    </a:cubicBezTo>
                    <a:cubicBezTo>
                      <a:pt x="4" y="28"/>
                      <a:pt x="8" y="28"/>
                      <a:pt x="12" y="28"/>
                    </a:cubicBezTo>
                    <a:cubicBezTo>
                      <a:pt x="14" y="28"/>
                      <a:pt x="15" y="28"/>
                      <a:pt x="16" y="28"/>
                    </a:cubicBezTo>
                    <a:cubicBezTo>
                      <a:pt x="16" y="28"/>
                      <a:pt x="16" y="28"/>
                      <a:pt x="16" y="28"/>
                    </a:cubicBezTo>
                    <a:cubicBezTo>
                      <a:pt x="16" y="25"/>
                      <a:pt x="16" y="25"/>
                      <a:pt x="16" y="25"/>
                    </a:cubicBezTo>
                    <a:cubicBezTo>
                      <a:pt x="16" y="25"/>
                      <a:pt x="16" y="25"/>
                      <a:pt x="16" y="25"/>
                    </a:cubicBezTo>
                    <a:cubicBezTo>
                      <a:pt x="15" y="25"/>
                      <a:pt x="15" y="25"/>
                      <a:pt x="14" y="25"/>
                    </a:cubicBezTo>
                    <a:cubicBezTo>
                      <a:pt x="10" y="25"/>
                      <a:pt x="10" y="24"/>
                      <a:pt x="10" y="21"/>
                    </a:cubicBezTo>
                    <a:cubicBezTo>
                      <a:pt x="10" y="21"/>
                      <a:pt x="10" y="10"/>
                      <a:pt x="10" y="9"/>
                    </a:cubicBezTo>
                    <a:cubicBezTo>
                      <a:pt x="11" y="9"/>
                      <a:pt x="17" y="9"/>
                      <a:pt x="17" y="9"/>
                    </a:cubicBezTo>
                    <a:cubicBezTo>
                      <a:pt x="17" y="6"/>
                      <a:pt x="17" y="6"/>
                      <a:pt x="17" y="6"/>
                    </a:cubicBezTo>
                    <a:cubicBezTo>
                      <a:pt x="17" y="6"/>
                      <a:pt x="11" y="6"/>
                      <a:pt x="10" y="6"/>
                    </a:cubicBezTo>
                    <a:cubicBezTo>
                      <a:pt x="10" y="6"/>
                      <a:pt x="10" y="0"/>
                      <a:pt x="10" y="0"/>
                    </a:cubicBezTo>
                    <a:cubicBezTo>
                      <a:pt x="4" y="0"/>
                      <a:pt x="4" y="0"/>
                      <a:pt x="4" y="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sp>
            <p:nvSpPr>
              <p:cNvPr id="42" name="Freeform 41"/>
              <p:cNvSpPr>
                <a:spLocks/>
              </p:cNvSpPr>
              <p:nvPr/>
            </p:nvSpPr>
            <p:spPr bwMode="auto">
              <a:xfrm>
                <a:off x="3933" y="1567"/>
                <a:ext cx="61" cy="52"/>
              </a:xfrm>
              <a:custGeom>
                <a:avLst/>
                <a:gdLst>
                  <a:gd name="T0" fmla="*/ 20 w 26"/>
                  <a:gd name="T1" fmla="*/ 7 h 22"/>
                  <a:gd name="T2" fmla="*/ 26 w 26"/>
                  <a:gd name="T3" fmla="*/ 0 h 22"/>
                  <a:gd name="T4" fmla="*/ 19 w 26"/>
                  <a:gd name="T5" fmla="*/ 0 h 22"/>
                  <a:gd name="T6" fmla="*/ 14 w 26"/>
                  <a:gd name="T7" fmla="*/ 7 h 22"/>
                  <a:gd name="T8" fmla="*/ 9 w 26"/>
                  <a:gd name="T9" fmla="*/ 0 h 22"/>
                  <a:gd name="T10" fmla="*/ 0 w 26"/>
                  <a:gd name="T11" fmla="*/ 0 h 22"/>
                  <a:gd name="T12" fmla="*/ 0 w 26"/>
                  <a:gd name="T13" fmla="*/ 2 h 22"/>
                  <a:gd name="T14" fmla="*/ 0 w 26"/>
                  <a:gd name="T15" fmla="*/ 2 h 22"/>
                  <a:gd name="T16" fmla="*/ 6 w 26"/>
                  <a:gd name="T17" fmla="*/ 5 h 22"/>
                  <a:gd name="T18" fmla="*/ 9 w 26"/>
                  <a:gd name="T19" fmla="*/ 10 h 22"/>
                  <a:gd name="T20" fmla="*/ 3 w 26"/>
                  <a:gd name="T21" fmla="*/ 17 h 22"/>
                  <a:gd name="T22" fmla="*/ 10 w 26"/>
                  <a:gd name="T23" fmla="*/ 17 h 22"/>
                  <a:gd name="T24" fmla="*/ 12 w 26"/>
                  <a:gd name="T25" fmla="*/ 14 h 22"/>
                  <a:gd name="T26" fmla="*/ 18 w 26"/>
                  <a:gd name="T27" fmla="*/ 22 h 22"/>
                  <a:gd name="T28" fmla="*/ 25 w 26"/>
                  <a:gd name="T29" fmla="*/ 22 h 22"/>
                  <a:gd name="T30" fmla="*/ 14 w 26"/>
                  <a:gd name="T31" fmla="*/ 7 h 22"/>
                  <a:gd name="T32" fmla="*/ 20 w 26"/>
                  <a:gd name="T33" fmla="*/ 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22">
                    <a:moveTo>
                      <a:pt x="20" y="7"/>
                    </a:moveTo>
                    <a:cubicBezTo>
                      <a:pt x="26" y="0"/>
                      <a:pt x="26" y="0"/>
                      <a:pt x="26" y="0"/>
                    </a:cubicBezTo>
                    <a:cubicBezTo>
                      <a:pt x="19" y="0"/>
                      <a:pt x="19" y="0"/>
                      <a:pt x="19" y="0"/>
                    </a:cubicBezTo>
                    <a:cubicBezTo>
                      <a:pt x="14" y="7"/>
                      <a:pt x="14" y="7"/>
                      <a:pt x="14" y="7"/>
                    </a:cubicBezTo>
                    <a:cubicBezTo>
                      <a:pt x="9" y="0"/>
                      <a:pt x="9" y="0"/>
                      <a:pt x="9" y="0"/>
                    </a:cubicBezTo>
                    <a:cubicBezTo>
                      <a:pt x="0" y="0"/>
                      <a:pt x="0" y="0"/>
                      <a:pt x="0" y="0"/>
                    </a:cubicBezTo>
                    <a:cubicBezTo>
                      <a:pt x="0" y="2"/>
                      <a:pt x="0" y="2"/>
                      <a:pt x="0" y="2"/>
                    </a:cubicBezTo>
                    <a:cubicBezTo>
                      <a:pt x="0" y="2"/>
                      <a:pt x="0" y="2"/>
                      <a:pt x="0" y="2"/>
                    </a:cubicBezTo>
                    <a:cubicBezTo>
                      <a:pt x="3" y="2"/>
                      <a:pt x="4" y="3"/>
                      <a:pt x="6" y="5"/>
                    </a:cubicBezTo>
                    <a:cubicBezTo>
                      <a:pt x="9" y="10"/>
                      <a:pt x="9" y="10"/>
                      <a:pt x="9" y="10"/>
                    </a:cubicBezTo>
                    <a:cubicBezTo>
                      <a:pt x="3" y="17"/>
                      <a:pt x="3" y="17"/>
                      <a:pt x="3" y="17"/>
                    </a:cubicBezTo>
                    <a:cubicBezTo>
                      <a:pt x="10" y="17"/>
                      <a:pt x="10" y="17"/>
                      <a:pt x="10" y="17"/>
                    </a:cubicBezTo>
                    <a:cubicBezTo>
                      <a:pt x="12" y="14"/>
                      <a:pt x="12" y="14"/>
                      <a:pt x="12" y="14"/>
                    </a:cubicBezTo>
                    <a:cubicBezTo>
                      <a:pt x="18" y="22"/>
                      <a:pt x="18" y="22"/>
                      <a:pt x="18" y="22"/>
                    </a:cubicBezTo>
                    <a:cubicBezTo>
                      <a:pt x="25" y="22"/>
                      <a:pt x="25" y="22"/>
                      <a:pt x="25" y="22"/>
                    </a:cubicBezTo>
                    <a:cubicBezTo>
                      <a:pt x="14" y="7"/>
                      <a:pt x="14" y="7"/>
                      <a:pt x="14" y="7"/>
                    </a:cubicBezTo>
                    <a:cubicBezTo>
                      <a:pt x="20" y="7"/>
                      <a:pt x="20" y="7"/>
                      <a:pt x="20" y="7"/>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grpSp>
        <p:sp>
          <p:nvSpPr>
            <p:cNvPr id="16" name="Freeform 15"/>
            <p:cNvSpPr>
              <a:spLocks/>
            </p:cNvSpPr>
            <p:nvPr userDrawn="1"/>
          </p:nvSpPr>
          <p:spPr bwMode="auto">
            <a:xfrm>
              <a:off x="8926922" y="497314"/>
              <a:ext cx="44951" cy="29967"/>
            </a:xfrm>
            <a:custGeom>
              <a:avLst/>
              <a:gdLst>
                <a:gd name="T0" fmla="*/ 14 w 33"/>
                <a:gd name="T1" fmla="*/ 22 h 22"/>
                <a:gd name="T2" fmla="*/ 0 w 33"/>
                <a:gd name="T3" fmla="*/ 22 h 22"/>
                <a:gd name="T4" fmla="*/ 19 w 33"/>
                <a:gd name="T5" fmla="*/ 0 h 22"/>
                <a:gd name="T6" fmla="*/ 33 w 33"/>
                <a:gd name="T7" fmla="*/ 0 h 22"/>
                <a:gd name="T8" fmla="*/ 14 w 33"/>
                <a:gd name="T9" fmla="*/ 22 h 22"/>
              </a:gdLst>
              <a:ahLst/>
              <a:cxnLst>
                <a:cxn ang="0">
                  <a:pos x="T0" y="T1"/>
                </a:cxn>
                <a:cxn ang="0">
                  <a:pos x="T2" y="T3"/>
                </a:cxn>
                <a:cxn ang="0">
                  <a:pos x="T4" y="T5"/>
                </a:cxn>
                <a:cxn ang="0">
                  <a:pos x="T6" y="T7"/>
                </a:cxn>
                <a:cxn ang="0">
                  <a:pos x="T8" y="T9"/>
                </a:cxn>
              </a:cxnLst>
              <a:rect l="0" t="0" r="r" b="b"/>
              <a:pathLst>
                <a:path w="33" h="22">
                  <a:moveTo>
                    <a:pt x="14" y="22"/>
                  </a:moveTo>
                  <a:lnTo>
                    <a:pt x="0" y="22"/>
                  </a:lnTo>
                  <a:lnTo>
                    <a:pt x="19" y="0"/>
                  </a:lnTo>
                  <a:lnTo>
                    <a:pt x="33" y="0"/>
                  </a:lnTo>
                  <a:lnTo>
                    <a:pt x="14" y="22"/>
                  </a:lnTo>
                </a:path>
              </a:pathLst>
            </a:custGeom>
            <a:solidFill>
              <a:schemeClr val="accent2"/>
            </a:solidFill>
            <a:ln w="9525">
              <a:noFill/>
              <a:round/>
              <a:headEnd/>
              <a:tailEnd/>
            </a:ln>
            <a:extLst/>
          </p:spPr>
          <p:txBody>
            <a:bodyPr vert="horz" wrap="square" lIns="91440" tIns="45720" rIns="91440" bIns="45720" numCol="1" anchor="ctr" anchorCtr="0" compatLnSpc="1">
              <a:prstTxWarp prst="textNoShape">
                <a:avLst/>
              </a:prstTxWarp>
            </a:bodyPr>
            <a:lstStyle/>
            <a:p>
              <a:pPr lvl="0" algn="ctr"/>
              <a:endParaRPr lang="en-US" sz="1000" b="1" dirty="0">
                <a:solidFill>
                  <a:schemeClr val="bg1"/>
                </a:solidFill>
                <a:latin typeface="+mj-lt"/>
              </a:endParaRPr>
            </a:p>
          </p:txBody>
        </p:sp>
      </p:grpSp>
      <p:pic>
        <p:nvPicPr>
          <p:cNvPr id="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402" y="210790"/>
            <a:ext cx="1745946" cy="174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9262549"/>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lnSpc>
        <a:spcPct val="95000"/>
      </a:lnSpc>
      <a:spcBef>
        <a:spcPts val="800"/>
      </a:spcBef>
      <a:spcAft>
        <a:spcPts val="600"/>
      </a:spcAft>
      <a:buClr>
        <a:schemeClr val="accent2"/>
      </a:buClr>
      <a:buFont typeface="Wingdings" pitchFamily="2" charset="2"/>
      <a:buChar char="§"/>
      <a:defRPr sz="1400" kern="1200">
        <a:solidFill>
          <a:schemeClr val="tx1"/>
        </a:solidFill>
        <a:latin typeface="+mn-lt"/>
        <a:ea typeface="+mn-ea"/>
        <a:cs typeface="+mn-cs"/>
      </a:defRPr>
    </a:lvl1pPr>
    <a:lvl2pPr marL="339725" indent="-165100" algn="l" defTabSz="914400" rtl="0" eaLnBrk="1" latinLnBrk="0" hangingPunct="1">
      <a:lnSpc>
        <a:spcPct val="85000"/>
      </a:lnSpc>
      <a:spcBef>
        <a:spcPts val="0"/>
      </a:spcBef>
      <a:spcAft>
        <a:spcPts val="400"/>
      </a:spcAft>
      <a:buClr>
        <a:schemeClr val="tx1">
          <a:lumMod val="85000"/>
          <a:lumOff val="15000"/>
        </a:schemeClr>
      </a:buClr>
      <a:buFont typeface="HelveticaNeueLT Std" pitchFamily="34" charset="0"/>
      <a:buChar char="‐"/>
      <a:defRPr sz="1200" kern="1200">
        <a:solidFill>
          <a:schemeClr val="tx1"/>
        </a:solidFill>
        <a:latin typeface="+mn-lt"/>
        <a:ea typeface="+mn-ea"/>
        <a:cs typeface="+mn-cs"/>
      </a:defRPr>
    </a:lvl2pPr>
    <a:lvl3pPr marL="457200" indent="-117475" algn="l" defTabSz="914400" rtl="0" eaLnBrk="1" latinLnBrk="0" hangingPunct="1">
      <a:lnSpc>
        <a:spcPct val="85000"/>
      </a:lnSpc>
      <a:spcBef>
        <a:spcPts val="0"/>
      </a:spcBef>
      <a:spcAft>
        <a:spcPts val="400"/>
      </a:spcAft>
      <a:buClr>
        <a:schemeClr val="tx1">
          <a:lumMod val="85000"/>
          <a:lumOff val="15000"/>
        </a:schemeClr>
      </a:buClr>
      <a:buFont typeface="HelveticaNeueLT Std" pitchFamily="34" charset="0"/>
      <a:buChar char="‐"/>
      <a:defRPr sz="1200" kern="1200">
        <a:solidFill>
          <a:schemeClr val="tx1"/>
        </a:solidFill>
        <a:latin typeface="+mn-lt"/>
        <a:ea typeface="+mn-ea"/>
        <a:cs typeface="+mn-cs"/>
      </a:defRPr>
    </a:lvl3pPr>
    <a:lvl4pPr marL="574675" indent="-117475" algn="l" defTabSz="914400" rtl="0" eaLnBrk="1" latinLnBrk="0" hangingPunct="1">
      <a:lnSpc>
        <a:spcPct val="85000"/>
      </a:lnSpc>
      <a:spcBef>
        <a:spcPts val="0"/>
      </a:spcBef>
      <a:spcAft>
        <a:spcPts val="400"/>
      </a:spcAft>
      <a:buClr>
        <a:schemeClr val="tx1">
          <a:lumMod val="85000"/>
          <a:lumOff val="15000"/>
        </a:schemeClr>
      </a:buClr>
      <a:buFont typeface="HelveticaNeueLT Std" pitchFamily="34" charset="0"/>
      <a:buChar char="‐"/>
      <a:defRPr sz="1200" kern="1200">
        <a:solidFill>
          <a:schemeClr val="tx1"/>
        </a:solidFill>
        <a:latin typeface="+mn-lt"/>
        <a:ea typeface="+mn-ea"/>
        <a:cs typeface="+mn-cs"/>
      </a:defRPr>
    </a:lvl4pPr>
    <a:lvl5pPr marL="739775" indent="-165100" algn="l" defTabSz="914400" rtl="0" eaLnBrk="1" latinLnBrk="0" hangingPunct="1">
      <a:lnSpc>
        <a:spcPct val="85000"/>
      </a:lnSpc>
      <a:spcBef>
        <a:spcPts val="0"/>
      </a:spcBef>
      <a:spcAft>
        <a:spcPts val="400"/>
      </a:spcAft>
      <a:buClr>
        <a:schemeClr val="tx1">
          <a:lumMod val="85000"/>
          <a:lumOff val="15000"/>
        </a:schemeClr>
      </a:buClr>
      <a:buFont typeface="HelveticaNeueLT Std"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400" kern="1200" dirty="0" smtClean="0">
                <a:solidFill>
                  <a:schemeClr val="tx1"/>
                </a:solidFill>
                <a:effectLst/>
                <a:latin typeface="+mn-lt"/>
                <a:ea typeface="+mn-ea"/>
                <a:cs typeface="+mn-cs"/>
              </a:rPr>
              <a:t>HNAS uses 4MiB stripes -- it looks (and potentially writes to) 4MiB of space on one LU (SD) before moving on to the next.</a:t>
            </a:r>
          </a:p>
          <a:p>
            <a:pPr lvl="0"/>
            <a:endParaRPr lang="en-US" sz="1400" kern="1200" dirty="0" smtClean="0">
              <a:solidFill>
                <a:schemeClr val="tx1"/>
              </a:solidFill>
              <a:effectLst/>
              <a:latin typeface="+mn-lt"/>
              <a:ea typeface="+mn-ea"/>
              <a:cs typeface="+mn-cs"/>
            </a:endParaRPr>
          </a:p>
          <a:p>
            <a:pPr lvl="0"/>
            <a:r>
              <a:rPr lang="en-US" sz="1400" kern="1200" dirty="0" smtClean="0">
                <a:solidFill>
                  <a:schemeClr val="tx1"/>
                </a:solidFill>
                <a:effectLst/>
                <a:latin typeface="+mn-lt"/>
                <a:ea typeface="+mn-ea"/>
                <a:cs typeface="+mn-cs"/>
              </a:rPr>
              <a:t>So the </a:t>
            </a:r>
            <a:r>
              <a:rPr lang="en-US" sz="1400" kern="1200" dirty="0" err="1" smtClean="0">
                <a:solidFill>
                  <a:schemeClr val="tx1"/>
                </a:solidFill>
                <a:effectLst/>
                <a:latin typeface="+mn-lt"/>
                <a:ea typeface="+mn-ea"/>
                <a:cs typeface="+mn-cs"/>
              </a:rPr>
              <a:t>stripeline</a:t>
            </a:r>
            <a:r>
              <a:rPr lang="en-US" sz="1400" kern="1200" dirty="0" smtClean="0">
                <a:solidFill>
                  <a:schemeClr val="tx1"/>
                </a:solidFill>
                <a:effectLst/>
                <a:latin typeface="+mn-lt"/>
                <a:ea typeface="+mn-ea"/>
                <a:cs typeface="+mn-cs"/>
              </a:rPr>
              <a:t> size on any one </a:t>
            </a:r>
            <a:r>
              <a:rPr lang="en-US" sz="1400" kern="1200" dirty="0" err="1" smtClean="0">
                <a:solidFill>
                  <a:schemeClr val="tx1"/>
                </a:solidFill>
                <a:effectLst/>
                <a:latin typeface="+mn-lt"/>
                <a:ea typeface="+mn-ea"/>
                <a:cs typeface="+mn-cs"/>
              </a:rPr>
              <a:t>stripeset</a:t>
            </a:r>
            <a:r>
              <a:rPr lang="en-US" sz="1400" kern="1200" dirty="0" smtClean="0">
                <a:solidFill>
                  <a:schemeClr val="tx1"/>
                </a:solidFill>
                <a:effectLst/>
                <a:latin typeface="+mn-lt"/>
                <a:ea typeface="+mn-ea"/>
                <a:cs typeface="+mn-cs"/>
              </a:rPr>
              <a:t> is 4MiB multiplied by the number of LUs in the </a:t>
            </a:r>
            <a:r>
              <a:rPr lang="en-US" sz="1400" kern="1200" dirty="0" err="1" smtClean="0">
                <a:solidFill>
                  <a:schemeClr val="tx1"/>
                </a:solidFill>
                <a:effectLst/>
                <a:latin typeface="+mn-lt"/>
                <a:ea typeface="+mn-ea"/>
                <a:cs typeface="+mn-cs"/>
              </a:rPr>
              <a:t>stripeset</a:t>
            </a:r>
            <a:r>
              <a:rPr lang="en-US" sz="1400" kern="1200" dirty="0" smtClean="0">
                <a:solidFill>
                  <a:schemeClr val="tx1"/>
                </a:solidFill>
                <a:effectLst/>
                <a:latin typeface="+mn-lt"/>
                <a:ea typeface="+mn-ea"/>
                <a:cs typeface="+mn-cs"/>
              </a:rPr>
              <a:t> – in </a:t>
            </a:r>
            <a:r>
              <a:rPr lang="en-US" sz="1400" kern="1200" smtClean="0">
                <a:solidFill>
                  <a:schemeClr val="tx1"/>
                </a:solidFill>
                <a:effectLst/>
                <a:latin typeface="+mn-lt"/>
                <a:ea typeface="+mn-ea"/>
                <a:cs typeface="+mn-cs"/>
              </a:rPr>
              <a:t>the</a:t>
            </a:r>
            <a:r>
              <a:rPr lang="en-US" sz="1400" kern="1200" baseline="0" smtClean="0">
                <a:solidFill>
                  <a:schemeClr val="tx1"/>
                </a:solidFill>
                <a:effectLst/>
                <a:latin typeface="+mn-lt"/>
                <a:ea typeface="+mn-ea"/>
                <a:cs typeface="+mn-cs"/>
              </a:rPr>
              <a:t> diagram above 16MiB</a:t>
            </a:r>
            <a:endParaRPr lang="en-US" sz="1400" kern="1200" dirty="0" smtClean="0">
              <a:solidFill>
                <a:schemeClr val="tx1"/>
              </a:solidFill>
              <a:effectLst/>
              <a:latin typeface="+mn-lt"/>
              <a:ea typeface="+mn-ea"/>
              <a:cs typeface="+mn-cs"/>
            </a:endParaRPr>
          </a:p>
          <a:p>
            <a:pPr lvl="0"/>
            <a:endParaRPr lang="en-US" sz="1400" kern="1200" dirty="0" smtClean="0">
              <a:solidFill>
                <a:schemeClr val="tx1"/>
              </a:solidFill>
              <a:effectLst/>
              <a:latin typeface="+mn-lt"/>
              <a:ea typeface="+mn-ea"/>
              <a:cs typeface="+mn-cs"/>
            </a:endParaRPr>
          </a:p>
          <a:p>
            <a:r>
              <a:rPr lang="en-US" sz="1400" kern="1200" dirty="0" smtClean="0">
                <a:solidFill>
                  <a:schemeClr val="tx1"/>
                </a:solidFill>
                <a:effectLst/>
                <a:latin typeface="+mn-lt"/>
                <a:ea typeface="+mn-ea"/>
                <a:cs typeface="+mn-cs"/>
              </a:rPr>
              <a:t>A chunk resides entirely on one </a:t>
            </a:r>
            <a:r>
              <a:rPr lang="en-US" sz="1400" kern="1200" dirty="0" err="1" smtClean="0">
                <a:solidFill>
                  <a:schemeClr val="tx1"/>
                </a:solidFill>
                <a:effectLst/>
                <a:latin typeface="+mn-lt"/>
                <a:ea typeface="+mn-ea"/>
                <a:cs typeface="+mn-cs"/>
              </a:rPr>
              <a:t>stripeset</a:t>
            </a:r>
            <a:r>
              <a:rPr lang="en-US" sz="1400" kern="1200" dirty="0" smtClean="0">
                <a:solidFill>
                  <a:schemeClr val="tx1"/>
                </a:solidFill>
                <a:effectLst/>
                <a:latin typeface="+mn-lt"/>
                <a:ea typeface="+mn-ea"/>
                <a:cs typeface="+mn-cs"/>
              </a:rPr>
              <a:t> and contains a whole number of </a:t>
            </a:r>
            <a:r>
              <a:rPr lang="en-US" sz="1400" kern="1200" dirty="0" err="1" smtClean="0">
                <a:solidFill>
                  <a:schemeClr val="tx1"/>
                </a:solidFill>
                <a:effectLst/>
                <a:latin typeface="+mn-lt"/>
                <a:ea typeface="+mn-ea"/>
                <a:cs typeface="+mn-cs"/>
              </a:rPr>
              <a:t>stripelines</a:t>
            </a:r>
            <a:r>
              <a:rPr lang="en-US" sz="1400" kern="1200" dirty="0" smtClean="0">
                <a:solidFill>
                  <a:schemeClr val="tx1"/>
                </a:solidFill>
                <a:effectLst/>
                <a:latin typeface="+mn-lt"/>
                <a:ea typeface="+mn-ea"/>
                <a:cs typeface="+mn-cs"/>
              </a:rPr>
              <a:t>.  It therefore draws exactly the same amount of space from all the LUs in the </a:t>
            </a:r>
            <a:r>
              <a:rPr lang="en-US" sz="1400" kern="1200" dirty="0" err="1" smtClean="0">
                <a:solidFill>
                  <a:schemeClr val="tx1"/>
                </a:solidFill>
                <a:effectLst/>
                <a:latin typeface="+mn-lt"/>
                <a:ea typeface="+mn-ea"/>
                <a:cs typeface="+mn-cs"/>
              </a:rPr>
              <a:t>stripeset</a:t>
            </a:r>
            <a:r>
              <a:rPr lang="en-US" sz="1400" kern="1200" dirty="0" smtClean="0">
                <a:solidFill>
                  <a:schemeClr val="tx1"/>
                </a:solidFill>
                <a:effectLst/>
                <a:latin typeface="+mn-lt"/>
                <a:ea typeface="+mn-ea"/>
                <a:cs typeface="+mn-cs"/>
              </a:rPr>
              <a:t>.</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This -- the fact that one </a:t>
            </a:r>
            <a:r>
              <a:rPr lang="en-US" sz="1400" kern="1200" dirty="0" err="1" smtClean="0">
                <a:solidFill>
                  <a:schemeClr val="tx1"/>
                </a:solidFill>
                <a:effectLst/>
                <a:latin typeface="+mn-lt"/>
                <a:ea typeface="+mn-ea"/>
                <a:cs typeface="+mn-cs"/>
              </a:rPr>
              <a:t>stripeset</a:t>
            </a:r>
            <a:r>
              <a:rPr lang="en-US" sz="1400" kern="1200" dirty="0" smtClean="0">
                <a:solidFill>
                  <a:schemeClr val="tx1"/>
                </a:solidFill>
                <a:effectLst/>
                <a:latin typeface="+mn-lt"/>
                <a:ea typeface="+mn-ea"/>
                <a:cs typeface="+mn-cs"/>
              </a:rPr>
              <a:t> may have seven LUs, and therefore a 28MiB </a:t>
            </a:r>
            <a:r>
              <a:rPr lang="en-US" sz="1400" kern="1200" dirty="0" err="1" smtClean="0">
                <a:solidFill>
                  <a:schemeClr val="tx1"/>
                </a:solidFill>
                <a:effectLst/>
                <a:latin typeface="+mn-lt"/>
                <a:ea typeface="+mn-ea"/>
                <a:cs typeface="+mn-cs"/>
              </a:rPr>
              <a:t>stripeline</a:t>
            </a:r>
            <a:r>
              <a:rPr lang="en-US" sz="1400" kern="1200" dirty="0" smtClean="0">
                <a:solidFill>
                  <a:schemeClr val="tx1"/>
                </a:solidFill>
                <a:effectLst/>
                <a:latin typeface="+mn-lt"/>
                <a:ea typeface="+mn-ea"/>
                <a:cs typeface="+mn-cs"/>
              </a:rPr>
              <a:t> size, and the next </a:t>
            </a:r>
            <a:r>
              <a:rPr lang="en-US" sz="1400" kern="1200" dirty="0" err="1" smtClean="0">
                <a:solidFill>
                  <a:schemeClr val="tx1"/>
                </a:solidFill>
                <a:effectLst/>
                <a:latin typeface="+mn-lt"/>
                <a:ea typeface="+mn-ea"/>
                <a:cs typeface="+mn-cs"/>
              </a:rPr>
              <a:t>stripeset</a:t>
            </a:r>
            <a:r>
              <a:rPr lang="en-US" sz="1400" kern="1200" dirty="0" smtClean="0">
                <a:solidFill>
                  <a:schemeClr val="tx1"/>
                </a:solidFill>
                <a:effectLst/>
                <a:latin typeface="+mn-lt"/>
                <a:ea typeface="+mn-ea"/>
                <a:cs typeface="+mn-cs"/>
              </a:rPr>
              <a:t> may have nine LUS, and therefore a 36MiB </a:t>
            </a:r>
            <a:r>
              <a:rPr lang="en-US" sz="1400" kern="1200" dirty="0" err="1" smtClean="0">
                <a:solidFill>
                  <a:schemeClr val="tx1"/>
                </a:solidFill>
                <a:effectLst/>
                <a:latin typeface="+mn-lt"/>
                <a:ea typeface="+mn-ea"/>
                <a:cs typeface="+mn-cs"/>
              </a:rPr>
              <a:t>stripeline</a:t>
            </a:r>
            <a:r>
              <a:rPr lang="en-US" sz="1400" kern="1200" dirty="0" smtClean="0">
                <a:solidFill>
                  <a:schemeClr val="tx1"/>
                </a:solidFill>
                <a:effectLst/>
                <a:latin typeface="+mn-lt"/>
                <a:ea typeface="+mn-ea"/>
                <a:cs typeface="+mn-cs"/>
              </a:rPr>
              <a:t> size -- is one reason why a span's chunks aren't all the same size, and why none of them may exactly equal the guideline chunk </a:t>
            </a:r>
            <a:r>
              <a:rPr lang="en-US" sz="1400" kern="1200" dirty="0" err="1" smtClean="0">
                <a:solidFill>
                  <a:schemeClr val="tx1"/>
                </a:solidFill>
                <a:effectLst/>
                <a:latin typeface="+mn-lt"/>
                <a:ea typeface="+mn-ea"/>
                <a:cs typeface="+mn-cs"/>
              </a:rPr>
              <a:t>size.</a:t>
            </a:r>
            <a:r>
              <a:rPr lang="en-US" baseline="0" dirty="0" err="1" smtClean="0"/>
              <a:t>set</a:t>
            </a:r>
            <a:r>
              <a:rPr lang="en-US" baseline="0" dirty="0" smtClean="0"/>
              <a:t>.</a:t>
            </a:r>
            <a:endParaRPr lang="en-US" dirty="0"/>
          </a:p>
        </p:txBody>
      </p:sp>
    </p:spTree>
    <p:extLst>
      <p:ext uri="{BB962C8B-B14F-4D97-AF65-F5344CB8AC3E}">
        <p14:creationId xmlns:p14="http://schemas.microsoft.com/office/powerpoint/2010/main" val="2766083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72329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400" kern="1200" dirty="0" smtClean="0">
                <a:solidFill>
                  <a:schemeClr val="tx1"/>
                </a:solidFill>
                <a:effectLst/>
                <a:latin typeface="+mn-lt"/>
                <a:ea typeface="+mn-ea"/>
                <a:cs typeface="+mn-cs"/>
              </a:rPr>
              <a:t>Auto-expansions come in two flavors: synchronous expansions, which occur when the FS hasn't room to satisfy a write request, and needs to expand before it can write the data; and asynchronous expansions, which occur when the FS notices (while taking a checkpoint, possibly) that free space is getting a bit low and adding a little more would help to keep performance up.</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A synchronous auto-expansion always takes as much space as it needs.  That could be one chunk, but it could be more.</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Before 11.2, an asynchronous auto-expansion takes enough space to ensure that the fs is no more than 80% full, and it runs whenever used space exceeds 80%.</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From 11.2 onwards, an asynchronous auto-expansion takes enough space to ensure that the fs is no more than 80% full, but it doesn't run until the fs is 85% full; the effect is to perform fewer, larger expansions.</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
            </a:r>
            <a:br>
              <a:rPr lang="en-US" sz="1400" kern="1200" dirty="0" smtClean="0">
                <a:solidFill>
                  <a:schemeClr val="tx1"/>
                </a:solidFill>
                <a:effectLst/>
                <a:latin typeface="+mn-lt"/>
                <a:ea typeface="+mn-ea"/>
                <a:cs typeface="+mn-cs"/>
              </a:rPr>
            </a:br>
            <a:r>
              <a:rPr lang="en-US" sz="1400" kern="1200" dirty="0" smtClean="0">
                <a:solidFill>
                  <a:schemeClr val="tx1"/>
                </a:solidFill>
                <a:effectLst/>
                <a:latin typeface="+mn-lt"/>
                <a:ea typeface="+mn-ea"/>
                <a:cs typeface="+mn-cs"/>
              </a:rPr>
              <a:t>From 12.1 onwards, and only on HDP pools, Span Manager limits the size of an asynchronous auto-expansion to roughly 32GiB.  Synchronous expansions are not capped, and neither are expansions on plain (non-HDP) storage.</a:t>
            </a:r>
            <a:endParaRPr lang="en-US" dirty="0"/>
          </a:p>
        </p:txBody>
      </p:sp>
    </p:spTree>
    <p:extLst>
      <p:ext uri="{BB962C8B-B14F-4D97-AF65-F5344CB8AC3E}">
        <p14:creationId xmlns:p14="http://schemas.microsoft.com/office/powerpoint/2010/main" val="28475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5080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2198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19349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03" name="Picture 102" descr="city.png"/>
          <p:cNvPicPr>
            <a:picLocks/>
          </p:cNvPicPr>
          <p:nvPr userDrawn="1"/>
        </p:nvPicPr>
        <p:blipFill rotWithShape="1">
          <a:blip r:embed="rId2" cstate="screen">
            <a:extLst>
              <a:ext uri="{28A0092B-C50C-407E-A947-70E740481C1C}">
                <a14:useLocalDpi xmlns:a14="http://schemas.microsoft.com/office/drawing/2010/main"/>
              </a:ext>
            </a:extLst>
          </a:blip>
          <a:srcRect t="-849"/>
          <a:stretch/>
        </p:blipFill>
        <p:spPr>
          <a:xfrm>
            <a:off x="-1141" y="-55310"/>
            <a:ext cx="9182571" cy="5253150"/>
          </a:xfrm>
          <a:prstGeom prst="rect">
            <a:avLst/>
          </a:prstGeom>
        </p:spPr>
      </p:pic>
      <p:sp>
        <p:nvSpPr>
          <p:cNvPr id="42" name="Rectangle 41"/>
          <p:cNvSpPr/>
          <p:nvPr userDrawn="1"/>
        </p:nvSpPr>
        <p:spPr>
          <a:xfrm rot="10800000">
            <a:off x="-12947" y="-11686"/>
            <a:ext cx="9194377" cy="2116667"/>
          </a:xfrm>
          <a:prstGeom prst="rect">
            <a:avLst/>
          </a:prstGeom>
          <a:gradFill flip="none" rotWithShape="1">
            <a:gsLst>
              <a:gs pos="0">
                <a:srgbClr val="000000">
                  <a:alpha val="41000"/>
                </a:srgbClr>
              </a:gs>
              <a:gs pos="100000">
                <a:srgbClr val="FFFFFF">
                  <a:alpha val="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nvGrpSpPr>
          <p:cNvPr id="47" name="Group 46"/>
          <p:cNvGrpSpPr/>
          <p:nvPr userDrawn="1"/>
        </p:nvGrpSpPr>
        <p:grpSpPr>
          <a:xfrm>
            <a:off x="-537419" y="-1223434"/>
            <a:ext cx="9681419" cy="969823"/>
            <a:chOff x="0" y="0"/>
            <a:chExt cx="9144000" cy="915988"/>
          </a:xfrm>
          <a:effectLst/>
        </p:grpSpPr>
        <p:sp>
          <p:nvSpPr>
            <p:cNvPr id="49" name="AutoShape 42"/>
            <p:cNvSpPr>
              <a:spLocks noChangeAspect="1" noChangeArrowheads="1" noTextEdit="1"/>
            </p:cNvSpPr>
            <p:nvPr userDrawn="1"/>
          </p:nvSpPr>
          <p:spPr bwMode="auto">
            <a:xfrm>
              <a:off x="0" y="0"/>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50" name="Rectangle 46"/>
            <p:cNvSpPr>
              <a:spLocks noChangeArrowheads="1"/>
            </p:cNvSpPr>
            <p:nvPr userDrawn="1"/>
          </p:nvSpPr>
          <p:spPr bwMode="auto">
            <a:xfrm>
              <a:off x="0" y="760413"/>
              <a:ext cx="7662863"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grpSp>
      <p:sp>
        <p:nvSpPr>
          <p:cNvPr id="2" name="Rectangle 1"/>
          <p:cNvSpPr/>
          <p:nvPr userDrawn="1"/>
        </p:nvSpPr>
        <p:spPr>
          <a:xfrm>
            <a:off x="-3865" y="3081173"/>
            <a:ext cx="9185296" cy="2116667"/>
          </a:xfrm>
          <a:prstGeom prst="rect">
            <a:avLst/>
          </a:prstGeom>
          <a:gradFill flip="none" rotWithShape="1">
            <a:gsLst>
              <a:gs pos="0">
                <a:srgbClr val="000000">
                  <a:alpha val="38000"/>
                </a:srgbClr>
              </a:gs>
              <a:gs pos="100000">
                <a:srgbClr val="FFFFFF">
                  <a:alpha val="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2" name="Rectangle 51"/>
          <p:cNvSpPr/>
          <p:nvPr userDrawn="1"/>
        </p:nvSpPr>
        <p:spPr>
          <a:xfrm>
            <a:off x="0" y="1019128"/>
            <a:ext cx="9190512" cy="2278675"/>
          </a:xfrm>
          <a:prstGeom prst="rect">
            <a:avLst/>
          </a:prstGeom>
          <a:gradFill flip="none" rotWithShape="1">
            <a:gsLst>
              <a:gs pos="0">
                <a:schemeClr val="bg1">
                  <a:alpha val="95000"/>
                </a:schemeClr>
              </a:gs>
              <a:gs pos="57000">
                <a:schemeClr val="bg1">
                  <a:alpha val="90000"/>
                </a:schemeClr>
              </a:gs>
              <a:gs pos="100000">
                <a:schemeClr val="bg1">
                  <a:alpha val="45000"/>
                </a:schemeClr>
              </a:gs>
            </a:gsLst>
            <a:lin ang="0" scaled="0"/>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pic>
        <p:nvPicPr>
          <p:cNvPr id="4" name="Picture 3" descr="PPT-WORDS.pn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67" y="3977419"/>
            <a:ext cx="9185297" cy="823220"/>
          </a:xfrm>
          <a:prstGeom prst="rect">
            <a:avLst/>
          </a:prstGeom>
        </p:spPr>
      </p:pic>
      <p:grpSp>
        <p:nvGrpSpPr>
          <p:cNvPr id="105" name="Group 104"/>
          <p:cNvGrpSpPr/>
          <p:nvPr userDrawn="1"/>
        </p:nvGrpSpPr>
        <p:grpSpPr>
          <a:xfrm>
            <a:off x="7394877" y="280579"/>
            <a:ext cx="1465784" cy="419664"/>
            <a:chOff x="7743893" y="-1004361"/>
            <a:chExt cx="1215220" cy="347926"/>
          </a:xfrm>
          <a:solidFill>
            <a:srgbClr val="FFFFFF"/>
          </a:solidFill>
        </p:grpSpPr>
        <p:sp>
          <p:nvSpPr>
            <p:cNvPr id="106" name="Freeform 75"/>
            <p:cNvSpPr>
              <a:spLocks/>
            </p:cNvSpPr>
            <p:nvPr userDrawn="1"/>
          </p:nvSpPr>
          <p:spPr bwMode="auto">
            <a:xfrm>
              <a:off x="8895241" y="-809388"/>
              <a:ext cx="47062" cy="28574"/>
            </a:xfrm>
            <a:custGeom>
              <a:avLst/>
              <a:gdLst>
                <a:gd name="T0" fmla="*/ 13 w 28"/>
                <a:gd name="T1" fmla="*/ 17 h 17"/>
                <a:gd name="T2" fmla="*/ 0 w 28"/>
                <a:gd name="T3" fmla="*/ 17 h 17"/>
                <a:gd name="T4" fmla="*/ 15 w 28"/>
                <a:gd name="T5" fmla="*/ 0 h 17"/>
                <a:gd name="T6" fmla="*/ 28 w 28"/>
                <a:gd name="T7" fmla="*/ 0 h 17"/>
                <a:gd name="T8" fmla="*/ 13 w 28"/>
                <a:gd name="T9" fmla="*/ 17 h 17"/>
              </a:gdLst>
              <a:ahLst/>
              <a:cxnLst>
                <a:cxn ang="0">
                  <a:pos x="T0" y="T1"/>
                </a:cxn>
                <a:cxn ang="0">
                  <a:pos x="T2" y="T3"/>
                </a:cxn>
                <a:cxn ang="0">
                  <a:pos x="T4" y="T5"/>
                </a:cxn>
                <a:cxn ang="0">
                  <a:pos x="T6" y="T7"/>
                </a:cxn>
                <a:cxn ang="0">
                  <a:pos x="T8" y="T9"/>
                </a:cxn>
              </a:cxnLst>
              <a:rect l="0" t="0" r="r" b="b"/>
              <a:pathLst>
                <a:path w="28" h="17">
                  <a:moveTo>
                    <a:pt x="13" y="17"/>
                  </a:moveTo>
                  <a:lnTo>
                    <a:pt x="0" y="17"/>
                  </a:lnTo>
                  <a:lnTo>
                    <a:pt x="15" y="0"/>
                  </a:lnTo>
                  <a:lnTo>
                    <a:pt x="28" y="0"/>
                  </a:lnTo>
                  <a:lnTo>
                    <a:pt x="13" y="17"/>
                  </a:lnTo>
                  <a:close/>
                </a:path>
              </a:pathLst>
            </a:custGeom>
            <a:solidFill>
              <a:schemeClr val="accent2"/>
            </a:solidFill>
            <a:ln>
              <a:noFill/>
            </a:ln>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07" name="Freeform 50"/>
            <p:cNvSpPr>
              <a:spLocks/>
            </p:cNvSpPr>
            <p:nvPr userDrawn="1"/>
          </p:nvSpPr>
          <p:spPr bwMode="auto">
            <a:xfrm>
              <a:off x="8636398"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08" name="Freeform 52"/>
            <p:cNvSpPr>
              <a:spLocks/>
            </p:cNvSpPr>
            <p:nvPr userDrawn="1"/>
          </p:nvSpPr>
          <p:spPr bwMode="auto">
            <a:xfrm>
              <a:off x="8090138" y="-1001000"/>
              <a:ext cx="176485" cy="164719"/>
            </a:xfrm>
            <a:custGeom>
              <a:avLst/>
              <a:gdLst>
                <a:gd name="T0" fmla="*/ 105 w 105"/>
                <a:gd name="T1" fmla="*/ 0 h 98"/>
                <a:gd name="T2" fmla="*/ 105 w 105"/>
                <a:gd name="T3" fmla="*/ 17 h 98"/>
                <a:gd name="T4" fmla="*/ 66 w 105"/>
                <a:gd name="T5" fmla="*/ 17 h 98"/>
                <a:gd name="T6" fmla="*/ 66 w 105"/>
                <a:gd name="T7" fmla="*/ 98 h 98"/>
                <a:gd name="T8" fmla="*/ 40 w 105"/>
                <a:gd name="T9" fmla="*/ 98 h 98"/>
                <a:gd name="T10" fmla="*/ 40 w 105"/>
                <a:gd name="T11" fmla="*/ 17 h 98"/>
                <a:gd name="T12" fmla="*/ 0 w 105"/>
                <a:gd name="T13" fmla="*/ 17 h 98"/>
                <a:gd name="T14" fmla="*/ 0 w 105"/>
                <a:gd name="T15" fmla="*/ 0 h 98"/>
                <a:gd name="T16" fmla="*/ 105 w 105"/>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98">
                  <a:moveTo>
                    <a:pt x="105" y="0"/>
                  </a:moveTo>
                  <a:lnTo>
                    <a:pt x="105" y="17"/>
                  </a:lnTo>
                  <a:lnTo>
                    <a:pt x="66" y="17"/>
                  </a:lnTo>
                  <a:lnTo>
                    <a:pt x="66" y="98"/>
                  </a:lnTo>
                  <a:lnTo>
                    <a:pt x="40" y="98"/>
                  </a:lnTo>
                  <a:lnTo>
                    <a:pt x="40" y="17"/>
                  </a:lnTo>
                  <a:lnTo>
                    <a:pt x="0" y="17"/>
                  </a:lnTo>
                  <a:lnTo>
                    <a:pt x="0" y="0"/>
                  </a:lnTo>
                  <a:lnTo>
                    <a:pt x="105"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09" name="Freeform 108"/>
            <p:cNvSpPr>
              <a:spLocks noEditPoints="1"/>
            </p:cNvSpPr>
            <p:nvPr userDrawn="1"/>
          </p:nvSpPr>
          <p:spPr bwMode="auto">
            <a:xfrm>
              <a:off x="8229644" y="-1001000"/>
              <a:ext cx="206739" cy="164719"/>
            </a:xfrm>
            <a:custGeom>
              <a:avLst/>
              <a:gdLst>
                <a:gd name="T0" fmla="*/ 123 w 123"/>
                <a:gd name="T1" fmla="*/ 98 h 98"/>
                <a:gd name="T2" fmla="*/ 94 w 123"/>
                <a:gd name="T3" fmla="*/ 98 h 98"/>
                <a:gd name="T4" fmla="*/ 86 w 123"/>
                <a:gd name="T5" fmla="*/ 77 h 98"/>
                <a:gd name="T6" fmla="*/ 37 w 123"/>
                <a:gd name="T7" fmla="*/ 77 h 98"/>
                <a:gd name="T8" fmla="*/ 29 w 123"/>
                <a:gd name="T9" fmla="*/ 98 h 98"/>
                <a:gd name="T10" fmla="*/ 0 w 123"/>
                <a:gd name="T11" fmla="*/ 98 h 98"/>
                <a:gd name="T12" fmla="*/ 46 w 123"/>
                <a:gd name="T13" fmla="*/ 0 h 98"/>
                <a:gd name="T14" fmla="*/ 77 w 123"/>
                <a:gd name="T15" fmla="*/ 0 h 98"/>
                <a:gd name="T16" fmla="*/ 123 w 123"/>
                <a:gd name="T17" fmla="*/ 98 h 98"/>
                <a:gd name="T18" fmla="*/ 61 w 123"/>
                <a:gd name="T19" fmla="*/ 17 h 98"/>
                <a:gd name="T20" fmla="*/ 43 w 123"/>
                <a:gd name="T21" fmla="*/ 61 h 98"/>
                <a:gd name="T22" fmla="*/ 79 w 123"/>
                <a:gd name="T23" fmla="*/ 61 h 98"/>
                <a:gd name="T24" fmla="*/ 61 w 123"/>
                <a:gd name="T25" fmla="*/ 1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98">
                  <a:moveTo>
                    <a:pt x="123" y="98"/>
                  </a:moveTo>
                  <a:lnTo>
                    <a:pt x="94" y="98"/>
                  </a:lnTo>
                  <a:lnTo>
                    <a:pt x="86" y="77"/>
                  </a:lnTo>
                  <a:lnTo>
                    <a:pt x="37" y="77"/>
                  </a:lnTo>
                  <a:lnTo>
                    <a:pt x="29" y="98"/>
                  </a:lnTo>
                  <a:lnTo>
                    <a:pt x="0" y="98"/>
                  </a:lnTo>
                  <a:lnTo>
                    <a:pt x="46" y="0"/>
                  </a:lnTo>
                  <a:lnTo>
                    <a:pt x="77" y="0"/>
                  </a:lnTo>
                  <a:lnTo>
                    <a:pt x="123" y="98"/>
                  </a:lnTo>
                  <a:moveTo>
                    <a:pt x="61" y="17"/>
                  </a:moveTo>
                  <a:lnTo>
                    <a:pt x="43" y="61"/>
                  </a:lnTo>
                  <a:lnTo>
                    <a:pt x="79" y="61"/>
                  </a:lnTo>
                  <a:lnTo>
                    <a:pt x="61" y="17"/>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0" name="Rectangle 109"/>
            <p:cNvSpPr>
              <a:spLocks noChangeArrowheads="1"/>
            </p:cNvSpPr>
            <p:nvPr userDrawn="1"/>
          </p:nvSpPr>
          <p:spPr bwMode="auto">
            <a:xfrm>
              <a:off x="884649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1" name="Freeform 57"/>
            <p:cNvSpPr>
              <a:spLocks/>
            </p:cNvSpPr>
            <p:nvPr userDrawn="1"/>
          </p:nvSpPr>
          <p:spPr bwMode="auto">
            <a:xfrm>
              <a:off x="7821209"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2" name="Rectangle 58"/>
            <p:cNvSpPr>
              <a:spLocks noChangeArrowheads="1"/>
            </p:cNvSpPr>
            <p:nvPr userDrawn="1"/>
          </p:nvSpPr>
          <p:spPr bwMode="auto">
            <a:xfrm>
              <a:off x="803130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3" name="Freeform 59"/>
            <p:cNvSpPr>
              <a:spLocks/>
            </p:cNvSpPr>
            <p:nvPr userDrawn="1"/>
          </p:nvSpPr>
          <p:spPr bwMode="auto">
            <a:xfrm>
              <a:off x="8429660" y="-1004361"/>
              <a:ext cx="184888" cy="171442"/>
            </a:xfrm>
            <a:custGeom>
              <a:avLst/>
              <a:gdLst>
                <a:gd name="T0" fmla="*/ 31 w 1010"/>
                <a:gd name="T1" fmla="*/ 670 h 939"/>
                <a:gd name="T2" fmla="*/ 0 w 1010"/>
                <a:gd name="T3" fmla="*/ 479 h 939"/>
                <a:gd name="T4" fmla="*/ 61 w 1010"/>
                <a:gd name="T5" fmla="*/ 218 h 939"/>
                <a:gd name="T6" fmla="*/ 265 w 1010"/>
                <a:gd name="T7" fmla="*/ 48 h 939"/>
                <a:gd name="T8" fmla="*/ 527 w 1010"/>
                <a:gd name="T9" fmla="*/ 0 h 939"/>
                <a:gd name="T10" fmla="*/ 826 w 1010"/>
                <a:gd name="T11" fmla="*/ 63 h 939"/>
                <a:gd name="T12" fmla="*/ 995 w 1010"/>
                <a:gd name="T13" fmla="*/ 270 h 939"/>
                <a:gd name="T14" fmla="*/ 1004 w 1010"/>
                <a:gd name="T15" fmla="*/ 327 h 939"/>
                <a:gd name="T16" fmla="*/ 755 w 1010"/>
                <a:gd name="T17" fmla="*/ 327 h 939"/>
                <a:gd name="T18" fmla="*/ 742 w 1010"/>
                <a:gd name="T19" fmla="*/ 258 h 939"/>
                <a:gd name="T20" fmla="*/ 631 w 1010"/>
                <a:gd name="T21" fmla="*/ 155 h 939"/>
                <a:gd name="T22" fmla="*/ 527 w 1010"/>
                <a:gd name="T23" fmla="*/ 139 h 939"/>
                <a:gd name="T24" fmla="*/ 410 w 1010"/>
                <a:gd name="T25" fmla="*/ 159 h 939"/>
                <a:gd name="T26" fmla="*/ 280 w 1010"/>
                <a:gd name="T27" fmla="*/ 291 h 939"/>
                <a:gd name="T28" fmla="*/ 248 w 1010"/>
                <a:gd name="T29" fmla="*/ 479 h 939"/>
                <a:gd name="T30" fmla="*/ 270 w 1010"/>
                <a:gd name="T31" fmla="*/ 636 h 939"/>
                <a:gd name="T32" fmla="*/ 400 w 1010"/>
                <a:gd name="T33" fmla="*/ 777 h 939"/>
                <a:gd name="T34" fmla="*/ 527 w 1010"/>
                <a:gd name="T35" fmla="*/ 801 h 939"/>
                <a:gd name="T36" fmla="*/ 637 w 1010"/>
                <a:gd name="T37" fmla="*/ 784 h 939"/>
                <a:gd name="T38" fmla="*/ 741 w 1010"/>
                <a:gd name="T39" fmla="*/ 691 h 939"/>
                <a:gd name="T40" fmla="*/ 760 w 1010"/>
                <a:gd name="T41" fmla="*/ 595 h 939"/>
                <a:gd name="T42" fmla="*/ 1010 w 1010"/>
                <a:gd name="T43" fmla="*/ 595 h 939"/>
                <a:gd name="T44" fmla="*/ 998 w 1010"/>
                <a:gd name="T45" fmla="*/ 680 h 939"/>
                <a:gd name="T46" fmla="*/ 832 w 1010"/>
                <a:gd name="T47" fmla="*/ 877 h 939"/>
                <a:gd name="T48" fmla="*/ 527 w 1010"/>
                <a:gd name="T49" fmla="*/ 939 h 939"/>
                <a:gd name="T50" fmla="*/ 287 w 1010"/>
                <a:gd name="T51" fmla="*/ 902 h 939"/>
                <a:gd name="T52" fmla="*/ 31 w 1010"/>
                <a:gd name="T53" fmla="*/ 670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10" h="939">
                  <a:moveTo>
                    <a:pt x="31" y="670"/>
                  </a:moveTo>
                  <a:cubicBezTo>
                    <a:pt x="11" y="609"/>
                    <a:pt x="0" y="546"/>
                    <a:pt x="0" y="479"/>
                  </a:cubicBezTo>
                  <a:cubicBezTo>
                    <a:pt x="0" y="385"/>
                    <a:pt x="16" y="294"/>
                    <a:pt x="61" y="218"/>
                  </a:cubicBezTo>
                  <a:cubicBezTo>
                    <a:pt x="107" y="140"/>
                    <a:pt x="179" y="80"/>
                    <a:pt x="265" y="48"/>
                  </a:cubicBezTo>
                  <a:cubicBezTo>
                    <a:pt x="347" y="17"/>
                    <a:pt x="435" y="0"/>
                    <a:pt x="527" y="0"/>
                  </a:cubicBezTo>
                  <a:cubicBezTo>
                    <a:pt x="634" y="0"/>
                    <a:pt x="734" y="24"/>
                    <a:pt x="826" y="63"/>
                  </a:cubicBezTo>
                  <a:cubicBezTo>
                    <a:pt x="912" y="100"/>
                    <a:pt x="976" y="177"/>
                    <a:pt x="995" y="270"/>
                  </a:cubicBezTo>
                  <a:cubicBezTo>
                    <a:pt x="999" y="288"/>
                    <a:pt x="1002" y="308"/>
                    <a:pt x="1004" y="327"/>
                  </a:cubicBezTo>
                  <a:cubicBezTo>
                    <a:pt x="755" y="327"/>
                    <a:pt x="755" y="327"/>
                    <a:pt x="755" y="327"/>
                  </a:cubicBezTo>
                  <a:cubicBezTo>
                    <a:pt x="754" y="303"/>
                    <a:pt x="750" y="279"/>
                    <a:pt x="742" y="258"/>
                  </a:cubicBezTo>
                  <a:cubicBezTo>
                    <a:pt x="723" y="209"/>
                    <a:pt x="682" y="170"/>
                    <a:pt x="631" y="155"/>
                  </a:cubicBezTo>
                  <a:cubicBezTo>
                    <a:pt x="598" y="144"/>
                    <a:pt x="563" y="139"/>
                    <a:pt x="527" y="139"/>
                  </a:cubicBezTo>
                  <a:cubicBezTo>
                    <a:pt x="486" y="139"/>
                    <a:pt x="447" y="146"/>
                    <a:pt x="410" y="159"/>
                  </a:cubicBezTo>
                  <a:cubicBezTo>
                    <a:pt x="349" y="181"/>
                    <a:pt x="302" y="230"/>
                    <a:pt x="280" y="291"/>
                  </a:cubicBezTo>
                  <a:cubicBezTo>
                    <a:pt x="260" y="349"/>
                    <a:pt x="248" y="413"/>
                    <a:pt x="248" y="479"/>
                  </a:cubicBezTo>
                  <a:cubicBezTo>
                    <a:pt x="248" y="534"/>
                    <a:pt x="257" y="586"/>
                    <a:pt x="270" y="636"/>
                  </a:cubicBezTo>
                  <a:cubicBezTo>
                    <a:pt x="289" y="701"/>
                    <a:pt x="337" y="753"/>
                    <a:pt x="400" y="777"/>
                  </a:cubicBezTo>
                  <a:cubicBezTo>
                    <a:pt x="440" y="792"/>
                    <a:pt x="482" y="801"/>
                    <a:pt x="527" y="801"/>
                  </a:cubicBezTo>
                  <a:cubicBezTo>
                    <a:pt x="566" y="801"/>
                    <a:pt x="602" y="795"/>
                    <a:pt x="637" y="784"/>
                  </a:cubicBezTo>
                  <a:cubicBezTo>
                    <a:pt x="683" y="769"/>
                    <a:pt x="721" y="735"/>
                    <a:pt x="741" y="691"/>
                  </a:cubicBezTo>
                  <a:cubicBezTo>
                    <a:pt x="754" y="662"/>
                    <a:pt x="760" y="629"/>
                    <a:pt x="760" y="595"/>
                  </a:cubicBezTo>
                  <a:cubicBezTo>
                    <a:pt x="1010" y="595"/>
                    <a:pt x="1010" y="595"/>
                    <a:pt x="1010" y="595"/>
                  </a:cubicBezTo>
                  <a:cubicBezTo>
                    <a:pt x="1008" y="624"/>
                    <a:pt x="1004" y="653"/>
                    <a:pt x="998" y="680"/>
                  </a:cubicBezTo>
                  <a:cubicBezTo>
                    <a:pt x="976" y="768"/>
                    <a:pt x="914" y="843"/>
                    <a:pt x="832" y="877"/>
                  </a:cubicBezTo>
                  <a:cubicBezTo>
                    <a:pt x="738" y="917"/>
                    <a:pt x="635" y="939"/>
                    <a:pt x="527" y="939"/>
                  </a:cubicBezTo>
                  <a:cubicBezTo>
                    <a:pt x="444" y="939"/>
                    <a:pt x="362" y="926"/>
                    <a:pt x="287" y="902"/>
                  </a:cubicBezTo>
                  <a:cubicBezTo>
                    <a:pt x="171" y="866"/>
                    <a:pt x="71" y="783"/>
                    <a:pt x="31" y="6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4" name="Freeform 60"/>
            <p:cNvSpPr>
              <a:spLocks/>
            </p:cNvSpPr>
            <p:nvPr userDrawn="1"/>
          </p:nvSpPr>
          <p:spPr bwMode="auto">
            <a:xfrm>
              <a:off x="7743893" y="-790900"/>
              <a:ext cx="40339" cy="104210"/>
            </a:xfrm>
            <a:custGeom>
              <a:avLst/>
              <a:gdLst>
                <a:gd name="T0" fmla="*/ 211 w 219"/>
                <a:gd name="T1" fmla="*/ 1 h 565"/>
                <a:gd name="T2" fmla="*/ 0 w 219"/>
                <a:gd name="T3" fmla="*/ 20 h 565"/>
                <a:gd name="T4" fmla="*/ 0 w 219"/>
                <a:gd name="T5" fmla="*/ 51 h 565"/>
                <a:gd name="T6" fmla="*/ 6 w 219"/>
                <a:gd name="T7" fmla="*/ 52 h 565"/>
                <a:gd name="T8" fmla="*/ 92 w 219"/>
                <a:gd name="T9" fmla="*/ 123 h 565"/>
                <a:gd name="T10" fmla="*/ 92 w 219"/>
                <a:gd name="T11" fmla="*/ 565 h 565"/>
                <a:gd name="T12" fmla="*/ 219 w 219"/>
                <a:gd name="T13" fmla="*/ 565 h 565"/>
                <a:gd name="T14" fmla="*/ 219 w 219"/>
                <a:gd name="T15" fmla="*/ 0 h 565"/>
                <a:gd name="T16" fmla="*/ 211 w 219"/>
                <a:gd name="T17" fmla="*/ 1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9" h="565">
                  <a:moveTo>
                    <a:pt x="211" y="1"/>
                  </a:moveTo>
                  <a:cubicBezTo>
                    <a:pt x="0" y="20"/>
                    <a:pt x="0" y="20"/>
                    <a:pt x="0" y="20"/>
                  </a:cubicBezTo>
                  <a:cubicBezTo>
                    <a:pt x="0" y="51"/>
                    <a:pt x="0" y="51"/>
                    <a:pt x="0" y="51"/>
                  </a:cubicBezTo>
                  <a:cubicBezTo>
                    <a:pt x="6" y="52"/>
                    <a:pt x="6" y="52"/>
                    <a:pt x="6" y="52"/>
                  </a:cubicBezTo>
                  <a:cubicBezTo>
                    <a:pt x="92" y="62"/>
                    <a:pt x="92" y="62"/>
                    <a:pt x="92" y="123"/>
                  </a:cubicBezTo>
                  <a:cubicBezTo>
                    <a:pt x="92" y="565"/>
                    <a:pt x="92" y="565"/>
                    <a:pt x="92" y="565"/>
                  </a:cubicBezTo>
                  <a:cubicBezTo>
                    <a:pt x="219" y="565"/>
                    <a:pt x="219" y="565"/>
                    <a:pt x="219" y="565"/>
                  </a:cubicBezTo>
                  <a:cubicBezTo>
                    <a:pt x="219" y="0"/>
                    <a:pt x="219" y="0"/>
                    <a:pt x="219" y="0"/>
                  </a:cubicBezTo>
                  <a:cubicBezTo>
                    <a:pt x="211" y="1"/>
                    <a:pt x="211" y="1"/>
                    <a:pt x="211"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5" name="Freeform 61"/>
            <p:cNvSpPr>
              <a:spLocks/>
            </p:cNvSpPr>
            <p:nvPr userDrawn="1"/>
          </p:nvSpPr>
          <p:spPr bwMode="auto">
            <a:xfrm>
              <a:off x="7804401" y="-758964"/>
              <a:ext cx="82360" cy="72275"/>
            </a:xfrm>
            <a:custGeom>
              <a:avLst/>
              <a:gdLst>
                <a:gd name="T0" fmla="*/ 328 w 446"/>
                <a:gd name="T1" fmla="*/ 1 h 398"/>
                <a:gd name="T2" fmla="*/ 180 w 446"/>
                <a:gd name="T3" fmla="*/ 87 h 398"/>
                <a:gd name="T4" fmla="*/ 180 w 446"/>
                <a:gd name="T5" fmla="*/ 0 h 398"/>
                <a:gd name="T6" fmla="*/ 172 w 446"/>
                <a:gd name="T7" fmla="*/ 1 h 398"/>
                <a:gd name="T8" fmla="*/ 0 w 446"/>
                <a:gd name="T9" fmla="*/ 28 h 398"/>
                <a:gd name="T10" fmla="*/ 0 w 446"/>
                <a:gd name="T11" fmla="*/ 58 h 398"/>
                <a:gd name="T12" fmla="*/ 8 w 446"/>
                <a:gd name="T13" fmla="*/ 58 h 398"/>
                <a:gd name="T14" fmla="*/ 74 w 446"/>
                <a:gd name="T15" fmla="*/ 122 h 398"/>
                <a:gd name="T16" fmla="*/ 74 w 446"/>
                <a:gd name="T17" fmla="*/ 398 h 398"/>
                <a:gd name="T18" fmla="*/ 180 w 446"/>
                <a:gd name="T19" fmla="*/ 398 h 398"/>
                <a:gd name="T20" fmla="*/ 180 w 446"/>
                <a:gd name="T21" fmla="*/ 195 h 398"/>
                <a:gd name="T22" fmla="*/ 285 w 446"/>
                <a:gd name="T23" fmla="*/ 71 h 398"/>
                <a:gd name="T24" fmla="*/ 339 w 446"/>
                <a:gd name="T25" fmla="*/ 183 h 398"/>
                <a:gd name="T26" fmla="*/ 339 w 446"/>
                <a:gd name="T27" fmla="*/ 398 h 398"/>
                <a:gd name="T28" fmla="*/ 446 w 446"/>
                <a:gd name="T29" fmla="*/ 398 h 398"/>
                <a:gd name="T30" fmla="*/ 446 w 446"/>
                <a:gd name="T31" fmla="*/ 122 h 398"/>
                <a:gd name="T32" fmla="*/ 328 w 446"/>
                <a:gd name="T33" fmla="*/ 1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6" h="398">
                  <a:moveTo>
                    <a:pt x="328" y="1"/>
                  </a:moveTo>
                  <a:cubicBezTo>
                    <a:pt x="249" y="1"/>
                    <a:pt x="202" y="54"/>
                    <a:pt x="180" y="87"/>
                  </a:cubicBezTo>
                  <a:cubicBezTo>
                    <a:pt x="180" y="58"/>
                    <a:pt x="180" y="0"/>
                    <a:pt x="180" y="0"/>
                  </a:cubicBezTo>
                  <a:cubicBezTo>
                    <a:pt x="172" y="1"/>
                    <a:pt x="172" y="1"/>
                    <a:pt x="172" y="1"/>
                  </a:cubicBezTo>
                  <a:cubicBezTo>
                    <a:pt x="0" y="28"/>
                    <a:pt x="0" y="28"/>
                    <a:pt x="0" y="28"/>
                  </a:cubicBezTo>
                  <a:cubicBezTo>
                    <a:pt x="0" y="58"/>
                    <a:pt x="0" y="58"/>
                    <a:pt x="0" y="58"/>
                  </a:cubicBezTo>
                  <a:cubicBezTo>
                    <a:pt x="8" y="58"/>
                    <a:pt x="8" y="58"/>
                    <a:pt x="8" y="58"/>
                  </a:cubicBezTo>
                  <a:cubicBezTo>
                    <a:pt x="62" y="60"/>
                    <a:pt x="74" y="71"/>
                    <a:pt x="74" y="122"/>
                  </a:cubicBezTo>
                  <a:cubicBezTo>
                    <a:pt x="74" y="398"/>
                    <a:pt x="74" y="398"/>
                    <a:pt x="74" y="398"/>
                  </a:cubicBezTo>
                  <a:cubicBezTo>
                    <a:pt x="180" y="398"/>
                    <a:pt x="180" y="398"/>
                    <a:pt x="180" y="398"/>
                  </a:cubicBezTo>
                  <a:cubicBezTo>
                    <a:pt x="180" y="195"/>
                    <a:pt x="180" y="195"/>
                    <a:pt x="180" y="195"/>
                  </a:cubicBezTo>
                  <a:cubicBezTo>
                    <a:pt x="180" y="141"/>
                    <a:pt x="232" y="71"/>
                    <a:pt x="285" y="71"/>
                  </a:cubicBezTo>
                  <a:cubicBezTo>
                    <a:pt x="337" y="71"/>
                    <a:pt x="339" y="113"/>
                    <a:pt x="339" y="183"/>
                  </a:cubicBezTo>
                  <a:cubicBezTo>
                    <a:pt x="339" y="398"/>
                    <a:pt x="339" y="398"/>
                    <a:pt x="339" y="398"/>
                  </a:cubicBezTo>
                  <a:cubicBezTo>
                    <a:pt x="446" y="398"/>
                    <a:pt x="446" y="398"/>
                    <a:pt x="446" y="398"/>
                  </a:cubicBezTo>
                  <a:cubicBezTo>
                    <a:pt x="446" y="122"/>
                    <a:pt x="446" y="122"/>
                    <a:pt x="446" y="122"/>
                  </a:cubicBezTo>
                  <a:cubicBezTo>
                    <a:pt x="446" y="44"/>
                    <a:pt x="404" y="1"/>
                    <a:pt x="328"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6" name="Freeform 62"/>
            <p:cNvSpPr>
              <a:spLocks/>
            </p:cNvSpPr>
            <p:nvPr userDrawn="1"/>
          </p:nvSpPr>
          <p:spPr bwMode="auto">
            <a:xfrm>
              <a:off x="7910291" y="-758964"/>
              <a:ext cx="53786" cy="73955"/>
            </a:xfrm>
            <a:custGeom>
              <a:avLst/>
              <a:gdLst>
                <a:gd name="T0" fmla="*/ 175 w 298"/>
                <a:gd name="T1" fmla="*/ 155 h 407"/>
                <a:gd name="T2" fmla="*/ 97 w 298"/>
                <a:gd name="T3" fmla="*/ 87 h 407"/>
                <a:gd name="T4" fmla="*/ 154 w 298"/>
                <a:gd name="T5" fmla="*/ 50 h 407"/>
                <a:gd name="T6" fmla="*/ 254 w 298"/>
                <a:gd name="T7" fmla="*/ 85 h 407"/>
                <a:gd name="T8" fmla="*/ 270 w 298"/>
                <a:gd name="T9" fmla="*/ 95 h 407"/>
                <a:gd name="T10" fmla="*/ 270 w 298"/>
                <a:gd name="T11" fmla="*/ 15 h 407"/>
                <a:gd name="T12" fmla="*/ 257 w 298"/>
                <a:gd name="T13" fmla="*/ 12 h 407"/>
                <a:gd name="T14" fmla="*/ 160 w 298"/>
                <a:gd name="T15" fmla="*/ 0 h 407"/>
                <a:gd name="T16" fmla="*/ 0 w 298"/>
                <a:gd name="T17" fmla="*/ 115 h 407"/>
                <a:gd name="T18" fmla="*/ 117 w 298"/>
                <a:gd name="T19" fmla="*/ 238 h 407"/>
                <a:gd name="T20" fmla="*/ 200 w 298"/>
                <a:gd name="T21" fmla="*/ 310 h 407"/>
                <a:gd name="T22" fmla="*/ 129 w 298"/>
                <a:gd name="T23" fmla="*/ 356 h 407"/>
                <a:gd name="T24" fmla="*/ 12 w 298"/>
                <a:gd name="T25" fmla="*/ 315 h 407"/>
                <a:gd name="T26" fmla="*/ 0 w 298"/>
                <a:gd name="T27" fmla="*/ 308 h 407"/>
                <a:gd name="T28" fmla="*/ 0 w 298"/>
                <a:gd name="T29" fmla="*/ 391 h 407"/>
                <a:gd name="T30" fmla="*/ 8 w 298"/>
                <a:gd name="T31" fmla="*/ 392 h 407"/>
                <a:gd name="T32" fmla="*/ 125 w 298"/>
                <a:gd name="T33" fmla="*/ 407 h 407"/>
                <a:gd name="T34" fmla="*/ 298 w 298"/>
                <a:gd name="T35" fmla="*/ 288 h 407"/>
                <a:gd name="T36" fmla="*/ 175 w 298"/>
                <a:gd name="T37" fmla="*/ 155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407">
                  <a:moveTo>
                    <a:pt x="175" y="155"/>
                  </a:moveTo>
                  <a:cubicBezTo>
                    <a:pt x="133" y="134"/>
                    <a:pt x="97" y="116"/>
                    <a:pt x="97" y="87"/>
                  </a:cubicBezTo>
                  <a:cubicBezTo>
                    <a:pt x="97" y="54"/>
                    <a:pt x="137" y="50"/>
                    <a:pt x="154" y="50"/>
                  </a:cubicBezTo>
                  <a:cubicBezTo>
                    <a:pt x="198" y="50"/>
                    <a:pt x="237" y="74"/>
                    <a:pt x="254" y="85"/>
                  </a:cubicBezTo>
                  <a:cubicBezTo>
                    <a:pt x="270" y="95"/>
                    <a:pt x="270" y="95"/>
                    <a:pt x="270" y="95"/>
                  </a:cubicBezTo>
                  <a:cubicBezTo>
                    <a:pt x="270" y="15"/>
                    <a:pt x="270" y="15"/>
                    <a:pt x="270" y="15"/>
                  </a:cubicBezTo>
                  <a:cubicBezTo>
                    <a:pt x="257" y="12"/>
                    <a:pt x="257" y="12"/>
                    <a:pt x="257" y="12"/>
                  </a:cubicBezTo>
                  <a:cubicBezTo>
                    <a:pt x="238" y="8"/>
                    <a:pt x="201" y="0"/>
                    <a:pt x="160" y="0"/>
                  </a:cubicBezTo>
                  <a:cubicBezTo>
                    <a:pt x="60" y="0"/>
                    <a:pt x="0" y="43"/>
                    <a:pt x="0" y="115"/>
                  </a:cubicBezTo>
                  <a:cubicBezTo>
                    <a:pt x="0" y="180"/>
                    <a:pt x="62" y="211"/>
                    <a:pt x="117" y="238"/>
                  </a:cubicBezTo>
                  <a:cubicBezTo>
                    <a:pt x="160" y="259"/>
                    <a:pt x="200" y="278"/>
                    <a:pt x="200" y="310"/>
                  </a:cubicBezTo>
                  <a:cubicBezTo>
                    <a:pt x="200" y="339"/>
                    <a:pt x="174" y="356"/>
                    <a:pt x="129" y="356"/>
                  </a:cubicBezTo>
                  <a:cubicBezTo>
                    <a:pt x="79" y="356"/>
                    <a:pt x="37" y="330"/>
                    <a:pt x="12" y="315"/>
                  </a:cubicBezTo>
                  <a:cubicBezTo>
                    <a:pt x="0" y="308"/>
                    <a:pt x="0" y="308"/>
                    <a:pt x="0" y="308"/>
                  </a:cubicBezTo>
                  <a:cubicBezTo>
                    <a:pt x="0" y="391"/>
                    <a:pt x="0" y="391"/>
                    <a:pt x="0" y="391"/>
                  </a:cubicBezTo>
                  <a:cubicBezTo>
                    <a:pt x="8" y="392"/>
                    <a:pt x="8" y="392"/>
                    <a:pt x="8" y="392"/>
                  </a:cubicBezTo>
                  <a:cubicBezTo>
                    <a:pt x="30" y="397"/>
                    <a:pt x="70" y="407"/>
                    <a:pt x="125" y="407"/>
                  </a:cubicBezTo>
                  <a:cubicBezTo>
                    <a:pt x="233" y="407"/>
                    <a:pt x="298" y="362"/>
                    <a:pt x="298" y="288"/>
                  </a:cubicBezTo>
                  <a:cubicBezTo>
                    <a:pt x="298" y="215"/>
                    <a:pt x="233" y="183"/>
                    <a:pt x="17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7" name="Freeform 63"/>
            <p:cNvSpPr>
              <a:spLocks noEditPoints="1"/>
            </p:cNvSpPr>
            <p:nvPr userDrawn="1"/>
          </p:nvSpPr>
          <p:spPr bwMode="auto">
            <a:xfrm>
              <a:off x="7974162" y="-758964"/>
              <a:ext cx="84040" cy="102529"/>
            </a:xfrm>
            <a:custGeom>
              <a:avLst/>
              <a:gdLst>
                <a:gd name="T0" fmla="*/ 292 w 459"/>
                <a:gd name="T1" fmla="*/ 1 h 563"/>
                <a:gd name="T2" fmla="*/ 179 w 459"/>
                <a:gd name="T3" fmla="*/ 56 h 563"/>
                <a:gd name="T4" fmla="*/ 179 w 459"/>
                <a:gd name="T5" fmla="*/ 0 h 563"/>
                <a:gd name="T6" fmla="*/ 170 w 459"/>
                <a:gd name="T7" fmla="*/ 1 h 563"/>
                <a:gd name="T8" fmla="*/ 0 w 459"/>
                <a:gd name="T9" fmla="*/ 28 h 563"/>
                <a:gd name="T10" fmla="*/ 0 w 459"/>
                <a:gd name="T11" fmla="*/ 58 h 563"/>
                <a:gd name="T12" fmla="*/ 8 w 459"/>
                <a:gd name="T13" fmla="*/ 58 h 563"/>
                <a:gd name="T14" fmla="*/ 71 w 459"/>
                <a:gd name="T15" fmla="*/ 122 h 563"/>
                <a:gd name="T16" fmla="*/ 71 w 459"/>
                <a:gd name="T17" fmla="*/ 563 h 563"/>
                <a:gd name="T18" fmla="*/ 178 w 459"/>
                <a:gd name="T19" fmla="*/ 563 h 563"/>
                <a:gd name="T20" fmla="*/ 178 w 459"/>
                <a:gd name="T21" fmla="*/ 362 h 563"/>
                <a:gd name="T22" fmla="*/ 288 w 459"/>
                <a:gd name="T23" fmla="*/ 408 h 563"/>
                <a:gd name="T24" fmla="*/ 459 w 459"/>
                <a:gd name="T25" fmla="*/ 198 h 563"/>
                <a:gd name="T26" fmla="*/ 292 w 459"/>
                <a:gd name="T27" fmla="*/ 1 h 563"/>
                <a:gd name="T28" fmla="*/ 261 w 459"/>
                <a:gd name="T29" fmla="*/ 60 h 563"/>
                <a:gd name="T30" fmla="*/ 343 w 459"/>
                <a:gd name="T31" fmla="*/ 198 h 563"/>
                <a:gd name="T32" fmla="*/ 262 w 459"/>
                <a:gd name="T33" fmla="*/ 349 h 563"/>
                <a:gd name="T34" fmla="*/ 178 w 459"/>
                <a:gd name="T35" fmla="*/ 230 h 563"/>
                <a:gd name="T36" fmla="*/ 178 w 459"/>
                <a:gd name="T37" fmla="*/ 196 h 563"/>
                <a:gd name="T38" fmla="*/ 261 w 459"/>
                <a:gd name="T39" fmla="*/ 60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9" h="563">
                  <a:moveTo>
                    <a:pt x="292" y="1"/>
                  </a:moveTo>
                  <a:cubicBezTo>
                    <a:pt x="252" y="1"/>
                    <a:pt x="214" y="20"/>
                    <a:pt x="179" y="56"/>
                  </a:cubicBezTo>
                  <a:cubicBezTo>
                    <a:pt x="179" y="37"/>
                    <a:pt x="179" y="0"/>
                    <a:pt x="179" y="0"/>
                  </a:cubicBezTo>
                  <a:cubicBezTo>
                    <a:pt x="170" y="1"/>
                    <a:pt x="170" y="1"/>
                    <a:pt x="170" y="1"/>
                  </a:cubicBezTo>
                  <a:cubicBezTo>
                    <a:pt x="0" y="28"/>
                    <a:pt x="0" y="28"/>
                    <a:pt x="0" y="28"/>
                  </a:cubicBezTo>
                  <a:cubicBezTo>
                    <a:pt x="0" y="58"/>
                    <a:pt x="0" y="58"/>
                    <a:pt x="0" y="58"/>
                  </a:cubicBezTo>
                  <a:cubicBezTo>
                    <a:pt x="8" y="58"/>
                    <a:pt x="8" y="58"/>
                    <a:pt x="8" y="58"/>
                  </a:cubicBezTo>
                  <a:cubicBezTo>
                    <a:pt x="61" y="60"/>
                    <a:pt x="71" y="70"/>
                    <a:pt x="71" y="122"/>
                  </a:cubicBezTo>
                  <a:cubicBezTo>
                    <a:pt x="71" y="563"/>
                    <a:pt x="71" y="563"/>
                    <a:pt x="71" y="563"/>
                  </a:cubicBezTo>
                  <a:cubicBezTo>
                    <a:pt x="178" y="563"/>
                    <a:pt x="178" y="563"/>
                    <a:pt x="178" y="563"/>
                  </a:cubicBezTo>
                  <a:cubicBezTo>
                    <a:pt x="178" y="563"/>
                    <a:pt x="178" y="395"/>
                    <a:pt x="178" y="362"/>
                  </a:cubicBezTo>
                  <a:cubicBezTo>
                    <a:pt x="198" y="386"/>
                    <a:pt x="229" y="408"/>
                    <a:pt x="288" y="408"/>
                  </a:cubicBezTo>
                  <a:cubicBezTo>
                    <a:pt x="400" y="408"/>
                    <a:pt x="459" y="335"/>
                    <a:pt x="459" y="198"/>
                  </a:cubicBezTo>
                  <a:cubicBezTo>
                    <a:pt x="459" y="73"/>
                    <a:pt x="398" y="1"/>
                    <a:pt x="292" y="1"/>
                  </a:cubicBezTo>
                  <a:moveTo>
                    <a:pt x="261" y="60"/>
                  </a:moveTo>
                  <a:cubicBezTo>
                    <a:pt x="334" y="60"/>
                    <a:pt x="343" y="139"/>
                    <a:pt x="343" y="198"/>
                  </a:cubicBezTo>
                  <a:cubicBezTo>
                    <a:pt x="343" y="300"/>
                    <a:pt x="317" y="349"/>
                    <a:pt x="262" y="349"/>
                  </a:cubicBezTo>
                  <a:cubicBezTo>
                    <a:pt x="193" y="349"/>
                    <a:pt x="178" y="284"/>
                    <a:pt x="178" y="230"/>
                  </a:cubicBezTo>
                  <a:cubicBezTo>
                    <a:pt x="178" y="196"/>
                    <a:pt x="178" y="196"/>
                    <a:pt x="178" y="196"/>
                  </a:cubicBezTo>
                  <a:cubicBezTo>
                    <a:pt x="178" y="155"/>
                    <a:pt x="186" y="60"/>
                    <a:pt x="26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8" name="Freeform 64"/>
            <p:cNvSpPr>
              <a:spLocks/>
            </p:cNvSpPr>
            <p:nvPr userDrawn="1"/>
          </p:nvSpPr>
          <p:spPr bwMode="auto">
            <a:xfrm>
              <a:off x="8071648" y="-758964"/>
              <a:ext cx="33616" cy="72275"/>
            </a:xfrm>
            <a:custGeom>
              <a:avLst/>
              <a:gdLst>
                <a:gd name="T0" fmla="*/ 0 w 178"/>
                <a:gd name="T1" fmla="*/ 28 h 398"/>
                <a:gd name="T2" fmla="*/ 0 w 178"/>
                <a:gd name="T3" fmla="*/ 58 h 398"/>
                <a:gd name="T4" fmla="*/ 8 w 178"/>
                <a:gd name="T5" fmla="*/ 58 h 398"/>
                <a:gd name="T6" fmla="*/ 71 w 178"/>
                <a:gd name="T7" fmla="*/ 122 h 398"/>
                <a:gd name="T8" fmla="*/ 71 w 178"/>
                <a:gd name="T9" fmla="*/ 398 h 398"/>
                <a:gd name="T10" fmla="*/ 178 w 178"/>
                <a:gd name="T11" fmla="*/ 398 h 398"/>
                <a:gd name="T12" fmla="*/ 178 w 178"/>
                <a:gd name="T13" fmla="*/ 0 h 398"/>
                <a:gd name="T14" fmla="*/ 169 w 178"/>
                <a:gd name="T15" fmla="*/ 1 h 398"/>
                <a:gd name="T16" fmla="*/ 0 w 178"/>
                <a:gd name="T17" fmla="*/ 2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398">
                  <a:moveTo>
                    <a:pt x="0" y="28"/>
                  </a:moveTo>
                  <a:cubicBezTo>
                    <a:pt x="0" y="58"/>
                    <a:pt x="0" y="58"/>
                    <a:pt x="0" y="58"/>
                  </a:cubicBezTo>
                  <a:cubicBezTo>
                    <a:pt x="8" y="58"/>
                    <a:pt x="8" y="58"/>
                    <a:pt x="8" y="58"/>
                  </a:cubicBezTo>
                  <a:cubicBezTo>
                    <a:pt x="60" y="60"/>
                    <a:pt x="71" y="70"/>
                    <a:pt x="71" y="122"/>
                  </a:cubicBezTo>
                  <a:cubicBezTo>
                    <a:pt x="71" y="398"/>
                    <a:pt x="71" y="398"/>
                    <a:pt x="71" y="398"/>
                  </a:cubicBezTo>
                  <a:cubicBezTo>
                    <a:pt x="178" y="398"/>
                    <a:pt x="178" y="398"/>
                    <a:pt x="178" y="398"/>
                  </a:cubicBezTo>
                  <a:cubicBezTo>
                    <a:pt x="178" y="0"/>
                    <a:pt x="178" y="0"/>
                    <a:pt x="178" y="0"/>
                  </a:cubicBezTo>
                  <a:cubicBezTo>
                    <a:pt x="169" y="1"/>
                    <a:pt x="169" y="1"/>
                    <a:pt x="169" y="1"/>
                  </a:cubicBezTo>
                  <a:cubicBezTo>
                    <a:pt x="0" y="28"/>
                    <a:pt x="0" y="28"/>
                    <a:pt x="0" y="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9" name="Freeform 65"/>
            <p:cNvSpPr>
              <a:spLocks/>
            </p:cNvSpPr>
            <p:nvPr userDrawn="1"/>
          </p:nvSpPr>
          <p:spPr bwMode="auto">
            <a:xfrm>
              <a:off x="8083415" y="-789219"/>
              <a:ext cx="23531" cy="20170"/>
            </a:xfrm>
            <a:custGeom>
              <a:avLst/>
              <a:gdLst>
                <a:gd name="T0" fmla="*/ 64 w 132"/>
                <a:gd name="T1" fmla="*/ 116 h 116"/>
                <a:gd name="T2" fmla="*/ 132 w 132"/>
                <a:gd name="T3" fmla="*/ 57 h 116"/>
                <a:gd name="T4" fmla="*/ 65 w 132"/>
                <a:gd name="T5" fmla="*/ 0 h 116"/>
                <a:gd name="T6" fmla="*/ 0 w 132"/>
                <a:gd name="T7" fmla="*/ 57 h 116"/>
                <a:gd name="T8" fmla="*/ 64 w 132"/>
                <a:gd name="T9" fmla="*/ 116 h 116"/>
              </a:gdLst>
              <a:ahLst/>
              <a:cxnLst>
                <a:cxn ang="0">
                  <a:pos x="T0" y="T1"/>
                </a:cxn>
                <a:cxn ang="0">
                  <a:pos x="T2" y="T3"/>
                </a:cxn>
                <a:cxn ang="0">
                  <a:pos x="T4" y="T5"/>
                </a:cxn>
                <a:cxn ang="0">
                  <a:pos x="T6" y="T7"/>
                </a:cxn>
                <a:cxn ang="0">
                  <a:pos x="T8" y="T9"/>
                </a:cxn>
              </a:cxnLst>
              <a:rect l="0" t="0" r="r" b="b"/>
              <a:pathLst>
                <a:path w="132" h="116">
                  <a:moveTo>
                    <a:pt x="64" y="116"/>
                  </a:moveTo>
                  <a:cubicBezTo>
                    <a:pt x="102" y="116"/>
                    <a:pt x="132" y="89"/>
                    <a:pt x="132" y="57"/>
                  </a:cubicBezTo>
                  <a:cubicBezTo>
                    <a:pt x="132" y="26"/>
                    <a:pt x="102" y="0"/>
                    <a:pt x="65" y="0"/>
                  </a:cubicBezTo>
                  <a:cubicBezTo>
                    <a:pt x="29" y="0"/>
                    <a:pt x="0" y="26"/>
                    <a:pt x="0" y="57"/>
                  </a:cubicBezTo>
                  <a:cubicBezTo>
                    <a:pt x="0" y="89"/>
                    <a:pt x="29" y="116"/>
                    <a:pt x="64" y="11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0" name="Freeform 66"/>
            <p:cNvSpPr>
              <a:spLocks/>
            </p:cNvSpPr>
            <p:nvPr userDrawn="1"/>
          </p:nvSpPr>
          <p:spPr bwMode="auto">
            <a:xfrm>
              <a:off x="8123754" y="-758964"/>
              <a:ext cx="63870" cy="72275"/>
            </a:xfrm>
            <a:custGeom>
              <a:avLst/>
              <a:gdLst>
                <a:gd name="T0" fmla="*/ 345 w 345"/>
                <a:gd name="T1" fmla="*/ 89 h 398"/>
                <a:gd name="T2" fmla="*/ 345 w 345"/>
                <a:gd name="T3" fmla="*/ 6 h 398"/>
                <a:gd name="T4" fmla="*/ 339 w 345"/>
                <a:gd name="T5" fmla="*/ 5 h 398"/>
                <a:gd name="T6" fmla="*/ 288 w 345"/>
                <a:gd name="T7" fmla="*/ 1 h 398"/>
                <a:gd name="T8" fmla="*/ 179 w 345"/>
                <a:gd name="T9" fmla="*/ 80 h 398"/>
                <a:gd name="T10" fmla="*/ 179 w 345"/>
                <a:gd name="T11" fmla="*/ 0 h 398"/>
                <a:gd name="T12" fmla="*/ 170 w 345"/>
                <a:gd name="T13" fmla="*/ 1 h 398"/>
                <a:gd name="T14" fmla="*/ 0 w 345"/>
                <a:gd name="T15" fmla="*/ 28 h 398"/>
                <a:gd name="T16" fmla="*/ 0 w 345"/>
                <a:gd name="T17" fmla="*/ 58 h 398"/>
                <a:gd name="T18" fmla="*/ 7 w 345"/>
                <a:gd name="T19" fmla="*/ 58 h 398"/>
                <a:gd name="T20" fmla="*/ 72 w 345"/>
                <a:gd name="T21" fmla="*/ 122 h 398"/>
                <a:gd name="T22" fmla="*/ 72 w 345"/>
                <a:gd name="T23" fmla="*/ 398 h 398"/>
                <a:gd name="T24" fmla="*/ 179 w 345"/>
                <a:gd name="T25" fmla="*/ 398 h 398"/>
                <a:gd name="T26" fmla="*/ 179 w 345"/>
                <a:gd name="T27" fmla="*/ 199 h 398"/>
                <a:gd name="T28" fmla="*/ 291 w 345"/>
                <a:gd name="T29" fmla="*/ 87 h 398"/>
                <a:gd name="T30" fmla="*/ 328 w 345"/>
                <a:gd name="T31" fmla="*/ 94 h 398"/>
                <a:gd name="T32" fmla="*/ 345 w 345"/>
                <a:gd name="T33" fmla="*/ 99 h 398"/>
                <a:gd name="T34" fmla="*/ 345 w 345"/>
                <a:gd name="T35" fmla="*/ 89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5" h="398">
                  <a:moveTo>
                    <a:pt x="345" y="89"/>
                  </a:moveTo>
                  <a:cubicBezTo>
                    <a:pt x="345" y="6"/>
                    <a:pt x="345" y="6"/>
                    <a:pt x="345" y="6"/>
                  </a:cubicBezTo>
                  <a:cubicBezTo>
                    <a:pt x="339" y="5"/>
                    <a:pt x="339" y="5"/>
                    <a:pt x="339" y="5"/>
                  </a:cubicBezTo>
                  <a:cubicBezTo>
                    <a:pt x="321" y="2"/>
                    <a:pt x="304" y="1"/>
                    <a:pt x="288" y="1"/>
                  </a:cubicBezTo>
                  <a:cubicBezTo>
                    <a:pt x="228" y="1"/>
                    <a:pt x="196" y="45"/>
                    <a:pt x="179" y="80"/>
                  </a:cubicBezTo>
                  <a:cubicBezTo>
                    <a:pt x="179" y="48"/>
                    <a:pt x="179" y="0"/>
                    <a:pt x="179" y="0"/>
                  </a:cubicBezTo>
                  <a:cubicBezTo>
                    <a:pt x="170" y="1"/>
                    <a:pt x="170" y="1"/>
                    <a:pt x="170" y="1"/>
                  </a:cubicBezTo>
                  <a:cubicBezTo>
                    <a:pt x="0" y="28"/>
                    <a:pt x="0" y="28"/>
                    <a:pt x="0" y="28"/>
                  </a:cubicBezTo>
                  <a:cubicBezTo>
                    <a:pt x="0" y="58"/>
                    <a:pt x="0" y="58"/>
                    <a:pt x="0" y="58"/>
                  </a:cubicBezTo>
                  <a:cubicBezTo>
                    <a:pt x="7" y="58"/>
                    <a:pt x="7" y="58"/>
                    <a:pt x="7" y="58"/>
                  </a:cubicBezTo>
                  <a:cubicBezTo>
                    <a:pt x="61" y="60"/>
                    <a:pt x="72" y="70"/>
                    <a:pt x="72" y="122"/>
                  </a:cubicBezTo>
                  <a:cubicBezTo>
                    <a:pt x="72" y="398"/>
                    <a:pt x="72" y="398"/>
                    <a:pt x="72" y="398"/>
                  </a:cubicBezTo>
                  <a:cubicBezTo>
                    <a:pt x="179" y="398"/>
                    <a:pt x="179" y="398"/>
                    <a:pt x="179" y="398"/>
                  </a:cubicBezTo>
                  <a:cubicBezTo>
                    <a:pt x="179" y="199"/>
                    <a:pt x="179" y="199"/>
                    <a:pt x="179" y="199"/>
                  </a:cubicBezTo>
                  <a:cubicBezTo>
                    <a:pt x="179" y="165"/>
                    <a:pt x="190" y="87"/>
                    <a:pt x="291" y="87"/>
                  </a:cubicBezTo>
                  <a:cubicBezTo>
                    <a:pt x="302" y="87"/>
                    <a:pt x="315" y="91"/>
                    <a:pt x="328" y="94"/>
                  </a:cubicBezTo>
                  <a:cubicBezTo>
                    <a:pt x="345" y="99"/>
                    <a:pt x="345" y="99"/>
                    <a:pt x="345" y="99"/>
                  </a:cubicBezTo>
                  <a:cubicBezTo>
                    <a:pt x="345" y="89"/>
                    <a:pt x="345" y="89"/>
                    <a:pt x="345" y="8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1" name="Freeform 67"/>
            <p:cNvSpPr>
              <a:spLocks noEditPoints="1"/>
            </p:cNvSpPr>
            <p:nvPr userDrawn="1"/>
          </p:nvSpPr>
          <p:spPr bwMode="auto">
            <a:xfrm>
              <a:off x="8196028" y="-758964"/>
              <a:ext cx="68913" cy="73955"/>
            </a:xfrm>
            <a:custGeom>
              <a:avLst/>
              <a:gdLst>
                <a:gd name="T0" fmla="*/ 377 w 377"/>
                <a:gd name="T1" fmla="*/ 161 h 407"/>
                <a:gd name="T2" fmla="*/ 200 w 377"/>
                <a:gd name="T3" fmla="*/ 0 h 407"/>
                <a:gd name="T4" fmla="*/ 0 w 377"/>
                <a:gd name="T5" fmla="*/ 190 h 407"/>
                <a:gd name="T6" fmla="*/ 232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6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7"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2" y="348"/>
                    <a:pt x="119" y="253"/>
                    <a:pt x="116" y="169"/>
                  </a:cubicBezTo>
                  <a:cubicBezTo>
                    <a:pt x="131" y="169"/>
                    <a:pt x="377" y="169"/>
                    <a:pt x="377" y="169"/>
                  </a:cubicBezTo>
                  <a:cubicBezTo>
                    <a:pt x="377" y="161"/>
                    <a:pt x="377" y="161"/>
                    <a:pt x="377" y="161"/>
                  </a:cubicBezTo>
                  <a:moveTo>
                    <a:pt x="197" y="42"/>
                  </a:moveTo>
                  <a:cubicBezTo>
                    <a:pt x="254" y="42"/>
                    <a:pt x="269" y="84"/>
                    <a:pt x="270" y="122"/>
                  </a:cubicBezTo>
                  <a:cubicBezTo>
                    <a:pt x="257" y="122"/>
                    <a:pt x="131" y="122"/>
                    <a:pt x="117" y="122"/>
                  </a:cubicBezTo>
                  <a:cubicBezTo>
                    <a:pt x="120"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2" name="Freeform 68"/>
            <p:cNvSpPr>
              <a:spLocks/>
            </p:cNvSpPr>
            <p:nvPr userDrawn="1"/>
          </p:nvSpPr>
          <p:spPr bwMode="auto">
            <a:xfrm>
              <a:off x="8384278" y="-792580"/>
              <a:ext cx="80678" cy="105891"/>
            </a:xfrm>
            <a:custGeom>
              <a:avLst/>
              <a:gdLst>
                <a:gd name="T0" fmla="*/ 325 w 445"/>
                <a:gd name="T1" fmla="*/ 181 h 578"/>
                <a:gd name="T2" fmla="*/ 178 w 445"/>
                <a:gd name="T3" fmla="*/ 266 h 578"/>
                <a:gd name="T4" fmla="*/ 178 w 445"/>
                <a:gd name="T5" fmla="*/ 0 h 578"/>
                <a:gd name="T6" fmla="*/ 170 w 445"/>
                <a:gd name="T7" fmla="*/ 1 h 578"/>
                <a:gd name="T8" fmla="*/ 0 w 445"/>
                <a:gd name="T9" fmla="*/ 22 h 578"/>
                <a:gd name="T10" fmla="*/ 0 w 445"/>
                <a:gd name="T11" fmla="*/ 52 h 578"/>
                <a:gd name="T12" fmla="*/ 8 w 445"/>
                <a:gd name="T13" fmla="*/ 52 h 578"/>
                <a:gd name="T14" fmla="*/ 72 w 445"/>
                <a:gd name="T15" fmla="*/ 118 h 578"/>
                <a:gd name="T16" fmla="*/ 72 w 445"/>
                <a:gd name="T17" fmla="*/ 578 h 578"/>
                <a:gd name="T18" fmla="*/ 178 w 445"/>
                <a:gd name="T19" fmla="*/ 578 h 578"/>
                <a:gd name="T20" fmla="*/ 178 w 445"/>
                <a:gd name="T21" fmla="*/ 380 h 578"/>
                <a:gd name="T22" fmla="*/ 279 w 445"/>
                <a:gd name="T23" fmla="*/ 251 h 578"/>
                <a:gd name="T24" fmla="*/ 339 w 445"/>
                <a:gd name="T25" fmla="*/ 335 h 578"/>
                <a:gd name="T26" fmla="*/ 339 w 445"/>
                <a:gd name="T27" fmla="*/ 578 h 578"/>
                <a:gd name="T28" fmla="*/ 445 w 445"/>
                <a:gd name="T29" fmla="*/ 578 h 578"/>
                <a:gd name="T30" fmla="*/ 445 w 445"/>
                <a:gd name="T31" fmla="*/ 323 h 578"/>
                <a:gd name="T32" fmla="*/ 325 w 445"/>
                <a:gd name="T33" fmla="*/ 18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5" h="578">
                  <a:moveTo>
                    <a:pt x="325" y="181"/>
                  </a:moveTo>
                  <a:cubicBezTo>
                    <a:pt x="246" y="181"/>
                    <a:pt x="201" y="230"/>
                    <a:pt x="178" y="266"/>
                  </a:cubicBezTo>
                  <a:cubicBezTo>
                    <a:pt x="178" y="223"/>
                    <a:pt x="178" y="0"/>
                    <a:pt x="178" y="0"/>
                  </a:cubicBezTo>
                  <a:cubicBezTo>
                    <a:pt x="170" y="1"/>
                    <a:pt x="170" y="1"/>
                    <a:pt x="170" y="1"/>
                  </a:cubicBezTo>
                  <a:cubicBezTo>
                    <a:pt x="0" y="22"/>
                    <a:pt x="0" y="22"/>
                    <a:pt x="0" y="22"/>
                  </a:cubicBezTo>
                  <a:cubicBezTo>
                    <a:pt x="0" y="52"/>
                    <a:pt x="0" y="52"/>
                    <a:pt x="0" y="52"/>
                  </a:cubicBezTo>
                  <a:cubicBezTo>
                    <a:pt x="8" y="52"/>
                    <a:pt x="8" y="52"/>
                    <a:pt x="8" y="52"/>
                  </a:cubicBezTo>
                  <a:cubicBezTo>
                    <a:pt x="60" y="54"/>
                    <a:pt x="72" y="66"/>
                    <a:pt x="72" y="118"/>
                  </a:cubicBezTo>
                  <a:cubicBezTo>
                    <a:pt x="72" y="578"/>
                    <a:pt x="72" y="578"/>
                    <a:pt x="72" y="578"/>
                  </a:cubicBezTo>
                  <a:cubicBezTo>
                    <a:pt x="178" y="578"/>
                    <a:pt x="178" y="578"/>
                    <a:pt x="178" y="578"/>
                  </a:cubicBezTo>
                  <a:cubicBezTo>
                    <a:pt x="178" y="380"/>
                    <a:pt x="178" y="380"/>
                    <a:pt x="178" y="380"/>
                  </a:cubicBezTo>
                  <a:cubicBezTo>
                    <a:pt x="178" y="307"/>
                    <a:pt x="233" y="251"/>
                    <a:pt x="279" y="251"/>
                  </a:cubicBezTo>
                  <a:cubicBezTo>
                    <a:pt x="339" y="251"/>
                    <a:pt x="339" y="296"/>
                    <a:pt x="339" y="335"/>
                  </a:cubicBezTo>
                  <a:cubicBezTo>
                    <a:pt x="339" y="578"/>
                    <a:pt x="339" y="578"/>
                    <a:pt x="339" y="578"/>
                  </a:cubicBezTo>
                  <a:cubicBezTo>
                    <a:pt x="445" y="578"/>
                    <a:pt x="445" y="578"/>
                    <a:pt x="445" y="578"/>
                  </a:cubicBezTo>
                  <a:cubicBezTo>
                    <a:pt x="445" y="323"/>
                    <a:pt x="445" y="323"/>
                    <a:pt x="445" y="323"/>
                  </a:cubicBezTo>
                  <a:cubicBezTo>
                    <a:pt x="445" y="280"/>
                    <a:pt x="445" y="181"/>
                    <a:pt x="325" y="18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3" name="Freeform 69"/>
            <p:cNvSpPr>
              <a:spLocks noEditPoints="1"/>
            </p:cNvSpPr>
            <p:nvPr userDrawn="1"/>
          </p:nvSpPr>
          <p:spPr bwMode="auto">
            <a:xfrm>
              <a:off x="8485126" y="-758964"/>
              <a:ext cx="68913" cy="73955"/>
            </a:xfrm>
            <a:custGeom>
              <a:avLst/>
              <a:gdLst>
                <a:gd name="T0" fmla="*/ 377 w 377"/>
                <a:gd name="T1" fmla="*/ 161 h 407"/>
                <a:gd name="T2" fmla="*/ 200 w 377"/>
                <a:gd name="T3" fmla="*/ 0 h 407"/>
                <a:gd name="T4" fmla="*/ 0 w 377"/>
                <a:gd name="T5" fmla="*/ 190 h 407"/>
                <a:gd name="T6" fmla="*/ 233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7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8" y="0"/>
                    <a:pt x="0" y="64"/>
                    <a:pt x="0" y="190"/>
                  </a:cubicBezTo>
                  <a:cubicBezTo>
                    <a:pt x="0" y="326"/>
                    <a:pt x="87" y="407"/>
                    <a:pt x="233"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1" y="348"/>
                    <a:pt x="119" y="253"/>
                    <a:pt x="117" y="169"/>
                  </a:cubicBezTo>
                  <a:cubicBezTo>
                    <a:pt x="131" y="169"/>
                    <a:pt x="377" y="169"/>
                    <a:pt x="377" y="169"/>
                  </a:cubicBezTo>
                  <a:cubicBezTo>
                    <a:pt x="377" y="161"/>
                    <a:pt x="377" y="161"/>
                    <a:pt x="377" y="161"/>
                  </a:cubicBezTo>
                  <a:moveTo>
                    <a:pt x="197" y="42"/>
                  </a:moveTo>
                  <a:cubicBezTo>
                    <a:pt x="254" y="42"/>
                    <a:pt x="268" y="84"/>
                    <a:pt x="270" y="122"/>
                  </a:cubicBezTo>
                  <a:cubicBezTo>
                    <a:pt x="256" y="122"/>
                    <a:pt x="130" y="122"/>
                    <a:pt x="117" y="122"/>
                  </a:cubicBezTo>
                  <a:cubicBezTo>
                    <a:pt x="119"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4" name="Freeform 70"/>
            <p:cNvSpPr>
              <a:spLocks/>
            </p:cNvSpPr>
            <p:nvPr userDrawn="1"/>
          </p:nvSpPr>
          <p:spPr bwMode="auto">
            <a:xfrm>
              <a:off x="8320407"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9"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2" y="468"/>
                    <a:pt x="178" y="449"/>
                    <a:pt x="178" y="394"/>
                  </a:cubicBezTo>
                  <a:cubicBezTo>
                    <a:pt x="178" y="394"/>
                    <a:pt x="178" y="182"/>
                    <a:pt x="178" y="168"/>
                  </a:cubicBezTo>
                  <a:cubicBezTo>
                    <a:pt x="192" y="168"/>
                    <a:pt x="298" y="168"/>
                    <a:pt x="298" y="168"/>
                  </a:cubicBezTo>
                  <a:cubicBezTo>
                    <a:pt x="298" y="121"/>
                    <a:pt x="298" y="121"/>
                    <a:pt x="298" y="121"/>
                  </a:cubicBezTo>
                  <a:cubicBezTo>
                    <a:pt x="298" y="121"/>
                    <a:pt x="192"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5" name="Freeform 71"/>
            <p:cNvSpPr>
              <a:spLocks/>
            </p:cNvSpPr>
            <p:nvPr userDrawn="1"/>
          </p:nvSpPr>
          <p:spPr bwMode="auto">
            <a:xfrm>
              <a:off x="8602782" y="-789219"/>
              <a:ext cx="117656" cy="102529"/>
            </a:xfrm>
            <a:custGeom>
              <a:avLst/>
              <a:gdLst>
                <a:gd name="T0" fmla="*/ 632 w 640"/>
                <a:gd name="T1" fmla="*/ 0 h 556"/>
                <a:gd name="T2" fmla="*/ 525 w 640"/>
                <a:gd name="T3" fmla="*/ 0 h 556"/>
                <a:gd name="T4" fmla="*/ 525 w 640"/>
                <a:gd name="T5" fmla="*/ 423 h 556"/>
                <a:gd name="T6" fmla="*/ 246 w 640"/>
                <a:gd name="T7" fmla="*/ 0 h 556"/>
                <a:gd name="T8" fmla="*/ 0 w 640"/>
                <a:gd name="T9" fmla="*/ 0 h 556"/>
                <a:gd name="T10" fmla="*/ 0 w 640"/>
                <a:gd name="T11" fmla="*/ 32 h 556"/>
                <a:gd name="T12" fmla="*/ 21 w 640"/>
                <a:gd name="T13" fmla="*/ 36 h 556"/>
                <a:gd name="T14" fmla="*/ 91 w 640"/>
                <a:gd name="T15" fmla="*/ 111 h 556"/>
                <a:gd name="T16" fmla="*/ 91 w 640"/>
                <a:gd name="T17" fmla="*/ 556 h 556"/>
                <a:gd name="T18" fmla="*/ 206 w 640"/>
                <a:gd name="T19" fmla="*/ 556 h 556"/>
                <a:gd name="T20" fmla="*/ 206 w 640"/>
                <a:gd name="T21" fmla="*/ 114 h 556"/>
                <a:gd name="T22" fmla="*/ 498 w 640"/>
                <a:gd name="T23" fmla="*/ 556 h 556"/>
                <a:gd name="T24" fmla="*/ 640 w 640"/>
                <a:gd name="T25" fmla="*/ 556 h 556"/>
                <a:gd name="T26" fmla="*/ 640 w 640"/>
                <a:gd name="T27" fmla="*/ 0 h 556"/>
                <a:gd name="T28" fmla="*/ 632 w 640"/>
                <a:gd name="T2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0" h="556">
                  <a:moveTo>
                    <a:pt x="632" y="0"/>
                  </a:moveTo>
                  <a:cubicBezTo>
                    <a:pt x="525" y="0"/>
                    <a:pt x="525" y="0"/>
                    <a:pt x="525" y="0"/>
                  </a:cubicBezTo>
                  <a:cubicBezTo>
                    <a:pt x="525" y="0"/>
                    <a:pt x="525" y="382"/>
                    <a:pt x="525" y="423"/>
                  </a:cubicBezTo>
                  <a:cubicBezTo>
                    <a:pt x="503" y="389"/>
                    <a:pt x="246" y="0"/>
                    <a:pt x="246" y="0"/>
                  </a:cubicBezTo>
                  <a:cubicBezTo>
                    <a:pt x="0" y="0"/>
                    <a:pt x="0" y="0"/>
                    <a:pt x="0" y="0"/>
                  </a:cubicBezTo>
                  <a:cubicBezTo>
                    <a:pt x="0" y="32"/>
                    <a:pt x="0" y="32"/>
                    <a:pt x="0" y="32"/>
                  </a:cubicBezTo>
                  <a:cubicBezTo>
                    <a:pt x="21" y="36"/>
                    <a:pt x="21" y="36"/>
                    <a:pt x="21" y="36"/>
                  </a:cubicBezTo>
                  <a:cubicBezTo>
                    <a:pt x="86" y="47"/>
                    <a:pt x="91" y="47"/>
                    <a:pt x="91" y="111"/>
                  </a:cubicBezTo>
                  <a:cubicBezTo>
                    <a:pt x="91" y="556"/>
                    <a:pt x="91" y="556"/>
                    <a:pt x="91" y="556"/>
                  </a:cubicBezTo>
                  <a:cubicBezTo>
                    <a:pt x="206" y="556"/>
                    <a:pt x="206" y="556"/>
                    <a:pt x="206" y="556"/>
                  </a:cubicBezTo>
                  <a:cubicBezTo>
                    <a:pt x="206" y="556"/>
                    <a:pt x="206" y="155"/>
                    <a:pt x="206" y="114"/>
                  </a:cubicBezTo>
                  <a:cubicBezTo>
                    <a:pt x="228" y="148"/>
                    <a:pt x="498" y="556"/>
                    <a:pt x="498" y="556"/>
                  </a:cubicBezTo>
                  <a:cubicBezTo>
                    <a:pt x="640" y="556"/>
                    <a:pt x="640" y="556"/>
                    <a:pt x="640" y="556"/>
                  </a:cubicBezTo>
                  <a:cubicBezTo>
                    <a:pt x="640" y="0"/>
                    <a:pt x="640" y="0"/>
                    <a:pt x="640" y="0"/>
                  </a:cubicBezTo>
                  <a:cubicBezTo>
                    <a:pt x="632" y="0"/>
                    <a:pt x="632" y="0"/>
                    <a:pt x="6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6" name="Freeform 72"/>
            <p:cNvSpPr>
              <a:spLocks noEditPoints="1"/>
            </p:cNvSpPr>
            <p:nvPr userDrawn="1"/>
          </p:nvSpPr>
          <p:spPr bwMode="auto">
            <a:xfrm>
              <a:off x="8738927" y="-758964"/>
              <a:ext cx="70594" cy="73955"/>
            </a:xfrm>
            <a:custGeom>
              <a:avLst/>
              <a:gdLst>
                <a:gd name="T0" fmla="*/ 378 w 378"/>
                <a:gd name="T1" fmla="*/ 161 h 407"/>
                <a:gd name="T2" fmla="*/ 200 w 378"/>
                <a:gd name="T3" fmla="*/ 0 h 407"/>
                <a:gd name="T4" fmla="*/ 0 w 378"/>
                <a:gd name="T5" fmla="*/ 190 h 407"/>
                <a:gd name="T6" fmla="*/ 232 w 378"/>
                <a:gd name="T7" fmla="*/ 407 h 407"/>
                <a:gd name="T8" fmla="*/ 363 w 378"/>
                <a:gd name="T9" fmla="*/ 385 h 407"/>
                <a:gd name="T10" fmla="*/ 369 w 378"/>
                <a:gd name="T11" fmla="*/ 383 h 407"/>
                <a:gd name="T12" fmla="*/ 369 w 378"/>
                <a:gd name="T13" fmla="*/ 331 h 407"/>
                <a:gd name="T14" fmla="*/ 359 w 378"/>
                <a:gd name="T15" fmla="*/ 335 h 407"/>
                <a:gd name="T16" fmla="*/ 276 w 378"/>
                <a:gd name="T17" fmla="*/ 348 h 407"/>
                <a:gd name="T18" fmla="*/ 117 w 378"/>
                <a:gd name="T19" fmla="*/ 169 h 407"/>
                <a:gd name="T20" fmla="*/ 378 w 378"/>
                <a:gd name="T21" fmla="*/ 169 h 407"/>
                <a:gd name="T22" fmla="*/ 378 w 378"/>
                <a:gd name="T23" fmla="*/ 161 h 407"/>
                <a:gd name="T24" fmla="*/ 196 w 378"/>
                <a:gd name="T25" fmla="*/ 42 h 407"/>
                <a:gd name="T26" fmla="*/ 270 w 378"/>
                <a:gd name="T27" fmla="*/ 122 h 407"/>
                <a:gd name="T28" fmla="*/ 117 w 378"/>
                <a:gd name="T29" fmla="*/ 122 h 407"/>
                <a:gd name="T30" fmla="*/ 196 w 378"/>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8" h="407">
                  <a:moveTo>
                    <a:pt x="378" y="161"/>
                  </a:moveTo>
                  <a:cubicBezTo>
                    <a:pt x="378" y="54"/>
                    <a:pt x="318" y="0"/>
                    <a:pt x="200" y="0"/>
                  </a:cubicBezTo>
                  <a:cubicBezTo>
                    <a:pt x="68"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6" y="348"/>
                  </a:cubicBezTo>
                  <a:cubicBezTo>
                    <a:pt x="161" y="348"/>
                    <a:pt x="119" y="253"/>
                    <a:pt x="117" y="169"/>
                  </a:cubicBezTo>
                  <a:cubicBezTo>
                    <a:pt x="131" y="169"/>
                    <a:pt x="378" y="169"/>
                    <a:pt x="378" y="169"/>
                  </a:cubicBezTo>
                  <a:cubicBezTo>
                    <a:pt x="378" y="161"/>
                    <a:pt x="378" y="161"/>
                    <a:pt x="378" y="161"/>
                  </a:cubicBezTo>
                  <a:moveTo>
                    <a:pt x="196" y="42"/>
                  </a:moveTo>
                  <a:cubicBezTo>
                    <a:pt x="254" y="42"/>
                    <a:pt x="269" y="84"/>
                    <a:pt x="270" y="122"/>
                  </a:cubicBezTo>
                  <a:cubicBezTo>
                    <a:pt x="257" y="122"/>
                    <a:pt x="131" y="122"/>
                    <a:pt x="117" y="122"/>
                  </a:cubicBezTo>
                  <a:cubicBezTo>
                    <a:pt x="120" y="94"/>
                    <a:pt x="137" y="42"/>
                    <a:pt x="19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7" name="Freeform 73"/>
            <p:cNvSpPr>
              <a:spLocks/>
            </p:cNvSpPr>
            <p:nvPr userDrawn="1"/>
          </p:nvSpPr>
          <p:spPr bwMode="auto">
            <a:xfrm>
              <a:off x="8903646"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8"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1" y="468"/>
                    <a:pt x="178" y="449"/>
                    <a:pt x="178" y="394"/>
                  </a:cubicBezTo>
                  <a:cubicBezTo>
                    <a:pt x="178" y="394"/>
                    <a:pt x="178" y="182"/>
                    <a:pt x="178" y="168"/>
                  </a:cubicBezTo>
                  <a:cubicBezTo>
                    <a:pt x="191" y="168"/>
                    <a:pt x="298" y="168"/>
                    <a:pt x="298" y="168"/>
                  </a:cubicBezTo>
                  <a:cubicBezTo>
                    <a:pt x="298" y="121"/>
                    <a:pt x="298" y="121"/>
                    <a:pt x="298" y="121"/>
                  </a:cubicBezTo>
                  <a:cubicBezTo>
                    <a:pt x="298" y="121"/>
                    <a:pt x="191"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8" name="Freeform 74"/>
            <p:cNvSpPr>
              <a:spLocks/>
            </p:cNvSpPr>
            <p:nvPr userDrawn="1"/>
          </p:nvSpPr>
          <p:spPr bwMode="auto">
            <a:xfrm>
              <a:off x="8811201" y="-757284"/>
              <a:ext cx="85721" cy="70594"/>
            </a:xfrm>
            <a:custGeom>
              <a:avLst/>
              <a:gdLst>
                <a:gd name="T0" fmla="*/ 363 w 473"/>
                <a:gd name="T1" fmla="*/ 127 h 389"/>
                <a:gd name="T2" fmla="*/ 473 w 473"/>
                <a:gd name="T3" fmla="*/ 0 h 389"/>
                <a:gd name="T4" fmla="*/ 360 w 473"/>
                <a:gd name="T5" fmla="*/ 0 h 389"/>
                <a:gd name="T6" fmla="*/ 256 w 473"/>
                <a:gd name="T7" fmla="*/ 120 h 389"/>
                <a:gd name="T8" fmla="*/ 164 w 473"/>
                <a:gd name="T9" fmla="*/ 0 h 389"/>
                <a:gd name="T10" fmla="*/ 0 w 473"/>
                <a:gd name="T11" fmla="*/ 0 h 389"/>
                <a:gd name="T12" fmla="*/ 0 w 473"/>
                <a:gd name="T13" fmla="*/ 31 h 389"/>
                <a:gd name="T14" fmla="*/ 7 w 473"/>
                <a:gd name="T15" fmla="*/ 31 h 389"/>
                <a:gd name="T16" fmla="*/ 110 w 473"/>
                <a:gd name="T17" fmla="*/ 90 h 389"/>
                <a:gd name="T18" fmla="*/ 177 w 473"/>
                <a:gd name="T19" fmla="*/ 179 h 389"/>
                <a:gd name="T20" fmla="*/ 68 w 473"/>
                <a:gd name="T21" fmla="*/ 306 h 389"/>
                <a:gd name="T22" fmla="*/ 181 w 473"/>
                <a:gd name="T23" fmla="*/ 306 h 389"/>
                <a:gd name="T24" fmla="*/ 230 w 473"/>
                <a:gd name="T25" fmla="*/ 249 h 389"/>
                <a:gd name="T26" fmla="*/ 335 w 473"/>
                <a:gd name="T27" fmla="*/ 389 h 389"/>
                <a:gd name="T28" fmla="*/ 462 w 473"/>
                <a:gd name="T29" fmla="*/ 389 h 389"/>
                <a:gd name="T30" fmla="*/ 261 w 473"/>
                <a:gd name="T31" fmla="*/ 127 h 389"/>
                <a:gd name="T32" fmla="*/ 363 w 473"/>
                <a:gd name="T33" fmla="*/ 127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3" h="389">
                  <a:moveTo>
                    <a:pt x="363" y="127"/>
                  </a:moveTo>
                  <a:cubicBezTo>
                    <a:pt x="473" y="0"/>
                    <a:pt x="473" y="0"/>
                    <a:pt x="473" y="0"/>
                  </a:cubicBezTo>
                  <a:cubicBezTo>
                    <a:pt x="360" y="0"/>
                    <a:pt x="360" y="0"/>
                    <a:pt x="360" y="0"/>
                  </a:cubicBezTo>
                  <a:cubicBezTo>
                    <a:pt x="256" y="120"/>
                    <a:pt x="256" y="120"/>
                    <a:pt x="256" y="120"/>
                  </a:cubicBezTo>
                  <a:cubicBezTo>
                    <a:pt x="164" y="0"/>
                    <a:pt x="164" y="0"/>
                    <a:pt x="164" y="0"/>
                  </a:cubicBezTo>
                  <a:cubicBezTo>
                    <a:pt x="0" y="0"/>
                    <a:pt x="0" y="0"/>
                    <a:pt x="0" y="0"/>
                  </a:cubicBezTo>
                  <a:cubicBezTo>
                    <a:pt x="0" y="31"/>
                    <a:pt x="0" y="31"/>
                    <a:pt x="0" y="31"/>
                  </a:cubicBezTo>
                  <a:cubicBezTo>
                    <a:pt x="7" y="31"/>
                    <a:pt x="7" y="31"/>
                    <a:pt x="7" y="31"/>
                  </a:cubicBezTo>
                  <a:cubicBezTo>
                    <a:pt x="63" y="35"/>
                    <a:pt x="76" y="45"/>
                    <a:pt x="110" y="90"/>
                  </a:cubicBezTo>
                  <a:cubicBezTo>
                    <a:pt x="177" y="179"/>
                    <a:pt x="177" y="179"/>
                    <a:pt x="177" y="179"/>
                  </a:cubicBezTo>
                  <a:cubicBezTo>
                    <a:pt x="68" y="306"/>
                    <a:pt x="68" y="306"/>
                    <a:pt x="68" y="306"/>
                  </a:cubicBezTo>
                  <a:cubicBezTo>
                    <a:pt x="181" y="306"/>
                    <a:pt x="181" y="306"/>
                    <a:pt x="181" y="306"/>
                  </a:cubicBezTo>
                  <a:cubicBezTo>
                    <a:pt x="230" y="249"/>
                    <a:pt x="230" y="249"/>
                    <a:pt x="230" y="249"/>
                  </a:cubicBezTo>
                  <a:cubicBezTo>
                    <a:pt x="335" y="389"/>
                    <a:pt x="335" y="389"/>
                    <a:pt x="335" y="389"/>
                  </a:cubicBezTo>
                  <a:cubicBezTo>
                    <a:pt x="462" y="389"/>
                    <a:pt x="462" y="389"/>
                    <a:pt x="462" y="389"/>
                  </a:cubicBezTo>
                  <a:cubicBezTo>
                    <a:pt x="261" y="127"/>
                    <a:pt x="261" y="127"/>
                    <a:pt x="261" y="127"/>
                  </a:cubicBezTo>
                  <a:cubicBezTo>
                    <a:pt x="363" y="127"/>
                    <a:pt x="363" y="127"/>
                    <a:pt x="363" y="12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grpSp>
      <p:pic>
        <p:nvPicPr>
          <p:cNvPr id="129" name="Picture 128" descr="hds-w.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2261" y="274473"/>
            <a:ext cx="2077976" cy="208842"/>
          </a:xfrm>
          <a:prstGeom prst="rect">
            <a:avLst/>
          </a:prstGeom>
          <a:effectLst/>
        </p:spPr>
      </p:pic>
      <p:sp>
        <p:nvSpPr>
          <p:cNvPr id="38" name="Subtitle 2"/>
          <p:cNvSpPr>
            <a:spLocks noGrp="1"/>
          </p:cNvSpPr>
          <p:nvPr>
            <p:ph type="subTitle" idx="1" hasCustomPrompt="1"/>
          </p:nvPr>
        </p:nvSpPr>
        <p:spPr>
          <a:xfrm>
            <a:off x="2548467" y="2520899"/>
            <a:ext cx="6131767" cy="646331"/>
          </a:xfrm>
          <a:prstGeom prst="rect">
            <a:avLst/>
          </a:prstGeom>
          <a:effectLst/>
        </p:spPr>
        <p:txBody>
          <a:bodyPr/>
          <a:lstStyle>
            <a:lvl1pPr marL="0" marR="0" indent="0" algn="l" defTabSz="914400" rtl="0" eaLnBrk="1" fontAlgn="auto" latinLnBrk="0" hangingPunct="1">
              <a:lnSpc>
                <a:spcPct val="100000"/>
              </a:lnSpc>
              <a:spcBef>
                <a:spcPts val="0"/>
              </a:spcBef>
              <a:spcAft>
                <a:spcPts val="0"/>
              </a:spcAft>
              <a:buClr>
                <a:schemeClr val="accent2"/>
              </a:buClr>
              <a:buSzTx/>
              <a:buFont typeface="Wingdings" charset="2"/>
              <a:buNone/>
              <a:tabLst/>
              <a:defRPr sz="1800" cap="none" baseline="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Subtitle placeholder</a:t>
            </a:r>
          </a:p>
          <a:p>
            <a:r>
              <a:rPr lang="en-US" dirty="0" smtClean="0"/>
              <a:t>Subtitle placeholder</a:t>
            </a:r>
          </a:p>
        </p:txBody>
      </p:sp>
      <p:sp>
        <p:nvSpPr>
          <p:cNvPr id="39" name="Title 1"/>
          <p:cNvSpPr>
            <a:spLocks noGrp="1"/>
          </p:cNvSpPr>
          <p:nvPr>
            <p:ph type="ctrTitle" hasCustomPrompt="1"/>
          </p:nvPr>
        </p:nvSpPr>
        <p:spPr>
          <a:xfrm>
            <a:off x="2548458" y="1052996"/>
            <a:ext cx="6131767" cy="1453141"/>
          </a:xfrm>
          <a:prstGeom prst="rect">
            <a:avLst/>
          </a:prstGeom>
          <a:effectLst/>
        </p:spPr>
        <p:txBody>
          <a:bodyPr anchor="b">
            <a:noAutofit/>
          </a:bodyPr>
          <a:lstStyle>
            <a:lvl1pPr>
              <a:lnSpc>
                <a:spcPct val="100000"/>
              </a:lnSpc>
              <a:defRPr sz="4800" b="1" cap="none" baseline="0">
                <a:solidFill>
                  <a:schemeClr val="tx1"/>
                </a:solidFill>
                <a:latin typeface="+mn-lt"/>
              </a:defRPr>
            </a:lvl1pPr>
          </a:lstStyle>
          <a:p>
            <a:r>
              <a:rPr lang="en-US" dirty="0" smtClean="0"/>
              <a:t>Title placeholder</a:t>
            </a:r>
            <a:endParaRPr lang="en-US" dirty="0"/>
          </a:p>
        </p:txBody>
      </p:sp>
      <p:sp>
        <p:nvSpPr>
          <p:cNvPr id="45" name="TextBox 44"/>
          <p:cNvSpPr txBox="1"/>
          <p:nvPr userDrawn="1"/>
        </p:nvSpPr>
        <p:spPr>
          <a:xfrm>
            <a:off x="6111200" y="4911221"/>
            <a:ext cx="2993127" cy="215444"/>
          </a:xfrm>
          <a:prstGeom prst="rect">
            <a:avLst/>
          </a:prstGeom>
          <a:noFill/>
        </p:spPr>
        <p:txBody>
          <a:bodyPr wrap="none" rtlCol="0">
            <a:spAutoFit/>
          </a:bodyPr>
          <a:lstStyle/>
          <a:p>
            <a:pPr algn="r"/>
            <a:r>
              <a:rPr lang="en-US" sz="800" kern="1200" dirty="0" smtClean="0">
                <a:solidFill>
                  <a:srgbClr val="FFFFFF">
                    <a:alpha val="50000"/>
                  </a:srgbClr>
                </a:solidFill>
                <a:latin typeface="+mn-lt"/>
                <a:ea typeface="+mn-ea"/>
                <a:cs typeface="+mn-cs"/>
              </a:rPr>
              <a:t>© Hitachi Data Systems Corporation 2014. All rights reserved.</a:t>
            </a:r>
          </a:p>
        </p:txBody>
      </p:sp>
      <p:sp>
        <p:nvSpPr>
          <p:cNvPr id="48" name="Rectangle 47"/>
          <p:cNvSpPr/>
          <p:nvPr userDrawn="1"/>
        </p:nvSpPr>
        <p:spPr>
          <a:xfrm rot="10800000">
            <a:off x="-1" y="3249791"/>
            <a:ext cx="9190510" cy="48012"/>
          </a:xfrm>
          <a:prstGeom prst="rect">
            <a:avLst/>
          </a:prstGeom>
          <a:gradFill>
            <a:gsLst>
              <a:gs pos="100000">
                <a:schemeClr val="accent2"/>
              </a:gs>
              <a:gs pos="0">
                <a:schemeClr val="accent2">
                  <a:shade val="94000"/>
                  <a:satMod val="135000"/>
                  <a:alpha val="0"/>
                </a:schemeClr>
              </a:gs>
            </a:gsLst>
            <a:lin ang="0" scaled="0"/>
          </a:gra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pic>
        <p:nvPicPr>
          <p:cNvPr id="43" name="Picture 42" descr="IWI-RGB-150.png"/>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82261" y="1989705"/>
            <a:ext cx="2077976" cy="391547"/>
          </a:xfrm>
          <a:prstGeom prst="rect">
            <a:avLst/>
          </a:prstGeom>
        </p:spPr>
      </p:pic>
      <p:sp>
        <p:nvSpPr>
          <p:cNvPr id="41" name="TextBox 40"/>
          <p:cNvSpPr txBox="1"/>
          <p:nvPr userDrawn="1"/>
        </p:nvSpPr>
        <p:spPr>
          <a:xfrm>
            <a:off x="1611" y="4915450"/>
            <a:ext cx="312906" cy="215444"/>
          </a:xfrm>
          <a:prstGeom prst="rect">
            <a:avLst/>
          </a:prstGeom>
          <a:noFill/>
        </p:spPr>
        <p:txBody>
          <a:bodyPr wrap="none" rtlCol="0">
            <a:spAutoFit/>
          </a:bodyPr>
          <a:lstStyle/>
          <a:p>
            <a:pPr algn="l"/>
            <a:fld id="{111F478C-84AE-4601-9BE4-60468A3A6C06}" type="slidenum">
              <a:rPr lang="en-US" sz="800" smtClean="0">
                <a:solidFill>
                  <a:schemeClr val="bg1">
                    <a:alpha val="50000"/>
                  </a:schemeClr>
                </a:solidFill>
                <a:latin typeface="+mj-lt"/>
              </a:rPr>
              <a:pPr algn="l"/>
              <a:t>‹#›</a:t>
            </a:fld>
            <a:endParaRPr lang="en-US" sz="800" dirty="0">
              <a:solidFill>
                <a:schemeClr val="bg1">
                  <a:alpha val="50000"/>
                </a:schemeClr>
              </a:solidFill>
              <a:latin typeface="+mj-lt"/>
            </a:endParaRPr>
          </a:p>
        </p:txBody>
      </p:sp>
    </p:spTree>
    <p:extLst>
      <p:ext uri="{BB962C8B-B14F-4D97-AF65-F5344CB8AC3E}">
        <p14:creationId xmlns:p14="http://schemas.microsoft.com/office/powerpoint/2010/main" val="3356886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fidential Title Slide">
    <p:spTree>
      <p:nvGrpSpPr>
        <p:cNvPr id="1" name=""/>
        <p:cNvGrpSpPr/>
        <p:nvPr/>
      </p:nvGrpSpPr>
      <p:grpSpPr>
        <a:xfrm>
          <a:off x="0" y="0"/>
          <a:ext cx="0" cy="0"/>
          <a:chOff x="0" y="0"/>
          <a:chExt cx="0" cy="0"/>
        </a:xfrm>
      </p:grpSpPr>
      <p:pic>
        <p:nvPicPr>
          <p:cNvPr id="103" name="Picture 102" descr="city.png"/>
          <p:cNvPicPr>
            <a:picLocks/>
          </p:cNvPicPr>
          <p:nvPr userDrawn="1"/>
        </p:nvPicPr>
        <p:blipFill rotWithShape="1">
          <a:blip r:embed="rId2" cstate="screen">
            <a:extLst>
              <a:ext uri="{28A0092B-C50C-407E-A947-70E740481C1C}">
                <a14:useLocalDpi xmlns:a14="http://schemas.microsoft.com/office/drawing/2010/main"/>
              </a:ext>
            </a:extLst>
          </a:blip>
          <a:srcRect t="-849"/>
          <a:stretch/>
        </p:blipFill>
        <p:spPr>
          <a:xfrm>
            <a:off x="-1141" y="-55310"/>
            <a:ext cx="9182571" cy="5253150"/>
          </a:xfrm>
          <a:prstGeom prst="rect">
            <a:avLst/>
          </a:prstGeom>
        </p:spPr>
      </p:pic>
      <p:sp>
        <p:nvSpPr>
          <p:cNvPr id="42" name="Rectangle 41"/>
          <p:cNvSpPr/>
          <p:nvPr userDrawn="1"/>
        </p:nvSpPr>
        <p:spPr>
          <a:xfrm rot="10800000">
            <a:off x="-12947" y="-11686"/>
            <a:ext cx="9194377" cy="2116667"/>
          </a:xfrm>
          <a:prstGeom prst="rect">
            <a:avLst/>
          </a:prstGeom>
          <a:gradFill flip="none" rotWithShape="1">
            <a:gsLst>
              <a:gs pos="0">
                <a:srgbClr val="000000">
                  <a:alpha val="41000"/>
                </a:srgbClr>
              </a:gs>
              <a:gs pos="100000">
                <a:srgbClr val="FFFFFF">
                  <a:alpha val="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nvGrpSpPr>
          <p:cNvPr id="47" name="Group 46"/>
          <p:cNvGrpSpPr/>
          <p:nvPr userDrawn="1"/>
        </p:nvGrpSpPr>
        <p:grpSpPr>
          <a:xfrm>
            <a:off x="-537419" y="-1223434"/>
            <a:ext cx="9681419" cy="969823"/>
            <a:chOff x="0" y="0"/>
            <a:chExt cx="9144000" cy="915988"/>
          </a:xfrm>
          <a:effectLst/>
        </p:grpSpPr>
        <p:sp>
          <p:nvSpPr>
            <p:cNvPr id="49" name="AutoShape 42"/>
            <p:cNvSpPr>
              <a:spLocks noChangeAspect="1" noChangeArrowheads="1" noTextEdit="1"/>
            </p:cNvSpPr>
            <p:nvPr userDrawn="1"/>
          </p:nvSpPr>
          <p:spPr bwMode="auto">
            <a:xfrm>
              <a:off x="0" y="0"/>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50" name="Rectangle 46"/>
            <p:cNvSpPr>
              <a:spLocks noChangeArrowheads="1"/>
            </p:cNvSpPr>
            <p:nvPr userDrawn="1"/>
          </p:nvSpPr>
          <p:spPr bwMode="auto">
            <a:xfrm>
              <a:off x="0" y="760413"/>
              <a:ext cx="7662863"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grpSp>
      <p:sp>
        <p:nvSpPr>
          <p:cNvPr id="2" name="Rectangle 1"/>
          <p:cNvSpPr/>
          <p:nvPr userDrawn="1"/>
        </p:nvSpPr>
        <p:spPr>
          <a:xfrm>
            <a:off x="-3865" y="3081173"/>
            <a:ext cx="9185296" cy="2116667"/>
          </a:xfrm>
          <a:prstGeom prst="rect">
            <a:avLst/>
          </a:prstGeom>
          <a:gradFill flip="none" rotWithShape="1">
            <a:gsLst>
              <a:gs pos="0">
                <a:srgbClr val="000000">
                  <a:alpha val="38000"/>
                </a:srgbClr>
              </a:gs>
              <a:gs pos="100000">
                <a:srgbClr val="FFFFFF">
                  <a:alpha val="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2" name="Rectangle 51"/>
          <p:cNvSpPr/>
          <p:nvPr userDrawn="1"/>
        </p:nvSpPr>
        <p:spPr>
          <a:xfrm>
            <a:off x="0" y="1019128"/>
            <a:ext cx="9190512" cy="2278675"/>
          </a:xfrm>
          <a:prstGeom prst="rect">
            <a:avLst/>
          </a:prstGeom>
          <a:gradFill flip="none" rotWithShape="1">
            <a:gsLst>
              <a:gs pos="0">
                <a:schemeClr val="bg1">
                  <a:alpha val="95000"/>
                </a:schemeClr>
              </a:gs>
              <a:gs pos="57000">
                <a:schemeClr val="bg1">
                  <a:alpha val="90000"/>
                </a:schemeClr>
              </a:gs>
              <a:gs pos="100000">
                <a:schemeClr val="bg1">
                  <a:alpha val="45000"/>
                </a:schemeClr>
              </a:gs>
            </a:gsLst>
            <a:lin ang="0" scaled="0"/>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pic>
        <p:nvPicPr>
          <p:cNvPr id="4" name="Picture 3" descr="PPT-WORDS.pn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67" y="3977419"/>
            <a:ext cx="9185297" cy="823220"/>
          </a:xfrm>
          <a:prstGeom prst="rect">
            <a:avLst/>
          </a:prstGeom>
        </p:spPr>
      </p:pic>
      <p:grpSp>
        <p:nvGrpSpPr>
          <p:cNvPr id="105" name="Group 104"/>
          <p:cNvGrpSpPr/>
          <p:nvPr userDrawn="1"/>
        </p:nvGrpSpPr>
        <p:grpSpPr>
          <a:xfrm>
            <a:off x="7394877" y="280579"/>
            <a:ext cx="1465784" cy="419664"/>
            <a:chOff x="7743893" y="-1004361"/>
            <a:chExt cx="1215220" cy="347926"/>
          </a:xfrm>
          <a:solidFill>
            <a:srgbClr val="FFFFFF"/>
          </a:solidFill>
        </p:grpSpPr>
        <p:sp>
          <p:nvSpPr>
            <p:cNvPr id="106" name="Freeform 75"/>
            <p:cNvSpPr>
              <a:spLocks/>
            </p:cNvSpPr>
            <p:nvPr userDrawn="1"/>
          </p:nvSpPr>
          <p:spPr bwMode="auto">
            <a:xfrm>
              <a:off x="8895241" y="-809388"/>
              <a:ext cx="47062" cy="28574"/>
            </a:xfrm>
            <a:custGeom>
              <a:avLst/>
              <a:gdLst>
                <a:gd name="T0" fmla="*/ 13 w 28"/>
                <a:gd name="T1" fmla="*/ 17 h 17"/>
                <a:gd name="T2" fmla="*/ 0 w 28"/>
                <a:gd name="T3" fmla="*/ 17 h 17"/>
                <a:gd name="T4" fmla="*/ 15 w 28"/>
                <a:gd name="T5" fmla="*/ 0 h 17"/>
                <a:gd name="T6" fmla="*/ 28 w 28"/>
                <a:gd name="T7" fmla="*/ 0 h 17"/>
                <a:gd name="T8" fmla="*/ 13 w 28"/>
                <a:gd name="T9" fmla="*/ 17 h 17"/>
              </a:gdLst>
              <a:ahLst/>
              <a:cxnLst>
                <a:cxn ang="0">
                  <a:pos x="T0" y="T1"/>
                </a:cxn>
                <a:cxn ang="0">
                  <a:pos x="T2" y="T3"/>
                </a:cxn>
                <a:cxn ang="0">
                  <a:pos x="T4" y="T5"/>
                </a:cxn>
                <a:cxn ang="0">
                  <a:pos x="T6" y="T7"/>
                </a:cxn>
                <a:cxn ang="0">
                  <a:pos x="T8" y="T9"/>
                </a:cxn>
              </a:cxnLst>
              <a:rect l="0" t="0" r="r" b="b"/>
              <a:pathLst>
                <a:path w="28" h="17">
                  <a:moveTo>
                    <a:pt x="13" y="17"/>
                  </a:moveTo>
                  <a:lnTo>
                    <a:pt x="0" y="17"/>
                  </a:lnTo>
                  <a:lnTo>
                    <a:pt x="15" y="0"/>
                  </a:lnTo>
                  <a:lnTo>
                    <a:pt x="28" y="0"/>
                  </a:lnTo>
                  <a:lnTo>
                    <a:pt x="13" y="17"/>
                  </a:lnTo>
                  <a:close/>
                </a:path>
              </a:pathLst>
            </a:custGeom>
            <a:solidFill>
              <a:schemeClr val="accent2"/>
            </a:solidFill>
            <a:ln>
              <a:noFill/>
            </a:ln>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07" name="Freeform 50"/>
            <p:cNvSpPr>
              <a:spLocks/>
            </p:cNvSpPr>
            <p:nvPr userDrawn="1"/>
          </p:nvSpPr>
          <p:spPr bwMode="auto">
            <a:xfrm>
              <a:off x="8636398"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08" name="Freeform 52"/>
            <p:cNvSpPr>
              <a:spLocks/>
            </p:cNvSpPr>
            <p:nvPr userDrawn="1"/>
          </p:nvSpPr>
          <p:spPr bwMode="auto">
            <a:xfrm>
              <a:off x="8090138" y="-1001000"/>
              <a:ext cx="176485" cy="164719"/>
            </a:xfrm>
            <a:custGeom>
              <a:avLst/>
              <a:gdLst>
                <a:gd name="T0" fmla="*/ 105 w 105"/>
                <a:gd name="T1" fmla="*/ 0 h 98"/>
                <a:gd name="T2" fmla="*/ 105 w 105"/>
                <a:gd name="T3" fmla="*/ 17 h 98"/>
                <a:gd name="T4" fmla="*/ 66 w 105"/>
                <a:gd name="T5" fmla="*/ 17 h 98"/>
                <a:gd name="T6" fmla="*/ 66 w 105"/>
                <a:gd name="T7" fmla="*/ 98 h 98"/>
                <a:gd name="T8" fmla="*/ 40 w 105"/>
                <a:gd name="T9" fmla="*/ 98 h 98"/>
                <a:gd name="T10" fmla="*/ 40 w 105"/>
                <a:gd name="T11" fmla="*/ 17 h 98"/>
                <a:gd name="T12" fmla="*/ 0 w 105"/>
                <a:gd name="T13" fmla="*/ 17 h 98"/>
                <a:gd name="T14" fmla="*/ 0 w 105"/>
                <a:gd name="T15" fmla="*/ 0 h 98"/>
                <a:gd name="T16" fmla="*/ 105 w 105"/>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98">
                  <a:moveTo>
                    <a:pt x="105" y="0"/>
                  </a:moveTo>
                  <a:lnTo>
                    <a:pt x="105" y="17"/>
                  </a:lnTo>
                  <a:lnTo>
                    <a:pt x="66" y="17"/>
                  </a:lnTo>
                  <a:lnTo>
                    <a:pt x="66" y="98"/>
                  </a:lnTo>
                  <a:lnTo>
                    <a:pt x="40" y="98"/>
                  </a:lnTo>
                  <a:lnTo>
                    <a:pt x="40" y="17"/>
                  </a:lnTo>
                  <a:lnTo>
                    <a:pt x="0" y="17"/>
                  </a:lnTo>
                  <a:lnTo>
                    <a:pt x="0" y="0"/>
                  </a:lnTo>
                  <a:lnTo>
                    <a:pt x="105"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09" name="Freeform 108"/>
            <p:cNvSpPr>
              <a:spLocks noEditPoints="1"/>
            </p:cNvSpPr>
            <p:nvPr userDrawn="1"/>
          </p:nvSpPr>
          <p:spPr bwMode="auto">
            <a:xfrm>
              <a:off x="8229644" y="-1001000"/>
              <a:ext cx="206739" cy="164719"/>
            </a:xfrm>
            <a:custGeom>
              <a:avLst/>
              <a:gdLst>
                <a:gd name="T0" fmla="*/ 123 w 123"/>
                <a:gd name="T1" fmla="*/ 98 h 98"/>
                <a:gd name="T2" fmla="*/ 94 w 123"/>
                <a:gd name="T3" fmla="*/ 98 h 98"/>
                <a:gd name="T4" fmla="*/ 86 w 123"/>
                <a:gd name="T5" fmla="*/ 77 h 98"/>
                <a:gd name="T6" fmla="*/ 37 w 123"/>
                <a:gd name="T7" fmla="*/ 77 h 98"/>
                <a:gd name="T8" fmla="*/ 29 w 123"/>
                <a:gd name="T9" fmla="*/ 98 h 98"/>
                <a:gd name="T10" fmla="*/ 0 w 123"/>
                <a:gd name="T11" fmla="*/ 98 h 98"/>
                <a:gd name="T12" fmla="*/ 46 w 123"/>
                <a:gd name="T13" fmla="*/ 0 h 98"/>
                <a:gd name="T14" fmla="*/ 77 w 123"/>
                <a:gd name="T15" fmla="*/ 0 h 98"/>
                <a:gd name="T16" fmla="*/ 123 w 123"/>
                <a:gd name="T17" fmla="*/ 98 h 98"/>
                <a:gd name="T18" fmla="*/ 61 w 123"/>
                <a:gd name="T19" fmla="*/ 17 h 98"/>
                <a:gd name="T20" fmla="*/ 43 w 123"/>
                <a:gd name="T21" fmla="*/ 61 h 98"/>
                <a:gd name="T22" fmla="*/ 79 w 123"/>
                <a:gd name="T23" fmla="*/ 61 h 98"/>
                <a:gd name="T24" fmla="*/ 61 w 123"/>
                <a:gd name="T25" fmla="*/ 1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98">
                  <a:moveTo>
                    <a:pt x="123" y="98"/>
                  </a:moveTo>
                  <a:lnTo>
                    <a:pt x="94" y="98"/>
                  </a:lnTo>
                  <a:lnTo>
                    <a:pt x="86" y="77"/>
                  </a:lnTo>
                  <a:lnTo>
                    <a:pt x="37" y="77"/>
                  </a:lnTo>
                  <a:lnTo>
                    <a:pt x="29" y="98"/>
                  </a:lnTo>
                  <a:lnTo>
                    <a:pt x="0" y="98"/>
                  </a:lnTo>
                  <a:lnTo>
                    <a:pt x="46" y="0"/>
                  </a:lnTo>
                  <a:lnTo>
                    <a:pt x="77" y="0"/>
                  </a:lnTo>
                  <a:lnTo>
                    <a:pt x="123" y="98"/>
                  </a:lnTo>
                  <a:moveTo>
                    <a:pt x="61" y="17"/>
                  </a:moveTo>
                  <a:lnTo>
                    <a:pt x="43" y="61"/>
                  </a:lnTo>
                  <a:lnTo>
                    <a:pt x="79" y="61"/>
                  </a:lnTo>
                  <a:lnTo>
                    <a:pt x="61" y="17"/>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0" name="Rectangle 109"/>
            <p:cNvSpPr>
              <a:spLocks noChangeArrowheads="1"/>
            </p:cNvSpPr>
            <p:nvPr userDrawn="1"/>
          </p:nvSpPr>
          <p:spPr bwMode="auto">
            <a:xfrm>
              <a:off x="884649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1" name="Freeform 57"/>
            <p:cNvSpPr>
              <a:spLocks/>
            </p:cNvSpPr>
            <p:nvPr userDrawn="1"/>
          </p:nvSpPr>
          <p:spPr bwMode="auto">
            <a:xfrm>
              <a:off x="7821209"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2" name="Rectangle 58"/>
            <p:cNvSpPr>
              <a:spLocks noChangeArrowheads="1"/>
            </p:cNvSpPr>
            <p:nvPr userDrawn="1"/>
          </p:nvSpPr>
          <p:spPr bwMode="auto">
            <a:xfrm>
              <a:off x="803130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3" name="Freeform 59"/>
            <p:cNvSpPr>
              <a:spLocks/>
            </p:cNvSpPr>
            <p:nvPr userDrawn="1"/>
          </p:nvSpPr>
          <p:spPr bwMode="auto">
            <a:xfrm>
              <a:off x="8429660" y="-1004361"/>
              <a:ext cx="184888" cy="171442"/>
            </a:xfrm>
            <a:custGeom>
              <a:avLst/>
              <a:gdLst>
                <a:gd name="T0" fmla="*/ 31 w 1010"/>
                <a:gd name="T1" fmla="*/ 670 h 939"/>
                <a:gd name="T2" fmla="*/ 0 w 1010"/>
                <a:gd name="T3" fmla="*/ 479 h 939"/>
                <a:gd name="T4" fmla="*/ 61 w 1010"/>
                <a:gd name="T5" fmla="*/ 218 h 939"/>
                <a:gd name="T6" fmla="*/ 265 w 1010"/>
                <a:gd name="T7" fmla="*/ 48 h 939"/>
                <a:gd name="T8" fmla="*/ 527 w 1010"/>
                <a:gd name="T9" fmla="*/ 0 h 939"/>
                <a:gd name="T10" fmla="*/ 826 w 1010"/>
                <a:gd name="T11" fmla="*/ 63 h 939"/>
                <a:gd name="T12" fmla="*/ 995 w 1010"/>
                <a:gd name="T13" fmla="*/ 270 h 939"/>
                <a:gd name="T14" fmla="*/ 1004 w 1010"/>
                <a:gd name="T15" fmla="*/ 327 h 939"/>
                <a:gd name="T16" fmla="*/ 755 w 1010"/>
                <a:gd name="T17" fmla="*/ 327 h 939"/>
                <a:gd name="T18" fmla="*/ 742 w 1010"/>
                <a:gd name="T19" fmla="*/ 258 h 939"/>
                <a:gd name="T20" fmla="*/ 631 w 1010"/>
                <a:gd name="T21" fmla="*/ 155 h 939"/>
                <a:gd name="T22" fmla="*/ 527 w 1010"/>
                <a:gd name="T23" fmla="*/ 139 h 939"/>
                <a:gd name="T24" fmla="*/ 410 w 1010"/>
                <a:gd name="T25" fmla="*/ 159 h 939"/>
                <a:gd name="T26" fmla="*/ 280 w 1010"/>
                <a:gd name="T27" fmla="*/ 291 h 939"/>
                <a:gd name="T28" fmla="*/ 248 w 1010"/>
                <a:gd name="T29" fmla="*/ 479 h 939"/>
                <a:gd name="T30" fmla="*/ 270 w 1010"/>
                <a:gd name="T31" fmla="*/ 636 h 939"/>
                <a:gd name="T32" fmla="*/ 400 w 1010"/>
                <a:gd name="T33" fmla="*/ 777 h 939"/>
                <a:gd name="T34" fmla="*/ 527 w 1010"/>
                <a:gd name="T35" fmla="*/ 801 h 939"/>
                <a:gd name="T36" fmla="*/ 637 w 1010"/>
                <a:gd name="T37" fmla="*/ 784 h 939"/>
                <a:gd name="T38" fmla="*/ 741 w 1010"/>
                <a:gd name="T39" fmla="*/ 691 h 939"/>
                <a:gd name="T40" fmla="*/ 760 w 1010"/>
                <a:gd name="T41" fmla="*/ 595 h 939"/>
                <a:gd name="T42" fmla="*/ 1010 w 1010"/>
                <a:gd name="T43" fmla="*/ 595 h 939"/>
                <a:gd name="T44" fmla="*/ 998 w 1010"/>
                <a:gd name="T45" fmla="*/ 680 h 939"/>
                <a:gd name="T46" fmla="*/ 832 w 1010"/>
                <a:gd name="T47" fmla="*/ 877 h 939"/>
                <a:gd name="T48" fmla="*/ 527 w 1010"/>
                <a:gd name="T49" fmla="*/ 939 h 939"/>
                <a:gd name="T50" fmla="*/ 287 w 1010"/>
                <a:gd name="T51" fmla="*/ 902 h 939"/>
                <a:gd name="T52" fmla="*/ 31 w 1010"/>
                <a:gd name="T53" fmla="*/ 670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10" h="939">
                  <a:moveTo>
                    <a:pt x="31" y="670"/>
                  </a:moveTo>
                  <a:cubicBezTo>
                    <a:pt x="11" y="609"/>
                    <a:pt x="0" y="546"/>
                    <a:pt x="0" y="479"/>
                  </a:cubicBezTo>
                  <a:cubicBezTo>
                    <a:pt x="0" y="385"/>
                    <a:pt x="16" y="294"/>
                    <a:pt x="61" y="218"/>
                  </a:cubicBezTo>
                  <a:cubicBezTo>
                    <a:pt x="107" y="140"/>
                    <a:pt x="179" y="80"/>
                    <a:pt x="265" y="48"/>
                  </a:cubicBezTo>
                  <a:cubicBezTo>
                    <a:pt x="347" y="17"/>
                    <a:pt x="435" y="0"/>
                    <a:pt x="527" y="0"/>
                  </a:cubicBezTo>
                  <a:cubicBezTo>
                    <a:pt x="634" y="0"/>
                    <a:pt x="734" y="24"/>
                    <a:pt x="826" y="63"/>
                  </a:cubicBezTo>
                  <a:cubicBezTo>
                    <a:pt x="912" y="100"/>
                    <a:pt x="976" y="177"/>
                    <a:pt x="995" y="270"/>
                  </a:cubicBezTo>
                  <a:cubicBezTo>
                    <a:pt x="999" y="288"/>
                    <a:pt x="1002" y="308"/>
                    <a:pt x="1004" y="327"/>
                  </a:cubicBezTo>
                  <a:cubicBezTo>
                    <a:pt x="755" y="327"/>
                    <a:pt x="755" y="327"/>
                    <a:pt x="755" y="327"/>
                  </a:cubicBezTo>
                  <a:cubicBezTo>
                    <a:pt x="754" y="303"/>
                    <a:pt x="750" y="279"/>
                    <a:pt x="742" y="258"/>
                  </a:cubicBezTo>
                  <a:cubicBezTo>
                    <a:pt x="723" y="209"/>
                    <a:pt x="682" y="170"/>
                    <a:pt x="631" y="155"/>
                  </a:cubicBezTo>
                  <a:cubicBezTo>
                    <a:pt x="598" y="144"/>
                    <a:pt x="563" y="139"/>
                    <a:pt x="527" y="139"/>
                  </a:cubicBezTo>
                  <a:cubicBezTo>
                    <a:pt x="486" y="139"/>
                    <a:pt x="447" y="146"/>
                    <a:pt x="410" y="159"/>
                  </a:cubicBezTo>
                  <a:cubicBezTo>
                    <a:pt x="349" y="181"/>
                    <a:pt x="302" y="230"/>
                    <a:pt x="280" y="291"/>
                  </a:cubicBezTo>
                  <a:cubicBezTo>
                    <a:pt x="260" y="349"/>
                    <a:pt x="248" y="413"/>
                    <a:pt x="248" y="479"/>
                  </a:cubicBezTo>
                  <a:cubicBezTo>
                    <a:pt x="248" y="534"/>
                    <a:pt x="257" y="586"/>
                    <a:pt x="270" y="636"/>
                  </a:cubicBezTo>
                  <a:cubicBezTo>
                    <a:pt x="289" y="701"/>
                    <a:pt x="337" y="753"/>
                    <a:pt x="400" y="777"/>
                  </a:cubicBezTo>
                  <a:cubicBezTo>
                    <a:pt x="440" y="792"/>
                    <a:pt x="482" y="801"/>
                    <a:pt x="527" y="801"/>
                  </a:cubicBezTo>
                  <a:cubicBezTo>
                    <a:pt x="566" y="801"/>
                    <a:pt x="602" y="795"/>
                    <a:pt x="637" y="784"/>
                  </a:cubicBezTo>
                  <a:cubicBezTo>
                    <a:pt x="683" y="769"/>
                    <a:pt x="721" y="735"/>
                    <a:pt x="741" y="691"/>
                  </a:cubicBezTo>
                  <a:cubicBezTo>
                    <a:pt x="754" y="662"/>
                    <a:pt x="760" y="629"/>
                    <a:pt x="760" y="595"/>
                  </a:cubicBezTo>
                  <a:cubicBezTo>
                    <a:pt x="1010" y="595"/>
                    <a:pt x="1010" y="595"/>
                    <a:pt x="1010" y="595"/>
                  </a:cubicBezTo>
                  <a:cubicBezTo>
                    <a:pt x="1008" y="624"/>
                    <a:pt x="1004" y="653"/>
                    <a:pt x="998" y="680"/>
                  </a:cubicBezTo>
                  <a:cubicBezTo>
                    <a:pt x="976" y="768"/>
                    <a:pt x="914" y="843"/>
                    <a:pt x="832" y="877"/>
                  </a:cubicBezTo>
                  <a:cubicBezTo>
                    <a:pt x="738" y="917"/>
                    <a:pt x="635" y="939"/>
                    <a:pt x="527" y="939"/>
                  </a:cubicBezTo>
                  <a:cubicBezTo>
                    <a:pt x="444" y="939"/>
                    <a:pt x="362" y="926"/>
                    <a:pt x="287" y="902"/>
                  </a:cubicBezTo>
                  <a:cubicBezTo>
                    <a:pt x="171" y="866"/>
                    <a:pt x="71" y="783"/>
                    <a:pt x="31" y="6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4" name="Freeform 60"/>
            <p:cNvSpPr>
              <a:spLocks/>
            </p:cNvSpPr>
            <p:nvPr userDrawn="1"/>
          </p:nvSpPr>
          <p:spPr bwMode="auto">
            <a:xfrm>
              <a:off x="7743893" y="-790900"/>
              <a:ext cx="40339" cy="104210"/>
            </a:xfrm>
            <a:custGeom>
              <a:avLst/>
              <a:gdLst>
                <a:gd name="T0" fmla="*/ 211 w 219"/>
                <a:gd name="T1" fmla="*/ 1 h 565"/>
                <a:gd name="T2" fmla="*/ 0 w 219"/>
                <a:gd name="T3" fmla="*/ 20 h 565"/>
                <a:gd name="T4" fmla="*/ 0 w 219"/>
                <a:gd name="T5" fmla="*/ 51 h 565"/>
                <a:gd name="T6" fmla="*/ 6 w 219"/>
                <a:gd name="T7" fmla="*/ 52 h 565"/>
                <a:gd name="T8" fmla="*/ 92 w 219"/>
                <a:gd name="T9" fmla="*/ 123 h 565"/>
                <a:gd name="T10" fmla="*/ 92 w 219"/>
                <a:gd name="T11" fmla="*/ 565 h 565"/>
                <a:gd name="T12" fmla="*/ 219 w 219"/>
                <a:gd name="T13" fmla="*/ 565 h 565"/>
                <a:gd name="T14" fmla="*/ 219 w 219"/>
                <a:gd name="T15" fmla="*/ 0 h 565"/>
                <a:gd name="T16" fmla="*/ 211 w 219"/>
                <a:gd name="T17" fmla="*/ 1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9" h="565">
                  <a:moveTo>
                    <a:pt x="211" y="1"/>
                  </a:moveTo>
                  <a:cubicBezTo>
                    <a:pt x="0" y="20"/>
                    <a:pt x="0" y="20"/>
                    <a:pt x="0" y="20"/>
                  </a:cubicBezTo>
                  <a:cubicBezTo>
                    <a:pt x="0" y="51"/>
                    <a:pt x="0" y="51"/>
                    <a:pt x="0" y="51"/>
                  </a:cubicBezTo>
                  <a:cubicBezTo>
                    <a:pt x="6" y="52"/>
                    <a:pt x="6" y="52"/>
                    <a:pt x="6" y="52"/>
                  </a:cubicBezTo>
                  <a:cubicBezTo>
                    <a:pt x="92" y="62"/>
                    <a:pt x="92" y="62"/>
                    <a:pt x="92" y="123"/>
                  </a:cubicBezTo>
                  <a:cubicBezTo>
                    <a:pt x="92" y="565"/>
                    <a:pt x="92" y="565"/>
                    <a:pt x="92" y="565"/>
                  </a:cubicBezTo>
                  <a:cubicBezTo>
                    <a:pt x="219" y="565"/>
                    <a:pt x="219" y="565"/>
                    <a:pt x="219" y="565"/>
                  </a:cubicBezTo>
                  <a:cubicBezTo>
                    <a:pt x="219" y="0"/>
                    <a:pt x="219" y="0"/>
                    <a:pt x="219" y="0"/>
                  </a:cubicBezTo>
                  <a:cubicBezTo>
                    <a:pt x="211" y="1"/>
                    <a:pt x="211" y="1"/>
                    <a:pt x="211"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5" name="Freeform 61"/>
            <p:cNvSpPr>
              <a:spLocks/>
            </p:cNvSpPr>
            <p:nvPr userDrawn="1"/>
          </p:nvSpPr>
          <p:spPr bwMode="auto">
            <a:xfrm>
              <a:off x="7804401" y="-758964"/>
              <a:ext cx="82360" cy="72275"/>
            </a:xfrm>
            <a:custGeom>
              <a:avLst/>
              <a:gdLst>
                <a:gd name="T0" fmla="*/ 328 w 446"/>
                <a:gd name="T1" fmla="*/ 1 h 398"/>
                <a:gd name="T2" fmla="*/ 180 w 446"/>
                <a:gd name="T3" fmla="*/ 87 h 398"/>
                <a:gd name="T4" fmla="*/ 180 w 446"/>
                <a:gd name="T5" fmla="*/ 0 h 398"/>
                <a:gd name="T6" fmla="*/ 172 w 446"/>
                <a:gd name="T7" fmla="*/ 1 h 398"/>
                <a:gd name="T8" fmla="*/ 0 w 446"/>
                <a:gd name="T9" fmla="*/ 28 h 398"/>
                <a:gd name="T10" fmla="*/ 0 w 446"/>
                <a:gd name="T11" fmla="*/ 58 h 398"/>
                <a:gd name="T12" fmla="*/ 8 w 446"/>
                <a:gd name="T13" fmla="*/ 58 h 398"/>
                <a:gd name="T14" fmla="*/ 74 w 446"/>
                <a:gd name="T15" fmla="*/ 122 h 398"/>
                <a:gd name="T16" fmla="*/ 74 w 446"/>
                <a:gd name="T17" fmla="*/ 398 h 398"/>
                <a:gd name="T18" fmla="*/ 180 w 446"/>
                <a:gd name="T19" fmla="*/ 398 h 398"/>
                <a:gd name="T20" fmla="*/ 180 w 446"/>
                <a:gd name="T21" fmla="*/ 195 h 398"/>
                <a:gd name="T22" fmla="*/ 285 w 446"/>
                <a:gd name="T23" fmla="*/ 71 h 398"/>
                <a:gd name="T24" fmla="*/ 339 w 446"/>
                <a:gd name="T25" fmla="*/ 183 h 398"/>
                <a:gd name="T26" fmla="*/ 339 w 446"/>
                <a:gd name="T27" fmla="*/ 398 h 398"/>
                <a:gd name="T28" fmla="*/ 446 w 446"/>
                <a:gd name="T29" fmla="*/ 398 h 398"/>
                <a:gd name="T30" fmla="*/ 446 w 446"/>
                <a:gd name="T31" fmla="*/ 122 h 398"/>
                <a:gd name="T32" fmla="*/ 328 w 446"/>
                <a:gd name="T33" fmla="*/ 1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6" h="398">
                  <a:moveTo>
                    <a:pt x="328" y="1"/>
                  </a:moveTo>
                  <a:cubicBezTo>
                    <a:pt x="249" y="1"/>
                    <a:pt x="202" y="54"/>
                    <a:pt x="180" y="87"/>
                  </a:cubicBezTo>
                  <a:cubicBezTo>
                    <a:pt x="180" y="58"/>
                    <a:pt x="180" y="0"/>
                    <a:pt x="180" y="0"/>
                  </a:cubicBezTo>
                  <a:cubicBezTo>
                    <a:pt x="172" y="1"/>
                    <a:pt x="172" y="1"/>
                    <a:pt x="172" y="1"/>
                  </a:cubicBezTo>
                  <a:cubicBezTo>
                    <a:pt x="0" y="28"/>
                    <a:pt x="0" y="28"/>
                    <a:pt x="0" y="28"/>
                  </a:cubicBezTo>
                  <a:cubicBezTo>
                    <a:pt x="0" y="58"/>
                    <a:pt x="0" y="58"/>
                    <a:pt x="0" y="58"/>
                  </a:cubicBezTo>
                  <a:cubicBezTo>
                    <a:pt x="8" y="58"/>
                    <a:pt x="8" y="58"/>
                    <a:pt x="8" y="58"/>
                  </a:cubicBezTo>
                  <a:cubicBezTo>
                    <a:pt x="62" y="60"/>
                    <a:pt x="74" y="71"/>
                    <a:pt x="74" y="122"/>
                  </a:cubicBezTo>
                  <a:cubicBezTo>
                    <a:pt x="74" y="398"/>
                    <a:pt x="74" y="398"/>
                    <a:pt x="74" y="398"/>
                  </a:cubicBezTo>
                  <a:cubicBezTo>
                    <a:pt x="180" y="398"/>
                    <a:pt x="180" y="398"/>
                    <a:pt x="180" y="398"/>
                  </a:cubicBezTo>
                  <a:cubicBezTo>
                    <a:pt x="180" y="195"/>
                    <a:pt x="180" y="195"/>
                    <a:pt x="180" y="195"/>
                  </a:cubicBezTo>
                  <a:cubicBezTo>
                    <a:pt x="180" y="141"/>
                    <a:pt x="232" y="71"/>
                    <a:pt x="285" y="71"/>
                  </a:cubicBezTo>
                  <a:cubicBezTo>
                    <a:pt x="337" y="71"/>
                    <a:pt x="339" y="113"/>
                    <a:pt x="339" y="183"/>
                  </a:cubicBezTo>
                  <a:cubicBezTo>
                    <a:pt x="339" y="398"/>
                    <a:pt x="339" y="398"/>
                    <a:pt x="339" y="398"/>
                  </a:cubicBezTo>
                  <a:cubicBezTo>
                    <a:pt x="446" y="398"/>
                    <a:pt x="446" y="398"/>
                    <a:pt x="446" y="398"/>
                  </a:cubicBezTo>
                  <a:cubicBezTo>
                    <a:pt x="446" y="122"/>
                    <a:pt x="446" y="122"/>
                    <a:pt x="446" y="122"/>
                  </a:cubicBezTo>
                  <a:cubicBezTo>
                    <a:pt x="446" y="44"/>
                    <a:pt x="404" y="1"/>
                    <a:pt x="328"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6" name="Freeform 62"/>
            <p:cNvSpPr>
              <a:spLocks/>
            </p:cNvSpPr>
            <p:nvPr userDrawn="1"/>
          </p:nvSpPr>
          <p:spPr bwMode="auto">
            <a:xfrm>
              <a:off x="7910291" y="-758964"/>
              <a:ext cx="53786" cy="73955"/>
            </a:xfrm>
            <a:custGeom>
              <a:avLst/>
              <a:gdLst>
                <a:gd name="T0" fmla="*/ 175 w 298"/>
                <a:gd name="T1" fmla="*/ 155 h 407"/>
                <a:gd name="T2" fmla="*/ 97 w 298"/>
                <a:gd name="T3" fmla="*/ 87 h 407"/>
                <a:gd name="T4" fmla="*/ 154 w 298"/>
                <a:gd name="T5" fmla="*/ 50 h 407"/>
                <a:gd name="T6" fmla="*/ 254 w 298"/>
                <a:gd name="T7" fmla="*/ 85 h 407"/>
                <a:gd name="T8" fmla="*/ 270 w 298"/>
                <a:gd name="T9" fmla="*/ 95 h 407"/>
                <a:gd name="T10" fmla="*/ 270 w 298"/>
                <a:gd name="T11" fmla="*/ 15 h 407"/>
                <a:gd name="T12" fmla="*/ 257 w 298"/>
                <a:gd name="T13" fmla="*/ 12 h 407"/>
                <a:gd name="T14" fmla="*/ 160 w 298"/>
                <a:gd name="T15" fmla="*/ 0 h 407"/>
                <a:gd name="T16" fmla="*/ 0 w 298"/>
                <a:gd name="T17" fmla="*/ 115 h 407"/>
                <a:gd name="T18" fmla="*/ 117 w 298"/>
                <a:gd name="T19" fmla="*/ 238 h 407"/>
                <a:gd name="T20" fmla="*/ 200 w 298"/>
                <a:gd name="T21" fmla="*/ 310 h 407"/>
                <a:gd name="T22" fmla="*/ 129 w 298"/>
                <a:gd name="T23" fmla="*/ 356 h 407"/>
                <a:gd name="T24" fmla="*/ 12 w 298"/>
                <a:gd name="T25" fmla="*/ 315 h 407"/>
                <a:gd name="T26" fmla="*/ 0 w 298"/>
                <a:gd name="T27" fmla="*/ 308 h 407"/>
                <a:gd name="T28" fmla="*/ 0 w 298"/>
                <a:gd name="T29" fmla="*/ 391 h 407"/>
                <a:gd name="T30" fmla="*/ 8 w 298"/>
                <a:gd name="T31" fmla="*/ 392 h 407"/>
                <a:gd name="T32" fmla="*/ 125 w 298"/>
                <a:gd name="T33" fmla="*/ 407 h 407"/>
                <a:gd name="T34" fmla="*/ 298 w 298"/>
                <a:gd name="T35" fmla="*/ 288 h 407"/>
                <a:gd name="T36" fmla="*/ 175 w 298"/>
                <a:gd name="T37" fmla="*/ 155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407">
                  <a:moveTo>
                    <a:pt x="175" y="155"/>
                  </a:moveTo>
                  <a:cubicBezTo>
                    <a:pt x="133" y="134"/>
                    <a:pt x="97" y="116"/>
                    <a:pt x="97" y="87"/>
                  </a:cubicBezTo>
                  <a:cubicBezTo>
                    <a:pt x="97" y="54"/>
                    <a:pt x="137" y="50"/>
                    <a:pt x="154" y="50"/>
                  </a:cubicBezTo>
                  <a:cubicBezTo>
                    <a:pt x="198" y="50"/>
                    <a:pt x="237" y="74"/>
                    <a:pt x="254" y="85"/>
                  </a:cubicBezTo>
                  <a:cubicBezTo>
                    <a:pt x="270" y="95"/>
                    <a:pt x="270" y="95"/>
                    <a:pt x="270" y="95"/>
                  </a:cubicBezTo>
                  <a:cubicBezTo>
                    <a:pt x="270" y="15"/>
                    <a:pt x="270" y="15"/>
                    <a:pt x="270" y="15"/>
                  </a:cubicBezTo>
                  <a:cubicBezTo>
                    <a:pt x="257" y="12"/>
                    <a:pt x="257" y="12"/>
                    <a:pt x="257" y="12"/>
                  </a:cubicBezTo>
                  <a:cubicBezTo>
                    <a:pt x="238" y="8"/>
                    <a:pt x="201" y="0"/>
                    <a:pt x="160" y="0"/>
                  </a:cubicBezTo>
                  <a:cubicBezTo>
                    <a:pt x="60" y="0"/>
                    <a:pt x="0" y="43"/>
                    <a:pt x="0" y="115"/>
                  </a:cubicBezTo>
                  <a:cubicBezTo>
                    <a:pt x="0" y="180"/>
                    <a:pt x="62" y="211"/>
                    <a:pt x="117" y="238"/>
                  </a:cubicBezTo>
                  <a:cubicBezTo>
                    <a:pt x="160" y="259"/>
                    <a:pt x="200" y="278"/>
                    <a:pt x="200" y="310"/>
                  </a:cubicBezTo>
                  <a:cubicBezTo>
                    <a:pt x="200" y="339"/>
                    <a:pt x="174" y="356"/>
                    <a:pt x="129" y="356"/>
                  </a:cubicBezTo>
                  <a:cubicBezTo>
                    <a:pt x="79" y="356"/>
                    <a:pt x="37" y="330"/>
                    <a:pt x="12" y="315"/>
                  </a:cubicBezTo>
                  <a:cubicBezTo>
                    <a:pt x="0" y="308"/>
                    <a:pt x="0" y="308"/>
                    <a:pt x="0" y="308"/>
                  </a:cubicBezTo>
                  <a:cubicBezTo>
                    <a:pt x="0" y="391"/>
                    <a:pt x="0" y="391"/>
                    <a:pt x="0" y="391"/>
                  </a:cubicBezTo>
                  <a:cubicBezTo>
                    <a:pt x="8" y="392"/>
                    <a:pt x="8" y="392"/>
                    <a:pt x="8" y="392"/>
                  </a:cubicBezTo>
                  <a:cubicBezTo>
                    <a:pt x="30" y="397"/>
                    <a:pt x="70" y="407"/>
                    <a:pt x="125" y="407"/>
                  </a:cubicBezTo>
                  <a:cubicBezTo>
                    <a:pt x="233" y="407"/>
                    <a:pt x="298" y="362"/>
                    <a:pt x="298" y="288"/>
                  </a:cubicBezTo>
                  <a:cubicBezTo>
                    <a:pt x="298" y="215"/>
                    <a:pt x="233" y="183"/>
                    <a:pt x="17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7" name="Freeform 63"/>
            <p:cNvSpPr>
              <a:spLocks noEditPoints="1"/>
            </p:cNvSpPr>
            <p:nvPr userDrawn="1"/>
          </p:nvSpPr>
          <p:spPr bwMode="auto">
            <a:xfrm>
              <a:off x="7974162" y="-758964"/>
              <a:ext cx="84040" cy="102529"/>
            </a:xfrm>
            <a:custGeom>
              <a:avLst/>
              <a:gdLst>
                <a:gd name="T0" fmla="*/ 292 w 459"/>
                <a:gd name="T1" fmla="*/ 1 h 563"/>
                <a:gd name="T2" fmla="*/ 179 w 459"/>
                <a:gd name="T3" fmla="*/ 56 h 563"/>
                <a:gd name="T4" fmla="*/ 179 w 459"/>
                <a:gd name="T5" fmla="*/ 0 h 563"/>
                <a:gd name="T6" fmla="*/ 170 w 459"/>
                <a:gd name="T7" fmla="*/ 1 h 563"/>
                <a:gd name="T8" fmla="*/ 0 w 459"/>
                <a:gd name="T9" fmla="*/ 28 h 563"/>
                <a:gd name="T10" fmla="*/ 0 w 459"/>
                <a:gd name="T11" fmla="*/ 58 h 563"/>
                <a:gd name="T12" fmla="*/ 8 w 459"/>
                <a:gd name="T13" fmla="*/ 58 h 563"/>
                <a:gd name="T14" fmla="*/ 71 w 459"/>
                <a:gd name="T15" fmla="*/ 122 h 563"/>
                <a:gd name="T16" fmla="*/ 71 w 459"/>
                <a:gd name="T17" fmla="*/ 563 h 563"/>
                <a:gd name="T18" fmla="*/ 178 w 459"/>
                <a:gd name="T19" fmla="*/ 563 h 563"/>
                <a:gd name="T20" fmla="*/ 178 w 459"/>
                <a:gd name="T21" fmla="*/ 362 h 563"/>
                <a:gd name="T22" fmla="*/ 288 w 459"/>
                <a:gd name="T23" fmla="*/ 408 h 563"/>
                <a:gd name="T24" fmla="*/ 459 w 459"/>
                <a:gd name="T25" fmla="*/ 198 h 563"/>
                <a:gd name="T26" fmla="*/ 292 w 459"/>
                <a:gd name="T27" fmla="*/ 1 h 563"/>
                <a:gd name="T28" fmla="*/ 261 w 459"/>
                <a:gd name="T29" fmla="*/ 60 h 563"/>
                <a:gd name="T30" fmla="*/ 343 w 459"/>
                <a:gd name="T31" fmla="*/ 198 h 563"/>
                <a:gd name="T32" fmla="*/ 262 w 459"/>
                <a:gd name="T33" fmla="*/ 349 h 563"/>
                <a:gd name="T34" fmla="*/ 178 w 459"/>
                <a:gd name="T35" fmla="*/ 230 h 563"/>
                <a:gd name="T36" fmla="*/ 178 w 459"/>
                <a:gd name="T37" fmla="*/ 196 h 563"/>
                <a:gd name="T38" fmla="*/ 261 w 459"/>
                <a:gd name="T39" fmla="*/ 60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9" h="563">
                  <a:moveTo>
                    <a:pt x="292" y="1"/>
                  </a:moveTo>
                  <a:cubicBezTo>
                    <a:pt x="252" y="1"/>
                    <a:pt x="214" y="20"/>
                    <a:pt x="179" y="56"/>
                  </a:cubicBezTo>
                  <a:cubicBezTo>
                    <a:pt x="179" y="37"/>
                    <a:pt x="179" y="0"/>
                    <a:pt x="179" y="0"/>
                  </a:cubicBezTo>
                  <a:cubicBezTo>
                    <a:pt x="170" y="1"/>
                    <a:pt x="170" y="1"/>
                    <a:pt x="170" y="1"/>
                  </a:cubicBezTo>
                  <a:cubicBezTo>
                    <a:pt x="0" y="28"/>
                    <a:pt x="0" y="28"/>
                    <a:pt x="0" y="28"/>
                  </a:cubicBezTo>
                  <a:cubicBezTo>
                    <a:pt x="0" y="58"/>
                    <a:pt x="0" y="58"/>
                    <a:pt x="0" y="58"/>
                  </a:cubicBezTo>
                  <a:cubicBezTo>
                    <a:pt x="8" y="58"/>
                    <a:pt x="8" y="58"/>
                    <a:pt x="8" y="58"/>
                  </a:cubicBezTo>
                  <a:cubicBezTo>
                    <a:pt x="61" y="60"/>
                    <a:pt x="71" y="70"/>
                    <a:pt x="71" y="122"/>
                  </a:cubicBezTo>
                  <a:cubicBezTo>
                    <a:pt x="71" y="563"/>
                    <a:pt x="71" y="563"/>
                    <a:pt x="71" y="563"/>
                  </a:cubicBezTo>
                  <a:cubicBezTo>
                    <a:pt x="178" y="563"/>
                    <a:pt x="178" y="563"/>
                    <a:pt x="178" y="563"/>
                  </a:cubicBezTo>
                  <a:cubicBezTo>
                    <a:pt x="178" y="563"/>
                    <a:pt x="178" y="395"/>
                    <a:pt x="178" y="362"/>
                  </a:cubicBezTo>
                  <a:cubicBezTo>
                    <a:pt x="198" y="386"/>
                    <a:pt x="229" y="408"/>
                    <a:pt x="288" y="408"/>
                  </a:cubicBezTo>
                  <a:cubicBezTo>
                    <a:pt x="400" y="408"/>
                    <a:pt x="459" y="335"/>
                    <a:pt x="459" y="198"/>
                  </a:cubicBezTo>
                  <a:cubicBezTo>
                    <a:pt x="459" y="73"/>
                    <a:pt x="398" y="1"/>
                    <a:pt x="292" y="1"/>
                  </a:cubicBezTo>
                  <a:moveTo>
                    <a:pt x="261" y="60"/>
                  </a:moveTo>
                  <a:cubicBezTo>
                    <a:pt x="334" y="60"/>
                    <a:pt x="343" y="139"/>
                    <a:pt x="343" y="198"/>
                  </a:cubicBezTo>
                  <a:cubicBezTo>
                    <a:pt x="343" y="300"/>
                    <a:pt x="317" y="349"/>
                    <a:pt x="262" y="349"/>
                  </a:cubicBezTo>
                  <a:cubicBezTo>
                    <a:pt x="193" y="349"/>
                    <a:pt x="178" y="284"/>
                    <a:pt x="178" y="230"/>
                  </a:cubicBezTo>
                  <a:cubicBezTo>
                    <a:pt x="178" y="196"/>
                    <a:pt x="178" y="196"/>
                    <a:pt x="178" y="196"/>
                  </a:cubicBezTo>
                  <a:cubicBezTo>
                    <a:pt x="178" y="155"/>
                    <a:pt x="186" y="60"/>
                    <a:pt x="26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8" name="Freeform 64"/>
            <p:cNvSpPr>
              <a:spLocks/>
            </p:cNvSpPr>
            <p:nvPr userDrawn="1"/>
          </p:nvSpPr>
          <p:spPr bwMode="auto">
            <a:xfrm>
              <a:off x="8071648" y="-758964"/>
              <a:ext cx="33616" cy="72275"/>
            </a:xfrm>
            <a:custGeom>
              <a:avLst/>
              <a:gdLst>
                <a:gd name="T0" fmla="*/ 0 w 178"/>
                <a:gd name="T1" fmla="*/ 28 h 398"/>
                <a:gd name="T2" fmla="*/ 0 w 178"/>
                <a:gd name="T3" fmla="*/ 58 h 398"/>
                <a:gd name="T4" fmla="*/ 8 w 178"/>
                <a:gd name="T5" fmla="*/ 58 h 398"/>
                <a:gd name="T6" fmla="*/ 71 w 178"/>
                <a:gd name="T7" fmla="*/ 122 h 398"/>
                <a:gd name="T8" fmla="*/ 71 w 178"/>
                <a:gd name="T9" fmla="*/ 398 h 398"/>
                <a:gd name="T10" fmla="*/ 178 w 178"/>
                <a:gd name="T11" fmla="*/ 398 h 398"/>
                <a:gd name="T12" fmla="*/ 178 w 178"/>
                <a:gd name="T13" fmla="*/ 0 h 398"/>
                <a:gd name="T14" fmla="*/ 169 w 178"/>
                <a:gd name="T15" fmla="*/ 1 h 398"/>
                <a:gd name="T16" fmla="*/ 0 w 178"/>
                <a:gd name="T17" fmla="*/ 2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398">
                  <a:moveTo>
                    <a:pt x="0" y="28"/>
                  </a:moveTo>
                  <a:cubicBezTo>
                    <a:pt x="0" y="58"/>
                    <a:pt x="0" y="58"/>
                    <a:pt x="0" y="58"/>
                  </a:cubicBezTo>
                  <a:cubicBezTo>
                    <a:pt x="8" y="58"/>
                    <a:pt x="8" y="58"/>
                    <a:pt x="8" y="58"/>
                  </a:cubicBezTo>
                  <a:cubicBezTo>
                    <a:pt x="60" y="60"/>
                    <a:pt x="71" y="70"/>
                    <a:pt x="71" y="122"/>
                  </a:cubicBezTo>
                  <a:cubicBezTo>
                    <a:pt x="71" y="398"/>
                    <a:pt x="71" y="398"/>
                    <a:pt x="71" y="398"/>
                  </a:cubicBezTo>
                  <a:cubicBezTo>
                    <a:pt x="178" y="398"/>
                    <a:pt x="178" y="398"/>
                    <a:pt x="178" y="398"/>
                  </a:cubicBezTo>
                  <a:cubicBezTo>
                    <a:pt x="178" y="0"/>
                    <a:pt x="178" y="0"/>
                    <a:pt x="178" y="0"/>
                  </a:cubicBezTo>
                  <a:cubicBezTo>
                    <a:pt x="169" y="1"/>
                    <a:pt x="169" y="1"/>
                    <a:pt x="169" y="1"/>
                  </a:cubicBezTo>
                  <a:cubicBezTo>
                    <a:pt x="0" y="28"/>
                    <a:pt x="0" y="28"/>
                    <a:pt x="0" y="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19" name="Freeform 65"/>
            <p:cNvSpPr>
              <a:spLocks/>
            </p:cNvSpPr>
            <p:nvPr userDrawn="1"/>
          </p:nvSpPr>
          <p:spPr bwMode="auto">
            <a:xfrm>
              <a:off x="8083415" y="-789219"/>
              <a:ext cx="23531" cy="20170"/>
            </a:xfrm>
            <a:custGeom>
              <a:avLst/>
              <a:gdLst>
                <a:gd name="T0" fmla="*/ 64 w 132"/>
                <a:gd name="T1" fmla="*/ 116 h 116"/>
                <a:gd name="T2" fmla="*/ 132 w 132"/>
                <a:gd name="T3" fmla="*/ 57 h 116"/>
                <a:gd name="T4" fmla="*/ 65 w 132"/>
                <a:gd name="T5" fmla="*/ 0 h 116"/>
                <a:gd name="T6" fmla="*/ 0 w 132"/>
                <a:gd name="T7" fmla="*/ 57 h 116"/>
                <a:gd name="T8" fmla="*/ 64 w 132"/>
                <a:gd name="T9" fmla="*/ 116 h 116"/>
              </a:gdLst>
              <a:ahLst/>
              <a:cxnLst>
                <a:cxn ang="0">
                  <a:pos x="T0" y="T1"/>
                </a:cxn>
                <a:cxn ang="0">
                  <a:pos x="T2" y="T3"/>
                </a:cxn>
                <a:cxn ang="0">
                  <a:pos x="T4" y="T5"/>
                </a:cxn>
                <a:cxn ang="0">
                  <a:pos x="T6" y="T7"/>
                </a:cxn>
                <a:cxn ang="0">
                  <a:pos x="T8" y="T9"/>
                </a:cxn>
              </a:cxnLst>
              <a:rect l="0" t="0" r="r" b="b"/>
              <a:pathLst>
                <a:path w="132" h="116">
                  <a:moveTo>
                    <a:pt x="64" y="116"/>
                  </a:moveTo>
                  <a:cubicBezTo>
                    <a:pt x="102" y="116"/>
                    <a:pt x="132" y="89"/>
                    <a:pt x="132" y="57"/>
                  </a:cubicBezTo>
                  <a:cubicBezTo>
                    <a:pt x="132" y="26"/>
                    <a:pt x="102" y="0"/>
                    <a:pt x="65" y="0"/>
                  </a:cubicBezTo>
                  <a:cubicBezTo>
                    <a:pt x="29" y="0"/>
                    <a:pt x="0" y="26"/>
                    <a:pt x="0" y="57"/>
                  </a:cubicBezTo>
                  <a:cubicBezTo>
                    <a:pt x="0" y="89"/>
                    <a:pt x="29" y="116"/>
                    <a:pt x="64" y="11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0" name="Freeform 66"/>
            <p:cNvSpPr>
              <a:spLocks/>
            </p:cNvSpPr>
            <p:nvPr userDrawn="1"/>
          </p:nvSpPr>
          <p:spPr bwMode="auto">
            <a:xfrm>
              <a:off x="8123754" y="-758964"/>
              <a:ext cx="63870" cy="72275"/>
            </a:xfrm>
            <a:custGeom>
              <a:avLst/>
              <a:gdLst>
                <a:gd name="T0" fmla="*/ 345 w 345"/>
                <a:gd name="T1" fmla="*/ 89 h 398"/>
                <a:gd name="T2" fmla="*/ 345 w 345"/>
                <a:gd name="T3" fmla="*/ 6 h 398"/>
                <a:gd name="T4" fmla="*/ 339 w 345"/>
                <a:gd name="T5" fmla="*/ 5 h 398"/>
                <a:gd name="T6" fmla="*/ 288 w 345"/>
                <a:gd name="T7" fmla="*/ 1 h 398"/>
                <a:gd name="T8" fmla="*/ 179 w 345"/>
                <a:gd name="T9" fmla="*/ 80 h 398"/>
                <a:gd name="T10" fmla="*/ 179 w 345"/>
                <a:gd name="T11" fmla="*/ 0 h 398"/>
                <a:gd name="T12" fmla="*/ 170 w 345"/>
                <a:gd name="T13" fmla="*/ 1 h 398"/>
                <a:gd name="T14" fmla="*/ 0 w 345"/>
                <a:gd name="T15" fmla="*/ 28 h 398"/>
                <a:gd name="T16" fmla="*/ 0 w 345"/>
                <a:gd name="T17" fmla="*/ 58 h 398"/>
                <a:gd name="T18" fmla="*/ 7 w 345"/>
                <a:gd name="T19" fmla="*/ 58 h 398"/>
                <a:gd name="T20" fmla="*/ 72 w 345"/>
                <a:gd name="T21" fmla="*/ 122 h 398"/>
                <a:gd name="T22" fmla="*/ 72 w 345"/>
                <a:gd name="T23" fmla="*/ 398 h 398"/>
                <a:gd name="T24" fmla="*/ 179 w 345"/>
                <a:gd name="T25" fmla="*/ 398 h 398"/>
                <a:gd name="T26" fmla="*/ 179 w 345"/>
                <a:gd name="T27" fmla="*/ 199 h 398"/>
                <a:gd name="T28" fmla="*/ 291 w 345"/>
                <a:gd name="T29" fmla="*/ 87 h 398"/>
                <a:gd name="T30" fmla="*/ 328 w 345"/>
                <a:gd name="T31" fmla="*/ 94 h 398"/>
                <a:gd name="T32" fmla="*/ 345 w 345"/>
                <a:gd name="T33" fmla="*/ 99 h 398"/>
                <a:gd name="T34" fmla="*/ 345 w 345"/>
                <a:gd name="T35" fmla="*/ 89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5" h="398">
                  <a:moveTo>
                    <a:pt x="345" y="89"/>
                  </a:moveTo>
                  <a:cubicBezTo>
                    <a:pt x="345" y="6"/>
                    <a:pt x="345" y="6"/>
                    <a:pt x="345" y="6"/>
                  </a:cubicBezTo>
                  <a:cubicBezTo>
                    <a:pt x="339" y="5"/>
                    <a:pt x="339" y="5"/>
                    <a:pt x="339" y="5"/>
                  </a:cubicBezTo>
                  <a:cubicBezTo>
                    <a:pt x="321" y="2"/>
                    <a:pt x="304" y="1"/>
                    <a:pt x="288" y="1"/>
                  </a:cubicBezTo>
                  <a:cubicBezTo>
                    <a:pt x="228" y="1"/>
                    <a:pt x="196" y="45"/>
                    <a:pt x="179" y="80"/>
                  </a:cubicBezTo>
                  <a:cubicBezTo>
                    <a:pt x="179" y="48"/>
                    <a:pt x="179" y="0"/>
                    <a:pt x="179" y="0"/>
                  </a:cubicBezTo>
                  <a:cubicBezTo>
                    <a:pt x="170" y="1"/>
                    <a:pt x="170" y="1"/>
                    <a:pt x="170" y="1"/>
                  </a:cubicBezTo>
                  <a:cubicBezTo>
                    <a:pt x="0" y="28"/>
                    <a:pt x="0" y="28"/>
                    <a:pt x="0" y="28"/>
                  </a:cubicBezTo>
                  <a:cubicBezTo>
                    <a:pt x="0" y="58"/>
                    <a:pt x="0" y="58"/>
                    <a:pt x="0" y="58"/>
                  </a:cubicBezTo>
                  <a:cubicBezTo>
                    <a:pt x="7" y="58"/>
                    <a:pt x="7" y="58"/>
                    <a:pt x="7" y="58"/>
                  </a:cubicBezTo>
                  <a:cubicBezTo>
                    <a:pt x="61" y="60"/>
                    <a:pt x="72" y="70"/>
                    <a:pt x="72" y="122"/>
                  </a:cubicBezTo>
                  <a:cubicBezTo>
                    <a:pt x="72" y="398"/>
                    <a:pt x="72" y="398"/>
                    <a:pt x="72" y="398"/>
                  </a:cubicBezTo>
                  <a:cubicBezTo>
                    <a:pt x="179" y="398"/>
                    <a:pt x="179" y="398"/>
                    <a:pt x="179" y="398"/>
                  </a:cubicBezTo>
                  <a:cubicBezTo>
                    <a:pt x="179" y="199"/>
                    <a:pt x="179" y="199"/>
                    <a:pt x="179" y="199"/>
                  </a:cubicBezTo>
                  <a:cubicBezTo>
                    <a:pt x="179" y="165"/>
                    <a:pt x="190" y="87"/>
                    <a:pt x="291" y="87"/>
                  </a:cubicBezTo>
                  <a:cubicBezTo>
                    <a:pt x="302" y="87"/>
                    <a:pt x="315" y="91"/>
                    <a:pt x="328" y="94"/>
                  </a:cubicBezTo>
                  <a:cubicBezTo>
                    <a:pt x="345" y="99"/>
                    <a:pt x="345" y="99"/>
                    <a:pt x="345" y="99"/>
                  </a:cubicBezTo>
                  <a:cubicBezTo>
                    <a:pt x="345" y="89"/>
                    <a:pt x="345" y="89"/>
                    <a:pt x="345" y="8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1" name="Freeform 67"/>
            <p:cNvSpPr>
              <a:spLocks noEditPoints="1"/>
            </p:cNvSpPr>
            <p:nvPr userDrawn="1"/>
          </p:nvSpPr>
          <p:spPr bwMode="auto">
            <a:xfrm>
              <a:off x="8196028" y="-758964"/>
              <a:ext cx="68913" cy="73955"/>
            </a:xfrm>
            <a:custGeom>
              <a:avLst/>
              <a:gdLst>
                <a:gd name="T0" fmla="*/ 377 w 377"/>
                <a:gd name="T1" fmla="*/ 161 h 407"/>
                <a:gd name="T2" fmla="*/ 200 w 377"/>
                <a:gd name="T3" fmla="*/ 0 h 407"/>
                <a:gd name="T4" fmla="*/ 0 w 377"/>
                <a:gd name="T5" fmla="*/ 190 h 407"/>
                <a:gd name="T6" fmla="*/ 232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6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7"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2" y="348"/>
                    <a:pt x="119" y="253"/>
                    <a:pt x="116" y="169"/>
                  </a:cubicBezTo>
                  <a:cubicBezTo>
                    <a:pt x="131" y="169"/>
                    <a:pt x="377" y="169"/>
                    <a:pt x="377" y="169"/>
                  </a:cubicBezTo>
                  <a:cubicBezTo>
                    <a:pt x="377" y="161"/>
                    <a:pt x="377" y="161"/>
                    <a:pt x="377" y="161"/>
                  </a:cubicBezTo>
                  <a:moveTo>
                    <a:pt x="197" y="42"/>
                  </a:moveTo>
                  <a:cubicBezTo>
                    <a:pt x="254" y="42"/>
                    <a:pt x="269" y="84"/>
                    <a:pt x="270" y="122"/>
                  </a:cubicBezTo>
                  <a:cubicBezTo>
                    <a:pt x="257" y="122"/>
                    <a:pt x="131" y="122"/>
                    <a:pt x="117" y="122"/>
                  </a:cubicBezTo>
                  <a:cubicBezTo>
                    <a:pt x="120"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2" name="Freeform 68"/>
            <p:cNvSpPr>
              <a:spLocks/>
            </p:cNvSpPr>
            <p:nvPr userDrawn="1"/>
          </p:nvSpPr>
          <p:spPr bwMode="auto">
            <a:xfrm>
              <a:off x="8384278" y="-792580"/>
              <a:ext cx="80678" cy="105891"/>
            </a:xfrm>
            <a:custGeom>
              <a:avLst/>
              <a:gdLst>
                <a:gd name="T0" fmla="*/ 325 w 445"/>
                <a:gd name="T1" fmla="*/ 181 h 578"/>
                <a:gd name="T2" fmla="*/ 178 w 445"/>
                <a:gd name="T3" fmla="*/ 266 h 578"/>
                <a:gd name="T4" fmla="*/ 178 w 445"/>
                <a:gd name="T5" fmla="*/ 0 h 578"/>
                <a:gd name="T6" fmla="*/ 170 w 445"/>
                <a:gd name="T7" fmla="*/ 1 h 578"/>
                <a:gd name="T8" fmla="*/ 0 w 445"/>
                <a:gd name="T9" fmla="*/ 22 h 578"/>
                <a:gd name="T10" fmla="*/ 0 w 445"/>
                <a:gd name="T11" fmla="*/ 52 h 578"/>
                <a:gd name="T12" fmla="*/ 8 w 445"/>
                <a:gd name="T13" fmla="*/ 52 h 578"/>
                <a:gd name="T14" fmla="*/ 72 w 445"/>
                <a:gd name="T15" fmla="*/ 118 h 578"/>
                <a:gd name="T16" fmla="*/ 72 w 445"/>
                <a:gd name="T17" fmla="*/ 578 h 578"/>
                <a:gd name="T18" fmla="*/ 178 w 445"/>
                <a:gd name="T19" fmla="*/ 578 h 578"/>
                <a:gd name="T20" fmla="*/ 178 w 445"/>
                <a:gd name="T21" fmla="*/ 380 h 578"/>
                <a:gd name="T22" fmla="*/ 279 w 445"/>
                <a:gd name="T23" fmla="*/ 251 h 578"/>
                <a:gd name="T24" fmla="*/ 339 w 445"/>
                <a:gd name="T25" fmla="*/ 335 h 578"/>
                <a:gd name="T26" fmla="*/ 339 w 445"/>
                <a:gd name="T27" fmla="*/ 578 h 578"/>
                <a:gd name="T28" fmla="*/ 445 w 445"/>
                <a:gd name="T29" fmla="*/ 578 h 578"/>
                <a:gd name="T30" fmla="*/ 445 w 445"/>
                <a:gd name="T31" fmla="*/ 323 h 578"/>
                <a:gd name="T32" fmla="*/ 325 w 445"/>
                <a:gd name="T33" fmla="*/ 18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5" h="578">
                  <a:moveTo>
                    <a:pt x="325" y="181"/>
                  </a:moveTo>
                  <a:cubicBezTo>
                    <a:pt x="246" y="181"/>
                    <a:pt x="201" y="230"/>
                    <a:pt x="178" y="266"/>
                  </a:cubicBezTo>
                  <a:cubicBezTo>
                    <a:pt x="178" y="223"/>
                    <a:pt x="178" y="0"/>
                    <a:pt x="178" y="0"/>
                  </a:cubicBezTo>
                  <a:cubicBezTo>
                    <a:pt x="170" y="1"/>
                    <a:pt x="170" y="1"/>
                    <a:pt x="170" y="1"/>
                  </a:cubicBezTo>
                  <a:cubicBezTo>
                    <a:pt x="0" y="22"/>
                    <a:pt x="0" y="22"/>
                    <a:pt x="0" y="22"/>
                  </a:cubicBezTo>
                  <a:cubicBezTo>
                    <a:pt x="0" y="52"/>
                    <a:pt x="0" y="52"/>
                    <a:pt x="0" y="52"/>
                  </a:cubicBezTo>
                  <a:cubicBezTo>
                    <a:pt x="8" y="52"/>
                    <a:pt x="8" y="52"/>
                    <a:pt x="8" y="52"/>
                  </a:cubicBezTo>
                  <a:cubicBezTo>
                    <a:pt x="60" y="54"/>
                    <a:pt x="72" y="66"/>
                    <a:pt x="72" y="118"/>
                  </a:cubicBezTo>
                  <a:cubicBezTo>
                    <a:pt x="72" y="578"/>
                    <a:pt x="72" y="578"/>
                    <a:pt x="72" y="578"/>
                  </a:cubicBezTo>
                  <a:cubicBezTo>
                    <a:pt x="178" y="578"/>
                    <a:pt x="178" y="578"/>
                    <a:pt x="178" y="578"/>
                  </a:cubicBezTo>
                  <a:cubicBezTo>
                    <a:pt x="178" y="380"/>
                    <a:pt x="178" y="380"/>
                    <a:pt x="178" y="380"/>
                  </a:cubicBezTo>
                  <a:cubicBezTo>
                    <a:pt x="178" y="307"/>
                    <a:pt x="233" y="251"/>
                    <a:pt x="279" y="251"/>
                  </a:cubicBezTo>
                  <a:cubicBezTo>
                    <a:pt x="339" y="251"/>
                    <a:pt x="339" y="296"/>
                    <a:pt x="339" y="335"/>
                  </a:cubicBezTo>
                  <a:cubicBezTo>
                    <a:pt x="339" y="578"/>
                    <a:pt x="339" y="578"/>
                    <a:pt x="339" y="578"/>
                  </a:cubicBezTo>
                  <a:cubicBezTo>
                    <a:pt x="445" y="578"/>
                    <a:pt x="445" y="578"/>
                    <a:pt x="445" y="578"/>
                  </a:cubicBezTo>
                  <a:cubicBezTo>
                    <a:pt x="445" y="323"/>
                    <a:pt x="445" y="323"/>
                    <a:pt x="445" y="323"/>
                  </a:cubicBezTo>
                  <a:cubicBezTo>
                    <a:pt x="445" y="280"/>
                    <a:pt x="445" y="181"/>
                    <a:pt x="325" y="18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3" name="Freeform 69"/>
            <p:cNvSpPr>
              <a:spLocks noEditPoints="1"/>
            </p:cNvSpPr>
            <p:nvPr userDrawn="1"/>
          </p:nvSpPr>
          <p:spPr bwMode="auto">
            <a:xfrm>
              <a:off x="8485126" y="-758964"/>
              <a:ext cx="68913" cy="73955"/>
            </a:xfrm>
            <a:custGeom>
              <a:avLst/>
              <a:gdLst>
                <a:gd name="T0" fmla="*/ 377 w 377"/>
                <a:gd name="T1" fmla="*/ 161 h 407"/>
                <a:gd name="T2" fmla="*/ 200 w 377"/>
                <a:gd name="T3" fmla="*/ 0 h 407"/>
                <a:gd name="T4" fmla="*/ 0 w 377"/>
                <a:gd name="T5" fmla="*/ 190 h 407"/>
                <a:gd name="T6" fmla="*/ 233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7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8" y="0"/>
                    <a:pt x="0" y="64"/>
                    <a:pt x="0" y="190"/>
                  </a:cubicBezTo>
                  <a:cubicBezTo>
                    <a:pt x="0" y="326"/>
                    <a:pt x="87" y="407"/>
                    <a:pt x="233"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1" y="348"/>
                    <a:pt x="119" y="253"/>
                    <a:pt x="117" y="169"/>
                  </a:cubicBezTo>
                  <a:cubicBezTo>
                    <a:pt x="131" y="169"/>
                    <a:pt x="377" y="169"/>
                    <a:pt x="377" y="169"/>
                  </a:cubicBezTo>
                  <a:cubicBezTo>
                    <a:pt x="377" y="161"/>
                    <a:pt x="377" y="161"/>
                    <a:pt x="377" y="161"/>
                  </a:cubicBezTo>
                  <a:moveTo>
                    <a:pt x="197" y="42"/>
                  </a:moveTo>
                  <a:cubicBezTo>
                    <a:pt x="254" y="42"/>
                    <a:pt x="268" y="84"/>
                    <a:pt x="270" y="122"/>
                  </a:cubicBezTo>
                  <a:cubicBezTo>
                    <a:pt x="256" y="122"/>
                    <a:pt x="130" y="122"/>
                    <a:pt x="117" y="122"/>
                  </a:cubicBezTo>
                  <a:cubicBezTo>
                    <a:pt x="119"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4" name="Freeform 70"/>
            <p:cNvSpPr>
              <a:spLocks/>
            </p:cNvSpPr>
            <p:nvPr userDrawn="1"/>
          </p:nvSpPr>
          <p:spPr bwMode="auto">
            <a:xfrm>
              <a:off x="8320407"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9"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2" y="468"/>
                    <a:pt x="178" y="449"/>
                    <a:pt x="178" y="394"/>
                  </a:cubicBezTo>
                  <a:cubicBezTo>
                    <a:pt x="178" y="394"/>
                    <a:pt x="178" y="182"/>
                    <a:pt x="178" y="168"/>
                  </a:cubicBezTo>
                  <a:cubicBezTo>
                    <a:pt x="192" y="168"/>
                    <a:pt x="298" y="168"/>
                    <a:pt x="298" y="168"/>
                  </a:cubicBezTo>
                  <a:cubicBezTo>
                    <a:pt x="298" y="121"/>
                    <a:pt x="298" y="121"/>
                    <a:pt x="298" y="121"/>
                  </a:cubicBezTo>
                  <a:cubicBezTo>
                    <a:pt x="298" y="121"/>
                    <a:pt x="192"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5" name="Freeform 71"/>
            <p:cNvSpPr>
              <a:spLocks/>
            </p:cNvSpPr>
            <p:nvPr userDrawn="1"/>
          </p:nvSpPr>
          <p:spPr bwMode="auto">
            <a:xfrm>
              <a:off x="8602782" y="-789219"/>
              <a:ext cx="117656" cy="102529"/>
            </a:xfrm>
            <a:custGeom>
              <a:avLst/>
              <a:gdLst>
                <a:gd name="T0" fmla="*/ 632 w 640"/>
                <a:gd name="T1" fmla="*/ 0 h 556"/>
                <a:gd name="T2" fmla="*/ 525 w 640"/>
                <a:gd name="T3" fmla="*/ 0 h 556"/>
                <a:gd name="T4" fmla="*/ 525 w 640"/>
                <a:gd name="T5" fmla="*/ 423 h 556"/>
                <a:gd name="T6" fmla="*/ 246 w 640"/>
                <a:gd name="T7" fmla="*/ 0 h 556"/>
                <a:gd name="T8" fmla="*/ 0 w 640"/>
                <a:gd name="T9" fmla="*/ 0 h 556"/>
                <a:gd name="T10" fmla="*/ 0 w 640"/>
                <a:gd name="T11" fmla="*/ 32 h 556"/>
                <a:gd name="T12" fmla="*/ 21 w 640"/>
                <a:gd name="T13" fmla="*/ 36 h 556"/>
                <a:gd name="T14" fmla="*/ 91 w 640"/>
                <a:gd name="T15" fmla="*/ 111 h 556"/>
                <a:gd name="T16" fmla="*/ 91 w 640"/>
                <a:gd name="T17" fmla="*/ 556 h 556"/>
                <a:gd name="T18" fmla="*/ 206 w 640"/>
                <a:gd name="T19" fmla="*/ 556 h 556"/>
                <a:gd name="T20" fmla="*/ 206 w 640"/>
                <a:gd name="T21" fmla="*/ 114 h 556"/>
                <a:gd name="T22" fmla="*/ 498 w 640"/>
                <a:gd name="T23" fmla="*/ 556 h 556"/>
                <a:gd name="T24" fmla="*/ 640 w 640"/>
                <a:gd name="T25" fmla="*/ 556 h 556"/>
                <a:gd name="T26" fmla="*/ 640 w 640"/>
                <a:gd name="T27" fmla="*/ 0 h 556"/>
                <a:gd name="T28" fmla="*/ 632 w 640"/>
                <a:gd name="T2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0" h="556">
                  <a:moveTo>
                    <a:pt x="632" y="0"/>
                  </a:moveTo>
                  <a:cubicBezTo>
                    <a:pt x="525" y="0"/>
                    <a:pt x="525" y="0"/>
                    <a:pt x="525" y="0"/>
                  </a:cubicBezTo>
                  <a:cubicBezTo>
                    <a:pt x="525" y="0"/>
                    <a:pt x="525" y="382"/>
                    <a:pt x="525" y="423"/>
                  </a:cubicBezTo>
                  <a:cubicBezTo>
                    <a:pt x="503" y="389"/>
                    <a:pt x="246" y="0"/>
                    <a:pt x="246" y="0"/>
                  </a:cubicBezTo>
                  <a:cubicBezTo>
                    <a:pt x="0" y="0"/>
                    <a:pt x="0" y="0"/>
                    <a:pt x="0" y="0"/>
                  </a:cubicBezTo>
                  <a:cubicBezTo>
                    <a:pt x="0" y="32"/>
                    <a:pt x="0" y="32"/>
                    <a:pt x="0" y="32"/>
                  </a:cubicBezTo>
                  <a:cubicBezTo>
                    <a:pt x="21" y="36"/>
                    <a:pt x="21" y="36"/>
                    <a:pt x="21" y="36"/>
                  </a:cubicBezTo>
                  <a:cubicBezTo>
                    <a:pt x="86" y="47"/>
                    <a:pt x="91" y="47"/>
                    <a:pt x="91" y="111"/>
                  </a:cubicBezTo>
                  <a:cubicBezTo>
                    <a:pt x="91" y="556"/>
                    <a:pt x="91" y="556"/>
                    <a:pt x="91" y="556"/>
                  </a:cubicBezTo>
                  <a:cubicBezTo>
                    <a:pt x="206" y="556"/>
                    <a:pt x="206" y="556"/>
                    <a:pt x="206" y="556"/>
                  </a:cubicBezTo>
                  <a:cubicBezTo>
                    <a:pt x="206" y="556"/>
                    <a:pt x="206" y="155"/>
                    <a:pt x="206" y="114"/>
                  </a:cubicBezTo>
                  <a:cubicBezTo>
                    <a:pt x="228" y="148"/>
                    <a:pt x="498" y="556"/>
                    <a:pt x="498" y="556"/>
                  </a:cubicBezTo>
                  <a:cubicBezTo>
                    <a:pt x="640" y="556"/>
                    <a:pt x="640" y="556"/>
                    <a:pt x="640" y="556"/>
                  </a:cubicBezTo>
                  <a:cubicBezTo>
                    <a:pt x="640" y="0"/>
                    <a:pt x="640" y="0"/>
                    <a:pt x="640" y="0"/>
                  </a:cubicBezTo>
                  <a:cubicBezTo>
                    <a:pt x="632" y="0"/>
                    <a:pt x="632" y="0"/>
                    <a:pt x="6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6" name="Freeform 72"/>
            <p:cNvSpPr>
              <a:spLocks noEditPoints="1"/>
            </p:cNvSpPr>
            <p:nvPr userDrawn="1"/>
          </p:nvSpPr>
          <p:spPr bwMode="auto">
            <a:xfrm>
              <a:off x="8738927" y="-758964"/>
              <a:ext cx="70594" cy="73955"/>
            </a:xfrm>
            <a:custGeom>
              <a:avLst/>
              <a:gdLst>
                <a:gd name="T0" fmla="*/ 378 w 378"/>
                <a:gd name="T1" fmla="*/ 161 h 407"/>
                <a:gd name="T2" fmla="*/ 200 w 378"/>
                <a:gd name="T3" fmla="*/ 0 h 407"/>
                <a:gd name="T4" fmla="*/ 0 w 378"/>
                <a:gd name="T5" fmla="*/ 190 h 407"/>
                <a:gd name="T6" fmla="*/ 232 w 378"/>
                <a:gd name="T7" fmla="*/ 407 h 407"/>
                <a:gd name="T8" fmla="*/ 363 w 378"/>
                <a:gd name="T9" fmla="*/ 385 h 407"/>
                <a:gd name="T10" fmla="*/ 369 w 378"/>
                <a:gd name="T11" fmla="*/ 383 h 407"/>
                <a:gd name="T12" fmla="*/ 369 w 378"/>
                <a:gd name="T13" fmla="*/ 331 h 407"/>
                <a:gd name="T14" fmla="*/ 359 w 378"/>
                <a:gd name="T15" fmla="*/ 335 h 407"/>
                <a:gd name="T16" fmla="*/ 276 w 378"/>
                <a:gd name="T17" fmla="*/ 348 h 407"/>
                <a:gd name="T18" fmla="*/ 117 w 378"/>
                <a:gd name="T19" fmla="*/ 169 h 407"/>
                <a:gd name="T20" fmla="*/ 378 w 378"/>
                <a:gd name="T21" fmla="*/ 169 h 407"/>
                <a:gd name="T22" fmla="*/ 378 w 378"/>
                <a:gd name="T23" fmla="*/ 161 h 407"/>
                <a:gd name="T24" fmla="*/ 196 w 378"/>
                <a:gd name="T25" fmla="*/ 42 h 407"/>
                <a:gd name="T26" fmla="*/ 270 w 378"/>
                <a:gd name="T27" fmla="*/ 122 h 407"/>
                <a:gd name="T28" fmla="*/ 117 w 378"/>
                <a:gd name="T29" fmla="*/ 122 h 407"/>
                <a:gd name="T30" fmla="*/ 196 w 378"/>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8" h="407">
                  <a:moveTo>
                    <a:pt x="378" y="161"/>
                  </a:moveTo>
                  <a:cubicBezTo>
                    <a:pt x="378" y="54"/>
                    <a:pt x="318" y="0"/>
                    <a:pt x="200" y="0"/>
                  </a:cubicBezTo>
                  <a:cubicBezTo>
                    <a:pt x="68"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6" y="348"/>
                  </a:cubicBezTo>
                  <a:cubicBezTo>
                    <a:pt x="161" y="348"/>
                    <a:pt x="119" y="253"/>
                    <a:pt x="117" y="169"/>
                  </a:cubicBezTo>
                  <a:cubicBezTo>
                    <a:pt x="131" y="169"/>
                    <a:pt x="378" y="169"/>
                    <a:pt x="378" y="169"/>
                  </a:cubicBezTo>
                  <a:cubicBezTo>
                    <a:pt x="378" y="161"/>
                    <a:pt x="378" y="161"/>
                    <a:pt x="378" y="161"/>
                  </a:cubicBezTo>
                  <a:moveTo>
                    <a:pt x="196" y="42"/>
                  </a:moveTo>
                  <a:cubicBezTo>
                    <a:pt x="254" y="42"/>
                    <a:pt x="269" y="84"/>
                    <a:pt x="270" y="122"/>
                  </a:cubicBezTo>
                  <a:cubicBezTo>
                    <a:pt x="257" y="122"/>
                    <a:pt x="131" y="122"/>
                    <a:pt x="117" y="122"/>
                  </a:cubicBezTo>
                  <a:cubicBezTo>
                    <a:pt x="120" y="94"/>
                    <a:pt x="137" y="42"/>
                    <a:pt x="19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7" name="Freeform 73"/>
            <p:cNvSpPr>
              <a:spLocks/>
            </p:cNvSpPr>
            <p:nvPr userDrawn="1"/>
          </p:nvSpPr>
          <p:spPr bwMode="auto">
            <a:xfrm>
              <a:off x="8903646"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8"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1" y="468"/>
                    <a:pt x="178" y="449"/>
                    <a:pt x="178" y="394"/>
                  </a:cubicBezTo>
                  <a:cubicBezTo>
                    <a:pt x="178" y="394"/>
                    <a:pt x="178" y="182"/>
                    <a:pt x="178" y="168"/>
                  </a:cubicBezTo>
                  <a:cubicBezTo>
                    <a:pt x="191" y="168"/>
                    <a:pt x="298" y="168"/>
                    <a:pt x="298" y="168"/>
                  </a:cubicBezTo>
                  <a:cubicBezTo>
                    <a:pt x="298" y="121"/>
                    <a:pt x="298" y="121"/>
                    <a:pt x="298" y="121"/>
                  </a:cubicBezTo>
                  <a:cubicBezTo>
                    <a:pt x="298" y="121"/>
                    <a:pt x="191"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128" name="Freeform 74"/>
            <p:cNvSpPr>
              <a:spLocks/>
            </p:cNvSpPr>
            <p:nvPr userDrawn="1"/>
          </p:nvSpPr>
          <p:spPr bwMode="auto">
            <a:xfrm>
              <a:off x="8811201" y="-757284"/>
              <a:ext cx="85721" cy="70594"/>
            </a:xfrm>
            <a:custGeom>
              <a:avLst/>
              <a:gdLst>
                <a:gd name="T0" fmla="*/ 363 w 473"/>
                <a:gd name="T1" fmla="*/ 127 h 389"/>
                <a:gd name="T2" fmla="*/ 473 w 473"/>
                <a:gd name="T3" fmla="*/ 0 h 389"/>
                <a:gd name="T4" fmla="*/ 360 w 473"/>
                <a:gd name="T5" fmla="*/ 0 h 389"/>
                <a:gd name="T6" fmla="*/ 256 w 473"/>
                <a:gd name="T7" fmla="*/ 120 h 389"/>
                <a:gd name="T8" fmla="*/ 164 w 473"/>
                <a:gd name="T9" fmla="*/ 0 h 389"/>
                <a:gd name="T10" fmla="*/ 0 w 473"/>
                <a:gd name="T11" fmla="*/ 0 h 389"/>
                <a:gd name="T12" fmla="*/ 0 w 473"/>
                <a:gd name="T13" fmla="*/ 31 h 389"/>
                <a:gd name="T14" fmla="*/ 7 w 473"/>
                <a:gd name="T15" fmla="*/ 31 h 389"/>
                <a:gd name="T16" fmla="*/ 110 w 473"/>
                <a:gd name="T17" fmla="*/ 90 h 389"/>
                <a:gd name="T18" fmla="*/ 177 w 473"/>
                <a:gd name="T19" fmla="*/ 179 h 389"/>
                <a:gd name="T20" fmla="*/ 68 w 473"/>
                <a:gd name="T21" fmla="*/ 306 h 389"/>
                <a:gd name="T22" fmla="*/ 181 w 473"/>
                <a:gd name="T23" fmla="*/ 306 h 389"/>
                <a:gd name="T24" fmla="*/ 230 w 473"/>
                <a:gd name="T25" fmla="*/ 249 h 389"/>
                <a:gd name="T26" fmla="*/ 335 w 473"/>
                <a:gd name="T27" fmla="*/ 389 h 389"/>
                <a:gd name="T28" fmla="*/ 462 w 473"/>
                <a:gd name="T29" fmla="*/ 389 h 389"/>
                <a:gd name="T30" fmla="*/ 261 w 473"/>
                <a:gd name="T31" fmla="*/ 127 h 389"/>
                <a:gd name="T32" fmla="*/ 363 w 473"/>
                <a:gd name="T33" fmla="*/ 127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3" h="389">
                  <a:moveTo>
                    <a:pt x="363" y="127"/>
                  </a:moveTo>
                  <a:cubicBezTo>
                    <a:pt x="473" y="0"/>
                    <a:pt x="473" y="0"/>
                    <a:pt x="473" y="0"/>
                  </a:cubicBezTo>
                  <a:cubicBezTo>
                    <a:pt x="360" y="0"/>
                    <a:pt x="360" y="0"/>
                    <a:pt x="360" y="0"/>
                  </a:cubicBezTo>
                  <a:cubicBezTo>
                    <a:pt x="256" y="120"/>
                    <a:pt x="256" y="120"/>
                    <a:pt x="256" y="120"/>
                  </a:cubicBezTo>
                  <a:cubicBezTo>
                    <a:pt x="164" y="0"/>
                    <a:pt x="164" y="0"/>
                    <a:pt x="164" y="0"/>
                  </a:cubicBezTo>
                  <a:cubicBezTo>
                    <a:pt x="0" y="0"/>
                    <a:pt x="0" y="0"/>
                    <a:pt x="0" y="0"/>
                  </a:cubicBezTo>
                  <a:cubicBezTo>
                    <a:pt x="0" y="31"/>
                    <a:pt x="0" y="31"/>
                    <a:pt x="0" y="31"/>
                  </a:cubicBezTo>
                  <a:cubicBezTo>
                    <a:pt x="7" y="31"/>
                    <a:pt x="7" y="31"/>
                    <a:pt x="7" y="31"/>
                  </a:cubicBezTo>
                  <a:cubicBezTo>
                    <a:pt x="63" y="35"/>
                    <a:pt x="76" y="45"/>
                    <a:pt x="110" y="90"/>
                  </a:cubicBezTo>
                  <a:cubicBezTo>
                    <a:pt x="177" y="179"/>
                    <a:pt x="177" y="179"/>
                    <a:pt x="177" y="179"/>
                  </a:cubicBezTo>
                  <a:cubicBezTo>
                    <a:pt x="68" y="306"/>
                    <a:pt x="68" y="306"/>
                    <a:pt x="68" y="306"/>
                  </a:cubicBezTo>
                  <a:cubicBezTo>
                    <a:pt x="181" y="306"/>
                    <a:pt x="181" y="306"/>
                    <a:pt x="181" y="306"/>
                  </a:cubicBezTo>
                  <a:cubicBezTo>
                    <a:pt x="230" y="249"/>
                    <a:pt x="230" y="249"/>
                    <a:pt x="230" y="249"/>
                  </a:cubicBezTo>
                  <a:cubicBezTo>
                    <a:pt x="335" y="389"/>
                    <a:pt x="335" y="389"/>
                    <a:pt x="335" y="389"/>
                  </a:cubicBezTo>
                  <a:cubicBezTo>
                    <a:pt x="462" y="389"/>
                    <a:pt x="462" y="389"/>
                    <a:pt x="462" y="389"/>
                  </a:cubicBezTo>
                  <a:cubicBezTo>
                    <a:pt x="261" y="127"/>
                    <a:pt x="261" y="127"/>
                    <a:pt x="261" y="127"/>
                  </a:cubicBezTo>
                  <a:cubicBezTo>
                    <a:pt x="363" y="127"/>
                    <a:pt x="363" y="127"/>
                    <a:pt x="363" y="12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grpSp>
      <p:pic>
        <p:nvPicPr>
          <p:cNvPr id="129" name="Picture 128" descr="hds-w.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2261" y="274473"/>
            <a:ext cx="2077976" cy="208842"/>
          </a:xfrm>
          <a:prstGeom prst="rect">
            <a:avLst/>
          </a:prstGeom>
          <a:effectLst/>
        </p:spPr>
      </p:pic>
      <p:sp>
        <p:nvSpPr>
          <p:cNvPr id="38" name="Subtitle 2"/>
          <p:cNvSpPr>
            <a:spLocks noGrp="1"/>
          </p:cNvSpPr>
          <p:nvPr>
            <p:ph type="subTitle" idx="1" hasCustomPrompt="1"/>
          </p:nvPr>
        </p:nvSpPr>
        <p:spPr>
          <a:xfrm>
            <a:off x="2548467" y="2520899"/>
            <a:ext cx="6131767" cy="646331"/>
          </a:xfrm>
          <a:prstGeom prst="rect">
            <a:avLst/>
          </a:prstGeom>
          <a:effectLst/>
        </p:spPr>
        <p:txBody>
          <a:bodyPr/>
          <a:lstStyle>
            <a:lvl1pPr marL="0" marR="0" indent="0" algn="l" defTabSz="914400" rtl="0" eaLnBrk="1" fontAlgn="auto" latinLnBrk="0" hangingPunct="1">
              <a:lnSpc>
                <a:spcPct val="100000"/>
              </a:lnSpc>
              <a:spcBef>
                <a:spcPts val="0"/>
              </a:spcBef>
              <a:spcAft>
                <a:spcPts val="0"/>
              </a:spcAft>
              <a:buClr>
                <a:schemeClr val="accent2"/>
              </a:buClr>
              <a:buSzTx/>
              <a:buFont typeface="Wingdings" charset="2"/>
              <a:buNone/>
              <a:tabLst/>
              <a:defRPr sz="1800" cap="none" baseline="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Subtitle placeholder</a:t>
            </a:r>
          </a:p>
          <a:p>
            <a:r>
              <a:rPr lang="en-US" dirty="0" smtClean="0"/>
              <a:t>Subtitle placeholder</a:t>
            </a:r>
          </a:p>
        </p:txBody>
      </p:sp>
      <p:sp>
        <p:nvSpPr>
          <p:cNvPr id="39" name="Title 1"/>
          <p:cNvSpPr>
            <a:spLocks noGrp="1"/>
          </p:cNvSpPr>
          <p:nvPr>
            <p:ph type="ctrTitle" hasCustomPrompt="1"/>
          </p:nvPr>
        </p:nvSpPr>
        <p:spPr>
          <a:xfrm>
            <a:off x="2548458" y="1052996"/>
            <a:ext cx="6131767" cy="1453141"/>
          </a:xfrm>
          <a:prstGeom prst="rect">
            <a:avLst/>
          </a:prstGeom>
          <a:effectLst/>
        </p:spPr>
        <p:txBody>
          <a:bodyPr anchor="b">
            <a:noAutofit/>
          </a:bodyPr>
          <a:lstStyle>
            <a:lvl1pPr>
              <a:lnSpc>
                <a:spcPct val="100000"/>
              </a:lnSpc>
              <a:defRPr sz="4800" b="1" cap="none" baseline="0">
                <a:solidFill>
                  <a:schemeClr val="tx1"/>
                </a:solidFill>
                <a:latin typeface="+mn-lt"/>
              </a:defRPr>
            </a:lvl1pPr>
          </a:lstStyle>
          <a:p>
            <a:r>
              <a:rPr lang="en-US" dirty="0" smtClean="0"/>
              <a:t>Title placeholder</a:t>
            </a:r>
            <a:endParaRPr lang="en-US" dirty="0"/>
          </a:p>
        </p:txBody>
      </p:sp>
      <p:sp>
        <p:nvSpPr>
          <p:cNvPr id="45" name="TextBox 44"/>
          <p:cNvSpPr txBox="1"/>
          <p:nvPr userDrawn="1"/>
        </p:nvSpPr>
        <p:spPr>
          <a:xfrm>
            <a:off x="6111200" y="4911221"/>
            <a:ext cx="2993127" cy="215444"/>
          </a:xfrm>
          <a:prstGeom prst="rect">
            <a:avLst/>
          </a:prstGeom>
          <a:noFill/>
        </p:spPr>
        <p:txBody>
          <a:bodyPr wrap="none" rtlCol="0">
            <a:spAutoFit/>
          </a:bodyPr>
          <a:lstStyle/>
          <a:p>
            <a:pPr algn="r"/>
            <a:r>
              <a:rPr lang="en-US" sz="800" kern="1200" dirty="0" smtClean="0">
                <a:solidFill>
                  <a:srgbClr val="FFFFFF">
                    <a:alpha val="50000"/>
                  </a:srgbClr>
                </a:solidFill>
                <a:latin typeface="+mn-lt"/>
                <a:ea typeface="+mn-ea"/>
                <a:cs typeface="+mn-cs"/>
              </a:rPr>
              <a:t>© Hitachi Data Systems Corporation 2014. All rights reserved.</a:t>
            </a:r>
          </a:p>
        </p:txBody>
      </p:sp>
      <p:sp>
        <p:nvSpPr>
          <p:cNvPr id="48" name="Rectangle 47"/>
          <p:cNvSpPr/>
          <p:nvPr userDrawn="1"/>
        </p:nvSpPr>
        <p:spPr>
          <a:xfrm rot="10800000">
            <a:off x="-1" y="3249791"/>
            <a:ext cx="9190510" cy="48012"/>
          </a:xfrm>
          <a:prstGeom prst="rect">
            <a:avLst/>
          </a:prstGeom>
          <a:gradFill>
            <a:gsLst>
              <a:gs pos="100000">
                <a:schemeClr val="accent2"/>
              </a:gs>
              <a:gs pos="0">
                <a:schemeClr val="accent2">
                  <a:shade val="94000"/>
                  <a:satMod val="135000"/>
                  <a:alpha val="0"/>
                </a:schemeClr>
              </a:gs>
            </a:gsLst>
            <a:lin ang="0" scaled="0"/>
          </a:gra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pic>
        <p:nvPicPr>
          <p:cNvPr id="43" name="Picture 42" descr="IWI-RGB-150.png"/>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82261" y="1989705"/>
            <a:ext cx="2077976" cy="391547"/>
          </a:xfrm>
          <a:prstGeom prst="rect">
            <a:avLst/>
          </a:prstGeom>
        </p:spPr>
      </p:pic>
      <p:sp>
        <p:nvSpPr>
          <p:cNvPr id="41" name="Rectangle 40"/>
          <p:cNvSpPr/>
          <p:nvPr userDrawn="1"/>
        </p:nvSpPr>
        <p:spPr>
          <a:xfrm>
            <a:off x="282261" y="2779838"/>
            <a:ext cx="2077976" cy="461665"/>
          </a:xfrm>
          <a:prstGeom prst="rect">
            <a:avLst/>
          </a:prstGeom>
        </p:spPr>
        <p:txBody>
          <a:bodyPr wrap="square">
            <a:spAutoFit/>
          </a:bodyPr>
          <a:lstStyle/>
          <a:p>
            <a:pPr algn="r">
              <a:lnSpc>
                <a:spcPct val="100000"/>
              </a:lnSpc>
            </a:pPr>
            <a:r>
              <a:rPr lang="en-US" sz="800" b="1" kern="1200" dirty="0" smtClean="0">
                <a:solidFill>
                  <a:schemeClr val="accent2"/>
                </a:solidFill>
                <a:latin typeface="+mn-lt"/>
                <a:ea typeface="+mn-ea"/>
                <a:cs typeface="+mn-cs"/>
              </a:rPr>
              <a:t>CONFIDENTIAL – For use by </a:t>
            </a:r>
            <a:br>
              <a:rPr lang="en-US" sz="800" b="1" kern="1200" dirty="0" smtClean="0">
                <a:solidFill>
                  <a:schemeClr val="accent2"/>
                </a:solidFill>
                <a:latin typeface="+mn-lt"/>
                <a:ea typeface="+mn-ea"/>
                <a:cs typeface="+mn-cs"/>
              </a:rPr>
            </a:br>
            <a:r>
              <a:rPr lang="en-US" sz="800" b="1" kern="1200" dirty="0" smtClean="0">
                <a:solidFill>
                  <a:schemeClr val="accent2"/>
                </a:solidFill>
                <a:latin typeface="+mn-lt"/>
                <a:ea typeface="+mn-ea"/>
                <a:cs typeface="+mn-cs"/>
              </a:rPr>
              <a:t>Hitachi Data Systems employees and </a:t>
            </a:r>
            <a:br>
              <a:rPr lang="en-US" sz="800" b="1" kern="1200" dirty="0" smtClean="0">
                <a:solidFill>
                  <a:schemeClr val="accent2"/>
                </a:solidFill>
                <a:latin typeface="+mn-lt"/>
                <a:ea typeface="+mn-ea"/>
                <a:cs typeface="+mn-cs"/>
              </a:rPr>
            </a:br>
            <a:r>
              <a:rPr lang="en-US" sz="800" b="1" kern="1200" dirty="0" smtClean="0">
                <a:solidFill>
                  <a:schemeClr val="accent2"/>
                </a:solidFill>
                <a:latin typeface="+mn-lt"/>
                <a:ea typeface="+mn-ea"/>
                <a:cs typeface="+mn-cs"/>
              </a:rPr>
              <a:t>other audiences under NDA only.</a:t>
            </a:r>
            <a:endParaRPr lang="en-US" sz="800" b="1" dirty="0">
              <a:solidFill>
                <a:schemeClr val="accent2"/>
              </a:solidFill>
            </a:endParaRPr>
          </a:p>
        </p:txBody>
      </p:sp>
      <p:sp>
        <p:nvSpPr>
          <p:cNvPr id="44" name="TextBox 43"/>
          <p:cNvSpPr txBox="1"/>
          <p:nvPr userDrawn="1"/>
        </p:nvSpPr>
        <p:spPr>
          <a:xfrm>
            <a:off x="1611" y="4915450"/>
            <a:ext cx="312906" cy="215444"/>
          </a:xfrm>
          <a:prstGeom prst="rect">
            <a:avLst/>
          </a:prstGeom>
          <a:noFill/>
        </p:spPr>
        <p:txBody>
          <a:bodyPr wrap="none" rtlCol="0">
            <a:spAutoFit/>
          </a:bodyPr>
          <a:lstStyle/>
          <a:p>
            <a:pPr algn="l"/>
            <a:fld id="{111F478C-84AE-4601-9BE4-60468A3A6C06}" type="slidenum">
              <a:rPr lang="en-US" sz="800" smtClean="0">
                <a:solidFill>
                  <a:schemeClr val="bg1">
                    <a:alpha val="50000"/>
                  </a:schemeClr>
                </a:solidFill>
                <a:latin typeface="+mj-lt"/>
              </a:rPr>
              <a:pPr algn="l"/>
              <a:t>‹#›</a:t>
            </a:fld>
            <a:endParaRPr lang="en-US" sz="800" dirty="0">
              <a:solidFill>
                <a:schemeClr val="bg1">
                  <a:alpha val="50000"/>
                </a:schemeClr>
              </a:solidFill>
              <a:latin typeface="+mj-lt"/>
            </a:endParaRPr>
          </a:p>
        </p:txBody>
      </p:sp>
    </p:spTree>
    <p:extLst>
      <p:ext uri="{BB962C8B-B14F-4D97-AF65-F5344CB8AC3E}">
        <p14:creationId xmlns:p14="http://schemas.microsoft.com/office/powerpoint/2010/main" val="3958112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8" name="Rectangle 37"/>
          <p:cNvSpPr/>
          <p:nvPr userDrawn="1"/>
        </p:nvSpPr>
        <p:spPr>
          <a:xfrm>
            <a:off x="-8467" y="-7718"/>
            <a:ext cx="9198979" cy="5166512"/>
          </a:xfrm>
          <a:prstGeom prst="rect">
            <a:avLst/>
          </a:prstGeom>
          <a:gradFill>
            <a:gsLst>
              <a:gs pos="0">
                <a:schemeClr val="tx2">
                  <a:lumMod val="75000"/>
                </a:schemeClr>
              </a:gs>
              <a:gs pos="80000">
                <a:schemeClr val="tx2"/>
              </a:gs>
              <a:gs pos="100000">
                <a:schemeClr val="tx2"/>
              </a:gs>
            </a:gsLst>
          </a:gradFill>
          <a:ln>
            <a:solidFill>
              <a:schemeClr val="tx2"/>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smtClean="0">
              <a:latin typeface="+mj-lt"/>
            </a:endParaRPr>
          </a:p>
        </p:txBody>
      </p:sp>
      <p:sp>
        <p:nvSpPr>
          <p:cNvPr id="41" name="Rectangle 40"/>
          <p:cNvSpPr/>
          <p:nvPr userDrawn="1"/>
        </p:nvSpPr>
        <p:spPr>
          <a:xfrm>
            <a:off x="-16936" y="1019128"/>
            <a:ext cx="9207448" cy="2278675"/>
          </a:xfrm>
          <a:prstGeom prst="rect">
            <a:avLst/>
          </a:prstGeom>
          <a:gradFill flip="none" rotWithShape="1">
            <a:gsLst>
              <a:gs pos="0">
                <a:schemeClr val="bg1">
                  <a:alpha val="95000"/>
                </a:schemeClr>
              </a:gs>
              <a:gs pos="57000">
                <a:schemeClr val="bg1">
                  <a:alpha val="90000"/>
                </a:schemeClr>
              </a:gs>
              <a:gs pos="100000">
                <a:schemeClr val="bg1">
                  <a:alpha val="45000"/>
                </a:schemeClr>
              </a:gs>
            </a:gsLst>
            <a:lin ang="0" scaled="0"/>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grpSp>
        <p:nvGrpSpPr>
          <p:cNvPr id="40" name="Group 39"/>
          <p:cNvGrpSpPr/>
          <p:nvPr userDrawn="1"/>
        </p:nvGrpSpPr>
        <p:grpSpPr>
          <a:xfrm>
            <a:off x="7394877" y="280579"/>
            <a:ext cx="1465784" cy="419664"/>
            <a:chOff x="7743893" y="-1004361"/>
            <a:chExt cx="1215220" cy="347926"/>
          </a:xfrm>
          <a:solidFill>
            <a:srgbClr val="FFFFFF"/>
          </a:solidFill>
        </p:grpSpPr>
        <p:sp>
          <p:nvSpPr>
            <p:cNvPr id="43" name="Freeform 75"/>
            <p:cNvSpPr>
              <a:spLocks/>
            </p:cNvSpPr>
            <p:nvPr userDrawn="1"/>
          </p:nvSpPr>
          <p:spPr bwMode="auto">
            <a:xfrm>
              <a:off x="8895241" y="-809388"/>
              <a:ext cx="47062" cy="28574"/>
            </a:xfrm>
            <a:custGeom>
              <a:avLst/>
              <a:gdLst>
                <a:gd name="T0" fmla="*/ 13 w 28"/>
                <a:gd name="T1" fmla="*/ 17 h 17"/>
                <a:gd name="T2" fmla="*/ 0 w 28"/>
                <a:gd name="T3" fmla="*/ 17 h 17"/>
                <a:gd name="T4" fmla="*/ 15 w 28"/>
                <a:gd name="T5" fmla="*/ 0 h 17"/>
                <a:gd name="T6" fmla="*/ 28 w 28"/>
                <a:gd name="T7" fmla="*/ 0 h 17"/>
                <a:gd name="T8" fmla="*/ 13 w 28"/>
                <a:gd name="T9" fmla="*/ 17 h 17"/>
              </a:gdLst>
              <a:ahLst/>
              <a:cxnLst>
                <a:cxn ang="0">
                  <a:pos x="T0" y="T1"/>
                </a:cxn>
                <a:cxn ang="0">
                  <a:pos x="T2" y="T3"/>
                </a:cxn>
                <a:cxn ang="0">
                  <a:pos x="T4" y="T5"/>
                </a:cxn>
                <a:cxn ang="0">
                  <a:pos x="T6" y="T7"/>
                </a:cxn>
                <a:cxn ang="0">
                  <a:pos x="T8" y="T9"/>
                </a:cxn>
              </a:cxnLst>
              <a:rect l="0" t="0" r="r" b="b"/>
              <a:pathLst>
                <a:path w="28" h="17">
                  <a:moveTo>
                    <a:pt x="13" y="17"/>
                  </a:moveTo>
                  <a:lnTo>
                    <a:pt x="0" y="17"/>
                  </a:lnTo>
                  <a:lnTo>
                    <a:pt x="15" y="0"/>
                  </a:lnTo>
                  <a:lnTo>
                    <a:pt x="28" y="0"/>
                  </a:lnTo>
                  <a:lnTo>
                    <a:pt x="13" y="17"/>
                  </a:lnTo>
                  <a:close/>
                </a:path>
              </a:pathLst>
            </a:custGeom>
            <a:solidFill>
              <a:schemeClr val="accent2"/>
            </a:solidFill>
            <a:ln>
              <a:noFill/>
            </a:ln>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44" name="Freeform 50"/>
            <p:cNvSpPr>
              <a:spLocks/>
            </p:cNvSpPr>
            <p:nvPr userDrawn="1"/>
          </p:nvSpPr>
          <p:spPr bwMode="auto">
            <a:xfrm>
              <a:off x="8636398"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69" name="Freeform 52"/>
            <p:cNvSpPr>
              <a:spLocks/>
            </p:cNvSpPr>
            <p:nvPr userDrawn="1"/>
          </p:nvSpPr>
          <p:spPr bwMode="auto">
            <a:xfrm>
              <a:off x="8090138" y="-1001000"/>
              <a:ext cx="176485" cy="164719"/>
            </a:xfrm>
            <a:custGeom>
              <a:avLst/>
              <a:gdLst>
                <a:gd name="T0" fmla="*/ 105 w 105"/>
                <a:gd name="T1" fmla="*/ 0 h 98"/>
                <a:gd name="T2" fmla="*/ 105 w 105"/>
                <a:gd name="T3" fmla="*/ 17 h 98"/>
                <a:gd name="T4" fmla="*/ 66 w 105"/>
                <a:gd name="T5" fmla="*/ 17 h 98"/>
                <a:gd name="T6" fmla="*/ 66 w 105"/>
                <a:gd name="T7" fmla="*/ 98 h 98"/>
                <a:gd name="T8" fmla="*/ 40 w 105"/>
                <a:gd name="T9" fmla="*/ 98 h 98"/>
                <a:gd name="T10" fmla="*/ 40 w 105"/>
                <a:gd name="T11" fmla="*/ 17 h 98"/>
                <a:gd name="T12" fmla="*/ 0 w 105"/>
                <a:gd name="T13" fmla="*/ 17 h 98"/>
                <a:gd name="T14" fmla="*/ 0 w 105"/>
                <a:gd name="T15" fmla="*/ 0 h 98"/>
                <a:gd name="T16" fmla="*/ 105 w 105"/>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98">
                  <a:moveTo>
                    <a:pt x="105" y="0"/>
                  </a:moveTo>
                  <a:lnTo>
                    <a:pt x="105" y="17"/>
                  </a:lnTo>
                  <a:lnTo>
                    <a:pt x="66" y="17"/>
                  </a:lnTo>
                  <a:lnTo>
                    <a:pt x="66" y="98"/>
                  </a:lnTo>
                  <a:lnTo>
                    <a:pt x="40" y="98"/>
                  </a:lnTo>
                  <a:lnTo>
                    <a:pt x="40" y="17"/>
                  </a:lnTo>
                  <a:lnTo>
                    <a:pt x="0" y="17"/>
                  </a:lnTo>
                  <a:lnTo>
                    <a:pt x="0" y="0"/>
                  </a:lnTo>
                  <a:lnTo>
                    <a:pt x="105"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0" name="Freeform 69"/>
            <p:cNvSpPr>
              <a:spLocks noEditPoints="1"/>
            </p:cNvSpPr>
            <p:nvPr userDrawn="1"/>
          </p:nvSpPr>
          <p:spPr bwMode="auto">
            <a:xfrm>
              <a:off x="8229644" y="-1001000"/>
              <a:ext cx="206739" cy="164719"/>
            </a:xfrm>
            <a:custGeom>
              <a:avLst/>
              <a:gdLst>
                <a:gd name="T0" fmla="*/ 123 w 123"/>
                <a:gd name="T1" fmla="*/ 98 h 98"/>
                <a:gd name="T2" fmla="*/ 94 w 123"/>
                <a:gd name="T3" fmla="*/ 98 h 98"/>
                <a:gd name="T4" fmla="*/ 86 w 123"/>
                <a:gd name="T5" fmla="*/ 77 h 98"/>
                <a:gd name="T6" fmla="*/ 37 w 123"/>
                <a:gd name="T7" fmla="*/ 77 h 98"/>
                <a:gd name="T8" fmla="*/ 29 w 123"/>
                <a:gd name="T9" fmla="*/ 98 h 98"/>
                <a:gd name="T10" fmla="*/ 0 w 123"/>
                <a:gd name="T11" fmla="*/ 98 h 98"/>
                <a:gd name="T12" fmla="*/ 46 w 123"/>
                <a:gd name="T13" fmla="*/ 0 h 98"/>
                <a:gd name="T14" fmla="*/ 77 w 123"/>
                <a:gd name="T15" fmla="*/ 0 h 98"/>
                <a:gd name="T16" fmla="*/ 123 w 123"/>
                <a:gd name="T17" fmla="*/ 98 h 98"/>
                <a:gd name="T18" fmla="*/ 61 w 123"/>
                <a:gd name="T19" fmla="*/ 17 h 98"/>
                <a:gd name="T20" fmla="*/ 43 w 123"/>
                <a:gd name="T21" fmla="*/ 61 h 98"/>
                <a:gd name="T22" fmla="*/ 79 w 123"/>
                <a:gd name="T23" fmla="*/ 61 h 98"/>
                <a:gd name="T24" fmla="*/ 61 w 123"/>
                <a:gd name="T25" fmla="*/ 1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98">
                  <a:moveTo>
                    <a:pt x="123" y="98"/>
                  </a:moveTo>
                  <a:lnTo>
                    <a:pt x="94" y="98"/>
                  </a:lnTo>
                  <a:lnTo>
                    <a:pt x="86" y="77"/>
                  </a:lnTo>
                  <a:lnTo>
                    <a:pt x="37" y="77"/>
                  </a:lnTo>
                  <a:lnTo>
                    <a:pt x="29" y="98"/>
                  </a:lnTo>
                  <a:lnTo>
                    <a:pt x="0" y="98"/>
                  </a:lnTo>
                  <a:lnTo>
                    <a:pt x="46" y="0"/>
                  </a:lnTo>
                  <a:lnTo>
                    <a:pt x="77" y="0"/>
                  </a:lnTo>
                  <a:lnTo>
                    <a:pt x="123" y="98"/>
                  </a:lnTo>
                  <a:moveTo>
                    <a:pt x="61" y="17"/>
                  </a:moveTo>
                  <a:lnTo>
                    <a:pt x="43" y="61"/>
                  </a:lnTo>
                  <a:lnTo>
                    <a:pt x="79" y="61"/>
                  </a:lnTo>
                  <a:lnTo>
                    <a:pt x="61" y="17"/>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2" name="Rectangle 71"/>
            <p:cNvSpPr>
              <a:spLocks noChangeArrowheads="1"/>
            </p:cNvSpPr>
            <p:nvPr userDrawn="1"/>
          </p:nvSpPr>
          <p:spPr bwMode="auto">
            <a:xfrm>
              <a:off x="884649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3" name="Freeform 57"/>
            <p:cNvSpPr>
              <a:spLocks/>
            </p:cNvSpPr>
            <p:nvPr userDrawn="1"/>
          </p:nvSpPr>
          <p:spPr bwMode="auto">
            <a:xfrm>
              <a:off x="7821209"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4" name="Rectangle 58"/>
            <p:cNvSpPr>
              <a:spLocks noChangeArrowheads="1"/>
            </p:cNvSpPr>
            <p:nvPr userDrawn="1"/>
          </p:nvSpPr>
          <p:spPr bwMode="auto">
            <a:xfrm>
              <a:off x="803130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5" name="Freeform 59"/>
            <p:cNvSpPr>
              <a:spLocks/>
            </p:cNvSpPr>
            <p:nvPr userDrawn="1"/>
          </p:nvSpPr>
          <p:spPr bwMode="auto">
            <a:xfrm>
              <a:off x="8429660" y="-1004361"/>
              <a:ext cx="184888" cy="171442"/>
            </a:xfrm>
            <a:custGeom>
              <a:avLst/>
              <a:gdLst>
                <a:gd name="T0" fmla="*/ 31 w 1010"/>
                <a:gd name="T1" fmla="*/ 670 h 939"/>
                <a:gd name="T2" fmla="*/ 0 w 1010"/>
                <a:gd name="T3" fmla="*/ 479 h 939"/>
                <a:gd name="T4" fmla="*/ 61 w 1010"/>
                <a:gd name="T5" fmla="*/ 218 h 939"/>
                <a:gd name="T6" fmla="*/ 265 w 1010"/>
                <a:gd name="T7" fmla="*/ 48 h 939"/>
                <a:gd name="T8" fmla="*/ 527 w 1010"/>
                <a:gd name="T9" fmla="*/ 0 h 939"/>
                <a:gd name="T10" fmla="*/ 826 w 1010"/>
                <a:gd name="T11" fmla="*/ 63 h 939"/>
                <a:gd name="T12" fmla="*/ 995 w 1010"/>
                <a:gd name="T13" fmla="*/ 270 h 939"/>
                <a:gd name="T14" fmla="*/ 1004 w 1010"/>
                <a:gd name="T15" fmla="*/ 327 h 939"/>
                <a:gd name="T16" fmla="*/ 755 w 1010"/>
                <a:gd name="T17" fmla="*/ 327 h 939"/>
                <a:gd name="T18" fmla="*/ 742 w 1010"/>
                <a:gd name="T19" fmla="*/ 258 h 939"/>
                <a:gd name="T20" fmla="*/ 631 w 1010"/>
                <a:gd name="T21" fmla="*/ 155 h 939"/>
                <a:gd name="T22" fmla="*/ 527 w 1010"/>
                <a:gd name="T23" fmla="*/ 139 h 939"/>
                <a:gd name="T24" fmla="*/ 410 w 1010"/>
                <a:gd name="T25" fmla="*/ 159 h 939"/>
                <a:gd name="T26" fmla="*/ 280 w 1010"/>
                <a:gd name="T27" fmla="*/ 291 h 939"/>
                <a:gd name="T28" fmla="*/ 248 w 1010"/>
                <a:gd name="T29" fmla="*/ 479 h 939"/>
                <a:gd name="T30" fmla="*/ 270 w 1010"/>
                <a:gd name="T31" fmla="*/ 636 h 939"/>
                <a:gd name="T32" fmla="*/ 400 w 1010"/>
                <a:gd name="T33" fmla="*/ 777 h 939"/>
                <a:gd name="T34" fmla="*/ 527 w 1010"/>
                <a:gd name="T35" fmla="*/ 801 h 939"/>
                <a:gd name="T36" fmla="*/ 637 w 1010"/>
                <a:gd name="T37" fmla="*/ 784 h 939"/>
                <a:gd name="T38" fmla="*/ 741 w 1010"/>
                <a:gd name="T39" fmla="*/ 691 h 939"/>
                <a:gd name="T40" fmla="*/ 760 w 1010"/>
                <a:gd name="T41" fmla="*/ 595 h 939"/>
                <a:gd name="T42" fmla="*/ 1010 w 1010"/>
                <a:gd name="T43" fmla="*/ 595 h 939"/>
                <a:gd name="T44" fmla="*/ 998 w 1010"/>
                <a:gd name="T45" fmla="*/ 680 h 939"/>
                <a:gd name="T46" fmla="*/ 832 w 1010"/>
                <a:gd name="T47" fmla="*/ 877 h 939"/>
                <a:gd name="T48" fmla="*/ 527 w 1010"/>
                <a:gd name="T49" fmla="*/ 939 h 939"/>
                <a:gd name="T50" fmla="*/ 287 w 1010"/>
                <a:gd name="T51" fmla="*/ 902 h 939"/>
                <a:gd name="T52" fmla="*/ 31 w 1010"/>
                <a:gd name="T53" fmla="*/ 670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10" h="939">
                  <a:moveTo>
                    <a:pt x="31" y="670"/>
                  </a:moveTo>
                  <a:cubicBezTo>
                    <a:pt x="11" y="609"/>
                    <a:pt x="0" y="546"/>
                    <a:pt x="0" y="479"/>
                  </a:cubicBezTo>
                  <a:cubicBezTo>
                    <a:pt x="0" y="385"/>
                    <a:pt x="16" y="294"/>
                    <a:pt x="61" y="218"/>
                  </a:cubicBezTo>
                  <a:cubicBezTo>
                    <a:pt x="107" y="140"/>
                    <a:pt x="179" y="80"/>
                    <a:pt x="265" y="48"/>
                  </a:cubicBezTo>
                  <a:cubicBezTo>
                    <a:pt x="347" y="17"/>
                    <a:pt x="435" y="0"/>
                    <a:pt x="527" y="0"/>
                  </a:cubicBezTo>
                  <a:cubicBezTo>
                    <a:pt x="634" y="0"/>
                    <a:pt x="734" y="24"/>
                    <a:pt x="826" y="63"/>
                  </a:cubicBezTo>
                  <a:cubicBezTo>
                    <a:pt x="912" y="100"/>
                    <a:pt x="976" y="177"/>
                    <a:pt x="995" y="270"/>
                  </a:cubicBezTo>
                  <a:cubicBezTo>
                    <a:pt x="999" y="288"/>
                    <a:pt x="1002" y="308"/>
                    <a:pt x="1004" y="327"/>
                  </a:cubicBezTo>
                  <a:cubicBezTo>
                    <a:pt x="755" y="327"/>
                    <a:pt x="755" y="327"/>
                    <a:pt x="755" y="327"/>
                  </a:cubicBezTo>
                  <a:cubicBezTo>
                    <a:pt x="754" y="303"/>
                    <a:pt x="750" y="279"/>
                    <a:pt x="742" y="258"/>
                  </a:cubicBezTo>
                  <a:cubicBezTo>
                    <a:pt x="723" y="209"/>
                    <a:pt x="682" y="170"/>
                    <a:pt x="631" y="155"/>
                  </a:cubicBezTo>
                  <a:cubicBezTo>
                    <a:pt x="598" y="144"/>
                    <a:pt x="563" y="139"/>
                    <a:pt x="527" y="139"/>
                  </a:cubicBezTo>
                  <a:cubicBezTo>
                    <a:pt x="486" y="139"/>
                    <a:pt x="447" y="146"/>
                    <a:pt x="410" y="159"/>
                  </a:cubicBezTo>
                  <a:cubicBezTo>
                    <a:pt x="349" y="181"/>
                    <a:pt x="302" y="230"/>
                    <a:pt x="280" y="291"/>
                  </a:cubicBezTo>
                  <a:cubicBezTo>
                    <a:pt x="260" y="349"/>
                    <a:pt x="248" y="413"/>
                    <a:pt x="248" y="479"/>
                  </a:cubicBezTo>
                  <a:cubicBezTo>
                    <a:pt x="248" y="534"/>
                    <a:pt x="257" y="586"/>
                    <a:pt x="270" y="636"/>
                  </a:cubicBezTo>
                  <a:cubicBezTo>
                    <a:pt x="289" y="701"/>
                    <a:pt x="337" y="753"/>
                    <a:pt x="400" y="777"/>
                  </a:cubicBezTo>
                  <a:cubicBezTo>
                    <a:pt x="440" y="792"/>
                    <a:pt x="482" y="801"/>
                    <a:pt x="527" y="801"/>
                  </a:cubicBezTo>
                  <a:cubicBezTo>
                    <a:pt x="566" y="801"/>
                    <a:pt x="602" y="795"/>
                    <a:pt x="637" y="784"/>
                  </a:cubicBezTo>
                  <a:cubicBezTo>
                    <a:pt x="683" y="769"/>
                    <a:pt x="721" y="735"/>
                    <a:pt x="741" y="691"/>
                  </a:cubicBezTo>
                  <a:cubicBezTo>
                    <a:pt x="754" y="662"/>
                    <a:pt x="760" y="629"/>
                    <a:pt x="760" y="595"/>
                  </a:cubicBezTo>
                  <a:cubicBezTo>
                    <a:pt x="1010" y="595"/>
                    <a:pt x="1010" y="595"/>
                    <a:pt x="1010" y="595"/>
                  </a:cubicBezTo>
                  <a:cubicBezTo>
                    <a:pt x="1008" y="624"/>
                    <a:pt x="1004" y="653"/>
                    <a:pt x="998" y="680"/>
                  </a:cubicBezTo>
                  <a:cubicBezTo>
                    <a:pt x="976" y="768"/>
                    <a:pt x="914" y="843"/>
                    <a:pt x="832" y="877"/>
                  </a:cubicBezTo>
                  <a:cubicBezTo>
                    <a:pt x="738" y="917"/>
                    <a:pt x="635" y="939"/>
                    <a:pt x="527" y="939"/>
                  </a:cubicBezTo>
                  <a:cubicBezTo>
                    <a:pt x="444" y="939"/>
                    <a:pt x="362" y="926"/>
                    <a:pt x="287" y="902"/>
                  </a:cubicBezTo>
                  <a:cubicBezTo>
                    <a:pt x="171" y="866"/>
                    <a:pt x="71" y="783"/>
                    <a:pt x="31" y="6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6" name="Freeform 60"/>
            <p:cNvSpPr>
              <a:spLocks/>
            </p:cNvSpPr>
            <p:nvPr userDrawn="1"/>
          </p:nvSpPr>
          <p:spPr bwMode="auto">
            <a:xfrm>
              <a:off x="7743893" y="-790900"/>
              <a:ext cx="40339" cy="104210"/>
            </a:xfrm>
            <a:custGeom>
              <a:avLst/>
              <a:gdLst>
                <a:gd name="T0" fmla="*/ 211 w 219"/>
                <a:gd name="T1" fmla="*/ 1 h 565"/>
                <a:gd name="T2" fmla="*/ 0 w 219"/>
                <a:gd name="T3" fmla="*/ 20 h 565"/>
                <a:gd name="T4" fmla="*/ 0 w 219"/>
                <a:gd name="T5" fmla="*/ 51 h 565"/>
                <a:gd name="T6" fmla="*/ 6 w 219"/>
                <a:gd name="T7" fmla="*/ 52 h 565"/>
                <a:gd name="T8" fmla="*/ 92 w 219"/>
                <a:gd name="T9" fmla="*/ 123 h 565"/>
                <a:gd name="T10" fmla="*/ 92 w 219"/>
                <a:gd name="T11" fmla="*/ 565 h 565"/>
                <a:gd name="T12" fmla="*/ 219 w 219"/>
                <a:gd name="T13" fmla="*/ 565 h 565"/>
                <a:gd name="T14" fmla="*/ 219 w 219"/>
                <a:gd name="T15" fmla="*/ 0 h 565"/>
                <a:gd name="T16" fmla="*/ 211 w 219"/>
                <a:gd name="T17" fmla="*/ 1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9" h="565">
                  <a:moveTo>
                    <a:pt x="211" y="1"/>
                  </a:moveTo>
                  <a:cubicBezTo>
                    <a:pt x="0" y="20"/>
                    <a:pt x="0" y="20"/>
                    <a:pt x="0" y="20"/>
                  </a:cubicBezTo>
                  <a:cubicBezTo>
                    <a:pt x="0" y="51"/>
                    <a:pt x="0" y="51"/>
                    <a:pt x="0" y="51"/>
                  </a:cubicBezTo>
                  <a:cubicBezTo>
                    <a:pt x="6" y="52"/>
                    <a:pt x="6" y="52"/>
                    <a:pt x="6" y="52"/>
                  </a:cubicBezTo>
                  <a:cubicBezTo>
                    <a:pt x="92" y="62"/>
                    <a:pt x="92" y="62"/>
                    <a:pt x="92" y="123"/>
                  </a:cubicBezTo>
                  <a:cubicBezTo>
                    <a:pt x="92" y="565"/>
                    <a:pt x="92" y="565"/>
                    <a:pt x="92" y="565"/>
                  </a:cubicBezTo>
                  <a:cubicBezTo>
                    <a:pt x="219" y="565"/>
                    <a:pt x="219" y="565"/>
                    <a:pt x="219" y="565"/>
                  </a:cubicBezTo>
                  <a:cubicBezTo>
                    <a:pt x="219" y="0"/>
                    <a:pt x="219" y="0"/>
                    <a:pt x="219" y="0"/>
                  </a:cubicBezTo>
                  <a:cubicBezTo>
                    <a:pt x="211" y="1"/>
                    <a:pt x="211" y="1"/>
                    <a:pt x="211"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7" name="Freeform 61"/>
            <p:cNvSpPr>
              <a:spLocks/>
            </p:cNvSpPr>
            <p:nvPr userDrawn="1"/>
          </p:nvSpPr>
          <p:spPr bwMode="auto">
            <a:xfrm>
              <a:off x="7804401" y="-758964"/>
              <a:ext cx="82360" cy="72275"/>
            </a:xfrm>
            <a:custGeom>
              <a:avLst/>
              <a:gdLst>
                <a:gd name="T0" fmla="*/ 328 w 446"/>
                <a:gd name="T1" fmla="*/ 1 h 398"/>
                <a:gd name="T2" fmla="*/ 180 w 446"/>
                <a:gd name="T3" fmla="*/ 87 h 398"/>
                <a:gd name="T4" fmla="*/ 180 w 446"/>
                <a:gd name="T5" fmla="*/ 0 h 398"/>
                <a:gd name="T6" fmla="*/ 172 w 446"/>
                <a:gd name="T7" fmla="*/ 1 h 398"/>
                <a:gd name="T8" fmla="*/ 0 w 446"/>
                <a:gd name="T9" fmla="*/ 28 h 398"/>
                <a:gd name="T10" fmla="*/ 0 w 446"/>
                <a:gd name="T11" fmla="*/ 58 h 398"/>
                <a:gd name="T12" fmla="*/ 8 w 446"/>
                <a:gd name="T13" fmla="*/ 58 h 398"/>
                <a:gd name="T14" fmla="*/ 74 w 446"/>
                <a:gd name="T15" fmla="*/ 122 h 398"/>
                <a:gd name="T16" fmla="*/ 74 w 446"/>
                <a:gd name="T17" fmla="*/ 398 h 398"/>
                <a:gd name="T18" fmla="*/ 180 w 446"/>
                <a:gd name="T19" fmla="*/ 398 h 398"/>
                <a:gd name="T20" fmla="*/ 180 w 446"/>
                <a:gd name="T21" fmla="*/ 195 h 398"/>
                <a:gd name="T22" fmla="*/ 285 w 446"/>
                <a:gd name="T23" fmla="*/ 71 h 398"/>
                <a:gd name="T24" fmla="*/ 339 w 446"/>
                <a:gd name="T25" fmla="*/ 183 h 398"/>
                <a:gd name="T26" fmla="*/ 339 w 446"/>
                <a:gd name="T27" fmla="*/ 398 h 398"/>
                <a:gd name="T28" fmla="*/ 446 w 446"/>
                <a:gd name="T29" fmla="*/ 398 h 398"/>
                <a:gd name="T30" fmla="*/ 446 w 446"/>
                <a:gd name="T31" fmla="*/ 122 h 398"/>
                <a:gd name="T32" fmla="*/ 328 w 446"/>
                <a:gd name="T33" fmla="*/ 1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6" h="398">
                  <a:moveTo>
                    <a:pt x="328" y="1"/>
                  </a:moveTo>
                  <a:cubicBezTo>
                    <a:pt x="249" y="1"/>
                    <a:pt x="202" y="54"/>
                    <a:pt x="180" y="87"/>
                  </a:cubicBezTo>
                  <a:cubicBezTo>
                    <a:pt x="180" y="58"/>
                    <a:pt x="180" y="0"/>
                    <a:pt x="180" y="0"/>
                  </a:cubicBezTo>
                  <a:cubicBezTo>
                    <a:pt x="172" y="1"/>
                    <a:pt x="172" y="1"/>
                    <a:pt x="172" y="1"/>
                  </a:cubicBezTo>
                  <a:cubicBezTo>
                    <a:pt x="0" y="28"/>
                    <a:pt x="0" y="28"/>
                    <a:pt x="0" y="28"/>
                  </a:cubicBezTo>
                  <a:cubicBezTo>
                    <a:pt x="0" y="58"/>
                    <a:pt x="0" y="58"/>
                    <a:pt x="0" y="58"/>
                  </a:cubicBezTo>
                  <a:cubicBezTo>
                    <a:pt x="8" y="58"/>
                    <a:pt x="8" y="58"/>
                    <a:pt x="8" y="58"/>
                  </a:cubicBezTo>
                  <a:cubicBezTo>
                    <a:pt x="62" y="60"/>
                    <a:pt x="74" y="71"/>
                    <a:pt x="74" y="122"/>
                  </a:cubicBezTo>
                  <a:cubicBezTo>
                    <a:pt x="74" y="398"/>
                    <a:pt x="74" y="398"/>
                    <a:pt x="74" y="398"/>
                  </a:cubicBezTo>
                  <a:cubicBezTo>
                    <a:pt x="180" y="398"/>
                    <a:pt x="180" y="398"/>
                    <a:pt x="180" y="398"/>
                  </a:cubicBezTo>
                  <a:cubicBezTo>
                    <a:pt x="180" y="195"/>
                    <a:pt x="180" y="195"/>
                    <a:pt x="180" y="195"/>
                  </a:cubicBezTo>
                  <a:cubicBezTo>
                    <a:pt x="180" y="141"/>
                    <a:pt x="232" y="71"/>
                    <a:pt x="285" y="71"/>
                  </a:cubicBezTo>
                  <a:cubicBezTo>
                    <a:pt x="337" y="71"/>
                    <a:pt x="339" y="113"/>
                    <a:pt x="339" y="183"/>
                  </a:cubicBezTo>
                  <a:cubicBezTo>
                    <a:pt x="339" y="398"/>
                    <a:pt x="339" y="398"/>
                    <a:pt x="339" y="398"/>
                  </a:cubicBezTo>
                  <a:cubicBezTo>
                    <a:pt x="446" y="398"/>
                    <a:pt x="446" y="398"/>
                    <a:pt x="446" y="398"/>
                  </a:cubicBezTo>
                  <a:cubicBezTo>
                    <a:pt x="446" y="122"/>
                    <a:pt x="446" y="122"/>
                    <a:pt x="446" y="122"/>
                  </a:cubicBezTo>
                  <a:cubicBezTo>
                    <a:pt x="446" y="44"/>
                    <a:pt x="404" y="1"/>
                    <a:pt x="328"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8" name="Freeform 62"/>
            <p:cNvSpPr>
              <a:spLocks/>
            </p:cNvSpPr>
            <p:nvPr userDrawn="1"/>
          </p:nvSpPr>
          <p:spPr bwMode="auto">
            <a:xfrm>
              <a:off x="7910291" y="-758964"/>
              <a:ext cx="53786" cy="73955"/>
            </a:xfrm>
            <a:custGeom>
              <a:avLst/>
              <a:gdLst>
                <a:gd name="T0" fmla="*/ 175 w 298"/>
                <a:gd name="T1" fmla="*/ 155 h 407"/>
                <a:gd name="T2" fmla="*/ 97 w 298"/>
                <a:gd name="T3" fmla="*/ 87 h 407"/>
                <a:gd name="T4" fmla="*/ 154 w 298"/>
                <a:gd name="T5" fmla="*/ 50 h 407"/>
                <a:gd name="T6" fmla="*/ 254 w 298"/>
                <a:gd name="T7" fmla="*/ 85 h 407"/>
                <a:gd name="T8" fmla="*/ 270 w 298"/>
                <a:gd name="T9" fmla="*/ 95 h 407"/>
                <a:gd name="T10" fmla="*/ 270 w 298"/>
                <a:gd name="T11" fmla="*/ 15 h 407"/>
                <a:gd name="T12" fmla="*/ 257 w 298"/>
                <a:gd name="T13" fmla="*/ 12 h 407"/>
                <a:gd name="T14" fmla="*/ 160 w 298"/>
                <a:gd name="T15" fmla="*/ 0 h 407"/>
                <a:gd name="T16" fmla="*/ 0 w 298"/>
                <a:gd name="T17" fmla="*/ 115 h 407"/>
                <a:gd name="T18" fmla="*/ 117 w 298"/>
                <a:gd name="T19" fmla="*/ 238 h 407"/>
                <a:gd name="T20" fmla="*/ 200 w 298"/>
                <a:gd name="T21" fmla="*/ 310 h 407"/>
                <a:gd name="T22" fmla="*/ 129 w 298"/>
                <a:gd name="T23" fmla="*/ 356 h 407"/>
                <a:gd name="T24" fmla="*/ 12 w 298"/>
                <a:gd name="T25" fmla="*/ 315 h 407"/>
                <a:gd name="T26" fmla="*/ 0 w 298"/>
                <a:gd name="T27" fmla="*/ 308 h 407"/>
                <a:gd name="T28" fmla="*/ 0 w 298"/>
                <a:gd name="T29" fmla="*/ 391 h 407"/>
                <a:gd name="T30" fmla="*/ 8 w 298"/>
                <a:gd name="T31" fmla="*/ 392 h 407"/>
                <a:gd name="T32" fmla="*/ 125 w 298"/>
                <a:gd name="T33" fmla="*/ 407 h 407"/>
                <a:gd name="T34" fmla="*/ 298 w 298"/>
                <a:gd name="T35" fmla="*/ 288 h 407"/>
                <a:gd name="T36" fmla="*/ 175 w 298"/>
                <a:gd name="T37" fmla="*/ 155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407">
                  <a:moveTo>
                    <a:pt x="175" y="155"/>
                  </a:moveTo>
                  <a:cubicBezTo>
                    <a:pt x="133" y="134"/>
                    <a:pt x="97" y="116"/>
                    <a:pt x="97" y="87"/>
                  </a:cubicBezTo>
                  <a:cubicBezTo>
                    <a:pt x="97" y="54"/>
                    <a:pt x="137" y="50"/>
                    <a:pt x="154" y="50"/>
                  </a:cubicBezTo>
                  <a:cubicBezTo>
                    <a:pt x="198" y="50"/>
                    <a:pt x="237" y="74"/>
                    <a:pt x="254" y="85"/>
                  </a:cubicBezTo>
                  <a:cubicBezTo>
                    <a:pt x="270" y="95"/>
                    <a:pt x="270" y="95"/>
                    <a:pt x="270" y="95"/>
                  </a:cubicBezTo>
                  <a:cubicBezTo>
                    <a:pt x="270" y="15"/>
                    <a:pt x="270" y="15"/>
                    <a:pt x="270" y="15"/>
                  </a:cubicBezTo>
                  <a:cubicBezTo>
                    <a:pt x="257" y="12"/>
                    <a:pt x="257" y="12"/>
                    <a:pt x="257" y="12"/>
                  </a:cubicBezTo>
                  <a:cubicBezTo>
                    <a:pt x="238" y="8"/>
                    <a:pt x="201" y="0"/>
                    <a:pt x="160" y="0"/>
                  </a:cubicBezTo>
                  <a:cubicBezTo>
                    <a:pt x="60" y="0"/>
                    <a:pt x="0" y="43"/>
                    <a:pt x="0" y="115"/>
                  </a:cubicBezTo>
                  <a:cubicBezTo>
                    <a:pt x="0" y="180"/>
                    <a:pt x="62" y="211"/>
                    <a:pt x="117" y="238"/>
                  </a:cubicBezTo>
                  <a:cubicBezTo>
                    <a:pt x="160" y="259"/>
                    <a:pt x="200" y="278"/>
                    <a:pt x="200" y="310"/>
                  </a:cubicBezTo>
                  <a:cubicBezTo>
                    <a:pt x="200" y="339"/>
                    <a:pt x="174" y="356"/>
                    <a:pt x="129" y="356"/>
                  </a:cubicBezTo>
                  <a:cubicBezTo>
                    <a:pt x="79" y="356"/>
                    <a:pt x="37" y="330"/>
                    <a:pt x="12" y="315"/>
                  </a:cubicBezTo>
                  <a:cubicBezTo>
                    <a:pt x="0" y="308"/>
                    <a:pt x="0" y="308"/>
                    <a:pt x="0" y="308"/>
                  </a:cubicBezTo>
                  <a:cubicBezTo>
                    <a:pt x="0" y="391"/>
                    <a:pt x="0" y="391"/>
                    <a:pt x="0" y="391"/>
                  </a:cubicBezTo>
                  <a:cubicBezTo>
                    <a:pt x="8" y="392"/>
                    <a:pt x="8" y="392"/>
                    <a:pt x="8" y="392"/>
                  </a:cubicBezTo>
                  <a:cubicBezTo>
                    <a:pt x="30" y="397"/>
                    <a:pt x="70" y="407"/>
                    <a:pt x="125" y="407"/>
                  </a:cubicBezTo>
                  <a:cubicBezTo>
                    <a:pt x="233" y="407"/>
                    <a:pt x="298" y="362"/>
                    <a:pt x="298" y="288"/>
                  </a:cubicBezTo>
                  <a:cubicBezTo>
                    <a:pt x="298" y="215"/>
                    <a:pt x="233" y="183"/>
                    <a:pt x="17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9" name="Freeform 63"/>
            <p:cNvSpPr>
              <a:spLocks noEditPoints="1"/>
            </p:cNvSpPr>
            <p:nvPr userDrawn="1"/>
          </p:nvSpPr>
          <p:spPr bwMode="auto">
            <a:xfrm>
              <a:off x="7974162" y="-758964"/>
              <a:ext cx="84040" cy="102529"/>
            </a:xfrm>
            <a:custGeom>
              <a:avLst/>
              <a:gdLst>
                <a:gd name="T0" fmla="*/ 292 w 459"/>
                <a:gd name="T1" fmla="*/ 1 h 563"/>
                <a:gd name="T2" fmla="*/ 179 w 459"/>
                <a:gd name="T3" fmla="*/ 56 h 563"/>
                <a:gd name="T4" fmla="*/ 179 w 459"/>
                <a:gd name="T5" fmla="*/ 0 h 563"/>
                <a:gd name="T6" fmla="*/ 170 w 459"/>
                <a:gd name="T7" fmla="*/ 1 h 563"/>
                <a:gd name="T8" fmla="*/ 0 w 459"/>
                <a:gd name="T9" fmla="*/ 28 h 563"/>
                <a:gd name="T10" fmla="*/ 0 w 459"/>
                <a:gd name="T11" fmla="*/ 58 h 563"/>
                <a:gd name="T12" fmla="*/ 8 w 459"/>
                <a:gd name="T13" fmla="*/ 58 h 563"/>
                <a:gd name="T14" fmla="*/ 71 w 459"/>
                <a:gd name="T15" fmla="*/ 122 h 563"/>
                <a:gd name="T16" fmla="*/ 71 w 459"/>
                <a:gd name="T17" fmla="*/ 563 h 563"/>
                <a:gd name="T18" fmla="*/ 178 w 459"/>
                <a:gd name="T19" fmla="*/ 563 h 563"/>
                <a:gd name="T20" fmla="*/ 178 w 459"/>
                <a:gd name="T21" fmla="*/ 362 h 563"/>
                <a:gd name="T22" fmla="*/ 288 w 459"/>
                <a:gd name="T23" fmla="*/ 408 h 563"/>
                <a:gd name="T24" fmla="*/ 459 w 459"/>
                <a:gd name="T25" fmla="*/ 198 h 563"/>
                <a:gd name="T26" fmla="*/ 292 w 459"/>
                <a:gd name="T27" fmla="*/ 1 h 563"/>
                <a:gd name="T28" fmla="*/ 261 w 459"/>
                <a:gd name="T29" fmla="*/ 60 h 563"/>
                <a:gd name="T30" fmla="*/ 343 w 459"/>
                <a:gd name="T31" fmla="*/ 198 h 563"/>
                <a:gd name="T32" fmla="*/ 262 w 459"/>
                <a:gd name="T33" fmla="*/ 349 h 563"/>
                <a:gd name="T34" fmla="*/ 178 w 459"/>
                <a:gd name="T35" fmla="*/ 230 h 563"/>
                <a:gd name="T36" fmla="*/ 178 w 459"/>
                <a:gd name="T37" fmla="*/ 196 h 563"/>
                <a:gd name="T38" fmla="*/ 261 w 459"/>
                <a:gd name="T39" fmla="*/ 60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9" h="563">
                  <a:moveTo>
                    <a:pt x="292" y="1"/>
                  </a:moveTo>
                  <a:cubicBezTo>
                    <a:pt x="252" y="1"/>
                    <a:pt x="214" y="20"/>
                    <a:pt x="179" y="56"/>
                  </a:cubicBezTo>
                  <a:cubicBezTo>
                    <a:pt x="179" y="37"/>
                    <a:pt x="179" y="0"/>
                    <a:pt x="179" y="0"/>
                  </a:cubicBezTo>
                  <a:cubicBezTo>
                    <a:pt x="170" y="1"/>
                    <a:pt x="170" y="1"/>
                    <a:pt x="170" y="1"/>
                  </a:cubicBezTo>
                  <a:cubicBezTo>
                    <a:pt x="0" y="28"/>
                    <a:pt x="0" y="28"/>
                    <a:pt x="0" y="28"/>
                  </a:cubicBezTo>
                  <a:cubicBezTo>
                    <a:pt x="0" y="58"/>
                    <a:pt x="0" y="58"/>
                    <a:pt x="0" y="58"/>
                  </a:cubicBezTo>
                  <a:cubicBezTo>
                    <a:pt x="8" y="58"/>
                    <a:pt x="8" y="58"/>
                    <a:pt x="8" y="58"/>
                  </a:cubicBezTo>
                  <a:cubicBezTo>
                    <a:pt x="61" y="60"/>
                    <a:pt x="71" y="70"/>
                    <a:pt x="71" y="122"/>
                  </a:cubicBezTo>
                  <a:cubicBezTo>
                    <a:pt x="71" y="563"/>
                    <a:pt x="71" y="563"/>
                    <a:pt x="71" y="563"/>
                  </a:cubicBezTo>
                  <a:cubicBezTo>
                    <a:pt x="178" y="563"/>
                    <a:pt x="178" y="563"/>
                    <a:pt x="178" y="563"/>
                  </a:cubicBezTo>
                  <a:cubicBezTo>
                    <a:pt x="178" y="563"/>
                    <a:pt x="178" y="395"/>
                    <a:pt x="178" y="362"/>
                  </a:cubicBezTo>
                  <a:cubicBezTo>
                    <a:pt x="198" y="386"/>
                    <a:pt x="229" y="408"/>
                    <a:pt x="288" y="408"/>
                  </a:cubicBezTo>
                  <a:cubicBezTo>
                    <a:pt x="400" y="408"/>
                    <a:pt x="459" y="335"/>
                    <a:pt x="459" y="198"/>
                  </a:cubicBezTo>
                  <a:cubicBezTo>
                    <a:pt x="459" y="73"/>
                    <a:pt x="398" y="1"/>
                    <a:pt x="292" y="1"/>
                  </a:cubicBezTo>
                  <a:moveTo>
                    <a:pt x="261" y="60"/>
                  </a:moveTo>
                  <a:cubicBezTo>
                    <a:pt x="334" y="60"/>
                    <a:pt x="343" y="139"/>
                    <a:pt x="343" y="198"/>
                  </a:cubicBezTo>
                  <a:cubicBezTo>
                    <a:pt x="343" y="300"/>
                    <a:pt x="317" y="349"/>
                    <a:pt x="262" y="349"/>
                  </a:cubicBezTo>
                  <a:cubicBezTo>
                    <a:pt x="193" y="349"/>
                    <a:pt x="178" y="284"/>
                    <a:pt x="178" y="230"/>
                  </a:cubicBezTo>
                  <a:cubicBezTo>
                    <a:pt x="178" y="196"/>
                    <a:pt x="178" y="196"/>
                    <a:pt x="178" y="196"/>
                  </a:cubicBezTo>
                  <a:cubicBezTo>
                    <a:pt x="178" y="155"/>
                    <a:pt x="186" y="60"/>
                    <a:pt x="26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0" name="Freeform 64"/>
            <p:cNvSpPr>
              <a:spLocks/>
            </p:cNvSpPr>
            <p:nvPr userDrawn="1"/>
          </p:nvSpPr>
          <p:spPr bwMode="auto">
            <a:xfrm>
              <a:off x="8071648" y="-758964"/>
              <a:ext cx="33616" cy="72275"/>
            </a:xfrm>
            <a:custGeom>
              <a:avLst/>
              <a:gdLst>
                <a:gd name="T0" fmla="*/ 0 w 178"/>
                <a:gd name="T1" fmla="*/ 28 h 398"/>
                <a:gd name="T2" fmla="*/ 0 w 178"/>
                <a:gd name="T3" fmla="*/ 58 h 398"/>
                <a:gd name="T4" fmla="*/ 8 w 178"/>
                <a:gd name="T5" fmla="*/ 58 h 398"/>
                <a:gd name="T6" fmla="*/ 71 w 178"/>
                <a:gd name="T7" fmla="*/ 122 h 398"/>
                <a:gd name="T8" fmla="*/ 71 w 178"/>
                <a:gd name="T9" fmla="*/ 398 h 398"/>
                <a:gd name="T10" fmla="*/ 178 w 178"/>
                <a:gd name="T11" fmla="*/ 398 h 398"/>
                <a:gd name="T12" fmla="*/ 178 w 178"/>
                <a:gd name="T13" fmla="*/ 0 h 398"/>
                <a:gd name="T14" fmla="*/ 169 w 178"/>
                <a:gd name="T15" fmla="*/ 1 h 398"/>
                <a:gd name="T16" fmla="*/ 0 w 178"/>
                <a:gd name="T17" fmla="*/ 2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398">
                  <a:moveTo>
                    <a:pt x="0" y="28"/>
                  </a:moveTo>
                  <a:cubicBezTo>
                    <a:pt x="0" y="58"/>
                    <a:pt x="0" y="58"/>
                    <a:pt x="0" y="58"/>
                  </a:cubicBezTo>
                  <a:cubicBezTo>
                    <a:pt x="8" y="58"/>
                    <a:pt x="8" y="58"/>
                    <a:pt x="8" y="58"/>
                  </a:cubicBezTo>
                  <a:cubicBezTo>
                    <a:pt x="60" y="60"/>
                    <a:pt x="71" y="70"/>
                    <a:pt x="71" y="122"/>
                  </a:cubicBezTo>
                  <a:cubicBezTo>
                    <a:pt x="71" y="398"/>
                    <a:pt x="71" y="398"/>
                    <a:pt x="71" y="398"/>
                  </a:cubicBezTo>
                  <a:cubicBezTo>
                    <a:pt x="178" y="398"/>
                    <a:pt x="178" y="398"/>
                    <a:pt x="178" y="398"/>
                  </a:cubicBezTo>
                  <a:cubicBezTo>
                    <a:pt x="178" y="0"/>
                    <a:pt x="178" y="0"/>
                    <a:pt x="178" y="0"/>
                  </a:cubicBezTo>
                  <a:cubicBezTo>
                    <a:pt x="169" y="1"/>
                    <a:pt x="169" y="1"/>
                    <a:pt x="169" y="1"/>
                  </a:cubicBezTo>
                  <a:cubicBezTo>
                    <a:pt x="0" y="28"/>
                    <a:pt x="0" y="28"/>
                    <a:pt x="0" y="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1" name="Freeform 65"/>
            <p:cNvSpPr>
              <a:spLocks/>
            </p:cNvSpPr>
            <p:nvPr userDrawn="1"/>
          </p:nvSpPr>
          <p:spPr bwMode="auto">
            <a:xfrm>
              <a:off x="8083415" y="-789219"/>
              <a:ext cx="23531" cy="20170"/>
            </a:xfrm>
            <a:custGeom>
              <a:avLst/>
              <a:gdLst>
                <a:gd name="T0" fmla="*/ 64 w 132"/>
                <a:gd name="T1" fmla="*/ 116 h 116"/>
                <a:gd name="T2" fmla="*/ 132 w 132"/>
                <a:gd name="T3" fmla="*/ 57 h 116"/>
                <a:gd name="T4" fmla="*/ 65 w 132"/>
                <a:gd name="T5" fmla="*/ 0 h 116"/>
                <a:gd name="T6" fmla="*/ 0 w 132"/>
                <a:gd name="T7" fmla="*/ 57 h 116"/>
                <a:gd name="T8" fmla="*/ 64 w 132"/>
                <a:gd name="T9" fmla="*/ 116 h 116"/>
              </a:gdLst>
              <a:ahLst/>
              <a:cxnLst>
                <a:cxn ang="0">
                  <a:pos x="T0" y="T1"/>
                </a:cxn>
                <a:cxn ang="0">
                  <a:pos x="T2" y="T3"/>
                </a:cxn>
                <a:cxn ang="0">
                  <a:pos x="T4" y="T5"/>
                </a:cxn>
                <a:cxn ang="0">
                  <a:pos x="T6" y="T7"/>
                </a:cxn>
                <a:cxn ang="0">
                  <a:pos x="T8" y="T9"/>
                </a:cxn>
              </a:cxnLst>
              <a:rect l="0" t="0" r="r" b="b"/>
              <a:pathLst>
                <a:path w="132" h="116">
                  <a:moveTo>
                    <a:pt x="64" y="116"/>
                  </a:moveTo>
                  <a:cubicBezTo>
                    <a:pt x="102" y="116"/>
                    <a:pt x="132" y="89"/>
                    <a:pt x="132" y="57"/>
                  </a:cubicBezTo>
                  <a:cubicBezTo>
                    <a:pt x="132" y="26"/>
                    <a:pt x="102" y="0"/>
                    <a:pt x="65" y="0"/>
                  </a:cubicBezTo>
                  <a:cubicBezTo>
                    <a:pt x="29" y="0"/>
                    <a:pt x="0" y="26"/>
                    <a:pt x="0" y="57"/>
                  </a:cubicBezTo>
                  <a:cubicBezTo>
                    <a:pt x="0" y="89"/>
                    <a:pt x="29" y="116"/>
                    <a:pt x="64" y="11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2" name="Freeform 66"/>
            <p:cNvSpPr>
              <a:spLocks/>
            </p:cNvSpPr>
            <p:nvPr userDrawn="1"/>
          </p:nvSpPr>
          <p:spPr bwMode="auto">
            <a:xfrm>
              <a:off x="8123754" y="-758964"/>
              <a:ext cx="63870" cy="72275"/>
            </a:xfrm>
            <a:custGeom>
              <a:avLst/>
              <a:gdLst>
                <a:gd name="T0" fmla="*/ 345 w 345"/>
                <a:gd name="T1" fmla="*/ 89 h 398"/>
                <a:gd name="T2" fmla="*/ 345 w 345"/>
                <a:gd name="T3" fmla="*/ 6 h 398"/>
                <a:gd name="T4" fmla="*/ 339 w 345"/>
                <a:gd name="T5" fmla="*/ 5 h 398"/>
                <a:gd name="T6" fmla="*/ 288 w 345"/>
                <a:gd name="T7" fmla="*/ 1 h 398"/>
                <a:gd name="T8" fmla="*/ 179 w 345"/>
                <a:gd name="T9" fmla="*/ 80 h 398"/>
                <a:gd name="T10" fmla="*/ 179 w 345"/>
                <a:gd name="T11" fmla="*/ 0 h 398"/>
                <a:gd name="T12" fmla="*/ 170 w 345"/>
                <a:gd name="T13" fmla="*/ 1 h 398"/>
                <a:gd name="T14" fmla="*/ 0 w 345"/>
                <a:gd name="T15" fmla="*/ 28 h 398"/>
                <a:gd name="T16" fmla="*/ 0 w 345"/>
                <a:gd name="T17" fmla="*/ 58 h 398"/>
                <a:gd name="T18" fmla="*/ 7 w 345"/>
                <a:gd name="T19" fmla="*/ 58 h 398"/>
                <a:gd name="T20" fmla="*/ 72 w 345"/>
                <a:gd name="T21" fmla="*/ 122 h 398"/>
                <a:gd name="T22" fmla="*/ 72 w 345"/>
                <a:gd name="T23" fmla="*/ 398 h 398"/>
                <a:gd name="T24" fmla="*/ 179 w 345"/>
                <a:gd name="T25" fmla="*/ 398 h 398"/>
                <a:gd name="T26" fmla="*/ 179 w 345"/>
                <a:gd name="T27" fmla="*/ 199 h 398"/>
                <a:gd name="T28" fmla="*/ 291 w 345"/>
                <a:gd name="T29" fmla="*/ 87 h 398"/>
                <a:gd name="T30" fmla="*/ 328 w 345"/>
                <a:gd name="T31" fmla="*/ 94 h 398"/>
                <a:gd name="T32" fmla="*/ 345 w 345"/>
                <a:gd name="T33" fmla="*/ 99 h 398"/>
                <a:gd name="T34" fmla="*/ 345 w 345"/>
                <a:gd name="T35" fmla="*/ 89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5" h="398">
                  <a:moveTo>
                    <a:pt x="345" y="89"/>
                  </a:moveTo>
                  <a:cubicBezTo>
                    <a:pt x="345" y="6"/>
                    <a:pt x="345" y="6"/>
                    <a:pt x="345" y="6"/>
                  </a:cubicBezTo>
                  <a:cubicBezTo>
                    <a:pt x="339" y="5"/>
                    <a:pt x="339" y="5"/>
                    <a:pt x="339" y="5"/>
                  </a:cubicBezTo>
                  <a:cubicBezTo>
                    <a:pt x="321" y="2"/>
                    <a:pt x="304" y="1"/>
                    <a:pt x="288" y="1"/>
                  </a:cubicBezTo>
                  <a:cubicBezTo>
                    <a:pt x="228" y="1"/>
                    <a:pt x="196" y="45"/>
                    <a:pt x="179" y="80"/>
                  </a:cubicBezTo>
                  <a:cubicBezTo>
                    <a:pt x="179" y="48"/>
                    <a:pt x="179" y="0"/>
                    <a:pt x="179" y="0"/>
                  </a:cubicBezTo>
                  <a:cubicBezTo>
                    <a:pt x="170" y="1"/>
                    <a:pt x="170" y="1"/>
                    <a:pt x="170" y="1"/>
                  </a:cubicBezTo>
                  <a:cubicBezTo>
                    <a:pt x="0" y="28"/>
                    <a:pt x="0" y="28"/>
                    <a:pt x="0" y="28"/>
                  </a:cubicBezTo>
                  <a:cubicBezTo>
                    <a:pt x="0" y="58"/>
                    <a:pt x="0" y="58"/>
                    <a:pt x="0" y="58"/>
                  </a:cubicBezTo>
                  <a:cubicBezTo>
                    <a:pt x="7" y="58"/>
                    <a:pt x="7" y="58"/>
                    <a:pt x="7" y="58"/>
                  </a:cubicBezTo>
                  <a:cubicBezTo>
                    <a:pt x="61" y="60"/>
                    <a:pt x="72" y="70"/>
                    <a:pt x="72" y="122"/>
                  </a:cubicBezTo>
                  <a:cubicBezTo>
                    <a:pt x="72" y="398"/>
                    <a:pt x="72" y="398"/>
                    <a:pt x="72" y="398"/>
                  </a:cubicBezTo>
                  <a:cubicBezTo>
                    <a:pt x="179" y="398"/>
                    <a:pt x="179" y="398"/>
                    <a:pt x="179" y="398"/>
                  </a:cubicBezTo>
                  <a:cubicBezTo>
                    <a:pt x="179" y="199"/>
                    <a:pt x="179" y="199"/>
                    <a:pt x="179" y="199"/>
                  </a:cubicBezTo>
                  <a:cubicBezTo>
                    <a:pt x="179" y="165"/>
                    <a:pt x="190" y="87"/>
                    <a:pt x="291" y="87"/>
                  </a:cubicBezTo>
                  <a:cubicBezTo>
                    <a:pt x="302" y="87"/>
                    <a:pt x="315" y="91"/>
                    <a:pt x="328" y="94"/>
                  </a:cubicBezTo>
                  <a:cubicBezTo>
                    <a:pt x="345" y="99"/>
                    <a:pt x="345" y="99"/>
                    <a:pt x="345" y="99"/>
                  </a:cubicBezTo>
                  <a:cubicBezTo>
                    <a:pt x="345" y="89"/>
                    <a:pt x="345" y="89"/>
                    <a:pt x="345" y="8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3" name="Freeform 67"/>
            <p:cNvSpPr>
              <a:spLocks noEditPoints="1"/>
            </p:cNvSpPr>
            <p:nvPr userDrawn="1"/>
          </p:nvSpPr>
          <p:spPr bwMode="auto">
            <a:xfrm>
              <a:off x="8196028" y="-758964"/>
              <a:ext cx="68913" cy="73955"/>
            </a:xfrm>
            <a:custGeom>
              <a:avLst/>
              <a:gdLst>
                <a:gd name="T0" fmla="*/ 377 w 377"/>
                <a:gd name="T1" fmla="*/ 161 h 407"/>
                <a:gd name="T2" fmla="*/ 200 w 377"/>
                <a:gd name="T3" fmla="*/ 0 h 407"/>
                <a:gd name="T4" fmla="*/ 0 w 377"/>
                <a:gd name="T5" fmla="*/ 190 h 407"/>
                <a:gd name="T6" fmla="*/ 232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6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7"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2" y="348"/>
                    <a:pt x="119" y="253"/>
                    <a:pt x="116" y="169"/>
                  </a:cubicBezTo>
                  <a:cubicBezTo>
                    <a:pt x="131" y="169"/>
                    <a:pt x="377" y="169"/>
                    <a:pt x="377" y="169"/>
                  </a:cubicBezTo>
                  <a:cubicBezTo>
                    <a:pt x="377" y="161"/>
                    <a:pt x="377" y="161"/>
                    <a:pt x="377" y="161"/>
                  </a:cubicBezTo>
                  <a:moveTo>
                    <a:pt x="197" y="42"/>
                  </a:moveTo>
                  <a:cubicBezTo>
                    <a:pt x="254" y="42"/>
                    <a:pt x="269" y="84"/>
                    <a:pt x="270" y="122"/>
                  </a:cubicBezTo>
                  <a:cubicBezTo>
                    <a:pt x="257" y="122"/>
                    <a:pt x="131" y="122"/>
                    <a:pt x="117" y="122"/>
                  </a:cubicBezTo>
                  <a:cubicBezTo>
                    <a:pt x="120"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4" name="Freeform 68"/>
            <p:cNvSpPr>
              <a:spLocks/>
            </p:cNvSpPr>
            <p:nvPr userDrawn="1"/>
          </p:nvSpPr>
          <p:spPr bwMode="auto">
            <a:xfrm>
              <a:off x="8384278" y="-792580"/>
              <a:ext cx="80678" cy="105891"/>
            </a:xfrm>
            <a:custGeom>
              <a:avLst/>
              <a:gdLst>
                <a:gd name="T0" fmla="*/ 325 w 445"/>
                <a:gd name="T1" fmla="*/ 181 h 578"/>
                <a:gd name="T2" fmla="*/ 178 w 445"/>
                <a:gd name="T3" fmla="*/ 266 h 578"/>
                <a:gd name="T4" fmla="*/ 178 w 445"/>
                <a:gd name="T5" fmla="*/ 0 h 578"/>
                <a:gd name="T6" fmla="*/ 170 w 445"/>
                <a:gd name="T7" fmla="*/ 1 h 578"/>
                <a:gd name="T8" fmla="*/ 0 w 445"/>
                <a:gd name="T9" fmla="*/ 22 h 578"/>
                <a:gd name="T10" fmla="*/ 0 w 445"/>
                <a:gd name="T11" fmla="*/ 52 h 578"/>
                <a:gd name="T12" fmla="*/ 8 w 445"/>
                <a:gd name="T13" fmla="*/ 52 h 578"/>
                <a:gd name="T14" fmla="*/ 72 w 445"/>
                <a:gd name="T15" fmla="*/ 118 h 578"/>
                <a:gd name="T16" fmla="*/ 72 w 445"/>
                <a:gd name="T17" fmla="*/ 578 h 578"/>
                <a:gd name="T18" fmla="*/ 178 w 445"/>
                <a:gd name="T19" fmla="*/ 578 h 578"/>
                <a:gd name="T20" fmla="*/ 178 w 445"/>
                <a:gd name="T21" fmla="*/ 380 h 578"/>
                <a:gd name="T22" fmla="*/ 279 w 445"/>
                <a:gd name="T23" fmla="*/ 251 h 578"/>
                <a:gd name="T24" fmla="*/ 339 w 445"/>
                <a:gd name="T25" fmla="*/ 335 h 578"/>
                <a:gd name="T26" fmla="*/ 339 w 445"/>
                <a:gd name="T27" fmla="*/ 578 h 578"/>
                <a:gd name="T28" fmla="*/ 445 w 445"/>
                <a:gd name="T29" fmla="*/ 578 h 578"/>
                <a:gd name="T30" fmla="*/ 445 w 445"/>
                <a:gd name="T31" fmla="*/ 323 h 578"/>
                <a:gd name="T32" fmla="*/ 325 w 445"/>
                <a:gd name="T33" fmla="*/ 18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5" h="578">
                  <a:moveTo>
                    <a:pt x="325" y="181"/>
                  </a:moveTo>
                  <a:cubicBezTo>
                    <a:pt x="246" y="181"/>
                    <a:pt x="201" y="230"/>
                    <a:pt x="178" y="266"/>
                  </a:cubicBezTo>
                  <a:cubicBezTo>
                    <a:pt x="178" y="223"/>
                    <a:pt x="178" y="0"/>
                    <a:pt x="178" y="0"/>
                  </a:cubicBezTo>
                  <a:cubicBezTo>
                    <a:pt x="170" y="1"/>
                    <a:pt x="170" y="1"/>
                    <a:pt x="170" y="1"/>
                  </a:cubicBezTo>
                  <a:cubicBezTo>
                    <a:pt x="0" y="22"/>
                    <a:pt x="0" y="22"/>
                    <a:pt x="0" y="22"/>
                  </a:cubicBezTo>
                  <a:cubicBezTo>
                    <a:pt x="0" y="52"/>
                    <a:pt x="0" y="52"/>
                    <a:pt x="0" y="52"/>
                  </a:cubicBezTo>
                  <a:cubicBezTo>
                    <a:pt x="8" y="52"/>
                    <a:pt x="8" y="52"/>
                    <a:pt x="8" y="52"/>
                  </a:cubicBezTo>
                  <a:cubicBezTo>
                    <a:pt x="60" y="54"/>
                    <a:pt x="72" y="66"/>
                    <a:pt x="72" y="118"/>
                  </a:cubicBezTo>
                  <a:cubicBezTo>
                    <a:pt x="72" y="578"/>
                    <a:pt x="72" y="578"/>
                    <a:pt x="72" y="578"/>
                  </a:cubicBezTo>
                  <a:cubicBezTo>
                    <a:pt x="178" y="578"/>
                    <a:pt x="178" y="578"/>
                    <a:pt x="178" y="578"/>
                  </a:cubicBezTo>
                  <a:cubicBezTo>
                    <a:pt x="178" y="380"/>
                    <a:pt x="178" y="380"/>
                    <a:pt x="178" y="380"/>
                  </a:cubicBezTo>
                  <a:cubicBezTo>
                    <a:pt x="178" y="307"/>
                    <a:pt x="233" y="251"/>
                    <a:pt x="279" y="251"/>
                  </a:cubicBezTo>
                  <a:cubicBezTo>
                    <a:pt x="339" y="251"/>
                    <a:pt x="339" y="296"/>
                    <a:pt x="339" y="335"/>
                  </a:cubicBezTo>
                  <a:cubicBezTo>
                    <a:pt x="339" y="578"/>
                    <a:pt x="339" y="578"/>
                    <a:pt x="339" y="578"/>
                  </a:cubicBezTo>
                  <a:cubicBezTo>
                    <a:pt x="445" y="578"/>
                    <a:pt x="445" y="578"/>
                    <a:pt x="445" y="578"/>
                  </a:cubicBezTo>
                  <a:cubicBezTo>
                    <a:pt x="445" y="323"/>
                    <a:pt x="445" y="323"/>
                    <a:pt x="445" y="323"/>
                  </a:cubicBezTo>
                  <a:cubicBezTo>
                    <a:pt x="445" y="280"/>
                    <a:pt x="445" y="181"/>
                    <a:pt x="325" y="18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5" name="Freeform 69"/>
            <p:cNvSpPr>
              <a:spLocks noEditPoints="1"/>
            </p:cNvSpPr>
            <p:nvPr userDrawn="1"/>
          </p:nvSpPr>
          <p:spPr bwMode="auto">
            <a:xfrm>
              <a:off x="8485126" y="-758964"/>
              <a:ext cx="68913" cy="73955"/>
            </a:xfrm>
            <a:custGeom>
              <a:avLst/>
              <a:gdLst>
                <a:gd name="T0" fmla="*/ 377 w 377"/>
                <a:gd name="T1" fmla="*/ 161 h 407"/>
                <a:gd name="T2" fmla="*/ 200 w 377"/>
                <a:gd name="T3" fmla="*/ 0 h 407"/>
                <a:gd name="T4" fmla="*/ 0 w 377"/>
                <a:gd name="T5" fmla="*/ 190 h 407"/>
                <a:gd name="T6" fmla="*/ 233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7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8" y="0"/>
                    <a:pt x="0" y="64"/>
                    <a:pt x="0" y="190"/>
                  </a:cubicBezTo>
                  <a:cubicBezTo>
                    <a:pt x="0" y="326"/>
                    <a:pt x="87" y="407"/>
                    <a:pt x="233"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1" y="348"/>
                    <a:pt x="119" y="253"/>
                    <a:pt x="117" y="169"/>
                  </a:cubicBezTo>
                  <a:cubicBezTo>
                    <a:pt x="131" y="169"/>
                    <a:pt x="377" y="169"/>
                    <a:pt x="377" y="169"/>
                  </a:cubicBezTo>
                  <a:cubicBezTo>
                    <a:pt x="377" y="161"/>
                    <a:pt x="377" y="161"/>
                    <a:pt x="377" y="161"/>
                  </a:cubicBezTo>
                  <a:moveTo>
                    <a:pt x="197" y="42"/>
                  </a:moveTo>
                  <a:cubicBezTo>
                    <a:pt x="254" y="42"/>
                    <a:pt x="268" y="84"/>
                    <a:pt x="270" y="122"/>
                  </a:cubicBezTo>
                  <a:cubicBezTo>
                    <a:pt x="256" y="122"/>
                    <a:pt x="130" y="122"/>
                    <a:pt x="117" y="122"/>
                  </a:cubicBezTo>
                  <a:cubicBezTo>
                    <a:pt x="119"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6" name="Freeform 70"/>
            <p:cNvSpPr>
              <a:spLocks/>
            </p:cNvSpPr>
            <p:nvPr userDrawn="1"/>
          </p:nvSpPr>
          <p:spPr bwMode="auto">
            <a:xfrm>
              <a:off x="8320407"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9"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2" y="468"/>
                    <a:pt x="178" y="449"/>
                    <a:pt x="178" y="394"/>
                  </a:cubicBezTo>
                  <a:cubicBezTo>
                    <a:pt x="178" y="394"/>
                    <a:pt x="178" y="182"/>
                    <a:pt x="178" y="168"/>
                  </a:cubicBezTo>
                  <a:cubicBezTo>
                    <a:pt x="192" y="168"/>
                    <a:pt x="298" y="168"/>
                    <a:pt x="298" y="168"/>
                  </a:cubicBezTo>
                  <a:cubicBezTo>
                    <a:pt x="298" y="121"/>
                    <a:pt x="298" y="121"/>
                    <a:pt x="298" y="121"/>
                  </a:cubicBezTo>
                  <a:cubicBezTo>
                    <a:pt x="298" y="121"/>
                    <a:pt x="192"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7" name="Freeform 71"/>
            <p:cNvSpPr>
              <a:spLocks/>
            </p:cNvSpPr>
            <p:nvPr userDrawn="1"/>
          </p:nvSpPr>
          <p:spPr bwMode="auto">
            <a:xfrm>
              <a:off x="8602782" y="-789219"/>
              <a:ext cx="117656" cy="102529"/>
            </a:xfrm>
            <a:custGeom>
              <a:avLst/>
              <a:gdLst>
                <a:gd name="T0" fmla="*/ 632 w 640"/>
                <a:gd name="T1" fmla="*/ 0 h 556"/>
                <a:gd name="T2" fmla="*/ 525 w 640"/>
                <a:gd name="T3" fmla="*/ 0 h 556"/>
                <a:gd name="T4" fmla="*/ 525 w 640"/>
                <a:gd name="T5" fmla="*/ 423 h 556"/>
                <a:gd name="T6" fmla="*/ 246 w 640"/>
                <a:gd name="T7" fmla="*/ 0 h 556"/>
                <a:gd name="T8" fmla="*/ 0 w 640"/>
                <a:gd name="T9" fmla="*/ 0 h 556"/>
                <a:gd name="T10" fmla="*/ 0 w 640"/>
                <a:gd name="T11" fmla="*/ 32 h 556"/>
                <a:gd name="T12" fmla="*/ 21 w 640"/>
                <a:gd name="T13" fmla="*/ 36 h 556"/>
                <a:gd name="T14" fmla="*/ 91 w 640"/>
                <a:gd name="T15" fmla="*/ 111 h 556"/>
                <a:gd name="T16" fmla="*/ 91 w 640"/>
                <a:gd name="T17" fmla="*/ 556 h 556"/>
                <a:gd name="T18" fmla="*/ 206 w 640"/>
                <a:gd name="T19" fmla="*/ 556 h 556"/>
                <a:gd name="T20" fmla="*/ 206 w 640"/>
                <a:gd name="T21" fmla="*/ 114 h 556"/>
                <a:gd name="T22" fmla="*/ 498 w 640"/>
                <a:gd name="T23" fmla="*/ 556 h 556"/>
                <a:gd name="T24" fmla="*/ 640 w 640"/>
                <a:gd name="T25" fmla="*/ 556 h 556"/>
                <a:gd name="T26" fmla="*/ 640 w 640"/>
                <a:gd name="T27" fmla="*/ 0 h 556"/>
                <a:gd name="T28" fmla="*/ 632 w 640"/>
                <a:gd name="T2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0" h="556">
                  <a:moveTo>
                    <a:pt x="632" y="0"/>
                  </a:moveTo>
                  <a:cubicBezTo>
                    <a:pt x="525" y="0"/>
                    <a:pt x="525" y="0"/>
                    <a:pt x="525" y="0"/>
                  </a:cubicBezTo>
                  <a:cubicBezTo>
                    <a:pt x="525" y="0"/>
                    <a:pt x="525" y="382"/>
                    <a:pt x="525" y="423"/>
                  </a:cubicBezTo>
                  <a:cubicBezTo>
                    <a:pt x="503" y="389"/>
                    <a:pt x="246" y="0"/>
                    <a:pt x="246" y="0"/>
                  </a:cubicBezTo>
                  <a:cubicBezTo>
                    <a:pt x="0" y="0"/>
                    <a:pt x="0" y="0"/>
                    <a:pt x="0" y="0"/>
                  </a:cubicBezTo>
                  <a:cubicBezTo>
                    <a:pt x="0" y="32"/>
                    <a:pt x="0" y="32"/>
                    <a:pt x="0" y="32"/>
                  </a:cubicBezTo>
                  <a:cubicBezTo>
                    <a:pt x="21" y="36"/>
                    <a:pt x="21" y="36"/>
                    <a:pt x="21" y="36"/>
                  </a:cubicBezTo>
                  <a:cubicBezTo>
                    <a:pt x="86" y="47"/>
                    <a:pt x="91" y="47"/>
                    <a:pt x="91" y="111"/>
                  </a:cubicBezTo>
                  <a:cubicBezTo>
                    <a:pt x="91" y="556"/>
                    <a:pt x="91" y="556"/>
                    <a:pt x="91" y="556"/>
                  </a:cubicBezTo>
                  <a:cubicBezTo>
                    <a:pt x="206" y="556"/>
                    <a:pt x="206" y="556"/>
                    <a:pt x="206" y="556"/>
                  </a:cubicBezTo>
                  <a:cubicBezTo>
                    <a:pt x="206" y="556"/>
                    <a:pt x="206" y="155"/>
                    <a:pt x="206" y="114"/>
                  </a:cubicBezTo>
                  <a:cubicBezTo>
                    <a:pt x="228" y="148"/>
                    <a:pt x="498" y="556"/>
                    <a:pt x="498" y="556"/>
                  </a:cubicBezTo>
                  <a:cubicBezTo>
                    <a:pt x="640" y="556"/>
                    <a:pt x="640" y="556"/>
                    <a:pt x="640" y="556"/>
                  </a:cubicBezTo>
                  <a:cubicBezTo>
                    <a:pt x="640" y="0"/>
                    <a:pt x="640" y="0"/>
                    <a:pt x="640" y="0"/>
                  </a:cubicBezTo>
                  <a:cubicBezTo>
                    <a:pt x="632" y="0"/>
                    <a:pt x="632" y="0"/>
                    <a:pt x="6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8" name="Freeform 72"/>
            <p:cNvSpPr>
              <a:spLocks noEditPoints="1"/>
            </p:cNvSpPr>
            <p:nvPr userDrawn="1"/>
          </p:nvSpPr>
          <p:spPr bwMode="auto">
            <a:xfrm>
              <a:off x="8738927" y="-758964"/>
              <a:ext cx="70594" cy="73955"/>
            </a:xfrm>
            <a:custGeom>
              <a:avLst/>
              <a:gdLst>
                <a:gd name="T0" fmla="*/ 378 w 378"/>
                <a:gd name="T1" fmla="*/ 161 h 407"/>
                <a:gd name="T2" fmla="*/ 200 w 378"/>
                <a:gd name="T3" fmla="*/ 0 h 407"/>
                <a:gd name="T4" fmla="*/ 0 w 378"/>
                <a:gd name="T5" fmla="*/ 190 h 407"/>
                <a:gd name="T6" fmla="*/ 232 w 378"/>
                <a:gd name="T7" fmla="*/ 407 h 407"/>
                <a:gd name="T8" fmla="*/ 363 w 378"/>
                <a:gd name="T9" fmla="*/ 385 h 407"/>
                <a:gd name="T10" fmla="*/ 369 w 378"/>
                <a:gd name="T11" fmla="*/ 383 h 407"/>
                <a:gd name="T12" fmla="*/ 369 w 378"/>
                <a:gd name="T13" fmla="*/ 331 h 407"/>
                <a:gd name="T14" fmla="*/ 359 w 378"/>
                <a:gd name="T15" fmla="*/ 335 h 407"/>
                <a:gd name="T16" fmla="*/ 276 w 378"/>
                <a:gd name="T17" fmla="*/ 348 h 407"/>
                <a:gd name="T18" fmla="*/ 117 w 378"/>
                <a:gd name="T19" fmla="*/ 169 h 407"/>
                <a:gd name="T20" fmla="*/ 378 w 378"/>
                <a:gd name="T21" fmla="*/ 169 h 407"/>
                <a:gd name="T22" fmla="*/ 378 w 378"/>
                <a:gd name="T23" fmla="*/ 161 h 407"/>
                <a:gd name="T24" fmla="*/ 196 w 378"/>
                <a:gd name="T25" fmla="*/ 42 h 407"/>
                <a:gd name="T26" fmla="*/ 270 w 378"/>
                <a:gd name="T27" fmla="*/ 122 h 407"/>
                <a:gd name="T28" fmla="*/ 117 w 378"/>
                <a:gd name="T29" fmla="*/ 122 h 407"/>
                <a:gd name="T30" fmla="*/ 196 w 378"/>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8" h="407">
                  <a:moveTo>
                    <a:pt x="378" y="161"/>
                  </a:moveTo>
                  <a:cubicBezTo>
                    <a:pt x="378" y="54"/>
                    <a:pt x="318" y="0"/>
                    <a:pt x="200" y="0"/>
                  </a:cubicBezTo>
                  <a:cubicBezTo>
                    <a:pt x="68"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6" y="348"/>
                  </a:cubicBezTo>
                  <a:cubicBezTo>
                    <a:pt x="161" y="348"/>
                    <a:pt x="119" y="253"/>
                    <a:pt x="117" y="169"/>
                  </a:cubicBezTo>
                  <a:cubicBezTo>
                    <a:pt x="131" y="169"/>
                    <a:pt x="378" y="169"/>
                    <a:pt x="378" y="169"/>
                  </a:cubicBezTo>
                  <a:cubicBezTo>
                    <a:pt x="378" y="161"/>
                    <a:pt x="378" y="161"/>
                    <a:pt x="378" y="161"/>
                  </a:cubicBezTo>
                  <a:moveTo>
                    <a:pt x="196" y="42"/>
                  </a:moveTo>
                  <a:cubicBezTo>
                    <a:pt x="254" y="42"/>
                    <a:pt x="269" y="84"/>
                    <a:pt x="270" y="122"/>
                  </a:cubicBezTo>
                  <a:cubicBezTo>
                    <a:pt x="257" y="122"/>
                    <a:pt x="131" y="122"/>
                    <a:pt x="117" y="122"/>
                  </a:cubicBezTo>
                  <a:cubicBezTo>
                    <a:pt x="120" y="94"/>
                    <a:pt x="137" y="42"/>
                    <a:pt x="19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9" name="Freeform 73"/>
            <p:cNvSpPr>
              <a:spLocks/>
            </p:cNvSpPr>
            <p:nvPr userDrawn="1"/>
          </p:nvSpPr>
          <p:spPr bwMode="auto">
            <a:xfrm>
              <a:off x="8903646"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8"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1" y="468"/>
                    <a:pt x="178" y="449"/>
                    <a:pt x="178" y="394"/>
                  </a:cubicBezTo>
                  <a:cubicBezTo>
                    <a:pt x="178" y="394"/>
                    <a:pt x="178" y="182"/>
                    <a:pt x="178" y="168"/>
                  </a:cubicBezTo>
                  <a:cubicBezTo>
                    <a:pt x="191" y="168"/>
                    <a:pt x="298" y="168"/>
                    <a:pt x="298" y="168"/>
                  </a:cubicBezTo>
                  <a:cubicBezTo>
                    <a:pt x="298" y="121"/>
                    <a:pt x="298" y="121"/>
                    <a:pt x="298" y="121"/>
                  </a:cubicBezTo>
                  <a:cubicBezTo>
                    <a:pt x="298" y="121"/>
                    <a:pt x="191"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0" name="Freeform 74"/>
            <p:cNvSpPr>
              <a:spLocks/>
            </p:cNvSpPr>
            <p:nvPr userDrawn="1"/>
          </p:nvSpPr>
          <p:spPr bwMode="auto">
            <a:xfrm>
              <a:off x="8811201" y="-757284"/>
              <a:ext cx="85721" cy="70594"/>
            </a:xfrm>
            <a:custGeom>
              <a:avLst/>
              <a:gdLst>
                <a:gd name="T0" fmla="*/ 363 w 473"/>
                <a:gd name="T1" fmla="*/ 127 h 389"/>
                <a:gd name="T2" fmla="*/ 473 w 473"/>
                <a:gd name="T3" fmla="*/ 0 h 389"/>
                <a:gd name="T4" fmla="*/ 360 w 473"/>
                <a:gd name="T5" fmla="*/ 0 h 389"/>
                <a:gd name="T6" fmla="*/ 256 w 473"/>
                <a:gd name="T7" fmla="*/ 120 h 389"/>
                <a:gd name="T8" fmla="*/ 164 w 473"/>
                <a:gd name="T9" fmla="*/ 0 h 389"/>
                <a:gd name="T10" fmla="*/ 0 w 473"/>
                <a:gd name="T11" fmla="*/ 0 h 389"/>
                <a:gd name="T12" fmla="*/ 0 w 473"/>
                <a:gd name="T13" fmla="*/ 31 h 389"/>
                <a:gd name="T14" fmla="*/ 7 w 473"/>
                <a:gd name="T15" fmla="*/ 31 h 389"/>
                <a:gd name="T16" fmla="*/ 110 w 473"/>
                <a:gd name="T17" fmla="*/ 90 h 389"/>
                <a:gd name="T18" fmla="*/ 177 w 473"/>
                <a:gd name="T19" fmla="*/ 179 h 389"/>
                <a:gd name="T20" fmla="*/ 68 w 473"/>
                <a:gd name="T21" fmla="*/ 306 h 389"/>
                <a:gd name="T22" fmla="*/ 181 w 473"/>
                <a:gd name="T23" fmla="*/ 306 h 389"/>
                <a:gd name="T24" fmla="*/ 230 w 473"/>
                <a:gd name="T25" fmla="*/ 249 h 389"/>
                <a:gd name="T26" fmla="*/ 335 w 473"/>
                <a:gd name="T27" fmla="*/ 389 h 389"/>
                <a:gd name="T28" fmla="*/ 462 w 473"/>
                <a:gd name="T29" fmla="*/ 389 h 389"/>
                <a:gd name="T30" fmla="*/ 261 w 473"/>
                <a:gd name="T31" fmla="*/ 127 h 389"/>
                <a:gd name="T32" fmla="*/ 363 w 473"/>
                <a:gd name="T33" fmla="*/ 127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3" h="389">
                  <a:moveTo>
                    <a:pt x="363" y="127"/>
                  </a:moveTo>
                  <a:cubicBezTo>
                    <a:pt x="473" y="0"/>
                    <a:pt x="473" y="0"/>
                    <a:pt x="473" y="0"/>
                  </a:cubicBezTo>
                  <a:cubicBezTo>
                    <a:pt x="360" y="0"/>
                    <a:pt x="360" y="0"/>
                    <a:pt x="360" y="0"/>
                  </a:cubicBezTo>
                  <a:cubicBezTo>
                    <a:pt x="256" y="120"/>
                    <a:pt x="256" y="120"/>
                    <a:pt x="256" y="120"/>
                  </a:cubicBezTo>
                  <a:cubicBezTo>
                    <a:pt x="164" y="0"/>
                    <a:pt x="164" y="0"/>
                    <a:pt x="164" y="0"/>
                  </a:cubicBezTo>
                  <a:cubicBezTo>
                    <a:pt x="0" y="0"/>
                    <a:pt x="0" y="0"/>
                    <a:pt x="0" y="0"/>
                  </a:cubicBezTo>
                  <a:cubicBezTo>
                    <a:pt x="0" y="31"/>
                    <a:pt x="0" y="31"/>
                    <a:pt x="0" y="31"/>
                  </a:cubicBezTo>
                  <a:cubicBezTo>
                    <a:pt x="7" y="31"/>
                    <a:pt x="7" y="31"/>
                    <a:pt x="7" y="31"/>
                  </a:cubicBezTo>
                  <a:cubicBezTo>
                    <a:pt x="63" y="35"/>
                    <a:pt x="76" y="45"/>
                    <a:pt x="110" y="90"/>
                  </a:cubicBezTo>
                  <a:cubicBezTo>
                    <a:pt x="177" y="179"/>
                    <a:pt x="177" y="179"/>
                    <a:pt x="177" y="179"/>
                  </a:cubicBezTo>
                  <a:cubicBezTo>
                    <a:pt x="68" y="306"/>
                    <a:pt x="68" y="306"/>
                    <a:pt x="68" y="306"/>
                  </a:cubicBezTo>
                  <a:cubicBezTo>
                    <a:pt x="181" y="306"/>
                    <a:pt x="181" y="306"/>
                    <a:pt x="181" y="306"/>
                  </a:cubicBezTo>
                  <a:cubicBezTo>
                    <a:pt x="230" y="249"/>
                    <a:pt x="230" y="249"/>
                    <a:pt x="230" y="249"/>
                  </a:cubicBezTo>
                  <a:cubicBezTo>
                    <a:pt x="335" y="389"/>
                    <a:pt x="335" y="389"/>
                    <a:pt x="335" y="389"/>
                  </a:cubicBezTo>
                  <a:cubicBezTo>
                    <a:pt x="462" y="389"/>
                    <a:pt x="462" y="389"/>
                    <a:pt x="462" y="389"/>
                  </a:cubicBezTo>
                  <a:cubicBezTo>
                    <a:pt x="261" y="127"/>
                    <a:pt x="261" y="127"/>
                    <a:pt x="261" y="127"/>
                  </a:cubicBezTo>
                  <a:cubicBezTo>
                    <a:pt x="363" y="127"/>
                    <a:pt x="363" y="127"/>
                    <a:pt x="363" y="12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grpSp>
      <p:pic>
        <p:nvPicPr>
          <p:cNvPr id="91" name="Picture 90" descr="hds-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2261" y="274473"/>
            <a:ext cx="2077976" cy="208842"/>
          </a:xfrm>
          <a:prstGeom prst="rect">
            <a:avLst/>
          </a:prstGeom>
          <a:effectLst/>
        </p:spPr>
      </p:pic>
      <p:sp>
        <p:nvSpPr>
          <p:cNvPr id="42" name="TextBox 41"/>
          <p:cNvSpPr txBox="1"/>
          <p:nvPr userDrawn="1"/>
        </p:nvSpPr>
        <p:spPr>
          <a:xfrm>
            <a:off x="6111200" y="4911221"/>
            <a:ext cx="2993127" cy="215444"/>
          </a:xfrm>
          <a:prstGeom prst="rect">
            <a:avLst/>
          </a:prstGeom>
          <a:noFill/>
        </p:spPr>
        <p:txBody>
          <a:bodyPr wrap="none" rtlCol="0">
            <a:spAutoFit/>
          </a:bodyPr>
          <a:lstStyle/>
          <a:p>
            <a:pPr algn="r"/>
            <a:r>
              <a:rPr lang="en-US" sz="800" kern="1200" dirty="0" smtClean="0">
                <a:solidFill>
                  <a:srgbClr val="FFFFFF">
                    <a:alpha val="50000"/>
                  </a:srgbClr>
                </a:solidFill>
                <a:latin typeface="+mn-lt"/>
                <a:ea typeface="+mn-ea"/>
                <a:cs typeface="+mn-cs"/>
              </a:rPr>
              <a:t>© Hitachi Data Systems Corporation 2014. All rights reserved.</a:t>
            </a:r>
          </a:p>
        </p:txBody>
      </p:sp>
      <p:sp>
        <p:nvSpPr>
          <p:cNvPr id="58" name="Title 1"/>
          <p:cNvSpPr>
            <a:spLocks noGrp="1"/>
          </p:cNvSpPr>
          <p:nvPr>
            <p:ph type="ctrTitle" hasCustomPrompt="1"/>
          </p:nvPr>
        </p:nvSpPr>
        <p:spPr>
          <a:xfrm>
            <a:off x="2548467" y="1019128"/>
            <a:ext cx="6131767" cy="2230662"/>
          </a:xfrm>
          <a:prstGeom prst="rect">
            <a:avLst/>
          </a:prstGeom>
          <a:effectLst/>
        </p:spPr>
        <p:txBody>
          <a:bodyPr anchor="ctr" anchorCtr="0">
            <a:noAutofit/>
          </a:bodyPr>
          <a:lstStyle>
            <a:lvl1pPr>
              <a:lnSpc>
                <a:spcPct val="100000"/>
              </a:lnSpc>
              <a:defRPr sz="4800" b="1" cap="none" baseline="0">
                <a:solidFill>
                  <a:schemeClr val="tx1"/>
                </a:solidFill>
                <a:latin typeface="+mn-lt"/>
              </a:defRPr>
            </a:lvl1pPr>
          </a:lstStyle>
          <a:p>
            <a:r>
              <a:rPr lang="en-US" dirty="0" smtClean="0"/>
              <a:t>Title placeholder</a:t>
            </a:r>
            <a:endParaRPr lang="en-US" dirty="0"/>
          </a:p>
        </p:txBody>
      </p:sp>
      <p:pic>
        <p:nvPicPr>
          <p:cNvPr id="37" name="Picture 36" descr="PPT-WORDS.pn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67" y="3977419"/>
            <a:ext cx="9185297" cy="823220"/>
          </a:xfrm>
          <a:prstGeom prst="rect">
            <a:avLst/>
          </a:prstGeom>
        </p:spPr>
      </p:pic>
      <p:sp>
        <p:nvSpPr>
          <p:cNvPr id="39" name="Rectangle 38"/>
          <p:cNvSpPr/>
          <p:nvPr userDrawn="1"/>
        </p:nvSpPr>
        <p:spPr>
          <a:xfrm rot="10800000">
            <a:off x="-16936" y="3249790"/>
            <a:ext cx="9207447" cy="48013"/>
          </a:xfrm>
          <a:prstGeom prst="rect">
            <a:avLst/>
          </a:prstGeom>
          <a:gradFill>
            <a:gsLst>
              <a:gs pos="100000">
                <a:schemeClr val="accent2"/>
              </a:gs>
              <a:gs pos="0">
                <a:schemeClr val="accent2">
                  <a:shade val="94000"/>
                  <a:satMod val="135000"/>
                  <a:alpha val="0"/>
                </a:schemeClr>
              </a:gs>
            </a:gsLst>
            <a:lin ang="0" scaled="0"/>
          </a:gra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pic>
        <p:nvPicPr>
          <p:cNvPr id="35" name="Picture 34" descr="IWI-RGB-150.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2261" y="1989705"/>
            <a:ext cx="2077976" cy="391547"/>
          </a:xfrm>
          <a:prstGeom prst="rect">
            <a:avLst/>
          </a:prstGeom>
        </p:spPr>
      </p:pic>
      <p:sp>
        <p:nvSpPr>
          <p:cNvPr id="36" name="TextBox 35"/>
          <p:cNvSpPr txBox="1"/>
          <p:nvPr userDrawn="1"/>
        </p:nvSpPr>
        <p:spPr>
          <a:xfrm>
            <a:off x="1611" y="4915450"/>
            <a:ext cx="312906" cy="215444"/>
          </a:xfrm>
          <a:prstGeom prst="rect">
            <a:avLst/>
          </a:prstGeom>
          <a:noFill/>
        </p:spPr>
        <p:txBody>
          <a:bodyPr wrap="none" rtlCol="0">
            <a:spAutoFit/>
          </a:bodyPr>
          <a:lstStyle/>
          <a:p>
            <a:pPr algn="l"/>
            <a:fld id="{111F478C-84AE-4601-9BE4-60468A3A6C06}" type="slidenum">
              <a:rPr lang="en-US" sz="800" smtClean="0">
                <a:solidFill>
                  <a:schemeClr val="bg1">
                    <a:alpha val="50000"/>
                  </a:schemeClr>
                </a:solidFill>
                <a:latin typeface="+mj-lt"/>
              </a:rPr>
              <a:pPr algn="l"/>
              <a:t>‹#›</a:t>
            </a:fld>
            <a:endParaRPr lang="en-US" sz="800" dirty="0">
              <a:solidFill>
                <a:schemeClr val="bg1">
                  <a:alpha val="50000"/>
                </a:schemeClr>
              </a:solidFill>
              <a:latin typeface="+mj-lt"/>
            </a:endParaRPr>
          </a:p>
        </p:txBody>
      </p:sp>
    </p:spTree>
    <p:extLst>
      <p:ext uri="{BB962C8B-B14F-4D97-AF65-F5344CB8AC3E}">
        <p14:creationId xmlns:p14="http://schemas.microsoft.com/office/powerpoint/2010/main" val="4192135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38" name="Rectangle 37"/>
          <p:cNvSpPr/>
          <p:nvPr userDrawn="1"/>
        </p:nvSpPr>
        <p:spPr>
          <a:xfrm>
            <a:off x="-8467" y="-7718"/>
            <a:ext cx="9170755" cy="5166512"/>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dirty="0" smtClean="0">
              <a:latin typeface="+mj-lt"/>
            </a:endParaRPr>
          </a:p>
        </p:txBody>
      </p:sp>
      <p:sp>
        <p:nvSpPr>
          <p:cNvPr id="37" name="Rectangle 36"/>
          <p:cNvSpPr/>
          <p:nvPr userDrawn="1"/>
        </p:nvSpPr>
        <p:spPr>
          <a:xfrm>
            <a:off x="-16936" y="1019128"/>
            <a:ext cx="9207448" cy="2278675"/>
          </a:xfrm>
          <a:prstGeom prst="rect">
            <a:avLst/>
          </a:prstGeom>
          <a:gradFill flip="none" rotWithShape="1">
            <a:gsLst>
              <a:gs pos="0">
                <a:schemeClr val="bg1">
                  <a:alpha val="95000"/>
                </a:schemeClr>
              </a:gs>
              <a:gs pos="57000">
                <a:schemeClr val="bg1">
                  <a:alpha val="90000"/>
                </a:schemeClr>
              </a:gs>
              <a:gs pos="100000">
                <a:schemeClr val="bg1">
                  <a:alpha val="45000"/>
                </a:schemeClr>
              </a:gs>
            </a:gsLst>
            <a:lin ang="0" scaled="0"/>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grpSp>
        <p:nvGrpSpPr>
          <p:cNvPr id="40" name="Group 39"/>
          <p:cNvGrpSpPr/>
          <p:nvPr userDrawn="1"/>
        </p:nvGrpSpPr>
        <p:grpSpPr>
          <a:xfrm>
            <a:off x="7394877" y="280579"/>
            <a:ext cx="1465784" cy="419664"/>
            <a:chOff x="7743893" y="-1004361"/>
            <a:chExt cx="1215220" cy="347926"/>
          </a:xfrm>
          <a:solidFill>
            <a:srgbClr val="FFFFFF"/>
          </a:solidFill>
        </p:grpSpPr>
        <p:sp>
          <p:nvSpPr>
            <p:cNvPr id="43" name="Freeform 75"/>
            <p:cNvSpPr>
              <a:spLocks/>
            </p:cNvSpPr>
            <p:nvPr userDrawn="1"/>
          </p:nvSpPr>
          <p:spPr bwMode="auto">
            <a:xfrm>
              <a:off x="8895241" y="-809388"/>
              <a:ext cx="47062" cy="28574"/>
            </a:xfrm>
            <a:custGeom>
              <a:avLst/>
              <a:gdLst>
                <a:gd name="T0" fmla="*/ 13 w 28"/>
                <a:gd name="T1" fmla="*/ 17 h 17"/>
                <a:gd name="T2" fmla="*/ 0 w 28"/>
                <a:gd name="T3" fmla="*/ 17 h 17"/>
                <a:gd name="T4" fmla="*/ 15 w 28"/>
                <a:gd name="T5" fmla="*/ 0 h 17"/>
                <a:gd name="T6" fmla="*/ 28 w 28"/>
                <a:gd name="T7" fmla="*/ 0 h 17"/>
                <a:gd name="T8" fmla="*/ 13 w 28"/>
                <a:gd name="T9" fmla="*/ 17 h 17"/>
              </a:gdLst>
              <a:ahLst/>
              <a:cxnLst>
                <a:cxn ang="0">
                  <a:pos x="T0" y="T1"/>
                </a:cxn>
                <a:cxn ang="0">
                  <a:pos x="T2" y="T3"/>
                </a:cxn>
                <a:cxn ang="0">
                  <a:pos x="T4" y="T5"/>
                </a:cxn>
                <a:cxn ang="0">
                  <a:pos x="T6" y="T7"/>
                </a:cxn>
                <a:cxn ang="0">
                  <a:pos x="T8" y="T9"/>
                </a:cxn>
              </a:cxnLst>
              <a:rect l="0" t="0" r="r" b="b"/>
              <a:pathLst>
                <a:path w="28" h="17">
                  <a:moveTo>
                    <a:pt x="13" y="17"/>
                  </a:moveTo>
                  <a:lnTo>
                    <a:pt x="0" y="17"/>
                  </a:lnTo>
                  <a:lnTo>
                    <a:pt x="15" y="0"/>
                  </a:lnTo>
                  <a:lnTo>
                    <a:pt x="28" y="0"/>
                  </a:lnTo>
                  <a:lnTo>
                    <a:pt x="13" y="17"/>
                  </a:lnTo>
                  <a:close/>
                </a:path>
              </a:pathLst>
            </a:custGeom>
            <a:solidFill>
              <a:schemeClr val="accent2"/>
            </a:solidFill>
            <a:ln>
              <a:noFill/>
            </a:ln>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44" name="Freeform 50"/>
            <p:cNvSpPr>
              <a:spLocks/>
            </p:cNvSpPr>
            <p:nvPr userDrawn="1"/>
          </p:nvSpPr>
          <p:spPr bwMode="auto">
            <a:xfrm>
              <a:off x="8636398"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69" name="Freeform 52"/>
            <p:cNvSpPr>
              <a:spLocks/>
            </p:cNvSpPr>
            <p:nvPr userDrawn="1"/>
          </p:nvSpPr>
          <p:spPr bwMode="auto">
            <a:xfrm>
              <a:off x="8090138" y="-1001000"/>
              <a:ext cx="176485" cy="164719"/>
            </a:xfrm>
            <a:custGeom>
              <a:avLst/>
              <a:gdLst>
                <a:gd name="T0" fmla="*/ 105 w 105"/>
                <a:gd name="T1" fmla="*/ 0 h 98"/>
                <a:gd name="T2" fmla="*/ 105 w 105"/>
                <a:gd name="T3" fmla="*/ 17 h 98"/>
                <a:gd name="T4" fmla="*/ 66 w 105"/>
                <a:gd name="T5" fmla="*/ 17 h 98"/>
                <a:gd name="T6" fmla="*/ 66 w 105"/>
                <a:gd name="T7" fmla="*/ 98 h 98"/>
                <a:gd name="T8" fmla="*/ 40 w 105"/>
                <a:gd name="T9" fmla="*/ 98 h 98"/>
                <a:gd name="T10" fmla="*/ 40 w 105"/>
                <a:gd name="T11" fmla="*/ 17 h 98"/>
                <a:gd name="T12" fmla="*/ 0 w 105"/>
                <a:gd name="T13" fmla="*/ 17 h 98"/>
                <a:gd name="T14" fmla="*/ 0 w 105"/>
                <a:gd name="T15" fmla="*/ 0 h 98"/>
                <a:gd name="T16" fmla="*/ 105 w 105"/>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98">
                  <a:moveTo>
                    <a:pt x="105" y="0"/>
                  </a:moveTo>
                  <a:lnTo>
                    <a:pt x="105" y="17"/>
                  </a:lnTo>
                  <a:lnTo>
                    <a:pt x="66" y="17"/>
                  </a:lnTo>
                  <a:lnTo>
                    <a:pt x="66" y="98"/>
                  </a:lnTo>
                  <a:lnTo>
                    <a:pt x="40" y="98"/>
                  </a:lnTo>
                  <a:lnTo>
                    <a:pt x="40" y="17"/>
                  </a:lnTo>
                  <a:lnTo>
                    <a:pt x="0" y="17"/>
                  </a:lnTo>
                  <a:lnTo>
                    <a:pt x="0" y="0"/>
                  </a:lnTo>
                  <a:lnTo>
                    <a:pt x="105"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0" name="Freeform 69"/>
            <p:cNvSpPr>
              <a:spLocks noEditPoints="1"/>
            </p:cNvSpPr>
            <p:nvPr userDrawn="1"/>
          </p:nvSpPr>
          <p:spPr bwMode="auto">
            <a:xfrm>
              <a:off x="8229644" y="-1001000"/>
              <a:ext cx="206739" cy="164719"/>
            </a:xfrm>
            <a:custGeom>
              <a:avLst/>
              <a:gdLst>
                <a:gd name="T0" fmla="*/ 123 w 123"/>
                <a:gd name="T1" fmla="*/ 98 h 98"/>
                <a:gd name="T2" fmla="*/ 94 w 123"/>
                <a:gd name="T3" fmla="*/ 98 h 98"/>
                <a:gd name="T4" fmla="*/ 86 w 123"/>
                <a:gd name="T5" fmla="*/ 77 h 98"/>
                <a:gd name="T6" fmla="*/ 37 w 123"/>
                <a:gd name="T7" fmla="*/ 77 h 98"/>
                <a:gd name="T8" fmla="*/ 29 w 123"/>
                <a:gd name="T9" fmla="*/ 98 h 98"/>
                <a:gd name="T10" fmla="*/ 0 w 123"/>
                <a:gd name="T11" fmla="*/ 98 h 98"/>
                <a:gd name="T12" fmla="*/ 46 w 123"/>
                <a:gd name="T13" fmla="*/ 0 h 98"/>
                <a:gd name="T14" fmla="*/ 77 w 123"/>
                <a:gd name="T15" fmla="*/ 0 h 98"/>
                <a:gd name="T16" fmla="*/ 123 w 123"/>
                <a:gd name="T17" fmla="*/ 98 h 98"/>
                <a:gd name="T18" fmla="*/ 61 w 123"/>
                <a:gd name="T19" fmla="*/ 17 h 98"/>
                <a:gd name="T20" fmla="*/ 43 w 123"/>
                <a:gd name="T21" fmla="*/ 61 h 98"/>
                <a:gd name="T22" fmla="*/ 79 w 123"/>
                <a:gd name="T23" fmla="*/ 61 h 98"/>
                <a:gd name="T24" fmla="*/ 61 w 123"/>
                <a:gd name="T25" fmla="*/ 1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98">
                  <a:moveTo>
                    <a:pt x="123" y="98"/>
                  </a:moveTo>
                  <a:lnTo>
                    <a:pt x="94" y="98"/>
                  </a:lnTo>
                  <a:lnTo>
                    <a:pt x="86" y="77"/>
                  </a:lnTo>
                  <a:lnTo>
                    <a:pt x="37" y="77"/>
                  </a:lnTo>
                  <a:lnTo>
                    <a:pt x="29" y="98"/>
                  </a:lnTo>
                  <a:lnTo>
                    <a:pt x="0" y="98"/>
                  </a:lnTo>
                  <a:lnTo>
                    <a:pt x="46" y="0"/>
                  </a:lnTo>
                  <a:lnTo>
                    <a:pt x="77" y="0"/>
                  </a:lnTo>
                  <a:lnTo>
                    <a:pt x="123" y="98"/>
                  </a:lnTo>
                  <a:moveTo>
                    <a:pt x="61" y="17"/>
                  </a:moveTo>
                  <a:lnTo>
                    <a:pt x="43" y="61"/>
                  </a:lnTo>
                  <a:lnTo>
                    <a:pt x="79" y="61"/>
                  </a:lnTo>
                  <a:lnTo>
                    <a:pt x="61" y="17"/>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2" name="Rectangle 71"/>
            <p:cNvSpPr>
              <a:spLocks noChangeArrowheads="1"/>
            </p:cNvSpPr>
            <p:nvPr userDrawn="1"/>
          </p:nvSpPr>
          <p:spPr bwMode="auto">
            <a:xfrm>
              <a:off x="884649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3" name="Freeform 57"/>
            <p:cNvSpPr>
              <a:spLocks/>
            </p:cNvSpPr>
            <p:nvPr userDrawn="1"/>
          </p:nvSpPr>
          <p:spPr bwMode="auto">
            <a:xfrm>
              <a:off x="7821209"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4" name="Rectangle 58"/>
            <p:cNvSpPr>
              <a:spLocks noChangeArrowheads="1"/>
            </p:cNvSpPr>
            <p:nvPr userDrawn="1"/>
          </p:nvSpPr>
          <p:spPr bwMode="auto">
            <a:xfrm>
              <a:off x="803130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5" name="Freeform 59"/>
            <p:cNvSpPr>
              <a:spLocks/>
            </p:cNvSpPr>
            <p:nvPr userDrawn="1"/>
          </p:nvSpPr>
          <p:spPr bwMode="auto">
            <a:xfrm>
              <a:off x="8429660" y="-1004361"/>
              <a:ext cx="184888" cy="171442"/>
            </a:xfrm>
            <a:custGeom>
              <a:avLst/>
              <a:gdLst>
                <a:gd name="T0" fmla="*/ 31 w 1010"/>
                <a:gd name="T1" fmla="*/ 670 h 939"/>
                <a:gd name="T2" fmla="*/ 0 w 1010"/>
                <a:gd name="T3" fmla="*/ 479 h 939"/>
                <a:gd name="T4" fmla="*/ 61 w 1010"/>
                <a:gd name="T5" fmla="*/ 218 h 939"/>
                <a:gd name="T6" fmla="*/ 265 w 1010"/>
                <a:gd name="T7" fmla="*/ 48 h 939"/>
                <a:gd name="T8" fmla="*/ 527 w 1010"/>
                <a:gd name="T9" fmla="*/ 0 h 939"/>
                <a:gd name="T10" fmla="*/ 826 w 1010"/>
                <a:gd name="T11" fmla="*/ 63 h 939"/>
                <a:gd name="T12" fmla="*/ 995 w 1010"/>
                <a:gd name="T13" fmla="*/ 270 h 939"/>
                <a:gd name="T14" fmla="*/ 1004 w 1010"/>
                <a:gd name="T15" fmla="*/ 327 h 939"/>
                <a:gd name="T16" fmla="*/ 755 w 1010"/>
                <a:gd name="T17" fmla="*/ 327 h 939"/>
                <a:gd name="T18" fmla="*/ 742 w 1010"/>
                <a:gd name="T19" fmla="*/ 258 h 939"/>
                <a:gd name="T20" fmla="*/ 631 w 1010"/>
                <a:gd name="T21" fmla="*/ 155 h 939"/>
                <a:gd name="T22" fmla="*/ 527 w 1010"/>
                <a:gd name="T23" fmla="*/ 139 h 939"/>
                <a:gd name="T24" fmla="*/ 410 w 1010"/>
                <a:gd name="T25" fmla="*/ 159 h 939"/>
                <a:gd name="T26" fmla="*/ 280 w 1010"/>
                <a:gd name="T27" fmla="*/ 291 h 939"/>
                <a:gd name="T28" fmla="*/ 248 w 1010"/>
                <a:gd name="T29" fmla="*/ 479 h 939"/>
                <a:gd name="T30" fmla="*/ 270 w 1010"/>
                <a:gd name="T31" fmla="*/ 636 h 939"/>
                <a:gd name="T32" fmla="*/ 400 w 1010"/>
                <a:gd name="T33" fmla="*/ 777 h 939"/>
                <a:gd name="T34" fmla="*/ 527 w 1010"/>
                <a:gd name="T35" fmla="*/ 801 h 939"/>
                <a:gd name="T36" fmla="*/ 637 w 1010"/>
                <a:gd name="T37" fmla="*/ 784 h 939"/>
                <a:gd name="T38" fmla="*/ 741 w 1010"/>
                <a:gd name="T39" fmla="*/ 691 h 939"/>
                <a:gd name="T40" fmla="*/ 760 w 1010"/>
                <a:gd name="T41" fmla="*/ 595 h 939"/>
                <a:gd name="T42" fmla="*/ 1010 w 1010"/>
                <a:gd name="T43" fmla="*/ 595 h 939"/>
                <a:gd name="T44" fmla="*/ 998 w 1010"/>
                <a:gd name="T45" fmla="*/ 680 h 939"/>
                <a:gd name="T46" fmla="*/ 832 w 1010"/>
                <a:gd name="T47" fmla="*/ 877 h 939"/>
                <a:gd name="T48" fmla="*/ 527 w 1010"/>
                <a:gd name="T49" fmla="*/ 939 h 939"/>
                <a:gd name="T50" fmla="*/ 287 w 1010"/>
                <a:gd name="T51" fmla="*/ 902 h 939"/>
                <a:gd name="T52" fmla="*/ 31 w 1010"/>
                <a:gd name="T53" fmla="*/ 670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10" h="939">
                  <a:moveTo>
                    <a:pt x="31" y="670"/>
                  </a:moveTo>
                  <a:cubicBezTo>
                    <a:pt x="11" y="609"/>
                    <a:pt x="0" y="546"/>
                    <a:pt x="0" y="479"/>
                  </a:cubicBezTo>
                  <a:cubicBezTo>
                    <a:pt x="0" y="385"/>
                    <a:pt x="16" y="294"/>
                    <a:pt x="61" y="218"/>
                  </a:cubicBezTo>
                  <a:cubicBezTo>
                    <a:pt x="107" y="140"/>
                    <a:pt x="179" y="80"/>
                    <a:pt x="265" y="48"/>
                  </a:cubicBezTo>
                  <a:cubicBezTo>
                    <a:pt x="347" y="17"/>
                    <a:pt x="435" y="0"/>
                    <a:pt x="527" y="0"/>
                  </a:cubicBezTo>
                  <a:cubicBezTo>
                    <a:pt x="634" y="0"/>
                    <a:pt x="734" y="24"/>
                    <a:pt x="826" y="63"/>
                  </a:cubicBezTo>
                  <a:cubicBezTo>
                    <a:pt x="912" y="100"/>
                    <a:pt x="976" y="177"/>
                    <a:pt x="995" y="270"/>
                  </a:cubicBezTo>
                  <a:cubicBezTo>
                    <a:pt x="999" y="288"/>
                    <a:pt x="1002" y="308"/>
                    <a:pt x="1004" y="327"/>
                  </a:cubicBezTo>
                  <a:cubicBezTo>
                    <a:pt x="755" y="327"/>
                    <a:pt x="755" y="327"/>
                    <a:pt x="755" y="327"/>
                  </a:cubicBezTo>
                  <a:cubicBezTo>
                    <a:pt x="754" y="303"/>
                    <a:pt x="750" y="279"/>
                    <a:pt x="742" y="258"/>
                  </a:cubicBezTo>
                  <a:cubicBezTo>
                    <a:pt x="723" y="209"/>
                    <a:pt x="682" y="170"/>
                    <a:pt x="631" y="155"/>
                  </a:cubicBezTo>
                  <a:cubicBezTo>
                    <a:pt x="598" y="144"/>
                    <a:pt x="563" y="139"/>
                    <a:pt x="527" y="139"/>
                  </a:cubicBezTo>
                  <a:cubicBezTo>
                    <a:pt x="486" y="139"/>
                    <a:pt x="447" y="146"/>
                    <a:pt x="410" y="159"/>
                  </a:cubicBezTo>
                  <a:cubicBezTo>
                    <a:pt x="349" y="181"/>
                    <a:pt x="302" y="230"/>
                    <a:pt x="280" y="291"/>
                  </a:cubicBezTo>
                  <a:cubicBezTo>
                    <a:pt x="260" y="349"/>
                    <a:pt x="248" y="413"/>
                    <a:pt x="248" y="479"/>
                  </a:cubicBezTo>
                  <a:cubicBezTo>
                    <a:pt x="248" y="534"/>
                    <a:pt x="257" y="586"/>
                    <a:pt x="270" y="636"/>
                  </a:cubicBezTo>
                  <a:cubicBezTo>
                    <a:pt x="289" y="701"/>
                    <a:pt x="337" y="753"/>
                    <a:pt x="400" y="777"/>
                  </a:cubicBezTo>
                  <a:cubicBezTo>
                    <a:pt x="440" y="792"/>
                    <a:pt x="482" y="801"/>
                    <a:pt x="527" y="801"/>
                  </a:cubicBezTo>
                  <a:cubicBezTo>
                    <a:pt x="566" y="801"/>
                    <a:pt x="602" y="795"/>
                    <a:pt x="637" y="784"/>
                  </a:cubicBezTo>
                  <a:cubicBezTo>
                    <a:pt x="683" y="769"/>
                    <a:pt x="721" y="735"/>
                    <a:pt x="741" y="691"/>
                  </a:cubicBezTo>
                  <a:cubicBezTo>
                    <a:pt x="754" y="662"/>
                    <a:pt x="760" y="629"/>
                    <a:pt x="760" y="595"/>
                  </a:cubicBezTo>
                  <a:cubicBezTo>
                    <a:pt x="1010" y="595"/>
                    <a:pt x="1010" y="595"/>
                    <a:pt x="1010" y="595"/>
                  </a:cubicBezTo>
                  <a:cubicBezTo>
                    <a:pt x="1008" y="624"/>
                    <a:pt x="1004" y="653"/>
                    <a:pt x="998" y="680"/>
                  </a:cubicBezTo>
                  <a:cubicBezTo>
                    <a:pt x="976" y="768"/>
                    <a:pt x="914" y="843"/>
                    <a:pt x="832" y="877"/>
                  </a:cubicBezTo>
                  <a:cubicBezTo>
                    <a:pt x="738" y="917"/>
                    <a:pt x="635" y="939"/>
                    <a:pt x="527" y="939"/>
                  </a:cubicBezTo>
                  <a:cubicBezTo>
                    <a:pt x="444" y="939"/>
                    <a:pt x="362" y="926"/>
                    <a:pt x="287" y="902"/>
                  </a:cubicBezTo>
                  <a:cubicBezTo>
                    <a:pt x="171" y="866"/>
                    <a:pt x="71" y="783"/>
                    <a:pt x="31" y="6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6" name="Freeform 60"/>
            <p:cNvSpPr>
              <a:spLocks/>
            </p:cNvSpPr>
            <p:nvPr userDrawn="1"/>
          </p:nvSpPr>
          <p:spPr bwMode="auto">
            <a:xfrm>
              <a:off x="7743893" y="-790900"/>
              <a:ext cx="40339" cy="104210"/>
            </a:xfrm>
            <a:custGeom>
              <a:avLst/>
              <a:gdLst>
                <a:gd name="T0" fmla="*/ 211 w 219"/>
                <a:gd name="T1" fmla="*/ 1 h 565"/>
                <a:gd name="T2" fmla="*/ 0 w 219"/>
                <a:gd name="T3" fmla="*/ 20 h 565"/>
                <a:gd name="T4" fmla="*/ 0 w 219"/>
                <a:gd name="T5" fmla="*/ 51 h 565"/>
                <a:gd name="T6" fmla="*/ 6 w 219"/>
                <a:gd name="T7" fmla="*/ 52 h 565"/>
                <a:gd name="T8" fmla="*/ 92 w 219"/>
                <a:gd name="T9" fmla="*/ 123 h 565"/>
                <a:gd name="T10" fmla="*/ 92 w 219"/>
                <a:gd name="T11" fmla="*/ 565 h 565"/>
                <a:gd name="T12" fmla="*/ 219 w 219"/>
                <a:gd name="T13" fmla="*/ 565 h 565"/>
                <a:gd name="T14" fmla="*/ 219 w 219"/>
                <a:gd name="T15" fmla="*/ 0 h 565"/>
                <a:gd name="T16" fmla="*/ 211 w 219"/>
                <a:gd name="T17" fmla="*/ 1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9" h="565">
                  <a:moveTo>
                    <a:pt x="211" y="1"/>
                  </a:moveTo>
                  <a:cubicBezTo>
                    <a:pt x="0" y="20"/>
                    <a:pt x="0" y="20"/>
                    <a:pt x="0" y="20"/>
                  </a:cubicBezTo>
                  <a:cubicBezTo>
                    <a:pt x="0" y="51"/>
                    <a:pt x="0" y="51"/>
                    <a:pt x="0" y="51"/>
                  </a:cubicBezTo>
                  <a:cubicBezTo>
                    <a:pt x="6" y="52"/>
                    <a:pt x="6" y="52"/>
                    <a:pt x="6" y="52"/>
                  </a:cubicBezTo>
                  <a:cubicBezTo>
                    <a:pt x="92" y="62"/>
                    <a:pt x="92" y="62"/>
                    <a:pt x="92" y="123"/>
                  </a:cubicBezTo>
                  <a:cubicBezTo>
                    <a:pt x="92" y="565"/>
                    <a:pt x="92" y="565"/>
                    <a:pt x="92" y="565"/>
                  </a:cubicBezTo>
                  <a:cubicBezTo>
                    <a:pt x="219" y="565"/>
                    <a:pt x="219" y="565"/>
                    <a:pt x="219" y="565"/>
                  </a:cubicBezTo>
                  <a:cubicBezTo>
                    <a:pt x="219" y="0"/>
                    <a:pt x="219" y="0"/>
                    <a:pt x="219" y="0"/>
                  </a:cubicBezTo>
                  <a:cubicBezTo>
                    <a:pt x="211" y="1"/>
                    <a:pt x="211" y="1"/>
                    <a:pt x="211"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7" name="Freeform 61"/>
            <p:cNvSpPr>
              <a:spLocks/>
            </p:cNvSpPr>
            <p:nvPr userDrawn="1"/>
          </p:nvSpPr>
          <p:spPr bwMode="auto">
            <a:xfrm>
              <a:off x="7804401" y="-758964"/>
              <a:ext cx="82360" cy="72275"/>
            </a:xfrm>
            <a:custGeom>
              <a:avLst/>
              <a:gdLst>
                <a:gd name="T0" fmla="*/ 328 w 446"/>
                <a:gd name="T1" fmla="*/ 1 h 398"/>
                <a:gd name="T2" fmla="*/ 180 w 446"/>
                <a:gd name="T3" fmla="*/ 87 h 398"/>
                <a:gd name="T4" fmla="*/ 180 w 446"/>
                <a:gd name="T5" fmla="*/ 0 h 398"/>
                <a:gd name="T6" fmla="*/ 172 w 446"/>
                <a:gd name="T7" fmla="*/ 1 h 398"/>
                <a:gd name="T8" fmla="*/ 0 w 446"/>
                <a:gd name="T9" fmla="*/ 28 h 398"/>
                <a:gd name="T10" fmla="*/ 0 w 446"/>
                <a:gd name="T11" fmla="*/ 58 h 398"/>
                <a:gd name="T12" fmla="*/ 8 w 446"/>
                <a:gd name="T13" fmla="*/ 58 h 398"/>
                <a:gd name="T14" fmla="*/ 74 w 446"/>
                <a:gd name="T15" fmla="*/ 122 h 398"/>
                <a:gd name="T16" fmla="*/ 74 w 446"/>
                <a:gd name="T17" fmla="*/ 398 h 398"/>
                <a:gd name="T18" fmla="*/ 180 w 446"/>
                <a:gd name="T19" fmla="*/ 398 h 398"/>
                <a:gd name="T20" fmla="*/ 180 w 446"/>
                <a:gd name="T21" fmla="*/ 195 h 398"/>
                <a:gd name="T22" fmla="*/ 285 w 446"/>
                <a:gd name="T23" fmla="*/ 71 h 398"/>
                <a:gd name="T24" fmla="*/ 339 w 446"/>
                <a:gd name="T25" fmla="*/ 183 h 398"/>
                <a:gd name="T26" fmla="*/ 339 w 446"/>
                <a:gd name="T27" fmla="*/ 398 h 398"/>
                <a:gd name="T28" fmla="*/ 446 w 446"/>
                <a:gd name="T29" fmla="*/ 398 h 398"/>
                <a:gd name="T30" fmla="*/ 446 w 446"/>
                <a:gd name="T31" fmla="*/ 122 h 398"/>
                <a:gd name="T32" fmla="*/ 328 w 446"/>
                <a:gd name="T33" fmla="*/ 1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6" h="398">
                  <a:moveTo>
                    <a:pt x="328" y="1"/>
                  </a:moveTo>
                  <a:cubicBezTo>
                    <a:pt x="249" y="1"/>
                    <a:pt x="202" y="54"/>
                    <a:pt x="180" y="87"/>
                  </a:cubicBezTo>
                  <a:cubicBezTo>
                    <a:pt x="180" y="58"/>
                    <a:pt x="180" y="0"/>
                    <a:pt x="180" y="0"/>
                  </a:cubicBezTo>
                  <a:cubicBezTo>
                    <a:pt x="172" y="1"/>
                    <a:pt x="172" y="1"/>
                    <a:pt x="172" y="1"/>
                  </a:cubicBezTo>
                  <a:cubicBezTo>
                    <a:pt x="0" y="28"/>
                    <a:pt x="0" y="28"/>
                    <a:pt x="0" y="28"/>
                  </a:cubicBezTo>
                  <a:cubicBezTo>
                    <a:pt x="0" y="58"/>
                    <a:pt x="0" y="58"/>
                    <a:pt x="0" y="58"/>
                  </a:cubicBezTo>
                  <a:cubicBezTo>
                    <a:pt x="8" y="58"/>
                    <a:pt x="8" y="58"/>
                    <a:pt x="8" y="58"/>
                  </a:cubicBezTo>
                  <a:cubicBezTo>
                    <a:pt x="62" y="60"/>
                    <a:pt x="74" y="71"/>
                    <a:pt x="74" y="122"/>
                  </a:cubicBezTo>
                  <a:cubicBezTo>
                    <a:pt x="74" y="398"/>
                    <a:pt x="74" y="398"/>
                    <a:pt x="74" y="398"/>
                  </a:cubicBezTo>
                  <a:cubicBezTo>
                    <a:pt x="180" y="398"/>
                    <a:pt x="180" y="398"/>
                    <a:pt x="180" y="398"/>
                  </a:cubicBezTo>
                  <a:cubicBezTo>
                    <a:pt x="180" y="195"/>
                    <a:pt x="180" y="195"/>
                    <a:pt x="180" y="195"/>
                  </a:cubicBezTo>
                  <a:cubicBezTo>
                    <a:pt x="180" y="141"/>
                    <a:pt x="232" y="71"/>
                    <a:pt x="285" y="71"/>
                  </a:cubicBezTo>
                  <a:cubicBezTo>
                    <a:pt x="337" y="71"/>
                    <a:pt x="339" y="113"/>
                    <a:pt x="339" y="183"/>
                  </a:cubicBezTo>
                  <a:cubicBezTo>
                    <a:pt x="339" y="398"/>
                    <a:pt x="339" y="398"/>
                    <a:pt x="339" y="398"/>
                  </a:cubicBezTo>
                  <a:cubicBezTo>
                    <a:pt x="446" y="398"/>
                    <a:pt x="446" y="398"/>
                    <a:pt x="446" y="398"/>
                  </a:cubicBezTo>
                  <a:cubicBezTo>
                    <a:pt x="446" y="122"/>
                    <a:pt x="446" y="122"/>
                    <a:pt x="446" y="122"/>
                  </a:cubicBezTo>
                  <a:cubicBezTo>
                    <a:pt x="446" y="44"/>
                    <a:pt x="404" y="1"/>
                    <a:pt x="328"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8" name="Freeform 62"/>
            <p:cNvSpPr>
              <a:spLocks/>
            </p:cNvSpPr>
            <p:nvPr userDrawn="1"/>
          </p:nvSpPr>
          <p:spPr bwMode="auto">
            <a:xfrm>
              <a:off x="7910291" y="-758964"/>
              <a:ext cx="53786" cy="73955"/>
            </a:xfrm>
            <a:custGeom>
              <a:avLst/>
              <a:gdLst>
                <a:gd name="T0" fmla="*/ 175 w 298"/>
                <a:gd name="T1" fmla="*/ 155 h 407"/>
                <a:gd name="T2" fmla="*/ 97 w 298"/>
                <a:gd name="T3" fmla="*/ 87 h 407"/>
                <a:gd name="T4" fmla="*/ 154 w 298"/>
                <a:gd name="T5" fmla="*/ 50 h 407"/>
                <a:gd name="T6" fmla="*/ 254 w 298"/>
                <a:gd name="T7" fmla="*/ 85 h 407"/>
                <a:gd name="T8" fmla="*/ 270 w 298"/>
                <a:gd name="T9" fmla="*/ 95 h 407"/>
                <a:gd name="T10" fmla="*/ 270 w 298"/>
                <a:gd name="T11" fmla="*/ 15 h 407"/>
                <a:gd name="T12" fmla="*/ 257 w 298"/>
                <a:gd name="T13" fmla="*/ 12 h 407"/>
                <a:gd name="T14" fmla="*/ 160 w 298"/>
                <a:gd name="T15" fmla="*/ 0 h 407"/>
                <a:gd name="T16" fmla="*/ 0 w 298"/>
                <a:gd name="T17" fmla="*/ 115 h 407"/>
                <a:gd name="T18" fmla="*/ 117 w 298"/>
                <a:gd name="T19" fmla="*/ 238 h 407"/>
                <a:gd name="T20" fmla="*/ 200 w 298"/>
                <a:gd name="T21" fmla="*/ 310 h 407"/>
                <a:gd name="T22" fmla="*/ 129 w 298"/>
                <a:gd name="T23" fmla="*/ 356 h 407"/>
                <a:gd name="T24" fmla="*/ 12 w 298"/>
                <a:gd name="T25" fmla="*/ 315 h 407"/>
                <a:gd name="T26" fmla="*/ 0 w 298"/>
                <a:gd name="T27" fmla="*/ 308 h 407"/>
                <a:gd name="T28" fmla="*/ 0 w 298"/>
                <a:gd name="T29" fmla="*/ 391 h 407"/>
                <a:gd name="T30" fmla="*/ 8 w 298"/>
                <a:gd name="T31" fmla="*/ 392 h 407"/>
                <a:gd name="T32" fmla="*/ 125 w 298"/>
                <a:gd name="T33" fmla="*/ 407 h 407"/>
                <a:gd name="T34" fmla="*/ 298 w 298"/>
                <a:gd name="T35" fmla="*/ 288 h 407"/>
                <a:gd name="T36" fmla="*/ 175 w 298"/>
                <a:gd name="T37" fmla="*/ 155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407">
                  <a:moveTo>
                    <a:pt x="175" y="155"/>
                  </a:moveTo>
                  <a:cubicBezTo>
                    <a:pt x="133" y="134"/>
                    <a:pt x="97" y="116"/>
                    <a:pt x="97" y="87"/>
                  </a:cubicBezTo>
                  <a:cubicBezTo>
                    <a:pt x="97" y="54"/>
                    <a:pt x="137" y="50"/>
                    <a:pt x="154" y="50"/>
                  </a:cubicBezTo>
                  <a:cubicBezTo>
                    <a:pt x="198" y="50"/>
                    <a:pt x="237" y="74"/>
                    <a:pt x="254" y="85"/>
                  </a:cubicBezTo>
                  <a:cubicBezTo>
                    <a:pt x="270" y="95"/>
                    <a:pt x="270" y="95"/>
                    <a:pt x="270" y="95"/>
                  </a:cubicBezTo>
                  <a:cubicBezTo>
                    <a:pt x="270" y="15"/>
                    <a:pt x="270" y="15"/>
                    <a:pt x="270" y="15"/>
                  </a:cubicBezTo>
                  <a:cubicBezTo>
                    <a:pt x="257" y="12"/>
                    <a:pt x="257" y="12"/>
                    <a:pt x="257" y="12"/>
                  </a:cubicBezTo>
                  <a:cubicBezTo>
                    <a:pt x="238" y="8"/>
                    <a:pt x="201" y="0"/>
                    <a:pt x="160" y="0"/>
                  </a:cubicBezTo>
                  <a:cubicBezTo>
                    <a:pt x="60" y="0"/>
                    <a:pt x="0" y="43"/>
                    <a:pt x="0" y="115"/>
                  </a:cubicBezTo>
                  <a:cubicBezTo>
                    <a:pt x="0" y="180"/>
                    <a:pt x="62" y="211"/>
                    <a:pt x="117" y="238"/>
                  </a:cubicBezTo>
                  <a:cubicBezTo>
                    <a:pt x="160" y="259"/>
                    <a:pt x="200" y="278"/>
                    <a:pt x="200" y="310"/>
                  </a:cubicBezTo>
                  <a:cubicBezTo>
                    <a:pt x="200" y="339"/>
                    <a:pt x="174" y="356"/>
                    <a:pt x="129" y="356"/>
                  </a:cubicBezTo>
                  <a:cubicBezTo>
                    <a:pt x="79" y="356"/>
                    <a:pt x="37" y="330"/>
                    <a:pt x="12" y="315"/>
                  </a:cubicBezTo>
                  <a:cubicBezTo>
                    <a:pt x="0" y="308"/>
                    <a:pt x="0" y="308"/>
                    <a:pt x="0" y="308"/>
                  </a:cubicBezTo>
                  <a:cubicBezTo>
                    <a:pt x="0" y="391"/>
                    <a:pt x="0" y="391"/>
                    <a:pt x="0" y="391"/>
                  </a:cubicBezTo>
                  <a:cubicBezTo>
                    <a:pt x="8" y="392"/>
                    <a:pt x="8" y="392"/>
                    <a:pt x="8" y="392"/>
                  </a:cubicBezTo>
                  <a:cubicBezTo>
                    <a:pt x="30" y="397"/>
                    <a:pt x="70" y="407"/>
                    <a:pt x="125" y="407"/>
                  </a:cubicBezTo>
                  <a:cubicBezTo>
                    <a:pt x="233" y="407"/>
                    <a:pt x="298" y="362"/>
                    <a:pt x="298" y="288"/>
                  </a:cubicBezTo>
                  <a:cubicBezTo>
                    <a:pt x="298" y="215"/>
                    <a:pt x="233" y="183"/>
                    <a:pt x="17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9" name="Freeform 63"/>
            <p:cNvSpPr>
              <a:spLocks noEditPoints="1"/>
            </p:cNvSpPr>
            <p:nvPr userDrawn="1"/>
          </p:nvSpPr>
          <p:spPr bwMode="auto">
            <a:xfrm>
              <a:off x="7974162" y="-758964"/>
              <a:ext cx="84040" cy="102529"/>
            </a:xfrm>
            <a:custGeom>
              <a:avLst/>
              <a:gdLst>
                <a:gd name="T0" fmla="*/ 292 w 459"/>
                <a:gd name="T1" fmla="*/ 1 h 563"/>
                <a:gd name="T2" fmla="*/ 179 w 459"/>
                <a:gd name="T3" fmla="*/ 56 h 563"/>
                <a:gd name="T4" fmla="*/ 179 w 459"/>
                <a:gd name="T5" fmla="*/ 0 h 563"/>
                <a:gd name="T6" fmla="*/ 170 w 459"/>
                <a:gd name="T7" fmla="*/ 1 h 563"/>
                <a:gd name="T8" fmla="*/ 0 w 459"/>
                <a:gd name="T9" fmla="*/ 28 h 563"/>
                <a:gd name="T10" fmla="*/ 0 w 459"/>
                <a:gd name="T11" fmla="*/ 58 h 563"/>
                <a:gd name="T12" fmla="*/ 8 w 459"/>
                <a:gd name="T13" fmla="*/ 58 h 563"/>
                <a:gd name="T14" fmla="*/ 71 w 459"/>
                <a:gd name="T15" fmla="*/ 122 h 563"/>
                <a:gd name="T16" fmla="*/ 71 w 459"/>
                <a:gd name="T17" fmla="*/ 563 h 563"/>
                <a:gd name="T18" fmla="*/ 178 w 459"/>
                <a:gd name="T19" fmla="*/ 563 h 563"/>
                <a:gd name="T20" fmla="*/ 178 w 459"/>
                <a:gd name="T21" fmla="*/ 362 h 563"/>
                <a:gd name="T22" fmla="*/ 288 w 459"/>
                <a:gd name="T23" fmla="*/ 408 h 563"/>
                <a:gd name="T24" fmla="*/ 459 w 459"/>
                <a:gd name="T25" fmla="*/ 198 h 563"/>
                <a:gd name="T26" fmla="*/ 292 w 459"/>
                <a:gd name="T27" fmla="*/ 1 h 563"/>
                <a:gd name="T28" fmla="*/ 261 w 459"/>
                <a:gd name="T29" fmla="*/ 60 h 563"/>
                <a:gd name="T30" fmla="*/ 343 w 459"/>
                <a:gd name="T31" fmla="*/ 198 h 563"/>
                <a:gd name="T32" fmla="*/ 262 w 459"/>
                <a:gd name="T33" fmla="*/ 349 h 563"/>
                <a:gd name="T34" fmla="*/ 178 w 459"/>
                <a:gd name="T35" fmla="*/ 230 h 563"/>
                <a:gd name="T36" fmla="*/ 178 w 459"/>
                <a:gd name="T37" fmla="*/ 196 h 563"/>
                <a:gd name="T38" fmla="*/ 261 w 459"/>
                <a:gd name="T39" fmla="*/ 60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9" h="563">
                  <a:moveTo>
                    <a:pt x="292" y="1"/>
                  </a:moveTo>
                  <a:cubicBezTo>
                    <a:pt x="252" y="1"/>
                    <a:pt x="214" y="20"/>
                    <a:pt x="179" y="56"/>
                  </a:cubicBezTo>
                  <a:cubicBezTo>
                    <a:pt x="179" y="37"/>
                    <a:pt x="179" y="0"/>
                    <a:pt x="179" y="0"/>
                  </a:cubicBezTo>
                  <a:cubicBezTo>
                    <a:pt x="170" y="1"/>
                    <a:pt x="170" y="1"/>
                    <a:pt x="170" y="1"/>
                  </a:cubicBezTo>
                  <a:cubicBezTo>
                    <a:pt x="0" y="28"/>
                    <a:pt x="0" y="28"/>
                    <a:pt x="0" y="28"/>
                  </a:cubicBezTo>
                  <a:cubicBezTo>
                    <a:pt x="0" y="58"/>
                    <a:pt x="0" y="58"/>
                    <a:pt x="0" y="58"/>
                  </a:cubicBezTo>
                  <a:cubicBezTo>
                    <a:pt x="8" y="58"/>
                    <a:pt x="8" y="58"/>
                    <a:pt x="8" y="58"/>
                  </a:cubicBezTo>
                  <a:cubicBezTo>
                    <a:pt x="61" y="60"/>
                    <a:pt x="71" y="70"/>
                    <a:pt x="71" y="122"/>
                  </a:cubicBezTo>
                  <a:cubicBezTo>
                    <a:pt x="71" y="563"/>
                    <a:pt x="71" y="563"/>
                    <a:pt x="71" y="563"/>
                  </a:cubicBezTo>
                  <a:cubicBezTo>
                    <a:pt x="178" y="563"/>
                    <a:pt x="178" y="563"/>
                    <a:pt x="178" y="563"/>
                  </a:cubicBezTo>
                  <a:cubicBezTo>
                    <a:pt x="178" y="563"/>
                    <a:pt x="178" y="395"/>
                    <a:pt x="178" y="362"/>
                  </a:cubicBezTo>
                  <a:cubicBezTo>
                    <a:pt x="198" y="386"/>
                    <a:pt x="229" y="408"/>
                    <a:pt x="288" y="408"/>
                  </a:cubicBezTo>
                  <a:cubicBezTo>
                    <a:pt x="400" y="408"/>
                    <a:pt x="459" y="335"/>
                    <a:pt x="459" y="198"/>
                  </a:cubicBezTo>
                  <a:cubicBezTo>
                    <a:pt x="459" y="73"/>
                    <a:pt x="398" y="1"/>
                    <a:pt x="292" y="1"/>
                  </a:cubicBezTo>
                  <a:moveTo>
                    <a:pt x="261" y="60"/>
                  </a:moveTo>
                  <a:cubicBezTo>
                    <a:pt x="334" y="60"/>
                    <a:pt x="343" y="139"/>
                    <a:pt x="343" y="198"/>
                  </a:cubicBezTo>
                  <a:cubicBezTo>
                    <a:pt x="343" y="300"/>
                    <a:pt x="317" y="349"/>
                    <a:pt x="262" y="349"/>
                  </a:cubicBezTo>
                  <a:cubicBezTo>
                    <a:pt x="193" y="349"/>
                    <a:pt x="178" y="284"/>
                    <a:pt x="178" y="230"/>
                  </a:cubicBezTo>
                  <a:cubicBezTo>
                    <a:pt x="178" y="196"/>
                    <a:pt x="178" y="196"/>
                    <a:pt x="178" y="196"/>
                  </a:cubicBezTo>
                  <a:cubicBezTo>
                    <a:pt x="178" y="155"/>
                    <a:pt x="186" y="60"/>
                    <a:pt x="26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0" name="Freeform 64"/>
            <p:cNvSpPr>
              <a:spLocks/>
            </p:cNvSpPr>
            <p:nvPr userDrawn="1"/>
          </p:nvSpPr>
          <p:spPr bwMode="auto">
            <a:xfrm>
              <a:off x="8071648" y="-758964"/>
              <a:ext cx="33616" cy="72275"/>
            </a:xfrm>
            <a:custGeom>
              <a:avLst/>
              <a:gdLst>
                <a:gd name="T0" fmla="*/ 0 w 178"/>
                <a:gd name="T1" fmla="*/ 28 h 398"/>
                <a:gd name="T2" fmla="*/ 0 w 178"/>
                <a:gd name="T3" fmla="*/ 58 h 398"/>
                <a:gd name="T4" fmla="*/ 8 w 178"/>
                <a:gd name="T5" fmla="*/ 58 h 398"/>
                <a:gd name="T6" fmla="*/ 71 w 178"/>
                <a:gd name="T7" fmla="*/ 122 h 398"/>
                <a:gd name="T8" fmla="*/ 71 w 178"/>
                <a:gd name="T9" fmla="*/ 398 h 398"/>
                <a:gd name="T10" fmla="*/ 178 w 178"/>
                <a:gd name="T11" fmla="*/ 398 h 398"/>
                <a:gd name="T12" fmla="*/ 178 w 178"/>
                <a:gd name="T13" fmla="*/ 0 h 398"/>
                <a:gd name="T14" fmla="*/ 169 w 178"/>
                <a:gd name="T15" fmla="*/ 1 h 398"/>
                <a:gd name="T16" fmla="*/ 0 w 178"/>
                <a:gd name="T17" fmla="*/ 2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398">
                  <a:moveTo>
                    <a:pt x="0" y="28"/>
                  </a:moveTo>
                  <a:cubicBezTo>
                    <a:pt x="0" y="58"/>
                    <a:pt x="0" y="58"/>
                    <a:pt x="0" y="58"/>
                  </a:cubicBezTo>
                  <a:cubicBezTo>
                    <a:pt x="8" y="58"/>
                    <a:pt x="8" y="58"/>
                    <a:pt x="8" y="58"/>
                  </a:cubicBezTo>
                  <a:cubicBezTo>
                    <a:pt x="60" y="60"/>
                    <a:pt x="71" y="70"/>
                    <a:pt x="71" y="122"/>
                  </a:cubicBezTo>
                  <a:cubicBezTo>
                    <a:pt x="71" y="398"/>
                    <a:pt x="71" y="398"/>
                    <a:pt x="71" y="398"/>
                  </a:cubicBezTo>
                  <a:cubicBezTo>
                    <a:pt x="178" y="398"/>
                    <a:pt x="178" y="398"/>
                    <a:pt x="178" y="398"/>
                  </a:cubicBezTo>
                  <a:cubicBezTo>
                    <a:pt x="178" y="0"/>
                    <a:pt x="178" y="0"/>
                    <a:pt x="178" y="0"/>
                  </a:cubicBezTo>
                  <a:cubicBezTo>
                    <a:pt x="169" y="1"/>
                    <a:pt x="169" y="1"/>
                    <a:pt x="169" y="1"/>
                  </a:cubicBezTo>
                  <a:cubicBezTo>
                    <a:pt x="0" y="28"/>
                    <a:pt x="0" y="28"/>
                    <a:pt x="0" y="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1" name="Freeform 65"/>
            <p:cNvSpPr>
              <a:spLocks/>
            </p:cNvSpPr>
            <p:nvPr userDrawn="1"/>
          </p:nvSpPr>
          <p:spPr bwMode="auto">
            <a:xfrm>
              <a:off x="8083415" y="-789219"/>
              <a:ext cx="23531" cy="20170"/>
            </a:xfrm>
            <a:custGeom>
              <a:avLst/>
              <a:gdLst>
                <a:gd name="T0" fmla="*/ 64 w 132"/>
                <a:gd name="T1" fmla="*/ 116 h 116"/>
                <a:gd name="T2" fmla="*/ 132 w 132"/>
                <a:gd name="T3" fmla="*/ 57 h 116"/>
                <a:gd name="T4" fmla="*/ 65 w 132"/>
                <a:gd name="T5" fmla="*/ 0 h 116"/>
                <a:gd name="T6" fmla="*/ 0 w 132"/>
                <a:gd name="T7" fmla="*/ 57 h 116"/>
                <a:gd name="T8" fmla="*/ 64 w 132"/>
                <a:gd name="T9" fmla="*/ 116 h 116"/>
              </a:gdLst>
              <a:ahLst/>
              <a:cxnLst>
                <a:cxn ang="0">
                  <a:pos x="T0" y="T1"/>
                </a:cxn>
                <a:cxn ang="0">
                  <a:pos x="T2" y="T3"/>
                </a:cxn>
                <a:cxn ang="0">
                  <a:pos x="T4" y="T5"/>
                </a:cxn>
                <a:cxn ang="0">
                  <a:pos x="T6" y="T7"/>
                </a:cxn>
                <a:cxn ang="0">
                  <a:pos x="T8" y="T9"/>
                </a:cxn>
              </a:cxnLst>
              <a:rect l="0" t="0" r="r" b="b"/>
              <a:pathLst>
                <a:path w="132" h="116">
                  <a:moveTo>
                    <a:pt x="64" y="116"/>
                  </a:moveTo>
                  <a:cubicBezTo>
                    <a:pt x="102" y="116"/>
                    <a:pt x="132" y="89"/>
                    <a:pt x="132" y="57"/>
                  </a:cubicBezTo>
                  <a:cubicBezTo>
                    <a:pt x="132" y="26"/>
                    <a:pt x="102" y="0"/>
                    <a:pt x="65" y="0"/>
                  </a:cubicBezTo>
                  <a:cubicBezTo>
                    <a:pt x="29" y="0"/>
                    <a:pt x="0" y="26"/>
                    <a:pt x="0" y="57"/>
                  </a:cubicBezTo>
                  <a:cubicBezTo>
                    <a:pt x="0" y="89"/>
                    <a:pt x="29" y="116"/>
                    <a:pt x="64" y="11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2" name="Freeform 66"/>
            <p:cNvSpPr>
              <a:spLocks/>
            </p:cNvSpPr>
            <p:nvPr userDrawn="1"/>
          </p:nvSpPr>
          <p:spPr bwMode="auto">
            <a:xfrm>
              <a:off x="8123754" y="-758964"/>
              <a:ext cx="63870" cy="72275"/>
            </a:xfrm>
            <a:custGeom>
              <a:avLst/>
              <a:gdLst>
                <a:gd name="T0" fmla="*/ 345 w 345"/>
                <a:gd name="T1" fmla="*/ 89 h 398"/>
                <a:gd name="T2" fmla="*/ 345 w 345"/>
                <a:gd name="T3" fmla="*/ 6 h 398"/>
                <a:gd name="T4" fmla="*/ 339 w 345"/>
                <a:gd name="T5" fmla="*/ 5 h 398"/>
                <a:gd name="T6" fmla="*/ 288 w 345"/>
                <a:gd name="T7" fmla="*/ 1 h 398"/>
                <a:gd name="T8" fmla="*/ 179 w 345"/>
                <a:gd name="T9" fmla="*/ 80 h 398"/>
                <a:gd name="T10" fmla="*/ 179 w 345"/>
                <a:gd name="T11" fmla="*/ 0 h 398"/>
                <a:gd name="T12" fmla="*/ 170 w 345"/>
                <a:gd name="T13" fmla="*/ 1 h 398"/>
                <a:gd name="T14" fmla="*/ 0 w 345"/>
                <a:gd name="T15" fmla="*/ 28 h 398"/>
                <a:gd name="T16" fmla="*/ 0 w 345"/>
                <a:gd name="T17" fmla="*/ 58 h 398"/>
                <a:gd name="T18" fmla="*/ 7 w 345"/>
                <a:gd name="T19" fmla="*/ 58 h 398"/>
                <a:gd name="T20" fmla="*/ 72 w 345"/>
                <a:gd name="T21" fmla="*/ 122 h 398"/>
                <a:gd name="T22" fmla="*/ 72 w 345"/>
                <a:gd name="T23" fmla="*/ 398 h 398"/>
                <a:gd name="T24" fmla="*/ 179 w 345"/>
                <a:gd name="T25" fmla="*/ 398 h 398"/>
                <a:gd name="T26" fmla="*/ 179 w 345"/>
                <a:gd name="T27" fmla="*/ 199 h 398"/>
                <a:gd name="T28" fmla="*/ 291 w 345"/>
                <a:gd name="T29" fmla="*/ 87 h 398"/>
                <a:gd name="T30" fmla="*/ 328 w 345"/>
                <a:gd name="T31" fmla="*/ 94 h 398"/>
                <a:gd name="T32" fmla="*/ 345 w 345"/>
                <a:gd name="T33" fmla="*/ 99 h 398"/>
                <a:gd name="T34" fmla="*/ 345 w 345"/>
                <a:gd name="T35" fmla="*/ 89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5" h="398">
                  <a:moveTo>
                    <a:pt x="345" y="89"/>
                  </a:moveTo>
                  <a:cubicBezTo>
                    <a:pt x="345" y="6"/>
                    <a:pt x="345" y="6"/>
                    <a:pt x="345" y="6"/>
                  </a:cubicBezTo>
                  <a:cubicBezTo>
                    <a:pt x="339" y="5"/>
                    <a:pt x="339" y="5"/>
                    <a:pt x="339" y="5"/>
                  </a:cubicBezTo>
                  <a:cubicBezTo>
                    <a:pt x="321" y="2"/>
                    <a:pt x="304" y="1"/>
                    <a:pt x="288" y="1"/>
                  </a:cubicBezTo>
                  <a:cubicBezTo>
                    <a:pt x="228" y="1"/>
                    <a:pt x="196" y="45"/>
                    <a:pt x="179" y="80"/>
                  </a:cubicBezTo>
                  <a:cubicBezTo>
                    <a:pt x="179" y="48"/>
                    <a:pt x="179" y="0"/>
                    <a:pt x="179" y="0"/>
                  </a:cubicBezTo>
                  <a:cubicBezTo>
                    <a:pt x="170" y="1"/>
                    <a:pt x="170" y="1"/>
                    <a:pt x="170" y="1"/>
                  </a:cubicBezTo>
                  <a:cubicBezTo>
                    <a:pt x="0" y="28"/>
                    <a:pt x="0" y="28"/>
                    <a:pt x="0" y="28"/>
                  </a:cubicBezTo>
                  <a:cubicBezTo>
                    <a:pt x="0" y="58"/>
                    <a:pt x="0" y="58"/>
                    <a:pt x="0" y="58"/>
                  </a:cubicBezTo>
                  <a:cubicBezTo>
                    <a:pt x="7" y="58"/>
                    <a:pt x="7" y="58"/>
                    <a:pt x="7" y="58"/>
                  </a:cubicBezTo>
                  <a:cubicBezTo>
                    <a:pt x="61" y="60"/>
                    <a:pt x="72" y="70"/>
                    <a:pt x="72" y="122"/>
                  </a:cubicBezTo>
                  <a:cubicBezTo>
                    <a:pt x="72" y="398"/>
                    <a:pt x="72" y="398"/>
                    <a:pt x="72" y="398"/>
                  </a:cubicBezTo>
                  <a:cubicBezTo>
                    <a:pt x="179" y="398"/>
                    <a:pt x="179" y="398"/>
                    <a:pt x="179" y="398"/>
                  </a:cubicBezTo>
                  <a:cubicBezTo>
                    <a:pt x="179" y="199"/>
                    <a:pt x="179" y="199"/>
                    <a:pt x="179" y="199"/>
                  </a:cubicBezTo>
                  <a:cubicBezTo>
                    <a:pt x="179" y="165"/>
                    <a:pt x="190" y="87"/>
                    <a:pt x="291" y="87"/>
                  </a:cubicBezTo>
                  <a:cubicBezTo>
                    <a:pt x="302" y="87"/>
                    <a:pt x="315" y="91"/>
                    <a:pt x="328" y="94"/>
                  </a:cubicBezTo>
                  <a:cubicBezTo>
                    <a:pt x="345" y="99"/>
                    <a:pt x="345" y="99"/>
                    <a:pt x="345" y="99"/>
                  </a:cubicBezTo>
                  <a:cubicBezTo>
                    <a:pt x="345" y="89"/>
                    <a:pt x="345" y="89"/>
                    <a:pt x="345" y="8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3" name="Freeform 67"/>
            <p:cNvSpPr>
              <a:spLocks noEditPoints="1"/>
            </p:cNvSpPr>
            <p:nvPr userDrawn="1"/>
          </p:nvSpPr>
          <p:spPr bwMode="auto">
            <a:xfrm>
              <a:off x="8196028" y="-758964"/>
              <a:ext cx="68913" cy="73955"/>
            </a:xfrm>
            <a:custGeom>
              <a:avLst/>
              <a:gdLst>
                <a:gd name="T0" fmla="*/ 377 w 377"/>
                <a:gd name="T1" fmla="*/ 161 h 407"/>
                <a:gd name="T2" fmla="*/ 200 w 377"/>
                <a:gd name="T3" fmla="*/ 0 h 407"/>
                <a:gd name="T4" fmla="*/ 0 w 377"/>
                <a:gd name="T5" fmla="*/ 190 h 407"/>
                <a:gd name="T6" fmla="*/ 232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6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7"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2" y="348"/>
                    <a:pt x="119" y="253"/>
                    <a:pt x="116" y="169"/>
                  </a:cubicBezTo>
                  <a:cubicBezTo>
                    <a:pt x="131" y="169"/>
                    <a:pt x="377" y="169"/>
                    <a:pt x="377" y="169"/>
                  </a:cubicBezTo>
                  <a:cubicBezTo>
                    <a:pt x="377" y="161"/>
                    <a:pt x="377" y="161"/>
                    <a:pt x="377" y="161"/>
                  </a:cubicBezTo>
                  <a:moveTo>
                    <a:pt x="197" y="42"/>
                  </a:moveTo>
                  <a:cubicBezTo>
                    <a:pt x="254" y="42"/>
                    <a:pt x="269" y="84"/>
                    <a:pt x="270" y="122"/>
                  </a:cubicBezTo>
                  <a:cubicBezTo>
                    <a:pt x="257" y="122"/>
                    <a:pt x="131" y="122"/>
                    <a:pt x="117" y="122"/>
                  </a:cubicBezTo>
                  <a:cubicBezTo>
                    <a:pt x="120"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4" name="Freeform 68"/>
            <p:cNvSpPr>
              <a:spLocks/>
            </p:cNvSpPr>
            <p:nvPr userDrawn="1"/>
          </p:nvSpPr>
          <p:spPr bwMode="auto">
            <a:xfrm>
              <a:off x="8384278" y="-792580"/>
              <a:ext cx="80678" cy="105891"/>
            </a:xfrm>
            <a:custGeom>
              <a:avLst/>
              <a:gdLst>
                <a:gd name="T0" fmla="*/ 325 w 445"/>
                <a:gd name="T1" fmla="*/ 181 h 578"/>
                <a:gd name="T2" fmla="*/ 178 w 445"/>
                <a:gd name="T3" fmla="*/ 266 h 578"/>
                <a:gd name="T4" fmla="*/ 178 w 445"/>
                <a:gd name="T5" fmla="*/ 0 h 578"/>
                <a:gd name="T6" fmla="*/ 170 w 445"/>
                <a:gd name="T7" fmla="*/ 1 h 578"/>
                <a:gd name="T8" fmla="*/ 0 w 445"/>
                <a:gd name="T9" fmla="*/ 22 h 578"/>
                <a:gd name="T10" fmla="*/ 0 w 445"/>
                <a:gd name="T11" fmla="*/ 52 h 578"/>
                <a:gd name="T12" fmla="*/ 8 w 445"/>
                <a:gd name="T13" fmla="*/ 52 h 578"/>
                <a:gd name="T14" fmla="*/ 72 w 445"/>
                <a:gd name="T15" fmla="*/ 118 h 578"/>
                <a:gd name="T16" fmla="*/ 72 w 445"/>
                <a:gd name="T17" fmla="*/ 578 h 578"/>
                <a:gd name="T18" fmla="*/ 178 w 445"/>
                <a:gd name="T19" fmla="*/ 578 h 578"/>
                <a:gd name="T20" fmla="*/ 178 w 445"/>
                <a:gd name="T21" fmla="*/ 380 h 578"/>
                <a:gd name="T22" fmla="*/ 279 w 445"/>
                <a:gd name="T23" fmla="*/ 251 h 578"/>
                <a:gd name="T24" fmla="*/ 339 w 445"/>
                <a:gd name="T25" fmla="*/ 335 h 578"/>
                <a:gd name="T26" fmla="*/ 339 w 445"/>
                <a:gd name="T27" fmla="*/ 578 h 578"/>
                <a:gd name="T28" fmla="*/ 445 w 445"/>
                <a:gd name="T29" fmla="*/ 578 h 578"/>
                <a:gd name="T30" fmla="*/ 445 w 445"/>
                <a:gd name="T31" fmla="*/ 323 h 578"/>
                <a:gd name="T32" fmla="*/ 325 w 445"/>
                <a:gd name="T33" fmla="*/ 18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5" h="578">
                  <a:moveTo>
                    <a:pt x="325" y="181"/>
                  </a:moveTo>
                  <a:cubicBezTo>
                    <a:pt x="246" y="181"/>
                    <a:pt x="201" y="230"/>
                    <a:pt x="178" y="266"/>
                  </a:cubicBezTo>
                  <a:cubicBezTo>
                    <a:pt x="178" y="223"/>
                    <a:pt x="178" y="0"/>
                    <a:pt x="178" y="0"/>
                  </a:cubicBezTo>
                  <a:cubicBezTo>
                    <a:pt x="170" y="1"/>
                    <a:pt x="170" y="1"/>
                    <a:pt x="170" y="1"/>
                  </a:cubicBezTo>
                  <a:cubicBezTo>
                    <a:pt x="0" y="22"/>
                    <a:pt x="0" y="22"/>
                    <a:pt x="0" y="22"/>
                  </a:cubicBezTo>
                  <a:cubicBezTo>
                    <a:pt x="0" y="52"/>
                    <a:pt x="0" y="52"/>
                    <a:pt x="0" y="52"/>
                  </a:cubicBezTo>
                  <a:cubicBezTo>
                    <a:pt x="8" y="52"/>
                    <a:pt x="8" y="52"/>
                    <a:pt x="8" y="52"/>
                  </a:cubicBezTo>
                  <a:cubicBezTo>
                    <a:pt x="60" y="54"/>
                    <a:pt x="72" y="66"/>
                    <a:pt x="72" y="118"/>
                  </a:cubicBezTo>
                  <a:cubicBezTo>
                    <a:pt x="72" y="578"/>
                    <a:pt x="72" y="578"/>
                    <a:pt x="72" y="578"/>
                  </a:cubicBezTo>
                  <a:cubicBezTo>
                    <a:pt x="178" y="578"/>
                    <a:pt x="178" y="578"/>
                    <a:pt x="178" y="578"/>
                  </a:cubicBezTo>
                  <a:cubicBezTo>
                    <a:pt x="178" y="380"/>
                    <a:pt x="178" y="380"/>
                    <a:pt x="178" y="380"/>
                  </a:cubicBezTo>
                  <a:cubicBezTo>
                    <a:pt x="178" y="307"/>
                    <a:pt x="233" y="251"/>
                    <a:pt x="279" y="251"/>
                  </a:cubicBezTo>
                  <a:cubicBezTo>
                    <a:pt x="339" y="251"/>
                    <a:pt x="339" y="296"/>
                    <a:pt x="339" y="335"/>
                  </a:cubicBezTo>
                  <a:cubicBezTo>
                    <a:pt x="339" y="578"/>
                    <a:pt x="339" y="578"/>
                    <a:pt x="339" y="578"/>
                  </a:cubicBezTo>
                  <a:cubicBezTo>
                    <a:pt x="445" y="578"/>
                    <a:pt x="445" y="578"/>
                    <a:pt x="445" y="578"/>
                  </a:cubicBezTo>
                  <a:cubicBezTo>
                    <a:pt x="445" y="323"/>
                    <a:pt x="445" y="323"/>
                    <a:pt x="445" y="323"/>
                  </a:cubicBezTo>
                  <a:cubicBezTo>
                    <a:pt x="445" y="280"/>
                    <a:pt x="445" y="181"/>
                    <a:pt x="325" y="18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5" name="Freeform 69"/>
            <p:cNvSpPr>
              <a:spLocks noEditPoints="1"/>
            </p:cNvSpPr>
            <p:nvPr userDrawn="1"/>
          </p:nvSpPr>
          <p:spPr bwMode="auto">
            <a:xfrm>
              <a:off x="8485126" y="-758964"/>
              <a:ext cx="68913" cy="73955"/>
            </a:xfrm>
            <a:custGeom>
              <a:avLst/>
              <a:gdLst>
                <a:gd name="T0" fmla="*/ 377 w 377"/>
                <a:gd name="T1" fmla="*/ 161 h 407"/>
                <a:gd name="T2" fmla="*/ 200 w 377"/>
                <a:gd name="T3" fmla="*/ 0 h 407"/>
                <a:gd name="T4" fmla="*/ 0 w 377"/>
                <a:gd name="T5" fmla="*/ 190 h 407"/>
                <a:gd name="T6" fmla="*/ 233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7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8" y="0"/>
                    <a:pt x="0" y="64"/>
                    <a:pt x="0" y="190"/>
                  </a:cubicBezTo>
                  <a:cubicBezTo>
                    <a:pt x="0" y="326"/>
                    <a:pt x="87" y="407"/>
                    <a:pt x="233"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1" y="348"/>
                    <a:pt x="119" y="253"/>
                    <a:pt x="117" y="169"/>
                  </a:cubicBezTo>
                  <a:cubicBezTo>
                    <a:pt x="131" y="169"/>
                    <a:pt x="377" y="169"/>
                    <a:pt x="377" y="169"/>
                  </a:cubicBezTo>
                  <a:cubicBezTo>
                    <a:pt x="377" y="161"/>
                    <a:pt x="377" y="161"/>
                    <a:pt x="377" y="161"/>
                  </a:cubicBezTo>
                  <a:moveTo>
                    <a:pt x="197" y="42"/>
                  </a:moveTo>
                  <a:cubicBezTo>
                    <a:pt x="254" y="42"/>
                    <a:pt x="268" y="84"/>
                    <a:pt x="270" y="122"/>
                  </a:cubicBezTo>
                  <a:cubicBezTo>
                    <a:pt x="256" y="122"/>
                    <a:pt x="130" y="122"/>
                    <a:pt x="117" y="122"/>
                  </a:cubicBezTo>
                  <a:cubicBezTo>
                    <a:pt x="119"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6" name="Freeform 70"/>
            <p:cNvSpPr>
              <a:spLocks/>
            </p:cNvSpPr>
            <p:nvPr userDrawn="1"/>
          </p:nvSpPr>
          <p:spPr bwMode="auto">
            <a:xfrm>
              <a:off x="8320407"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9"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2" y="468"/>
                    <a:pt x="178" y="449"/>
                    <a:pt x="178" y="394"/>
                  </a:cubicBezTo>
                  <a:cubicBezTo>
                    <a:pt x="178" y="394"/>
                    <a:pt x="178" y="182"/>
                    <a:pt x="178" y="168"/>
                  </a:cubicBezTo>
                  <a:cubicBezTo>
                    <a:pt x="192" y="168"/>
                    <a:pt x="298" y="168"/>
                    <a:pt x="298" y="168"/>
                  </a:cubicBezTo>
                  <a:cubicBezTo>
                    <a:pt x="298" y="121"/>
                    <a:pt x="298" y="121"/>
                    <a:pt x="298" y="121"/>
                  </a:cubicBezTo>
                  <a:cubicBezTo>
                    <a:pt x="298" y="121"/>
                    <a:pt x="192"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7" name="Freeform 71"/>
            <p:cNvSpPr>
              <a:spLocks/>
            </p:cNvSpPr>
            <p:nvPr userDrawn="1"/>
          </p:nvSpPr>
          <p:spPr bwMode="auto">
            <a:xfrm>
              <a:off x="8602782" y="-789219"/>
              <a:ext cx="117656" cy="102529"/>
            </a:xfrm>
            <a:custGeom>
              <a:avLst/>
              <a:gdLst>
                <a:gd name="T0" fmla="*/ 632 w 640"/>
                <a:gd name="T1" fmla="*/ 0 h 556"/>
                <a:gd name="T2" fmla="*/ 525 w 640"/>
                <a:gd name="T3" fmla="*/ 0 h 556"/>
                <a:gd name="T4" fmla="*/ 525 w 640"/>
                <a:gd name="T5" fmla="*/ 423 h 556"/>
                <a:gd name="T6" fmla="*/ 246 w 640"/>
                <a:gd name="T7" fmla="*/ 0 h 556"/>
                <a:gd name="T8" fmla="*/ 0 w 640"/>
                <a:gd name="T9" fmla="*/ 0 h 556"/>
                <a:gd name="T10" fmla="*/ 0 w 640"/>
                <a:gd name="T11" fmla="*/ 32 h 556"/>
                <a:gd name="T12" fmla="*/ 21 w 640"/>
                <a:gd name="T13" fmla="*/ 36 h 556"/>
                <a:gd name="T14" fmla="*/ 91 w 640"/>
                <a:gd name="T15" fmla="*/ 111 h 556"/>
                <a:gd name="T16" fmla="*/ 91 w 640"/>
                <a:gd name="T17" fmla="*/ 556 h 556"/>
                <a:gd name="T18" fmla="*/ 206 w 640"/>
                <a:gd name="T19" fmla="*/ 556 h 556"/>
                <a:gd name="T20" fmla="*/ 206 w 640"/>
                <a:gd name="T21" fmla="*/ 114 h 556"/>
                <a:gd name="T22" fmla="*/ 498 w 640"/>
                <a:gd name="T23" fmla="*/ 556 h 556"/>
                <a:gd name="T24" fmla="*/ 640 w 640"/>
                <a:gd name="T25" fmla="*/ 556 h 556"/>
                <a:gd name="T26" fmla="*/ 640 w 640"/>
                <a:gd name="T27" fmla="*/ 0 h 556"/>
                <a:gd name="T28" fmla="*/ 632 w 640"/>
                <a:gd name="T2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0" h="556">
                  <a:moveTo>
                    <a:pt x="632" y="0"/>
                  </a:moveTo>
                  <a:cubicBezTo>
                    <a:pt x="525" y="0"/>
                    <a:pt x="525" y="0"/>
                    <a:pt x="525" y="0"/>
                  </a:cubicBezTo>
                  <a:cubicBezTo>
                    <a:pt x="525" y="0"/>
                    <a:pt x="525" y="382"/>
                    <a:pt x="525" y="423"/>
                  </a:cubicBezTo>
                  <a:cubicBezTo>
                    <a:pt x="503" y="389"/>
                    <a:pt x="246" y="0"/>
                    <a:pt x="246" y="0"/>
                  </a:cubicBezTo>
                  <a:cubicBezTo>
                    <a:pt x="0" y="0"/>
                    <a:pt x="0" y="0"/>
                    <a:pt x="0" y="0"/>
                  </a:cubicBezTo>
                  <a:cubicBezTo>
                    <a:pt x="0" y="32"/>
                    <a:pt x="0" y="32"/>
                    <a:pt x="0" y="32"/>
                  </a:cubicBezTo>
                  <a:cubicBezTo>
                    <a:pt x="21" y="36"/>
                    <a:pt x="21" y="36"/>
                    <a:pt x="21" y="36"/>
                  </a:cubicBezTo>
                  <a:cubicBezTo>
                    <a:pt x="86" y="47"/>
                    <a:pt x="91" y="47"/>
                    <a:pt x="91" y="111"/>
                  </a:cubicBezTo>
                  <a:cubicBezTo>
                    <a:pt x="91" y="556"/>
                    <a:pt x="91" y="556"/>
                    <a:pt x="91" y="556"/>
                  </a:cubicBezTo>
                  <a:cubicBezTo>
                    <a:pt x="206" y="556"/>
                    <a:pt x="206" y="556"/>
                    <a:pt x="206" y="556"/>
                  </a:cubicBezTo>
                  <a:cubicBezTo>
                    <a:pt x="206" y="556"/>
                    <a:pt x="206" y="155"/>
                    <a:pt x="206" y="114"/>
                  </a:cubicBezTo>
                  <a:cubicBezTo>
                    <a:pt x="228" y="148"/>
                    <a:pt x="498" y="556"/>
                    <a:pt x="498" y="556"/>
                  </a:cubicBezTo>
                  <a:cubicBezTo>
                    <a:pt x="640" y="556"/>
                    <a:pt x="640" y="556"/>
                    <a:pt x="640" y="556"/>
                  </a:cubicBezTo>
                  <a:cubicBezTo>
                    <a:pt x="640" y="0"/>
                    <a:pt x="640" y="0"/>
                    <a:pt x="640" y="0"/>
                  </a:cubicBezTo>
                  <a:cubicBezTo>
                    <a:pt x="632" y="0"/>
                    <a:pt x="632" y="0"/>
                    <a:pt x="6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8" name="Freeform 72"/>
            <p:cNvSpPr>
              <a:spLocks noEditPoints="1"/>
            </p:cNvSpPr>
            <p:nvPr userDrawn="1"/>
          </p:nvSpPr>
          <p:spPr bwMode="auto">
            <a:xfrm>
              <a:off x="8738927" y="-758964"/>
              <a:ext cx="70594" cy="73955"/>
            </a:xfrm>
            <a:custGeom>
              <a:avLst/>
              <a:gdLst>
                <a:gd name="T0" fmla="*/ 378 w 378"/>
                <a:gd name="T1" fmla="*/ 161 h 407"/>
                <a:gd name="T2" fmla="*/ 200 w 378"/>
                <a:gd name="T3" fmla="*/ 0 h 407"/>
                <a:gd name="T4" fmla="*/ 0 w 378"/>
                <a:gd name="T5" fmla="*/ 190 h 407"/>
                <a:gd name="T6" fmla="*/ 232 w 378"/>
                <a:gd name="T7" fmla="*/ 407 h 407"/>
                <a:gd name="T8" fmla="*/ 363 w 378"/>
                <a:gd name="T9" fmla="*/ 385 h 407"/>
                <a:gd name="T10" fmla="*/ 369 w 378"/>
                <a:gd name="T11" fmla="*/ 383 h 407"/>
                <a:gd name="T12" fmla="*/ 369 w 378"/>
                <a:gd name="T13" fmla="*/ 331 h 407"/>
                <a:gd name="T14" fmla="*/ 359 w 378"/>
                <a:gd name="T15" fmla="*/ 335 h 407"/>
                <a:gd name="T16" fmla="*/ 276 w 378"/>
                <a:gd name="T17" fmla="*/ 348 h 407"/>
                <a:gd name="T18" fmla="*/ 117 w 378"/>
                <a:gd name="T19" fmla="*/ 169 h 407"/>
                <a:gd name="T20" fmla="*/ 378 w 378"/>
                <a:gd name="T21" fmla="*/ 169 h 407"/>
                <a:gd name="T22" fmla="*/ 378 w 378"/>
                <a:gd name="T23" fmla="*/ 161 h 407"/>
                <a:gd name="T24" fmla="*/ 196 w 378"/>
                <a:gd name="T25" fmla="*/ 42 h 407"/>
                <a:gd name="T26" fmla="*/ 270 w 378"/>
                <a:gd name="T27" fmla="*/ 122 h 407"/>
                <a:gd name="T28" fmla="*/ 117 w 378"/>
                <a:gd name="T29" fmla="*/ 122 h 407"/>
                <a:gd name="T30" fmla="*/ 196 w 378"/>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8" h="407">
                  <a:moveTo>
                    <a:pt x="378" y="161"/>
                  </a:moveTo>
                  <a:cubicBezTo>
                    <a:pt x="378" y="54"/>
                    <a:pt x="318" y="0"/>
                    <a:pt x="200" y="0"/>
                  </a:cubicBezTo>
                  <a:cubicBezTo>
                    <a:pt x="68"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6" y="348"/>
                  </a:cubicBezTo>
                  <a:cubicBezTo>
                    <a:pt x="161" y="348"/>
                    <a:pt x="119" y="253"/>
                    <a:pt x="117" y="169"/>
                  </a:cubicBezTo>
                  <a:cubicBezTo>
                    <a:pt x="131" y="169"/>
                    <a:pt x="378" y="169"/>
                    <a:pt x="378" y="169"/>
                  </a:cubicBezTo>
                  <a:cubicBezTo>
                    <a:pt x="378" y="161"/>
                    <a:pt x="378" y="161"/>
                    <a:pt x="378" y="161"/>
                  </a:cubicBezTo>
                  <a:moveTo>
                    <a:pt x="196" y="42"/>
                  </a:moveTo>
                  <a:cubicBezTo>
                    <a:pt x="254" y="42"/>
                    <a:pt x="269" y="84"/>
                    <a:pt x="270" y="122"/>
                  </a:cubicBezTo>
                  <a:cubicBezTo>
                    <a:pt x="257" y="122"/>
                    <a:pt x="131" y="122"/>
                    <a:pt x="117" y="122"/>
                  </a:cubicBezTo>
                  <a:cubicBezTo>
                    <a:pt x="120" y="94"/>
                    <a:pt x="137" y="42"/>
                    <a:pt x="19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9" name="Freeform 73"/>
            <p:cNvSpPr>
              <a:spLocks/>
            </p:cNvSpPr>
            <p:nvPr userDrawn="1"/>
          </p:nvSpPr>
          <p:spPr bwMode="auto">
            <a:xfrm>
              <a:off x="8903646"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8"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1" y="468"/>
                    <a:pt x="178" y="449"/>
                    <a:pt x="178" y="394"/>
                  </a:cubicBezTo>
                  <a:cubicBezTo>
                    <a:pt x="178" y="394"/>
                    <a:pt x="178" y="182"/>
                    <a:pt x="178" y="168"/>
                  </a:cubicBezTo>
                  <a:cubicBezTo>
                    <a:pt x="191" y="168"/>
                    <a:pt x="298" y="168"/>
                    <a:pt x="298" y="168"/>
                  </a:cubicBezTo>
                  <a:cubicBezTo>
                    <a:pt x="298" y="121"/>
                    <a:pt x="298" y="121"/>
                    <a:pt x="298" y="121"/>
                  </a:cubicBezTo>
                  <a:cubicBezTo>
                    <a:pt x="298" y="121"/>
                    <a:pt x="191"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0" name="Freeform 74"/>
            <p:cNvSpPr>
              <a:spLocks/>
            </p:cNvSpPr>
            <p:nvPr userDrawn="1"/>
          </p:nvSpPr>
          <p:spPr bwMode="auto">
            <a:xfrm>
              <a:off x="8811201" y="-757284"/>
              <a:ext cx="85721" cy="70594"/>
            </a:xfrm>
            <a:custGeom>
              <a:avLst/>
              <a:gdLst>
                <a:gd name="T0" fmla="*/ 363 w 473"/>
                <a:gd name="T1" fmla="*/ 127 h 389"/>
                <a:gd name="T2" fmla="*/ 473 w 473"/>
                <a:gd name="T3" fmla="*/ 0 h 389"/>
                <a:gd name="T4" fmla="*/ 360 w 473"/>
                <a:gd name="T5" fmla="*/ 0 h 389"/>
                <a:gd name="T6" fmla="*/ 256 w 473"/>
                <a:gd name="T7" fmla="*/ 120 h 389"/>
                <a:gd name="T8" fmla="*/ 164 w 473"/>
                <a:gd name="T9" fmla="*/ 0 h 389"/>
                <a:gd name="T10" fmla="*/ 0 w 473"/>
                <a:gd name="T11" fmla="*/ 0 h 389"/>
                <a:gd name="T12" fmla="*/ 0 w 473"/>
                <a:gd name="T13" fmla="*/ 31 h 389"/>
                <a:gd name="T14" fmla="*/ 7 w 473"/>
                <a:gd name="T15" fmla="*/ 31 h 389"/>
                <a:gd name="T16" fmla="*/ 110 w 473"/>
                <a:gd name="T17" fmla="*/ 90 h 389"/>
                <a:gd name="T18" fmla="*/ 177 w 473"/>
                <a:gd name="T19" fmla="*/ 179 h 389"/>
                <a:gd name="T20" fmla="*/ 68 w 473"/>
                <a:gd name="T21" fmla="*/ 306 h 389"/>
                <a:gd name="T22" fmla="*/ 181 w 473"/>
                <a:gd name="T23" fmla="*/ 306 h 389"/>
                <a:gd name="T24" fmla="*/ 230 w 473"/>
                <a:gd name="T25" fmla="*/ 249 h 389"/>
                <a:gd name="T26" fmla="*/ 335 w 473"/>
                <a:gd name="T27" fmla="*/ 389 h 389"/>
                <a:gd name="T28" fmla="*/ 462 w 473"/>
                <a:gd name="T29" fmla="*/ 389 h 389"/>
                <a:gd name="T30" fmla="*/ 261 w 473"/>
                <a:gd name="T31" fmla="*/ 127 h 389"/>
                <a:gd name="T32" fmla="*/ 363 w 473"/>
                <a:gd name="T33" fmla="*/ 127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3" h="389">
                  <a:moveTo>
                    <a:pt x="363" y="127"/>
                  </a:moveTo>
                  <a:cubicBezTo>
                    <a:pt x="473" y="0"/>
                    <a:pt x="473" y="0"/>
                    <a:pt x="473" y="0"/>
                  </a:cubicBezTo>
                  <a:cubicBezTo>
                    <a:pt x="360" y="0"/>
                    <a:pt x="360" y="0"/>
                    <a:pt x="360" y="0"/>
                  </a:cubicBezTo>
                  <a:cubicBezTo>
                    <a:pt x="256" y="120"/>
                    <a:pt x="256" y="120"/>
                    <a:pt x="256" y="120"/>
                  </a:cubicBezTo>
                  <a:cubicBezTo>
                    <a:pt x="164" y="0"/>
                    <a:pt x="164" y="0"/>
                    <a:pt x="164" y="0"/>
                  </a:cubicBezTo>
                  <a:cubicBezTo>
                    <a:pt x="0" y="0"/>
                    <a:pt x="0" y="0"/>
                    <a:pt x="0" y="0"/>
                  </a:cubicBezTo>
                  <a:cubicBezTo>
                    <a:pt x="0" y="31"/>
                    <a:pt x="0" y="31"/>
                    <a:pt x="0" y="31"/>
                  </a:cubicBezTo>
                  <a:cubicBezTo>
                    <a:pt x="7" y="31"/>
                    <a:pt x="7" y="31"/>
                    <a:pt x="7" y="31"/>
                  </a:cubicBezTo>
                  <a:cubicBezTo>
                    <a:pt x="63" y="35"/>
                    <a:pt x="76" y="45"/>
                    <a:pt x="110" y="90"/>
                  </a:cubicBezTo>
                  <a:cubicBezTo>
                    <a:pt x="177" y="179"/>
                    <a:pt x="177" y="179"/>
                    <a:pt x="177" y="179"/>
                  </a:cubicBezTo>
                  <a:cubicBezTo>
                    <a:pt x="68" y="306"/>
                    <a:pt x="68" y="306"/>
                    <a:pt x="68" y="306"/>
                  </a:cubicBezTo>
                  <a:cubicBezTo>
                    <a:pt x="181" y="306"/>
                    <a:pt x="181" y="306"/>
                    <a:pt x="181" y="306"/>
                  </a:cubicBezTo>
                  <a:cubicBezTo>
                    <a:pt x="230" y="249"/>
                    <a:pt x="230" y="249"/>
                    <a:pt x="230" y="249"/>
                  </a:cubicBezTo>
                  <a:cubicBezTo>
                    <a:pt x="335" y="389"/>
                    <a:pt x="335" y="389"/>
                    <a:pt x="335" y="389"/>
                  </a:cubicBezTo>
                  <a:cubicBezTo>
                    <a:pt x="462" y="389"/>
                    <a:pt x="462" y="389"/>
                    <a:pt x="462" y="389"/>
                  </a:cubicBezTo>
                  <a:cubicBezTo>
                    <a:pt x="261" y="127"/>
                    <a:pt x="261" y="127"/>
                    <a:pt x="261" y="127"/>
                  </a:cubicBezTo>
                  <a:cubicBezTo>
                    <a:pt x="363" y="127"/>
                    <a:pt x="363" y="127"/>
                    <a:pt x="363" y="12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grpSp>
      <p:pic>
        <p:nvPicPr>
          <p:cNvPr id="91" name="Picture 90" descr="hds-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2261" y="274473"/>
            <a:ext cx="2077976" cy="208842"/>
          </a:xfrm>
          <a:prstGeom prst="rect">
            <a:avLst/>
          </a:prstGeom>
          <a:effectLst/>
        </p:spPr>
      </p:pic>
      <p:sp>
        <p:nvSpPr>
          <p:cNvPr id="42" name="TextBox 41"/>
          <p:cNvSpPr txBox="1"/>
          <p:nvPr userDrawn="1"/>
        </p:nvSpPr>
        <p:spPr>
          <a:xfrm>
            <a:off x="6111200" y="4911221"/>
            <a:ext cx="2993127" cy="215444"/>
          </a:xfrm>
          <a:prstGeom prst="rect">
            <a:avLst/>
          </a:prstGeom>
          <a:noFill/>
        </p:spPr>
        <p:txBody>
          <a:bodyPr wrap="none" rtlCol="0">
            <a:spAutoFit/>
          </a:bodyPr>
          <a:lstStyle/>
          <a:p>
            <a:pPr algn="r"/>
            <a:r>
              <a:rPr lang="en-US" sz="800" kern="1200" dirty="0" smtClean="0">
                <a:solidFill>
                  <a:srgbClr val="FFFFFF">
                    <a:alpha val="50000"/>
                  </a:srgbClr>
                </a:solidFill>
                <a:latin typeface="+mn-lt"/>
                <a:ea typeface="+mn-ea"/>
                <a:cs typeface="+mn-cs"/>
              </a:rPr>
              <a:t>© Hitachi Data Systems Corporation 2014. All rights reserved.</a:t>
            </a:r>
          </a:p>
        </p:txBody>
      </p:sp>
      <p:sp>
        <p:nvSpPr>
          <p:cNvPr id="47" name="Title 1"/>
          <p:cNvSpPr>
            <a:spLocks noGrp="1"/>
          </p:cNvSpPr>
          <p:nvPr>
            <p:ph type="ctrTitle" hasCustomPrompt="1"/>
          </p:nvPr>
        </p:nvSpPr>
        <p:spPr>
          <a:xfrm>
            <a:off x="2548467" y="1019128"/>
            <a:ext cx="6131767" cy="2230662"/>
          </a:xfrm>
          <a:prstGeom prst="rect">
            <a:avLst/>
          </a:prstGeom>
          <a:effectLst/>
        </p:spPr>
        <p:txBody>
          <a:bodyPr anchor="ctr" anchorCtr="0">
            <a:noAutofit/>
          </a:bodyPr>
          <a:lstStyle>
            <a:lvl1pPr>
              <a:lnSpc>
                <a:spcPct val="100000"/>
              </a:lnSpc>
              <a:defRPr sz="4800" b="1" cap="none" baseline="0">
                <a:solidFill>
                  <a:schemeClr val="tx1"/>
                </a:solidFill>
                <a:latin typeface="+mn-lt"/>
              </a:defRPr>
            </a:lvl1pPr>
          </a:lstStyle>
          <a:p>
            <a:r>
              <a:rPr lang="en-US" dirty="0" smtClean="0"/>
              <a:t>Title placeholder</a:t>
            </a:r>
            <a:endParaRPr lang="en-US" dirty="0"/>
          </a:p>
        </p:txBody>
      </p:sp>
      <p:sp>
        <p:nvSpPr>
          <p:cNvPr id="48" name="Rectangle 47"/>
          <p:cNvSpPr/>
          <p:nvPr userDrawn="1"/>
        </p:nvSpPr>
        <p:spPr>
          <a:xfrm rot="10800000">
            <a:off x="-16936" y="3249790"/>
            <a:ext cx="9207447" cy="48013"/>
          </a:xfrm>
          <a:prstGeom prst="rect">
            <a:avLst/>
          </a:prstGeom>
          <a:gradFill>
            <a:gsLst>
              <a:gs pos="100000">
                <a:schemeClr val="accent2"/>
              </a:gs>
              <a:gs pos="0">
                <a:schemeClr val="accent2">
                  <a:shade val="94000"/>
                  <a:satMod val="135000"/>
                  <a:alpha val="0"/>
                </a:schemeClr>
              </a:gs>
            </a:gsLst>
            <a:lin ang="0" scaled="0"/>
          </a:gra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pic>
        <p:nvPicPr>
          <p:cNvPr id="50" name="Picture 49" descr="PPT-WORDS.pn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67" y="3977419"/>
            <a:ext cx="9185297" cy="823220"/>
          </a:xfrm>
          <a:prstGeom prst="rect">
            <a:avLst/>
          </a:prstGeom>
        </p:spPr>
      </p:pic>
      <p:pic>
        <p:nvPicPr>
          <p:cNvPr id="39" name="Picture 38" descr="IWI-RGB-150.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2261" y="1989705"/>
            <a:ext cx="2077976" cy="391547"/>
          </a:xfrm>
          <a:prstGeom prst="rect">
            <a:avLst/>
          </a:prstGeom>
        </p:spPr>
      </p:pic>
      <p:sp>
        <p:nvSpPr>
          <p:cNvPr id="35" name="TextBox 34"/>
          <p:cNvSpPr txBox="1"/>
          <p:nvPr userDrawn="1"/>
        </p:nvSpPr>
        <p:spPr>
          <a:xfrm>
            <a:off x="1611" y="4915450"/>
            <a:ext cx="312906" cy="215444"/>
          </a:xfrm>
          <a:prstGeom prst="rect">
            <a:avLst/>
          </a:prstGeom>
          <a:noFill/>
        </p:spPr>
        <p:txBody>
          <a:bodyPr wrap="none" rtlCol="0">
            <a:spAutoFit/>
          </a:bodyPr>
          <a:lstStyle/>
          <a:p>
            <a:pPr algn="l"/>
            <a:fld id="{111F478C-84AE-4601-9BE4-60468A3A6C06}" type="slidenum">
              <a:rPr lang="en-US" sz="800" smtClean="0">
                <a:solidFill>
                  <a:schemeClr val="bg1">
                    <a:alpha val="50000"/>
                  </a:schemeClr>
                </a:solidFill>
                <a:latin typeface="+mj-lt"/>
              </a:rPr>
              <a:pPr algn="l"/>
              <a:t>‹#›</a:t>
            </a:fld>
            <a:endParaRPr lang="en-US" sz="800" dirty="0">
              <a:solidFill>
                <a:schemeClr val="bg1">
                  <a:alpha val="50000"/>
                </a:schemeClr>
              </a:solidFill>
              <a:latin typeface="+mj-lt"/>
            </a:endParaRPr>
          </a:p>
        </p:txBody>
      </p:sp>
    </p:spTree>
    <p:extLst>
      <p:ext uri="{BB962C8B-B14F-4D97-AF65-F5344CB8AC3E}">
        <p14:creationId xmlns:p14="http://schemas.microsoft.com/office/powerpoint/2010/main" val="118472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ext Placeholder 53"/>
          <p:cNvSpPr>
            <a:spLocks noGrp="1"/>
          </p:cNvSpPr>
          <p:nvPr>
            <p:ph idx="1" hasCustomPrompt="1"/>
          </p:nvPr>
        </p:nvSpPr>
        <p:spPr>
          <a:xfrm>
            <a:off x="264160" y="967575"/>
            <a:ext cx="8584006" cy="1961306"/>
          </a:xfrm>
          <a:prstGeom prst="rect">
            <a:avLst/>
          </a:prstGeom>
        </p:spPr>
        <p:txBody>
          <a:bodyPr vert="horz" wrap="square" lIns="91440" tIns="45720" rIns="91440" bIns="45720" rtlCol="0">
            <a:spAutoFit/>
          </a:body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Title Placeholder 1"/>
          <p:cNvSpPr>
            <a:spLocks noGrp="1"/>
          </p:cNvSpPr>
          <p:nvPr>
            <p:ph type="title" hasCustomPrompt="1"/>
          </p:nvPr>
        </p:nvSpPr>
        <p:spPr>
          <a:xfrm>
            <a:off x="264160" y="53113"/>
            <a:ext cx="7051040" cy="732441"/>
          </a:xfrm>
          <a:prstGeom prst="rect">
            <a:avLst/>
          </a:prstGeom>
        </p:spPr>
        <p:txBody>
          <a:bodyPr vert="horz" lIns="91440" tIns="0" rIns="91440" bIns="0" rtlCol="0" anchor="ctr">
            <a:normAutofit/>
          </a:bodyPr>
          <a:lstStyle/>
          <a:p>
            <a:pPr lvl="0"/>
            <a:r>
              <a:rPr lang="en-US" dirty="0" smtClean="0"/>
              <a:t>Click to add title</a:t>
            </a:r>
            <a:endParaRPr lang="en-US" dirty="0"/>
          </a:p>
        </p:txBody>
      </p:sp>
    </p:spTree>
    <p:extLst>
      <p:ext uri="{BB962C8B-B14F-4D97-AF65-F5344CB8AC3E}">
        <p14:creationId xmlns:p14="http://schemas.microsoft.com/office/powerpoint/2010/main" val="252673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fidential Title and Content">
    <p:spTree>
      <p:nvGrpSpPr>
        <p:cNvPr id="1" name=""/>
        <p:cNvGrpSpPr/>
        <p:nvPr/>
      </p:nvGrpSpPr>
      <p:grpSpPr>
        <a:xfrm>
          <a:off x="0" y="0"/>
          <a:ext cx="0" cy="0"/>
          <a:chOff x="0" y="0"/>
          <a:chExt cx="0" cy="0"/>
        </a:xfrm>
      </p:grpSpPr>
      <p:sp>
        <p:nvSpPr>
          <p:cNvPr id="5" name="Rectangle 4"/>
          <p:cNvSpPr/>
          <p:nvPr userDrawn="1"/>
        </p:nvSpPr>
        <p:spPr>
          <a:xfrm>
            <a:off x="264160" y="4912273"/>
            <a:ext cx="6500708" cy="215444"/>
          </a:xfrm>
          <a:prstGeom prst="rect">
            <a:avLst/>
          </a:prstGeom>
        </p:spPr>
        <p:txBody>
          <a:bodyPr wrap="square">
            <a:spAutoFit/>
          </a:bodyPr>
          <a:lstStyle/>
          <a:p>
            <a:pPr algn="l"/>
            <a:r>
              <a:rPr lang="en-US" sz="800" b="1" kern="1200" dirty="0" smtClean="0">
                <a:solidFill>
                  <a:schemeClr val="accent2"/>
                </a:solidFill>
                <a:latin typeface="+mn-lt"/>
                <a:ea typeface="+mn-ea"/>
                <a:cs typeface="+mn-cs"/>
              </a:rPr>
              <a:t>CONFIDENTIAL – For use by Hitachi Data Systems employees and other audiences under NDA only.</a:t>
            </a:r>
            <a:endParaRPr lang="en-US" sz="800" b="1" dirty="0">
              <a:solidFill>
                <a:schemeClr val="accent2"/>
              </a:solidFill>
            </a:endParaRPr>
          </a:p>
        </p:txBody>
      </p:sp>
      <p:sp>
        <p:nvSpPr>
          <p:cNvPr id="6" name="Text Placeholder 53"/>
          <p:cNvSpPr>
            <a:spLocks noGrp="1"/>
          </p:cNvSpPr>
          <p:nvPr>
            <p:ph idx="1" hasCustomPrompt="1"/>
          </p:nvPr>
        </p:nvSpPr>
        <p:spPr>
          <a:xfrm>
            <a:off x="264160" y="967575"/>
            <a:ext cx="8584006" cy="1961306"/>
          </a:xfrm>
          <a:prstGeom prst="rect">
            <a:avLst/>
          </a:prstGeom>
        </p:spPr>
        <p:txBody>
          <a:bodyPr vert="horz" wrap="square" lIns="91440" tIns="45720" rIns="91440" bIns="45720" rtlCol="0">
            <a:spAutoFit/>
          </a:body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Placeholder 1"/>
          <p:cNvSpPr>
            <a:spLocks noGrp="1"/>
          </p:cNvSpPr>
          <p:nvPr>
            <p:ph type="title" hasCustomPrompt="1"/>
          </p:nvPr>
        </p:nvSpPr>
        <p:spPr>
          <a:xfrm>
            <a:off x="264160" y="53113"/>
            <a:ext cx="7051040" cy="732441"/>
          </a:xfrm>
          <a:prstGeom prst="rect">
            <a:avLst/>
          </a:prstGeom>
        </p:spPr>
        <p:txBody>
          <a:bodyPr vert="horz" lIns="91440" tIns="0" rIns="91440" bIns="0" rtlCol="0" anchor="ctr">
            <a:normAutofit/>
          </a:bodyPr>
          <a:lstStyle/>
          <a:p>
            <a:pPr lvl="0"/>
            <a:r>
              <a:rPr lang="en-US" dirty="0" smtClean="0"/>
              <a:t>Click to add title</a:t>
            </a:r>
            <a:endParaRPr lang="en-US" dirty="0"/>
          </a:p>
        </p:txBody>
      </p:sp>
    </p:spTree>
    <p:extLst>
      <p:ext uri="{BB962C8B-B14F-4D97-AF65-F5344CB8AC3E}">
        <p14:creationId xmlns:p14="http://schemas.microsoft.com/office/powerpoint/2010/main" val="84362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a:xfrm>
            <a:off x="264160" y="53113"/>
            <a:ext cx="7051040" cy="732441"/>
          </a:xfrm>
          <a:prstGeom prst="rect">
            <a:avLst/>
          </a:prstGeom>
        </p:spPr>
        <p:txBody>
          <a:bodyPr vert="horz" lIns="91440" tIns="0" rIns="91440" bIns="0" rtlCol="0" anchor="ctr">
            <a:normAutofit/>
          </a:bodyPr>
          <a:lstStyle/>
          <a:p>
            <a:pPr lvl="0"/>
            <a:r>
              <a:rPr lang="en-US" dirty="0" smtClean="0"/>
              <a:t>Click to add title</a:t>
            </a:r>
            <a:endParaRPr lang="en-US" dirty="0"/>
          </a:p>
        </p:txBody>
      </p:sp>
    </p:spTree>
    <p:extLst>
      <p:ext uri="{BB962C8B-B14F-4D97-AF65-F5344CB8AC3E}">
        <p14:creationId xmlns:p14="http://schemas.microsoft.com/office/powerpoint/2010/main" val="514831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 Picture">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4648200" y="967579"/>
            <a:ext cx="3898900" cy="430887"/>
          </a:xfrm>
          <a:prstGeom prst="rect">
            <a:avLst/>
          </a:prstGeom>
          <a:noFill/>
          <a:effectLst>
            <a:outerShdw blurRad="50800" dist="38100" dir="5400000" algn="t" rotWithShape="0">
              <a:prstClr val="black">
                <a:alpha val="40000"/>
              </a:prstClr>
            </a:outerShdw>
          </a:effectLst>
        </p:spPr>
        <p:txBody>
          <a:bodyPr/>
          <a:lstStyle/>
          <a:p>
            <a:r>
              <a:rPr lang="en-US" smtClean="0"/>
              <a:t>Click icon to add picture</a:t>
            </a:r>
            <a:endParaRPr lang="en-US" dirty="0"/>
          </a:p>
        </p:txBody>
      </p:sp>
      <p:sp>
        <p:nvSpPr>
          <p:cNvPr id="10" name="Text Placeholder 53"/>
          <p:cNvSpPr>
            <a:spLocks noGrp="1"/>
          </p:cNvSpPr>
          <p:nvPr>
            <p:ph idx="1" hasCustomPrompt="1"/>
          </p:nvPr>
        </p:nvSpPr>
        <p:spPr>
          <a:xfrm>
            <a:off x="264160" y="967575"/>
            <a:ext cx="4130040" cy="1961306"/>
          </a:xfrm>
          <a:prstGeom prst="rect">
            <a:avLst/>
          </a:prstGeom>
        </p:spPr>
        <p:txBody>
          <a:bodyPr vert="horz" wrap="square" lIns="91440" tIns="45720" rIns="91440" bIns="45720" rtlCol="0">
            <a:spAutoFit/>
          </a:body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Placeholder 1"/>
          <p:cNvSpPr>
            <a:spLocks noGrp="1"/>
          </p:cNvSpPr>
          <p:nvPr>
            <p:ph type="title" hasCustomPrompt="1"/>
          </p:nvPr>
        </p:nvSpPr>
        <p:spPr>
          <a:xfrm>
            <a:off x="264160" y="53113"/>
            <a:ext cx="7051040" cy="732441"/>
          </a:xfrm>
          <a:prstGeom prst="rect">
            <a:avLst/>
          </a:prstGeom>
        </p:spPr>
        <p:txBody>
          <a:bodyPr vert="horz" lIns="91440" tIns="0" rIns="91440" bIns="0" rtlCol="0" anchor="ctr">
            <a:normAutofit/>
          </a:bodyPr>
          <a:lstStyle/>
          <a:p>
            <a:pPr lvl="0"/>
            <a:r>
              <a:rPr lang="en-US" dirty="0" smtClean="0"/>
              <a:t>Click to add title</a:t>
            </a:r>
            <a:endParaRPr lang="en-US" dirty="0"/>
          </a:p>
        </p:txBody>
      </p:sp>
    </p:spTree>
    <p:extLst>
      <p:ext uri="{BB962C8B-B14F-4D97-AF65-F5344CB8AC3E}">
        <p14:creationId xmlns:p14="http://schemas.microsoft.com/office/powerpoint/2010/main" val="138149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ght Section Header Layout">
    <p:spTree>
      <p:nvGrpSpPr>
        <p:cNvPr id="1" name=""/>
        <p:cNvGrpSpPr/>
        <p:nvPr/>
      </p:nvGrpSpPr>
      <p:grpSpPr>
        <a:xfrm>
          <a:off x="0" y="0"/>
          <a:ext cx="0" cy="0"/>
          <a:chOff x="0" y="0"/>
          <a:chExt cx="0" cy="0"/>
        </a:xfrm>
      </p:grpSpPr>
      <p:pic>
        <p:nvPicPr>
          <p:cNvPr id="2" name="Picture 1" descr="corp3.pn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3278"/>
            <a:ext cx="9169400" cy="5166779"/>
          </a:xfrm>
          <a:prstGeom prst="rect">
            <a:avLst/>
          </a:prstGeom>
        </p:spPr>
      </p:pic>
      <p:pic>
        <p:nvPicPr>
          <p:cNvPr id="10" name="Picture 2" descr="C:\Users\dan\Desktop\hitachi-Template-stripes.png"/>
          <p:cNvPicPr>
            <a:picLocks noChangeAspect="1" noChangeArrowheads="1"/>
          </p:cNvPicPr>
          <p:nvPr userDrawn="1"/>
        </p:nvPicPr>
        <p:blipFill>
          <a:blip r:embed="rId3" cstate="email">
            <a:alphaModFix amt="48000"/>
            <a:extLst>
              <a:ext uri="{28A0092B-C50C-407E-A947-70E740481C1C}">
                <a14:useLocalDpi xmlns:a14="http://schemas.microsoft.com/office/drawing/2010/main"/>
              </a:ext>
            </a:extLst>
          </a:blip>
          <a:srcRect/>
          <a:stretch>
            <a:fillRect/>
          </a:stretch>
        </p:blipFill>
        <p:spPr bwMode="auto">
          <a:xfrm>
            <a:off x="1142" y="2950642"/>
            <a:ext cx="9142858" cy="219285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userDrawn="1"/>
        </p:nvSpPr>
        <p:spPr>
          <a:xfrm>
            <a:off x="0" y="-23277"/>
            <a:ext cx="9169400" cy="1734602"/>
          </a:xfrm>
          <a:prstGeom prst="rect">
            <a:avLst/>
          </a:prstGeom>
          <a:gradFill>
            <a:gsLst>
              <a:gs pos="41000">
                <a:schemeClr val="bg1">
                  <a:alpha val="80000"/>
                </a:schemeClr>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2" name="Rectangle 41"/>
          <p:cNvSpPr/>
          <p:nvPr userDrawn="1"/>
        </p:nvSpPr>
        <p:spPr>
          <a:xfrm>
            <a:off x="2" y="1483179"/>
            <a:ext cx="5048249" cy="1948543"/>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3" name="Title 1"/>
          <p:cNvSpPr>
            <a:spLocks noGrp="1"/>
          </p:cNvSpPr>
          <p:nvPr>
            <p:ph type="ctrTitle" hasCustomPrompt="1"/>
          </p:nvPr>
        </p:nvSpPr>
        <p:spPr>
          <a:xfrm>
            <a:off x="457201" y="1611766"/>
            <a:ext cx="4391024" cy="1224577"/>
          </a:xfrm>
          <a:prstGeom prst="rect">
            <a:avLst/>
          </a:prstGeom>
          <a:effectLst/>
        </p:spPr>
        <p:txBody>
          <a:bodyPr anchor="b">
            <a:normAutofit/>
          </a:bodyPr>
          <a:lstStyle>
            <a:lvl1pPr>
              <a:defRPr sz="4000" b="1" i="0" baseline="0">
                <a:solidFill>
                  <a:srgbClr val="414141"/>
                </a:solidFill>
                <a:effectLst/>
                <a:latin typeface="+mj-lt"/>
                <a:cs typeface="Museo Sans 900"/>
              </a:defRPr>
            </a:lvl1pPr>
          </a:lstStyle>
          <a:p>
            <a:r>
              <a:rPr lang="en-US" dirty="0" smtClean="0"/>
              <a:t>Title placeholder</a:t>
            </a:r>
            <a:endParaRPr lang="en-US" dirty="0"/>
          </a:p>
        </p:txBody>
      </p:sp>
      <p:sp>
        <p:nvSpPr>
          <p:cNvPr id="44" name="Subtitle 2"/>
          <p:cNvSpPr>
            <a:spLocks noGrp="1"/>
          </p:cNvSpPr>
          <p:nvPr>
            <p:ph type="subTitle" idx="1" hasCustomPrompt="1"/>
          </p:nvPr>
        </p:nvSpPr>
        <p:spPr>
          <a:xfrm>
            <a:off x="457201" y="2907166"/>
            <a:ext cx="4391024" cy="353943"/>
          </a:xfrm>
          <a:prstGeom prst="rect">
            <a:avLst/>
          </a:prstGeom>
          <a:effectLst/>
        </p:spPr>
        <p:txBody>
          <a:bodyPr/>
          <a:lstStyle>
            <a:lvl1pPr marL="0" indent="0" algn="l">
              <a:lnSpc>
                <a:spcPct val="85000"/>
              </a:lnSpc>
              <a:buNone/>
              <a:defRPr sz="2000" cap="all" baseline="0">
                <a:solidFill>
                  <a:schemeClr val="accent3"/>
                </a:solidFill>
                <a:effectLst/>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SUBTITLE PLACEHOLDER</a:t>
            </a:r>
            <a:endParaRPr lang="en-US" dirty="0"/>
          </a:p>
        </p:txBody>
      </p:sp>
      <p:sp>
        <p:nvSpPr>
          <p:cNvPr id="68" name="Rectangle 67"/>
          <p:cNvSpPr/>
          <p:nvPr userDrawn="1"/>
        </p:nvSpPr>
        <p:spPr>
          <a:xfrm rot="10800000">
            <a:off x="-1" y="3418423"/>
            <a:ext cx="9169400" cy="1734602"/>
          </a:xfrm>
          <a:prstGeom prst="rect">
            <a:avLst/>
          </a:prstGeom>
          <a:gradFill>
            <a:gsLst>
              <a:gs pos="0">
                <a:srgbClr val="000000">
                  <a:alpha val="45000"/>
                </a:srgbClr>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36" name="Group 35"/>
          <p:cNvGrpSpPr/>
          <p:nvPr userDrawn="1"/>
        </p:nvGrpSpPr>
        <p:grpSpPr>
          <a:xfrm>
            <a:off x="-2081054" y="-12701"/>
            <a:ext cx="11245650" cy="844550"/>
            <a:chOff x="-2097988" y="-1"/>
            <a:chExt cx="11245650" cy="1126067"/>
          </a:xfrm>
        </p:grpSpPr>
        <p:grpSp>
          <p:nvGrpSpPr>
            <p:cNvPr id="37" name="Group 36"/>
            <p:cNvGrpSpPr/>
            <p:nvPr userDrawn="1"/>
          </p:nvGrpSpPr>
          <p:grpSpPr>
            <a:xfrm>
              <a:off x="-2097988" y="-1"/>
              <a:ext cx="11245650" cy="1126067"/>
              <a:chOff x="0" y="0"/>
              <a:chExt cx="9147662" cy="915988"/>
            </a:xfrm>
            <a:effectLst/>
          </p:grpSpPr>
          <p:sp>
            <p:nvSpPr>
              <p:cNvPr id="69" name="AutoShape 42"/>
              <p:cNvSpPr>
                <a:spLocks noChangeAspect="1" noChangeArrowheads="1" noTextEdit="1"/>
              </p:cNvSpPr>
              <p:nvPr userDrawn="1"/>
            </p:nvSpPr>
            <p:spPr bwMode="auto">
              <a:xfrm>
                <a:off x="0" y="0"/>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72" name="Rectangle 46"/>
              <p:cNvSpPr>
                <a:spLocks noChangeArrowheads="1"/>
              </p:cNvSpPr>
              <p:nvPr userDrawn="1"/>
            </p:nvSpPr>
            <p:spPr bwMode="auto">
              <a:xfrm>
                <a:off x="0" y="760413"/>
                <a:ext cx="7662863"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74" name="Rectangle 48"/>
              <p:cNvSpPr>
                <a:spLocks noChangeArrowheads="1"/>
              </p:cNvSpPr>
              <p:nvPr userDrawn="1"/>
            </p:nvSpPr>
            <p:spPr bwMode="auto">
              <a:xfrm>
                <a:off x="7662863" y="657558"/>
                <a:ext cx="1484799" cy="128142"/>
              </a:xfrm>
              <a:prstGeom prst="rect">
                <a:avLst/>
              </a:prstGeom>
              <a:solidFill>
                <a:srgbClr val="C200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a:latin typeface="+mj-lt"/>
                </a:endParaRPr>
              </a:p>
            </p:txBody>
          </p:sp>
          <p:sp>
            <p:nvSpPr>
              <p:cNvPr id="75" name="Freeform 75"/>
              <p:cNvSpPr>
                <a:spLocks/>
              </p:cNvSpPr>
              <p:nvPr userDrawn="1"/>
            </p:nvSpPr>
            <p:spPr bwMode="auto">
              <a:xfrm>
                <a:off x="8909050" y="391063"/>
                <a:ext cx="44450" cy="26988"/>
              </a:xfrm>
              <a:custGeom>
                <a:avLst/>
                <a:gdLst>
                  <a:gd name="T0" fmla="*/ 13 w 28"/>
                  <a:gd name="T1" fmla="*/ 17 h 17"/>
                  <a:gd name="T2" fmla="*/ 0 w 28"/>
                  <a:gd name="T3" fmla="*/ 17 h 17"/>
                  <a:gd name="T4" fmla="*/ 15 w 28"/>
                  <a:gd name="T5" fmla="*/ 0 h 17"/>
                  <a:gd name="T6" fmla="*/ 28 w 28"/>
                  <a:gd name="T7" fmla="*/ 0 h 17"/>
                  <a:gd name="T8" fmla="*/ 13 w 28"/>
                  <a:gd name="T9" fmla="*/ 17 h 17"/>
                </a:gdLst>
                <a:ahLst/>
                <a:cxnLst>
                  <a:cxn ang="0">
                    <a:pos x="T0" y="T1"/>
                  </a:cxn>
                  <a:cxn ang="0">
                    <a:pos x="T2" y="T3"/>
                  </a:cxn>
                  <a:cxn ang="0">
                    <a:pos x="T4" y="T5"/>
                  </a:cxn>
                  <a:cxn ang="0">
                    <a:pos x="T6" y="T7"/>
                  </a:cxn>
                  <a:cxn ang="0">
                    <a:pos x="T8" y="T9"/>
                  </a:cxn>
                </a:cxnLst>
                <a:rect l="0" t="0" r="r" b="b"/>
                <a:pathLst>
                  <a:path w="28" h="17">
                    <a:moveTo>
                      <a:pt x="13" y="17"/>
                    </a:moveTo>
                    <a:lnTo>
                      <a:pt x="0" y="17"/>
                    </a:lnTo>
                    <a:lnTo>
                      <a:pt x="15" y="0"/>
                    </a:lnTo>
                    <a:lnTo>
                      <a:pt x="28" y="0"/>
                    </a:lnTo>
                    <a:lnTo>
                      <a:pt x="13" y="17"/>
                    </a:lnTo>
                    <a:close/>
                  </a:path>
                </a:pathLst>
              </a:custGeom>
              <a:solidFill>
                <a:schemeClr val="accent1"/>
              </a:solidFill>
              <a:ln>
                <a:noFill/>
              </a:ln>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6" name="Freeform 50"/>
              <p:cNvSpPr>
                <a:spLocks/>
              </p:cNvSpPr>
              <p:nvPr userDrawn="1"/>
            </p:nvSpPr>
            <p:spPr bwMode="auto">
              <a:xfrm>
                <a:off x="8664575" y="210088"/>
                <a:ext cx="165100" cy="155575"/>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7" name="Freeform 52"/>
              <p:cNvSpPr>
                <a:spLocks/>
              </p:cNvSpPr>
              <p:nvPr userDrawn="1"/>
            </p:nvSpPr>
            <p:spPr bwMode="auto">
              <a:xfrm>
                <a:off x="8148638" y="210088"/>
                <a:ext cx="166688" cy="155575"/>
              </a:xfrm>
              <a:custGeom>
                <a:avLst/>
                <a:gdLst>
                  <a:gd name="T0" fmla="*/ 105 w 105"/>
                  <a:gd name="T1" fmla="*/ 0 h 98"/>
                  <a:gd name="T2" fmla="*/ 105 w 105"/>
                  <a:gd name="T3" fmla="*/ 17 h 98"/>
                  <a:gd name="T4" fmla="*/ 66 w 105"/>
                  <a:gd name="T5" fmla="*/ 17 h 98"/>
                  <a:gd name="T6" fmla="*/ 66 w 105"/>
                  <a:gd name="T7" fmla="*/ 98 h 98"/>
                  <a:gd name="T8" fmla="*/ 40 w 105"/>
                  <a:gd name="T9" fmla="*/ 98 h 98"/>
                  <a:gd name="T10" fmla="*/ 40 w 105"/>
                  <a:gd name="T11" fmla="*/ 17 h 98"/>
                  <a:gd name="T12" fmla="*/ 0 w 105"/>
                  <a:gd name="T13" fmla="*/ 17 h 98"/>
                  <a:gd name="T14" fmla="*/ 0 w 105"/>
                  <a:gd name="T15" fmla="*/ 0 h 98"/>
                  <a:gd name="T16" fmla="*/ 105 w 105"/>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98">
                    <a:moveTo>
                      <a:pt x="105" y="0"/>
                    </a:moveTo>
                    <a:lnTo>
                      <a:pt x="105" y="17"/>
                    </a:lnTo>
                    <a:lnTo>
                      <a:pt x="66" y="17"/>
                    </a:lnTo>
                    <a:lnTo>
                      <a:pt x="66" y="98"/>
                    </a:lnTo>
                    <a:lnTo>
                      <a:pt x="40" y="98"/>
                    </a:lnTo>
                    <a:lnTo>
                      <a:pt x="40" y="17"/>
                    </a:lnTo>
                    <a:lnTo>
                      <a:pt x="0" y="17"/>
                    </a:lnTo>
                    <a:lnTo>
                      <a:pt x="0" y="0"/>
                    </a:lnTo>
                    <a:lnTo>
                      <a:pt x="105" y="0"/>
                    </a:ln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8" name="Freeform 54"/>
              <p:cNvSpPr>
                <a:spLocks noEditPoints="1"/>
              </p:cNvSpPr>
              <p:nvPr userDrawn="1"/>
            </p:nvSpPr>
            <p:spPr bwMode="auto">
              <a:xfrm>
                <a:off x="8280400" y="210088"/>
                <a:ext cx="195263" cy="155575"/>
              </a:xfrm>
              <a:custGeom>
                <a:avLst/>
                <a:gdLst>
                  <a:gd name="T0" fmla="*/ 123 w 123"/>
                  <a:gd name="T1" fmla="*/ 98 h 98"/>
                  <a:gd name="T2" fmla="*/ 94 w 123"/>
                  <a:gd name="T3" fmla="*/ 98 h 98"/>
                  <a:gd name="T4" fmla="*/ 86 w 123"/>
                  <a:gd name="T5" fmla="*/ 77 h 98"/>
                  <a:gd name="T6" fmla="*/ 37 w 123"/>
                  <a:gd name="T7" fmla="*/ 77 h 98"/>
                  <a:gd name="T8" fmla="*/ 29 w 123"/>
                  <a:gd name="T9" fmla="*/ 98 h 98"/>
                  <a:gd name="T10" fmla="*/ 0 w 123"/>
                  <a:gd name="T11" fmla="*/ 98 h 98"/>
                  <a:gd name="T12" fmla="*/ 46 w 123"/>
                  <a:gd name="T13" fmla="*/ 0 h 98"/>
                  <a:gd name="T14" fmla="*/ 77 w 123"/>
                  <a:gd name="T15" fmla="*/ 0 h 98"/>
                  <a:gd name="T16" fmla="*/ 123 w 123"/>
                  <a:gd name="T17" fmla="*/ 98 h 98"/>
                  <a:gd name="T18" fmla="*/ 61 w 123"/>
                  <a:gd name="T19" fmla="*/ 17 h 98"/>
                  <a:gd name="T20" fmla="*/ 43 w 123"/>
                  <a:gd name="T21" fmla="*/ 61 h 98"/>
                  <a:gd name="T22" fmla="*/ 79 w 123"/>
                  <a:gd name="T23" fmla="*/ 61 h 98"/>
                  <a:gd name="T24" fmla="*/ 61 w 123"/>
                  <a:gd name="T25" fmla="*/ 1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98">
                    <a:moveTo>
                      <a:pt x="123" y="98"/>
                    </a:moveTo>
                    <a:lnTo>
                      <a:pt x="94" y="98"/>
                    </a:lnTo>
                    <a:lnTo>
                      <a:pt x="86" y="77"/>
                    </a:lnTo>
                    <a:lnTo>
                      <a:pt x="37" y="77"/>
                    </a:lnTo>
                    <a:lnTo>
                      <a:pt x="29" y="98"/>
                    </a:lnTo>
                    <a:lnTo>
                      <a:pt x="0" y="98"/>
                    </a:lnTo>
                    <a:lnTo>
                      <a:pt x="46" y="0"/>
                    </a:lnTo>
                    <a:lnTo>
                      <a:pt x="77" y="0"/>
                    </a:lnTo>
                    <a:lnTo>
                      <a:pt x="123" y="98"/>
                    </a:lnTo>
                    <a:moveTo>
                      <a:pt x="61" y="17"/>
                    </a:moveTo>
                    <a:lnTo>
                      <a:pt x="43" y="61"/>
                    </a:lnTo>
                    <a:lnTo>
                      <a:pt x="79" y="61"/>
                    </a:lnTo>
                    <a:lnTo>
                      <a:pt x="61" y="17"/>
                    </a:ln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79" name="Rectangle 55"/>
              <p:cNvSpPr>
                <a:spLocks noChangeArrowheads="1"/>
              </p:cNvSpPr>
              <p:nvPr userDrawn="1"/>
            </p:nvSpPr>
            <p:spPr bwMode="auto">
              <a:xfrm>
                <a:off x="8863013" y="210088"/>
                <a:ext cx="41275" cy="155575"/>
              </a:xfrm>
              <a:prstGeom prst="rect">
                <a:avLst/>
              </a:prstGeom>
              <a:solidFill>
                <a:srgbClr val="1A1A1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0" name="Freeform 57"/>
              <p:cNvSpPr>
                <a:spLocks/>
              </p:cNvSpPr>
              <p:nvPr userDrawn="1"/>
            </p:nvSpPr>
            <p:spPr bwMode="auto">
              <a:xfrm>
                <a:off x="7894638" y="210088"/>
                <a:ext cx="165100" cy="155575"/>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1" name="Rectangle 58"/>
              <p:cNvSpPr>
                <a:spLocks noChangeArrowheads="1"/>
              </p:cNvSpPr>
              <p:nvPr userDrawn="1"/>
            </p:nvSpPr>
            <p:spPr bwMode="auto">
              <a:xfrm>
                <a:off x="8093075" y="210088"/>
                <a:ext cx="41275" cy="155575"/>
              </a:xfrm>
              <a:prstGeom prst="rect">
                <a:avLst/>
              </a:prstGeom>
              <a:solidFill>
                <a:srgbClr val="1A1A1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2" name="Freeform 59"/>
              <p:cNvSpPr>
                <a:spLocks/>
              </p:cNvSpPr>
              <p:nvPr userDrawn="1"/>
            </p:nvSpPr>
            <p:spPr bwMode="auto">
              <a:xfrm>
                <a:off x="8469313" y="206913"/>
                <a:ext cx="174625" cy="161925"/>
              </a:xfrm>
              <a:custGeom>
                <a:avLst/>
                <a:gdLst>
                  <a:gd name="T0" fmla="*/ 31 w 1010"/>
                  <a:gd name="T1" fmla="*/ 670 h 939"/>
                  <a:gd name="T2" fmla="*/ 0 w 1010"/>
                  <a:gd name="T3" fmla="*/ 479 h 939"/>
                  <a:gd name="T4" fmla="*/ 61 w 1010"/>
                  <a:gd name="T5" fmla="*/ 218 h 939"/>
                  <a:gd name="T6" fmla="*/ 265 w 1010"/>
                  <a:gd name="T7" fmla="*/ 48 h 939"/>
                  <a:gd name="T8" fmla="*/ 527 w 1010"/>
                  <a:gd name="T9" fmla="*/ 0 h 939"/>
                  <a:gd name="T10" fmla="*/ 826 w 1010"/>
                  <a:gd name="T11" fmla="*/ 63 h 939"/>
                  <a:gd name="T12" fmla="*/ 995 w 1010"/>
                  <a:gd name="T13" fmla="*/ 270 h 939"/>
                  <a:gd name="T14" fmla="*/ 1004 w 1010"/>
                  <a:gd name="T15" fmla="*/ 327 h 939"/>
                  <a:gd name="T16" fmla="*/ 755 w 1010"/>
                  <a:gd name="T17" fmla="*/ 327 h 939"/>
                  <a:gd name="T18" fmla="*/ 742 w 1010"/>
                  <a:gd name="T19" fmla="*/ 258 h 939"/>
                  <a:gd name="T20" fmla="*/ 631 w 1010"/>
                  <a:gd name="T21" fmla="*/ 155 h 939"/>
                  <a:gd name="T22" fmla="*/ 527 w 1010"/>
                  <a:gd name="T23" fmla="*/ 139 h 939"/>
                  <a:gd name="T24" fmla="*/ 410 w 1010"/>
                  <a:gd name="T25" fmla="*/ 159 h 939"/>
                  <a:gd name="T26" fmla="*/ 280 w 1010"/>
                  <a:gd name="T27" fmla="*/ 291 h 939"/>
                  <a:gd name="T28" fmla="*/ 248 w 1010"/>
                  <a:gd name="T29" fmla="*/ 479 h 939"/>
                  <a:gd name="T30" fmla="*/ 270 w 1010"/>
                  <a:gd name="T31" fmla="*/ 636 h 939"/>
                  <a:gd name="T32" fmla="*/ 400 w 1010"/>
                  <a:gd name="T33" fmla="*/ 777 h 939"/>
                  <a:gd name="T34" fmla="*/ 527 w 1010"/>
                  <a:gd name="T35" fmla="*/ 801 h 939"/>
                  <a:gd name="T36" fmla="*/ 637 w 1010"/>
                  <a:gd name="T37" fmla="*/ 784 h 939"/>
                  <a:gd name="T38" fmla="*/ 741 w 1010"/>
                  <a:gd name="T39" fmla="*/ 691 h 939"/>
                  <a:gd name="T40" fmla="*/ 760 w 1010"/>
                  <a:gd name="T41" fmla="*/ 595 h 939"/>
                  <a:gd name="T42" fmla="*/ 1010 w 1010"/>
                  <a:gd name="T43" fmla="*/ 595 h 939"/>
                  <a:gd name="T44" fmla="*/ 998 w 1010"/>
                  <a:gd name="T45" fmla="*/ 680 h 939"/>
                  <a:gd name="T46" fmla="*/ 832 w 1010"/>
                  <a:gd name="T47" fmla="*/ 877 h 939"/>
                  <a:gd name="T48" fmla="*/ 527 w 1010"/>
                  <a:gd name="T49" fmla="*/ 939 h 939"/>
                  <a:gd name="T50" fmla="*/ 287 w 1010"/>
                  <a:gd name="T51" fmla="*/ 902 h 939"/>
                  <a:gd name="T52" fmla="*/ 31 w 1010"/>
                  <a:gd name="T53" fmla="*/ 670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10" h="939">
                    <a:moveTo>
                      <a:pt x="31" y="670"/>
                    </a:moveTo>
                    <a:cubicBezTo>
                      <a:pt x="11" y="609"/>
                      <a:pt x="0" y="546"/>
                      <a:pt x="0" y="479"/>
                    </a:cubicBezTo>
                    <a:cubicBezTo>
                      <a:pt x="0" y="385"/>
                      <a:pt x="16" y="294"/>
                      <a:pt x="61" y="218"/>
                    </a:cubicBezTo>
                    <a:cubicBezTo>
                      <a:pt x="107" y="140"/>
                      <a:pt x="179" y="80"/>
                      <a:pt x="265" y="48"/>
                    </a:cubicBezTo>
                    <a:cubicBezTo>
                      <a:pt x="347" y="17"/>
                      <a:pt x="435" y="0"/>
                      <a:pt x="527" y="0"/>
                    </a:cubicBezTo>
                    <a:cubicBezTo>
                      <a:pt x="634" y="0"/>
                      <a:pt x="734" y="24"/>
                      <a:pt x="826" y="63"/>
                    </a:cubicBezTo>
                    <a:cubicBezTo>
                      <a:pt x="912" y="100"/>
                      <a:pt x="976" y="177"/>
                      <a:pt x="995" y="270"/>
                    </a:cubicBezTo>
                    <a:cubicBezTo>
                      <a:pt x="999" y="288"/>
                      <a:pt x="1002" y="308"/>
                      <a:pt x="1004" y="327"/>
                    </a:cubicBezTo>
                    <a:cubicBezTo>
                      <a:pt x="755" y="327"/>
                      <a:pt x="755" y="327"/>
                      <a:pt x="755" y="327"/>
                    </a:cubicBezTo>
                    <a:cubicBezTo>
                      <a:pt x="754" y="303"/>
                      <a:pt x="750" y="279"/>
                      <a:pt x="742" y="258"/>
                    </a:cubicBezTo>
                    <a:cubicBezTo>
                      <a:pt x="723" y="209"/>
                      <a:pt x="682" y="170"/>
                      <a:pt x="631" y="155"/>
                    </a:cubicBezTo>
                    <a:cubicBezTo>
                      <a:pt x="598" y="144"/>
                      <a:pt x="563" y="139"/>
                      <a:pt x="527" y="139"/>
                    </a:cubicBezTo>
                    <a:cubicBezTo>
                      <a:pt x="486" y="139"/>
                      <a:pt x="447" y="146"/>
                      <a:pt x="410" y="159"/>
                    </a:cubicBezTo>
                    <a:cubicBezTo>
                      <a:pt x="349" y="181"/>
                      <a:pt x="302" y="230"/>
                      <a:pt x="280" y="291"/>
                    </a:cubicBezTo>
                    <a:cubicBezTo>
                      <a:pt x="260" y="349"/>
                      <a:pt x="248" y="413"/>
                      <a:pt x="248" y="479"/>
                    </a:cubicBezTo>
                    <a:cubicBezTo>
                      <a:pt x="248" y="534"/>
                      <a:pt x="257" y="586"/>
                      <a:pt x="270" y="636"/>
                    </a:cubicBezTo>
                    <a:cubicBezTo>
                      <a:pt x="289" y="701"/>
                      <a:pt x="337" y="753"/>
                      <a:pt x="400" y="777"/>
                    </a:cubicBezTo>
                    <a:cubicBezTo>
                      <a:pt x="440" y="792"/>
                      <a:pt x="482" y="801"/>
                      <a:pt x="527" y="801"/>
                    </a:cubicBezTo>
                    <a:cubicBezTo>
                      <a:pt x="566" y="801"/>
                      <a:pt x="602" y="795"/>
                      <a:pt x="637" y="784"/>
                    </a:cubicBezTo>
                    <a:cubicBezTo>
                      <a:pt x="683" y="769"/>
                      <a:pt x="721" y="735"/>
                      <a:pt x="741" y="691"/>
                    </a:cubicBezTo>
                    <a:cubicBezTo>
                      <a:pt x="754" y="662"/>
                      <a:pt x="760" y="629"/>
                      <a:pt x="760" y="595"/>
                    </a:cubicBezTo>
                    <a:cubicBezTo>
                      <a:pt x="1010" y="595"/>
                      <a:pt x="1010" y="595"/>
                      <a:pt x="1010" y="595"/>
                    </a:cubicBezTo>
                    <a:cubicBezTo>
                      <a:pt x="1008" y="624"/>
                      <a:pt x="1004" y="653"/>
                      <a:pt x="998" y="680"/>
                    </a:cubicBezTo>
                    <a:cubicBezTo>
                      <a:pt x="976" y="768"/>
                      <a:pt x="914" y="843"/>
                      <a:pt x="832" y="877"/>
                    </a:cubicBezTo>
                    <a:cubicBezTo>
                      <a:pt x="738" y="917"/>
                      <a:pt x="635" y="939"/>
                      <a:pt x="527" y="939"/>
                    </a:cubicBezTo>
                    <a:cubicBezTo>
                      <a:pt x="444" y="939"/>
                      <a:pt x="362" y="926"/>
                      <a:pt x="287" y="902"/>
                    </a:cubicBezTo>
                    <a:cubicBezTo>
                      <a:pt x="171" y="866"/>
                      <a:pt x="71" y="783"/>
                      <a:pt x="31" y="67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3" name="Freeform 60"/>
              <p:cNvSpPr>
                <a:spLocks/>
              </p:cNvSpPr>
              <p:nvPr userDrawn="1"/>
            </p:nvSpPr>
            <p:spPr bwMode="auto">
              <a:xfrm>
                <a:off x="7821613" y="408525"/>
                <a:ext cx="38100" cy="98425"/>
              </a:xfrm>
              <a:custGeom>
                <a:avLst/>
                <a:gdLst>
                  <a:gd name="T0" fmla="*/ 211 w 219"/>
                  <a:gd name="T1" fmla="*/ 1 h 565"/>
                  <a:gd name="T2" fmla="*/ 0 w 219"/>
                  <a:gd name="T3" fmla="*/ 20 h 565"/>
                  <a:gd name="T4" fmla="*/ 0 w 219"/>
                  <a:gd name="T5" fmla="*/ 51 h 565"/>
                  <a:gd name="T6" fmla="*/ 6 w 219"/>
                  <a:gd name="T7" fmla="*/ 52 h 565"/>
                  <a:gd name="T8" fmla="*/ 92 w 219"/>
                  <a:gd name="T9" fmla="*/ 123 h 565"/>
                  <a:gd name="T10" fmla="*/ 92 w 219"/>
                  <a:gd name="T11" fmla="*/ 565 h 565"/>
                  <a:gd name="T12" fmla="*/ 219 w 219"/>
                  <a:gd name="T13" fmla="*/ 565 h 565"/>
                  <a:gd name="T14" fmla="*/ 219 w 219"/>
                  <a:gd name="T15" fmla="*/ 0 h 565"/>
                  <a:gd name="T16" fmla="*/ 211 w 219"/>
                  <a:gd name="T17" fmla="*/ 1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9" h="565">
                    <a:moveTo>
                      <a:pt x="211" y="1"/>
                    </a:moveTo>
                    <a:cubicBezTo>
                      <a:pt x="0" y="20"/>
                      <a:pt x="0" y="20"/>
                      <a:pt x="0" y="20"/>
                    </a:cubicBezTo>
                    <a:cubicBezTo>
                      <a:pt x="0" y="51"/>
                      <a:pt x="0" y="51"/>
                      <a:pt x="0" y="51"/>
                    </a:cubicBezTo>
                    <a:cubicBezTo>
                      <a:pt x="6" y="52"/>
                      <a:pt x="6" y="52"/>
                      <a:pt x="6" y="52"/>
                    </a:cubicBezTo>
                    <a:cubicBezTo>
                      <a:pt x="92" y="62"/>
                      <a:pt x="92" y="62"/>
                      <a:pt x="92" y="123"/>
                    </a:cubicBezTo>
                    <a:cubicBezTo>
                      <a:pt x="92" y="565"/>
                      <a:pt x="92" y="565"/>
                      <a:pt x="92" y="565"/>
                    </a:cubicBezTo>
                    <a:cubicBezTo>
                      <a:pt x="219" y="565"/>
                      <a:pt x="219" y="565"/>
                      <a:pt x="219" y="565"/>
                    </a:cubicBezTo>
                    <a:cubicBezTo>
                      <a:pt x="219" y="0"/>
                      <a:pt x="219" y="0"/>
                      <a:pt x="219" y="0"/>
                    </a:cubicBezTo>
                    <a:cubicBezTo>
                      <a:pt x="211" y="1"/>
                      <a:pt x="211" y="1"/>
                      <a:pt x="211" y="1"/>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4" name="Freeform 61"/>
              <p:cNvSpPr>
                <a:spLocks/>
              </p:cNvSpPr>
              <p:nvPr userDrawn="1"/>
            </p:nvSpPr>
            <p:spPr bwMode="auto">
              <a:xfrm>
                <a:off x="7878763" y="438688"/>
                <a:ext cx="77788" cy="68263"/>
              </a:xfrm>
              <a:custGeom>
                <a:avLst/>
                <a:gdLst>
                  <a:gd name="T0" fmla="*/ 328 w 446"/>
                  <a:gd name="T1" fmla="*/ 1 h 398"/>
                  <a:gd name="T2" fmla="*/ 180 w 446"/>
                  <a:gd name="T3" fmla="*/ 87 h 398"/>
                  <a:gd name="T4" fmla="*/ 180 w 446"/>
                  <a:gd name="T5" fmla="*/ 0 h 398"/>
                  <a:gd name="T6" fmla="*/ 172 w 446"/>
                  <a:gd name="T7" fmla="*/ 1 h 398"/>
                  <a:gd name="T8" fmla="*/ 0 w 446"/>
                  <a:gd name="T9" fmla="*/ 28 h 398"/>
                  <a:gd name="T10" fmla="*/ 0 w 446"/>
                  <a:gd name="T11" fmla="*/ 58 h 398"/>
                  <a:gd name="T12" fmla="*/ 8 w 446"/>
                  <a:gd name="T13" fmla="*/ 58 h 398"/>
                  <a:gd name="T14" fmla="*/ 74 w 446"/>
                  <a:gd name="T15" fmla="*/ 122 h 398"/>
                  <a:gd name="T16" fmla="*/ 74 w 446"/>
                  <a:gd name="T17" fmla="*/ 398 h 398"/>
                  <a:gd name="T18" fmla="*/ 180 w 446"/>
                  <a:gd name="T19" fmla="*/ 398 h 398"/>
                  <a:gd name="T20" fmla="*/ 180 w 446"/>
                  <a:gd name="T21" fmla="*/ 195 h 398"/>
                  <a:gd name="T22" fmla="*/ 285 w 446"/>
                  <a:gd name="T23" fmla="*/ 71 h 398"/>
                  <a:gd name="T24" fmla="*/ 339 w 446"/>
                  <a:gd name="T25" fmla="*/ 183 h 398"/>
                  <a:gd name="T26" fmla="*/ 339 w 446"/>
                  <a:gd name="T27" fmla="*/ 398 h 398"/>
                  <a:gd name="T28" fmla="*/ 446 w 446"/>
                  <a:gd name="T29" fmla="*/ 398 h 398"/>
                  <a:gd name="T30" fmla="*/ 446 w 446"/>
                  <a:gd name="T31" fmla="*/ 122 h 398"/>
                  <a:gd name="T32" fmla="*/ 328 w 446"/>
                  <a:gd name="T33" fmla="*/ 1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6" h="398">
                    <a:moveTo>
                      <a:pt x="328" y="1"/>
                    </a:moveTo>
                    <a:cubicBezTo>
                      <a:pt x="249" y="1"/>
                      <a:pt x="202" y="54"/>
                      <a:pt x="180" y="87"/>
                    </a:cubicBezTo>
                    <a:cubicBezTo>
                      <a:pt x="180" y="58"/>
                      <a:pt x="180" y="0"/>
                      <a:pt x="180" y="0"/>
                    </a:cubicBezTo>
                    <a:cubicBezTo>
                      <a:pt x="172" y="1"/>
                      <a:pt x="172" y="1"/>
                      <a:pt x="172" y="1"/>
                    </a:cubicBezTo>
                    <a:cubicBezTo>
                      <a:pt x="0" y="28"/>
                      <a:pt x="0" y="28"/>
                      <a:pt x="0" y="28"/>
                    </a:cubicBezTo>
                    <a:cubicBezTo>
                      <a:pt x="0" y="58"/>
                      <a:pt x="0" y="58"/>
                      <a:pt x="0" y="58"/>
                    </a:cubicBezTo>
                    <a:cubicBezTo>
                      <a:pt x="8" y="58"/>
                      <a:pt x="8" y="58"/>
                      <a:pt x="8" y="58"/>
                    </a:cubicBezTo>
                    <a:cubicBezTo>
                      <a:pt x="62" y="60"/>
                      <a:pt x="74" y="71"/>
                      <a:pt x="74" y="122"/>
                    </a:cubicBezTo>
                    <a:cubicBezTo>
                      <a:pt x="74" y="398"/>
                      <a:pt x="74" y="398"/>
                      <a:pt x="74" y="398"/>
                    </a:cubicBezTo>
                    <a:cubicBezTo>
                      <a:pt x="180" y="398"/>
                      <a:pt x="180" y="398"/>
                      <a:pt x="180" y="398"/>
                    </a:cubicBezTo>
                    <a:cubicBezTo>
                      <a:pt x="180" y="195"/>
                      <a:pt x="180" y="195"/>
                      <a:pt x="180" y="195"/>
                    </a:cubicBezTo>
                    <a:cubicBezTo>
                      <a:pt x="180" y="141"/>
                      <a:pt x="232" y="71"/>
                      <a:pt x="285" y="71"/>
                    </a:cubicBezTo>
                    <a:cubicBezTo>
                      <a:pt x="337" y="71"/>
                      <a:pt x="339" y="113"/>
                      <a:pt x="339" y="183"/>
                    </a:cubicBezTo>
                    <a:cubicBezTo>
                      <a:pt x="339" y="398"/>
                      <a:pt x="339" y="398"/>
                      <a:pt x="339" y="398"/>
                    </a:cubicBezTo>
                    <a:cubicBezTo>
                      <a:pt x="446" y="398"/>
                      <a:pt x="446" y="398"/>
                      <a:pt x="446" y="398"/>
                    </a:cubicBezTo>
                    <a:cubicBezTo>
                      <a:pt x="446" y="122"/>
                      <a:pt x="446" y="122"/>
                      <a:pt x="446" y="122"/>
                    </a:cubicBezTo>
                    <a:cubicBezTo>
                      <a:pt x="446" y="44"/>
                      <a:pt x="404" y="1"/>
                      <a:pt x="328" y="1"/>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5" name="Freeform 62"/>
              <p:cNvSpPr>
                <a:spLocks/>
              </p:cNvSpPr>
              <p:nvPr userDrawn="1"/>
            </p:nvSpPr>
            <p:spPr bwMode="auto">
              <a:xfrm>
                <a:off x="7978775" y="438688"/>
                <a:ext cx="50800" cy="69850"/>
              </a:xfrm>
              <a:custGeom>
                <a:avLst/>
                <a:gdLst>
                  <a:gd name="T0" fmla="*/ 175 w 298"/>
                  <a:gd name="T1" fmla="*/ 155 h 407"/>
                  <a:gd name="T2" fmla="*/ 97 w 298"/>
                  <a:gd name="T3" fmla="*/ 87 h 407"/>
                  <a:gd name="T4" fmla="*/ 154 w 298"/>
                  <a:gd name="T5" fmla="*/ 50 h 407"/>
                  <a:gd name="T6" fmla="*/ 254 w 298"/>
                  <a:gd name="T7" fmla="*/ 85 h 407"/>
                  <a:gd name="T8" fmla="*/ 270 w 298"/>
                  <a:gd name="T9" fmla="*/ 95 h 407"/>
                  <a:gd name="T10" fmla="*/ 270 w 298"/>
                  <a:gd name="T11" fmla="*/ 15 h 407"/>
                  <a:gd name="T12" fmla="*/ 257 w 298"/>
                  <a:gd name="T13" fmla="*/ 12 h 407"/>
                  <a:gd name="T14" fmla="*/ 160 w 298"/>
                  <a:gd name="T15" fmla="*/ 0 h 407"/>
                  <a:gd name="T16" fmla="*/ 0 w 298"/>
                  <a:gd name="T17" fmla="*/ 115 h 407"/>
                  <a:gd name="T18" fmla="*/ 117 w 298"/>
                  <a:gd name="T19" fmla="*/ 238 h 407"/>
                  <a:gd name="T20" fmla="*/ 200 w 298"/>
                  <a:gd name="T21" fmla="*/ 310 h 407"/>
                  <a:gd name="T22" fmla="*/ 129 w 298"/>
                  <a:gd name="T23" fmla="*/ 356 h 407"/>
                  <a:gd name="T24" fmla="*/ 12 w 298"/>
                  <a:gd name="T25" fmla="*/ 315 h 407"/>
                  <a:gd name="T26" fmla="*/ 0 w 298"/>
                  <a:gd name="T27" fmla="*/ 308 h 407"/>
                  <a:gd name="T28" fmla="*/ 0 w 298"/>
                  <a:gd name="T29" fmla="*/ 391 h 407"/>
                  <a:gd name="T30" fmla="*/ 8 w 298"/>
                  <a:gd name="T31" fmla="*/ 392 h 407"/>
                  <a:gd name="T32" fmla="*/ 125 w 298"/>
                  <a:gd name="T33" fmla="*/ 407 h 407"/>
                  <a:gd name="T34" fmla="*/ 298 w 298"/>
                  <a:gd name="T35" fmla="*/ 288 h 407"/>
                  <a:gd name="T36" fmla="*/ 175 w 298"/>
                  <a:gd name="T37" fmla="*/ 155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407">
                    <a:moveTo>
                      <a:pt x="175" y="155"/>
                    </a:moveTo>
                    <a:cubicBezTo>
                      <a:pt x="133" y="134"/>
                      <a:pt x="97" y="116"/>
                      <a:pt x="97" y="87"/>
                    </a:cubicBezTo>
                    <a:cubicBezTo>
                      <a:pt x="97" y="54"/>
                      <a:pt x="137" y="50"/>
                      <a:pt x="154" y="50"/>
                    </a:cubicBezTo>
                    <a:cubicBezTo>
                      <a:pt x="198" y="50"/>
                      <a:pt x="237" y="74"/>
                      <a:pt x="254" y="85"/>
                    </a:cubicBezTo>
                    <a:cubicBezTo>
                      <a:pt x="270" y="95"/>
                      <a:pt x="270" y="95"/>
                      <a:pt x="270" y="95"/>
                    </a:cubicBezTo>
                    <a:cubicBezTo>
                      <a:pt x="270" y="15"/>
                      <a:pt x="270" y="15"/>
                      <a:pt x="270" y="15"/>
                    </a:cubicBezTo>
                    <a:cubicBezTo>
                      <a:pt x="257" y="12"/>
                      <a:pt x="257" y="12"/>
                      <a:pt x="257" y="12"/>
                    </a:cubicBezTo>
                    <a:cubicBezTo>
                      <a:pt x="238" y="8"/>
                      <a:pt x="201" y="0"/>
                      <a:pt x="160" y="0"/>
                    </a:cubicBezTo>
                    <a:cubicBezTo>
                      <a:pt x="60" y="0"/>
                      <a:pt x="0" y="43"/>
                      <a:pt x="0" y="115"/>
                    </a:cubicBezTo>
                    <a:cubicBezTo>
                      <a:pt x="0" y="180"/>
                      <a:pt x="62" y="211"/>
                      <a:pt x="117" y="238"/>
                    </a:cubicBezTo>
                    <a:cubicBezTo>
                      <a:pt x="160" y="259"/>
                      <a:pt x="200" y="278"/>
                      <a:pt x="200" y="310"/>
                    </a:cubicBezTo>
                    <a:cubicBezTo>
                      <a:pt x="200" y="339"/>
                      <a:pt x="174" y="356"/>
                      <a:pt x="129" y="356"/>
                    </a:cubicBezTo>
                    <a:cubicBezTo>
                      <a:pt x="79" y="356"/>
                      <a:pt x="37" y="330"/>
                      <a:pt x="12" y="315"/>
                    </a:cubicBezTo>
                    <a:cubicBezTo>
                      <a:pt x="0" y="308"/>
                      <a:pt x="0" y="308"/>
                      <a:pt x="0" y="308"/>
                    </a:cubicBezTo>
                    <a:cubicBezTo>
                      <a:pt x="0" y="391"/>
                      <a:pt x="0" y="391"/>
                      <a:pt x="0" y="391"/>
                    </a:cubicBezTo>
                    <a:cubicBezTo>
                      <a:pt x="8" y="392"/>
                      <a:pt x="8" y="392"/>
                      <a:pt x="8" y="392"/>
                    </a:cubicBezTo>
                    <a:cubicBezTo>
                      <a:pt x="30" y="397"/>
                      <a:pt x="70" y="407"/>
                      <a:pt x="125" y="407"/>
                    </a:cubicBezTo>
                    <a:cubicBezTo>
                      <a:pt x="233" y="407"/>
                      <a:pt x="298" y="362"/>
                      <a:pt x="298" y="288"/>
                    </a:cubicBezTo>
                    <a:cubicBezTo>
                      <a:pt x="298" y="215"/>
                      <a:pt x="233" y="183"/>
                      <a:pt x="175" y="155"/>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6" name="Freeform 63"/>
              <p:cNvSpPr>
                <a:spLocks noEditPoints="1"/>
              </p:cNvSpPr>
              <p:nvPr userDrawn="1"/>
            </p:nvSpPr>
            <p:spPr bwMode="auto">
              <a:xfrm>
                <a:off x="8039100" y="438688"/>
                <a:ext cx="79375" cy="96838"/>
              </a:xfrm>
              <a:custGeom>
                <a:avLst/>
                <a:gdLst>
                  <a:gd name="T0" fmla="*/ 292 w 459"/>
                  <a:gd name="T1" fmla="*/ 1 h 563"/>
                  <a:gd name="T2" fmla="*/ 179 w 459"/>
                  <a:gd name="T3" fmla="*/ 56 h 563"/>
                  <a:gd name="T4" fmla="*/ 179 w 459"/>
                  <a:gd name="T5" fmla="*/ 0 h 563"/>
                  <a:gd name="T6" fmla="*/ 170 w 459"/>
                  <a:gd name="T7" fmla="*/ 1 h 563"/>
                  <a:gd name="T8" fmla="*/ 0 w 459"/>
                  <a:gd name="T9" fmla="*/ 28 h 563"/>
                  <a:gd name="T10" fmla="*/ 0 w 459"/>
                  <a:gd name="T11" fmla="*/ 58 h 563"/>
                  <a:gd name="T12" fmla="*/ 8 w 459"/>
                  <a:gd name="T13" fmla="*/ 58 h 563"/>
                  <a:gd name="T14" fmla="*/ 71 w 459"/>
                  <a:gd name="T15" fmla="*/ 122 h 563"/>
                  <a:gd name="T16" fmla="*/ 71 w 459"/>
                  <a:gd name="T17" fmla="*/ 563 h 563"/>
                  <a:gd name="T18" fmla="*/ 178 w 459"/>
                  <a:gd name="T19" fmla="*/ 563 h 563"/>
                  <a:gd name="T20" fmla="*/ 178 w 459"/>
                  <a:gd name="T21" fmla="*/ 362 h 563"/>
                  <a:gd name="T22" fmla="*/ 288 w 459"/>
                  <a:gd name="T23" fmla="*/ 408 h 563"/>
                  <a:gd name="T24" fmla="*/ 459 w 459"/>
                  <a:gd name="T25" fmla="*/ 198 h 563"/>
                  <a:gd name="T26" fmla="*/ 292 w 459"/>
                  <a:gd name="T27" fmla="*/ 1 h 563"/>
                  <a:gd name="T28" fmla="*/ 261 w 459"/>
                  <a:gd name="T29" fmla="*/ 60 h 563"/>
                  <a:gd name="T30" fmla="*/ 343 w 459"/>
                  <a:gd name="T31" fmla="*/ 198 h 563"/>
                  <a:gd name="T32" fmla="*/ 262 w 459"/>
                  <a:gd name="T33" fmla="*/ 349 h 563"/>
                  <a:gd name="T34" fmla="*/ 178 w 459"/>
                  <a:gd name="T35" fmla="*/ 230 h 563"/>
                  <a:gd name="T36" fmla="*/ 178 w 459"/>
                  <a:gd name="T37" fmla="*/ 196 h 563"/>
                  <a:gd name="T38" fmla="*/ 261 w 459"/>
                  <a:gd name="T39" fmla="*/ 60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9" h="563">
                    <a:moveTo>
                      <a:pt x="292" y="1"/>
                    </a:moveTo>
                    <a:cubicBezTo>
                      <a:pt x="252" y="1"/>
                      <a:pt x="214" y="20"/>
                      <a:pt x="179" y="56"/>
                    </a:cubicBezTo>
                    <a:cubicBezTo>
                      <a:pt x="179" y="37"/>
                      <a:pt x="179" y="0"/>
                      <a:pt x="179" y="0"/>
                    </a:cubicBezTo>
                    <a:cubicBezTo>
                      <a:pt x="170" y="1"/>
                      <a:pt x="170" y="1"/>
                      <a:pt x="170" y="1"/>
                    </a:cubicBezTo>
                    <a:cubicBezTo>
                      <a:pt x="0" y="28"/>
                      <a:pt x="0" y="28"/>
                      <a:pt x="0" y="28"/>
                    </a:cubicBezTo>
                    <a:cubicBezTo>
                      <a:pt x="0" y="58"/>
                      <a:pt x="0" y="58"/>
                      <a:pt x="0" y="58"/>
                    </a:cubicBezTo>
                    <a:cubicBezTo>
                      <a:pt x="8" y="58"/>
                      <a:pt x="8" y="58"/>
                      <a:pt x="8" y="58"/>
                    </a:cubicBezTo>
                    <a:cubicBezTo>
                      <a:pt x="61" y="60"/>
                      <a:pt x="71" y="70"/>
                      <a:pt x="71" y="122"/>
                    </a:cubicBezTo>
                    <a:cubicBezTo>
                      <a:pt x="71" y="563"/>
                      <a:pt x="71" y="563"/>
                      <a:pt x="71" y="563"/>
                    </a:cubicBezTo>
                    <a:cubicBezTo>
                      <a:pt x="178" y="563"/>
                      <a:pt x="178" y="563"/>
                      <a:pt x="178" y="563"/>
                    </a:cubicBezTo>
                    <a:cubicBezTo>
                      <a:pt x="178" y="563"/>
                      <a:pt x="178" y="395"/>
                      <a:pt x="178" y="362"/>
                    </a:cubicBezTo>
                    <a:cubicBezTo>
                      <a:pt x="198" y="386"/>
                      <a:pt x="229" y="408"/>
                      <a:pt x="288" y="408"/>
                    </a:cubicBezTo>
                    <a:cubicBezTo>
                      <a:pt x="400" y="408"/>
                      <a:pt x="459" y="335"/>
                      <a:pt x="459" y="198"/>
                    </a:cubicBezTo>
                    <a:cubicBezTo>
                      <a:pt x="459" y="73"/>
                      <a:pt x="398" y="1"/>
                      <a:pt x="292" y="1"/>
                    </a:cubicBezTo>
                    <a:moveTo>
                      <a:pt x="261" y="60"/>
                    </a:moveTo>
                    <a:cubicBezTo>
                      <a:pt x="334" y="60"/>
                      <a:pt x="343" y="139"/>
                      <a:pt x="343" y="198"/>
                    </a:cubicBezTo>
                    <a:cubicBezTo>
                      <a:pt x="343" y="300"/>
                      <a:pt x="317" y="349"/>
                      <a:pt x="262" y="349"/>
                    </a:cubicBezTo>
                    <a:cubicBezTo>
                      <a:pt x="193" y="349"/>
                      <a:pt x="178" y="284"/>
                      <a:pt x="178" y="230"/>
                    </a:cubicBezTo>
                    <a:cubicBezTo>
                      <a:pt x="178" y="196"/>
                      <a:pt x="178" y="196"/>
                      <a:pt x="178" y="196"/>
                    </a:cubicBezTo>
                    <a:cubicBezTo>
                      <a:pt x="178" y="155"/>
                      <a:pt x="186" y="60"/>
                      <a:pt x="261" y="60"/>
                    </a:cubicBez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7" name="Freeform 64"/>
              <p:cNvSpPr>
                <a:spLocks/>
              </p:cNvSpPr>
              <p:nvPr userDrawn="1"/>
            </p:nvSpPr>
            <p:spPr bwMode="auto">
              <a:xfrm>
                <a:off x="8131175" y="438688"/>
                <a:ext cx="31750" cy="68263"/>
              </a:xfrm>
              <a:custGeom>
                <a:avLst/>
                <a:gdLst>
                  <a:gd name="T0" fmla="*/ 0 w 178"/>
                  <a:gd name="T1" fmla="*/ 28 h 398"/>
                  <a:gd name="T2" fmla="*/ 0 w 178"/>
                  <a:gd name="T3" fmla="*/ 58 h 398"/>
                  <a:gd name="T4" fmla="*/ 8 w 178"/>
                  <a:gd name="T5" fmla="*/ 58 h 398"/>
                  <a:gd name="T6" fmla="*/ 71 w 178"/>
                  <a:gd name="T7" fmla="*/ 122 h 398"/>
                  <a:gd name="T8" fmla="*/ 71 w 178"/>
                  <a:gd name="T9" fmla="*/ 398 h 398"/>
                  <a:gd name="T10" fmla="*/ 178 w 178"/>
                  <a:gd name="T11" fmla="*/ 398 h 398"/>
                  <a:gd name="T12" fmla="*/ 178 w 178"/>
                  <a:gd name="T13" fmla="*/ 0 h 398"/>
                  <a:gd name="T14" fmla="*/ 169 w 178"/>
                  <a:gd name="T15" fmla="*/ 1 h 398"/>
                  <a:gd name="T16" fmla="*/ 0 w 178"/>
                  <a:gd name="T17" fmla="*/ 2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398">
                    <a:moveTo>
                      <a:pt x="0" y="28"/>
                    </a:moveTo>
                    <a:cubicBezTo>
                      <a:pt x="0" y="58"/>
                      <a:pt x="0" y="58"/>
                      <a:pt x="0" y="58"/>
                    </a:cubicBezTo>
                    <a:cubicBezTo>
                      <a:pt x="8" y="58"/>
                      <a:pt x="8" y="58"/>
                      <a:pt x="8" y="58"/>
                    </a:cubicBezTo>
                    <a:cubicBezTo>
                      <a:pt x="60" y="60"/>
                      <a:pt x="71" y="70"/>
                      <a:pt x="71" y="122"/>
                    </a:cubicBezTo>
                    <a:cubicBezTo>
                      <a:pt x="71" y="398"/>
                      <a:pt x="71" y="398"/>
                      <a:pt x="71" y="398"/>
                    </a:cubicBezTo>
                    <a:cubicBezTo>
                      <a:pt x="178" y="398"/>
                      <a:pt x="178" y="398"/>
                      <a:pt x="178" y="398"/>
                    </a:cubicBezTo>
                    <a:cubicBezTo>
                      <a:pt x="178" y="0"/>
                      <a:pt x="178" y="0"/>
                      <a:pt x="178" y="0"/>
                    </a:cubicBezTo>
                    <a:cubicBezTo>
                      <a:pt x="169" y="1"/>
                      <a:pt x="169" y="1"/>
                      <a:pt x="169" y="1"/>
                    </a:cubicBezTo>
                    <a:cubicBezTo>
                      <a:pt x="0" y="28"/>
                      <a:pt x="0" y="28"/>
                      <a:pt x="0" y="28"/>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8" name="Freeform 65"/>
              <p:cNvSpPr>
                <a:spLocks/>
              </p:cNvSpPr>
              <p:nvPr userDrawn="1"/>
            </p:nvSpPr>
            <p:spPr bwMode="auto">
              <a:xfrm>
                <a:off x="8142288" y="410113"/>
                <a:ext cx="22225" cy="19050"/>
              </a:xfrm>
              <a:custGeom>
                <a:avLst/>
                <a:gdLst>
                  <a:gd name="T0" fmla="*/ 64 w 132"/>
                  <a:gd name="T1" fmla="*/ 116 h 116"/>
                  <a:gd name="T2" fmla="*/ 132 w 132"/>
                  <a:gd name="T3" fmla="*/ 57 h 116"/>
                  <a:gd name="T4" fmla="*/ 65 w 132"/>
                  <a:gd name="T5" fmla="*/ 0 h 116"/>
                  <a:gd name="T6" fmla="*/ 0 w 132"/>
                  <a:gd name="T7" fmla="*/ 57 h 116"/>
                  <a:gd name="T8" fmla="*/ 64 w 132"/>
                  <a:gd name="T9" fmla="*/ 116 h 116"/>
                </a:gdLst>
                <a:ahLst/>
                <a:cxnLst>
                  <a:cxn ang="0">
                    <a:pos x="T0" y="T1"/>
                  </a:cxn>
                  <a:cxn ang="0">
                    <a:pos x="T2" y="T3"/>
                  </a:cxn>
                  <a:cxn ang="0">
                    <a:pos x="T4" y="T5"/>
                  </a:cxn>
                  <a:cxn ang="0">
                    <a:pos x="T6" y="T7"/>
                  </a:cxn>
                  <a:cxn ang="0">
                    <a:pos x="T8" y="T9"/>
                  </a:cxn>
                </a:cxnLst>
                <a:rect l="0" t="0" r="r" b="b"/>
                <a:pathLst>
                  <a:path w="132" h="116">
                    <a:moveTo>
                      <a:pt x="64" y="116"/>
                    </a:moveTo>
                    <a:cubicBezTo>
                      <a:pt x="102" y="116"/>
                      <a:pt x="132" y="89"/>
                      <a:pt x="132" y="57"/>
                    </a:cubicBezTo>
                    <a:cubicBezTo>
                      <a:pt x="132" y="26"/>
                      <a:pt x="102" y="0"/>
                      <a:pt x="65" y="0"/>
                    </a:cubicBezTo>
                    <a:cubicBezTo>
                      <a:pt x="29" y="0"/>
                      <a:pt x="0" y="26"/>
                      <a:pt x="0" y="57"/>
                    </a:cubicBezTo>
                    <a:cubicBezTo>
                      <a:pt x="0" y="89"/>
                      <a:pt x="29" y="116"/>
                      <a:pt x="64" y="116"/>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9" name="Freeform 66"/>
              <p:cNvSpPr>
                <a:spLocks/>
              </p:cNvSpPr>
              <p:nvPr userDrawn="1"/>
            </p:nvSpPr>
            <p:spPr bwMode="auto">
              <a:xfrm>
                <a:off x="8180388" y="438688"/>
                <a:ext cx="60325" cy="68263"/>
              </a:xfrm>
              <a:custGeom>
                <a:avLst/>
                <a:gdLst>
                  <a:gd name="T0" fmla="*/ 345 w 345"/>
                  <a:gd name="T1" fmla="*/ 89 h 398"/>
                  <a:gd name="T2" fmla="*/ 345 w 345"/>
                  <a:gd name="T3" fmla="*/ 6 h 398"/>
                  <a:gd name="T4" fmla="*/ 339 w 345"/>
                  <a:gd name="T5" fmla="*/ 5 h 398"/>
                  <a:gd name="T6" fmla="*/ 288 w 345"/>
                  <a:gd name="T7" fmla="*/ 1 h 398"/>
                  <a:gd name="T8" fmla="*/ 179 w 345"/>
                  <a:gd name="T9" fmla="*/ 80 h 398"/>
                  <a:gd name="T10" fmla="*/ 179 w 345"/>
                  <a:gd name="T11" fmla="*/ 0 h 398"/>
                  <a:gd name="T12" fmla="*/ 170 w 345"/>
                  <a:gd name="T13" fmla="*/ 1 h 398"/>
                  <a:gd name="T14" fmla="*/ 0 w 345"/>
                  <a:gd name="T15" fmla="*/ 28 h 398"/>
                  <a:gd name="T16" fmla="*/ 0 w 345"/>
                  <a:gd name="T17" fmla="*/ 58 h 398"/>
                  <a:gd name="T18" fmla="*/ 7 w 345"/>
                  <a:gd name="T19" fmla="*/ 58 h 398"/>
                  <a:gd name="T20" fmla="*/ 72 w 345"/>
                  <a:gd name="T21" fmla="*/ 122 h 398"/>
                  <a:gd name="T22" fmla="*/ 72 w 345"/>
                  <a:gd name="T23" fmla="*/ 398 h 398"/>
                  <a:gd name="T24" fmla="*/ 179 w 345"/>
                  <a:gd name="T25" fmla="*/ 398 h 398"/>
                  <a:gd name="T26" fmla="*/ 179 w 345"/>
                  <a:gd name="T27" fmla="*/ 199 h 398"/>
                  <a:gd name="T28" fmla="*/ 291 w 345"/>
                  <a:gd name="T29" fmla="*/ 87 h 398"/>
                  <a:gd name="T30" fmla="*/ 328 w 345"/>
                  <a:gd name="T31" fmla="*/ 94 h 398"/>
                  <a:gd name="T32" fmla="*/ 345 w 345"/>
                  <a:gd name="T33" fmla="*/ 99 h 398"/>
                  <a:gd name="T34" fmla="*/ 345 w 345"/>
                  <a:gd name="T35" fmla="*/ 89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5" h="398">
                    <a:moveTo>
                      <a:pt x="345" y="89"/>
                    </a:moveTo>
                    <a:cubicBezTo>
                      <a:pt x="345" y="6"/>
                      <a:pt x="345" y="6"/>
                      <a:pt x="345" y="6"/>
                    </a:cubicBezTo>
                    <a:cubicBezTo>
                      <a:pt x="339" y="5"/>
                      <a:pt x="339" y="5"/>
                      <a:pt x="339" y="5"/>
                    </a:cubicBezTo>
                    <a:cubicBezTo>
                      <a:pt x="321" y="2"/>
                      <a:pt x="304" y="1"/>
                      <a:pt x="288" y="1"/>
                    </a:cubicBezTo>
                    <a:cubicBezTo>
                      <a:pt x="228" y="1"/>
                      <a:pt x="196" y="45"/>
                      <a:pt x="179" y="80"/>
                    </a:cubicBezTo>
                    <a:cubicBezTo>
                      <a:pt x="179" y="48"/>
                      <a:pt x="179" y="0"/>
                      <a:pt x="179" y="0"/>
                    </a:cubicBezTo>
                    <a:cubicBezTo>
                      <a:pt x="170" y="1"/>
                      <a:pt x="170" y="1"/>
                      <a:pt x="170" y="1"/>
                    </a:cubicBezTo>
                    <a:cubicBezTo>
                      <a:pt x="0" y="28"/>
                      <a:pt x="0" y="28"/>
                      <a:pt x="0" y="28"/>
                    </a:cubicBezTo>
                    <a:cubicBezTo>
                      <a:pt x="0" y="58"/>
                      <a:pt x="0" y="58"/>
                      <a:pt x="0" y="58"/>
                    </a:cubicBezTo>
                    <a:cubicBezTo>
                      <a:pt x="7" y="58"/>
                      <a:pt x="7" y="58"/>
                      <a:pt x="7" y="58"/>
                    </a:cubicBezTo>
                    <a:cubicBezTo>
                      <a:pt x="61" y="60"/>
                      <a:pt x="72" y="70"/>
                      <a:pt x="72" y="122"/>
                    </a:cubicBezTo>
                    <a:cubicBezTo>
                      <a:pt x="72" y="398"/>
                      <a:pt x="72" y="398"/>
                      <a:pt x="72" y="398"/>
                    </a:cubicBezTo>
                    <a:cubicBezTo>
                      <a:pt x="179" y="398"/>
                      <a:pt x="179" y="398"/>
                      <a:pt x="179" y="398"/>
                    </a:cubicBezTo>
                    <a:cubicBezTo>
                      <a:pt x="179" y="199"/>
                      <a:pt x="179" y="199"/>
                      <a:pt x="179" y="199"/>
                    </a:cubicBezTo>
                    <a:cubicBezTo>
                      <a:pt x="179" y="165"/>
                      <a:pt x="190" y="87"/>
                      <a:pt x="291" y="87"/>
                    </a:cubicBezTo>
                    <a:cubicBezTo>
                      <a:pt x="302" y="87"/>
                      <a:pt x="315" y="91"/>
                      <a:pt x="328" y="94"/>
                    </a:cubicBezTo>
                    <a:cubicBezTo>
                      <a:pt x="345" y="99"/>
                      <a:pt x="345" y="99"/>
                      <a:pt x="345" y="99"/>
                    </a:cubicBezTo>
                    <a:cubicBezTo>
                      <a:pt x="345" y="89"/>
                      <a:pt x="345" y="89"/>
                      <a:pt x="345" y="89"/>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0" name="Freeform 67"/>
              <p:cNvSpPr>
                <a:spLocks noEditPoints="1"/>
              </p:cNvSpPr>
              <p:nvPr userDrawn="1"/>
            </p:nvSpPr>
            <p:spPr bwMode="auto">
              <a:xfrm>
                <a:off x="8248650" y="438688"/>
                <a:ext cx="65088" cy="69850"/>
              </a:xfrm>
              <a:custGeom>
                <a:avLst/>
                <a:gdLst>
                  <a:gd name="T0" fmla="*/ 377 w 377"/>
                  <a:gd name="T1" fmla="*/ 161 h 407"/>
                  <a:gd name="T2" fmla="*/ 200 w 377"/>
                  <a:gd name="T3" fmla="*/ 0 h 407"/>
                  <a:gd name="T4" fmla="*/ 0 w 377"/>
                  <a:gd name="T5" fmla="*/ 190 h 407"/>
                  <a:gd name="T6" fmla="*/ 232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6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7"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2" y="348"/>
                      <a:pt x="119" y="253"/>
                      <a:pt x="116" y="169"/>
                    </a:cubicBezTo>
                    <a:cubicBezTo>
                      <a:pt x="131" y="169"/>
                      <a:pt x="377" y="169"/>
                      <a:pt x="377" y="169"/>
                    </a:cubicBezTo>
                    <a:cubicBezTo>
                      <a:pt x="377" y="161"/>
                      <a:pt x="377" y="161"/>
                      <a:pt x="377" y="161"/>
                    </a:cubicBezTo>
                    <a:moveTo>
                      <a:pt x="197" y="42"/>
                    </a:moveTo>
                    <a:cubicBezTo>
                      <a:pt x="254" y="42"/>
                      <a:pt x="269" y="84"/>
                      <a:pt x="270" y="122"/>
                    </a:cubicBezTo>
                    <a:cubicBezTo>
                      <a:pt x="257" y="122"/>
                      <a:pt x="131" y="122"/>
                      <a:pt x="117" y="122"/>
                    </a:cubicBezTo>
                    <a:cubicBezTo>
                      <a:pt x="120" y="94"/>
                      <a:pt x="137" y="42"/>
                      <a:pt x="197" y="42"/>
                    </a:cubicBez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1" name="Freeform 68"/>
              <p:cNvSpPr>
                <a:spLocks/>
              </p:cNvSpPr>
              <p:nvPr userDrawn="1"/>
            </p:nvSpPr>
            <p:spPr bwMode="auto">
              <a:xfrm>
                <a:off x="8426450" y="406938"/>
                <a:ext cx="76200" cy="100013"/>
              </a:xfrm>
              <a:custGeom>
                <a:avLst/>
                <a:gdLst>
                  <a:gd name="T0" fmla="*/ 325 w 445"/>
                  <a:gd name="T1" fmla="*/ 181 h 578"/>
                  <a:gd name="T2" fmla="*/ 178 w 445"/>
                  <a:gd name="T3" fmla="*/ 266 h 578"/>
                  <a:gd name="T4" fmla="*/ 178 w 445"/>
                  <a:gd name="T5" fmla="*/ 0 h 578"/>
                  <a:gd name="T6" fmla="*/ 170 w 445"/>
                  <a:gd name="T7" fmla="*/ 1 h 578"/>
                  <a:gd name="T8" fmla="*/ 0 w 445"/>
                  <a:gd name="T9" fmla="*/ 22 h 578"/>
                  <a:gd name="T10" fmla="*/ 0 w 445"/>
                  <a:gd name="T11" fmla="*/ 52 h 578"/>
                  <a:gd name="T12" fmla="*/ 8 w 445"/>
                  <a:gd name="T13" fmla="*/ 52 h 578"/>
                  <a:gd name="T14" fmla="*/ 72 w 445"/>
                  <a:gd name="T15" fmla="*/ 118 h 578"/>
                  <a:gd name="T16" fmla="*/ 72 w 445"/>
                  <a:gd name="T17" fmla="*/ 578 h 578"/>
                  <a:gd name="T18" fmla="*/ 178 w 445"/>
                  <a:gd name="T19" fmla="*/ 578 h 578"/>
                  <a:gd name="T20" fmla="*/ 178 w 445"/>
                  <a:gd name="T21" fmla="*/ 380 h 578"/>
                  <a:gd name="T22" fmla="*/ 279 w 445"/>
                  <a:gd name="T23" fmla="*/ 251 h 578"/>
                  <a:gd name="T24" fmla="*/ 339 w 445"/>
                  <a:gd name="T25" fmla="*/ 335 h 578"/>
                  <a:gd name="T26" fmla="*/ 339 w 445"/>
                  <a:gd name="T27" fmla="*/ 578 h 578"/>
                  <a:gd name="T28" fmla="*/ 445 w 445"/>
                  <a:gd name="T29" fmla="*/ 578 h 578"/>
                  <a:gd name="T30" fmla="*/ 445 w 445"/>
                  <a:gd name="T31" fmla="*/ 323 h 578"/>
                  <a:gd name="T32" fmla="*/ 325 w 445"/>
                  <a:gd name="T33" fmla="*/ 18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5" h="578">
                    <a:moveTo>
                      <a:pt x="325" y="181"/>
                    </a:moveTo>
                    <a:cubicBezTo>
                      <a:pt x="246" y="181"/>
                      <a:pt x="201" y="230"/>
                      <a:pt x="178" y="266"/>
                    </a:cubicBezTo>
                    <a:cubicBezTo>
                      <a:pt x="178" y="223"/>
                      <a:pt x="178" y="0"/>
                      <a:pt x="178" y="0"/>
                    </a:cubicBezTo>
                    <a:cubicBezTo>
                      <a:pt x="170" y="1"/>
                      <a:pt x="170" y="1"/>
                      <a:pt x="170" y="1"/>
                    </a:cubicBezTo>
                    <a:cubicBezTo>
                      <a:pt x="0" y="22"/>
                      <a:pt x="0" y="22"/>
                      <a:pt x="0" y="22"/>
                    </a:cubicBezTo>
                    <a:cubicBezTo>
                      <a:pt x="0" y="52"/>
                      <a:pt x="0" y="52"/>
                      <a:pt x="0" y="52"/>
                    </a:cubicBezTo>
                    <a:cubicBezTo>
                      <a:pt x="8" y="52"/>
                      <a:pt x="8" y="52"/>
                      <a:pt x="8" y="52"/>
                    </a:cubicBezTo>
                    <a:cubicBezTo>
                      <a:pt x="60" y="54"/>
                      <a:pt x="72" y="66"/>
                      <a:pt x="72" y="118"/>
                    </a:cubicBezTo>
                    <a:cubicBezTo>
                      <a:pt x="72" y="578"/>
                      <a:pt x="72" y="578"/>
                      <a:pt x="72" y="578"/>
                    </a:cubicBezTo>
                    <a:cubicBezTo>
                      <a:pt x="178" y="578"/>
                      <a:pt x="178" y="578"/>
                      <a:pt x="178" y="578"/>
                    </a:cubicBezTo>
                    <a:cubicBezTo>
                      <a:pt x="178" y="380"/>
                      <a:pt x="178" y="380"/>
                      <a:pt x="178" y="380"/>
                    </a:cubicBezTo>
                    <a:cubicBezTo>
                      <a:pt x="178" y="307"/>
                      <a:pt x="233" y="251"/>
                      <a:pt x="279" y="251"/>
                    </a:cubicBezTo>
                    <a:cubicBezTo>
                      <a:pt x="339" y="251"/>
                      <a:pt x="339" y="296"/>
                      <a:pt x="339" y="335"/>
                    </a:cubicBezTo>
                    <a:cubicBezTo>
                      <a:pt x="339" y="578"/>
                      <a:pt x="339" y="578"/>
                      <a:pt x="339" y="578"/>
                    </a:cubicBezTo>
                    <a:cubicBezTo>
                      <a:pt x="445" y="578"/>
                      <a:pt x="445" y="578"/>
                      <a:pt x="445" y="578"/>
                    </a:cubicBezTo>
                    <a:cubicBezTo>
                      <a:pt x="445" y="323"/>
                      <a:pt x="445" y="323"/>
                      <a:pt x="445" y="323"/>
                    </a:cubicBezTo>
                    <a:cubicBezTo>
                      <a:pt x="445" y="280"/>
                      <a:pt x="445" y="181"/>
                      <a:pt x="325" y="181"/>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2" name="Freeform 69"/>
              <p:cNvSpPr>
                <a:spLocks noEditPoints="1"/>
              </p:cNvSpPr>
              <p:nvPr userDrawn="1"/>
            </p:nvSpPr>
            <p:spPr bwMode="auto">
              <a:xfrm>
                <a:off x="8521700" y="438688"/>
                <a:ext cx="65088" cy="69850"/>
              </a:xfrm>
              <a:custGeom>
                <a:avLst/>
                <a:gdLst>
                  <a:gd name="T0" fmla="*/ 377 w 377"/>
                  <a:gd name="T1" fmla="*/ 161 h 407"/>
                  <a:gd name="T2" fmla="*/ 200 w 377"/>
                  <a:gd name="T3" fmla="*/ 0 h 407"/>
                  <a:gd name="T4" fmla="*/ 0 w 377"/>
                  <a:gd name="T5" fmla="*/ 190 h 407"/>
                  <a:gd name="T6" fmla="*/ 233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7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8" y="0"/>
                      <a:pt x="0" y="64"/>
                      <a:pt x="0" y="190"/>
                    </a:cubicBezTo>
                    <a:cubicBezTo>
                      <a:pt x="0" y="326"/>
                      <a:pt x="87" y="407"/>
                      <a:pt x="233"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1" y="348"/>
                      <a:pt x="119" y="253"/>
                      <a:pt x="117" y="169"/>
                    </a:cubicBezTo>
                    <a:cubicBezTo>
                      <a:pt x="131" y="169"/>
                      <a:pt x="377" y="169"/>
                      <a:pt x="377" y="169"/>
                    </a:cubicBezTo>
                    <a:cubicBezTo>
                      <a:pt x="377" y="161"/>
                      <a:pt x="377" y="161"/>
                      <a:pt x="377" y="161"/>
                    </a:cubicBezTo>
                    <a:moveTo>
                      <a:pt x="197" y="42"/>
                    </a:moveTo>
                    <a:cubicBezTo>
                      <a:pt x="254" y="42"/>
                      <a:pt x="268" y="84"/>
                      <a:pt x="270" y="122"/>
                    </a:cubicBezTo>
                    <a:cubicBezTo>
                      <a:pt x="256" y="122"/>
                      <a:pt x="130" y="122"/>
                      <a:pt x="117" y="122"/>
                    </a:cubicBezTo>
                    <a:cubicBezTo>
                      <a:pt x="119" y="94"/>
                      <a:pt x="137" y="42"/>
                      <a:pt x="197" y="42"/>
                    </a:cubicBez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3" name="Freeform 70"/>
              <p:cNvSpPr>
                <a:spLocks/>
              </p:cNvSpPr>
              <p:nvPr userDrawn="1"/>
            </p:nvSpPr>
            <p:spPr bwMode="auto">
              <a:xfrm>
                <a:off x="8366125" y="418050"/>
                <a:ext cx="52388" cy="90488"/>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9"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2" y="468"/>
                      <a:pt x="178" y="449"/>
                      <a:pt x="178" y="394"/>
                    </a:cubicBezTo>
                    <a:cubicBezTo>
                      <a:pt x="178" y="394"/>
                      <a:pt x="178" y="182"/>
                      <a:pt x="178" y="168"/>
                    </a:cubicBezTo>
                    <a:cubicBezTo>
                      <a:pt x="192" y="168"/>
                      <a:pt x="298" y="168"/>
                      <a:pt x="298" y="168"/>
                    </a:cubicBezTo>
                    <a:cubicBezTo>
                      <a:pt x="298" y="121"/>
                      <a:pt x="298" y="121"/>
                      <a:pt x="298" y="121"/>
                    </a:cubicBezTo>
                    <a:cubicBezTo>
                      <a:pt x="298" y="121"/>
                      <a:pt x="192" y="121"/>
                      <a:pt x="178" y="121"/>
                    </a:cubicBezTo>
                    <a:cubicBezTo>
                      <a:pt x="178" y="107"/>
                      <a:pt x="178" y="0"/>
                      <a:pt x="178" y="0"/>
                    </a:cubicBezTo>
                    <a:cubicBezTo>
                      <a:pt x="71" y="0"/>
                      <a:pt x="71" y="0"/>
                      <a:pt x="71" y="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4" name="Freeform 71"/>
              <p:cNvSpPr>
                <a:spLocks/>
              </p:cNvSpPr>
              <p:nvPr userDrawn="1"/>
            </p:nvSpPr>
            <p:spPr bwMode="auto">
              <a:xfrm>
                <a:off x="8632825" y="410113"/>
                <a:ext cx="111125" cy="96838"/>
              </a:xfrm>
              <a:custGeom>
                <a:avLst/>
                <a:gdLst>
                  <a:gd name="T0" fmla="*/ 632 w 640"/>
                  <a:gd name="T1" fmla="*/ 0 h 556"/>
                  <a:gd name="T2" fmla="*/ 525 w 640"/>
                  <a:gd name="T3" fmla="*/ 0 h 556"/>
                  <a:gd name="T4" fmla="*/ 525 w 640"/>
                  <a:gd name="T5" fmla="*/ 423 h 556"/>
                  <a:gd name="T6" fmla="*/ 246 w 640"/>
                  <a:gd name="T7" fmla="*/ 0 h 556"/>
                  <a:gd name="T8" fmla="*/ 0 w 640"/>
                  <a:gd name="T9" fmla="*/ 0 h 556"/>
                  <a:gd name="T10" fmla="*/ 0 w 640"/>
                  <a:gd name="T11" fmla="*/ 32 h 556"/>
                  <a:gd name="T12" fmla="*/ 21 w 640"/>
                  <a:gd name="T13" fmla="*/ 36 h 556"/>
                  <a:gd name="T14" fmla="*/ 91 w 640"/>
                  <a:gd name="T15" fmla="*/ 111 h 556"/>
                  <a:gd name="T16" fmla="*/ 91 w 640"/>
                  <a:gd name="T17" fmla="*/ 556 h 556"/>
                  <a:gd name="T18" fmla="*/ 206 w 640"/>
                  <a:gd name="T19" fmla="*/ 556 h 556"/>
                  <a:gd name="T20" fmla="*/ 206 w 640"/>
                  <a:gd name="T21" fmla="*/ 114 h 556"/>
                  <a:gd name="T22" fmla="*/ 498 w 640"/>
                  <a:gd name="T23" fmla="*/ 556 h 556"/>
                  <a:gd name="T24" fmla="*/ 640 w 640"/>
                  <a:gd name="T25" fmla="*/ 556 h 556"/>
                  <a:gd name="T26" fmla="*/ 640 w 640"/>
                  <a:gd name="T27" fmla="*/ 0 h 556"/>
                  <a:gd name="T28" fmla="*/ 632 w 640"/>
                  <a:gd name="T2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0" h="556">
                    <a:moveTo>
                      <a:pt x="632" y="0"/>
                    </a:moveTo>
                    <a:cubicBezTo>
                      <a:pt x="525" y="0"/>
                      <a:pt x="525" y="0"/>
                      <a:pt x="525" y="0"/>
                    </a:cubicBezTo>
                    <a:cubicBezTo>
                      <a:pt x="525" y="0"/>
                      <a:pt x="525" y="382"/>
                      <a:pt x="525" y="423"/>
                    </a:cubicBezTo>
                    <a:cubicBezTo>
                      <a:pt x="503" y="389"/>
                      <a:pt x="246" y="0"/>
                      <a:pt x="246" y="0"/>
                    </a:cubicBezTo>
                    <a:cubicBezTo>
                      <a:pt x="0" y="0"/>
                      <a:pt x="0" y="0"/>
                      <a:pt x="0" y="0"/>
                    </a:cubicBezTo>
                    <a:cubicBezTo>
                      <a:pt x="0" y="32"/>
                      <a:pt x="0" y="32"/>
                      <a:pt x="0" y="32"/>
                    </a:cubicBezTo>
                    <a:cubicBezTo>
                      <a:pt x="21" y="36"/>
                      <a:pt x="21" y="36"/>
                      <a:pt x="21" y="36"/>
                    </a:cubicBezTo>
                    <a:cubicBezTo>
                      <a:pt x="86" y="47"/>
                      <a:pt x="91" y="47"/>
                      <a:pt x="91" y="111"/>
                    </a:cubicBezTo>
                    <a:cubicBezTo>
                      <a:pt x="91" y="556"/>
                      <a:pt x="91" y="556"/>
                      <a:pt x="91" y="556"/>
                    </a:cubicBezTo>
                    <a:cubicBezTo>
                      <a:pt x="206" y="556"/>
                      <a:pt x="206" y="556"/>
                      <a:pt x="206" y="556"/>
                    </a:cubicBezTo>
                    <a:cubicBezTo>
                      <a:pt x="206" y="556"/>
                      <a:pt x="206" y="155"/>
                      <a:pt x="206" y="114"/>
                    </a:cubicBezTo>
                    <a:cubicBezTo>
                      <a:pt x="228" y="148"/>
                      <a:pt x="498" y="556"/>
                      <a:pt x="498" y="556"/>
                    </a:cubicBezTo>
                    <a:cubicBezTo>
                      <a:pt x="640" y="556"/>
                      <a:pt x="640" y="556"/>
                      <a:pt x="640" y="556"/>
                    </a:cubicBezTo>
                    <a:cubicBezTo>
                      <a:pt x="640" y="0"/>
                      <a:pt x="640" y="0"/>
                      <a:pt x="640" y="0"/>
                    </a:cubicBezTo>
                    <a:cubicBezTo>
                      <a:pt x="632" y="0"/>
                      <a:pt x="632" y="0"/>
                      <a:pt x="632" y="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5" name="Freeform 72"/>
              <p:cNvSpPr>
                <a:spLocks noEditPoints="1"/>
              </p:cNvSpPr>
              <p:nvPr userDrawn="1"/>
            </p:nvSpPr>
            <p:spPr bwMode="auto">
              <a:xfrm>
                <a:off x="8761413" y="438688"/>
                <a:ext cx="66675" cy="69850"/>
              </a:xfrm>
              <a:custGeom>
                <a:avLst/>
                <a:gdLst>
                  <a:gd name="T0" fmla="*/ 378 w 378"/>
                  <a:gd name="T1" fmla="*/ 161 h 407"/>
                  <a:gd name="T2" fmla="*/ 200 w 378"/>
                  <a:gd name="T3" fmla="*/ 0 h 407"/>
                  <a:gd name="T4" fmla="*/ 0 w 378"/>
                  <a:gd name="T5" fmla="*/ 190 h 407"/>
                  <a:gd name="T6" fmla="*/ 232 w 378"/>
                  <a:gd name="T7" fmla="*/ 407 h 407"/>
                  <a:gd name="T8" fmla="*/ 363 w 378"/>
                  <a:gd name="T9" fmla="*/ 385 h 407"/>
                  <a:gd name="T10" fmla="*/ 369 w 378"/>
                  <a:gd name="T11" fmla="*/ 383 h 407"/>
                  <a:gd name="T12" fmla="*/ 369 w 378"/>
                  <a:gd name="T13" fmla="*/ 331 h 407"/>
                  <a:gd name="T14" fmla="*/ 359 w 378"/>
                  <a:gd name="T15" fmla="*/ 335 h 407"/>
                  <a:gd name="T16" fmla="*/ 276 w 378"/>
                  <a:gd name="T17" fmla="*/ 348 h 407"/>
                  <a:gd name="T18" fmla="*/ 117 w 378"/>
                  <a:gd name="T19" fmla="*/ 169 h 407"/>
                  <a:gd name="T20" fmla="*/ 378 w 378"/>
                  <a:gd name="T21" fmla="*/ 169 h 407"/>
                  <a:gd name="T22" fmla="*/ 378 w 378"/>
                  <a:gd name="T23" fmla="*/ 161 h 407"/>
                  <a:gd name="T24" fmla="*/ 196 w 378"/>
                  <a:gd name="T25" fmla="*/ 42 h 407"/>
                  <a:gd name="T26" fmla="*/ 270 w 378"/>
                  <a:gd name="T27" fmla="*/ 122 h 407"/>
                  <a:gd name="T28" fmla="*/ 117 w 378"/>
                  <a:gd name="T29" fmla="*/ 122 h 407"/>
                  <a:gd name="T30" fmla="*/ 196 w 378"/>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8" h="407">
                    <a:moveTo>
                      <a:pt x="378" y="161"/>
                    </a:moveTo>
                    <a:cubicBezTo>
                      <a:pt x="378" y="54"/>
                      <a:pt x="318" y="0"/>
                      <a:pt x="200" y="0"/>
                    </a:cubicBezTo>
                    <a:cubicBezTo>
                      <a:pt x="68"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6" y="348"/>
                    </a:cubicBezTo>
                    <a:cubicBezTo>
                      <a:pt x="161" y="348"/>
                      <a:pt x="119" y="253"/>
                      <a:pt x="117" y="169"/>
                    </a:cubicBezTo>
                    <a:cubicBezTo>
                      <a:pt x="131" y="169"/>
                      <a:pt x="378" y="169"/>
                      <a:pt x="378" y="169"/>
                    </a:cubicBezTo>
                    <a:cubicBezTo>
                      <a:pt x="378" y="161"/>
                      <a:pt x="378" y="161"/>
                      <a:pt x="378" y="161"/>
                    </a:cubicBezTo>
                    <a:moveTo>
                      <a:pt x="196" y="42"/>
                    </a:moveTo>
                    <a:cubicBezTo>
                      <a:pt x="254" y="42"/>
                      <a:pt x="269" y="84"/>
                      <a:pt x="270" y="122"/>
                    </a:cubicBezTo>
                    <a:cubicBezTo>
                      <a:pt x="257" y="122"/>
                      <a:pt x="131" y="122"/>
                      <a:pt x="117" y="122"/>
                    </a:cubicBezTo>
                    <a:cubicBezTo>
                      <a:pt x="120" y="94"/>
                      <a:pt x="137" y="42"/>
                      <a:pt x="196" y="42"/>
                    </a:cubicBezTo>
                    <a:close/>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6" name="Freeform 73"/>
              <p:cNvSpPr>
                <a:spLocks/>
              </p:cNvSpPr>
              <p:nvPr userDrawn="1"/>
            </p:nvSpPr>
            <p:spPr bwMode="auto">
              <a:xfrm>
                <a:off x="8916988" y="418050"/>
                <a:ext cx="52388" cy="90488"/>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8"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1" y="468"/>
                      <a:pt x="178" y="449"/>
                      <a:pt x="178" y="394"/>
                    </a:cubicBezTo>
                    <a:cubicBezTo>
                      <a:pt x="178" y="394"/>
                      <a:pt x="178" y="182"/>
                      <a:pt x="178" y="168"/>
                    </a:cubicBezTo>
                    <a:cubicBezTo>
                      <a:pt x="191" y="168"/>
                      <a:pt x="298" y="168"/>
                      <a:pt x="298" y="168"/>
                    </a:cubicBezTo>
                    <a:cubicBezTo>
                      <a:pt x="298" y="121"/>
                      <a:pt x="298" y="121"/>
                      <a:pt x="298" y="121"/>
                    </a:cubicBezTo>
                    <a:cubicBezTo>
                      <a:pt x="298" y="121"/>
                      <a:pt x="191" y="121"/>
                      <a:pt x="178" y="121"/>
                    </a:cubicBezTo>
                    <a:cubicBezTo>
                      <a:pt x="178" y="107"/>
                      <a:pt x="178" y="0"/>
                      <a:pt x="178" y="0"/>
                    </a:cubicBezTo>
                    <a:cubicBezTo>
                      <a:pt x="71" y="0"/>
                      <a:pt x="71" y="0"/>
                      <a:pt x="71" y="0"/>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7" name="Freeform 74"/>
              <p:cNvSpPr>
                <a:spLocks/>
              </p:cNvSpPr>
              <p:nvPr userDrawn="1"/>
            </p:nvSpPr>
            <p:spPr bwMode="auto">
              <a:xfrm>
                <a:off x="8829675" y="440275"/>
                <a:ext cx="80963" cy="66675"/>
              </a:xfrm>
              <a:custGeom>
                <a:avLst/>
                <a:gdLst>
                  <a:gd name="T0" fmla="*/ 363 w 473"/>
                  <a:gd name="T1" fmla="*/ 127 h 389"/>
                  <a:gd name="T2" fmla="*/ 473 w 473"/>
                  <a:gd name="T3" fmla="*/ 0 h 389"/>
                  <a:gd name="T4" fmla="*/ 360 w 473"/>
                  <a:gd name="T5" fmla="*/ 0 h 389"/>
                  <a:gd name="T6" fmla="*/ 256 w 473"/>
                  <a:gd name="T7" fmla="*/ 120 h 389"/>
                  <a:gd name="T8" fmla="*/ 164 w 473"/>
                  <a:gd name="T9" fmla="*/ 0 h 389"/>
                  <a:gd name="T10" fmla="*/ 0 w 473"/>
                  <a:gd name="T11" fmla="*/ 0 h 389"/>
                  <a:gd name="T12" fmla="*/ 0 w 473"/>
                  <a:gd name="T13" fmla="*/ 31 h 389"/>
                  <a:gd name="T14" fmla="*/ 7 w 473"/>
                  <a:gd name="T15" fmla="*/ 31 h 389"/>
                  <a:gd name="T16" fmla="*/ 110 w 473"/>
                  <a:gd name="T17" fmla="*/ 90 h 389"/>
                  <a:gd name="T18" fmla="*/ 177 w 473"/>
                  <a:gd name="T19" fmla="*/ 179 h 389"/>
                  <a:gd name="T20" fmla="*/ 68 w 473"/>
                  <a:gd name="T21" fmla="*/ 306 h 389"/>
                  <a:gd name="T22" fmla="*/ 181 w 473"/>
                  <a:gd name="T23" fmla="*/ 306 h 389"/>
                  <a:gd name="T24" fmla="*/ 230 w 473"/>
                  <a:gd name="T25" fmla="*/ 249 h 389"/>
                  <a:gd name="T26" fmla="*/ 335 w 473"/>
                  <a:gd name="T27" fmla="*/ 389 h 389"/>
                  <a:gd name="T28" fmla="*/ 462 w 473"/>
                  <a:gd name="T29" fmla="*/ 389 h 389"/>
                  <a:gd name="T30" fmla="*/ 261 w 473"/>
                  <a:gd name="T31" fmla="*/ 127 h 389"/>
                  <a:gd name="T32" fmla="*/ 363 w 473"/>
                  <a:gd name="T33" fmla="*/ 127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3" h="389">
                    <a:moveTo>
                      <a:pt x="363" y="127"/>
                    </a:moveTo>
                    <a:cubicBezTo>
                      <a:pt x="473" y="0"/>
                      <a:pt x="473" y="0"/>
                      <a:pt x="473" y="0"/>
                    </a:cubicBezTo>
                    <a:cubicBezTo>
                      <a:pt x="360" y="0"/>
                      <a:pt x="360" y="0"/>
                      <a:pt x="360" y="0"/>
                    </a:cubicBezTo>
                    <a:cubicBezTo>
                      <a:pt x="256" y="120"/>
                      <a:pt x="256" y="120"/>
                      <a:pt x="256" y="120"/>
                    </a:cubicBezTo>
                    <a:cubicBezTo>
                      <a:pt x="164" y="0"/>
                      <a:pt x="164" y="0"/>
                      <a:pt x="164" y="0"/>
                    </a:cubicBezTo>
                    <a:cubicBezTo>
                      <a:pt x="0" y="0"/>
                      <a:pt x="0" y="0"/>
                      <a:pt x="0" y="0"/>
                    </a:cubicBezTo>
                    <a:cubicBezTo>
                      <a:pt x="0" y="31"/>
                      <a:pt x="0" y="31"/>
                      <a:pt x="0" y="31"/>
                    </a:cubicBezTo>
                    <a:cubicBezTo>
                      <a:pt x="7" y="31"/>
                      <a:pt x="7" y="31"/>
                      <a:pt x="7" y="31"/>
                    </a:cubicBezTo>
                    <a:cubicBezTo>
                      <a:pt x="63" y="35"/>
                      <a:pt x="76" y="45"/>
                      <a:pt x="110" y="90"/>
                    </a:cubicBezTo>
                    <a:cubicBezTo>
                      <a:pt x="177" y="179"/>
                      <a:pt x="177" y="179"/>
                      <a:pt x="177" y="179"/>
                    </a:cubicBezTo>
                    <a:cubicBezTo>
                      <a:pt x="68" y="306"/>
                      <a:pt x="68" y="306"/>
                      <a:pt x="68" y="306"/>
                    </a:cubicBezTo>
                    <a:cubicBezTo>
                      <a:pt x="181" y="306"/>
                      <a:pt x="181" y="306"/>
                      <a:pt x="181" y="306"/>
                    </a:cubicBezTo>
                    <a:cubicBezTo>
                      <a:pt x="230" y="249"/>
                      <a:pt x="230" y="249"/>
                      <a:pt x="230" y="249"/>
                    </a:cubicBezTo>
                    <a:cubicBezTo>
                      <a:pt x="335" y="389"/>
                      <a:pt x="335" y="389"/>
                      <a:pt x="335" y="389"/>
                    </a:cubicBezTo>
                    <a:cubicBezTo>
                      <a:pt x="462" y="389"/>
                      <a:pt x="462" y="389"/>
                      <a:pt x="462" y="389"/>
                    </a:cubicBezTo>
                    <a:cubicBezTo>
                      <a:pt x="261" y="127"/>
                      <a:pt x="261" y="127"/>
                      <a:pt x="261" y="127"/>
                    </a:cubicBezTo>
                    <a:cubicBezTo>
                      <a:pt x="363" y="127"/>
                      <a:pt x="363" y="127"/>
                      <a:pt x="363" y="127"/>
                    </a:cubicBezTo>
                  </a:path>
                </a:pathLst>
              </a:custGeom>
              <a:solidFill>
                <a:srgbClr val="1A1A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grpSp>
        <p:pic>
          <p:nvPicPr>
            <p:cNvPr id="39" name="Picture 3"/>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57201" y="243771"/>
              <a:ext cx="2266057" cy="2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41" name="Picture 40" descr="HDS_corporate-word-texture_negative_FINA2L.png"/>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1" y="4057650"/>
            <a:ext cx="9152384" cy="847726"/>
          </a:xfrm>
          <a:prstGeom prst="rect">
            <a:avLst/>
          </a:prstGeom>
        </p:spPr>
      </p:pic>
    </p:spTree>
    <p:extLst>
      <p:ext uri="{BB962C8B-B14F-4D97-AF65-F5344CB8AC3E}">
        <p14:creationId xmlns:p14="http://schemas.microsoft.com/office/powerpoint/2010/main" val="2075427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smtClean="0"/>
              <a:t>Click to edit Master title style</a:t>
            </a:r>
            <a:endParaRPr lang="en-US" dirty="0"/>
          </a:p>
        </p:txBody>
      </p:sp>
    </p:spTree>
    <p:extLst>
      <p:ext uri="{BB962C8B-B14F-4D97-AF65-F5344CB8AC3E}">
        <p14:creationId xmlns:p14="http://schemas.microsoft.com/office/powerpoint/2010/main" val="17001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 y="0"/>
            <a:ext cx="9145613" cy="51537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 name="Rectangle 4"/>
          <p:cNvSpPr/>
          <p:nvPr/>
        </p:nvSpPr>
        <p:spPr>
          <a:xfrm>
            <a:off x="-1" y="4"/>
            <a:ext cx="9160095" cy="848792"/>
          </a:xfrm>
          <a:prstGeom prst="rect">
            <a:avLst/>
          </a:prstGeom>
          <a:gradFill flip="none" rotWithShape="1">
            <a:gsLst>
              <a:gs pos="73000">
                <a:schemeClr val="bg1">
                  <a:alpha val="12000"/>
                </a:schemeClr>
              </a:gs>
              <a:gs pos="0">
                <a:schemeClr val="bg2">
                  <a:lumMod val="20000"/>
                  <a:lumOff val="80000"/>
                </a:schemeClr>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0" name="AutoShape 42"/>
          <p:cNvSpPr>
            <a:spLocks noChangeAspect="1" noChangeArrowheads="1" noTextEdit="1"/>
          </p:cNvSpPr>
          <p:nvPr/>
        </p:nvSpPr>
        <p:spPr bwMode="auto">
          <a:xfrm>
            <a:off x="-2081054" y="-12701"/>
            <a:ext cx="11241148"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13" name="Text Placeholder 53"/>
          <p:cNvSpPr>
            <a:spLocks noGrp="1"/>
          </p:cNvSpPr>
          <p:nvPr>
            <p:ph type="body" idx="1"/>
          </p:nvPr>
        </p:nvSpPr>
        <p:spPr>
          <a:xfrm>
            <a:off x="264160" y="967575"/>
            <a:ext cx="8584006" cy="1961306"/>
          </a:xfrm>
          <a:prstGeom prst="rect">
            <a:avLst/>
          </a:prstGeom>
        </p:spPr>
        <p:txBody>
          <a:bodyPr vert="horz" wrap="square" lIns="91440" tIns="45720" rIns="91440" bIns="4572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3" name="Rectangle 32"/>
          <p:cNvSpPr/>
          <p:nvPr/>
        </p:nvSpPr>
        <p:spPr>
          <a:xfrm rot="10800000">
            <a:off x="-8468" y="821940"/>
            <a:ext cx="9144000" cy="48010"/>
          </a:xfrm>
          <a:prstGeom prst="rect">
            <a:avLst/>
          </a:prstGeom>
          <a:gradFill>
            <a:gsLst>
              <a:gs pos="100000">
                <a:schemeClr val="accent2"/>
              </a:gs>
              <a:gs pos="15000">
                <a:schemeClr val="accent2">
                  <a:alpha val="0"/>
                </a:schemeClr>
              </a:gs>
              <a:gs pos="66000">
                <a:schemeClr val="accent2"/>
              </a:gs>
            </a:gsLst>
            <a:lin ang="0" scaled="0"/>
          </a:gra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smtClean="0">
              <a:latin typeface="+mj-lt"/>
            </a:endParaRPr>
          </a:p>
        </p:txBody>
      </p:sp>
      <p:sp>
        <p:nvSpPr>
          <p:cNvPr id="35" name="TextBox 34"/>
          <p:cNvSpPr txBox="1"/>
          <p:nvPr/>
        </p:nvSpPr>
        <p:spPr>
          <a:xfrm>
            <a:off x="6111200" y="4911221"/>
            <a:ext cx="2993127" cy="215444"/>
          </a:xfrm>
          <a:prstGeom prst="rect">
            <a:avLst/>
          </a:prstGeom>
          <a:noFill/>
        </p:spPr>
        <p:txBody>
          <a:bodyPr wrap="none" rtlCol="0">
            <a:spAutoFit/>
          </a:bodyPr>
          <a:lstStyle/>
          <a:p>
            <a:pPr algn="r"/>
            <a:r>
              <a:rPr lang="en-US" sz="800" kern="1200" dirty="0" smtClean="0">
                <a:solidFill>
                  <a:schemeClr val="bg2">
                    <a:lumMod val="75000"/>
                    <a:alpha val="50000"/>
                  </a:schemeClr>
                </a:solidFill>
                <a:latin typeface="+mn-lt"/>
                <a:ea typeface="+mn-ea"/>
                <a:cs typeface="+mn-cs"/>
              </a:rPr>
              <a:t>© Hitachi Data Systems Corporation 2014. All rights reserved.</a:t>
            </a:r>
          </a:p>
        </p:txBody>
      </p:sp>
      <p:sp>
        <p:nvSpPr>
          <p:cNvPr id="36" name="Rectangle 4"/>
          <p:cNvSpPr/>
          <p:nvPr/>
        </p:nvSpPr>
        <p:spPr>
          <a:xfrm>
            <a:off x="1611" y="4"/>
            <a:ext cx="9144001" cy="817701"/>
          </a:xfrm>
          <a:prstGeom prst="rect">
            <a:avLst/>
          </a:prstGeom>
          <a:blipFill dpi="0" rotWithShape="1">
            <a:blip r:embed="rId25" cstate="email">
              <a:alphaModFix amt="40000"/>
            </a:blip>
            <a:srcRect/>
            <a:tile tx="0" ty="0" sx="20000" sy="2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 name="Title Placeholder 1"/>
          <p:cNvSpPr>
            <a:spLocks noGrp="1"/>
          </p:cNvSpPr>
          <p:nvPr>
            <p:ph type="title"/>
          </p:nvPr>
        </p:nvSpPr>
        <p:spPr>
          <a:xfrm>
            <a:off x="264160" y="53113"/>
            <a:ext cx="7051040" cy="732441"/>
          </a:xfrm>
          <a:prstGeom prst="rect">
            <a:avLst/>
          </a:prstGeom>
        </p:spPr>
        <p:txBody>
          <a:bodyPr vert="horz" lIns="91440" tIns="0" rIns="91440" bIns="0" rtlCol="0" anchor="ctr">
            <a:normAutofit/>
          </a:bodyPr>
          <a:lstStyle/>
          <a:p>
            <a:pPr lvl="0"/>
            <a:r>
              <a:rPr lang="en-US" smtClean="0"/>
              <a:t>Click to edit Master title style</a:t>
            </a:r>
            <a:endParaRPr lang="en-US" dirty="0"/>
          </a:p>
        </p:txBody>
      </p:sp>
      <p:grpSp>
        <p:nvGrpSpPr>
          <p:cNvPr id="45" name="Group 44"/>
          <p:cNvGrpSpPr/>
          <p:nvPr/>
        </p:nvGrpSpPr>
        <p:grpSpPr>
          <a:xfrm>
            <a:off x="7687887" y="230319"/>
            <a:ext cx="1230037" cy="352168"/>
            <a:chOff x="7743893" y="-1004361"/>
            <a:chExt cx="1215220" cy="347926"/>
          </a:xfrm>
          <a:solidFill>
            <a:schemeClr val="tx1"/>
          </a:solidFill>
        </p:grpSpPr>
        <p:sp>
          <p:nvSpPr>
            <p:cNvPr id="46" name="Freeform 75"/>
            <p:cNvSpPr>
              <a:spLocks/>
            </p:cNvSpPr>
            <p:nvPr userDrawn="1"/>
          </p:nvSpPr>
          <p:spPr bwMode="auto">
            <a:xfrm>
              <a:off x="8895241" y="-809388"/>
              <a:ext cx="47062" cy="28574"/>
            </a:xfrm>
            <a:custGeom>
              <a:avLst/>
              <a:gdLst>
                <a:gd name="T0" fmla="*/ 13 w 28"/>
                <a:gd name="T1" fmla="*/ 17 h 17"/>
                <a:gd name="T2" fmla="*/ 0 w 28"/>
                <a:gd name="T3" fmla="*/ 17 h 17"/>
                <a:gd name="T4" fmla="*/ 15 w 28"/>
                <a:gd name="T5" fmla="*/ 0 h 17"/>
                <a:gd name="T6" fmla="*/ 28 w 28"/>
                <a:gd name="T7" fmla="*/ 0 h 17"/>
                <a:gd name="T8" fmla="*/ 13 w 28"/>
                <a:gd name="T9" fmla="*/ 17 h 17"/>
              </a:gdLst>
              <a:ahLst/>
              <a:cxnLst>
                <a:cxn ang="0">
                  <a:pos x="T0" y="T1"/>
                </a:cxn>
                <a:cxn ang="0">
                  <a:pos x="T2" y="T3"/>
                </a:cxn>
                <a:cxn ang="0">
                  <a:pos x="T4" y="T5"/>
                </a:cxn>
                <a:cxn ang="0">
                  <a:pos x="T6" y="T7"/>
                </a:cxn>
                <a:cxn ang="0">
                  <a:pos x="T8" y="T9"/>
                </a:cxn>
              </a:cxnLst>
              <a:rect l="0" t="0" r="r" b="b"/>
              <a:pathLst>
                <a:path w="28" h="17">
                  <a:moveTo>
                    <a:pt x="13" y="17"/>
                  </a:moveTo>
                  <a:lnTo>
                    <a:pt x="0" y="17"/>
                  </a:lnTo>
                  <a:lnTo>
                    <a:pt x="15" y="0"/>
                  </a:lnTo>
                  <a:lnTo>
                    <a:pt x="28" y="0"/>
                  </a:lnTo>
                  <a:lnTo>
                    <a:pt x="13" y="17"/>
                  </a:lnTo>
                  <a:close/>
                </a:path>
              </a:pathLst>
            </a:custGeom>
            <a:solidFill>
              <a:schemeClr val="accent2"/>
            </a:solidFill>
            <a:ln>
              <a:noFill/>
            </a:ln>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47" name="Freeform 50"/>
            <p:cNvSpPr>
              <a:spLocks/>
            </p:cNvSpPr>
            <p:nvPr userDrawn="1"/>
          </p:nvSpPr>
          <p:spPr bwMode="auto">
            <a:xfrm>
              <a:off x="8636398"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48" name="Freeform 52"/>
            <p:cNvSpPr>
              <a:spLocks/>
            </p:cNvSpPr>
            <p:nvPr userDrawn="1"/>
          </p:nvSpPr>
          <p:spPr bwMode="auto">
            <a:xfrm>
              <a:off x="8090138" y="-1001000"/>
              <a:ext cx="176485" cy="164719"/>
            </a:xfrm>
            <a:custGeom>
              <a:avLst/>
              <a:gdLst>
                <a:gd name="T0" fmla="*/ 105 w 105"/>
                <a:gd name="T1" fmla="*/ 0 h 98"/>
                <a:gd name="T2" fmla="*/ 105 w 105"/>
                <a:gd name="T3" fmla="*/ 17 h 98"/>
                <a:gd name="T4" fmla="*/ 66 w 105"/>
                <a:gd name="T5" fmla="*/ 17 h 98"/>
                <a:gd name="T6" fmla="*/ 66 w 105"/>
                <a:gd name="T7" fmla="*/ 98 h 98"/>
                <a:gd name="T8" fmla="*/ 40 w 105"/>
                <a:gd name="T9" fmla="*/ 98 h 98"/>
                <a:gd name="T10" fmla="*/ 40 w 105"/>
                <a:gd name="T11" fmla="*/ 17 h 98"/>
                <a:gd name="T12" fmla="*/ 0 w 105"/>
                <a:gd name="T13" fmla="*/ 17 h 98"/>
                <a:gd name="T14" fmla="*/ 0 w 105"/>
                <a:gd name="T15" fmla="*/ 0 h 98"/>
                <a:gd name="T16" fmla="*/ 105 w 105"/>
                <a:gd name="T17"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98">
                  <a:moveTo>
                    <a:pt x="105" y="0"/>
                  </a:moveTo>
                  <a:lnTo>
                    <a:pt x="105" y="17"/>
                  </a:lnTo>
                  <a:lnTo>
                    <a:pt x="66" y="17"/>
                  </a:lnTo>
                  <a:lnTo>
                    <a:pt x="66" y="98"/>
                  </a:lnTo>
                  <a:lnTo>
                    <a:pt x="40" y="98"/>
                  </a:lnTo>
                  <a:lnTo>
                    <a:pt x="40" y="17"/>
                  </a:lnTo>
                  <a:lnTo>
                    <a:pt x="0" y="17"/>
                  </a:lnTo>
                  <a:lnTo>
                    <a:pt x="0" y="0"/>
                  </a:lnTo>
                  <a:lnTo>
                    <a:pt x="105"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49" name="Freeform 48"/>
            <p:cNvSpPr>
              <a:spLocks noEditPoints="1"/>
            </p:cNvSpPr>
            <p:nvPr userDrawn="1"/>
          </p:nvSpPr>
          <p:spPr bwMode="auto">
            <a:xfrm>
              <a:off x="8229644" y="-1001000"/>
              <a:ext cx="206739" cy="164719"/>
            </a:xfrm>
            <a:custGeom>
              <a:avLst/>
              <a:gdLst>
                <a:gd name="T0" fmla="*/ 123 w 123"/>
                <a:gd name="T1" fmla="*/ 98 h 98"/>
                <a:gd name="T2" fmla="*/ 94 w 123"/>
                <a:gd name="T3" fmla="*/ 98 h 98"/>
                <a:gd name="T4" fmla="*/ 86 w 123"/>
                <a:gd name="T5" fmla="*/ 77 h 98"/>
                <a:gd name="T6" fmla="*/ 37 w 123"/>
                <a:gd name="T7" fmla="*/ 77 h 98"/>
                <a:gd name="T8" fmla="*/ 29 w 123"/>
                <a:gd name="T9" fmla="*/ 98 h 98"/>
                <a:gd name="T10" fmla="*/ 0 w 123"/>
                <a:gd name="T11" fmla="*/ 98 h 98"/>
                <a:gd name="T12" fmla="*/ 46 w 123"/>
                <a:gd name="T13" fmla="*/ 0 h 98"/>
                <a:gd name="T14" fmla="*/ 77 w 123"/>
                <a:gd name="T15" fmla="*/ 0 h 98"/>
                <a:gd name="T16" fmla="*/ 123 w 123"/>
                <a:gd name="T17" fmla="*/ 98 h 98"/>
                <a:gd name="T18" fmla="*/ 61 w 123"/>
                <a:gd name="T19" fmla="*/ 17 h 98"/>
                <a:gd name="T20" fmla="*/ 43 w 123"/>
                <a:gd name="T21" fmla="*/ 61 h 98"/>
                <a:gd name="T22" fmla="*/ 79 w 123"/>
                <a:gd name="T23" fmla="*/ 61 h 98"/>
                <a:gd name="T24" fmla="*/ 61 w 123"/>
                <a:gd name="T25" fmla="*/ 1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98">
                  <a:moveTo>
                    <a:pt x="123" y="98"/>
                  </a:moveTo>
                  <a:lnTo>
                    <a:pt x="94" y="98"/>
                  </a:lnTo>
                  <a:lnTo>
                    <a:pt x="86" y="77"/>
                  </a:lnTo>
                  <a:lnTo>
                    <a:pt x="37" y="77"/>
                  </a:lnTo>
                  <a:lnTo>
                    <a:pt x="29" y="98"/>
                  </a:lnTo>
                  <a:lnTo>
                    <a:pt x="0" y="98"/>
                  </a:lnTo>
                  <a:lnTo>
                    <a:pt x="46" y="0"/>
                  </a:lnTo>
                  <a:lnTo>
                    <a:pt x="77" y="0"/>
                  </a:lnTo>
                  <a:lnTo>
                    <a:pt x="123" y="98"/>
                  </a:lnTo>
                  <a:moveTo>
                    <a:pt x="61" y="17"/>
                  </a:moveTo>
                  <a:lnTo>
                    <a:pt x="43" y="61"/>
                  </a:lnTo>
                  <a:lnTo>
                    <a:pt x="79" y="61"/>
                  </a:lnTo>
                  <a:lnTo>
                    <a:pt x="61" y="17"/>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0" name="Rectangle 49"/>
            <p:cNvSpPr>
              <a:spLocks noChangeArrowheads="1"/>
            </p:cNvSpPr>
            <p:nvPr userDrawn="1"/>
          </p:nvSpPr>
          <p:spPr bwMode="auto">
            <a:xfrm>
              <a:off x="884649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1" name="Freeform 57"/>
            <p:cNvSpPr>
              <a:spLocks/>
            </p:cNvSpPr>
            <p:nvPr userDrawn="1"/>
          </p:nvSpPr>
          <p:spPr bwMode="auto">
            <a:xfrm>
              <a:off x="7821209" y="-1001000"/>
              <a:ext cx="174803" cy="164719"/>
            </a:xfrm>
            <a:custGeom>
              <a:avLst/>
              <a:gdLst>
                <a:gd name="T0" fmla="*/ 26 w 104"/>
                <a:gd name="T1" fmla="*/ 0 h 98"/>
                <a:gd name="T2" fmla="*/ 26 w 104"/>
                <a:gd name="T3" fmla="*/ 39 h 98"/>
                <a:gd name="T4" fmla="*/ 79 w 104"/>
                <a:gd name="T5" fmla="*/ 39 h 98"/>
                <a:gd name="T6" fmla="*/ 79 w 104"/>
                <a:gd name="T7" fmla="*/ 0 h 98"/>
                <a:gd name="T8" fmla="*/ 104 w 104"/>
                <a:gd name="T9" fmla="*/ 0 h 98"/>
                <a:gd name="T10" fmla="*/ 104 w 104"/>
                <a:gd name="T11" fmla="*/ 98 h 98"/>
                <a:gd name="T12" fmla="*/ 79 w 104"/>
                <a:gd name="T13" fmla="*/ 98 h 98"/>
                <a:gd name="T14" fmla="*/ 79 w 104"/>
                <a:gd name="T15" fmla="*/ 55 h 98"/>
                <a:gd name="T16" fmla="*/ 26 w 104"/>
                <a:gd name="T17" fmla="*/ 55 h 98"/>
                <a:gd name="T18" fmla="*/ 26 w 104"/>
                <a:gd name="T19" fmla="*/ 98 h 98"/>
                <a:gd name="T20" fmla="*/ 0 w 104"/>
                <a:gd name="T21" fmla="*/ 98 h 98"/>
                <a:gd name="T22" fmla="*/ 0 w 104"/>
                <a:gd name="T23" fmla="*/ 0 h 98"/>
                <a:gd name="T24" fmla="*/ 26 w 104"/>
                <a:gd name="T2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98">
                  <a:moveTo>
                    <a:pt x="26" y="0"/>
                  </a:moveTo>
                  <a:lnTo>
                    <a:pt x="26" y="39"/>
                  </a:lnTo>
                  <a:lnTo>
                    <a:pt x="79" y="39"/>
                  </a:lnTo>
                  <a:lnTo>
                    <a:pt x="79" y="0"/>
                  </a:lnTo>
                  <a:lnTo>
                    <a:pt x="104" y="0"/>
                  </a:lnTo>
                  <a:lnTo>
                    <a:pt x="104" y="98"/>
                  </a:lnTo>
                  <a:lnTo>
                    <a:pt x="79" y="98"/>
                  </a:lnTo>
                  <a:lnTo>
                    <a:pt x="79" y="55"/>
                  </a:lnTo>
                  <a:lnTo>
                    <a:pt x="26" y="55"/>
                  </a:lnTo>
                  <a:lnTo>
                    <a:pt x="26" y="98"/>
                  </a:lnTo>
                  <a:lnTo>
                    <a:pt x="0" y="98"/>
                  </a:lnTo>
                  <a:lnTo>
                    <a:pt x="0" y="0"/>
                  </a:lnTo>
                  <a:lnTo>
                    <a:pt x="2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2" name="Rectangle 58"/>
            <p:cNvSpPr>
              <a:spLocks noChangeArrowheads="1"/>
            </p:cNvSpPr>
            <p:nvPr userDrawn="1"/>
          </p:nvSpPr>
          <p:spPr bwMode="auto">
            <a:xfrm>
              <a:off x="8031309" y="-1001000"/>
              <a:ext cx="43701" cy="1647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3" name="Freeform 59"/>
            <p:cNvSpPr>
              <a:spLocks/>
            </p:cNvSpPr>
            <p:nvPr userDrawn="1"/>
          </p:nvSpPr>
          <p:spPr bwMode="auto">
            <a:xfrm>
              <a:off x="8429660" y="-1004361"/>
              <a:ext cx="184888" cy="171442"/>
            </a:xfrm>
            <a:custGeom>
              <a:avLst/>
              <a:gdLst>
                <a:gd name="T0" fmla="*/ 31 w 1010"/>
                <a:gd name="T1" fmla="*/ 670 h 939"/>
                <a:gd name="T2" fmla="*/ 0 w 1010"/>
                <a:gd name="T3" fmla="*/ 479 h 939"/>
                <a:gd name="T4" fmla="*/ 61 w 1010"/>
                <a:gd name="T5" fmla="*/ 218 h 939"/>
                <a:gd name="T6" fmla="*/ 265 w 1010"/>
                <a:gd name="T7" fmla="*/ 48 h 939"/>
                <a:gd name="T8" fmla="*/ 527 w 1010"/>
                <a:gd name="T9" fmla="*/ 0 h 939"/>
                <a:gd name="T10" fmla="*/ 826 w 1010"/>
                <a:gd name="T11" fmla="*/ 63 h 939"/>
                <a:gd name="T12" fmla="*/ 995 w 1010"/>
                <a:gd name="T13" fmla="*/ 270 h 939"/>
                <a:gd name="T14" fmla="*/ 1004 w 1010"/>
                <a:gd name="T15" fmla="*/ 327 h 939"/>
                <a:gd name="T16" fmla="*/ 755 w 1010"/>
                <a:gd name="T17" fmla="*/ 327 h 939"/>
                <a:gd name="T18" fmla="*/ 742 w 1010"/>
                <a:gd name="T19" fmla="*/ 258 h 939"/>
                <a:gd name="T20" fmla="*/ 631 w 1010"/>
                <a:gd name="T21" fmla="*/ 155 h 939"/>
                <a:gd name="T22" fmla="*/ 527 w 1010"/>
                <a:gd name="T23" fmla="*/ 139 h 939"/>
                <a:gd name="T24" fmla="*/ 410 w 1010"/>
                <a:gd name="T25" fmla="*/ 159 h 939"/>
                <a:gd name="T26" fmla="*/ 280 w 1010"/>
                <a:gd name="T27" fmla="*/ 291 h 939"/>
                <a:gd name="T28" fmla="*/ 248 w 1010"/>
                <a:gd name="T29" fmla="*/ 479 h 939"/>
                <a:gd name="T30" fmla="*/ 270 w 1010"/>
                <a:gd name="T31" fmla="*/ 636 h 939"/>
                <a:gd name="T32" fmla="*/ 400 w 1010"/>
                <a:gd name="T33" fmla="*/ 777 h 939"/>
                <a:gd name="T34" fmla="*/ 527 w 1010"/>
                <a:gd name="T35" fmla="*/ 801 h 939"/>
                <a:gd name="T36" fmla="*/ 637 w 1010"/>
                <a:gd name="T37" fmla="*/ 784 h 939"/>
                <a:gd name="T38" fmla="*/ 741 w 1010"/>
                <a:gd name="T39" fmla="*/ 691 h 939"/>
                <a:gd name="T40" fmla="*/ 760 w 1010"/>
                <a:gd name="T41" fmla="*/ 595 h 939"/>
                <a:gd name="T42" fmla="*/ 1010 w 1010"/>
                <a:gd name="T43" fmla="*/ 595 h 939"/>
                <a:gd name="T44" fmla="*/ 998 w 1010"/>
                <a:gd name="T45" fmla="*/ 680 h 939"/>
                <a:gd name="T46" fmla="*/ 832 w 1010"/>
                <a:gd name="T47" fmla="*/ 877 h 939"/>
                <a:gd name="T48" fmla="*/ 527 w 1010"/>
                <a:gd name="T49" fmla="*/ 939 h 939"/>
                <a:gd name="T50" fmla="*/ 287 w 1010"/>
                <a:gd name="T51" fmla="*/ 902 h 939"/>
                <a:gd name="T52" fmla="*/ 31 w 1010"/>
                <a:gd name="T53" fmla="*/ 670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10" h="939">
                  <a:moveTo>
                    <a:pt x="31" y="670"/>
                  </a:moveTo>
                  <a:cubicBezTo>
                    <a:pt x="11" y="609"/>
                    <a:pt x="0" y="546"/>
                    <a:pt x="0" y="479"/>
                  </a:cubicBezTo>
                  <a:cubicBezTo>
                    <a:pt x="0" y="385"/>
                    <a:pt x="16" y="294"/>
                    <a:pt x="61" y="218"/>
                  </a:cubicBezTo>
                  <a:cubicBezTo>
                    <a:pt x="107" y="140"/>
                    <a:pt x="179" y="80"/>
                    <a:pt x="265" y="48"/>
                  </a:cubicBezTo>
                  <a:cubicBezTo>
                    <a:pt x="347" y="17"/>
                    <a:pt x="435" y="0"/>
                    <a:pt x="527" y="0"/>
                  </a:cubicBezTo>
                  <a:cubicBezTo>
                    <a:pt x="634" y="0"/>
                    <a:pt x="734" y="24"/>
                    <a:pt x="826" y="63"/>
                  </a:cubicBezTo>
                  <a:cubicBezTo>
                    <a:pt x="912" y="100"/>
                    <a:pt x="976" y="177"/>
                    <a:pt x="995" y="270"/>
                  </a:cubicBezTo>
                  <a:cubicBezTo>
                    <a:pt x="999" y="288"/>
                    <a:pt x="1002" y="308"/>
                    <a:pt x="1004" y="327"/>
                  </a:cubicBezTo>
                  <a:cubicBezTo>
                    <a:pt x="755" y="327"/>
                    <a:pt x="755" y="327"/>
                    <a:pt x="755" y="327"/>
                  </a:cubicBezTo>
                  <a:cubicBezTo>
                    <a:pt x="754" y="303"/>
                    <a:pt x="750" y="279"/>
                    <a:pt x="742" y="258"/>
                  </a:cubicBezTo>
                  <a:cubicBezTo>
                    <a:pt x="723" y="209"/>
                    <a:pt x="682" y="170"/>
                    <a:pt x="631" y="155"/>
                  </a:cubicBezTo>
                  <a:cubicBezTo>
                    <a:pt x="598" y="144"/>
                    <a:pt x="563" y="139"/>
                    <a:pt x="527" y="139"/>
                  </a:cubicBezTo>
                  <a:cubicBezTo>
                    <a:pt x="486" y="139"/>
                    <a:pt x="447" y="146"/>
                    <a:pt x="410" y="159"/>
                  </a:cubicBezTo>
                  <a:cubicBezTo>
                    <a:pt x="349" y="181"/>
                    <a:pt x="302" y="230"/>
                    <a:pt x="280" y="291"/>
                  </a:cubicBezTo>
                  <a:cubicBezTo>
                    <a:pt x="260" y="349"/>
                    <a:pt x="248" y="413"/>
                    <a:pt x="248" y="479"/>
                  </a:cubicBezTo>
                  <a:cubicBezTo>
                    <a:pt x="248" y="534"/>
                    <a:pt x="257" y="586"/>
                    <a:pt x="270" y="636"/>
                  </a:cubicBezTo>
                  <a:cubicBezTo>
                    <a:pt x="289" y="701"/>
                    <a:pt x="337" y="753"/>
                    <a:pt x="400" y="777"/>
                  </a:cubicBezTo>
                  <a:cubicBezTo>
                    <a:pt x="440" y="792"/>
                    <a:pt x="482" y="801"/>
                    <a:pt x="527" y="801"/>
                  </a:cubicBezTo>
                  <a:cubicBezTo>
                    <a:pt x="566" y="801"/>
                    <a:pt x="602" y="795"/>
                    <a:pt x="637" y="784"/>
                  </a:cubicBezTo>
                  <a:cubicBezTo>
                    <a:pt x="683" y="769"/>
                    <a:pt x="721" y="735"/>
                    <a:pt x="741" y="691"/>
                  </a:cubicBezTo>
                  <a:cubicBezTo>
                    <a:pt x="754" y="662"/>
                    <a:pt x="760" y="629"/>
                    <a:pt x="760" y="595"/>
                  </a:cubicBezTo>
                  <a:cubicBezTo>
                    <a:pt x="1010" y="595"/>
                    <a:pt x="1010" y="595"/>
                    <a:pt x="1010" y="595"/>
                  </a:cubicBezTo>
                  <a:cubicBezTo>
                    <a:pt x="1008" y="624"/>
                    <a:pt x="1004" y="653"/>
                    <a:pt x="998" y="680"/>
                  </a:cubicBezTo>
                  <a:cubicBezTo>
                    <a:pt x="976" y="768"/>
                    <a:pt x="914" y="843"/>
                    <a:pt x="832" y="877"/>
                  </a:cubicBezTo>
                  <a:cubicBezTo>
                    <a:pt x="738" y="917"/>
                    <a:pt x="635" y="939"/>
                    <a:pt x="527" y="939"/>
                  </a:cubicBezTo>
                  <a:cubicBezTo>
                    <a:pt x="444" y="939"/>
                    <a:pt x="362" y="926"/>
                    <a:pt x="287" y="902"/>
                  </a:cubicBezTo>
                  <a:cubicBezTo>
                    <a:pt x="171" y="866"/>
                    <a:pt x="71" y="783"/>
                    <a:pt x="31" y="6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4" name="Freeform 60"/>
            <p:cNvSpPr>
              <a:spLocks/>
            </p:cNvSpPr>
            <p:nvPr userDrawn="1"/>
          </p:nvSpPr>
          <p:spPr bwMode="auto">
            <a:xfrm>
              <a:off x="7743893" y="-790900"/>
              <a:ext cx="40339" cy="104210"/>
            </a:xfrm>
            <a:custGeom>
              <a:avLst/>
              <a:gdLst>
                <a:gd name="T0" fmla="*/ 211 w 219"/>
                <a:gd name="T1" fmla="*/ 1 h 565"/>
                <a:gd name="T2" fmla="*/ 0 w 219"/>
                <a:gd name="T3" fmla="*/ 20 h 565"/>
                <a:gd name="T4" fmla="*/ 0 w 219"/>
                <a:gd name="T5" fmla="*/ 51 h 565"/>
                <a:gd name="T6" fmla="*/ 6 w 219"/>
                <a:gd name="T7" fmla="*/ 52 h 565"/>
                <a:gd name="T8" fmla="*/ 92 w 219"/>
                <a:gd name="T9" fmla="*/ 123 h 565"/>
                <a:gd name="T10" fmla="*/ 92 w 219"/>
                <a:gd name="T11" fmla="*/ 565 h 565"/>
                <a:gd name="T12" fmla="*/ 219 w 219"/>
                <a:gd name="T13" fmla="*/ 565 h 565"/>
                <a:gd name="T14" fmla="*/ 219 w 219"/>
                <a:gd name="T15" fmla="*/ 0 h 565"/>
                <a:gd name="T16" fmla="*/ 211 w 219"/>
                <a:gd name="T17" fmla="*/ 1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9" h="565">
                  <a:moveTo>
                    <a:pt x="211" y="1"/>
                  </a:moveTo>
                  <a:cubicBezTo>
                    <a:pt x="0" y="20"/>
                    <a:pt x="0" y="20"/>
                    <a:pt x="0" y="20"/>
                  </a:cubicBezTo>
                  <a:cubicBezTo>
                    <a:pt x="0" y="51"/>
                    <a:pt x="0" y="51"/>
                    <a:pt x="0" y="51"/>
                  </a:cubicBezTo>
                  <a:cubicBezTo>
                    <a:pt x="6" y="52"/>
                    <a:pt x="6" y="52"/>
                    <a:pt x="6" y="52"/>
                  </a:cubicBezTo>
                  <a:cubicBezTo>
                    <a:pt x="92" y="62"/>
                    <a:pt x="92" y="62"/>
                    <a:pt x="92" y="123"/>
                  </a:cubicBezTo>
                  <a:cubicBezTo>
                    <a:pt x="92" y="565"/>
                    <a:pt x="92" y="565"/>
                    <a:pt x="92" y="565"/>
                  </a:cubicBezTo>
                  <a:cubicBezTo>
                    <a:pt x="219" y="565"/>
                    <a:pt x="219" y="565"/>
                    <a:pt x="219" y="565"/>
                  </a:cubicBezTo>
                  <a:cubicBezTo>
                    <a:pt x="219" y="0"/>
                    <a:pt x="219" y="0"/>
                    <a:pt x="219" y="0"/>
                  </a:cubicBezTo>
                  <a:cubicBezTo>
                    <a:pt x="211" y="1"/>
                    <a:pt x="211" y="1"/>
                    <a:pt x="211"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5" name="Freeform 61"/>
            <p:cNvSpPr>
              <a:spLocks/>
            </p:cNvSpPr>
            <p:nvPr userDrawn="1"/>
          </p:nvSpPr>
          <p:spPr bwMode="auto">
            <a:xfrm>
              <a:off x="7804401" y="-758964"/>
              <a:ext cx="82360" cy="72275"/>
            </a:xfrm>
            <a:custGeom>
              <a:avLst/>
              <a:gdLst>
                <a:gd name="T0" fmla="*/ 328 w 446"/>
                <a:gd name="T1" fmla="*/ 1 h 398"/>
                <a:gd name="T2" fmla="*/ 180 w 446"/>
                <a:gd name="T3" fmla="*/ 87 h 398"/>
                <a:gd name="T4" fmla="*/ 180 w 446"/>
                <a:gd name="T5" fmla="*/ 0 h 398"/>
                <a:gd name="T6" fmla="*/ 172 w 446"/>
                <a:gd name="T7" fmla="*/ 1 h 398"/>
                <a:gd name="T8" fmla="*/ 0 w 446"/>
                <a:gd name="T9" fmla="*/ 28 h 398"/>
                <a:gd name="T10" fmla="*/ 0 w 446"/>
                <a:gd name="T11" fmla="*/ 58 h 398"/>
                <a:gd name="T12" fmla="*/ 8 w 446"/>
                <a:gd name="T13" fmla="*/ 58 h 398"/>
                <a:gd name="T14" fmla="*/ 74 w 446"/>
                <a:gd name="T15" fmla="*/ 122 h 398"/>
                <a:gd name="T16" fmla="*/ 74 w 446"/>
                <a:gd name="T17" fmla="*/ 398 h 398"/>
                <a:gd name="T18" fmla="*/ 180 w 446"/>
                <a:gd name="T19" fmla="*/ 398 h 398"/>
                <a:gd name="T20" fmla="*/ 180 w 446"/>
                <a:gd name="T21" fmla="*/ 195 h 398"/>
                <a:gd name="T22" fmla="*/ 285 w 446"/>
                <a:gd name="T23" fmla="*/ 71 h 398"/>
                <a:gd name="T24" fmla="*/ 339 w 446"/>
                <a:gd name="T25" fmla="*/ 183 h 398"/>
                <a:gd name="T26" fmla="*/ 339 w 446"/>
                <a:gd name="T27" fmla="*/ 398 h 398"/>
                <a:gd name="T28" fmla="*/ 446 w 446"/>
                <a:gd name="T29" fmla="*/ 398 h 398"/>
                <a:gd name="T30" fmla="*/ 446 w 446"/>
                <a:gd name="T31" fmla="*/ 122 h 398"/>
                <a:gd name="T32" fmla="*/ 328 w 446"/>
                <a:gd name="T33" fmla="*/ 1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6" h="398">
                  <a:moveTo>
                    <a:pt x="328" y="1"/>
                  </a:moveTo>
                  <a:cubicBezTo>
                    <a:pt x="249" y="1"/>
                    <a:pt x="202" y="54"/>
                    <a:pt x="180" y="87"/>
                  </a:cubicBezTo>
                  <a:cubicBezTo>
                    <a:pt x="180" y="58"/>
                    <a:pt x="180" y="0"/>
                    <a:pt x="180" y="0"/>
                  </a:cubicBezTo>
                  <a:cubicBezTo>
                    <a:pt x="172" y="1"/>
                    <a:pt x="172" y="1"/>
                    <a:pt x="172" y="1"/>
                  </a:cubicBezTo>
                  <a:cubicBezTo>
                    <a:pt x="0" y="28"/>
                    <a:pt x="0" y="28"/>
                    <a:pt x="0" y="28"/>
                  </a:cubicBezTo>
                  <a:cubicBezTo>
                    <a:pt x="0" y="58"/>
                    <a:pt x="0" y="58"/>
                    <a:pt x="0" y="58"/>
                  </a:cubicBezTo>
                  <a:cubicBezTo>
                    <a:pt x="8" y="58"/>
                    <a:pt x="8" y="58"/>
                    <a:pt x="8" y="58"/>
                  </a:cubicBezTo>
                  <a:cubicBezTo>
                    <a:pt x="62" y="60"/>
                    <a:pt x="74" y="71"/>
                    <a:pt x="74" y="122"/>
                  </a:cubicBezTo>
                  <a:cubicBezTo>
                    <a:pt x="74" y="398"/>
                    <a:pt x="74" y="398"/>
                    <a:pt x="74" y="398"/>
                  </a:cubicBezTo>
                  <a:cubicBezTo>
                    <a:pt x="180" y="398"/>
                    <a:pt x="180" y="398"/>
                    <a:pt x="180" y="398"/>
                  </a:cubicBezTo>
                  <a:cubicBezTo>
                    <a:pt x="180" y="195"/>
                    <a:pt x="180" y="195"/>
                    <a:pt x="180" y="195"/>
                  </a:cubicBezTo>
                  <a:cubicBezTo>
                    <a:pt x="180" y="141"/>
                    <a:pt x="232" y="71"/>
                    <a:pt x="285" y="71"/>
                  </a:cubicBezTo>
                  <a:cubicBezTo>
                    <a:pt x="337" y="71"/>
                    <a:pt x="339" y="113"/>
                    <a:pt x="339" y="183"/>
                  </a:cubicBezTo>
                  <a:cubicBezTo>
                    <a:pt x="339" y="398"/>
                    <a:pt x="339" y="398"/>
                    <a:pt x="339" y="398"/>
                  </a:cubicBezTo>
                  <a:cubicBezTo>
                    <a:pt x="446" y="398"/>
                    <a:pt x="446" y="398"/>
                    <a:pt x="446" y="398"/>
                  </a:cubicBezTo>
                  <a:cubicBezTo>
                    <a:pt x="446" y="122"/>
                    <a:pt x="446" y="122"/>
                    <a:pt x="446" y="122"/>
                  </a:cubicBezTo>
                  <a:cubicBezTo>
                    <a:pt x="446" y="44"/>
                    <a:pt x="404" y="1"/>
                    <a:pt x="328"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6" name="Freeform 62"/>
            <p:cNvSpPr>
              <a:spLocks/>
            </p:cNvSpPr>
            <p:nvPr userDrawn="1"/>
          </p:nvSpPr>
          <p:spPr bwMode="auto">
            <a:xfrm>
              <a:off x="7910291" y="-758964"/>
              <a:ext cx="53786" cy="73955"/>
            </a:xfrm>
            <a:custGeom>
              <a:avLst/>
              <a:gdLst>
                <a:gd name="T0" fmla="*/ 175 w 298"/>
                <a:gd name="T1" fmla="*/ 155 h 407"/>
                <a:gd name="T2" fmla="*/ 97 w 298"/>
                <a:gd name="T3" fmla="*/ 87 h 407"/>
                <a:gd name="T4" fmla="*/ 154 w 298"/>
                <a:gd name="T5" fmla="*/ 50 h 407"/>
                <a:gd name="T6" fmla="*/ 254 w 298"/>
                <a:gd name="T7" fmla="*/ 85 h 407"/>
                <a:gd name="T8" fmla="*/ 270 w 298"/>
                <a:gd name="T9" fmla="*/ 95 h 407"/>
                <a:gd name="T10" fmla="*/ 270 w 298"/>
                <a:gd name="T11" fmla="*/ 15 h 407"/>
                <a:gd name="T12" fmla="*/ 257 w 298"/>
                <a:gd name="T13" fmla="*/ 12 h 407"/>
                <a:gd name="T14" fmla="*/ 160 w 298"/>
                <a:gd name="T15" fmla="*/ 0 h 407"/>
                <a:gd name="T16" fmla="*/ 0 w 298"/>
                <a:gd name="T17" fmla="*/ 115 h 407"/>
                <a:gd name="T18" fmla="*/ 117 w 298"/>
                <a:gd name="T19" fmla="*/ 238 h 407"/>
                <a:gd name="T20" fmla="*/ 200 w 298"/>
                <a:gd name="T21" fmla="*/ 310 h 407"/>
                <a:gd name="T22" fmla="*/ 129 w 298"/>
                <a:gd name="T23" fmla="*/ 356 h 407"/>
                <a:gd name="T24" fmla="*/ 12 w 298"/>
                <a:gd name="T25" fmla="*/ 315 h 407"/>
                <a:gd name="T26" fmla="*/ 0 w 298"/>
                <a:gd name="T27" fmla="*/ 308 h 407"/>
                <a:gd name="T28" fmla="*/ 0 w 298"/>
                <a:gd name="T29" fmla="*/ 391 h 407"/>
                <a:gd name="T30" fmla="*/ 8 w 298"/>
                <a:gd name="T31" fmla="*/ 392 h 407"/>
                <a:gd name="T32" fmla="*/ 125 w 298"/>
                <a:gd name="T33" fmla="*/ 407 h 407"/>
                <a:gd name="T34" fmla="*/ 298 w 298"/>
                <a:gd name="T35" fmla="*/ 288 h 407"/>
                <a:gd name="T36" fmla="*/ 175 w 298"/>
                <a:gd name="T37" fmla="*/ 155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407">
                  <a:moveTo>
                    <a:pt x="175" y="155"/>
                  </a:moveTo>
                  <a:cubicBezTo>
                    <a:pt x="133" y="134"/>
                    <a:pt x="97" y="116"/>
                    <a:pt x="97" y="87"/>
                  </a:cubicBezTo>
                  <a:cubicBezTo>
                    <a:pt x="97" y="54"/>
                    <a:pt x="137" y="50"/>
                    <a:pt x="154" y="50"/>
                  </a:cubicBezTo>
                  <a:cubicBezTo>
                    <a:pt x="198" y="50"/>
                    <a:pt x="237" y="74"/>
                    <a:pt x="254" y="85"/>
                  </a:cubicBezTo>
                  <a:cubicBezTo>
                    <a:pt x="270" y="95"/>
                    <a:pt x="270" y="95"/>
                    <a:pt x="270" y="95"/>
                  </a:cubicBezTo>
                  <a:cubicBezTo>
                    <a:pt x="270" y="15"/>
                    <a:pt x="270" y="15"/>
                    <a:pt x="270" y="15"/>
                  </a:cubicBezTo>
                  <a:cubicBezTo>
                    <a:pt x="257" y="12"/>
                    <a:pt x="257" y="12"/>
                    <a:pt x="257" y="12"/>
                  </a:cubicBezTo>
                  <a:cubicBezTo>
                    <a:pt x="238" y="8"/>
                    <a:pt x="201" y="0"/>
                    <a:pt x="160" y="0"/>
                  </a:cubicBezTo>
                  <a:cubicBezTo>
                    <a:pt x="60" y="0"/>
                    <a:pt x="0" y="43"/>
                    <a:pt x="0" y="115"/>
                  </a:cubicBezTo>
                  <a:cubicBezTo>
                    <a:pt x="0" y="180"/>
                    <a:pt x="62" y="211"/>
                    <a:pt x="117" y="238"/>
                  </a:cubicBezTo>
                  <a:cubicBezTo>
                    <a:pt x="160" y="259"/>
                    <a:pt x="200" y="278"/>
                    <a:pt x="200" y="310"/>
                  </a:cubicBezTo>
                  <a:cubicBezTo>
                    <a:pt x="200" y="339"/>
                    <a:pt x="174" y="356"/>
                    <a:pt x="129" y="356"/>
                  </a:cubicBezTo>
                  <a:cubicBezTo>
                    <a:pt x="79" y="356"/>
                    <a:pt x="37" y="330"/>
                    <a:pt x="12" y="315"/>
                  </a:cubicBezTo>
                  <a:cubicBezTo>
                    <a:pt x="0" y="308"/>
                    <a:pt x="0" y="308"/>
                    <a:pt x="0" y="308"/>
                  </a:cubicBezTo>
                  <a:cubicBezTo>
                    <a:pt x="0" y="391"/>
                    <a:pt x="0" y="391"/>
                    <a:pt x="0" y="391"/>
                  </a:cubicBezTo>
                  <a:cubicBezTo>
                    <a:pt x="8" y="392"/>
                    <a:pt x="8" y="392"/>
                    <a:pt x="8" y="392"/>
                  </a:cubicBezTo>
                  <a:cubicBezTo>
                    <a:pt x="30" y="397"/>
                    <a:pt x="70" y="407"/>
                    <a:pt x="125" y="407"/>
                  </a:cubicBezTo>
                  <a:cubicBezTo>
                    <a:pt x="233" y="407"/>
                    <a:pt x="298" y="362"/>
                    <a:pt x="298" y="288"/>
                  </a:cubicBezTo>
                  <a:cubicBezTo>
                    <a:pt x="298" y="215"/>
                    <a:pt x="233" y="183"/>
                    <a:pt x="17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7" name="Freeform 63"/>
            <p:cNvSpPr>
              <a:spLocks noEditPoints="1"/>
            </p:cNvSpPr>
            <p:nvPr userDrawn="1"/>
          </p:nvSpPr>
          <p:spPr bwMode="auto">
            <a:xfrm>
              <a:off x="7974162" y="-758964"/>
              <a:ext cx="84040" cy="102529"/>
            </a:xfrm>
            <a:custGeom>
              <a:avLst/>
              <a:gdLst>
                <a:gd name="T0" fmla="*/ 292 w 459"/>
                <a:gd name="T1" fmla="*/ 1 h 563"/>
                <a:gd name="T2" fmla="*/ 179 w 459"/>
                <a:gd name="T3" fmla="*/ 56 h 563"/>
                <a:gd name="T4" fmla="*/ 179 w 459"/>
                <a:gd name="T5" fmla="*/ 0 h 563"/>
                <a:gd name="T6" fmla="*/ 170 w 459"/>
                <a:gd name="T7" fmla="*/ 1 h 563"/>
                <a:gd name="T8" fmla="*/ 0 w 459"/>
                <a:gd name="T9" fmla="*/ 28 h 563"/>
                <a:gd name="T10" fmla="*/ 0 w 459"/>
                <a:gd name="T11" fmla="*/ 58 h 563"/>
                <a:gd name="T12" fmla="*/ 8 w 459"/>
                <a:gd name="T13" fmla="*/ 58 h 563"/>
                <a:gd name="T14" fmla="*/ 71 w 459"/>
                <a:gd name="T15" fmla="*/ 122 h 563"/>
                <a:gd name="T16" fmla="*/ 71 w 459"/>
                <a:gd name="T17" fmla="*/ 563 h 563"/>
                <a:gd name="T18" fmla="*/ 178 w 459"/>
                <a:gd name="T19" fmla="*/ 563 h 563"/>
                <a:gd name="T20" fmla="*/ 178 w 459"/>
                <a:gd name="T21" fmla="*/ 362 h 563"/>
                <a:gd name="T22" fmla="*/ 288 w 459"/>
                <a:gd name="T23" fmla="*/ 408 h 563"/>
                <a:gd name="T24" fmla="*/ 459 w 459"/>
                <a:gd name="T25" fmla="*/ 198 h 563"/>
                <a:gd name="T26" fmla="*/ 292 w 459"/>
                <a:gd name="T27" fmla="*/ 1 h 563"/>
                <a:gd name="T28" fmla="*/ 261 w 459"/>
                <a:gd name="T29" fmla="*/ 60 h 563"/>
                <a:gd name="T30" fmla="*/ 343 w 459"/>
                <a:gd name="T31" fmla="*/ 198 h 563"/>
                <a:gd name="T32" fmla="*/ 262 w 459"/>
                <a:gd name="T33" fmla="*/ 349 h 563"/>
                <a:gd name="T34" fmla="*/ 178 w 459"/>
                <a:gd name="T35" fmla="*/ 230 h 563"/>
                <a:gd name="T36" fmla="*/ 178 w 459"/>
                <a:gd name="T37" fmla="*/ 196 h 563"/>
                <a:gd name="T38" fmla="*/ 261 w 459"/>
                <a:gd name="T39" fmla="*/ 60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9" h="563">
                  <a:moveTo>
                    <a:pt x="292" y="1"/>
                  </a:moveTo>
                  <a:cubicBezTo>
                    <a:pt x="252" y="1"/>
                    <a:pt x="214" y="20"/>
                    <a:pt x="179" y="56"/>
                  </a:cubicBezTo>
                  <a:cubicBezTo>
                    <a:pt x="179" y="37"/>
                    <a:pt x="179" y="0"/>
                    <a:pt x="179" y="0"/>
                  </a:cubicBezTo>
                  <a:cubicBezTo>
                    <a:pt x="170" y="1"/>
                    <a:pt x="170" y="1"/>
                    <a:pt x="170" y="1"/>
                  </a:cubicBezTo>
                  <a:cubicBezTo>
                    <a:pt x="0" y="28"/>
                    <a:pt x="0" y="28"/>
                    <a:pt x="0" y="28"/>
                  </a:cubicBezTo>
                  <a:cubicBezTo>
                    <a:pt x="0" y="58"/>
                    <a:pt x="0" y="58"/>
                    <a:pt x="0" y="58"/>
                  </a:cubicBezTo>
                  <a:cubicBezTo>
                    <a:pt x="8" y="58"/>
                    <a:pt x="8" y="58"/>
                    <a:pt x="8" y="58"/>
                  </a:cubicBezTo>
                  <a:cubicBezTo>
                    <a:pt x="61" y="60"/>
                    <a:pt x="71" y="70"/>
                    <a:pt x="71" y="122"/>
                  </a:cubicBezTo>
                  <a:cubicBezTo>
                    <a:pt x="71" y="563"/>
                    <a:pt x="71" y="563"/>
                    <a:pt x="71" y="563"/>
                  </a:cubicBezTo>
                  <a:cubicBezTo>
                    <a:pt x="178" y="563"/>
                    <a:pt x="178" y="563"/>
                    <a:pt x="178" y="563"/>
                  </a:cubicBezTo>
                  <a:cubicBezTo>
                    <a:pt x="178" y="563"/>
                    <a:pt x="178" y="395"/>
                    <a:pt x="178" y="362"/>
                  </a:cubicBezTo>
                  <a:cubicBezTo>
                    <a:pt x="198" y="386"/>
                    <a:pt x="229" y="408"/>
                    <a:pt x="288" y="408"/>
                  </a:cubicBezTo>
                  <a:cubicBezTo>
                    <a:pt x="400" y="408"/>
                    <a:pt x="459" y="335"/>
                    <a:pt x="459" y="198"/>
                  </a:cubicBezTo>
                  <a:cubicBezTo>
                    <a:pt x="459" y="73"/>
                    <a:pt x="398" y="1"/>
                    <a:pt x="292" y="1"/>
                  </a:cubicBezTo>
                  <a:moveTo>
                    <a:pt x="261" y="60"/>
                  </a:moveTo>
                  <a:cubicBezTo>
                    <a:pt x="334" y="60"/>
                    <a:pt x="343" y="139"/>
                    <a:pt x="343" y="198"/>
                  </a:cubicBezTo>
                  <a:cubicBezTo>
                    <a:pt x="343" y="300"/>
                    <a:pt x="317" y="349"/>
                    <a:pt x="262" y="349"/>
                  </a:cubicBezTo>
                  <a:cubicBezTo>
                    <a:pt x="193" y="349"/>
                    <a:pt x="178" y="284"/>
                    <a:pt x="178" y="230"/>
                  </a:cubicBezTo>
                  <a:cubicBezTo>
                    <a:pt x="178" y="196"/>
                    <a:pt x="178" y="196"/>
                    <a:pt x="178" y="196"/>
                  </a:cubicBezTo>
                  <a:cubicBezTo>
                    <a:pt x="178" y="155"/>
                    <a:pt x="186" y="60"/>
                    <a:pt x="26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8" name="Freeform 64"/>
            <p:cNvSpPr>
              <a:spLocks/>
            </p:cNvSpPr>
            <p:nvPr userDrawn="1"/>
          </p:nvSpPr>
          <p:spPr bwMode="auto">
            <a:xfrm>
              <a:off x="8071648" y="-758964"/>
              <a:ext cx="33616" cy="72275"/>
            </a:xfrm>
            <a:custGeom>
              <a:avLst/>
              <a:gdLst>
                <a:gd name="T0" fmla="*/ 0 w 178"/>
                <a:gd name="T1" fmla="*/ 28 h 398"/>
                <a:gd name="T2" fmla="*/ 0 w 178"/>
                <a:gd name="T3" fmla="*/ 58 h 398"/>
                <a:gd name="T4" fmla="*/ 8 w 178"/>
                <a:gd name="T5" fmla="*/ 58 h 398"/>
                <a:gd name="T6" fmla="*/ 71 w 178"/>
                <a:gd name="T7" fmla="*/ 122 h 398"/>
                <a:gd name="T8" fmla="*/ 71 w 178"/>
                <a:gd name="T9" fmla="*/ 398 h 398"/>
                <a:gd name="T10" fmla="*/ 178 w 178"/>
                <a:gd name="T11" fmla="*/ 398 h 398"/>
                <a:gd name="T12" fmla="*/ 178 w 178"/>
                <a:gd name="T13" fmla="*/ 0 h 398"/>
                <a:gd name="T14" fmla="*/ 169 w 178"/>
                <a:gd name="T15" fmla="*/ 1 h 398"/>
                <a:gd name="T16" fmla="*/ 0 w 178"/>
                <a:gd name="T17" fmla="*/ 2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 h="398">
                  <a:moveTo>
                    <a:pt x="0" y="28"/>
                  </a:moveTo>
                  <a:cubicBezTo>
                    <a:pt x="0" y="58"/>
                    <a:pt x="0" y="58"/>
                    <a:pt x="0" y="58"/>
                  </a:cubicBezTo>
                  <a:cubicBezTo>
                    <a:pt x="8" y="58"/>
                    <a:pt x="8" y="58"/>
                    <a:pt x="8" y="58"/>
                  </a:cubicBezTo>
                  <a:cubicBezTo>
                    <a:pt x="60" y="60"/>
                    <a:pt x="71" y="70"/>
                    <a:pt x="71" y="122"/>
                  </a:cubicBezTo>
                  <a:cubicBezTo>
                    <a:pt x="71" y="398"/>
                    <a:pt x="71" y="398"/>
                    <a:pt x="71" y="398"/>
                  </a:cubicBezTo>
                  <a:cubicBezTo>
                    <a:pt x="178" y="398"/>
                    <a:pt x="178" y="398"/>
                    <a:pt x="178" y="398"/>
                  </a:cubicBezTo>
                  <a:cubicBezTo>
                    <a:pt x="178" y="0"/>
                    <a:pt x="178" y="0"/>
                    <a:pt x="178" y="0"/>
                  </a:cubicBezTo>
                  <a:cubicBezTo>
                    <a:pt x="169" y="1"/>
                    <a:pt x="169" y="1"/>
                    <a:pt x="169" y="1"/>
                  </a:cubicBezTo>
                  <a:cubicBezTo>
                    <a:pt x="0" y="28"/>
                    <a:pt x="0" y="28"/>
                    <a:pt x="0" y="2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59" name="Freeform 65"/>
            <p:cNvSpPr>
              <a:spLocks/>
            </p:cNvSpPr>
            <p:nvPr userDrawn="1"/>
          </p:nvSpPr>
          <p:spPr bwMode="auto">
            <a:xfrm>
              <a:off x="8083415" y="-789219"/>
              <a:ext cx="23531" cy="20170"/>
            </a:xfrm>
            <a:custGeom>
              <a:avLst/>
              <a:gdLst>
                <a:gd name="T0" fmla="*/ 64 w 132"/>
                <a:gd name="T1" fmla="*/ 116 h 116"/>
                <a:gd name="T2" fmla="*/ 132 w 132"/>
                <a:gd name="T3" fmla="*/ 57 h 116"/>
                <a:gd name="T4" fmla="*/ 65 w 132"/>
                <a:gd name="T5" fmla="*/ 0 h 116"/>
                <a:gd name="T6" fmla="*/ 0 w 132"/>
                <a:gd name="T7" fmla="*/ 57 h 116"/>
                <a:gd name="T8" fmla="*/ 64 w 132"/>
                <a:gd name="T9" fmla="*/ 116 h 116"/>
              </a:gdLst>
              <a:ahLst/>
              <a:cxnLst>
                <a:cxn ang="0">
                  <a:pos x="T0" y="T1"/>
                </a:cxn>
                <a:cxn ang="0">
                  <a:pos x="T2" y="T3"/>
                </a:cxn>
                <a:cxn ang="0">
                  <a:pos x="T4" y="T5"/>
                </a:cxn>
                <a:cxn ang="0">
                  <a:pos x="T6" y="T7"/>
                </a:cxn>
                <a:cxn ang="0">
                  <a:pos x="T8" y="T9"/>
                </a:cxn>
              </a:cxnLst>
              <a:rect l="0" t="0" r="r" b="b"/>
              <a:pathLst>
                <a:path w="132" h="116">
                  <a:moveTo>
                    <a:pt x="64" y="116"/>
                  </a:moveTo>
                  <a:cubicBezTo>
                    <a:pt x="102" y="116"/>
                    <a:pt x="132" y="89"/>
                    <a:pt x="132" y="57"/>
                  </a:cubicBezTo>
                  <a:cubicBezTo>
                    <a:pt x="132" y="26"/>
                    <a:pt x="102" y="0"/>
                    <a:pt x="65" y="0"/>
                  </a:cubicBezTo>
                  <a:cubicBezTo>
                    <a:pt x="29" y="0"/>
                    <a:pt x="0" y="26"/>
                    <a:pt x="0" y="57"/>
                  </a:cubicBezTo>
                  <a:cubicBezTo>
                    <a:pt x="0" y="89"/>
                    <a:pt x="29" y="116"/>
                    <a:pt x="64" y="11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5" name="Freeform 66"/>
            <p:cNvSpPr>
              <a:spLocks/>
            </p:cNvSpPr>
            <p:nvPr userDrawn="1"/>
          </p:nvSpPr>
          <p:spPr bwMode="auto">
            <a:xfrm>
              <a:off x="8123754" y="-758964"/>
              <a:ext cx="63870" cy="72275"/>
            </a:xfrm>
            <a:custGeom>
              <a:avLst/>
              <a:gdLst>
                <a:gd name="T0" fmla="*/ 345 w 345"/>
                <a:gd name="T1" fmla="*/ 89 h 398"/>
                <a:gd name="T2" fmla="*/ 345 w 345"/>
                <a:gd name="T3" fmla="*/ 6 h 398"/>
                <a:gd name="T4" fmla="*/ 339 w 345"/>
                <a:gd name="T5" fmla="*/ 5 h 398"/>
                <a:gd name="T6" fmla="*/ 288 w 345"/>
                <a:gd name="T7" fmla="*/ 1 h 398"/>
                <a:gd name="T8" fmla="*/ 179 w 345"/>
                <a:gd name="T9" fmla="*/ 80 h 398"/>
                <a:gd name="T10" fmla="*/ 179 w 345"/>
                <a:gd name="T11" fmla="*/ 0 h 398"/>
                <a:gd name="T12" fmla="*/ 170 w 345"/>
                <a:gd name="T13" fmla="*/ 1 h 398"/>
                <a:gd name="T14" fmla="*/ 0 w 345"/>
                <a:gd name="T15" fmla="*/ 28 h 398"/>
                <a:gd name="T16" fmla="*/ 0 w 345"/>
                <a:gd name="T17" fmla="*/ 58 h 398"/>
                <a:gd name="T18" fmla="*/ 7 w 345"/>
                <a:gd name="T19" fmla="*/ 58 h 398"/>
                <a:gd name="T20" fmla="*/ 72 w 345"/>
                <a:gd name="T21" fmla="*/ 122 h 398"/>
                <a:gd name="T22" fmla="*/ 72 w 345"/>
                <a:gd name="T23" fmla="*/ 398 h 398"/>
                <a:gd name="T24" fmla="*/ 179 w 345"/>
                <a:gd name="T25" fmla="*/ 398 h 398"/>
                <a:gd name="T26" fmla="*/ 179 w 345"/>
                <a:gd name="T27" fmla="*/ 199 h 398"/>
                <a:gd name="T28" fmla="*/ 291 w 345"/>
                <a:gd name="T29" fmla="*/ 87 h 398"/>
                <a:gd name="T30" fmla="*/ 328 w 345"/>
                <a:gd name="T31" fmla="*/ 94 h 398"/>
                <a:gd name="T32" fmla="*/ 345 w 345"/>
                <a:gd name="T33" fmla="*/ 99 h 398"/>
                <a:gd name="T34" fmla="*/ 345 w 345"/>
                <a:gd name="T35" fmla="*/ 89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5" h="398">
                  <a:moveTo>
                    <a:pt x="345" y="89"/>
                  </a:moveTo>
                  <a:cubicBezTo>
                    <a:pt x="345" y="6"/>
                    <a:pt x="345" y="6"/>
                    <a:pt x="345" y="6"/>
                  </a:cubicBezTo>
                  <a:cubicBezTo>
                    <a:pt x="339" y="5"/>
                    <a:pt x="339" y="5"/>
                    <a:pt x="339" y="5"/>
                  </a:cubicBezTo>
                  <a:cubicBezTo>
                    <a:pt x="321" y="2"/>
                    <a:pt x="304" y="1"/>
                    <a:pt x="288" y="1"/>
                  </a:cubicBezTo>
                  <a:cubicBezTo>
                    <a:pt x="228" y="1"/>
                    <a:pt x="196" y="45"/>
                    <a:pt x="179" y="80"/>
                  </a:cubicBezTo>
                  <a:cubicBezTo>
                    <a:pt x="179" y="48"/>
                    <a:pt x="179" y="0"/>
                    <a:pt x="179" y="0"/>
                  </a:cubicBezTo>
                  <a:cubicBezTo>
                    <a:pt x="170" y="1"/>
                    <a:pt x="170" y="1"/>
                    <a:pt x="170" y="1"/>
                  </a:cubicBezTo>
                  <a:cubicBezTo>
                    <a:pt x="0" y="28"/>
                    <a:pt x="0" y="28"/>
                    <a:pt x="0" y="28"/>
                  </a:cubicBezTo>
                  <a:cubicBezTo>
                    <a:pt x="0" y="58"/>
                    <a:pt x="0" y="58"/>
                    <a:pt x="0" y="58"/>
                  </a:cubicBezTo>
                  <a:cubicBezTo>
                    <a:pt x="7" y="58"/>
                    <a:pt x="7" y="58"/>
                    <a:pt x="7" y="58"/>
                  </a:cubicBezTo>
                  <a:cubicBezTo>
                    <a:pt x="61" y="60"/>
                    <a:pt x="72" y="70"/>
                    <a:pt x="72" y="122"/>
                  </a:cubicBezTo>
                  <a:cubicBezTo>
                    <a:pt x="72" y="398"/>
                    <a:pt x="72" y="398"/>
                    <a:pt x="72" y="398"/>
                  </a:cubicBezTo>
                  <a:cubicBezTo>
                    <a:pt x="179" y="398"/>
                    <a:pt x="179" y="398"/>
                    <a:pt x="179" y="398"/>
                  </a:cubicBezTo>
                  <a:cubicBezTo>
                    <a:pt x="179" y="199"/>
                    <a:pt x="179" y="199"/>
                    <a:pt x="179" y="199"/>
                  </a:cubicBezTo>
                  <a:cubicBezTo>
                    <a:pt x="179" y="165"/>
                    <a:pt x="190" y="87"/>
                    <a:pt x="291" y="87"/>
                  </a:cubicBezTo>
                  <a:cubicBezTo>
                    <a:pt x="302" y="87"/>
                    <a:pt x="315" y="91"/>
                    <a:pt x="328" y="94"/>
                  </a:cubicBezTo>
                  <a:cubicBezTo>
                    <a:pt x="345" y="99"/>
                    <a:pt x="345" y="99"/>
                    <a:pt x="345" y="99"/>
                  </a:cubicBezTo>
                  <a:cubicBezTo>
                    <a:pt x="345" y="89"/>
                    <a:pt x="345" y="89"/>
                    <a:pt x="345" y="8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6" name="Freeform 67"/>
            <p:cNvSpPr>
              <a:spLocks noEditPoints="1"/>
            </p:cNvSpPr>
            <p:nvPr userDrawn="1"/>
          </p:nvSpPr>
          <p:spPr bwMode="auto">
            <a:xfrm>
              <a:off x="8196028" y="-758964"/>
              <a:ext cx="68913" cy="73955"/>
            </a:xfrm>
            <a:custGeom>
              <a:avLst/>
              <a:gdLst>
                <a:gd name="T0" fmla="*/ 377 w 377"/>
                <a:gd name="T1" fmla="*/ 161 h 407"/>
                <a:gd name="T2" fmla="*/ 200 w 377"/>
                <a:gd name="T3" fmla="*/ 0 h 407"/>
                <a:gd name="T4" fmla="*/ 0 w 377"/>
                <a:gd name="T5" fmla="*/ 190 h 407"/>
                <a:gd name="T6" fmla="*/ 232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6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7"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2" y="348"/>
                    <a:pt x="119" y="253"/>
                    <a:pt x="116" y="169"/>
                  </a:cubicBezTo>
                  <a:cubicBezTo>
                    <a:pt x="131" y="169"/>
                    <a:pt x="377" y="169"/>
                    <a:pt x="377" y="169"/>
                  </a:cubicBezTo>
                  <a:cubicBezTo>
                    <a:pt x="377" y="161"/>
                    <a:pt x="377" y="161"/>
                    <a:pt x="377" y="161"/>
                  </a:cubicBezTo>
                  <a:moveTo>
                    <a:pt x="197" y="42"/>
                  </a:moveTo>
                  <a:cubicBezTo>
                    <a:pt x="254" y="42"/>
                    <a:pt x="269" y="84"/>
                    <a:pt x="270" y="122"/>
                  </a:cubicBezTo>
                  <a:cubicBezTo>
                    <a:pt x="257" y="122"/>
                    <a:pt x="131" y="122"/>
                    <a:pt x="117" y="122"/>
                  </a:cubicBezTo>
                  <a:cubicBezTo>
                    <a:pt x="120"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7" name="Freeform 68"/>
            <p:cNvSpPr>
              <a:spLocks/>
            </p:cNvSpPr>
            <p:nvPr userDrawn="1"/>
          </p:nvSpPr>
          <p:spPr bwMode="auto">
            <a:xfrm>
              <a:off x="8384278" y="-792580"/>
              <a:ext cx="80678" cy="105891"/>
            </a:xfrm>
            <a:custGeom>
              <a:avLst/>
              <a:gdLst>
                <a:gd name="T0" fmla="*/ 325 w 445"/>
                <a:gd name="T1" fmla="*/ 181 h 578"/>
                <a:gd name="T2" fmla="*/ 178 w 445"/>
                <a:gd name="T3" fmla="*/ 266 h 578"/>
                <a:gd name="T4" fmla="*/ 178 w 445"/>
                <a:gd name="T5" fmla="*/ 0 h 578"/>
                <a:gd name="T6" fmla="*/ 170 w 445"/>
                <a:gd name="T7" fmla="*/ 1 h 578"/>
                <a:gd name="T8" fmla="*/ 0 w 445"/>
                <a:gd name="T9" fmla="*/ 22 h 578"/>
                <a:gd name="T10" fmla="*/ 0 w 445"/>
                <a:gd name="T11" fmla="*/ 52 h 578"/>
                <a:gd name="T12" fmla="*/ 8 w 445"/>
                <a:gd name="T13" fmla="*/ 52 h 578"/>
                <a:gd name="T14" fmla="*/ 72 w 445"/>
                <a:gd name="T15" fmla="*/ 118 h 578"/>
                <a:gd name="T16" fmla="*/ 72 w 445"/>
                <a:gd name="T17" fmla="*/ 578 h 578"/>
                <a:gd name="T18" fmla="*/ 178 w 445"/>
                <a:gd name="T19" fmla="*/ 578 h 578"/>
                <a:gd name="T20" fmla="*/ 178 w 445"/>
                <a:gd name="T21" fmla="*/ 380 h 578"/>
                <a:gd name="T22" fmla="*/ 279 w 445"/>
                <a:gd name="T23" fmla="*/ 251 h 578"/>
                <a:gd name="T24" fmla="*/ 339 w 445"/>
                <a:gd name="T25" fmla="*/ 335 h 578"/>
                <a:gd name="T26" fmla="*/ 339 w 445"/>
                <a:gd name="T27" fmla="*/ 578 h 578"/>
                <a:gd name="T28" fmla="*/ 445 w 445"/>
                <a:gd name="T29" fmla="*/ 578 h 578"/>
                <a:gd name="T30" fmla="*/ 445 w 445"/>
                <a:gd name="T31" fmla="*/ 323 h 578"/>
                <a:gd name="T32" fmla="*/ 325 w 445"/>
                <a:gd name="T33" fmla="*/ 18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5" h="578">
                  <a:moveTo>
                    <a:pt x="325" y="181"/>
                  </a:moveTo>
                  <a:cubicBezTo>
                    <a:pt x="246" y="181"/>
                    <a:pt x="201" y="230"/>
                    <a:pt x="178" y="266"/>
                  </a:cubicBezTo>
                  <a:cubicBezTo>
                    <a:pt x="178" y="223"/>
                    <a:pt x="178" y="0"/>
                    <a:pt x="178" y="0"/>
                  </a:cubicBezTo>
                  <a:cubicBezTo>
                    <a:pt x="170" y="1"/>
                    <a:pt x="170" y="1"/>
                    <a:pt x="170" y="1"/>
                  </a:cubicBezTo>
                  <a:cubicBezTo>
                    <a:pt x="0" y="22"/>
                    <a:pt x="0" y="22"/>
                    <a:pt x="0" y="22"/>
                  </a:cubicBezTo>
                  <a:cubicBezTo>
                    <a:pt x="0" y="52"/>
                    <a:pt x="0" y="52"/>
                    <a:pt x="0" y="52"/>
                  </a:cubicBezTo>
                  <a:cubicBezTo>
                    <a:pt x="8" y="52"/>
                    <a:pt x="8" y="52"/>
                    <a:pt x="8" y="52"/>
                  </a:cubicBezTo>
                  <a:cubicBezTo>
                    <a:pt x="60" y="54"/>
                    <a:pt x="72" y="66"/>
                    <a:pt x="72" y="118"/>
                  </a:cubicBezTo>
                  <a:cubicBezTo>
                    <a:pt x="72" y="578"/>
                    <a:pt x="72" y="578"/>
                    <a:pt x="72" y="578"/>
                  </a:cubicBezTo>
                  <a:cubicBezTo>
                    <a:pt x="178" y="578"/>
                    <a:pt x="178" y="578"/>
                    <a:pt x="178" y="578"/>
                  </a:cubicBezTo>
                  <a:cubicBezTo>
                    <a:pt x="178" y="380"/>
                    <a:pt x="178" y="380"/>
                    <a:pt x="178" y="380"/>
                  </a:cubicBezTo>
                  <a:cubicBezTo>
                    <a:pt x="178" y="307"/>
                    <a:pt x="233" y="251"/>
                    <a:pt x="279" y="251"/>
                  </a:cubicBezTo>
                  <a:cubicBezTo>
                    <a:pt x="339" y="251"/>
                    <a:pt x="339" y="296"/>
                    <a:pt x="339" y="335"/>
                  </a:cubicBezTo>
                  <a:cubicBezTo>
                    <a:pt x="339" y="578"/>
                    <a:pt x="339" y="578"/>
                    <a:pt x="339" y="578"/>
                  </a:cubicBezTo>
                  <a:cubicBezTo>
                    <a:pt x="445" y="578"/>
                    <a:pt x="445" y="578"/>
                    <a:pt x="445" y="578"/>
                  </a:cubicBezTo>
                  <a:cubicBezTo>
                    <a:pt x="445" y="323"/>
                    <a:pt x="445" y="323"/>
                    <a:pt x="445" y="323"/>
                  </a:cubicBezTo>
                  <a:cubicBezTo>
                    <a:pt x="445" y="280"/>
                    <a:pt x="445" y="181"/>
                    <a:pt x="325" y="18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8" name="Freeform 69"/>
            <p:cNvSpPr>
              <a:spLocks noEditPoints="1"/>
            </p:cNvSpPr>
            <p:nvPr userDrawn="1"/>
          </p:nvSpPr>
          <p:spPr bwMode="auto">
            <a:xfrm>
              <a:off x="8485126" y="-758964"/>
              <a:ext cx="68913" cy="73955"/>
            </a:xfrm>
            <a:custGeom>
              <a:avLst/>
              <a:gdLst>
                <a:gd name="T0" fmla="*/ 377 w 377"/>
                <a:gd name="T1" fmla="*/ 161 h 407"/>
                <a:gd name="T2" fmla="*/ 200 w 377"/>
                <a:gd name="T3" fmla="*/ 0 h 407"/>
                <a:gd name="T4" fmla="*/ 0 w 377"/>
                <a:gd name="T5" fmla="*/ 190 h 407"/>
                <a:gd name="T6" fmla="*/ 233 w 377"/>
                <a:gd name="T7" fmla="*/ 407 h 407"/>
                <a:gd name="T8" fmla="*/ 363 w 377"/>
                <a:gd name="T9" fmla="*/ 385 h 407"/>
                <a:gd name="T10" fmla="*/ 369 w 377"/>
                <a:gd name="T11" fmla="*/ 383 h 407"/>
                <a:gd name="T12" fmla="*/ 369 w 377"/>
                <a:gd name="T13" fmla="*/ 331 h 407"/>
                <a:gd name="T14" fmla="*/ 359 w 377"/>
                <a:gd name="T15" fmla="*/ 335 h 407"/>
                <a:gd name="T16" fmla="*/ 275 w 377"/>
                <a:gd name="T17" fmla="*/ 348 h 407"/>
                <a:gd name="T18" fmla="*/ 117 w 377"/>
                <a:gd name="T19" fmla="*/ 169 h 407"/>
                <a:gd name="T20" fmla="*/ 377 w 377"/>
                <a:gd name="T21" fmla="*/ 169 h 407"/>
                <a:gd name="T22" fmla="*/ 377 w 377"/>
                <a:gd name="T23" fmla="*/ 161 h 407"/>
                <a:gd name="T24" fmla="*/ 197 w 377"/>
                <a:gd name="T25" fmla="*/ 42 h 407"/>
                <a:gd name="T26" fmla="*/ 270 w 377"/>
                <a:gd name="T27" fmla="*/ 122 h 407"/>
                <a:gd name="T28" fmla="*/ 117 w 377"/>
                <a:gd name="T29" fmla="*/ 122 h 407"/>
                <a:gd name="T30" fmla="*/ 197 w 377"/>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7" h="407">
                  <a:moveTo>
                    <a:pt x="377" y="161"/>
                  </a:moveTo>
                  <a:cubicBezTo>
                    <a:pt x="377" y="54"/>
                    <a:pt x="318" y="0"/>
                    <a:pt x="200" y="0"/>
                  </a:cubicBezTo>
                  <a:cubicBezTo>
                    <a:pt x="68" y="0"/>
                    <a:pt x="0" y="64"/>
                    <a:pt x="0" y="190"/>
                  </a:cubicBezTo>
                  <a:cubicBezTo>
                    <a:pt x="0" y="326"/>
                    <a:pt x="87" y="407"/>
                    <a:pt x="233"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5" y="348"/>
                  </a:cubicBezTo>
                  <a:cubicBezTo>
                    <a:pt x="161" y="348"/>
                    <a:pt x="119" y="253"/>
                    <a:pt x="117" y="169"/>
                  </a:cubicBezTo>
                  <a:cubicBezTo>
                    <a:pt x="131" y="169"/>
                    <a:pt x="377" y="169"/>
                    <a:pt x="377" y="169"/>
                  </a:cubicBezTo>
                  <a:cubicBezTo>
                    <a:pt x="377" y="161"/>
                    <a:pt x="377" y="161"/>
                    <a:pt x="377" y="161"/>
                  </a:cubicBezTo>
                  <a:moveTo>
                    <a:pt x="197" y="42"/>
                  </a:moveTo>
                  <a:cubicBezTo>
                    <a:pt x="254" y="42"/>
                    <a:pt x="268" y="84"/>
                    <a:pt x="270" y="122"/>
                  </a:cubicBezTo>
                  <a:cubicBezTo>
                    <a:pt x="256" y="122"/>
                    <a:pt x="130" y="122"/>
                    <a:pt x="117" y="122"/>
                  </a:cubicBezTo>
                  <a:cubicBezTo>
                    <a:pt x="119" y="94"/>
                    <a:pt x="137" y="42"/>
                    <a:pt x="197"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89" name="Freeform 70"/>
            <p:cNvSpPr>
              <a:spLocks/>
            </p:cNvSpPr>
            <p:nvPr userDrawn="1"/>
          </p:nvSpPr>
          <p:spPr bwMode="auto">
            <a:xfrm>
              <a:off x="8320407"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9"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2" y="468"/>
                    <a:pt x="178" y="449"/>
                    <a:pt x="178" y="394"/>
                  </a:cubicBezTo>
                  <a:cubicBezTo>
                    <a:pt x="178" y="394"/>
                    <a:pt x="178" y="182"/>
                    <a:pt x="178" y="168"/>
                  </a:cubicBezTo>
                  <a:cubicBezTo>
                    <a:pt x="192" y="168"/>
                    <a:pt x="298" y="168"/>
                    <a:pt x="298" y="168"/>
                  </a:cubicBezTo>
                  <a:cubicBezTo>
                    <a:pt x="298" y="121"/>
                    <a:pt x="298" y="121"/>
                    <a:pt x="298" y="121"/>
                  </a:cubicBezTo>
                  <a:cubicBezTo>
                    <a:pt x="298" y="121"/>
                    <a:pt x="192"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0" name="Freeform 71"/>
            <p:cNvSpPr>
              <a:spLocks/>
            </p:cNvSpPr>
            <p:nvPr userDrawn="1"/>
          </p:nvSpPr>
          <p:spPr bwMode="auto">
            <a:xfrm>
              <a:off x="8602782" y="-789219"/>
              <a:ext cx="117656" cy="102529"/>
            </a:xfrm>
            <a:custGeom>
              <a:avLst/>
              <a:gdLst>
                <a:gd name="T0" fmla="*/ 632 w 640"/>
                <a:gd name="T1" fmla="*/ 0 h 556"/>
                <a:gd name="T2" fmla="*/ 525 w 640"/>
                <a:gd name="T3" fmla="*/ 0 h 556"/>
                <a:gd name="T4" fmla="*/ 525 w 640"/>
                <a:gd name="T5" fmla="*/ 423 h 556"/>
                <a:gd name="T6" fmla="*/ 246 w 640"/>
                <a:gd name="T7" fmla="*/ 0 h 556"/>
                <a:gd name="T8" fmla="*/ 0 w 640"/>
                <a:gd name="T9" fmla="*/ 0 h 556"/>
                <a:gd name="T10" fmla="*/ 0 w 640"/>
                <a:gd name="T11" fmla="*/ 32 h 556"/>
                <a:gd name="T12" fmla="*/ 21 w 640"/>
                <a:gd name="T13" fmla="*/ 36 h 556"/>
                <a:gd name="T14" fmla="*/ 91 w 640"/>
                <a:gd name="T15" fmla="*/ 111 h 556"/>
                <a:gd name="T16" fmla="*/ 91 w 640"/>
                <a:gd name="T17" fmla="*/ 556 h 556"/>
                <a:gd name="T18" fmla="*/ 206 w 640"/>
                <a:gd name="T19" fmla="*/ 556 h 556"/>
                <a:gd name="T20" fmla="*/ 206 w 640"/>
                <a:gd name="T21" fmla="*/ 114 h 556"/>
                <a:gd name="T22" fmla="*/ 498 w 640"/>
                <a:gd name="T23" fmla="*/ 556 h 556"/>
                <a:gd name="T24" fmla="*/ 640 w 640"/>
                <a:gd name="T25" fmla="*/ 556 h 556"/>
                <a:gd name="T26" fmla="*/ 640 w 640"/>
                <a:gd name="T27" fmla="*/ 0 h 556"/>
                <a:gd name="T28" fmla="*/ 632 w 640"/>
                <a:gd name="T2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0" h="556">
                  <a:moveTo>
                    <a:pt x="632" y="0"/>
                  </a:moveTo>
                  <a:cubicBezTo>
                    <a:pt x="525" y="0"/>
                    <a:pt x="525" y="0"/>
                    <a:pt x="525" y="0"/>
                  </a:cubicBezTo>
                  <a:cubicBezTo>
                    <a:pt x="525" y="0"/>
                    <a:pt x="525" y="382"/>
                    <a:pt x="525" y="423"/>
                  </a:cubicBezTo>
                  <a:cubicBezTo>
                    <a:pt x="503" y="389"/>
                    <a:pt x="246" y="0"/>
                    <a:pt x="246" y="0"/>
                  </a:cubicBezTo>
                  <a:cubicBezTo>
                    <a:pt x="0" y="0"/>
                    <a:pt x="0" y="0"/>
                    <a:pt x="0" y="0"/>
                  </a:cubicBezTo>
                  <a:cubicBezTo>
                    <a:pt x="0" y="32"/>
                    <a:pt x="0" y="32"/>
                    <a:pt x="0" y="32"/>
                  </a:cubicBezTo>
                  <a:cubicBezTo>
                    <a:pt x="21" y="36"/>
                    <a:pt x="21" y="36"/>
                    <a:pt x="21" y="36"/>
                  </a:cubicBezTo>
                  <a:cubicBezTo>
                    <a:pt x="86" y="47"/>
                    <a:pt x="91" y="47"/>
                    <a:pt x="91" y="111"/>
                  </a:cubicBezTo>
                  <a:cubicBezTo>
                    <a:pt x="91" y="556"/>
                    <a:pt x="91" y="556"/>
                    <a:pt x="91" y="556"/>
                  </a:cubicBezTo>
                  <a:cubicBezTo>
                    <a:pt x="206" y="556"/>
                    <a:pt x="206" y="556"/>
                    <a:pt x="206" y="556"/>
                  </a:cubicBezTo>
                  <a:cubicBezTo>
                    <a:pt x="206" y="556"/>
                    <a:pt x="206" y="155"/>
                    <a:pt x="206" y="114"/>
                  </a:cubicBezTo>
                  <a:cubicBezTo>
                    <a:pt x="228" y="148"/>
                    <a:pt x="498" y="556"/>
                    <a:pt x="498" y="556"/>
                  </a:cubicBezTo>
                  <a:cubicBezTo>
                    <a:pt x="640" y="556"/>
                    <a:pt x="640" y="556"/>
                    <a:pt x="640" y="556"/>
                  </a:cubicBezTo>
                  <a:cubicBezTo>
                    <a:pt x="640" y="0"/>
                    <a:pt x="640" y="0"/>
                    <a:pt x="640" y="0"/>
                  </a:cubicBezTo>
                  <a:cubicBezTo>
                    <a:pt x="632" y="0"/>
                    <a:pt x="632" y="0"/>
                    <a:pt x="6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1" name="Freeform 72"/>
            <p:cNvSpPr>
              <a:spLocks noEditPoints="1"/>
            </p:cNvSpPr>
            <p:nvPr userDrawn="1"/>
          </p:nvSpPr>
          <p:spPr bwMode="auto">
            <a:xfrm>
              <a:off x="8738927" y="-758964"/>
              <a:ext cx="70594" cy="73955"/>
            </a:xfrm>
            <a:custGeom>
              <a:avLst/>
              <a:gdLst>
                <a:gd name="T0" fmla="*/ 378 w 378"/>
                <a:gd name="T1" fmla="*/ 161 h 407"/>
                <a:gd name="T2" fmla="*/ 200 w 378"/>
                <a:gd name="T3" fmla="*/ 0 h 407"/>
                <a:gd name="T4" fmla="*/ 0 w 378"/>
                <a:gd name="T5" fmla="*/ 190 h 407"/>
                <a:gd name="T6" fmla="*/ 232 w 378"/>
                <a:gd name="T7" fmla="*/ 407 h 407"/>
                <a:gd name="T8" fmla="*/ 363 w 378"/>
                <a:gd name="T9" fmla="*/ 385 h 407"/>
                <a:gd name="T10" fmla="*/ 369 w 378"/>
                <a:gd name="T11" fmla="*/ 383 h 407"/>
                <a:gd name="T12" fmla="*/ 369 w 378"/>
                <a:gd name="T13" fmla="*/ 331 h 407"/>
                <a:gd name="T14" fmla="*/ 359 w 378"/>
                <a:gd name="T15" fmla="*/ 335 h 407"/>
                <a:gd name="T16" fmla="*/ 276 w 378"/>
                <a:gd name="T17" fmla="*/ 348 h 407"/>
                <a:gd name="T18" fmla="*/ 117 w 378"/>
                <a:gd name="T19" fmla="*/ 169 h 407"/>
                <a:gd name="T20" fmla="*/ 378 w 378"/>
                <a:gd name="T21" fmla="*/ 169 h 407"/>
                <a:gd name="T22" fmla="*/ 378 w 378"/>
                <a:gd name="T23" fmla="*/ 161 h 407"/>
                <a:gd name="T24" fmla="*/ 196 w 378"/>
                <a:gd name="T25" fmla="*/ 42 h 407"/>
                <a:gd name="T26" fmla="*/ 270 w 378"/>
                <a:gd name="T27" fmla="*/ 122 h 407"/>
                <a:gd name="T28" fmla="*/ 117 w 378"/>
                <a:gd name="T29" fmla="*/ 122 h 407"/>
                <a:gd name="T30" fmla="*/ 196 w 378"/>
                <a:gd name="T31" fmla="*/ 42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8" h="407">
                  <a:moveTo>
                    <a:pt x="378" y="161"/>
                  </a:moveTo>
                  <a:cubicBezTo>
                    <a:pt x="378" y="54"/>
                    <a:pt x="318" y="0"/>
                    <a:pt x="200" y="0"/>
                  </a:cubicBezTo>
                  <a:cubicBezTo>
                    <a:pt x="68" y="0"/>
                    <a:pt x="0" y="64"/>
                    <a:pt x="0" y="190"/>
                  </a:cubicBezTo>
                  <a:cubicBezTo>
                    <a:pt x="0" y="326"/>
                    <a:pt x="87" y="407"/>
                    <a:pt x="232" y="407"/>
                  </a:cubicBezTo>
                  <a:cubicBezTo>
                    <a:pt x="296" y="407"/>
                    <a:pt x="344" y="391"/>
                    <a:pt x="363" y="385"/>
                  </a:cubicBezTo>
                  <a:cubicBezTo>
                    <a:pt x="369" y="383"/>
                    <a:pt x="369" y="383"/>
                    <a:pt x="369" y="383"/>
                  </a:cubicBezTo>
                  <a:cubicBezTo>
                    <a:pt x="369" y="331"/>
                    <a:pt x="369" y="331"/>
                    <a:pt x="369" y="331"/>
                  </a:cubicBezTo>
                  <a:cubicBezTo>
                    <a:pt x="359" y="335"/>
                    <a:pt x="359" y="335"/>
                    <a:pt x="359" y="335"/>
                  </a:cubicBezTo>
                  <a:cubicBezTo>
                    <a:pt x="341" y="341"/>
                    <a:pt x="310" y="348"/>
                    <a:pt x="276" y="348"/>
                  </a:cubicBezTo>
                  <a:cubicBezTo>
                    <a:pt x="161" y="348"/>
                    <a:pt x="119" y="253"/>
                    <a:pt x="117" y="169"/>
                  </a:cubicBezTo>
                  <a:cubicBezTo>
                    <a:pt x="131" y="169"/>
                    <a:pt x="378" y="169"/>
                    <a:pt x="378" y="169"/>
                  </a:cubicBezTo>
                  <a:cubicBezTo>
                    <a:pt x="378" y="161"/>
                    <a:pt x="378" y="161"/>
                    <a:pt x="378" y="161"/>
                  </a:cubicBezTo>
                  <a:moveTo>
                    <a:pt x="196" y="42"/>
                  </a:moveTo>
                  <a:cubicBezTo>
                    <a:pt x="254" y="42"/>
                    <a:pt x="269" y="84"/>
                    <a:pt x="270" y="122"/>
                  </a:cubicBezTo>
                  <a:cubicBezTo>
                    <a:pt x="257" y="122"/>
                    <a:pt x="131" y="122"/>
                    <a:pt x="117" y="122"/>
                  </a:cubicBezTo>
                  <a:cubicBezTo>
                    <a:pt x="120" y="94"/>
                    <a:pt x="137" y="42"/>
                    <a:pt x="19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2" name="Freeform 73"/>
            <p:cNvSpPr>
              <a:spLocks/>
            </p:cNvSpPr>
            <p:nvPr userDrawn="1"/>
          </p:nvSpPr>
          <p:spPr bwMode="auto">
            <a:xfrm>
              <a:off x="8903646" y="-780815"/>
              <a:ext cx="55467" cy="95806"/>
            </a:xfrm>
            <a:custGeom>
              <a:avLst/>
              <a:gdLst>
                <a:gd name="T0" fmla="*/ 71 w 298"/>
                <a:gd name="T1" fmla="*/ 0 h 519"/>
                <a:gd name="T2" fmla="*/ 71 w 298"/>
                <a:gd name="T3" fmla="*/ 121 h 519"/>
                <a:gd name="T4" fmla="*/ 0 w 298"/>
                <a:gd name="T5" fmla="*/ 121 h 519"/>
                <a:gd name="T6" fmla="*/ 0 w 298"/>
                <a:gd name="T7" fmla="*/ 168 h 519"/>
                <a:gd name="T8" fmla="*/ 71 w 298"/>
                <a:gd name="T9" fmla="*/ 168 h 519"/>
                <a:gd name="T10" fmla="*/ 71 w 298"/>
                <a:gd name="T11" fmla="*/ 407 h 519"/>
                <a:gd name="T12" fmla="*/ 218 w 298"/>
                <a:gd name="T13" fmla="*/ 519 h 519"/>
                <a:gd name="T14" fmla="*/ 281 w 298"/>
                <a:gd name="T15" fmla="*/ 512 h 519"/>
                <a:gd name="T16" fmla="*/ 287 w 298"/>
                <a:gd name="T17" fmla="*/ 511 h 519"/>
                <a:gd name="T18" fmla="*/ 287 w 298"/>
                <a:gd name="T19" fmla="*/ 463 h 519"/>
                <a:gd name="T20" fmla="*/ 278 w 298"/>
                <a:gd name="T21" fmla="*/ 465 h 519"/>
                <a:gd name="T22" fmla="*/ 246 w 298"/>
                <a:gd name="T23" fmla="*/ 468 h 519"/>
                <a:gd name="T24" fmla="*/ 178 w 298"/>
                <a:gd name="T25" fmla="*/ 394 h 519"/>
                <a:gd name="T26" fmla="*/ 178 w 298"/>
                <a:gd name="T27" fmla="*/ 168 h 519"/>
                <a:gd name="T28" fmla="*/ 298 w 298"/>
                <a:gd name="T29" fmla="*/ 168 h 519"/>
                <a:gd name="T30" fmla="*/ 298 w 298"/>
                <a:gd name="T31" fmla="*/ 121 h 519"/>
                <a:gd name="T32" fmla="*/ 178 w 298"/>
                <a:gd name="T33" fmla="*/ 121 h 519"/>
                <a:gd name="T34" fmla="*/ 178 w 298"/>
                <a:gd name="T35" fmla="*/ 0 h 519"/>
                <a:gd name="T36" fmla="*/ 71 w 298"/>
                <a:gd name="T37"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8" h="519">
                  <a:moveTo>
                    <a:pt x="71" y="0"/>
                  </a:moveTo>
                  <a:cubicBezTo>
                    <a:pt x="71" y="0"/>
                    <a:pt x="71" y="109"/>
                    <a:pt x="71" y="121"/>
                  </a:cubicBezTo>
                  <a:cubicBezTo>
                    <a:pt x="59" y="121"/>
                    <a:pt x="0" y="121"/>
                    <a:pt x="0" y="121"/>
                  </a:cubicBezTo>
                  <a:cubicBezTo>
                    <a:pt x="0" y="168"/>
                    <a:pt x="0" y="168"/>
                    <a:pt x="0" y="168"/>
                  </a:cubicBezTo>
                  <a:cubicBezTo>
                    <a:pt x="0" y="168"/>
                    <a:pt x="59" y="168"/>
                    <a:pt x="71" y="168"/>
                  </a:cubicBezTo>
                  <a:cubicBezTo>
                    <a:pt x="71" y="183"/>
                    <a:pt x="71" y="407"/>
                    <a:pt x="71" y="407"/>
                  </a:cubicBezTo>
                  <a:cubicBezTo>
                    <a:pt x="71" y="510"/>
                    <a:pt x="138" y="519"/>
                    <a:pt x="218" y="519"/>
                  </a:cubicBezTo>
                  <a:cubicBezTo>
                    <a:pt x="238" y="519"/>
                    <a:pt x="258" y="516"/>
                    <a:pt x="281" y="512"/>
                  </a:cubicBezTo>
                  <a:cubicBezTo>
                    <a:pt x="287" y="511"/>
                    <a:pt x="287" y="511"/>
                    <a:pt x="287" y="511"/>
                  </a:cubicBezTo>
                  <a:cubicBezTo>
                    <a:pt x="287" y="463"/>
                    <a:pt x="287" y="463"/>
                    <a:pt x="287" y="463"/>
                  </a:cubicBezTo>
                  <a:cubicBezTo>
                    <a:pt x="278" y="465"/>
                    <a:pt x="278" y="465"/>
                    <a:pt x="278" y="465"/>
                  </a:cubicBezTo>
                  <a:cubicBezTo>
                    <a:pt x="269" y="467"/>
                    <a:pt x="258" y="468"/>
                    <a:pt x="246" y="468"/>
                  </a:cubicBezTo>
                  <a:cubicBezTo>
                    <a:pt x="181" y="468"/>
                    <a:pt x="178" y="449"/>
                    <a:pt x="178" y="394"/>
                  </a:cubicBezTo>
                  <a:cubicBezTo>
                    <a:pt x="178" y="394"/>
                    <a:pt x="178" y="182"/>
                    <a:pt x="178" y="168"/>
                  </a:cubicBezTo>
                  <a:cubicBezTo>
                    <a:pt x="191" y="168"/>
                    <a:pt x="298" y="168"/>
                    <a:pt x="298" y="168"/>
                  </a:cubicBezTo>
                  <a:cubicBezTo>
                    <a:pt x="298" y="121"/>
                    <a:pt x="298" y="121"/>
                    <a:pt x="298" y="121"/>
                  </a:cubicBezTo>
                  <a:cubicBezTo>
                    <a:pt x="298" y="121"/>
                    <a:pt x="191" y="121"/>
                    <a:pt x="178" y="121"/>
                  </a:cubicBezTo>
                  <a:cubicBezTo>
                    <a:pt x="178" y="107"/>
                    <a:pt x="178" y="0"/>
                    <a:pt x="178" y="0"/>
                  </a:cubicBezTo>
                  <a:cubicBezTo>
                    <a:pt x="71" y="0"/>
                    <a:pt x="71" y="0"/>
                    <a:pt x="7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sp>
          <p:nvSpPr>
            <p:cNvPr id="93" name="Freeform 74"/>
            <p:cNvSpPr>
              <a:spLocks/>
            </p:cNvSpPr>
            <p:nvPr userDrawn="1"/>
          </p:nvSpPr>
          <p:spPr bwMode="auto">
            <a:xfrm>
              <a:off x="8811201" y="-757284"/>
              <a:ext cx="85721" cy="70594"/>
            </a:xfrm>
            <a:custGeom>
              <a:avLst/>
              <a:gdLst>
                <a:gd name="T0" fmla="*/ 363 w 473"/>
                <a:gd name="T1" fmla="*/ 127 h 389"/>
                <a:gd name="T2" fmla="*/ 473 w 473"/>
                <a:gd name="T3" fmla="*/ 0 h 389"/>
                <a:gd name="T4" fmla="*/ 360 w 473"/>
                <a:gd name="T5" fmla="*/ 0 h 389"/>
                <a:gd name="T6" fmla="*/ 256 w 473"/>
                <a:gd name="T7" fmla="*/ 120 h 389"/>
                <a:gd name="T8" fmla="*/ 164 w 473"/>
                <a:gd name="T9" fmla="*/ 0 h 389"/>
                <a:gd name="T10" fmla="*/ 0 w 473"/>
                <a:gd name="T11" fmla="*/ 0 h 389"/>
                <a:gd name="T12" fmla="*/ 0 w 473"/>
                <a:gd name="T13" fmla="*/ 31 h 389"/>
                <a:gd name="T14" fmla="*/ 7 w 473"/>
                <a:gd name="T15" fmla="*/ 31 h 389"/>
                <a:gd name="T16" fmla="*/ 110 w 473"/>
                <a:gd name="T17" fmla="*/ 90 h 389"/>
                <a:gd name="T18" fmla="*/ 177 w 473"/>
                <a:gd name="T19" fmla="*/ 179 h 389"/>
                <a:gd name="T20" fmla="*/ 68 w 473"/>
                <a:gd name="T21" fmla="*/ 306 h 389"/>
                <a:gd name="T22" fmla="*/ 181 w 473"/>
                <a:gd name="T23" fmla="*/ 306 h 389"/>
                <a:gd name="T24" fmla="*/ 230 w 473"/>
                <a:gd name="T25" fmla="*/ 249 h 389"/>
                <a:gd name="T26" fmla="*/ 335 w 473"/>
                <a:gd name="T27" fmla="*/ 389 h 389"/>
                <a:gd name="T28" fmla="*/ 462 w 473"/>
                <a:gd name="T29" fmla="*/ 389 h 389"/>
                <a:gd name="T30" fmla="*/ 261 w 473"/>
                <a:gd name="T31" fmla="*/ 127 h 389"/>
                <a:gd name="T32" fmla="*/ 363 w 473"/>
                <a:gd name="T33" fmla="*/ 127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3" h="389">
                  <a:moveTo>
                    <a:pt x="363" y="127"/>
                  </a:moveTo>
                  <a:cubicBezTo>
                    <a:pt x="473" y="0"/>
                    <a:pt x="473" y="0"/>
                    <a:pt x="473" y="0"/>
                  </a:cubicBezTo>
                  <a:cubicBezTo>
                    <a:pt x="360" y="0"/>
                    <a:pt x="360" y="0"/>
                    <a:pt x="360" y="0"/>
                  </a:cubicBezTo>
                  <a:cubicBezTo>
                    <a:pt x="256" y="120"/>
                    <a:pt x="256" y="120"/>
                    <a:pt x="256" y="120"/>
                  </a:cubicBezTo>
                  <a:cubicBezTo>
                    <a:pt x="164" y="0"/>
                    <a:pt x="164" y="0"/>
                    <a:pt x="164" y="0"/>
                  </a:cubicBezTo>
                  <a:cubicBezTo>
                    <a:pt x="0" y="0"/>
                    <a:pt x="0" y="0"/>
                    <a:pt x="0" y="0"/>
                  </a:cubicBezTo>
                  <a:cubicBezTo>
                    <a:pt x="0" y="31"/>
                    <a:pt x="0" y="31"/>
                    <a:pt x="0" y="31"/>
                  </a:cubicBezTo>
                  <a:cubicBezTo>
                    <a:pt x="7" y="31"/>
                    <a:pt x="7" y="31"/>
                    <a:pt x="7" y="31"/>
                  </a:cubicBezTo>
                  <a:cubicBezTo>
                    <a:pt x="63" y="35"/>
                    <a:pt x="76" y="45"/>
                    <a:pt x="110" y="90"/>
                  </a:cubicBezTo>
                  <a:cubicBezTo>
                    <a:pt x="177" y="179"/>
                    <a:pt x="177" y="179"/>
                    <a:pt x="177" y="179"/>
                  </a:cubicBezTo>
                  <a:cubicBezTo>
                    <a:pt x="68" y="306"/>
                    <a:pt x="68" y="306"/>
                    <a:pt x="68" y="306"/>
                  </a:cubicBezTo>
                  <a:cubicBezTo>
                    <a:pt x="181" y="306"/>
                    <a:pt x="181" y="306"/>
                    <a:pt x="181" y="306"/>
                  </a:cubicBezTo>
                  <a:cubicBezTo>
                    <a:pt x="230" y="249"/>
                    <a:pt x="230" y="249"/>
                    <a:pt x="230" y="249"/>
                  </a:cubicBezTo>
                  <a:cubicBezTo>
                    <a:pt x="335" y="389"/>
                    <a:pt x="335" y="389"/>
                    <a:pt x="335" y="389"/>
                  </a:cubicBezTo>
                  <a:cubicBezTo>
                    <a:pt x="462" y="389"/>
                    <a:pt x="462" y="389"/>
                    <a:pt x="462" y="389"/>
                  </a:cubicBezTo>
                  <a:cubicBezTo>
                    <a:pt x="261" y="127"/>
                    <a:pt x="261" y="127"/>
                    <a:pt x="261" y="127"/>
                  </a:cubicBezTo>
                  <a:cubicBezTo>
                    <a:pt x="363" y="127"/>
                    <a:pt x="363" y="127"/>
                    <a:pt x="363" y="12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lvl="0" algn="ctr"/>
              <a:endParaRPr lang="en-US" sz="1000" b="1">
                <a:solidFill>
                  <a:schemeClr val="bg1"/>
                </a:solidFill>
                <a:latin typeface="+mj-lt"/>
              </a:endParaRPr>
            </a:p>
          </p:txBody>
        </p:sp>
      </p:grpSp>
      <p:sp>
        <p:nvSpPr>
          <p:cNvPr id="37" name="TextBox 36"/>
          <p:cNvSpPr txBox="1"/>
          <p:nvPr/>
        </p:nvSpPr>
        <p:spPr>
          <a:xfrm>
            <a:off x="1611" y="4915450"/>
            <a:ext cx="312906" cy="215444"/>
          </a:xfrm>
          <a:prstGeom prst="rect">
            <a:avLst/>
          </a:prstGeom>
          <a:noFill/>
        </p:spPr>
        <p:txBody>
          <a:bodyPr wrap="none" rtlCol="0">
            <a:spAutoFit/>
          </a:bodyPr>
          <a:lstStyle/>
          <a:p>
            <a:pPr algn="l"/>
            <a:fld id="{111F478C-84AE-4601-9BE4-60468A3A6C06}" type="slidenum">
              <a:rPr lang="en-US" sz="800" smtClean="0">
                <a:solidFill>
                  <a:schemeClr val="tx1">
                    <a:alpha val="50000"/>
                  </a:schemeClr>
                </a:solidFill>
                <a:latin typeface="+mj-lt"/>
              </a:rPr>
              <a:pPr algn="l"/>
              <a:t>‹#›</a:t>
            </a:fld>
            <a:endParaRPr lang="en-US" sz="800" dirty="0">
              <a:solidFill>
                <a:schemeClr val="tx1">
                  <a:alpha val="50000"/>
                </a:schemeClr>
              </a:solidFill>
              <a:latin typeface="+mj-lt"/>
            </a:endParaRPr>
          </a:p>
        </p:txBody>
      </p:sp>
    </p:spTree>
    <p:extLst>
      <p:ext uri="{BB962C8B-B14F-4D97-AF65-F5344CB8AC3E}">
        <p14:creationId xmlns:p14="http://schemas.microsoft.com/office/powerpoint/2010/main" val="3141426116"/>
      </p:ext>
    </p:extLst>
  </p:cSld>
  <p:clrMap bg1="lt1" tx1="dk1" bg2="lt2" tx2="dk2" accent1="accent1" accent2="accent2" accent3="accent3" accent4="accent4" accent5="accent5" accent6="accent6" hlink="hlink" folHlink="folHlink"/>
  <p:sldLayoutIdLst>
    <p:sldLayoutId id="2147483682" r:id="rId1"/>
    <p:sldLayoutId id="2147483688" r:id="rId2"/>
    <p:sldLayoutId id="2147483686" r:id="rId3"/>
    <p:sldLayoutId id="2147483687" r:id="rId4"/>
    <p:sldLayoutId id="2147483650" r:id="rId5"/>
    <p:sldLayoutId id="2147483684" r:id="rId6"/>
    <p:sldLayoutId id="2147483654" r:id="rId7"/>
    <p:sldLayoutId id="2147483669" r:id="rId8"/>
    <p:sldLayoutId id="2147483690"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85000"/>
        </a:lnSpc>
        <a:spcBef>
          <a:spcPct val="0"/>
        </a:spcBef>
        <a:buNone/>
        <a:defRPr lang="en-US" sz="2400" b="1" kern="1200" cap="none" dirty="0" smtClean="0">
          <a:solidFill>
            <a:schemeClr val="tx1"/>
          </a:solidFill>
          <a:latin typeface="+mj-lt"/>
          <a:ea typeface="+mj-ea"/>
          <a:cs typeface="+mj-cs"/>
        </a:defRPr>
      </a:lvl1pPr>
    </p:titleStyle>
    <p:bodyStyle>
      <a:lvl1pPr marL="280988" indent="-280988" algn="l" defTabSz="914400" rtl="0" eaLnBrk="1" latinLnBrk="0" hangingPunct="1">
        <a:lnSpc>
          <a:spcPct val="100000"/>
        </a:lnSpc>
        <a:spcBef>
          <a:spcPts val="1200"/>
        </a:spcBef>
        <a:spcAft>
          <a:spcPts val="600"/>
        </a:spcAft>
        <a:buClr>
          <a:schemeClr val="accent2"/>
        </a:buClr>
        <a:buFont typeface="Wingdings" charset="2"/>
        <a:buChar char="§"/>
        <a:defRPr lang="en-US" sz="2200" kern="1200" dirty="0" smtClean="0">
          <a:solidFill>
            <a:schemeClr val="tx1"/>
          </a:solidFill>
          <a:latin typeface="+mn-lt"/>
          <a:ea typeface="+mn-ea"/>
          <a:cs typeface="+mn-cs"/>
        </a:defRPr>
      </a:lvl1pPr>
      <a:lvl2pPr marL="574675" indent="-293688" algn="l" defTabSz="914400" rtl="0" eaLnBrk="1" latinLnBrk="0" hangingPunct="1">
        <a:lnSpc>
          <a:spcPct val="95000"/>
        </a:lnSpc>
        <a:spcBef>
          <a:spcPct val="20000"/>
        </a:spcBef>
        <a:spcAft>
          <a:spcPts val="800"/>
        </a:spcAft>
        <a:buFontTx/>
        <a:buChar char="‒"/>
        <a:defRPr lang="en-US" sz="2000" kern="1200" dirty="0" smtClean="0">
          <a:solidFill>
            <a:schemeClr val="tx1"/>
          </a:solidFill>
          <a:latin typeface="+mn-lt"/>
          <a:ea typeface="+mn-ea"/>
          <a:cs typeface="+mn-cs"/>
        </a:defRPr>
      </a:lvl2pPr>
      <a:lvl3pPr marL="855663" indent="-280988" algn="l" defTabSz="914400" rtl="0" eaLnBrk="1" latinLnBrk="0" hangingPunct="1">
        <a:lnSpc>
          <a:spcPct val="95000"/>
        </a:lnSpc>
        <a:spcBef>
          <a:spcPts val="0"/>
        </a:spcBef>
        <a:spcAft>
          <a:spcPts val="800"/>
        </a:spcAft>
        <a:buFontTx/>
        <a:buChar char="‒"/>
        <a:defRPr lang="en-US" sz="1800" kern="1200" dirty="0" smtClean="0">
          <a:solidFill>
            <a:schemeClr val="tx1"/>
          </a:solidFill>
          <a:latin typeface="+mn-lt"/>
          <a:ea typeface="+mn-ea"/>
          <a:cs typeface="+mn-cs"/>
        </a:defRPr>
      </a:lvl3pPr>
      <a:lvl4pPr marL="1090613" indent="-234950" algn="l" defTabSz="914400" rtl="0" eaLnBrk="1" latinLnBrk="0" hangingPunct="1">
        <a:lnSpc>
          <a:spcPct val="95000"/>
        </a:lnSpc>
        <a:spcBef>
          <a:spcPts val="0"/>
        </a:spcBef>
        <a:spcAft>
          <a:spcPts val="800"/>
        </a:spcAft>
        <a:buFontTx/>
        <a:buChar char="‒"/>
        <a:defRPr lang="en-US" sz="1800" kern="1200" dirty="0" smtClean="0">
          <a:solidFill>
            <a:schemeClr val="tx1"/>
          </a:solidFill>
          <a:latin typeface="+mn-lt"/>
          <a:ea typeface="+mn-ea"/>
          <a:cs typeface="+mn-cs"/>
        </a:defRPr>
      </a:lvl4pPr>
      <a:lvl5pPr marL="1312863" indent="-222250" algn="l" defTabSz="914400" rtl="0" eaLnBrk="1" latinLnBrk="0" hangingPunct="1">
        <a:lnSpc>
          <a:spcPct val="95000"/>
        </a:lnSpc>
        <a:spcBef>
          <a:spcPts val="0"/>
        </a:spcBef>
        <a:spcAft>
          <a:spcPts val="800"/>
        </a:spcAft>
        <a:buFontTx/>
        <a:buChar char="‒"/>
        <a:defRPr lang="en-US" sz="1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3.xml"/><Relationship Id="rId7" Type="http://schemas.openxmlformats.org/officeDocument/2006/relationships/image" Target="../media/image13.jpeg"/><Relationship Id="rId2" Type="http://schemas.openxmlformats.org/officeDocument/2006/relationships/slideLayout" Target="../slideLayouts/slideLayout6.xml"/><Relationship Id="rId1" Type="http://schemas.openxmlformats.org/officeDocument/2006/relationships/tags" Target="../tags/tag1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17.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6.xml"/><Relationship Id="rId7" Type="http://schemas.openxmlformats.org/officeDocument/2006/relationships/image" Target="../media/image13.jpeg"/><Relationship Id="rId2" Type="http://schemas.openxmlformats.org/officeDocument/2006/relationships/slideLayout" Target="../slideLayouts/slideLayout6.xml"/><Relationship Id="rId1" Type="http://schemas.openxmlformats.org/officeDocument/2006/relationships/tags" Target="../tags/tag18.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smtClean="0"/>
              <a:t>Best Practice for Using HDP with HNAS</a:t>
            </a:r>
            <a:endParaRPr lang="en-US" sz="4400" dirty="0"/>
          </a:p>
        </p:txBody>
      </p:sp>
    </p:spTree>
    <p:custDataLst>
      <p:tags r:id="rId1"/>
    </p:custDataLst>
    <p:extLst>
      <p:ext uri="{BB962C8B-B14F-4D97-AF65-F5344CB8AC3E}">
        <p14:creationId xmlns:p14="http://schemas.microsoft.com/office/powerpoint/2010/main" val="3774731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1978925"/>
            <a:ext cx="8584006" cy="1554272"/>
          </a:xfrm>
        </p:spPr>
        <p:txBody>
          <a:bodyPr/>
          <a:lstStyle/>
          <a:p>
            <a:pPr marL="0" indent="0">
              <a:buNone/>
            </a:pPr>
            <a:r>
              <a:rPr lang="en-US" b="1" i="1" dirty="0" smtClean="0"/>
              <a:t>Before we dive deeper into the best practices of using HDP with HNAS, it is important for us to better understand the HNAS storage concepts</a:t>
            </a:r>
          </a:p>
          <a:p>
            <a:pPr marL="0" indent="0">
              <a:buNone/>
            </a:pPr>
            <a:endParaRPr lang="en-US" sz="1400" b="1" i="1" dirty="0"/>
          </a:p>
        </p:txBody>
      </p:sp>
    </p:spTree>
    <p:custDataLst>
      <p:tags r:id="rId1"/>
    </p:custDataLst>
    <p:extLst>
      <p:ext uri="{BB962C8B-B14F-4D97-AF65-F5344CB8AC3E}">
        <p14:creationId xmlns:p14="http://schemas.microsoft.com/office/powerpoint/2010/main" val="3570701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normAutofit/>
          </a:bodyPr>
          <a:lstStyle/>
          <a:p>
            <a:r>
              <a:rPr lang="en-US" dirty="0"/>
              <a:t>LUN </a:t>
            </a:r>
            <a:r>
              <a:rPr lang="en-US" dirty="0" smtClean="0"/>
              <a:t>PROVISIONING</a:t>
            </a:r>
            <a:br>
              <a:rPr lang="en-US" dirty="0" smtClean="0"/>
            </a:br>
            <a:r>
              <a:rPr lang="en-US" sz="1400" dirty="0">
                <a:solidFill>
                  <a:schemeClr val="bg1">
                    <a:lumMod val="75000"/>
                  </a:schemeClr>
                </a:solidFill>
              </a:rPr>
              <a:t>SYSTEM DRIVE </a:t>
            </a:r>
            <a:r>
              <a:rPr lang="en-US" sz="1400" dirty="0" smtClean="0">
                <a:solidFill>
                  <a:schemeClr val="bg1">
                    <a:lumMod val="75000"/>
                  </a:schemeClr>
                </a:solidFill>
              </a:rPr>
              <a:t>GROUPS</a:t>
            </a:r>
            <a:endParaRPr lang="en-US" sz="1400" dirty="0">
              <a:solidFill>
                <a:schemeClr val="bg1">
                  <a:lumMod val="75000"/>
                </a:schemeClr>
              </a:solidFill>
            </a:endParaRPr>
          </a:p>
        </p:txBody>
      </p:sp>
      <p:sp>
        <p:nvSpPr>
          <p:cNvPr id="65" name="TextBox 64"/>
          <p:cNvSpPr txBox="1"/>
          <p:nvPr/>
        </p:nvSpPr>
        <p:spPr>
          <a:xfrm>
            <a:off x="4787957" y="967575"/>
            <a:ext cx="4060209" cy="3793346"/>
          </a:xfrm>
          <a:prstGeom prst="rect">
            <a:avLst/>
          </a:prstGeom>
          <a:noFill/>
        </p:spPr>
        <p:txBody>
          <a:bodyPr wrap="square" rtlCol="0">
            <a:spAutoFit/>
          </a:bodyPr>
          <a:lstStyle/>
          <a:p>
            <a:pPr marL="171450" indent="-171450">
              <a:buFont typeface="Wingdings" panose="05000000000000000000" pitchFamily="2" charset="2"/>
              <a:buChar char="§"/>
            </a:pPr>
            <a:r>
              <a:rPr lang="en-US" sz="1400" dirty="0"/>
              <a:t>System Drive Groups (SDG) serve two important functions within </a:t>
            </a:r>
            <a:r>
              <a:rPr lang="en-US" sz="1400" dirty="0" smtClean="0"/>
              <a:t>HNAS</a:t>
            </a:r>
            <a:endParaRPr lang="en-US" sz="1400" dirty="0"/>
          </a:p>
          <a:p>
            <a:pPr marL="171450" indent="-171450">
              <a:buFont typeface="Wingdings" panose="05000000000000000000" pitchFamily="2" charset="2"/>
              <a:buChar char="§"/>
            </a:pPr>
            <a:r>
              <a:rPr lang="en-US" sz="1400" dirty="0"/>
              <a:t>Help HNAS understand relationship between RGs and SDs</a:t>
            </a:r>
          </a:p>
          <a:p>
            <a:pPr marL="628650" lvl="1" indent="-171450">
              <a:buFont typeface="Wingdings" panose="05000000000000000000" pitchFamily="2" charset="2"/>
              <a:buChar char="§"/>
            </a:pPr>
            <a:r>
              <a:rPr lang="en-US" sz="1200" b="1" i="1" dirty="0">
                <a:solidFill>
                  <a:schemeClr val="accent4">
                    <a:lumMod val="75000"/>
                  </a:schemeClr>
                </a:solidFill>
              </a:rPr>
              <a:t>Typically 1 LUN per RG</a:t>
            </a:r>
            <a:r>
              <a:rPr lang="en-US" sz="1200" dirty="0"/>
              <a:t>, mandates 1 SD per SDG</a:t>
            </a:r>
          </a:p>
          <a:p>
            <a:pPr marL="628650" lvl="1" indent="-171450">
              <a:buFont typeface="Wingdings" panose="05000000000000000000" pitchFamily="2" charset="2"/>
              <a:buChar char="§"/>
            </a:pPr>
            <a:r>
              <a:rPr lang="en-US" sz="1200" dirty="0"/>
              <a:t>Multi LUN RG, will map multiple SDs to an SDG</a:t>
            </a:r>
          </a:p>
          <a:p>
            <a:pPr marL="628650" lvl="1" indent="-171450">
              <a:buFont typeface="Wingdings" panose="05000000000000000000" pitchFamily="2" charset="2"/>
              <a:buChar char="§"/>
            </a:pPr>
            <a:r>
              <a:rPr lang="en-US" sz="1200" b="1" i="1" u="sng" dirty="0">
                <a:solidFill>
                  <a:schemeClr val="accent4">
                    <a:lumMod val="75000"/>
                  </a:schemeClr>
                </a:solidFill>
              </a:rPr>
              <a:t>HNAS </a:t>
            </a:r>
            <a:r>
              <a:rPr lang="en-US" sz="1200" b="1" i="1" u="sng" dirty="0" smtClean="0">
                <a:solidFill>
                  <a:schemeClr val="accent4">
                    <a:lumMod val="75000"/>
                  </a:schemeClr>
                </a:solidFill>
              </a:rPr>
              <a:t>v11.2</a:t>
            </a:r>
            <a:r>
              <a:rPr lang="en-US" sz="1200" b="1" i="1" dirty="0" smtClean="0">
                <a:solidFill>
                  <a:schemeClr val="accent4">
                    <a:lumMod val="75000"/>
                  </a:schemeClr>
                </a:solidFill>
              </a:rPr>
              <a:t> </a:t>
            </a:r>
            <a:r>
              <a:rPr lang="en-US" sz="1200" dirty="0"/>
              <a:t>provides auto-grouping of LUNs from Hitachi Storage</a:t>
            </a:r>
          </a:p>
          <a:p>
            <a:pPr marL="171450" indent="-171450">
              <a:buFont typeface="Wingdings" panose="05000000000000000000" pitchFamily="2" charset="2"/>
              <a:buChar char="§"/>
            </a:pPr>
            <a:r>
              <a:rPr lang="en-US" sz="1400" dirty="0" smtClean="0"/>
              <a:t>Intelligent </a:t>
            </a:r>
            <a:r>
              <a:rPr lang="en-US" sz="1400" dirty="0"/>
              <a:t>Write Cursor</a:t>
            </a:r>
          </a:p>
          <a:p>
            <a:pPr marL="628650" lvl="1" indent="-171450">
              <a:buFont typeface="Wingdings" panose="05000000000000000000" pitchFamily="2" charset="2"/>
              <a:buChar char="§"/>
            </a:pPr>
            <a:r>
              <a:rPr lang="en-US" sz="1200" dirty="0"/>
              <a:t>Each File System has a main cursor that tracks which SDG it is currently </a:t>
            </a:r>
            <a:r>
              <a:rPr lang="en-US" sz="1200" dirty="0" smtClean="0"/>
              <a:t>using</a:t>
            </a:r>
            <a:endParaRPr lang="en-US" sz="1200" dirty="0"/>
          </a:p>
          <a:p>
            <a:pPr marL="628650" lvl="1" indent="-171450">
              <a:buFont typeface="Wingdings" panose="05000000000000000000" pitchFamily="2" charset="2"/>
              <a:buChar char="§"/>
            </a:pPr>
            <a:r>
              <a:rPr lang="en-US" sz="1200" dirty="0"/>
              <a:t>Each SDG has its own write cursor that it uses to track which 4MB stripe it is currently pointing </a:t>
            </a:r>
            <a:r>
              <a:rPr lang="en-US" sz="1200" dirty="0" smtClean="0"/>
              <a:t>to</a:t>
            </a:r>
            <a:endParaRPr lang="en-US" sz="1200" dirty="0"/>
          </a:p>
          <a:p>
            <a:pPr marL="628650" lvl="1" indent="-171450">
              <a:buFont typeface="Wingdings" panose="05000000000000000000" pitchFamily="2" charset="2"/>
              <a:buChar char="§"/>
            </a:pPr>
            <a:r>
              <a:rPr lang="en-US" sz="1200" dirty="0"/>
              <a:t>Each 4MB stripe in each SDG is written to in turn as the main file system write cursor moves from SDG to SDG within a stripe </a:t>
            </a:r>
            <a:r>
              <a:rPr lang="en-US" sz="1200" dirty="0" smtClean="0"/>
              <a:t>set</a:t>
            </a:r>
            <a:endParaRPr lang="en-US" sz="1200" dirty="0"/>
          </a:p>
          <a:p>
            <a:pPr lvl="3"/>
            <a:endParaRPr lang="en-US" sz="1050" dirty="0"/>
          </a:p>
        </p:txBody>
      </p:sp>
      <p:grpSp>
        <p:nvGrpSpPr>
          <p:cNvPr id="67" name="Group 34"/>
          <p:cNvGrpSpPr>
            <a:grpSpLocks/>
          </p:cNvGrpSpPr>
          <p:nvPr/>
        </p:nvGrpSpPr>
        <p:grpSpPr bwMode="auto">
          <a:xfrm>
            <a:off x="505534" y="1450579"/>
            <a:ext cx="3901904" cy="410765"/>
            <a:chOff x="1087" y="2454"/>
            <a:chExt cx="1847" cy="190"/>
          </a:xfrm>
        </p:grpSpPr>
        <p:sp>
          <p:nvSpPr>
            <p:cNvPr id="68" name="Rectangle 35"/>
            <p:cNvSpPr>
              <a:spLocks noChangeArrowheads="1"/>
            </p:cNvSpPr>
            <p:nvPr/>
          </p:nvSpPr>
          <p:spPr bwMode="auto">
            <a:xfrm>
              <a:off x="1087"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9" name="Rectangle 36"/>
            <p:cNvSpPr>
              <a:spLocks noChangeArrowheads="1"/>
            </p:cNvSpPr>
            <p:nvPr/>
          </p:nvSpPr>
          <p:spPr bwMode="auto">
            <a:xfrm>
              <a:off x="1827"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70" name="Rectangle 37"/>
            <p:cNvSpPr>
              <a:spLocks noChangeArrowheads="1"/>
            </p:cNvSpPr>
            <p:nvPr/>
          </p:nvSpPr>
          <p:spPr bwMode="auto">
            <a:xfrm>
              <a:off x="1456" y="2454"/>
              <a:ext cx="367" cy="190"/>
            </a:xfrm>
            <a:prstGeom prst="rect">
              <a:avLst/>
            </a:prstGeom>
            <a:solidFill>
              <a:srgbClr val="009999"/>
            </a:solidFill>
            <a:ln w="9525">
              <a:solidFill>
                <a:schemeClr val="tx1"/>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71" name="Rectangle 38"/>
            <p:cNvSpPr>
              <a:spLocks noChangeArrowheads="1"/>
            </p:cNvSpPr>
            <p:nvPr/>
          </p:nvSpPr>
          <p:spPr bwMode="auto">
            <a:xfrm>
              <a:off x="2195"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sp>
          <p:nvSpPr>
            <p:cNvPr id="72" name="Rectangle 39"/>
            <p:cNvSpPr>
              <a:spLocks noChangeArrowheads="1"/>
            </p:cNvSpPr>
            <p:nvPr/>
          </p:nvSpPr>
          <p:spPr bwMode="auto">
            <a:xfrm>
              <a:off x="2566"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grpSp>
      <p:grpSp>
        <p:nvGrpSpPr>
          <p:cNvPr id="85" name="Group 17"/>
          <p:cNvGrpSpPr>
            <a:grpSpLocks/>
          </p:cNvGrpSpPr>
          <p:nvPr/>
        </p:nvGrpSpPr>
        <p:grpSpPr bwMode="auto">
          <a:xfrm>
            <a:off x="505534" y="3812631"/>
            <a:ext cx="3901904" cy="410765"/>
            <a:chOff x="1075" y="2886"/>
            <a:chExt cx="1847" cy="190"/>
          </a:xfrm>
          <a:solidFill>
            <a:schemeClr val="accent4">
              <a:lumMod val="60000"/>
              <a:lumOff val="40000"/>
            </a:schemeClr>
          </a:solidFill>
          <a:effectLst>
            <a:outerShdw blurRad="50800" dist="38100" dir="2700000" algn="tl" rotWithShape="0">
              <a:prstClr val="black">
                <a:alpha val="40000"/>
              </a:prstClr>
            </a:outerShdw>
          </a:effectLst>
        </p:grpSpPr>
        <p:sp>
          <p:nvSpPr>
            <p:cNvPr id="86" name="Rectangle 50"/>
            <p:cNvSpPr>
              <a:spLocks noChangeArrowheads="1"/>
            </p:cNvSpPr>
            <p:nvPr/>
          </p:nvSpPr>
          <p:spPr bwMode="auto">
            <a:xfrm>
              <a:off x="1075"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 RG</a:t>
              </a:r>
              <a:endParaRPr lang="en-US" b="1" dirty="0">
                <a:latin typeface="Calibri" panose="020F0502020204030204" pitchFamily="34" charset="0"/>
                <a:cs typeface="Calibri" panose="020F0502020204030204" pitchFamily="34" charset="0"/>
              </a:endParaRPr>
            </a:p>
          </p:txBody>
        </p:sp>
        <p:sp>
          <p:nvSpPr>
            <p:cNvPr id="87" name="Rectangle 51"/>
            <p:cNvSpPr>
              <a:spLocks noChangeArrowheads="1"/>
            </p:cNvSpPr>
            <p:nvPr/>
          </p:nvSpPr>
          <p:spPr bwMode="auto">
            <a:xfrm>
              <a:off x="1815"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RG</a:t>
              </a:r>
              <a:endParaRPr lang="en-US" b="1" dirty="0">
                <a:latin typeface="Calibri" panose="020F0502020204030204" pitchFamily="34" charset="0"/>
                <a:cs typeface="Calibri" panose="020F0502020204030204" pitchFamily="34" charset="0"/>
              </a:endParaRPr>
            </a:p>
          </p:txBody>
        </p:sp>
        <p:sp>
          <p:nvSpPr>
            <p:cNvPr id="88" name="Rectangle 52"/>
            <p:cNvSpPr>
              <a:spLocks noChangeArrowheads="1"/>
            </p:cNvSpPr>
            <p:nvPr/>
          </p:nvSpPr>
          <p:spPr bwMode="auto">
            <a:xfrm>
              <a:off x="1444" y="2886"/>
              <a:ext cx="367"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RG</a:t>
              </a:r>
              <a:endParaRPr lang="en-US" b="1" dirty="0">
                <a:latin typeface="Calibri" panose="020F0502020204030204" pitchFamily="34" charset="0"/>
                <a:cs typeface="Calibri" panose="020F0502020204030204" pitchFamily="34" charset="0"/>
              </a:endParaRPr>
            </a:p>
          </p:txBody>
        </p:sp>
        <p:sp>
          <p:nvSpPr>
            <p:cNvPr id="89" name="Rectangle 53"/>
            <p:cNvSpPr>
              <a:spLocks noChangeArrowheads="1"/>
            </p:cNvSpPr>
            <p:nvPr/>
          </p:nvSpPr>
          <p:spPr bwMode="auto">
            <a:xfrm>
              <a:off x="2183"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RG</a:t>
              </a:r>
              <a:endParaRPr lang="en-US" b="1" dirty="0">
                <a:latin typeface="Calibri" panose="020F0502020204030204" pitchFamily="34" charset="0"/>
                <a:cs typeface="Calibri" panose="020F0502020204030204" pitchFamily="34" charset="0"/>
              </a:endParaRPr>
            </a:p>
          </p:txBody>
        </p:sp>
        <p:sp>
          <p:nvSpPr>
            <p:cNvPr id="90" name="Rectangle 54"/>
            <p:cNvSpPr>
              <a:spLocks noChangeArrowheads="1"/>
            </p:cNvSpPr>
            <p:nvPr/>
          </p:nvSpPr>
          <p:spPr bwMode="auto">
            <a:xfrm>
              <a:off x="2554"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RG</a:t>
              </a:r>
              <a:endParaRPr lang="en-US" b="1" dirty="0">
                <a:latin typeface="Calibri" panose="020F0502020204030204" pitchFamily="34" charset="0"/>
                <a:cs typeface="Calibri" panose="020F0502020204030204" pitchFamily="34" charset="0"/>
              </a:endParaRPr>
            </a:p>
          </p:txBody>
        </p:sp>
      </p:grpSp>
      <p:grpSp>
        <p:nvGrpSpPr>
          <p:cNvPr id="111" name="Group 34"/>
          <p:cNvGrpSpPr>
            <a:grpSpLocks/>
          </p:cNvGrpSpPr>
          <p:nvPr/>
        </p:nvGrpSpPr>
        <p:grpSpPr bwMode="auto">
          <a:xfrm>
            <a:off x="505534" y="2252085"/>
            <a:ext cx="3901904" cy="410765"/>
            <a:chOff x="1087" y="2454"/>
            <a:chExt cx="1847" cy="190"/>
          </a:xfrm>
          <a:effectLst>
            <a:outerShdw blurRad="50800" dist="38100" dir="2700000" algn="tl" rotWithShape="0">
              <a:prstClr val="black">
                <a:alpha val="40000"/>
              </a:prstClr>
            </a:outerShdw>
          </a:effectLst>
        </p:grpSpPr>
        <p:sp>
          <p:nvSpPr>
            <p:cNvPr id="112" name="Rectangle 35"/>
            <p:cNvSpPr>
              <a:spLocks noChangeArrowheads="1"/>
            </p:cNvSpPr>
            <p:nvPr/>
          </p:nvSpPr>
          <p:spPr bwMode="auto">
            <a:xfrm>
              <a:off x="108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113" name="Rectangle 36"/>
            <p:cNvSpPr>
              <a:spLocks noChangeArrowheads="1"/>
            </p:cNvSpPr>
            <p:nvPr/>
          </p:nvSpPr>
          <p:spPr bwMode="auto">
            <a:xfrm>
              <a:off x="182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114" name="Rectangle 37"/>
            <p:cNvSpPr>
              <a:spLocks noChangeArrowheads="1"/>
            </p:cNvSpPr>
            <p:nvPr/>
          </p:nvSpPr>
          <p:spPr bwMode="auto">
            <a:xfrm>
              <a:off x="1456" y="2454"/>
              <a:ext cx="367"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115" name="Rectangle 38"/>
            <p:cNvSpPr>
              <a:spLocks noChangeArrowheads="1"/>
            </p:cNvSpPr>
            <p:nvPr/>
          </p:nvSpPr>
          <p:spPr bwMode="auto">
            <a:xfrm>
              <a:off x="2195"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sp>
          <p:nvSpPr>
            <p:cNvPr id="116" name="Rectangle 39"/>
            <p:cNvSpPr>
              <a:spLocks noChangeArrowheads="1"/>
            </p:cNvSpPr>
            <p:nvPr/>
          </p:nvSpPr>
          <p:spPr bwMode="auto">
            <a:xfrm>
              <a:off x="2566"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grpSp>
      <p:grpSp>
        <p:nvGrpSpPr>
          <p:cNvPr id="117" name="Group 17"/>
          <p:cNvGrpSpPr>
            <a:grpSpLocks/>
          </p:cNvGrpSpPr>
          <p:nvPr/>
        </p:nvGrpSpPr>
        <p:grpSpPr bwMode="auto">
          <a:xfrm>
            <a:off x="505534" y="3028927"/>
            <a:ext cx="3901904" cy="410765"/>
            <a:chOff x="1075" y="2886"/>
            <a:chExt cx="1847" cy="190"/>
          </a:xfrm>
          <a:solidFill>
            <a:srgbClr val="00B050"/>
          </a:solidFill>
          <a:effectLst>
            <a:outerShdw blurRad="50800" dist="38100" dir="2700000" algn="tl" rotWithShape="0">
              <a:prstClr val="black">
                <a:alpha val="40000"/>
              </a:prstClr>
            </a:outerShdw>
          </a:effectLst>
        </p:grpSpPr>
        <p:sp>
          <p:nvSpPr>
            <p:cNvPr id="118" name="Rectangle 50"/>
            <p:cNvSpPr>
              <a:spLocks noChangeArrowheads="1"/>
            </p:cNvSpPr>
            <p:nvPr/>
          </p:nvSpPr>
          <p:spPr bwMode="auto">
            <a:xfrm>
              <a:off x="1075" y="2886"/>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LUN</a:t>
              </a:r>
            </a:p>
          </p:txBody>
        </p:sp>
        <p:sp>
          <p:nvSpPr>
            <p:cNvPr id="119" name="Rectangle 51"/>
            <p:cNvSpPr>
              <a:spLocks noChangeArrowheads="1"/>
            </p:cNvSpPr>
            <p:nvPr/>
          </p:nvSpPr>
          <p:spPr bwMode="auto">
            <a:xfrm>
              <a:off x="1815" y="2886"/>
              <a:ext cx="368" cy="190"/>
            </a:xfrm>
            <a:prstGeom prst="rect">
              <a:avLst/>
            </a:prstGeom>
            <a:grpFill/>
            <a:ln w="9525">
              <a:solidFill>
                <a:schemeClr val="bg1">
                  <a:lumMod val="8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LUN</a:t>
              </a:r>
            </a:p>
          </p:txBody>
        </p:sp>
        <p:sp>
          <p:nvSpPr>
            <p:cNvPr id="120" name="Rectangle 52"/>
            <p:cNvSpPr>
              <a:spLocks noChangeArrowheads="1"/>
            </p:cNvSpPr>
            <p:nvPr/>
          </p:nvSpPr>
          <p:spPr bwMode="auto">
            <a:xfrm>
              <a:off x="1444" y="2886"/>
              <a:ext cx="367" cy="190"/>
            </a:xfrm>
            <a:prstGeom prst="rect">
              <a:avLst/>
            </a:prstGeom>
            <a:grpFill/>
            <a:ln w="9525">
              <a:solidFill>
                <a:schemeClr val="bg1">
                  <a:lumMod val="8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LUN</a:t>
              </a:r>
            </a:p>
          </p:txBody>
        </p:sp>
        <p:sp>
          <p:nvSpPr>
            <p:cNvPr id="121" name="Rectangle 53"/>
            <p:cNvSpPr>
              <a:spLocks noChangeArrowheads="1"/>
            </p:cNvSpPr>
            <p:nvPr/>
          </p:nvSpPr>
          <p:spPr bwMode="auto">
            <a:xfrm>
              <a:off x="2183" y="2886"/>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LUN</a:t>
              </a:r>
            </a:p>
          </p:txBody>
        </p:sp>
        <p:sp>
          <p:nvSpPr>
            <p:cNvPr id="122" name="Rectangle 54"/>
            <p:cNvSpPr>
              <a:spLocks noChangeArrowheads="1"/>
            </p:cNvSpPr>
            <p:nvPr/>
          </p:nvSpPr>
          <p:spPr bwMode="auto">
            <a:xfrm>
              <a:off x="2554" y="2886"/>
              <a:ext cx="368" cy="190"/>
            </a:xfrm>
            <a:prstGeom prst="rect">
              <a:avLst/>
            </a:prstGeom>
            <a:grpFill/>
            <a:ln w="9525">
              <a:solidFill>
                <a:schemeClr val="bg1">
                  <a:lumMod val="8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LUN</a:t>
              </a:r>
            </a:p>
          </p:txBody>
        </p:sp>
      </p:grpSp>
      <p:grpSp>
        <p:nvGrpSpPr>
          <p:cNvPr id="123" name="Group 34"/>
          <p:cNvGrpSpPr>
            <a:grpSpLocks/>
          </p:cNvGrpSpPr>
          <p:nvPr/>
        </p:nvGrpSpPr>
        <p:grpSpPr bwMode="auto">
          <a:xfrm>
            <a:off x="505534" y="1450579"/>
            <a:ext cx="3908242" cy="410765"/>
            <a:chOff x="1084" y="2454"/>
            <a:chExt cx="1850" cy="190"/>
          </a:xfrm>
          <a:solidFill>
            <a:schemeClr val="accent5"/>
          </a:solidFill>
          <a:effectLst>
            <a:outerShdw blurRad="50800" dist="38100" dir="2700000" algn="tl" rotWithShape="0">
              <a:prstClr val="black">
                <a:alpha val="40000"/>
              </a:prstClr>
            </a:outerShdw>
          </a:effectLst>
        </p:grpSpPr>
        <p:sp>
          <p:nvSpPr>
            <p:cNvPr id="124" name="Rectangle 35"/>
            <p:cNvSpPr>
              <a:spLocks noChangeArrowheads="1"/>
            </p:cNvSpPr>
            <p:nvPr/>
          </p:nvSpPr>
          <p:spPr bwMode="auto">
            <a:xfrm>
              <a:off x="1084" y="2454"/>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SDG</a:t>
              </a:r>
              <a:endParaRPr lang="en-US" b="1" dirty="0">
                <a:latin typeface="Calibri" panose="020F0502020204030204" pitchFamily="34" charset="0"/>
                <a:cs typeface="Calibri" panose="020F0502020204030204" pitchFamily="34" charset="0"/>
              </a:endParaRPr>
            </a:p>
          </p:txBody>
        </p:sp>
        <p:sp>
          <p:nvSpPr>
            <p:cNvPr id="125" name="Rectangle 36"/>
            <p:cNvSpPr>
              <a:spLocks noChangeArrowheads="1"/>
            </p:cNvSpPr>
            <p:nvPr/>
          </p:nvSpPr>
          <p:spPr bwMode="auto">
            <a:xfrm>
              <a:off x="1827" y="2454"/>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SDG</a:t>
              </a:r>
              <a:endParaRPr lang="en-US" b="1" dirty="0">
                <a:latin typeface="Calibri" panose="020F0502020204030204" pitchFamily="34" charset="0"/>
                <a:cs typeface="Calibri" panose="020F0502020204030204" pitchFamily="34" charset="0"/>
              </a:endParaRPr>
            </a:p>
          </p:txBody>
        </p:sp>
        <p:sp>
          <p:nvSpPr>
            <p:cNvPr id="126" name="Rectangle 37"/>
            <p:cNvSpPr>
              <a:spLocks noChangeArrowheads="1"/>
            </p:cNvSpPr>
            <p:nvPr/>
          </p:nvSpPr>
          <p:spPr bwMode="auto">
            <a:xfrm>
              <a:off x="1456" y="2454"/>
              <a:ext cx="367" cy="190"/>
            </a:xfrm>
            <a:prstGeom prst="rect">
              <a:avLst/>
            </a:prstGeom>
            <a:grp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SDG</a:t>
              </a:r>
              <a:endParaRPr lang="en-US" b="1" dirty="0">
                <a:latin typeface="Calibri" panose="020F0502020204030204" pitchFamily="34" charset="0"/>
                <a:cs typeface="Calibri" panose="020F0502020204030204" pitchFamily="34" charset="0"/>
              </a:endParaRPr>
            </a:p>
          </p:txBody>
        </p:sp>
        <p:sp>
          <p:nvSpPr>
            <p:cNvPr id="127" name="Rectangle 38"/>
            <p:cNvSpPr>
              <a:spLocks noChangeArrowheads="1"/>
            </p:cNvSpPr>
            <p:nvPr/>
          </p:nvSpPr>
          <p:spPr bwMode="auto">
            <a:xfrm>
              <a:off x="2195" y="2454"/>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SDG</a:t>
              </a:r>
              <a:endParaRPr lang="en-US" b="1" dirty="0">
                <a:latin typeface="Calibri" panose="020F0502020204030204" pitchFamily="34" charset="0"/>
                <a:cs typeface="Calibri" panose="020F0502020204030204" pitchFamily="34" charset="0"/>
              </a:endParaRPr>
            </a:p>
          </p:txBody>
        </p:sp>
        <p:sp>
          <p:nvSpPr>
            <p:cNvPr id="128" name="Rectangle 39"/>
            <p:cNvSpPr>
              <a:spLocks noChangeArrowheads="1"/>
            </p:cNvSpPr>
            <p:nvPr/>
          </p:nvSpPr>
          <p:spPr bwMode="auto">
            <a:xfrm>
              <a:off x="2566" y="2454"/>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SDG</a:t>
              </a:r>
              <a:endParaRPr lang="en-US" b="1" dirty="0">
                <a:latin typeface="Calibri" panose="020F0502020204030204" pitchFamily="34" charset="0"/>
                <a:cs typeface="Calibri" panose="020F0502020204030204" pitchFamily="34" charset="0"/>
              </a:endParaRPr>
            </a:p>
          </p:txBody>
        </p:sp>
      </p:grpSp>
      <p:grpSp>
        <p:nvGrpSpPr>
          <p:cNvPr id="141" name="Group 140"/>
          <p:cNvGrpSpPr/>
          <p:nvPr/>
        </p:nvGrpSpPr>
        <p:grpSpPr>
          <a:xfrm>
            <a:off x="791823" y="1932730"/>
            <a:ext cx="3308367" cy="259308"/>
            <a:chOff x="798078" y="1624084"/>
            <a:chExt cx="3308367" cy="348020"/>
          </a:xfrm>
          <a:effectLst>
            <a:outerShdw blurRad="50800" dist="38100" dir="2700000" algn="tl" rotWithShape="0">
              <a:prstClr val="black">
                <a:alpha val="40000"/>
              </a:prstClr>
            </a:outerShdw>
          </a:effectLst>
        </p:grpSpPr>
        <p:sp>
          <p:nvSpPr>
            <p:cNvPr id="136" name="Down Arrow 135"/>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37" name="Down Arrow 136"/>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38" name="Down Arrow 137"/>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39" name="Down Arrow 138"/>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40" name="Down Arrow 139"/>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64" name="Group 63"/>
          <p:cNvGrpSpPr/>
          <p:nvPr/>
        </p:nvGrpSpPr>
        <p:grpSpPr>
          <a:xfrm>
            <a:off x="796047" y="2722934"/>
            <a:ext cx="3308367" cy="259308"/>
            <a:chOff x="798078" y="1624084"/>
            <a:chExt cx="3308367" cy="348020"/>
          </a:xfrm>
          <a:effectLst>
            <a:outerShdw blurRad="50800" dist="38100" dir="2700000" algn="tl" rotWithShape="0">
              <a:prstClr val="black">
                <a:alpha val="40000"/>
              </a:prstClr>
            </a:outerShdw>
          </a:effectLst>
        </p:grpSpPr>
        <p:sp>
          <p:nvSpPr>
            <p:cNvPr id="66" name="Down Arrow 65"/>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3" name="Down Arrow 72"/>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4" name="Down Arrow 73"/>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5" name="Down Arrow 74"/>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6" name="Down Arrow 75"/>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77" name="Group 76"/>
          <p:cNvGrpSpPr/>
          <p:nvPr/>
        </p:nvGrpSpPr>
        <p:grpSpPr>
          <a:xfrm>
            <a:off x="800270" y="3503131"/>
            <a:ext cx="3308367" cy="259308"/>
            <a:chOff x="798078" y="1624084"/>
            <a:chExt cx="3308367" cy="348020"/>
          </a:xfrm>
          <a:effectLst>
            <a:outerShdw blurRad="50800" dist="38100" dir="2700000" algn="tl" rotWithShape="0">
              <a:prstClr val="black">
                <a:alpha val="40000"/>
              </a:prstClr>
            </a:outerShdw>
          </a:effectLst>
        </p:grpSpPr>
        <p:sp>
          <p:nvSpPr>
            <p:cNvPr id="78" name="Down Arrow 77"/>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9" name="Down Arrow 78"/>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0" name="Down Arrow 79"/>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1" name="Down Arrow 80"/>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2" name="Down Arrow 81"/>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Tree>
    <p:custDataLst>
      <p:tags r:id="rId1"/>
    </p:custDataLst>
    <p:extLst>
      <p:ext uri="{BB962C8B-B14F-4D97-AF65-F5344CB8AC3E}">
        <p14:creationId xmlns:p14="http://schemas.microsoft.com/office/powerpoint/2010/main" val="1234263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cap="all" dirty="0"/>
              <a:t>RG and LUN BEST </a:t>
            </a:r>
            <a:r>
              <a:rPr lang="en-US" cap="all" dirty="0" smtClean="0"/>
              <a:t>PRACTICES </a:t>
            </a:r>
            <a:br>
              <a:rPr lang="en-US" cap="all" dirty="0" smtClean="0"/>
            </a:br>
            <a:r>
              <a:rPr lang="en-US" sz="1400" cap="all" dirty="0" smtClean="0">
                <a:solidFill>
                  <a:schemeClr val="bg1">
                    <a:lumMod val="75000"/>
                  </a:schemeClr>
                </a:solidFill>
              </a:rPr>
              <a:t>For </a:t>
            </a:r>
            <a:r>
              <a:rPr lang="en-US" sz="1400" cap="all" dirty="0" smtClean="0">
                <a:solidFill>
                  <a:srgbClr val="FF0000"/>
                </a:solidFill>
              </a:rPr>
              <a:t>NON HDP </a:t>
            </a:r>
            <a:r>
              <a:rPr lang="en-US" sz="1400" cap="all" dirty="0" smtClean="0">
                <a:solidFill>
                  <a:schemeClr val="bg1">
                    <a:lumMod val="75000"/>
                  </a:schemeClr>
                </a:solidFill>
              </a:rPr>
              <a:t>scenarios</a:t>
            </a:r>
            <a:endParaRPr lang="en-US" sz="1400" cap="all" dirty="0">
              <a:solidFill>
                <a:schemeClr val="bg1">
                  <a:lumMod val="75000"/>
                </a:schemeClr>
              </a:solidFill>
            </a:endParaRPr>
          </a:p>
        </p:txBody>
      </p:sp>
      <p:sp>
        <p:nvSpPr>
          <p:cNvPr id="4" name="Rectangle 3"/>
          <p:cNvSpPr/>
          <p:nvPr/>
        </p:nvSpPr>
        <p:spPr>
          <a:xfrm>
            <a:off x="395785" y="1985750"/>
            <a:ext cx="2579427" cy="2859206"/>
          </a:xfrm>
          <a:prstGeom prst="rect">
            <a:avLst/>
          </a:pr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lvl="1" indent="-171450">
              <a:lnSpc>
                <a:spcPct val="100000"/>
              </a:lnSpc>
              <a:buFont typeface="Wingdings" panose="05000000000000000000" pitchFamily="2" charset="2"/>
              <a:buChar char="§"/>
            </a:pPr>
            <a:r>
              <a:rPr lang="en-US" sz="1200" dirty="0" smtClean="0">
                <a:latin typeface="Calibri" panose="020F0502020204030204" pitchFamily="34" charset="0"/>
                <a:cs typeface="Calibri" panose="020F0502020204030204" pitchFamily="34" charset="0"/>
              </a:rPr>
              <a:t>HNAS </a:t>
            </a:r>
            <a:r>
              <a:rPr lang="en-US" sz="1200" dirty="0">
                <a:latin typeface="Calibri" panose="020F0502020204030204" pitchFamily="34" charset="0"/>
                <a:cs typeface="Calibri" panose="020F0502020204030204" pitchFamily="34" charset="0"/>
              </a:rPr>
              <a:t>writes to all SDs within a </a:t>
            </a:r>
            <a:r>
              <a:rPr lang="en-US" sz="1200" dirty="0" err="1">
                <a:latin typeface="Calibri" panose="020F0502020204030204" pitchFamily="34" charset="0"/>
                <a:cs typeface="Calibri" panose="020F0502020204030204" pitchFamily="34" charset="0"/>
              </a:rPr>
              <a:t>stripeset</a:t>
            </a:r>
            <a:r>
              <a:rPr lang="en-US" sz="1200" dirty="0">
                <a:latin typeface="Calibri" panose="020F0502020204030204" pitchFamily="34" charset="0"/>
                <a:cs typeface="Calibri" panose="020F0502020204030204" pitchFamily="34" charset="0"/>
              </a:rPr>
              <a:t> in parallel so 1 LUN per RG avoids disk contention</a:t>
            </a:r>
          </a:p>
          <a:p>
            <a:pPr marL="169863" lvl="1" indent="-169863">
              <a:buFont typeface="Wingdings" panose="05000000000000000000" pitchFamily="2" charset="2"/>
              <a:buChar char="§"/>
            </a:pPr>
            <a:r>
              <a:rPr lang="en-US" sz="1200" dirty="0">
                <a:latin typeface="Calibri" panose="020F0502020204030204" pitchFamily="34" charset="0"/>
                <a:cs typeface="Calibri" panose="020F0502020204030204" pitchFamily="34" charset="0"/>
              </a:rPr>
              <a:t>The exception is SSD/HAF where up to 8 SD per RG is recommended (provides more Q Depth)</a:t>
            </a:r>
          </a:p>
          <a:p>
            <a:pPr marL="169863" lvl="1" indent="-169863">
              <a:buFont typeface="Wingdings" panose="05000000000000000000" pitchFamily="2" charset="2"/>
              <a:buChar char="§"/>
            </a:pPr>
            <a:r>
              <a:rPr lang="en-US" sz="1200" dirty="0">
                <a:latin typeface="Calibri" panose="020F0502020204030204" pitchFamily="34" charset="0"/>
                <a:cs typeface="Calibri" panose="020F0502020204030204" pitchFamily="34" charset="0"/>
              </a:rPr>
              <a:t>Enterprise Platform max LUN size is 2.9TB</a:t>
            </a:r>
          </a:p>
          <a:p>
            <a:pPr marL="457200" lvl="3" indent="-115888">
              <a:buFont typeface="Wingdings" panose="05000000000000000000" pitchFamily="2" charset="2"/>
              <a:buChar char="§"/>
            </a:pPr>
            <a:r>
              <a:rPr lang="en-US" sz="1200" dirty="0">
                <a:latin typeface="Calibri" panose="020F0502020204030204" pitchFamily="34" charset="0"/>
                <a:cs typeface="Calibri" panose="020F0502020204030204" pitchFamily="34" charset="0"/>
              </a:rPr>
              <a:t>Either create multiple LDEVs per RG </a:t>
            </a:r>
            <a:r>
              <a:rPr lang="en-US" sz="1200" dirty="0" smtClean="0">
                <a:latin typeface="Calibri" panose="020F0502020204030204" pitchFamily="34" charset="0"/>
                <a:cs typeface="Calibri" panose="020F0502020204030204" pitchFamily="34" charset="0"/>
              </a:rPr>
              <a:t>using SDGs as appropriate </a:t>
            </a:r>
            <a:r>
              <a:rPr lang="en-US" sz="1200" dirty="0">
                <a:latin typeface="Calibri" panose="020F0502020204030204" pitchFamily="34" charset="0"/>
                <a:cs typeface="Calibri" panose="020F0502020204030204" pitchFamily="34" charset="0"/>
              </a:rPr>
              <a:t>or use HDP (which allows larger LUN sizes)</a:t>
            </a:r>
          </a:p>
        </p:txBody>
      </p:sp>
      <p:sp>
        <p:nvSpPr>
          <p:cNvPr id="5" name="Rectangle 4"/>
          <p:cNvSpPr/>
          <p:nvPr/>
        </p:nvSpPr>
        <p:spPr>
          <a:xfrm>
            <a:off x="3243618" y="1985748"/>
            <a:ext cx="2579427" cy="2859208"/>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indent="-171450">
              <a:buFont typeface="Wingdings" panose="05000000000000000000" pitchFamily="2" charset="2"/>
              <a:buChar char="§"/>
            </a:pPr>
            <a:r>
              <a:rPr lang="en-US" sz="1200" dirty="0" smtClean="0">
                <a:latin typeface="Calibri" panose="020F0502020204030204" pitchFamily="34" charset="0"/>
                <a:cs typeface="Calibri" panose="020F0502020204030204" pitchFamily="34" charset="0"/>
              </a:rPr>
              <a:t>RAID5 </a:t>
            </a:r>
            <a:r>
              <a:rPr lang="en-US" sz="1200" dirty="0">
                <a:latin typeface="Calibri" panose="020F0502020204030204" pitchFamily="34" charset="0"/>
                <a:cs typeface="Calibri" panose="020F0502020204030204" pitchFamily="34" charset="0"/>
              </a:rPr>
              <a:t>4+1 typically works very well with HNAS with 4 SDs = 20 drives, so incremental expansion of the Span is 20 drives</a:t>
            </a:r>
          </a:p>
          <a:p>
            <a:pPr lvl="1" indent="-115888">
              <a:buFont typeface="Wingdings" panose="05000000000000000000" pitchFamily="2" charset="2"/>
              <a:buChar char="§"/>
            </a:pPr>
            <a:r>
              <a:rPr lang="en-US" sz="1200" dirty="0">
                <a:latin typeface="Calibri" panose="020F0502020204030204" pitchFamily="34" charset="0"/>
                <a:cs typeface="Calibri" panose="020F0502020204030204" pitchFamily="34" charset="0"/>
              </a:rPr>
              <a:t>If using 8+1 then 4 SDs = 36 drives, so incremental expansion requires almost twice as many drives</a:t>
            </a:r>
          </a:p>
          <a:p>
            <a:pPr lvl="1" indent="-115888">
              <a:buFont typeface="Wingdings" panose="05000000000000000000" pitchFamily="2" charset="2"/>
              <a:buChar char="§"/>
            </a:pPr>
            <a:r>
              <a:rPr lang="en-US" sz="1200" dirty="0">
                <a:latin typeface="Calibri" panose="020F0502020204030204" pitchFamily="34" charset="0"/>
                <a:cs typeface="Calibri" panose="020F0502020204030204" pitchFamily="34" charset="0"/>
              </a:rPr>
              <a:t>(See section on </a:t>
            </a:r>
            <a:r>
              <a:rPr lang="en-US" sz="1200" dirty="0" smtClean="0">
                <a:latin typeface="Calibri" panose="020F0502020204030204" pitchFamily="34" charset="0"/>
                <a:cs typeface="Calibri" panose="020F0502020204030204" pitchFamily="34" charset="0"/>
              </a:rPr>
              <a:t>span </a:t>
            </a:r>
            <a:r>
              <a:rPr lang="en-US" sz="1200" dirty="0">
                <a:latin typeface="Calibri" panose="020F0502020204030204" pitchFamily="34" charset="0"/>
                <a:cs typeface="Calibri" panose="020F0502020204030204" pitchFamily="34" charset="0"/>
              </a:rPr>
              <a:t>expansion for more details</a:t>
            </a:r>
            <a:r>
              <a:rPr lang="en-US" sz="1200" dirty="0" smtClean="0">
                <a:latin typeface="Calibri" panose="020F0502020204030204" pitchFamily="34" charset="0"/>
                <a:cs typeface="Calibri" panose="020F0502020204030204" pitchFamily="34" charset="0"/>
              </a:rPr>
              <a:t>)</a:t>
            </a:r>
          </a:p>
          <a:p>
            <a:pPr indent="-115888">
              <a:buFont typeface="Wingdings" panose="05000000000000000000" pitchFamily="2" charset="2"/>
              <a:buChar char="§"/>
            </a:pPr>
            <a:r>
              <a:rPr lang="en-US" sz="1200" dirty="0" smtClean="0">
                <a:latin typeface="Calibri" panose="020F0502020204030204" pitchFamily="34" charset="0"/>
                <a:cs typeface="Calibri" panose="020F0502020204030204" pitchFamily="34" charset="0"/>
              </a:rPr>
              <a:t>Balance that incremental expansion against scalability requirements</a:t>
            </a:r>
          </a:p>
          <a:p>
            <a:pPr lvl="1" indent="-115888">
              <a:buFont typeface="Wingdings" panose="05000000000000000000" pitchFamily="2" charset="2"/>
              <a:buChar char="§"/>
            </a:pPr>
            <a:r>
              <a:rPr lang="en-US" sz="1200" dirty="0" smtClean="0">
                <a:latin typeface="Calibri" panose="020F0502020204030204" pitchFamily="34" charset="0"/>
                <a:cs typeface="Calibri" panose="020F0502020204030204" pitchFamily="34" charset="0"/>
              </a:rPr>
              <a:t>If using 4+1 with 600GB, then 512SD will scale only to 1.2PB</a:t>
            </a:r>
            <a:endParaRPr lang="en-US" sz="1200" dirty="0">
              <a:latin typeface="Calibri" panose="020F0502020204030204" pitchFamily="34" charset="0"/>
              <a:cs typeface="Calibri" panose="020F0502020204030204" pitchFamily="34" charset="0"/>
            </a:endParaRPr>
          </a:p>
        </p:txBody>
      </p:sp>
      <p:sp>
        <p:nvSpPr>
          <p:cNvPr id="6" name="Rectangle 5"/>
          <p:cNvSpPr/>
          <p:nvPr/>
        </p:nvSpPr>
        <p:spPr>
          <a:xfrm>
            <a:off x="6123295" y="1985748"/>
            <a:ext cx="2579427" cy="2852383"/>
          </a:xfrm>
          <a:prstGeom prst="rect">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lvl="1" indent="-171450">
              <a:buFont typeface="Wingdings" panose="05000000000000000000" pitchFamily="2" charset="2"/>
              <a:buChar char="§"/>
            </a:pPr>
            <a:r>
              <a:rPr lang="en-US" sz="1200" dirty="0" smtClean="0">
                <a:latin typeface="Calibri" panose="020F0502020204030204" pitchFamily="34" charset="0"/>
                <a:cs typeface="Calibri" panose="020F0502020204030204" pitchFamily="34" charset="0"/>
              </a:rPr>
              <a:t>Churn </a:t>
            </a:r>
            <a:r>
              <a:rPr lang="en-US" sz="1200" dirty="0">
                <a:latin typeface="Calibri" panose="020F0502020204030204" pitchFamily="34" charset="0"/>
                <a:cs typeface="Calibri" panose="020F0502020204030204" pitchFamily="34" charset="0"/>
              </a:rPr>
              <a:t>typically will result in FS fragmentation over time, which leads to reduced </a:t>
            </a:r>
            <a:r>
              <a:rPr lang="en-US" sz="1200" dirty="0" err="1">
                <a:latin typeface="Calibri" panose="020F0502020204030204" pitchFamily="34" charset="0"/>
                <a:cs typeface="Calibri" panose="020F0502020204030204" pitchFamily="34" charset="0"/>
              </a:rPr>
              <a:t>Superflush</a:t>
            </a:r>
            <a:r>
              <a:rPr lang="en-US" sz="1200" dirty="0">
                <a:latin typeface="Calibri" panose="020F0502020204030204" pitchFamily="34" charset="0"/>
                <a:cs typeface="Calibri" panose="020F0502020204030204" pitchFamily="34" charset="0"/>
              </a:rPr>
              <a:t> – less sequential writes, more random writes</a:t>
            </a:r>
          </a:p>
          <a:p>
            <a:pPr marL="171450" lvl="1" indent="-171450">
              <a:buFont typeface="Wingdings" panose="05000000000000000000" pitchFamily="2" charset="2"/>
              <a:buChar char="§"/>
            </a:pPr>
            <a:r>
              <a:rPr lang="en-US" sz="1200" dirty="0">
                <a:latin typeface="Calibri" panose="020F0502020204030204" pitchFamily="34" charset="0"/>
                <a:cs typeface="Calibri" panose="020F0502020204030204" pitchFamily="34" charset="0"/>
              </a:rPr>
              <a:t>RAID10 masks the impact of random writes</a:t>
            </a:r>
          </a:p>
          <a:p>
            <a:pPr marL="171450" lvl="1" indent="-171450">
              <a:buFont typeface="Wingdings" panose="05000000000000000000" pitchFamily="2" charset="2"/>
              <a:buChar char="§"/>
            </a:pPr>
            <a:r>
              <a:rPr lang="en-US" sz="1200" dirty="0">
                <a:latin typeface="Calibri" panose="020F0502020204030204" pitchFamily="34" charset="0"/>
                <a:cs typeface="Calibri" panose="020F0502020204030204" pitchFamily="34" charset="0"/>
              </a:rPr>
              <a:t>RAID6 is the lowest performing configuration when random writes take hold</a:t>
            </a:r>
          </a:p>
        </p:txBody>
      </p:sp>
      <p:sp>
        <p:nvSpPr>
          <p:cNvPr id="7" name="Rectangle 6"/>
          <p:cNvSpPr/>
          <p:nvPr/>
        </p:nvSpPr>
        <p:spPr>
          <a:xfrm>
            <a:off x="395785" y="1030408"/>
            <a:ext cx="2579427" cy="955342"/>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400" b="1" dirty="0">
                <a:latin typeface="Calibri" panose="020F0502020204030204" pitchFamily="34" charset="0"/>
                <a:cs typeface="Calibri" panose="020F0502020204030204" pitchFamily="34" charset="0"/>
              </a:rPr>
              <a:t>When using native RGs </a:t>
            </a:r>
            <a:endParaRPr lang="en-US" sz="1400" b="1" dirty="0" smtClean="0">
              <a:latin typeface="Calibri" panose="020F0502020204030204" pitchFamily="34" charset="0"/>
              <a:cs typeface="Calibri" panose="020F0502020204030204" pitchFamily="34" charset="0"/>
            </a:endParaRPr>
          </a:p>
          <a:p>
            <a:pPr algn="ctr"/>
            <a:r>
              <a:rPr lang="en-US" sz="1400" b="1" dirty="0" smtClean="0">
                <a:latin typeface="Calibri" panose="020F0502020204030204" pitchFamily="34" charset="0"/>
                <a:cs typeface="Calibri" panose="020F0502020204030204" pitchFamily="34" charset="0"/>
              </a:rPr>
              <a:t>then create </a:t>
            </a:r>
            <a:r>
              <a:rPr lang="en-US" sz="1400" b="1" dirty="0">
                <a:solidFill>
                  <a:srgbClr val="FF0000"/>
                </a:solidFill>
                <a:latin typeface="Calibri" panose="020F0502020204030204" pitchFamily="34" charset="0"/>
                <a:cs typeface="Calibri" panose="020F0502020204030204" pitchFamily="34" charset="0"/>
              </a:rPr>
              <a:t>1 LUN per RG </a:t>
            </a:r>
            <a:endParaRPr lang="en-US" sz="1400" b="1" dirty="0" smtClean="0">
              <a:solidFill>
                <a:srgbClr val="FF0000"/>
              </a:solidFill>
              <a:latin typeface="Calibri" panose="020F0502020204030204" pitchFamily="34" charset="0"/>
              <a:cs typeface="Calibri" panose="020F0502020204030204" pitchFamily="34" charset="0"/>
            </a:endParaRPr>
          </a:p>
          <a:p>
            <a:pPr algn="ctr"/>
            <a:r>
              <a:rPr lang="en-US" sz="1400" b="1" dirty="0" smtClean="0">
                <a:latin typeface="Calibri" panose="020F0502020204030204" pitchFamily="34" charset="0"/>
                <a:cs typeface="Calibri" panose="020F0502020204030204" pitchFamily="34" charset="0"/>
              </a:rPr>
              <a:t>and </a:t>
            </a:r>
          </a:p>
          <a:p>
            <a:pPr algn="ctr"/>
            <a:r>
              <a:rPr lang="en-US" sz="1400" b="1" dirty="0" smtClean="0">
                <a:solidFill>
                  <a:srgbClr val="FF0000"/>
                </a:solidFill>
                <a:latin typeface="Calibri" panose="020F0502020204030204" pitchFamily="34" charset="0"/>
                <a:cs typeface="Calibri" panose="020F0502020204030204" pitchFamily="34" charset="0"/>
              </a:rPr>
              <a:t>1 </a:t>
            </a:r>
            <a:r>
              <a:rPr lang="en-US" sz="1400" b="1" dirty="0">
                <a:solidFill>
                  <a:srgbClr val="FF0000"/>
                </a:solidFill>
                <a:latin typeface="Calibri" panose="020F0502020204030204" pitchFamily="34" charset="0"/>
                <a:cs typeface="Calibri" panose="020F0502020204030204" pitchFamily="34" charset="0"/>
              </a:rPr>
              <a:t>SDG per SD</a:t>
            </a:r>
          </a:p>
        </p:txBody>
      </p:sp>
      <p:sp>
        <p:nvSpPr>
          <p:cNvPr id="8" name="Rectangle 7"/>
          <p:cNvSpPr/>
          <p:nvPr/>
        </p:nvSpPr>
        <p:spPr>
          <a:xfrm>
            <a:off x="3243616" y="1030407"/>
            <a:ext cx="2579427" cy="955342"/>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400" b="1" dirty="0">
                <a:latin typeface="Calibri" panose="020F0502020204030204" pitchFamily="34" charset="0"/>
                <a:cs typeface="Calibri" panose="020F0502020204030204" pitchFamily="34" charset="0"/>
              </a:rPr>
              <a:t>600GB drives (more risk with 900GB drives), but </a:t>
            </a:r>
            <a:r>
              <a:rPr lang="en-US" sz="1400" b="1" dirty="0">
                <a:solidFill>
                  <a:srgbClr val="FF0000"/>
                </a:solidFill>
                <a:latin typeface="Calibri" panose="020F0502020204030204" pitchFamily="34" charset="0"/>
                <a:cs typeface="Calibri" panose="020F0502020204030204" pitchFamily="34" charset="0"/>
              </a:rPr>
              <a:t>RAID6</a:t>
            </a:r>
            <a:r>
              <a:rPr lang="en-US" sz="1400" b="1" dirty="0">
                <a:latin typeface="Calibri" panose="020F0502020204030204" pitchFamily="34" charset="0"/>
                <a:cs typeface="Calibri" panose="020F0502020204030204" pitchFamily="34" charset="0"/>
              </a:rPr>
              <a:t> recommended with </a:t>
            </a:r>
            <a:r>
              <a:rPr lang="en-US" sz="1400" b="1" dirty="0" smtClean="0">
                <a:latin typeface="Calibri" panose="020F0502020204030204" pitchFamily="34" charset="0"/>
                <a:cs typeface="Calibri" panose="020F0502020204030204" pitchFamily="34" charset="0"/>
              </a:rPr>
              <a:t>larger </a:t>
            </a:r>
            <a:r>
              <a:rPr lang="en-US" sz="1400" b="1" dirty="0">
                <a:latin typeface="Calibri" panose="020F0502020204030204" pitchFamily="34" charset="0"/>
                <a:cs typeface="Calibri" panose="020F0502020204030204" pitchFamily="34" charset="0"/>
              </a:rPr>
              <a:t>drives and large pools.</a:t>
            </a:r>
          </a:p>
        </p:txBody>
      </p:sp>
      <p:sp>
        <p:nvSpPr>
          <p:cNvPr id="9" name="Rectangle 8"/>
          <p:cNvSpPr/>
          <p:nvPr/>
        </p:nvSpPr>
        <p:spPr>
          <a:xfrm>
            <a:off x="6123293" y="1030406"/>
            <a:ext cx="2579427" cy="955342"/>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400" b="1" dirty="0">
                <a:solidFill>
                  <a:srgbClr val="FF0000"/>
                </a:solidFill>
                <a:latin typeface="Calibri" panose="020F0502020204030204" pitchFamily="34" charset="0"/>
                <a:cs typeface="Calibri" panose="020F0502020204030204" pitchFamily="34" charset="0"/>
              </a:rPr>
              <a:t>RAID10 2+2 </a:t>
            </a:r>
            <a:r>
              <a:rPr lang="en-US" sz="1400" b="1" dirty="0">
                <a:latin typeface="Calibri" panose="020F0502020204030204" pitchFamily="34" charset="0"/>
                <a:cs typeface="Calibri" panose="020F0502020204030204" pitchFamily="34" charset="0"/>
              </a:rPr>
              <a:t>works best in </a:t>
            </a:r>
          </a:p>
          <a:p>
            <a:pPr algn="ctr"/>
            <a:r>
              <a:rPr lang="en-US" sz="1400" b="1" dirty="0">
                <a:latin typeface="Calibri" panose="020F0502020204030204" pitchFamily="34" charset="0"/>
                <a:cs typeface="Calibri" panose="020F0502020204030204" pitchFamily="34" charset="0"/>
              </a:rPr>
              <a:t>file systems/workloads </a:t>
            </a:r>
          </a:p>
          <a:p>
            <a:pPr algn="ctr"/>
            <a:r>
              <a:rPr lang="en-US" sz="1400" b="1" dirty="0">
                <a:latin typeface="Calibri" panose="020F0502020204030204" pitchFamily="34" charset="0"/>
                <a:cs typeface="Calibri" panose="020F0502020204030204" pitchFamily="34" charset="0"/>
              </a:rPr>
              <a:t>that </a:t>
            </a:r>
          </a:p>
          <a:p>
            <a:pPr algn="ctr"/>
            <a:r>
              <a:rPr lang="en-US" sz="1400" b="1" dirty="0">
                <a:latin typeface="Calibri" panose="020F0502020204030204" pitchFamily="34" charset="0"/>
                <a:cs typeface="Calibri" panose="020F0502020204030204" pitchFamily="34" charset="0"/>
              </a:rPr>
              <a:t>experience significant “churn”</a:t>
            </a:r>
          </a:p>
        </p:txBody>
      </p:sp>
    </p:spTree>
    <p:custDataLst>
      <p:tags r:id="rId1"/>
    </p:custDataLst>
    <p:extLst>
      <p:ext uri="{BB962C8B-B14F-4D97-AF65-F5344CB8AC3E}">
        <p14:creationId xmlns:p14="http://schemas.microsoft.com/office/powerpoint/2010/main" val="3807785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cap="all" dirty="0"/>
              <a:t>Storage POOLS and STRIPESETS</a:t>
            </a:r>
          </a:p>
        </p:txBody>
      </p:sp>
      <p:sp>
        <p:nvSpPr>
          <p:cNvPr id="8" name="Rectangle 50"/>
          <p:cNvSpPr>
            <a:spLocks noChangeArrowheads="1"/>
          </p:cNvSpPr>
          <p:nvPr/>
        </p:nvSpPr>
        <p:spPr bwMode="auto">
          <a:xfrm>
            <a:off x="920803" y="4281535"/>
            <a:ext cx="777423" cy="410765"/>
          </a:xfrm>
          <a:prstGeom prst="rect">
            <a:avLst/>
          </a:prstGeom>
          <a:solidFill>
            <a:srgbClr val="00B050"/>
          </a:solid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LU</a:t>
            </a:r>
            <a:endParaRPr lang="en-US" b="1" dirty="0">
              <a:latin typeface="Calibri" panose="020F0502020204030204" pitchFamily="34" charset="0"/>
              <a:cs typeface="Calibri" panose="020F0502020204030204" pitchFamily="34" charset="0"/>
            </a:endParaRPr>
          </a:p>
        </p:txBody>
      </p:sp>
      <p:sp>
        <p:nvSpPr>
          <p:cNvPr id="9" name="Rectangle 51"/>
          <p:cNvSpPr>
            <a:spLocks noChangeArrowheads="1"/>
          </p:cNvSpPr>
          <p:nvPr/>
        </p:nvSpPr>
        <p:spPr bwMode="auto">
          <a:xfrm>
            <a:off x="2484100" y="4281535"/>
            <a:ext cx="777423" cy="410765"/>
          </a:xfrm>
          <a:prstGeom prst="rect">
            <a:avLst/>
          </a:prstGeom>
          <a:solidFill>
            <a:srgbClr val="00B050"/>
          </a:solid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LU</a:t>
            </a:r>
            <a:endParaRPr lang="en-US" b="1" dirty="0">
              <a:latin typeface="Calibri" panose="020F0502020204030204" pitchFamily="34" charset="0"/>
              <a:cs typeface="Calibri" panose="020F0502020204030204" pitchFamily="34" charset="0"/>
            </a:endParaRPr>
          </a:p>
        </p:txBody>
      </p:sp>
      <p:sp>
        <p:nvSpPr>
          <p:cNvPr id="10" name="Rectangle 52"/>
          <p:cNvSpPr>
            <a:spLocks noChangeArrowheads="1"/>
          </p:cNvSpPr>
          <p:nvPr/>
        </p:nvSpPr>
        <p:spPr bwMode="auto">
          <a:xfrm>
            <a:off x="1700339" y="4281535"/>
            <a:ext cx="775311" cy="410765"/>
          </a:xfrm>
          <a:prstGeom prst="rect">
            <a:avLst/>
          </a:prstGeom>
          <a:solidFill>
            <a:srgbClr val="00B050"/>
          </a:solid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LU</a:t>
            </a:r>
            <a:endParaRPr lang="en-US" b="1" dirty="0">
              <a:latin typeface="Calibri" panose="020F0502020204030204" pitchFamily="34" charset="0"/>
              <a:cs typeface="Calibri" panose="020F0502020204030204" pitchFamily="34" charset="0"/>
            </a:endParaRPr>
          </a:p>
        </p:txBody>
      </p:sp>
      <p:sp>
        <p:nvSpPr>
          <p:cNvPr id="11" name="Rectangle 53"/>
          <p:cNvSpPr>
            <a:spLocks noChangeArrowheads="1"/>
          </p:cNvSpPr>
          <p:nvPr/>
        </p:nvSpPr>
        <p:spPr bwMode="auto">
          <a:xfrm>
            <a:off x="3261523" y="4281535"/>
            <a:ext cx="777423" cy="410765"/>
          </a:xfrm>
          <a:prstGeom prst="rect">
            <a:avLst/>
          </a:prstGeom>
          <a:solidFill>
            <a:srgbClr val="00B050"/>
          </a:solid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LU</a:t>
            </a:r>
            <a:endParaRPr lang="en-US" b="1" dirty="0">
              <a:latin typeface="Calibri" panose="020F0502020204030204" pitchFamily="34" charset="0"/>
              <a:cs typeface="Calibri" panose="020F0502020204030204" pitchFamily="34" charset="0"/>
            </a:endParaRPr>
          </a:p>
        </p:txBody>
      </p:sp>
      <p:sp>
        <p:nvSpPr>
          <p:cNvPr id="14" name="Rectangle 35"/>
          <p:cNvSpPr>
            <a:spLocks noChangeArrowheads="1"/>
          </p:cNvSpPr>
          <p:nvPr/>
        </p:nvSpPr>
        <p:spPr bwMode="auto">
          <a:xfrm>
            <a:off x="920803" y="3321992"/>
            <a:ext cx="777423" cy="410765"/>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15" name="Rectangle 36"/>
          <p:cNvSpPr>
            <a:spLocks noChangeArrowheads="1"/>
          </p:cNvSpPr>
          <p:nvPr/>
        </p:nvSpPr>
        <p:spPr bwMode="auto">
          <a:xfrm>
            <a:off x="2484100" y="3321992"/>
            <a:ext cx="777423" cy="410765"/>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16" name="Rectangle 37"/>
          <p:cNvSpPr>
            <a:spLocks noChangeArrowheads="1"/>
          </p:cNvSpPr>
          <p:nvPr/>
        </p:nvSpPr>
        <p:spPr bwMode="auto">
          <a:xfrm>
            <a:off x="1700339" y="3321992"/>
            <a:ext cx="775311" cy="410765"/>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17" name="Rectangle 38"/>
          <p:cNvSpPr>
            <a:spLocks noChangeArrowheads="1"/>
          </p:cNvSpPr>
          <p:nvPr/>
        </p:nvSpPr>
        <p:spPr bwMode="auto">
          <a:xfrm>
            <a:off x="3261523" y="3321992"/>
            <a:ext cx="777423" cy="410765"/>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sp>
        <p:nvSpPr>
          <p:cNvPr id="20" name="Rectangle 33"/>
          <p:cNvSpPr>
            <a:spLocks noChangeArrowheads="1"/>
          </p:cNvSpPr>
          <p:nvPr/>
        </p:nvSpPr>
        <p:spPr bwMode="auto">
          <a:xfrm rot="10800000">
            <a:off x="474390" y="1560741"/>
            <a:ext cx="3852560" cy="339097"/>
          </a:xfrm>
          <a:prstGeom prst="rect">
            <a:avLst/>
          </a:prstGeom>
          <a:solidFill>
            <a:srgbClr val="99CCFF"/>
          </a:solidFill>
          <a:ln w="9525">
            <a:solidFill>
              <a:schemeClr val="tx1"/>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grpSp>
        <p:nvGrpSpPr>
          <p:cNvPr id="21" name="Group 61"/>
          <p:cNvGrpSpPr>
            <a:grpSpLocks/>
          </p:cNvGrpSpPr>
          <p:nvPr/>
        </p:nvGrpSpPr>
        <p:grpSpPr bwMode="auto">
          <a:xfrm>
            <a:off x="484924" y="1901031"/>
            <a:ext cx="3839016" cy="425053"/>
            <a:chOff x="1069" y="1662"/>
            <a:chExt cx="1817" cy="197"/>
          </a:xfrm>
        </p:grpSpPr>
        <p:sp>
          <p:nvSpPr>
            <p:cNvPr id="22" name="Rectangle 62"/>
            <p:cNvSpPr>
              <a:spLocks noChangeArrowheads="1"/>
            </p:cNvSpPr>
            <p:nvPr/>
          </p:nvSpPr>
          <p:spPr bwMode="auto">
            <a:xfrm>
              <a:off x="2731" y="1662"/>
              <a:ext cx="155" cy="196"/>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23" name="Rectangle 63"/>
            <p:cNvSpPr>
              <a:spLocks noChangeArrowheads="1"/>
            </p:cNvSpPr>
            <p:nvPr/>
          </p:nvSpPr>
          <p:spPr bwMode="auto">
            <a:xfrm>
              <a:off x="2583" y="1662"/>
              <a:ext cx="148" cy="195"/>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24" name="Rectangle 64"/>
            <p:cNvSpPr>
              <a:spLocks noChangeArrowheads="1"/>
            </p:cNvSpPr>
            <p:nvPr/>
          </p:nvSpPr>
          <p:spPr bwMode="auto">
            <a:xfrm>
              <a:off x="2435" y="1662"/>
              <a:ext cx="148" cy="196"/>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25" name="Rectangle 65"/>
            <p:cNvSpPr>
              <a:spLocks noChangeArrowheads="1"/>
            </p:cNvSpPr>
            <p:nvPr/>
          </p:nvSpPr>
          <p:spPr bwMode="auto">
            <a:xfrm>
              <a:off x="2281" y="1662"/>
              <a:ext cx="152" cy="195"/>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26" name="Rectangle 66"/>
            <p:cNvSpPr>
              <a:spLocks noChangeArrowheads="1"/>
            </p:cNvSpPr>
            <p:nvPr/>
          </p:nvSpPr>
          <p:spPr bwMode="auto">
            <a:xfrm>
              <a:off x="2122" y="1663"/>
              <a:ext cx="155" cy="196"/>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27" name="Rectangle 67"/>
            <p:cNvSpPr>
              <a:spLocks noChangeArrowheads="1"/>
            </p:cNvSpPr>
            <p:nvPr/>
          </p:nvSpPr>
          <p:spPr bwMode="auto">
            <a:xfrm>
              <a:off x="1974" y="1663"/>
              <a:ext cx="148" cy="195"/>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28" name="Rectangle 68"/>
            <p:cNvSpPr>
              <a:spLocks noChangeArrowheads="1"/>
            </p:cNvSpPr>
            <p:nvPr/>
          </p:nvSpPr>
          <p:spPr bwMode="auto">
            <a:xfrm>
              <a:off x="1825" y="1663"/>
              <a:ext cx="149" cy="196"/>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29" name="Rectangle 69"/>
            <p:cNvSpPr>
              <a:spLocks noChangeArrowheads="1"/>
            </p:cNvSpPr>
            <p:nvPr/>
          </p:nvSpPr>
          <p:spPr bwMode="auto">
            <a:xfrm>
              <a:off x="1672" y="1663"/>
              <a:ext cx="151" cy="195"/>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30" name="Rectangle 70"/>
            <p:cNvSpPr>
              <a:spLocks noChangeArrowheads="1"/>
            </p:cNvSpPr>
            <p:nvPr/>
          </p:nvSpPr>
          <p:spPr bwMode="auto">
            <a:xfrm>
              <a:off x="1519" y="1663"/>
              <a:ext cx="155" cy="196"/>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31" name="Rectangle 71"/>
            <p:cNvSpPr>
              <a:spLocks noChangeArrowheads="1"/>
            </p:cNvSpPr>
            <p:nvPr/>
          </p:nvSpPr>
          <p:spPr bwMode="auto">
            <a:xfrm>
              <a:off x="1371" y="1663"/>
              <a:ext cx="148" cy="195"/>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32" name="Rectangle 72"/>
            <p:cNvSpPr>
              <a:spLocks noChangeArrowheads="1"/>
            </p:cNvSpPr>
            <p:nvPr/>
          </p:nvSpPr>
          <p:spPr bwMode="auto">
            <a:xfrm>
              <a:off x="1223" y="1663"/>
              <a:ext cx="148" cy="196"/>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33" name="Rectangle 73"/>
            <p:cNvSpPr>
              <a:spLocks noChangeArrowheads="1"/>
            </p:cNvSpPr>
            <p:nvPr/>
          </p:nvSpPr>
          <p:spPr bwMode="auto">
            <a:xfrm>
              <a:off x="1069" y="1663"/>
              <a:ext cx="152" cy="195"/>
            </a:xfrm>
            <a:prstGeom prst="rect">
              <a:avLst/>
            </a:prstGeom>
            <a:solidFill>
              <a:schemeClr val="bg2"/>
            </a:solidFill>
            <a:ln w="9525">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grpSp>
      <p:sp>
        <p:nvSpPr>
          <p:cNvPr id="34" name="Text Box 87"/>
          <p:cNvSpPr txBox="1">
            <a:spLocks noChangeArrowheads="1"/>
          </p:cNvSpPr>
          <p:nvPr/>
        </p:nvSpPr>
        <p:spPr bwMode="auto">
          <a:xfrm>
            <a:off x="484924" y="1923058"/>
            <a:ext cx="3839016" cy="369332"/>
          </a:xfrm>
          <a:prstGeom prst="rect">
            <a:avLst/>
          </a:prstGeom>
          <a:noFill/>
          <a:ln w="9525">
            <a:noFill/>
            <a:miter lim="800000"/>
            <a:headEnd/>
            <a:tailEnd/>
          </a:ln>
        </p:spPr>
        <p:txBody>
          <a:bodyPr wrap="square">
            <a:spAutoFit/>
          </a:bodyPr>
          <a:lstStyle/>
          <a:p>
            <a:pPr algn="ctr">
              <a:spcBef>
                <a:spcPct val="50000"/>
              </a:spcBef>
            </a:pPr>
            <a:r>
              <a:rPr lang="en-US" dirty="0">
                <a:latin typeface="Calibri" panose="020F0502020204030204" pitchFamily="34" charset="0"/>
                <a:cs typeface="Calibri" panose="020F0502020204030204" pitchFamily="34" charset="0"/>
              </a:rPr>
              <a:t>Chunks</a:t>
            </a:r>
          </a:p>
        </p:txBody>
      </p:sp>
      <p:sp>
        <p:nvSpPr>
          <p:cNvPr id="35" name="Rectangle 37"/>
          <p:cNvSpPr>
            <a:spLocks noChangeArrowheads="1"/>
          </p:cNvSpPr>
          <p:nvPr/>
        </p:nvSpPr>
        <p:spPr bwMode="auto">
          <a:xfrm rot="10800000">
            <a:off x="484919" y="1191408"/>
            <a:ext cx="3854065" cy="1136103"/>
          </a:xfrm>
          <a:prstGeom prst="rect">
            <a:avLst/>
          </a:prstGeom>
          <a:noFill/>
          <a:ln w="38100">
            <a:solidFill>
              <a:schemeClr val="tx1"/>
            </a:solidFill>
            <a:miter lim="800000"/>
            <a:headEnd/>
            <a:tailEnd/>
          </a:ln>
        </p:spPr>
        <p:txBody>
          <a:bodyPr wrap="none" anchor="ctr"/>
          <a:lstStyle/>
          <a:p>
            <a:endParaRPr lang="en-US">
              <a:latin typeface="Calibri" panose="020F0502020204030204" pitchFamily="34" charset="0"/>
              <a:cs typeface="Calibri" panose="020F0502020204030204" pitchFamily="34" charset="0"/>
            </a:endParaRPr>
          </a:p>
        </p:txBody>
      </p:sp>
      <p:sp>
        <p:nvSpPr>
          <p:cNvPr id="36" name="Text Box 38"/>
          <p:cNvSpPr txBox="1">
            <a:spLocks noChangeArrowheads="1"/>
          </p:cNvSpPr>
          <p:nvPr/>
        </p:nvSpPr>
        <p:spPr bwMode="auto">
          <a:xfrm>
            <a:off x="484924" y="1529556"/>
            <a:ext cx="3839016" cy="369332"/>
          </a:xfrm>
          <a:prstGeom prst="rect">
            <a:avLst/>
          </a:prstGeom>
          <a:noFill/>
          <a:ln w="9525">
            <a:noFill/>
            <a:miter lim="800000"/>
            <a:headEnd/>
            <a:tailEnd/>
          </a:ln>
        </p:spPr>
        <p:txBody>
          <a:bodyPr wrap="square">
            <a:spAutoFit/>
          </a:bodyPr>
          <a:lstStyle/>
          <a:p>
            <a:pPr algn="ctr">
              <a:spcBef>
                <a:spcPct val="50000"/>
              </a:spcBef>
            </a:pPr>
            <a:r>
              <a:rPr lang="en-US" dirty="0" smtClean="0">
                <a:latin typeface="Calibri" panose="020F0502020204030204" pitchFamily="34" charset="0"/>
                <a:cs typeface="Calibri" panose="020F0502020204030204" pitchFamily="34" charset="0"/>
              </a:rPr>
              <a:t>STRIPESET</a:t>
            </a:r>
            <a:endParaRPr lang="en-US" dirty="0">
              <a:latin typeface="Calibri" panose="020F0502020204030204" pitchFamily="34" charset="0"/>
              <a:cs typeface="Calibri" panose="020F0502020204030204" pitchFamily="34" charset="0"/>
            </a:endParaRPr>
          </a:p>
        </p:txBody>
      </p:sp>
      <p:sp>
        <p:nvSpPr>
          <p:cNvPr id="37" name="Down Arrow 36"/>
          <p:cNvSpPr/>
          <p:nvPr/>
        </p:nvSpPr>
        <p:spPr>
          <a:xfrm rot="10800000">
            <a:off x="1257286" y="2504649"/>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nvGrpSpPr>
          <p:cNvPr id="38" name="Group 37"/>
          <p:cNvGrpSpPr/>
          <p:nvPr/>
        </p:nvGrpSpPr>
        <p:grpSpPr>
          <a:xfrm>
            <a:off x="1220975" y="3831453"/>
            <a:ext cx="2524606" cy="348019"/>
            <a:chOff x="798078" y="1624084"/>
            <a:chExt cx="2524606" cy="348019"/>
          </a:xfrm>
          <a:effectLst>
            <a:outerShdw blurRad="50800" dist="38100" dir="2700000" algn="tl" rotWithShape="0">
              <a:prstClr val="black">
                <a:alpha val="40000"/>
              </a:prstClr>
            </a:outerShdw>
          </a:effectLst>
        </p:grpSpPr>
        <p:sp>
          <p:nvSpPr>
            <p:cNvPr id="39" name="Down Arrow 38"/>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40" name="Down Arrow 39"/>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41" name="Down Arrow 40"/>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42" name="Down Arrow 41"/>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
        <p:nvSpPr>
          <p:cNvPr id="44" name="Content Placeholder 2"/>
          <p:cNvSpPr txBox="1">
            <a:spLocks/>
          </p:cNvSpPr>
          <p:nvPr/>
        </p:nvSpPr>
        <p:spPr>
          <a:xfrm>
            <a:off x="4531057" y="1071587"/>
            <a:ext cx="4442346" cy="3524042"/>
          </a:xfrm>
          <a:prstGeom prst="rect">
            <a:avLst/>
          </a:prstGeom>
        </p:spPr>
        <p:txBody>
          <a:bodyPr vert="horz" wrap="square" lIns="91440" tIns="45720" rIns="91440" bIns="45720" rtlCol="0">
            <a:spAutoFit/>
          </a:bodyPr>
          <a:lstStyle>
            <a:lvl1pPr marL="280988" indent="-280988" algn="l" defTabSz="914400" rtl="0" eaLnBrk="1" latinLnBrk="0" hangingPunct="1">
              <a:lnSpc>
                <a:spcPct val="100000"/>
              </a:lnSpc>
              <a:spcBef>
                <a:spcPts val="1200"/>
              </a:spcBef>
              <a:spcAft>
                <a:spcPts val="600"/>
              </a:spcAft>
              <a:buClr>
                <a:schemeClr val="accent2"/>
              </a:buClr>
              <a:buFont typeface="Wingdings" charset="2"/>
              <a:buChar char="§"/>
              <a:defRPr lang="en-US" sz="2200" kern="1200" dirty="0" smtClean="0">
                <a:solidFill>
                  <a:schemeClr val="tx1"/>
                </a:solidFill>
                <a:latin typeface="+mn-lt"/>
                <a:ea typeface="+mn-ea"/>
                <a:cs typeface="+mn-cs"/>
              </a:defRPr>
            </a:lvl1pPr>
            <a:lvl2pPr marL="574675" indent="-293688" algn="l" defTabSz="914400" rtl="0" eaLnBrk="1" latinLnBrk="0" hangingPunct="1">
              <a:lnSpc>
                <a:spcPct val="95000"/>
              </a:lnSpc>
              <a:spcBef>
                <a:spcPct val="20000"/>
              </a:spcBef>
              <a:spcAft>
                <a:spcPts val="800"/>
              </a:spcAft>
              <a:buFontTx/>
              <a:buChar char="‒"/>
              <a:defRPr lang="en-US" sz="2000" kern="1200" dirty="0" smtClean="0">
                <a:solidFill>
                  <a:schemeClr val="tx1"/>
                </a:solidFill>
                <a:latin typeface="+mn-lt"/>
                <a:ea typeface="+mn-ea"/>
                <a:cs typeface="+mn-cs"/>
              </a:defRPr>
            </a:lvl2pPr>
            <a:lvl3pPr marL="855663" indent="-280988" algn="l" defTabSz="914400" rtl="0" eaLnBrk="1" latinLnBrk="0" hangingPunct="1">
              <a:lnSpc>
                <a:spcPct val="95000"/>
              </a:lnSpc>
              <a:spcBef>
                <a:spcPts val="0"/>
              </a:spcBef>
              <a:spcAft>
                <a:spcPts val="800"/>
              </a:spcAft>
              <a:buFontTx/>
              <a:buChar char="‒"/>
              <a:defRPr lang="en-US" sz="1800" kern="1200" dirty="0" smtClean="0">
                <a:solidFill>
                  <a:schemeClr val="tx1"/>
                </a:solidFill>
                <a:latin typeface="+mn-lt"/>
                <a:ea typeface="+mn-ea"/>
                <a:cs typeface="+mn-cs"/>
              </a:defRPr>
            </a:lvl3pPr>
            <a:lvl4pPr marL="1090613" indent="-234950" algn="l" defTabSz="914400" rtl="0" eaLnBrk="1" latinLnBrk="0" hangingPunct="1">
              <a:lnSpc>
                <a:spcPct val="95000"/>
              </a:lnSpc>
              <a:spcBef>
                <a:spcPts val="0"/>
              </a:spcBef>
              <a:spcAft>
                <a:spcPts val="800"/>
              </a:spcAft>
              <a:buFontTx/>
              <a:buChar char="‒"/>
              <a:defRPr lang="en-US" sz="1800" kern="1200" dirty="0" smtClean="0">
                <a:solidFill>
                  <a:schemeClr val="tx1"/>
                </a:solidFill>
                <a:latin typeface="+mn-lt"/>
                <a:ea typeface="+mn-ea"/>
                <a:cs typeface="+mn-cs"/>
              </a:defRPr>
            </a:lvl4pPr>
            <a:lvl5pPr marL="1312863" indent="-222250" algn="l" defTabSz="914400" rtl="0" eaLnBrk="1" latinLnBrk="0" hangingPunct="1">
              <a:lnSpc>
                <a:spcPct val="95000"/>
              </a:lnSpc>
              <a:spcBef>
                <a:spcPts val="0"/>
              </a:spcBef>
              <a:spcAft>
                <a:spcPts val="800"/>
              </a:spcAft>
              <a:buFontTx/>
              <a:buChar char="‒"/>
              <a:defRPr lang="en-US" sz="1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5888" indent="-115888">
              <a:spcBef>
                <a:spcPts val="0"/>
              </a:spcBef>
              <a:spcAft>
                <a:spcPts val="0"/>
              </a:spcAft>
            </a:pPr>
            <a:r>
              <a:rPr lang="en-US" sz="1200" dirty="0" smtClean="0"/>
              <a:t>HNAS Storage Pool/Span consists of one or more System Drives (SD) </a:t>
            </a:r>
            <a:br>
              <a:rPr lang="en-US" sz="1200" dirty="0" smtClean="0"/>
            </a:br>
            <a:endParaRPr lang="en-US" sz="1200" dirty="0" smtClean="0"/>
          </a:p>
          <a:p>
            <a:pPr marL="409575" lvl="1" indent="-115888">
              <a:spcBef>
                <a:spcPts val="0"/>
              </a:spcBef>
              <a:spcAft>
                <a:spcPts val="0"/>
              </a:spcAft>
            </a:pPr>
            <a:r>
              <a:rPr lang="en-US" sz="1000" dirty="0" smtClean="0"/>
              <a:t>The term “Span” and “Storage Pool” are interchangeable.</a:t>
            </a:r>
            <a:br>
              <a:rPr lang="en-US" sz="1000" dirty="0" smtClean="0"/>
            </a:br>
            <a:endParaRPr lang="en-US" sz="1000" dirty="0" smtClean="0"/>
          </a:p>
          <a:p>
            <a:pPr marL="115888" indent="-115888">
              <a:spcBef>
                <a:spcPts val="0"/>
              </a:spcBef>
              <a:spcAft>
                <a:spcPts val="0"/>
              </a:spcAft>
            </a:pPr>
            <a:r>
              <a:rPr lang="en-US" sz="1200" dirty="0" smtClean="0"/>
              <a:t>HNAS creates an SD for each LUN that is discovered. System Drives must be allowed access before HNAS can utilize them.</a:t>
            </a:r>
            <a:br>
              <a:rPr lang="en-US" sz="1200" dirty="0" smtClean="0"/>
            </a:br>
            <a:endParaRPr lang="en-US" sz="1200" dirty="0" smtClean="0"/>
          </a:p>
          <a:p>
            <a:pPr marL="115888" indent="-115888">
              <a:spcBef>
                <a:spcPts val="0"/>
              </a:spcBef>
              <a:spcAft>
                <a:spcPts val="0"/>
              </a:spcAft>
            </a:pPr>
            <a:r>
              <a:rPr lang="en-US" sz="1200" dirty="0" smtClean="0"/>
              <a:t>When you initially create a span, the server creates a single </a:t>
            </a:r>
            <a:r>
              <a:rPr lang="en-US" sz="1200" dirty="0" err="1" smtClean="0"/>
              <a:t>stripeset</a:t>
            </a:r>
            <a:r>
              <a:rPr lang="en-US" sz="1200" dirty="0" smtClean="0"/>
              <a:t> using the specified SDs</a:t>
            </a:r>
            <a:br>
              <a:rPr lang="en-US" sz="1200" dirty="0" smtClean="0"/>
            </a:br>
            <a:endParaRPr lang="en-US" sz="1200" dirty="0" smtClean="0"/>
          </a:p>
          <a:p>
            <a:pPr marL="115888" indent="-115888">
              <a:spcBef>
                <a:spcPts val="0"/>
              </a:spcBef>
              <a:spcAft>
                <a:spcPts val="0"/>
              </a:spcAft>
            </a:pPr>
            <a:r>
              <a:rPr lang="en-US" sz="1200" dirty="0" smtClean="0"/>
              <a:t>This means that a large sequential I/O to one of the span's file systems will use several SDs to increases performance</a:t>
            </a:r>
            <a:br>
              <a:rPr lang="en-US" sz="1200" dirty="0" smtClean="0"/>
            </a:br>
            <a:endParaRPr lang="en-US" sz="1200" dirty="0" smtClean="0"/>
          </a:p>
          <a:p>
            <a:pPr marL="115888" indent="-115888">
              <a:spcBef>
                <a:spcPts val="0"/>
              </a:spcBef>
              <a:spcAft>
                <a:spcPts val="0"/>
              </a:spcAft>
            </a:pPr>
            <a:r>
              <a:rPr lang="en-US" sz="1200" dirty="0" smtClean="0"/>
              <a:t>Span capacity is broken down into chunks. File systems on the span are allocated chunks from this storage pool</a:t>
            </a:r>
            <a:br>
              <a:rPr lang="en-US" sz="1200" dirty="0" smtClean="0"/>
            </a:br>
            <a:endParaRPr lang="en-US" sz="1200" dirty="0" smtClean="0"/>
          </a:p>
          <a:p>
            <a:pPr marL="115888" indent="-115888">
              <a:spcBef>
                <a:spcPts val="0"/>
              </a:spcBef>
              <a:spcAft>
                <a:spcPts val="0"/>
              </a:spcAft>
            </a:pPr>
            <a:r>
              <a:rPr lang="en-US" sz="1200" dirty="0" smtClean="0"/>
              <a:t>A Span can be expanded but cannot be shrunk</a:t>
            </a:r>
            <a:endParaRPr lang="en-US" sz="1200" dirty="0"/>
          </a:p>
        </p:txBody>
      </p:sp>
      <p:sp>
        <p:nvSpPr>
          <p:cNvPr id="2" name="Oval 1"/>
          <p:cNvSpPr/>
          <p:nvPr/>
        </p:nvSpPr>
        <p:spPr>
          <a:xfrm>
            <a:off x="932604" y="307920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49" name="Oval 48"/>
          <p:cNvSpPr/>
          <p:nvPr/>
        </p:nvSpPr>
        <p:spPr>
          <a:xfrm>
            <a:off x="1709740" y="307919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0" name="Oval 49"/>
          <p:cNvSpPr/>
          <p:nvPr/>
        </p:nvSpPr>
        <p:spPr>
          <a:xfrm>
            <a:off x="2475650" y="307920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1" name="Oval 50"/>
          <p:cNvSpPr/>
          <p:nvPr/>
        </p:nvSpPr>
        <p:spPr>
          <a:xfrm>
            <a:off x="3248747" y="307919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nvGrpSpPr>
          <p:cNvPr id="3" name="Group 2"/>
          <p:cNvGrpSpPr/>
          <p:nvPr/>
        </p:nvGrpSpPr>
        <p:grpSpPr>
          <a:xfrm>
            <a:off x="513582" y="2218068"/>
            <a:ext cx="279493" cy="74477"/>
            <a:chOff x="164734" y="2422369"/>
            <a:chExt cx="868683" cy="196734"/>
          </a:xfrm>
        </p:grpSpPr>
        <p:sp>
          <p:nvSpPr>
            <p:cNvPr id="52" name="Oval 51"/>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3" name="Oval 52"/>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4" name="Oval 53"/>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5" name="Oval 54"/>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56" name="Group 55"/>
          <p:cNvGrpSpPr/>
          <p:nvPr/>
        </p:nvGrpSpPr>
        <p:grpSpPr>
          <a:xfrm>
            <a:off x="823000" y="2217914"/>
            <a:ext cx="279493" cy="74477"/>
            <a:chOff x="164734" y="2422369"/>
            <a:chExt cx="868683" cy="196734"/>
          </a:xfrm>
        </p:grpSpPr>
        <p:sp>
          <p:nvSpPr>
            <p:cNvPr id="57" name="Oval 56"/>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8" name="Oval 57"/>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59" name="Oval 58"/>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60" name="Oval 59"/>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61" name="Group 60"/>
          <p:cNvGrpSpPr/>
          <p:nvPr/>
        </p:nvGrpSpPr>
        <p:grpSpPr>
          <a:xfrm>
            <a:off x="1139601" y="2218068"/>
            <a:ext cx="279493" cy="74477"/>
            <a:chOff x="164734" y="2422369"/>
            <a:chExt cx="868683" cy="196734"/>
          </a:xfrm>
        </p:grpSpPr>
        <p:sp>
          <p:nvSpPr>
            <p:cNvPr id="62" name="Oval 61"/>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63" name="Oval 62"/>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64" name="Oval 63"/>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65" name="Oval 64"/>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66" name="Group 65"/>
          <p:cNvGrpSpPr/>
          <p:nvPr/>
        </p:nvGrpSpPr>
        <p:grpSpPr>
          <a:xfrm>
            <a:off x="1459695" y="2217913"/>
            <a:ext cx="279493" cy="74477"/>
            <a:chOff x="164734" y="2422369"/>
            <a:chExt cx="868683" cy="196734"/>
          </a:xfrm>
        </p:grpSpPr>
        <p:sp>
          <p:nvSpPr>
            <p:cNvPr id="67" name="Oval 66"/>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68" name="Oval 67"/>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69" name="Oval 68"/>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0" name="Oval 69"/>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
        <p:nvSpPr>
          <p:cNvPr id="4" name="TextBox 3"/>
          <p:cNvSpPr txBox="1"/>
          <p:nvPr/>
        </p:nvSpPr>
        <p:spPr>
          <a:xfrm>
            <a:off x="828402" y="3059970"/>
            <a:ext cx="490840" cy="246221"/>
          </a:xfrm>
          <a:prstGeom prst="rect">
            <a:avLst/>
          </a:prstGeom>
          <a:noFill/>
        </p:spPr>
        <p:txBody>
          <a:bodyPr wrap="none" rtlCol="0">
            <a:spAutoFit/>
          </a:bodyPr>
          <a:lstStyle/>
          <a:p>
            <a:r>
              <a:rPr lang="en-US" sz="1000" b="1" dirty="0" smtClean="0"/>
              <a:t>4MiB</a:t>
            </a:r>
            <a:endParaRPr lang="en-US" sz="1000" b="1" dirty="0"/>
          </a:p>
        </p:txBody>
      </p:sp>
      <p:grpSp>
        <p:nvGrpSpPr>
          <p:cNvPr id="71" name="Group 70"/>
          <p:cNvGrpSpPr/>
          <p:nvPr/>
        </p:nvGrpSpPr>
        <p:grpSpPr>
          <a:xfrm>
            <a:off x="1786049" y="2220015"/>
            <a:ext cx="279493" cy="74477"/>
            <a:chOff x="164734" y="2422369"/>
            <a:chExt cx="868683" cy="196734"/>
          </a:xfrm>
        </p:grpSpPr>
        <p:sp>
          <p:nvSpPr>
            <p:cNvPr id="72" name="Oval 71"/>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3" name="Oval 72"/>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4" name="Oval 73"/>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5" name="Oval 74"/>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76" name="Group 75"/>
          <p:cNvGrpSpPr/>
          <p:nvPr/>
        </p:nvGrpSpPr>
        <p:grpSpPr>
          <a:xfrm>
            <a:off x="2113549" y="2220015"/>
            <a:ext cx="279493" cy="74477"/>
            <a:chOff x="164734" y="2422369"/>
            <a:chExt cx="868683" cy="196734"/>
          </a:xfrm>
        </p:grpSpPr>
        <p:sp>
          <p:nvSpPr>
            <p:cNvPr id="77" name="Oval 76"/>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8" name="Oval 77"/>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79" name="Oval 78"/>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0" name="Oval 79"/>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81" name="Group 80"/>
          <p:cNvGrpSpPr/>
          <p:nvPr/>
        </p:nvGrpSpPr>
        <p:grpSpPr>
          <a:xfrm>
            <a:off x="2419269" y="2220015"/>
            <a:ext cx="279493" cy="74477"/>
            <a:chOff x="164734" y="2422369"/>
            <a:chExt cx="868683" cy="196734"/>
          </a:xfrm>
        </p:grpSpPr>
        <p:sp>
          <p:nvSpPr>
            <p:cNvPr id="82" name="Oval 81"/>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3" name="Oval 82"/>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4" name="Oval 83"/>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5" name="Oval 84"/>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86" name="Group 85"/>
          <p:cNvGrpSpPr/>
          <p:nvPr/>
        </p:nvGrpSpPr>
        <p:grpSpPr>
          <a:xfrm>
            <a:off x="2733733" y="2217912"/>
            <a:ext cx="279493" cy="74477"/>
            <a:chOff x="164734" y="2422369"/>
            <a:chExt cx="868683" cy="196734"/>
          </a:xfrm>
        </p:grpSpPr>
        <p:sp>
          <p:nvSpPr>
            <p:cNvPr id="87" name="Oval 86"/>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8" name="Oval 87"/>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9" name="Oval 88"/>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90" name="Oval 89"/>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91" name="Group 90"/>
          <p:cNvGrpSpPr/>
          <p:nvPr/>
        </p:nvGrpSpPr>
        <p:grpSpPr>
          <a:xfrm>
            <a:off x="3066505" y="2220015"/>
            <a:ext cx="279493" cy="74477"/>
            <a:chOff x="164734" y="2422369"/>
            <a:chExt cx="868683" cy="196734"/>
          </a:xfrm>
        </p:grpSpPr>
        <p:sp>
          <p:nvSpPr>
            <p:cNvPr id="92" name="Oval 91"/>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93" name="Oval 92"/>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94" name="Oval 93"/>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95" name="Oval 94"/>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96" name="Group 95"/>
          <p:cNvGrpSpPr/>
          <p:nvPr/>
        </p:nvGrpSpPr>
        <p:grpSpPr>
          <a:xfrm>
            <a:off x="3385790" y="2217911"/>
            <a:ext cx="279493" cy="74477"/>
            <a:chOff x="164734" y="2422369"/>
            <a:chExt cx="868683" cy="196734"/>
          </a:xfrm>
        </p:grpSpPr>
        <p:sp>
          <p:nvSpPr>
            <p:cNvPr id="97" name="Oval 96"/>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98" name="Oval 97"/>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99" name="Oval 98"/>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0" name="Oval 99"/>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101" name="Group 100"/>
          <p:cNvGrpSpPr/>
          <p:nvPr/>
        </p:nvGrpSpPr>
        <p:grpSpPr>
          <a:xfrm>
            <a:off x="3697593" y="2217910"/>
            <a:ext cx="279493" cy="74477"/>
            <a:chOff x="164734" y="2422369"/>
            <a:chExt cx="868683" cy="196734"/>
          </a:xfrm>
        </p:grpSpPr>
        <p:sp>
          <p:nvSpPr>
            <p:cNvPr id="102" name="Oval 101"/>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3" name="Oval 102"/>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4" name="Oval 103"/>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5" name="Oval 104"/>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106" name="Group 105"/>
          <p:cNvGrpSpPr/>
          <p:nvPr/>
        </p:nvGrpSpPr>
        <p:grpSpPr>
          <a:xfrm>
            <a:off x="4018288" y="2220015"/>
            <a:ext cx="279493" cy="74477"/>
            <a:chOff x="164734" y="2422369"/>
            <a:chExt cx="868683" cy="196734"/>
          </a:xfrm>
        </p:grpSpPr>
        <p:sp>
          <p:nvSpPr>
            <p:cNvPr id="107" name="Oval 106"/>
            <p:cNvSpPr/>
            <p:nvPr/>
          </p:nvSpPr>
          <p:spPr>
            <a:xfrm>
              <a:off x="164734" y="2422370"/>
              <a:ext cx="197190" cy="1967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8" name="Oval 107"/>
            <p:cNvSpPr/>
            <p:nvPr/>
          </p:nvSpPr>
          <p:spPr>
            <a:xfrm>
              <a:off x="383070" y="2422369"/>
              <a:ext cx="197190" cy="1967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9" name="Oval 108"/>
            <p:cNvSpPr/>
            <p:nvPr/>
          </p:nvSpPr>
          <p:spPr>
            <a:xfrm>
              <a:off x="609230" y="2422370"/>
              <a:ext cx="197190" cy="1967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0" name="Oval 109"/>
            <p:cNvSpPr/>
            <p:nvPr/>
          </p:nvSpPr>
          <p:spPr>
            <a:xfrm>
              <a:off x="836227" y="2422369"/>
              <a:ext cx="197190" cy="1967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
        <p:nvSpPr>
          <p:cNvPr id="6" name="Rectangle 5"/>
          <p:cNvSpPr/>
          <p:nvPr/>
        </p:nvSpPr>
        <p:spPr>
          <a:xfrm>
            <a:off x="915600" y="3049060"/>
            <a:ext cx="3123346" cy="263364"/>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2" name="TextBox 111"/>
          <p:cNvSpPr txBox="1"/>
          <p:nvPr/>
        </p:nvSpPr>
        <p:spPr>
          <a:xfrm>
            <a:off x="2056327" y="2852666"/>
            <a:ext cx="785793" cy="215444"/>
          </a:xfrm>
          <a:prstGeom prst="rect">
            <a:avLst/>
          </a:prstGeom>
          <a:noFill/>
        </p:spPr>
        <p:txBody>
          <a:bodyPr wrap="none" rtlCol="0">
            <a:spAutoFit/>
          </a:bodyPr>
          <a:lstStyle/>
          <a:p>
            <a:r>
              <a:rPr lang="en-US" sz="800" dirty="0" smtClean="0"/>
              <a:t>STRIPELINE</a:t>
            </a:r>
            <a:endParaRPr lang="en-US" sz="800" dirty="0"/>
          </a:p>
        </p:txBody>
      </p:sp>
      <p:sp>
        <p:nvSpPr>
          <p:cNvPr id="113" name="Text Box 38"/>
          <p:cNvSpPr txBox="1">
            <a:spLocks noChangeArrowheads="1"/>
          </p:cNvSpPr>
          <p:nvPr/>
        </p:nvSpPr>
        <p:spPr bwMode="auto">
          <a:xfrm>
            <a:off x="499970" y="1191409"/>
            <a:ext cx="3839016" cy="369332"/>
          </a:xfrm>
          <a:prstGeom prst="rect">
            <a:avLst/>
          </a:prstGeom>
          <a:noFill/>
          <a:ln w="9525">
            <a:noFill/>
            <a:miter lim="800000"/>
            <a:headEnd/>
            <a:tailEnd/>
          </a:ln>
        </p:spPr>
        <p:txBody>
          <a:bodyPr wrap="square">
            <a:spAutoFit/>
          </a:bodyPr>
          <a:lstStyle/>
          <a:p>
            <a:pPr algn="ctr">
              <a:spcBef>
                <a:spcPct val="50000"/>
              </a:spcBef>
            </a:pPr>
            <a:r>
              <a:rPr lang="en-US" dirty="0" smtClean="0">
                <a:latin typeface="Calibri" panose="020F0502020204030204" pitchFamily="34" charset="0"/>
                <a:cs typeface="Calibri" panose="020F0502020204030204" pitchFamily="34" charset="0"/>
              </a:rPr>
              <a:t>STORAGE POOL</a:t>
            </a:r>
            <a:endParaRPr lang="en-US" dirty="0">
              <a:latin typeface="Calibri" panose="020F0502020204030204" pitchFamily="34" charset="0"/>
              <a:cs typeface="Calibri" panose="020F0502020204030204" pitchFamily="34" charset="0"/>
            </a:endParaRPr>
          </a:p>
        </p:txBody>
      </p:sp>
      <p:sp>
        <p:nvSpPr>
          <p:cNvPr id="114" name="Down Arrow 113"/>
          <p:cNvSpPr/>
          <p:nvPr/>
        </p:nvSpPr>
        <p:spPr>
          <a:xfrm rot="10800000">
            <a:off x="2062083" y="2504649"/>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5" name="Down Arrow 114"/>
          <p:cNvSpPr/>
          <p:nvPr/>
        </p:nvSpPr>
        <p:spPr>
          <a:xfrm rot="10800000">
            <a:off x="2819695" y="2504649"/>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6" name="Down Arrow 115"/>
          <p:cNvSpPr/>
          <p:nvPr/>
        </p:nvSpPr>
        <p:spPr>
          <a:xfrm rot="10800000">
            <a:off x="3622015" y="2504649"/>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Tree>
    <p:custDataLst>
      <p:tags r:id="rId1"/>
    </p:custDataLst>
    <p:extLst>
      <p:ext uri="{BB962C8B-B14F-4D97-AF65-F5344CB8AC3E}">
        <p14:creationId xmlns:p14="http://schemas.microsoft.com/office/powerpoint/2010/main" val="2693599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3544047"/>
          </a:xfrm>
        </p:spPr>
        <p:txBody>
          <a:bodyPr/>
          <a:lstStyle/>
          <a:p>
            <a:r>
              <a:rPr lang="en-US" sz="1600" dirty="0" smtClean="0"/>
              <a:t>A stripeset must contain at </a:t>
            </a:r>
            <a:r>
              <a:rPr lang="en-US" sz="1600" b="1" i="1" dirty="0" smtClean="0">
                <a:solidFill>
                  <a:schemeClr val="accent4">
                    <a:lumMod val="75000"/>
                  </a:schemeClr>
                </a:solidFill>
              </a:rPr>
              <a:t>least 2 SDs</a:t>
            </a:r>
            <a:r>
              <a:rPr lang="en-US" sz="1600" dirty="0" smtClean="0"/>
              <a:t>, but a stripeset should be configured with a </a:t>
            </a:r>
            <a:r>
              <a:rPr lang="en-US" sz="1600" b="1" i="1" dirty="0">
                <a:solidFill>
                  <a:schemeClr val="accent4">
                    <a:lumMod val="75000"/>
                  </a:schemeClr>
                </a:solidFill>
              </a:rPr>
              <a:t>minimum of 4 SDs </a:t>
            </a:r>
            <a:r>
              <a:rPr lang="en-US" sz="1600" dirty="0" smtClean="0"/>
              <a:t>to provide sufficient Q-Depth to service I/O requests. More SDs per Stripeset provides more write queues for that stripeset. </a:t>
            </a:r>
          </a:p>
          <a:p>
            <a:r>
              <a:rPr lang="en-US" sz="1600" dirty="0" smtClean="0"/>
              <a:t>One should balance # of SDs per stripeset against performance and incremental expansion requirements</a:t>
            </a:r>
          </a:p>
          <a:p>
            <a:pPr lvl="1"/>
            <a:r>
              <a:rPr lang="en-US" sz="1400" dirty="0" smtClean="0"/>
              <a:t>If a customer knows a pool will never be expanded, one could place all SDs in a single stripeset</a:t>
            </a:r>
          </a:p>
          <a:p>
            <a:pPr lvl="1"/>
            <a:r>
              <a:rPr lang="en-US" sz="1400" dirty="0" smtClean="0"/>
              <a:t>If a customer has minimal performance requirements but desires very granular expansion then perhaps 2 SDs per Stripe set will work for them … As with all things ... It depends! Size it correctly to meet the customer’s performance expectation</a:t>
            </a:r>
          </a:p>
          <a:p>
            <a:pPr lvl="1"/>
            <a:r>
              <a:rPr lang="en-US" sz="1400" b="1" i="1" u="sng" dirty="0" smtClean="0">
                <a:solidFill>
                  <a:srgbClr val="FF0000"/>
                </a:solidFill>
              </a:rPr>
              <a:t>Never create a pool or expand a pool with only a single SD.</a:t>
            </a:r>
            <a:r>
              <a:rPr lang="en-US" sz="1400" b="1" i="1" dirty="0" smtClean="0">
                <a:solidFill>
                  <a:srgbClr val="FF0000"/>
                </a:solidFill>
              </a:rPr>
              <a:t>  </a:t>
            </a:r>
            <a:r>
              <a:rPr lang="en-US" sz="1400" dirty="0" smtClean="0"/>
              <a:t>It will create a significant storage bottleneck regardless of the underlying disk configuration</a:t>
            </a:r>
          </a:p>
          <a:p>
            <a:pPr lvl="1"/>
            <a:r>
              <a:rPr lang="en-US" sz="1400" dirty="0" smtClean="0"/>
              <a:t>Max SDs per Stripe set is 32</a:t>
            </a:r>
          </a:p>
        </p:txBody>
      </p:sp>
      <p:sp>
        <p:nvSpPr>
          <p:cNvPr id="4" name="Title 3"/>
          <p:cNvSpPr>
            <a:spLocks noGrp="1"/>
          </p:cNvSpPr>
          <p:nvPr>
            <p:ph type="title"/>
          </p:nvPr>
        </p:nvSpPr>
        <p:spPr/>
        <p:txBody>
          <a:bodyPr>
            <a:normAutofit/>
          </a:bodyPr>
          <a:lstStyle/>
          <a:p>
            <a:r>
              <a:rPr lang="en-US" dirty="0" smtClean="0"/>
              <a:t>STORAGE POOL BEST </a:t>
            </a:r>
            <a:r>
              <a:rPr lang="en-US" dirty="0"/>
              <a:t>PRACTICES</a:t>
            </a:r>
            <a:br>
              <a:rPr lang="en-US" dirty="0"/>
            </a:br>
            <a:r>
              <a:rPr lang="en-US" sz="1400" dirty="0" smtClean="0">
                <a:solidFill>
                  <a:schemeClr val="bg1">
                    <a:lumMod val="75000"/>
                  </a:schemeClr>
                </a:solidFill>
              </a:rPr>
              <a:t>STRIPESIZE</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373345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4247317"/>
          </a:xfrm>
        </p:spPr>
        <p:txBody>
          <a:bodyPr/>
          <a:lstStyle/>
          <a:p>
            <a:r>
              <a:rPr lang="en-US" sz="1600" dirty="0"/>
              <a:t>Every stripeset is divided into </a:t>
            </a:r>
            <a:r>
              <a:rPr lang="en-US" sz="1600" dirty="0" smtClean="0"/>
              <a:t>chunks</a:t>
            </a:r>
            <a:endParaRPr lang="en-US" sz="1600" dirty="0"/>
          </a:p>
          <a:p>
            <a:r>
              <a:rPr lang="en-US" sz="1600" dirty="0" smtClean="0"/>
              <a:t>A </a:t>
            </a:r>
            <a:r>
              <a:rPr lang="en-US" sz="1600" dirty="0"/>
              <a:t>chunk is a region of disk space taken from a single </a:t>
            </a:r>
            <a:r>
              <a:rPr lang="en-US" sz="1600" dirty="0" err="1" smtClean="0"/>
              <a:t>stripeset</a:t>
            </a:r>
            <a:endParaRPr lang="en-US" sz="1600" dirty="0" smtClean="0"/>
          </a:p>
          <a:p>
            <a:r>
              <a:rPr lang="en-US" sz="1600" dirty="0" smtClean="0"/>
              <a:t>Whole chunks must be allocated (cannot allocate a fractional chunk)</a:t>
            </a:r>
          </a:p>
          <a:p>
            <a:r>
              <a:rPr lang="en-US" sz="1600" dirty="0" smtClean="0"/>
              <a:t>It </a:t>
            </a:r>
            <a:r>
              <a:rPr lang="en-US" sz="1600" dirty="0"/>
              <a:t>starts at the same location on all the SDs in the stripeset, and it draws the same amount of space from each </a:t>
            </a:r>
            <a:r>
              <a:rPr lang="en-US" sz="1600" dirty="0" smtClean="0"/>
              <a:t>SD</a:t>
            </a:r>
          </a:p>
          <a:p>
            <a:r>
              <a:rPr lang="en-US" sz="1600" b="1" i="1" dirty="0" smtClean="0">
                <a:solidFill>
                  <a:schemeClr val="accent4">
                    <a:lumMod val="75000"/>
                  </a:schemeClr>
                </a:solidFill>
              </a:rPr>
              <a:t>Prior </a:t>
            </a:r>
            <a:r>
              <a:rPr lang="en-US" sz="1600" b="1" i="1" dirty="0">
                <a:solidFill>
                  <a:schemeClr val="accent4">
                    <a:lumMod val="75000"/>
                  </a:schemeClr>
                </a:solidFill>
              </a:rPr>
              <a:t>to HNAS </a:t>
            </a:r>
            <a:r>
              <a:rPr lang="en-US" sz="1600" b="1" i="1" dirty="0" smtClean="0">
                <a:solidFill>
                  <a:schemeClr val="accent4">
                    <a:lumMod val="75000"/>
                  </a:schemeClr>
                </a:solidFill>
              </a:rPr>
              <a:t>v11.2 </a:t>
            </a:r>
            <a:r>
              <a:rPr lang="en-US" sz="1600" dirty="0"/>
              <a:t>the selection of the chunk size required </a:t>
            </a:r>
            <a:r>
              <a:rPr lang="en-US" sz="1600" dirty="0" smtClean="0"/>
              <a:t>some </a:t>
            </a:r>
            <a:r>
              <a:rPr lang="en-US" sz="1600" dirty="0"/>
              <a:t>thought to balance granular capacity allocation and maximum scale</a:t>
            </a:r>
          </a:p>
          <a:p>
            <a:pPr lvl="1"/>
            <a:r>
              <a:rPr lang="en-US" sz="1400" dirty="0"/>
              <a:t>Pre-HNAS 11.2, max chunks per </a:t>
            </a:r>
            <a:r>
              <a:rPr lang="en-US" sz="1400" dirty="0" smtClean="0"/>
              <a:t>Storage Pool was </a:t>
            </a:r>
            <a:r>
              <a:rPr lang="en-US" sz="1400" dirty="0"/>
              <a:t>16,384 </a:t>
            </a:r>
            <a:r>
              <a:rPr lang="en-US" sz="1400" dirty="0" smtClean="0"/>
              <a:t>and per File System 1,023</a:t>
            </a:r>
            <a:endParaRPr lang="en-US" sz="1400" dirty="0"/>
          </a:p>
          <a:p>
            <a:pPr lvl="2"/>
            <a:r>
              <a:rPr lang="en-US" sz="1200" dirty="0"/>
              <a:t>Chunk size of 5GB </a:t>
            </a:r>
            <a:r>
              <a:rPr lang="en-US" sz="1200" dirty="0" smtClean="0"/>
              <a:t>restricted max File Systems size to ~5TB</a:t>
            </a:r>
            <a:endParaRPr lang="en-US" sz="1200" dirty="0"/>
          </a:p>
          <a:p>
            <a:pPr lvl="2"/>
            <a:r>
              <a:rPr lang="en-US" sz="1200" dirty="0"/>
              <a:t>Chunk size of 256GB allows FS expansion to 256TB, but granularity of expansion is </a:t>
            </a:r>
            <a:r>
              <a:rPr lang="en-US" sz="1200" dirty="0" smtClean="0"/>
              <a:t>large</a:t>
            </a:r>
          </a:p>
          <a:p>
            <a:pPr marL="0" indent="0">
              <a:buNone/>
            </a:pPr>
            <a:endParaRPr lang="en-US" sz="1600" dirty="0"/>
          </a:p>
        </p:txBody>
      </p:sp>
      <p:sp>
        <p:nvSpPr>
          <p:cNvPr id="4" name="Title 3"/>
          <p:cNvSpPr>
            <a:spLocks noGrp="1"/>
          </p:cNvSpPr>
          <p:nvPr>
            <p:ph type="title"/>
          </p:nvPr>
        </p:nvSpPr>
        <p:spPr/>
        <p:txBody>
          <a:bodyPr>
            <a:normAutofit/>
          </a:bodyPr>
          <a:lstStyle/>
          <a:p>
            <a:r>
              <a:rPr lang="en-US" dirty="0" smtClean="0"/>
              <a:t>STORAGE POOL BEST </a:t>
            </a:r>
            <a:r>
              <a:rPr lang="en-US" dirty="0"/>
              <a:t>PRACTICES</a:t>
            </a:r>
            <a:br>
              <a:rPr lang="en-US" dirty="0"/>
            </a:br>
            <a:r>
              <a:rPr lang="en-US" sz="1400" dirty="0">
                <a:solidFill>
                  <a:schemeClr val="bg1">
                    <a:lumMod val="75000"/>
                  </a:schemeClr>
                </a:solidFill>
              </a:rPr>
              <a:t>CHUNK </a:t>
            </a:r>
            <a:r>
              <a:rPr lang="en-US" sz="1400" dirty="0" smtClean="0">
                <a:solidFill>
                  <a:schemeClr val="bg1">
                    <a:lumMod val="75000"/>
                  </a:schemeClr>
                </a:solidFill>
              </a:rPr>
              <a:t>SIZE</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284687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4478149"/>
          </a:xfrm>
        </p:spPr>
        <p:txBody>
          <a:bodyPr/>
          <a:lstStyle/>
          <a:p>
            <a:r>
              <a:rPr lang="en-US" sz="1800" b="1" i="1" dirty="0" smtClean="0">
                <a:solidFill>
                  <a:schemeClr val="accent4">
                    <a:lumMod val="75000"/>
                  </a:schemeClr>
                </a:solidFill>
              </a:rPr>
              <a:t>Post v11.2 </a:t>
            </a:r>
            <a:r>
              <a:rPr lang="en-US" sz="1800" dirty="0" smtClean="0"/>
              <a:t>max chunks per Storage Pool or File System is 60,000</a:t>
            </a:r>
          </a:p>
          <a:p>
            <a:pPr lvl="1"/>
            <a:r>
              <a:rPr lang="en-US" sz="1600" b="1" i="1" dirty="0" smtClean="0">
                <a:solidFill>
                  <a:schemeClr val="accent4">
                    <a:lumMod val="75000"/>
                  </a:schemeClr>
                </a:solidFill>
              </a:rPr>
              <a:t>HNAS v11.2 </a:t>
            </a:r>
            <a:r>
              <a:rPr lang="en-US" sz="1600" dirty="0" smtClean="0"/>
              <a:t>storage pools </a:t>
            </a:r>
            <a:r>
              <a:rPr lang="en-US" sz="1600" dirty="0"/>
              <a:t>created through the </a:t>
            </a:r>
            <a:r>
              <a:rPr lang="en-US" sz="1600" dirty="0" smtClean="0"/>
              <a:t>GUI </a:t>
            </a:r>
            <a:r>
              <a:rPr lang="en-US" sz="1600" dirty="0"/>
              <a:t>do not allow you to set the chunk size – it will default to 1/3750 of the initial capacity of the span, ranging from 1GiB to 18GiB.  CLI can be used to </a:t>
            </a:r>
            <a:r>
              <a:rPr lang="en-US" sz="1600" dirty="0" smtClean="0"/>
              <a:t>override</a:t>
            </a:r>
            <a:endParaRPr lang="en-US" sz="1600" dirty="0"/>
          </a:p>
          <a:p>
            <a:pPr lvl="2"/>
            <a:r>
              <a:rPr lang="en-US" sz="1400" dirty="0"/>
              <a:t>18GB chunk size allows 1PB Storage </a:t>
            </a:r>
            <a:r>
              <a:rPr lang="en-US" sz="1400" dirty="0" smtClean="0"/>
              <a:t>Pool</a:t>
            </a:r>
          </a:p>
          <a:p>
            <a:pPr lvl="1"/>
            <a:r>
              <a:rPr lang="en-US" sz="1600" dirty="0" smtClean="0"/>
              <a:t>If starting with a very small amount of capacity, the default chunk size may not allow you to expand to 1PB</a:t>
            </a:r>
          </a:p>
          <a:p>
            <a:pPr lvl="2"/>
            <a:r>
              <a:rPr lang="en-US" sz="1400" dirty="0" smtClean="0"/>
              <a:t>Override by creating SPAN through CLI and setting chunk size manually</a:t>
            </a:r>
          </a:p>
          <a:p>
            <a:pPr lvl="1"/>
            <a:r>
              <a:rPr lang="en-US" sz="1600" b="1" i="1" dirty="0">
                <a:solidFill>
                  <a:schemeClr val="accent4">
                    <a:lumMod val="75000"/>
                  </a:schemeClr>
                </a:solidFill>
              </a:rPr>
              <a:t>HNAS </a:t>
            </a:r>
            <a:r>
              <a:rPr lang="en-US" sz="1600" b="1" i="1" dirty="0" smtClean="0">
                <a:solidFill>
                  <a:schemeClr val="accent4">
                    <a:lumMod val="75000"/>
                  </a:schemeClr>
                </a:solidFill>
              </a:rPr>
              <a:t>v12.0  </a:t>
            </a:r>
            <a:r>
              <a:rPr lang="en-US" sz="1600" dirty="0" smtClean="0"/>
              <a:t>storage pools created through the GUI will select a mandatory default of 18GB chunk size </a:t>
            </a:r>
          </a:p>
          <a:p>
            <a:pPr lvl="2"/>
            <a:r>
              <a:rPr lang="en-US" sz="1400" dirty="0" smtClean="0"/>
              <a:t>CLI continues to use default (1/3750 of initial capacity) unless overridden manually.</a:t>
            </a:r>
            <a:endParaRPr lang="en-US" sz="1400" dirty="0"/>
          </a:p>
          <a:p>
            <a:endParaRPr lang="en-US" sz="1800" dirty="0" smtClean="0"/>
          </a:p>
          <a:p>
            <a:endParaRPr lang="en-US" sz="1800" dirty="0"/>
          </a:p>
        </p:txBody>
      </p:sp>
      <p:sp>
        <p:nvSpPr>
          <p:cNvPr id="4" name="Title 3"/>
          <p:cNvSpPr>
            <a:spLocks noGrp="1"/>
          </p:cNvSpPr>
          <p:nvPr>
            <p:ph type="title"/>
          </p:nvPr>
        </p:nvSpPr>
        <p:spPr/>
        <p:txBody>
          <a:bodyPr>
            <a:normAutofit/>
          </a:bodyPr>
          <a:lstStyle/>
          <a:p>
            <a:r>
              <a:rPr lang="en-US" dirty="0" smtClean="0"/>
              <a:t>STORAGE POOL BEST PRACTICES </a:t>
            </a:r>
            <a:r>
              <a:rPr lang="en-US" dirty="0"/>
              <a:t/>
            </a:r>
            <a:br>
              <a:rPr lang="en-US" dirty="0"/>
            </a:br>
            <a:r>
              <a:rPr lang="en-US" sz="1400" dirty="0">
                <a:solidFill>
                  <a:schemeClr val="bg1">
                    <a:lumMod val="75000"/>
                  </a:schemeClr>
                </a:solidFill>
              </a:rPr>
              <a:t>CHUNK </a:t>
            </a:r>
            <a:r>
              <a:rPr lang="en-US" sz="1400" dirty="0" smtClean="0">
                <a:solidFill>
                  <a:schemeClr val="bg1">
                    <a:lumMod val="75000"/>
                  </a:schemeClr>
                </a:solidFill>
              </a:rPr>
              <a:t>SIZE (cont’d)</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3547724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465666119"/>
              </p:ext>
            </p:extLst>
          </p:nvPr>
        </p:nvGraphicFramePr>
        <p:xfrm>
          <a:off x="301302" y="3556418"/>
          <a:ext cx="2264290" cy="464350"/>
        </p:xfrm>
        <a:graphic>
          <a:graphicData uri="http://schemas.openxmlformats.org/drawingml/2006/table">
            <a:tbl>
              <a:tblPr firstRow="1" bandRow="1">
                <a:tableStyleId>{F5AB1C69-6EDB-4FF4-983F-18BD219EF322}</a:tableStyleId>
              </a:tblPr>
              <a:tblGrid>
                <a:gridCol w="226429"/>
                <a:gridCol w="226429"/>
                <a:gridCol w="226429"/>
                <a:gridCol w="226429"/>
                <a:gridCol w="226429"/>
                <a:gridCol w="226429"/>
                <a:gridCol w="226429"/>
                <a:gridCol w="226429"/>
                <a:gridCol w="226429"/>
                <a:gridCol w="226429"/>
              </a:tblGrid>
              <a:tr h="232175">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000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B05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US" sz="400" b="1" kern="1200" dirty="0">
                        <a:solidFill>
                          <a:schemeClr val="lt1"/>
                        </a:solidFill>
                        <a:latin typeface="+mn-lt"/>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r>
              <a:tr h="232175">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000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B05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b="1" kern="1200" dirty="0">
                        <a:solidFill>
                          <a:schemeClr val="lt1"/>
                        </a:solidFill>
                        <a:latin typeface="+mn-lt"/>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r>
            </a:tbl>
          </a:graphicData>
        </a:graphic>
      </p:graphicFrame>
      <p:sp>
        <p:nvSpPr>
          <p:cNvPr id="2" name="Content Placeholder 1"/>
          <p:cNvSpPr>
            <a:spLocks noGrp="1"/>
          </p:cNvSpPr>
          <p:nvPr>
            <p:ph idx="1"/>
          </p:nvPr>
        </p:nvSpPr>
        <p:spPr>
          <a:xfrm>
            <a:off x="5070142" y="967575"/>
            <a:ext cx="4026091" cy="3872855"/>
          </a:xfrm>
        </p:spPr>
        <p:txBody>
          <a:bodyPr/>
          <a:lstStyle/>
          <a:p>
            <a:pPr>
              <a:spcBef>
                <a:spcPts val="200"/>
              </a:spcBef>
              <a:spcAft>
                <a:spcPts val="200"/>
              </a:spcAft>
            </a:pPr>
            <a:r>
              <a:rPr lang="en-US" sz="1200" dirty="0"/>
              <a:t>Expanding a span results in the creation of an additional </a:t>
            </a:r>
            <a:r>
              <a:rPr lang="en-US" sz="1200" dirty="0" err="1" smtClean="0"/>
              <a:t>stripeset</a:t>
            </a:r>
            <a:endParaRPr lang="en-US" sz="1200" dirty="0" smtClean="0"/>
          </a:p>
          <a:p>
            <a:pPr lvl="1">
              <a:lnSpc>
                <a:spcPct val="100000"/>
              </a:lnSpc>
              <a:spcBef>
                <a:spcPts val="200"/>
              </a:spcBef>
              <a:spcAft>
                <a:spcPts val="200"/>
              </a:spcAft>
            </a:pPr>
            <a:r>
              <a:rPr lang="en-US" sz="1100" dirty="0" smtClean="0"/>
              <a:t>A Span can be expanded up to 63 times</a:t>
            </a:r>
            <a:endParaRPr lang="en-US" sz="1100" dirty="0"/>
          </a:p>
          <a:p>
            <a:pPr>
              <a:spcBef>
                <a:spcPts val="200"/>
              </a:spcBef>
              <a:spcAft>
                <a:spcPts val="200"/>
              </a:spcAft>
            </a:pPr>
            <a:r>
              <a:rPr lang="en-US" sz="1200" dirty="0" smtClean="0"/>
              <a:t>HNAS Dynamic Write Balancing (DWB) balances allocation of chunks to file systems across SDGs </a:t>
            </a:r>
          </a:p>
          <a:p>
            <a:pPr lvl="1">
              <a:lnSpc>
                <a:spcPct val="100000"/>
              </a:lnSpc>
              <a:spcBef>
                <a:spcPts val="200"/>
              </a:spcBef>
              <a:spcAft>
                <a:spcPts val="200"/>
              </a:spcAft>
            </a:pPr>
            <a:r>
              <a:rPr lang="en-US" sz="1100" dirty="0" smtClean="0"/>
              <a:t>Still critical that SPANs expanded in a consistent fashion</a:t>
            </a:r>
          </a:p>
          <a:p>
            <a:pPr>
              <a:spcBef>
                <a:spcPts val="200"/>
              </a:spcBef>
              <a:spcAft>
                <a:spcPts val="200"/>
              </a:spcAft>
            </a:pPr>
            <a:r>
              <a:rPr lang="en-US" sz="1200" dirty="0" smtClean="0"/>
              <a:t>Ensures that when additional disk is allocated to HNAS that all spindles can be utilized for write activity</a:t>
            </a:r>
          </a:p>
          <a:p>
            <a:pPr lvl="1">
              <a:lnSpc>
                <a:spcPct val="100000"/>
              </a:lnSpc>
              <a:spcBef>
                <a:spcPts val="200"/>
              </a:spcBef>
              <a:spcAft>
                <a:spcPts val="200"/>
              </a:spcAft>
            </a:pPr>
            <a:r>
              <a:rPr lang="en-US" sz="1100" dirty="0" smtClean="0"/>
              <a:t>However in order to take advantage of those spindles, the pool and file systems must be expanded</a:t>
            </a:r>
          </a:p>
          <a:p>
            <a:pPr>
              <a:spcBef>
                <a:spcPts val="200"/>
              </a:spcBef>
              <a:spcAft>
                <a:spcPts val="200"/>
              </a:spcAft>
            </a:pPr>
            <a:r>
              <a:rPr lang="en-US" sz="1200" dirty="0" smtClean="0"/>
              <a:t>HNAS Dynamic Read Balancing (DRB) is a utility that can be used to redistribute data evenly across SDGs</a:t>
            </a:r>
          </a:p>
          <a:p>
            <a:pPr lvl="1">
              <a:lnSpc>
                <a:spcPct val="100000"/>
              </a:lnSpc>
              <a:spcBef>
                <a:spcPts val="200"/>
              </a:spcBef>
              <a:spcAft>
                <a:spcPts val="200"/>
              </a:spcAft>
            </a:pPr>
            <a:r>
              <a:rPr lang="en-US" sz="1100" dirty="0" smtClean="0"/>
              <a:t>DRB works best when existing span/file systems are close to max utilization</a:t>
            </a:r>
          </a:p>
          <a:p>
            <a:pPr lvl="1">
              <a:lnSpc>
                <a:spcPct val="100000"/>
              </a:lnSpc>
              <a:spcBef>
                <a:spcPts val="200"/>
              </a:spcBef>
              <a:spcAft>
                <a:spcPts val="200"/>
              </a:spcAft>
            </a:pPr>
            <a:r>
              <a:rPr lang="en-US" sz="1100" dirty="0" smtClean="0"/>
              <a:t>See DWB Best Practices document for more info.</a:t>
            </a:r>
            <a:endParaRPr lang="en-US" sz="1100" dirty="0"/>
          </a:p>
        </p:txBody>
      </p:sp>
      <p:sp>
        <p:nvSpPr>
          <p:cNvPr id="4" name="Title 3"/>
          <p:cNvSpPr>
            <a:spLocks noGrp="1"/>
          </p:cNvSpPr>
          <p:nvPr>
            <p:ph type="title"/>
          </p:nvPr>
        </p:nvSpPr>
        <p:spPr/>
        <p:txBody>
          <a:bodyPr/>
          <a:lstStyle/>
          <a:p>
            <a:r>
              <a:rPr lang="en-US" dirty="0" smtClean="0"/>
              <a:t>EXPANDING A SPAN</a:t>
            </a:r>
            <a:endParaRPr lang="en-US" dirty="0"/>
          </a:p>
        </p:txBody>
      </p:sp>
      <p:sp>
        <p:nvSpPr>
          <p:cNvPr id="16" name="Text Box 38"/>
          <p:cNvSpPr txBox="1">
            <a:spLocks noChangeArrowheads="1"/>
          </p:cNvSpPr>
          <p:nvPr/>
        </p:nvSpPr>
        <p:spPr bwMode="auto">
          <a:xfrm>
            <a:off x="2546755" y="2029056"/>
            <a:ext cx="1635390" cy="276999"/>
          </a:xfrm>
          <a:prstGeom prst="rect">
            <a:avLst/>
          </a:prstGeom>
          <a:noFill/>
          <a:ln w="9525">
            <a:noFill/>
            <a:miter lim="800000"/>
            <a:headEnd/>
            <a:tailEnd/>
          </a:ln>
        </p:spPr>
        <p:txBody>
          <a:bodyPr wrap="square">
            <a:spAutoFit/>
          </a:bodyPr>
          <a:lstStyle/>
          <a:p>
            <a:pPr>
              <a:spcBef>
                <a:spcPct val="50000"/>
              </a:spcBef>
            </a:pPr>
            <a:r>
              <a:rPr lang="en-US" sz="1200" dirty="0" smtClean="0">
                <a:latin typeface="Calibri" panose="020F0502020204030204" pitchFamily="34" charset="0"/>
                <a:cs typeface="Calibri" panose="020F0502020204030204" pitchFamily="34" charset="0"/>
              </a:rPr>
              <a:t>File System C</a:t>
            </a:r>
            <a:endParaRPr lang="en-US" sz="1200" dirty="0">
              <a:latin typeface="Calibri" panose="020F0502020204030204" pitchFamily="34" charset="0"/>
              <a:cs typeface="Calibri" panose="020F0502020204030204" pitchFamily="34" charset="0"/>
            </a:endParaRPr>
          </a:p>
        </p:txBody>
      </p:sp>
      <p:sp>
        <p:nvSpPr>
          <p:cNvPr id="47" name="Rectangle 33"/>
          <p:cNvSpPr>
            <a:spLocks noChangeArrowheads="1"/>
          </p:cNvSpPr>
          <p:nvPr/>
        </p:nvSpPr>
        <p:spPr bwMode="auto">
          <a:xfrm rot="10800000">
            <a:off x="317730" y="3556419"/>
            <a:ext cx="2247862" cy="409575"/>
          </a:xfrm>
          <a:prstGeom prst="rect">
            <a:avLst/>
          </a:prstGeom>
          <a:no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r>
              <a:rPr lang="en-US" b="1" dirty="0" smtClean="0">
                <a:latin typeface="Calibri" panose="020F0502020204030204" pitchFamily="34" charset="0"/>
                <a:cs typeface="Calibri" panose="020F0502020204030204" pitchFamily="34" charset="0"/>
              </a:rPr>
              <a:t>Stripe Set</a:t>
            </a:r>
            <a:endParaRPr lang="en-US" b="1" dirty="0">
              <a:latin typeface="Calibri" panose="020F0502020204030204" pitchFamily="34" charset="0"/>
              <a:cs typeface="Calibri" panose="020F0502020204030204" pitchFamily="34" charset="0"/>
            </a:endParaRPr>
          </a:p>
        </p:txBody>
      </p:sp>
      <p:grpSp>
        <p:nvGrpSpPr>
          <p:cNvPr id="54" name="Group 34"/>
          <p:cNvGrpSpPr>
            <a:grpSpLocks/>
          </p:cNvGrpSpPr>
          <p:nvPr/>
        </p:nvGrpSpPr>
        <p:grpSpPr bwMode="auto">
          <a:xfrm>
            <a:off x="314089" y="4406533"/>
            <a:ext cx="2232666" cy="319682"/>
            <a:chOff x="1087" y="2454"/>
            <a:chExt cx="1476" cy="190"/>
          </a:xfrm>
          <a:effectLst>
            <a:outerShdw blurRad="50800" dist="38100" dir="2700000" algn="tl" rotWithShape="0">
              <a:prstClr val="black">
                <a:alpha val="40000"/>
              </a:prstClr>
            </a:outerShdw>
          </a:effectLst>
        </p:grpSpPr>
        <p:sp>
          <p:nvSpPr>
            <p:cNvPr id="55" name="Rectangle 35"/>
            <p:cNvSpPr>
              <a:spLocks noChangeArrowheads="1"/>
            </p:cNvSpPr>
            <p:nvPr/>
          </p:nvSpPr>
          <p:spPr bwMode="auto">
            <a:xfrm>
              <a:off x="108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56" name="Rectangle 36"/>
            <p:cNvSpPr>
              <a:spLocks noChangeArrowheads="1"/>
            </p:cNvSpPr>
            <p:nvPr/>
          </p:nvSpPr>
          <p:spPr bwMode="auto">
            <a:xfrm>
              <a:off x="182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57" name="Rectangle 37"/>
            <p:cNvSpPr>
              <a:spLocks noChangeArrowheads="1"/>
            </p:cNvSpPr>
            <p:nvPr/>
          </p:nvSpPr>
          <p:spPr bwMode="auto">
            <a:xfrm>
              <a:off x="1456" y="2454"/>
              <a:ext cx="367"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sp>
          <p:nvSpPr>
            <p:cNvPr id="58" name="Rectangle 38"/>
            <p:cNvSpPr>
              <a:spLocks noChangeArrowheads="1"/>
            </p:cNvSpPr>
            <p:nvPr/>
          </p:nvSpPr>
          <p:spPr bwMode="auto">
            <a:xfrm>
              <a:off x="2195"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grpSp>
      <p:grpSp>
        <p:nvGrpSpPr>
          <p:cNvPr id="60" name="Group 34"/>
          <p:cNvGrpSpPr>
            <a:grpSpLocks/>
          </p:cNvGrpSpPr>
          <p:nvPr/>
        </p:nvGrpSpPr>
        <p:grpSpPr bwMode="auto">
          <a:xfrm>
            <a:off x="2656860" y="4399092"/>
            <a:ext cx="2232666" cy="319682"/>
            <a:chOff x="1087" y="2454"/>
            <a:chExt cx="1476" cy="190"/>
          </a:xfrm>
          <a:effectLst>
            <a:outerShdw blurRad="50800" dist="38100" dir="2700000" algn="tl" rotWithShape="0">
              <a:prstClr val="black">
                <a:alpha val="40000"/>
              </a:prstClr>
            </a:outerShdw>
          </a:effectLst>
        </p:grpSpPr>
        <p:sp>
          <p:nvSpPr>
            <p:cNvPr id="66" name="Rectangle 35"/>
            <p:cNvSpPr>
              <a:spLocks noChangeArrowheads="1"/>
            </p:cNvSpPr>
            <p:nvPr/>
          </p:nvSpPr>
          <p:spPr bwMode="auto">
            <a:xfrm>
              <a:off x="108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7" name="Rectangle 36"/>
            <p:cNvSpPr>
              <a:spLocks noChangeArrowheads="1"/>
            </p:cNvSpPr>
            <p:nvPr/>
          </p:nvSpPr>
          <p:spPr bwMode="auto">
            <a:xfrm>
              <a:off x="182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8" name="Rectangle 37"/>
            <p:cNvSpPr>
              <a:spLocks noChangeArrowheads="1"/>
            </p:cNvSpPr>
            <p:nvPr/>
          </p:nvSpPr>
          <p:spPr bwMode="auto">
            <a:xfrm>
              <a:off x="1456" y="2454"/>
              <a:ext cx="367"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sp>
          <p:nvSpPr>
            <p:cNvPr id="69" name="Rectangle 38"/>
            <p:cNvSpPr>
              <a:spLocks noChangeArrowheads="1"/>
            </p:cNvSpPr>
            <p:nvPr/>
          </p:nvSpPr>
          <p:spPr bwMode="auto">
            <a:xfrm>
              <a:off x="2195"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grpSp>
      <p:sp>
        <p:nvSpPr>
          <p:cNvPr id="70" name="Rectangle 35"/>
          <p:cNvSpPr>
            <a:spLocks noChangeArrowheads="1"/>
          </p:cNvSpPr>
          <p:nvPr/>
        </p:nvSpPr>
        <p:spPr bwMode="auto">
          <a:xfrm>
            <a:off x="264160" y="2862758"/>
            <a:ext cx="4632965" cy="374813"/>
          </a:xfrm>
          <a:prstGeom prst="rect">
            <a:avLst/>
          </a:prstGeom>
          <a:solidFill>
            <a:schemeClr val="accent5"/>
          </a:solidFill>
          <a:ln w="9525">
            <a:solidFill>
              <a:schemeClr val="bg1">
                <a:lumMod val="75000"/>
              </a:schemeClr>
            </a:solidFill>
            <a:miter lim="800000"/>
            <a:headEnd/>
            <a:tailEnd/>
          </a:ln>
          <a:effectLst>
            <a:outerShdw blurRad="50800" dist="38100" dir="2700000" algn="tl" rotWithShape="0">
              <a:prstClr val="black">
                <a:alpha val="40000"/>
              </a:prstClr>
            </a:outerShdw>
          </a:effectLst>
        </p:spPr>
        <p:txBody>
          <a:bodyPr wrap="none" anchor="ctr"/>
          <a:lstStyle/>
          <a:p>
            <a:pPr algn="ctr"/>
            <a:endParaRPr lang="en-US" b="1" dirty="0">
              <a:latin typeface="Calibri" panose="020F0502020204030204" pitchFamily="34" charset="0"/>
              <a:cs typeface="Calibri" panose="020F0502020204030204" pitchFamily="34" charset="0"/>
            </a:endParaRPr>
          </a:p>
        </p:txBody>
      </p:sp>
      <p:grpSp>
        <p:nvGrpSpPr>
          <p:cNvPr id="77" name="Group 76"/>
          <p:cNvGrpSpPr/>
          <p:nvPr/>
        </p:nvGrpSpPr>
        <p:grpSpPr>
          <a:xfrm>
            <a:off x="1355099" y="2499177"/>
            <a:ext cx="2493569" cy="259308"/>
            <a:chOff x="798078" y="1624084"/>
            <a:chExt cx="3308367" cy="348020"/>
          </a:xfrm>
          <a:effectLst>
            <a:outerShdw blurRad="50800" dist="38100" dir="2700000" algn="tl" rotWithShape="0">
              <a:prstClr val="black">
                <a:alpha val="40000"/>
              </a:prstClr>
            </a:outerShdw>
          </a:effectLst>
        </p:grpSpPr>
        <p:sp>
          <p:nvSpPr>
            <p:cNvPr id="81" name="Down Arrow 80"/>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82" name="Down Arrow 81"/>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
        <p:nvSpPr>
          <p:cNvPr id="28" name="Rectangle 72"/>
          <p:cNvSpPr>
            <a:spLocks noChangeArrowheads="1"/>
          </p:cNvSpPr>
          <p:nvPr/>
        </p:nvSpPr>
        <p:spPr bwMode="auto">
          <a:xfrm>
            <a:off x="589603" y="2924200"/>
            <a:ext cx="320471" cy="251103"/>
          </a:xfrm>
          <a:prstGeom prst="rect">
            <a:avLst/>
          </a:prstGeom>
          <a:solidFill>
            <a:srgbClr val="FFFF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29" name="Rectangle 73"/>
          <p:cNvSpPr>
            <a:spLocks noChangeArrowheads="1"/>
          </p:cNvSpPr>
          <p:nvPr/>
        </p:nvSpPr>
        <p:spPr bwMode="auto">
          <a:xfrm>
            <a:off x="264160" y="2924657"/>
            <a:ext cx="329132" cy="249822"/>
          </a:xfrm>
          <a:prstGeom prst="rect">
            <a:avLst/>
          </a:prstGeom>
          <a:solidFill>
            <a:srgbClr val="C000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52" name="Rectangle 62"/>
          <p:cNvSpPr>
            <a:spLocks noChangeArrowheads="1"/>
          </p:cNvSpPr>
          <p:nvPr/>
        </p:nvSpPr>
        <p:spPr bwMode="auto">
          <a:xfrm>
            <a:off x="2839519" y="2925024"/>
            <a:ext cx="335629" cy="251103"/>
          </a:xfrm>
          <a:prstGeom prst="rect">
            <a:avLst/>
          </a:prstGeom>
          <a:solidFill>
            <a:srgbClr val="00B05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53" name="Rectangle 62"/>
          <p:cNvSpPr>
            <a:spLocks noChangeArrowheads="1"/>
          </p:cNvSpPr>
          <p:nvPr/>
        </p:nvSpPr>
        <p:spPr bwMode="auto">
          <a:xfrm>
            <a:off x="3170761" y="2925024"/>
            <a:ext cx="335629" cy="251103"/>
          </a:xfrm>
          <a:prstGeom prst="rect">
            <a:avLst/>
          </a:prstGeom>
          <a:solidFill>
            <a:srgbClr val="C000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75" name="Rectangle 72"/>
          <p:cNvSpPr>
            <a:spLocks noChangeArrowheads="1"/>
          </p:cNvSpPr>
          <p:nvPr/>
        </p:nvSpPr>
        <p:spPr bwMode="auto">
          <a:xfrm>
            <a:off x="1230458" y="2924200"/>
            <a:ext cx="320471" cy="251103"/>
          </a:xfrm>
          <a:prstGeom prst="rect">
            <a:avLst/>
          </a:prstGeom>
          <a:solidFill>
            <a:srgbClr val="C000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83" name="Rectangle 73"/>
          <p:cNvSpPr>
            <a:spLocks noChangeArrowheads="1"/>
          </p:cNvSpPr>
          <p:nvPr/>
        </p:nvSpPr>
        <p:spPr bwMode="auto">
          <a:xfrm>
            <a:off x="905015" y="2924657"/>
            <a:ext cx="329132" cy="249822"/>
          </a:xfrm>
          <a:prstGeom prst="rect">
            <a:avLst/>
          </a:prstGeom>
          <a:solidFill>
            <a:srgbClr val="00B05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90" name="Rectangle 72"/>
          <p:cNvSpPr>
            <a:spLocks noChangeArrowheads="1"/>
          </p:cNvSpPr>
          <p:nvPr/>
        </p:nvSpPr>
        <p:spPr bwMode="auto">
          <a:xfrm>
            <a:off x="1881167" y="2924200"/>
            <a:ext cx="320471" cy="251103"/>
          </a:xfrm>
          <a:prstGeom prst="rect">
            <a:avLst/>
          </a:prstGeom>
          <a:solidFill>
            <a:srgbClr val="00B05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91" name="Rectangle 73"/>
          <p:cNvSpPr>
            <a:spLocks noChangeArrowheads="1"/>
          </p:cNvSpPr>
          <p:nvPr/>
        </p:nvSpPr>
        <p:spPr bwMode="auto">
          <a:xfrm>
            <a:off x="1555724" y="2924657"/>
            <a:ext cx="329132" cy="249822"/>
          </a:xfrm>
          <a:prstGeom prst="rect">
            <a:avLst/>
          </a:prstGeom>
          <a:solidFill>
            <a:srgbClr val="FFFF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92" name="Rectangle 72"/>
          <p:cNvSpPr>
            <a:spLocks noChangeArrowheads="1"/>
          </p:cNvSpPr>
          <p:nvPr/>
        </p:nvSpPr>
        <p:spPr bwMode="auto">
          <a:xfrm>
            <a:off x="2522022" y="2924200"/>
            <a:ext cx="320471" cy="251103"/>
          </a:xfrm>
          <a:prstGeom prst="rect">
            <a:avLst/>
          </a:prstGeom>
          <a:solidFill>
            <a:srgbClr val="FFFF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93" name="Rectangle 73"/>
          <p:cNvSpPr>
            <a:spLocks noChangeArrowheads="1"/>
          </p:cNvSpPr>
          <p:nvPr/>
        </p:nvSpPr>
        <p:spPr bwMode="auto">
          <a:xfrm>
            <a:off x="2196579" y="2924657"/>
            <a:ext cx="329132" cy="249822"/>
          </a:xfrm>
          <a:prstGeom prst="rect">
            <a:avLst/>
          </a:prstGeom>
          <a:solidFill>
            <a:srgbClr val="C000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98" name="Rectangle 72"/>
          <p:cNvSpPr>
            <a:spLocks noChangeArrowheads="1"/>
          </p:cNvSpPr>
          <p:nvPr/>
        </p:nvSpPr>
        <p:spPr bwMode="auto">
          <a:xfrm>
            <a:off x="1006591" y="1333850"/>
            <a:ext cx="320471" cy="251103"/>
          </a:xfrm>
          <a:prstGeom prst="rect">
            <a:avLst/>
          </a:prstGeom>
          <a:solidFill>
            <a:srgbClr val="C000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99" name="Rectangle 73"/>
          <p:cNvSpPr>
            <a:spLocks noChangeArrowheads="1"/>
          </p:cNvSpPr>
          <p:nvPr/>
        </p:nvSpPr>
        <p:spPr bwMode="auto">
          <a:xfrm>
            <a:off x="681148" y="1334490"/>
            <a:ext cx="329132" cy="249822"/>
          </a:xfrm>
          <a:prstGeom prst="rect">
            <a:avLst/>
          </a:prstGeom>
          <a:solidFill>
            <a:srgbClr val="C000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08" name="Rectangle 72"/>
          <p:cNvSpPr>
            <a:spLocks noChangeArrowheads="1"/>
          </p:cNvSpPr>
          <p:nvPr/>
        </p:nvSpPr>
        <p:spPr bwMode="auto">
          <a:xfrm>
            <a:off x="1006591" y="1681831"/>
            <a:ext cx="320471" cy="251103"/>
          </a:xfrm>
          <a:prstGeom prst="rect">
            <a:avLst/>
          </a:prstGeom>
          <a:solidFill>
            <a:srgbClr val="FFFF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09" name="Rectangle 73"/>
          <p:cNvSpPr>
            <a:spLocks noChangeArrowheads="1"/>
          </p:cNvSpPr>
          <p:nvPr/>
        </p:nvSpPr>
        <p:spPr bwMode="auto">
          <a:xfrm>
            <a:off x="681148" y="1682471"/>
            <a:ext cx="329132" cy="249822"/>
          </a:xfrm>
          <a:prstGeom prst="rect">
            <a:avLst/>
          </a:prstGeom>
          <a:solidFill>
            <a:srgbClr val="FFFF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10" name="Rectangle 72"/>
          <p:cNvSpPr>
            <a:spLocks noChangeArrowheads="1"/>
          </p:cNvSpPr>
          <p:nvPr/>
        </p:nvSpPr>
        <p:spPr bwMode="auto">
          <a:xfrm>
            <a:off x="1006591" y="2032662"/>
            <a:ext cx="320471" cy="250279"/>
          </a:xfrm>
          <a:prstGeom prst="rect">
            <a:avLst/>
          </a:prstGeom>
          <a:solidFill>
            <a:srgbClr val="00B05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11" name="Rectangle 73"/>
          <p:cNvSpPr>
            <a:spLocks noChangeArrowheads="1"/>
          </p:cNvSpPr>
          <p:nvPr/>
        </p:nvSpPr>
        <p:spPr bwMode="auto">
          <a:xfrm>
            <a:off x="681148" y="2032890"/>
            <a:ext cx="329132" cy="249822"/>
          </a:xfrm>
          <a:prstGeom prst="rect">
            <a:avLst/>
          </a:prstGeom>
          <a:solidFill>
            <a:srgbClr val="00B05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12" name="Rectangle 73"/>
          <p:cNvSpPr>
            <a:spLocks noChangeArrowheads="1"/>
          </p:cNvSpPr>
          <p:nvPr/>
        </p:nvSpPr>
        <p:spPr bwMode="auto">
          <a:xfrm>
            <a:off x="1328909" y="1682471"/>
            <a:ext cx="329132" cy="249822"/>
          </a:xfrm>
          <a:prstGeom prst="rect">
            <a:avLst/>
          </a:prstGeom>
          <a:solidFill>
            <a:srgbClr val="FFFF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13" name="Rectangle 72"/>
          <p:cNvSpPr>
            <a:spLocks noChangeArrowheads="1"/>
          </p:cNvSpPr>
          <p:nvPr/>
        </p:nvSpPr>
        <p:spPr bwMode="auto">
          <a:xfrm>
            <a:off x="1653794" y="1333850"/>
            <a:ext cx="320471" cy="251103"/>
          </a:xfrm>
          <a:prstGeom prst="rect">
            <a:avLst/>
          </a:prstGeom>
          <a:solidFill>
            <a:srgbClr val="C000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14" name="Rectangle 73"/>
          <p:cNvSpPr>
            <a:spLocks noChangeArrowheads="1"/>
          </p:cNvSpPr>
          <p:nvPr/>
        </p:nvSpPr>
        <p:spPr bwMode="auto">
          <a:xfrm>
            <a:off x="1328909" y="1334490"/>
            <a:ext cx="329132" cy="249822"/>
          </a:xfrm>
          <a:prstGeom prst="rect">
            <a:avLst/>
          </a:prstGeom>
          <a:solidFill>
            <a:srgbClr val="C0000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1" name="TextBox 10"/>
          <p:cNvSpPr txBox="1"/>
          <p:nvPr/>
        </p:nvSpPr>
        <p:spPr>
          <a:xfrm rot="10800000">
            <a:off x="1814029" y="2862488"/>
            <a:ext cx="1383007" cy="369332"/>
          </a:xfrm>
          <a:prstGeom prst="rect">
            <a:avLst/>
          </a:prstGeom>
          <a:noFill/>
          <a:ln w="9525">
            <a:noFill/>
            <a:miter lim="800000"/>
            <a:headEnd/>
            <a:tailEnd/>
          </a:ln>
          <a:effectLst>
            <a:outerShdw blurRad="50800" dist="38100" dir="2700000" algn="tl" rotWithShape="0">
              <a:prstClr val="black">
                <a:alpha val="40000"/>
              </a:prstClr>
            </a:outerShdw>
          </a:effectLst>
        </p:spPr>
        <p:txBody>
          <a:bodyPr rot="10800000" wrap="none" anchor="ctr"/>
          <a:lstStyle>
            <a:defPPr>
              <a:defRPr lang="en-US"/>
            </a:defPPr>
            <a:lvl1pPr algn="ctr">
              <a:defRPr b="1">
                <a:latin typeface="Calibri" panose="020F0502020204030204" pitchFamily="34" charset="0"/>
                <a:cs typeface="Calibri" panose="020F0502020204030204" pitchFamily="34" charset="0"/>
              </a:defRPr>
            </a:lvl1pPr>
          </a:lstStyle>
          <a:p>
            <a:r>
              <a:rPr lang="en-US" dirty="0"/>
              <a:t>Storage Pool</a:t>
            </a:r>
          </a:p>
        </p:txBody>
      </p:sp>
      <p:sp>
        <p:nvSpPr>
          <p:cNvPr id="117" name="Text Box 38"/>
          <p:cNvSpPr txBox="1">
            <a:spLocks noChangeArrowheads="1"/>
          </p:cNvSpPr>
          <p:nvPr/>
        </p:nvSpPr>
        <p:spPr bwMode="auto">
          <a:xfrm>
            <a:off x="2546755" y="1327788"/>
            <a:ext cx="1635390" cy="276999"/>
          </a:xfrm>
          <a:prstGeom prst="rect">
            <a:avLst/>
          </a:prstGeom>
          <a:noFill/>
          <a:ln w="9525">
            <a:noFill/>
            <a:miter lim="800000"/>
            <a:headEnd/>
            <a:tailEnd/>
          </a:ln>
        </p:spPr>
        <p:txBody>
          <a:bodyPr wrap="square">
            <a:spAutoFit/>
          </a:bodyPr>
          <a:lstStyle/>
          <a:p>
            <a:pPr>
              <a:spcBef>
                <a:spcPct val="50000"/>
              </a:spcBef>
            </a:pPr>
            <a:r>
              <a:rPr lang="en-US" sz="1200" dirty="0" smtClean="0">
                <a:latin typeface="Calibri" panose="020F0502020204030204" pitchFamily="34" charset="0"/>
                <a:cs typeface="Calibri" panose="020F0502020204030204" pitchFamily="34" charset="0"/>
              </a:rPr>
              <a:t>File System A</a:t>
            </a:r>
            <a:endParaRPr lang="en-US" sz="1200" dirty="0">
              <a:latin typeface="Calibri" panose="020F0502020204030204" pitchFamily="34" charset="0"/>
              <a:cs typeface="Calibri" panose="020F0502020204030204" pitchFamily="34" charset="0"/>
            </a:endParaRPr>
          </a:p>
        </p:txBody>
      </p:sp>
      <p:sp>
        <p:nvSpPr>
          <p:cNvPr id="118" name="Text Box 38"/>
          <p:cNvSpPr txBox="1">
            <a:spLocks noChangeArrowheads="1"/>
          </p:cNvSpPr>
          <p:nvPr/>
        </p:nvSpPr>
        <p:spPr bwMode="auto">
          <a:xfrm>
            <a:off x="2546755" y="1682016"/>
            <a:ext cx="1635390" cy="276999"/>
          </a:xfrm>
          <a:prstGeom prst="rect">
            <a:avLst/>
          </a:prstGeom>
          <a:noFill/>
          <a:ln w="9525">
            <a:noFill/>
            <a:miter lim="800000"/>
            <a:headEnd/>
            <a:tailEnd/>
          </a:ln>
        </p:spPr>
        <p:txBody>
          <a:bodyPr wrap="square">
            <a:spAutoFit/>
          </a:bodyPr>
          <a:lstStyle/>
          <a:p>
            <a:pPr>
              <a:spcBef>
                <a:spcPct val="50000"/>
              </a:spcBef>
            </a:pPr>
            <a:r>
              <a:rPr lang="en-US" sz="1200" dirty="0" smtClean="0">
                <a:latin typeface="Calibri" panose="020F0502020204030204" pitchFamily="34" charset="0"/>
                <a:cs typeface="Calibri" panose="020F0502020204030204" pitchFamily="34" charset="0"/>
              </a:rPr>
              <a:t>File System B</a:t>
            </a:r>
            <a:endParaRPr lang="en-US" sz="1200" dirty="0">
              <a:latin typeface="Calibri" panose="020F0502020204030204" pitchFamily="34" charset="0"/>
              <a:cs typeface="Calibri" panose="020F0502020204030204" pitchFamily="34" charset="0"/>
            </a:endParaRPr>
          </a:p>
        </p:txBody>
      </p:sp>
      <p:sp>
        <p:nvSpPr>
          <p:cNvPr id="126" name="Rectangle 72"/>
          <p:cNvSpPr>
            <a:spLocks noChangeArrowheads="1"/>
          </p:cNvSpPr>
          <p:nvPr/>
        </p:nvSpPr>
        <p:spPr bwMode="auto">
          <a:xfrm>
            <a:off x="1333240" y="2032662"/>
            <a:ext cx="320471" cy="250279"/>
          </a:xfrm>
          <a:prstGeom prst="rect">
            <a:avLst/>
          </a:prstGeom>
          <a:solidFill>
            <a:srgbClr val="00B05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27" name="Rectangle 72"/>
          <p:cNvSpPr>
            <a:spLocks noChangeArrowheads="1"/>
          </p:cNvSpPr>
          <p:nvPr/>
        </p:nvSpPr>
        <p:spPr bwMode="auto">
          <a:xfrm>
            <a:off x="1653794" y="2032662"/>
            <a:ext cx="320471" cy="250279"/>
          </a:xfrm>
          <a:prstGeom prst="rect">
            <a:avLst/>
          </a:prstGeom>
          <a:solidFill>
            <a:srgbClr val="00B05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sp>
        <p:nvSpPr>
          <p:cNvPr id="131" name="Rectangle 73"/>
          <p:cNvSpPr>
            <a:spLocks noChangeArrowheads="1"/>
          </p:cNvSpPr>
          <p:nvPr/>
        </p:nvSpPr>
        <p:spPr bwMode="auto">
          <a:xfrm>
            <a:off x="3504122" y="2924200"/>
            <a:ext cx="329132" cy="249822"/>
          </a:xfrm>
          <a:prstGeom prst="rect">
            <a:avLst/>
          </a:prstGeom>
          <a:solidFill>
            <a:srgbClr val="00B050"/>
          </a:solidFill>
          <a:ln w="9525">
            <a:solidFill>
              <a:schemeClr val="bg1">
                <a:lumMod val="75000"/>
              </a:schemeClr>
            </a:solidFill>
            <a:miter lim="800000"/>
            <a:headEnd/>
            <a:tailEnd/>
          </a:ln>
        </p:spPr>
        <p:txBody>
          <a:bodyPr rot="10800000" wrap="none" anchor="ctr"/>
          <a:lstStyle/>
          <a:p>
            <a:pPr algn="ctr"/>
            <a:endParaRPr lang="en-US">
              <a:latin typeface="Calibri" panose="020F0502020204030204" pitchFamily="34" charset="0"/>
              <a:cs typeface="Calibri" panose="020F0502020204030204" pitchFamily="34" charset="0"/>
            </a:endParaRPr>
          </a:p>
        </p:txBody>
      </p:sp>
      <p:graphicFrame>
        <p:nvGraphicFramePr>
          <p:cNvPr id="132" name="Table 131"/>
          <p:cNvGraphicFramePr>
            <a:graphicFrameLocks noGrp="1"/>
          </p:cNvGraphicFramePr>
          <p:nvPr>
            <p:extLst>
              <p:ext uri="{D42A27DB-BD31-4B8C-83A1-F6EECF244321}">
                <p14:modId xmlns:p14="http://schemas.microsoft.com/office/powerpoint/2010/main" val="2532831317"/>
              </p:ext>
            </p:extLst>
          </p:nvPr>
        </p:nvGraphicFramePr>
        <p:xfrm>
          <a:off x="2667837" y="3546347"/>
          <a:ext cx="2264290" cy="464350"/>
        </p:xfrm>
        <a:graphic>
          <a:graphicData uri="http://schemas.openxmlformats.org/drawingml/2006/table">
            <a:tbl>
              <a:tblPr firstRow="1" bandRow="1">
                <a:tableStyleId>{F5AB1C69-6EDB-4FF4-983F-18BD219EF322}</a:tableStyleId>
              </a:tblPr>
              <a:tblGrid>
                <a:gridCol w="226429"/>
                <a:gridCol w="226429"/>
                <a:gridCol w="226429"/>
                <a:gridCol w="226429"/>
                <a:gridCol w="226429"/>
                <a:gridCol w="226429"/>
                <a:gridCol w="226429"/>
                <a:gridCol w="226429"/>
                <a:gridCol w="226429"/>
                <a:gridCol w="226429"/>
              </a:tblGrid>
              <a:tr h="232175">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000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B05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endParaRPr lang="en-US" sz="400" b="1" kern="1200" dirty="0">
                        <a:solidFill>
                          <a:schemeClr val="lt1"/>
                        </a:solidFill>
                        <a:latin typeface="+mn-lt"/>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r>
              <a:tr h="232175">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000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0B050"/>
                    </a:solid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b="1" kern="1200" dirty="0">
                        <a:solidFill>
                          <a:schemeClr val="lt1"/>
                        </a:solidFill>
                        <a:latin typeface="+mn-lt"/>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en-US" sz="4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r>
            </a:tbl>
          </a:graphicData>
        </a:graphic>
      </p:graphicFrame>
      <p:sp>
        <p:nvSpPr>
          <p:cNvPr id="133" name="Rectangle 33"/>
          <p:cNvSpPr>
            <a:spLocks noChangeArrowheads="1"/>
          </p:cNvSpPr>
          <p:nvPr/>
        </p:nvSpPr>
        <p:spPr bwMode="auto">
          <a:xfrm rot="10800000">
            <a:off x="2667837" y="3556418"/>
            <a:ext cx="2247862" cy="409575"/>
          </a:xfrm>
          <a:prstGeom prst="rect">
            <a:avLst/>
          </a:prstGeom>
          <a:no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r>
              <a:rPr lang="en-US" b="1" dirty="0" smtClean="0">
                <a:latin typeface="Calibri" panose="020F0502020204030204" pitchFamily="34" charset="0"/>
                <a:cs typeface="Calibri" panose="020F0502020204030204" pitchFamily="34" charset="0"/>
              </a:rPr>
              <a:t>Stripe Set</a:t>
            </a:r>
            <a:endParaRPr lang="en-US" b="1" dirty="0">
              <a:latin typeface="Calibri" panose="020F0502020204030204" pitchFamily="34" charset="0"/>
              <a:cs typeface="Calibri" panose="020F0502020204030204" pitchFamily="34" charset="0"/>
            </a:endParaRPr>
          </a:p>
        </p:txBody>
      </p:sp>
      <p:grpSp>
        <p:nvGrpSpPr>
          <p:cNvPr id="134" name="Group 133"/>
          <p:cNvGrpSpPr/>
          <p:nvPr/>
        </p:nvGrpSpPr>
        <p:grpSpPr>
          <a:xfrm>
            <a:off x="1376967" y="3273048"/>
            <a:ext cx="2493569" cy="259308"/>
            <a:chOff x="798078" y="1624084"/>
            <a:chExt cx="3308367" cy="348020"/>
          </a:xfrm>
          <a:effectLst>
            <a:outerShdw blurRad="50800" dist="38100" dir="2700000" algn="tl" rotWithShape="0">
              <a:prstClr val="black">
                <a:alpha val="40000"/>
              </a:prstClr>
            </a:outerShdw>
          </a:effectLst>
        </p:grpSpPr>
        <p:sp>
          <p:nvSpPr>
            <p:cNvPr id="135" name="Down Arrow 134"/>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36" name="Down Arrow 135"/>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137" name="Group 136"/>
          <p:cNvGrpSpPr/>
          <p:nvPr/>
        </p:nvGrpSpPr>
        <p:grpSpPr>
          <a:xfrm>
            <a:off x="1395545" y="4070669"/>
            <a:ext cx="2493569" cy="259308"/>
            <a:chOff x="798078" y="1624084"/>
            <a:chExt cx="3308367" cy="348020"/>
          </a:xfrm>
          <a:effectLst>
            <a:outerShdw blurRad="50800" dist="38100" dir="2700000" algn="tl" rotWithShape="0">
              <a:prstClr val="black">
                <a:alpha val="40000"/>
              </a:prstClr>
            </a:outerShdw>
          </a:effectLst>
        </p:grpSpPr>
        <p:sp>
          <p:nvSpPr>
            <p:cNvPr id="138" name="Down Arrow 137"/>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39" name="Down Arrow 138"/>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Tree>
    <p:custDataLst>
      <p:tags r:id="rId1"/>
    </p:custDataLst>
    <p:extLst>
      <p:ext uri="{BB962C8B-B14F-4D97-AF65-F5344CB8AC3E}">
        <p14:creationId xmlns:p14="http://schemas.microsoft.com/office/powerpoint/2010/main" val="2651553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2601738"/>
          </a:xfrm>
        </p:spPr>
        <p:txBody>
          <a:bodyPr/>
          <a:lstStyle/>
          <a:p>
            <a:r>
              <a:rPr lang="en-US" sz="1800" b="1" i="1" dirty="0" smtClean="0">
                <a:solidFill>
                  <a:schemeClr val="accent4">
                    <a:lumMod val="75000"/>
                  </a:schemeClr>
                </a:solidFill>
              </a:rPr>
              <a:t>Dynamic Write Balance (DWB) </a:t>
            </a:r>
            <a:r>
              <a:rPr lang="en-US" sz="1800" dirty="0" smtClean="0"/>
              <a:t>helps balance capacity (I/O) across stripe sets, however a performance bottleneck can still easily be created</a:t>
            </a:r>
          </a:p>
          <a:p>
            <a:r>
              <a:rPr lang="en-US" sz="1800" u="sng" dirty="0" smtClean="0"/>
              <a:t>Always expand stripe sets in a consistent manner to avoid creating a storage bottleneck.</a:t>
            </a:r>
          </a:p>
          <a:p>
            <a:pPr lvl="1"/>
            <a:r>
              <a:rPr lang="en-US" sz="1600" dirty="0" smtClean="0"/>
              <a:t>E.g. If the initial stripe set was created with 4 SDs, then expand by 4 SDs </a:t>
            </a:r>
          </a:p>
          <a:p>
            <a:r>
              <a:rPr lang="en-US" sz="1800" dirty="0" smtClean="0"/>
              <a:t>This is especially important when existing span/file system are already heavily utilized (which is often when customers choose to expand them)</a:t>
            </a:r>
          </a:p>
        </p:txBody>
      </p:sp>
      <p:sp>
        <p:nvSpPr>
          <p:cNvPr id="4" name="Title 3"/>
          <p:cNvSpPr>
            <a:spLocks noGrp="1"/>
          </p:cNvSpPr>
          <p:nvPr>
            <p:ph type="title"/>
          </p:nvPr>
        </p:nvSpPr>
        <p:spPr/>
        <p:txBody>
          <a:bodyPr>
            <a:normAutofit/>
          </a:bodyPr>
          <a:lstStyle/>
          <a:p>
            <a:r>
              <a:rPr lang="en-US" dirty="0" smtClean="0"/>
              <a:t>STORAGE POOL BEST </a:t>
            </a:r>
            <a:r>
              <a:rPr lang="en-US" dirty="0"/>
              <a:t>PRACTICES</a:t>
            </a:r>
            <a:br>
              <a:rPr lang="en-US" dirty="0"/>
            </a:br>
            <a:r>
              <a:rPr lang="en-US" sz="1400" dirty="0">
                <a:solidFill>
                  <a:schemeClr val="bg1">
                    <a:lumMod val="75000"/>
                  </a:schemeClr>
                </a:solidFill>
              </a:rPr>
              <a:t>EXPANDING A </a:t>
            </a:r>
            <a:r>
              <a:rPr lang="en-US" sz="1400" dirty="0" smtClean="0">
                <a:solidFill>
                  <a:schemeClr val="bg1">
                    <a:lumMod val="75000"/>
                  </a:schemeClr>
                </a:solidFill>
              </a:rPr>
              <a:t>SPAN</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1020380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3612271"/>
          </a:xfrm>
        </p:spPr>
        <p:txBody>
          <a:bodyPr/>
          <a:lstStyle/>
          <a:p>
            <a:r>
              <a:rPr lang="en-US" sz="1800" b="1" i="1" dirty="0">
                <a:solidFill>
                  <a:schemeClr val="accent4">
                    <a:lumMod val="75000"/>
                  </a:schemeClr>
                </a:solidFill>
              </a:rPr>
              <a:t>Dynamic </a:t>
            </a:r>
            <a:r>
              <a:rPr lang="en-US" sz="1800" b="1" i="1" dirty="0" smtClean="0">
                <a:solidFill>
                  <a:schemeClr val="accent4">
                    <a:lumMod val="75000"/>
                  </a:schemeClr>
                </a:solidFill>
              </a:rPr>
              <a:t>Read </a:t>
            </a:r>
            <a:r>
              <a:rPr lang="en-US" sz="1800" b="1" i="1" dirty="0">
                <a:solidFill>
                  <a:schemeClr val="accent4">
                    <a:lumMod val="75000"/>
                  </a:schemeClr>
                </a:solidFill>
              </a:rPr>
              <a:t>Balance (</a:t>
            </a:r>
            <a:r>
              <a:rPr lang="en-US" sz="1800" b="1" i="1" dirty="0" smtClean="0">
                <a:solidFill>
                  <a:schemeClr val="accent4">
                    <a:lumMod val="75000"/>
                  </a:schemeClr>
                </a:solidFill>
              </a:rPr>
              <a:t>DRB) </a:t>
            </a:r>
            <a:r>
              <a:rPr lang="en-US" sz="1800" dirty="0" smtClean="0"/>
              <a:t>should be used judiciously</a:t>
            </a:r>
            <a:endParaRPr lang="en-US" sz="1800" dirty="0"/>
          </a:p>
          <a:p>
            <a:pPr lvl="1"/>
            <a:r>
              <a:rPr lang="en-GB" sz="1600" dirty="0"/>
              <a:t>A span’s file Systems must only be expanded using chunks from the new stripeset in order to use DRB</a:t>
            </a:r>
            <a:endParaRPr lang="en-US" sz="1600" b="1" i="1" dirty="0" smtClean="0">
              <a:solidFill>
                <a:schemeClr val="accent4">
                  <a:lumMod val="75000"/>
                </a:schemeClr>
              </a:solidFill>
            </a:endParaRPr>
          </a:p>
          <a:p>
            <a:pPr lvl="2"/>
            <a:r>
              <a:rPr lang="en-US" sz="1400" b="1" i="1" dirty="0" smtClean="0">
                <a:solidFill>
                  <a:schemeClr val="accent4">
                    <a:lumMod val="75000"/>
                  </a:schemeClr>
                </a:solidFill>
              </a:rPr>
              <a:t>Pre HNAS </a:t>
            </a:r>
            <a:r>
              <a:rPr lang="en-US" sz="1400" b="1" i="1" dirty="0">
                <a:solidFill>
                  <a:schemeClr val="accent4">
                    <a:lumMod val="75000"/>
                  </a:schemeClr>
                </a:solidFill>
              </a:rPr>
              <a:t>v11.2 </a:t>
            </a:r>
            <a:r>
              <a:rPr lang="en-US" sz="1400" b="1" i="1" dirty="0" smtClean="0">
                <a:solidFill>
                  <a:schemeClr val="accent4">
                    <a:lumMod val="75000"/>
                  </a:schemeClr>
                </a:solidFill>
              </a:rPr>
              <a:t> </a:t>
            </a:r>
            <a:r>
              <a:rPr lang="en-US" sz="1400" dirty="0" smtClean="0"/>
              <a:t>Can create a “dummy FS” to utilize all existing chunks and thereby avoid having to expand existing file systems</a:t>
            </a:r>
          </a:p>
          <a:p>
            <a:pPr lvl="2"/>
            <a:r>
              <a:rPr lang="en-US" sz="1400" b="1" i="1" dirty="0" smtClean="0">
                <a:solidFill>
                  <a:schemeClr val="accent4">
                    <a:lumMod val="75000"/>
                  </a:schemeClr>
                </a:solidFill>
              </a:rPr>
              <a:t>HNAS </a:t>
            </a:r>
            <a:r>
              <a:rPr lang="en-US" sz="1400" b="1" i="1" dirty="0">
                <a:solidFill>
                  <a:schemeClr val="accent4">
                    <a:lumMod val="75000"/>
                  </a:schemeClr>
                </a:solidFill>
              </a:rPr>
              <a:t>v11.2 </a:t>
            </a:r>
            <a:r>
              <a:rPr lang="en-US" sz="1400" dirty="0" smtClean="0"/>
              <a:t>Can </a:t>
            </a:r>
            <a:r>
              <a:rPr lang="en-US" sz="1400" dirty="0"/>
              <a:t>use </a:t>
            </a:r>
            <a:r>
              <a:rPr lang="en-US" sz="1400" dirty="0" smtClean="0"/>
              <a:t>the new option ‘</a:t>
            </a:r>
            <a:r>
              <a:rPr lang="en-US" sz="1400" dirty="0" err="1" smtClean="0"/>
              <a:t>filesystem</a:t>
            </a:r>
            <a:r>
              <a:rPr lang="en-US" sz="1400" dirty="0" smtClean="0"/>
              <a:t>-expand </a:t>
            </a:r>
            <a:r>
              <a:rPr lang="en-US" sz="1400" dirty="0"/>
              <a:t>--</a:t>
            </a:r>
            <a:r>
              <a:rPr lang="en-US" sz="1400" dirty="0" smtClean="0"/>
              <a:t>on-</a:t>
            </a:r>
            <a:r>
              <a:rPr lang="en-US" sz="1400" dirty="0" err="1" smtClean="0"/>
              <a:t>stripeset</a:t>
            </a:r>
            <a:r>
              <a:rPr lang="en-US" sz="1400" dirty="0" smtClean="0"/>
              <a:t>’ to avoid creating a “dummy FS”</a:t>
            </a:r>
          </a:p>
          <a:p>
            <a:pPr lvl="1"/>
            <a:r>
              <a:rPr lang="en-US" sz="1600" dirty="0" smtClean="0"/>
              <a:t>DRB will cause snapshots to grow, as FS is rebalanced. It is therefore recommend that snapshots be deleted before running DRB</a:t>
            </a:r>
          </a:p>
          <a:p>
            <a:pPr lvl="1"/>
            <a:r>
              <a:rPr lang="en-US" sz="1600" dirty="0" smtClean="0"/>
              <a:t>DRB can help widen the storage bottleneck once it has completed (e.g. it can balance capacity across stripesets such that HNAS does not prefer all writes to one stripeset)</a:t>
            </a:r>
          </a:p>
          <a:p>
            <a:pPr marL="280987" lvl="1" indent="0">
              <a:buNone/>
            </a:pPr>
            <a:endParaRPr lang="en-US" sz="1600" dirty="0" smtClean="0"/>
          </a:p>
        </p:txBody>
      </p:sp>
      <p:sp>
        <p:nvSpPr>
          <p:cNvPr id="4" name="Title 3"/>
          <p:cNvSpPr>
            <a:spLocks noGrp="1"/>
          </p:cNvSpPr>
          <p:nvPr>
            <p:ph type="title"/>
          </p:nvPr>
        </p:nvSpPr>
        <p:spPr/>
        <p:txBody>
          <a:bodyPr>
            <a:normAutofit/>
          </a:bodyPr>
          <a:lstStyle/>
          <a:p>
            <a:r>
              <a:rPr lang="en-US" dirty="0" smtClean="0"/>
              <a:t>STORAGE POOL BEST </a:t>
            </a:r>
            <a:r>
              <a:rPr lang="en-US" dirty="0"/>
              <a:t>PRACTICES</a:t>
            </a:r>
            <a:br>
              <a:rPr lang="en-US" dirty="0"/>
            </a:br>
            <a:r>
              <a:rPr lang="en-US" sz="1400" dirty="0">
                <a:solidFill>
                  <a:schemeClr val="bg1">
                    <a:lumMod val="75000"/>
                  </a:schemeClr>
                </a:solidFill>
              </a:rPr>
              <a:t>EXPANDING A </a:t>
            </a:r>
            <a:r>
              <a:rPr lang="en-US" sz="1400" dirty="0" smtClean="0">
                <a:solidFill>
                  <a:schemeClr val="bg1">
                    <a:lumMod val="75000"/>
                  </a:schemeClr>
                </a:solidFill>
              </a:rPr>
              <a:t>SPAN (cont’d)</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77478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5522" y="947103"/>
            <a:ext cx="4640239" cy="3876762"/>
          </a:xfrm>
        </p:spPr>
        <p:txBody>
          <a:bodyPr>
            <a:noAutofit/>
          </a:bodyPr>
          <a:lstStyle/>
          <a:p>
            <a:pPr>
              <a:spcBef>
                <a:spcPts val="0"/>
              </a:spcBef>
              <a:spcAft>
                <a:spcPts val="0"/>
              </a:spcAft>
            </a:pPr>
            <a:r>
              <a:rPr lang="en-US" sz="1200" dirty="0" smtClean="0"/>
              <a:t>Filesystems are created on top of a </a:t>
            </a:r>
            <a:r>
              <a:rPr lang="en-US" sz="1200" dirty="0"/>
              <a:t>s</a:t>
            </a:r>
            <a:r>
              <a:rPr lang="en-US" sz="1200" dirty="0" smtClean="0"/>
              <a:t>pan</a:t>
            </a:r>
            <a:br>
              <a:rPr lang="en-US" sz="1200" dirty="0" smtClean="0"/>
            </a:br>
            <a:endParaRPr lang="en-US" sz="1200" dirty="0" smtClean="0"/>
          </a:p>
          <a:p>
            <a:pPr>
              <a:spcBef>
                <a:spcPts val="0"/>
              </a:spcBef>
              <a:spcAft>
                <a:spcPts val="0"/>
              </a:spcAft>
            </a:pPr>
            <a:r>
              <a:rPr lang="en-US" sz="1200" b="1" i="1" u="sng" dirty="0">
                <a:solidFill>
                  <a:schemeClr val="accent4">
                    <a:lumMod val="75000"/>
                  </a:schemeClr>
                </a:solidFill>
              </a:rPr>
              <a:t>Pre HNAS </a:t>
            </a:r>
            <a:r>
              <a:rPr lang="en-US" sz="1200" b="1" i="1" u="sng" dirty="0" smtClean="0">
                <a:solidFill>
                  <a:schemeClr val="accent4">
                    <a:lumMod val="75000"/>
                  </a:schemeClr>
                </a:solidFill>
              </a:rPr>
              <a:t>v11.2</a:t>
            </a:r>
            <a:r>
              <a:rPr lang="en-US" sz="1200" dirty="0" smtClean="0"/>
              <a:t>, a file system cannot grow larger than 1,023 chunks or 256TB (whichever comes first)</a:t>
            </a:r>
            <a:br>
              <a:rPr lang="en-US" sz="1200" dirty="0" smtClean="0"/>
            </a:br>
            <a:endParaRPr lang="en-US" sz="1200" dirty="0" smtClean="0"/>
          </a:p>
          <a:p>
            <a:pPr>
              <a:spcBef>
                <a:spcPts val="0"/>
              </a:spcBef>
              <a:spcAft>
                <a:spcPts val="0"/>
              </a:spcAft>
            </a:pPr>
            <a:r>
              <a:rPr lang="en-US" sz="1200" b="1" i="1" u="sng" dirty="0" smtClean="0">
                <a:solidFill>
                  <a:schemeClr val="accent4">
                    <a:lumMod val="75000"/>
                  </a:schemeClr>
                </a:solidFill>
              </a:rPr>
              <a:t>Post HNAS v11.2</a:t>
            </a:r>
            <a:r>
              <a:rPr lang="en-US" sz="1200" dirty="0" smtClean="0"/>
              <a:t>, a file system cannot grow larger than 60,000 chunks or 256TB (whichever comes first)</a:t>
            </a:r>
          </a:p>
          <a:p>
            <a:pPr>
              <a:spcBef>
                <a:spcPts val="0"/>
              </a:spcBef>
              <a:spcAft>
                <a:spcPts val="0"/>
              </a:spcAft>
            </a:pPr>
            <a:r>
              <a:rPr lang="en-US" sz="1200" dirty="0" smtClean="0"/>
              <a:t>File systems are bound to an EVS (Enterprise Virtual Server)</a:t>
            </a:r>
            <a:br>
              <a:rPr lang="en-US" sz="1200" dirty="0" smtClean="0"/>
            </a:br>
            <a:endParaRPr lang="en-US" sz="1200" dirty="0" smtClean="0"/>
          </a:p>
          <a:p>
            <a:pPr>
              <a:spcBef>
                <a:spcPts val="0"/>
              </a:spcBef>
              <a:spcAft>
                <a:spcPts val="0"/>
              </a:spcAft>
            </a:pPr>
            <a:r>
              <a:rPr lang="en-US" sz="1200" dirty="0" smtClean="0"/>
              <a:t>You can pre-expand a </a:t>
            </a:r>
            <a:r>
              <a:rPr lang="en-US" sz="1200" dirty="0" err="1" smtClean="0"/>
              <a:t>filesystem</a:t>
            </a:r>
            <a:r>
              <a:rPr lang="en-US" sz="1200" dirty="0" smtClean="0"/>
              <a:t> or confine it to a maximum capacity and allow it to auto-expand as it fills, or let it auto-expand without a pre-defined confinement level (not typically recommended).</a:t>
            </a:r>
            <a:br>
              <a:rPr lang="en-US" sz="1200" dirty="0" smtClean="0"/>
            </a:br>
            <a:endParaRPr lang="en-US" sz="1200" dirty="0" smtClean="0"/>
          </a:p>
          <a:p>
            <a:pPr>
              <a:spcBef>
                <a:spcPts val="0"/>
              </a:spcBef>
              <a:spcAft>
                <a:spcPts val="0"/>
              </a:spcAft>
            </a:pPr>
            <a:r>
              <a:rPr lang="en-US" sz="1200" dirty="0" smtClean="0"/>
              <a:t>A file system can auto-expand as </a:t>
            </a:r>
            <a:r>
              <a:rPr lang="en-US" sz="1200" dirty="0"/>
              <a:t>long as the span has space and the fs doesn't reach the max capacity or </a:t>
            </a:r>
            <a:r>
              <a:rPr lang="en-US" sz="1200" dirty="0" smtClean="0"/>
              <a:t>max chunk count.</a:t>
            </a:r>
            <a:br>
              <a:rPr lang="en-US" sz="1200" dirty="0" smtClean="0"/>
            </a:br>
            <a:endParaRPr lang="en-US" sz="1200" dirty="0" smtClean="0"/>
          </a:p>
          <a:p>
            <a:pPr>
              <a:spcBef>
                <a:spcPts val="0"/>
              </a:spcBef>
              <a:spcAft>
                <a:spcPts val="0"/>
              </a:spcAft>
            </a:pPr>
            <a:r>
              <a:rPr lang="en-US" sz="1200" dirty="0" smtClean="0"/>
              <a:t>A file system cannot be shrunk</a:t>
            </a:r>
          </a:p>
          <a:p>
            <a:endParaRPr lang="en-US" sz="1050" dirty="0" smtClean="0"/>
          </a:p>
          <a:p>
            <a:endParaRPr lang="en-US" sz="1050" dirty="0"/>
          </a:p>
        </p:txBody>
      </p:sp>
      <p:sp>
        <p:nvSpPr>
          <p:cNvPr id="2" name="Title 1"/>
          <p:cNvSpPr>
            <a:spLocks noGrp="1"/>
          </p:cNvSpPr>
          <p:nvPr>
            <p:ph type="title"/>
          </p:nvPr>
        </p:nvSpPr>
        <p:spPr/>
        <p:txBody>
          <a:bodyPr/>
          <a:lstStyle/>
          <a:p>
            <a:r>
              <a:rPr lang="en-US" dirty="0" smtClean="0"/>
              <a:t>FILE SYSTEMS</a:t>
            </a:r>
            <a:endParaRPr lang="en-US" dirty="0"/>
          </a:p>
        </p:txBody>
      </p:sp>
      <p:sp>
        <p:nvSpPr>
          <p:cNvPr id="6" name="Rectangle 2"/>
          <p:cNvSpPr>
            <a:spLocks noChangeArrowheads="1"/>
          </p:cNvSpPr>
          <p:nvPr/>
        </p:nvSpPr>
        <p:spPr bwMode="auto">
          <a:xfrm>
            <a:off x="126359" y="977352"/>
            <a:ext cx="4262438" cy="3969345"/>
          </a:xfrm>
          <a:prstGeom prst="rect">
            <a:avLst/>
          </a:prstGeom>
          <a:solidFill>
            <a:schemeClr val="bg1"/>
          </a:solidFill>
          <a:ln w="28575">
            <a:solidFill>
              <a:srgbClr val="0070C0"/>
            </a:solidFill>
            <a:miter lim="800000"/>
            <a:headEnd/>
            <a:tailEnd/>
          </a:ln>
        </p:spPr>
        <p:txBody>
          <a:bodyPr wrap="none" anchor="ctr"/>
          <a:lstStyle/>
          <a:p>
            <a:endParaRPr lang="en-US" dirty="0"/>
          </a:p>
        </p:txBody>
      </p:sp>
      <p:pic>
        <p:nvPicPr>
          <p:cNvPr id="7" name="Picture 5" descr="storage_pool_2"/>
          <p:cNvPicPr>
            <a:picLocks noChangeAspect="1" noChangeArrowheads="1"/>
          </p:cNvPicPr>
          <p:nvPr/>
        </p:nvPicPr>
        <p:blipFill>
          <a:blip r:embed="rId4" cstate="print"/>
          <a:srcRect/>
          <a:stretch>
            <a:fillRect/>
          </a:stretch>
        </p:blipFill>
        <p:spPr bwMode="auto">
          <a:xfrm>
            <a:off x="751332" y="2455449"/>
            <a:ext cx="2973388" cy="1013153"/>
          </a:xfrm>
          <a:prstGeom prst="rect">
            <a:avLst/>
          </a:prstGeom>
          <a:noFill/>
          <a:ln w="9525">
            <a:noFill/>
            <a:miter lim="800000"/>
            <a:headEnd/>
            <a:tailEnd/>
          </a:ln>
        </p:spPr>
      </p:pic>
      <p:pic>
        <p:nvPicPr>
          <p:cNvPr id="8" name="Picture 6" descr="LSP_system_1"/>
          <p:cNvPicPr>
            <a:picLocks noChangeAspect="1" noChangeArrowheads="1"/>
          </p:cNvPicPr>
          <p:nvPr/>
        </p:nvPicPr>
        <p:blipFill>
          <a:blip r:embed="rId5" cstate="print"/>
          <a:srcRect/>
          <a:stretch>
            <a:fillRect/>
          </a:stretch>
        </p:blipFill>
        <p:spPr bwMode="auto">
          <a:xfrm>
            <a:off x="751332" y="2657385"/>
            <a:ext cx="363538" cy="715967"/>
          </a:xfrm>
          <a:prstGeom prst="rect">
            <a:avLst/>
          </a:prstGeom>
          <a:noFill/>
          <a:ln w="9525">
            <a:noFill/>
            <a:miter lim="800000"/>
            <a:headEnd/>
            <a:tailEnd/>
          </a:ln>
        </p:spPr>
      </p:pic>
      <p:pic>
        <p:nvPicPr>
          <p:cNvPr id="9" name="Picture 7" descr="LSP_system_2"/>
          <p:cNvPicPr>
            <a:picLocks noChangeAspect="1" noChangeArrowheads="1"/>
          </p:cNvPicPr>
          <p:nvPr/>
        </p:nvPicPr>
        <p:blipFill>
          <a:blip r:embed="rId6" cstate="print"/>
          <a:srcRect/>
          <a:stretch>
            <a:fillRect/>
          </a:stretch>
        </p:blipFill>
        <p:spPr bwMode="auto">
          <a:xfrm>
            <a:off x="1119632" y="2762928"/>
            <a:ext cx="552450" cy="686624"/>
          </a:xfrm>
          <a:prstGeom prst="rect">
            <a:avLst/>
          </a:prstGeom>
          <a:noFill/>
          <a:ln w="9525">
            <a:noFill/>
            <a:miter lim="800000"/>
            <a:headEnd/>
            <a:tailEnd/>
          </a:ln>
        </p:spPr>
      </p:pic>
      <p:sp>
        <p:nvSpPr>
          <p:cNvPr id="10" name="Text Box 22"/>
          <p:cNvSpPr txBox="1">
            <a:spLocks noChangeArrowheads="1"/>
          </p:cNvSpPr>
          <p:nvPr/>
        </p:nvSpPr>
        <p:spPr bwMode="auto">
          <a:xfrm>
            <a:off x="1238315" y="3446968"/>
            <a:ext cx="1963999" cy="307777"/>
          </a:xfrm>
          <a:prstGeom prst="rect">
            <a:avLst/>
          </a:prstGeom>
          <a:noFill/>
          <a:ln w="9525">
            <a:noFill/>
            <a:miter lim="800000"/>
            <a:headEnd/>
            <a:tailEnd/>
          </a:ln>
        </p:spPr>
        <p:txBody>
          <a:bodyPr wrap="none">
            <a:spAutoFit/>
          </a:bodyPr>
          <a:lstStyle/>
          <a:p>
            <a:pPr algn="ctr" eaLnBrk="0" hangingPunct="0"/>
            <a:r>
              <a:rPr lang="en-US" sz="1400" b="1" dirty="0">
                <a:ea typeface="ＭＳ Ｐゴシック"/>
                <a:cs typeface="ＭＳ Ｐゴシック"/>
              </a:rPr>
              <a:t>Logical Storage Pool</a:t>
            </a:r>
          </a:p>
        </p:txBody>
      </p:sp>
      <p:sp>
        <p:nvSpPr>
          <p:cNvPr id="11" name="Text Box 23"/>
          <p:cNvSpPr txBox="1">
            <a:spLocks noChangeArrowheads="1"/>
          </p:cNvSpPr>
          <p:nvPr/>
        </p:nvSpPr>
        <p:spPr bwMode="auto">
          <a:xfrm>
            <a:off x="2459134" y="2842334"/>
            <a:ext cx="1125415" cy="461665"/>
          </a:xfrm>
          <a:prstGeom prst="rect">
            <a:avLst/>
          </a:prstGeom>
          <a:noFill/>
          <a:ln w="9525">
            <a:noFill/>
            <a:miter lim="800000"/>
            <a:headEnd/>
            <a:tailEnd/>
          </a:ln>
        </p:spPr>
        <p:txBody>
          <a:bodyPr wrap="square">
            <a:spAutoFit/>
          </a:bodyPr>
          <a:lstStyle/>
          <a:p>
            <a:pPr algn="ctr" eaLnBrk="0" hangingPunct="0"/>
            <a:r>
              <a:rPr lang="en-US" sz="1200" b="1" dirty="0">
                <a:ea typeface="ＭＳ Ｐゴシック"/>
                <a:cs typeface="ＭＳ Ｐゴシック"/>
              </a:rPr>
              <a:t>Un-allocated Free Space</a:t>
            </a:r>
          </a:p>
        </p:txBody>
      </p:sp>
      <p:pic>
        <p:nvPicPr>
          <p:cNvPr id="12" name="Picture 12" descr="SiliconStack"/>
          <p:cNvPicPr>
            <a:picLocks noChangeAspect="1" noChangeArrowheads="1"/>
          </p:cNvPicPr>
          <p:nvPr/>
        </p:nvPicPr>
        <p:blipFill>
          <a:blip r:embed="rId7" cstate="print"/>
          <a:srcRect/>
          <a:stretch>
            <a:fillRect/>
          </a:stretch>
        </p:blipFill>
        <p:spPr bwMode="auto">
          <a:xfrm>
            <a:off x="367723" y="1069485"/>
            <a:ext cx="3700463" cy="829866"/>
          </a:xfrm>
          <a:prstGeom prst="rect">
            <a:avLst/>
          </a:prstGeom>
          <a:noFill/>
          <a:ln w="28575">
            <a:noFill/>
            <a:miter lim="800000"/>
            <a:headEnd/>
            <a:tailEnd/>
          </a:ln>
        </p:spPr>
      </p:pic>
      <p:pic>
        <p:nvPicPr>
          <p:cNvPr id="13" name="Picture 13" descr="FS_1_med"/>
          <p:cNvPicPr>
            <a:picLocks noChangeAspect="1" noChangeArrowheads="1"/>
          </p:cNvPicPr>
          <p:nvPr/>
        </p:nvPicPr>
        <p:blipFill>
          <a:blip r:embed="rId8" cstate="print"/>
          <a:srcRect/>
          <a:stretch>
            <a:fillRect/>
          </a:stretch>
        </p:blipFill>
        <p:spPr bwMode="auto">
          <a:xfrm>
            <a:off x="978909" y="1339757"/>
            <a:ext cx="495300" cy="323850"/>
          </a:xfrm>
          <a:prstGeom prst="rect">
            <a:avLst/>
          </a:prstGeom>
          <a:noFill/>
          <a:ln w="9525">
            <a:noFill/>
            <a:miter lim="800000"/>
            <a:headEnd/>
            <a:tailEnd/>
          </a:ln>
        </p:spPr>
      </p:pic>
      <p:pic>
        <p:nvPicPr>
          <p:cNvPr id="14" name="Picture 14" descr="FS_2_med"/>
          <p:cNvPicPr>
            <a:picLocks noChangeAspect="1" noChangeArrowheads="1"/>
          </p:cNvPicPr>
          <p:nvPr/>
        </p:nvPicPr>
        <p:blipFill>
          <a:blip r:embed="rId9" cstate="print"/>
          <a:srcRect/>
          <a:stretch>
            <a:fillRect/>
          </a:stretch>
        </p:blipFill>
        <p:spPr bwMode="auto">
          <a:xfrm>
            <a:off x="3068059" y="1379048"/>
            <a:ext cx="376238" cy="253603"/>
          </a:xfrm>
          <a:prstGeom prst="rect">
            <a:avLst/>
          </a:prstGeom>
          <a:noFill/>
          <a:ln w="9525">
            <a:noFill/>
            <a:miter lim="800000"/>
            <a:headEnd/>
            <a:tailEnd/>
          </a:ln>
        </p:spPr>
      </p:pic>
      <p:pic>
        <p:nvPicPr>
          <p:cNvPr id="15" name="Picture 15" descr="FS_4_med"/>
          <p:cNvPicPr>
            <a:picLocks noChangeAspect="1" noChangeArrowheads="1"/>
          </p:cNvPicPr>
          <p:nvPr/>
        </p:nvPicPr>
        <p:blipFill>
          <a:blip r:embed="rId10" cstate="print"/>
          <a:srcRect/>
          <a:stretch>
            <a:fillRect/>
          </a:stretch>
        </p:blipFill>
        <p:spPr bwMode="auto">
          <a:xfrm>
            <a:off x="1859973" y="1355235"/>
            <a:ext cx="696913" cy="426244"/>
          </a:xfrm>
          <a:prstGeom prst="rect">
            <a:avLst/>
          </a:prstGeom>
          <a:noFill/>
          <a:ln w="9525">
            <a:noFill/>
            <a:miter lim="800000"/>
            <a:headEnd/>
            <a:tailEnd/>
          </a:ln>
        </p:spPr>
      </p:pic>
      <p:sp>
        <p:nvSpPr>
          <p:cNvPr id="16" name="Rectangle 16"/>
          <p:cNvSpPr>
            <a:spLocks noChangeArrowheads="1"/>
          </p:cNvSpPr>
          <p:nvPr/>
        </p:nvSpPr>
        <p:spPr bwMode="auto">
          <a:xfrm>
            <a:off x="358196" y="1062341"/>
            <a:ext cx="3709988" cy="842963"/>
          </a:xfrm>
          <a:prstGeom prst="rect">
            <a:avLst/>
          </a:prstGeom>
          <a:noFill/>
          <a:ln w="19050">
            <a:solidFill>
              <a:srgbClr val="8DBEFF"/>
            </a:solidFill>
            <a:miter lim="800000"/>
            <a:headEnd/>
            <a:tailEnd/>
          </a:ln>
        </p:spPr>
        <p:txBody>
          <a:bodyPr wrap="none" anchor="ctr"/>
          <a:lstStyle/>
          <a:p>
            <a:endParaRPr lang="en-US" dirty="0"/>
          </a:p>
        </p:txBody>
      </p:sp>
      <p:sp>
        <p:nvSpPr>
          <p:cNvPr id="17" name="Text Box 22"/>
          <p:cNvSpPr txBox="1">
            <a:spLocks noChangeArrowheads="1"/>
          </p:cNvSpPr>
          <p:nvPr/>
        </p:nvSpPr>
        <p:spPr bwMode="auto">
          <a:xfrm>
            <a:off x="1460701" y="1892993"/>
            <a:ext cx="1522596" cy="307777"/>
          </a:xfrm>
          <a:prstGeom prst="rect">
            <a:avLst/>
          </a:prstGeom>
          <a:noFill/>
          <a:ln w="9525">
            <a:noFill/>
            <a:miter lim="800000"/>
            <a:headEnd/>
            <a:tailEnd/>
          </a:ln>
        </p:spPr>
        <p:txBody>
          <a:bodyPr wrap="none">
            <a:spAutoFit/>
          </a:bodyPr>
          <a:lstStyle/>
          <a:p>
            <a:pPr algn="ctr" eaLnBrk="0" hangingPunct="0"/>
            <a:r>
              <a:rPr lang="en-US" sz="1400" b="1" dirty="0" smtClean="0">
                <a:ea typeface="ＭＳ Ｐゴシック"/>
                <a:cs typeface="ＭＳ Ｐゴシック"/>
              </a:rPr>
              <a:t>Virtual Volumes</a:t>
            </a:r>
            <a:endParaRPr lang="en-US" sz="1400" b="1" dirty="0">
              <a:ea typeface="ＭＳ Ｐゴシック"/>
              <a:cs typeface="ＭＳ Ｐゴシック"/>
            </a:endParaRPr>
          </a:p>
        </p:txBody>
      </p:sp>
      <p:sp>
        <p:nvSpPr>
          <p:cNvPr id="18" name="Rectangle 17"/>
          <p:cNvSpPr/>
          <p:nvPr/>
        </p:nvSpPr>
        <p:spPr bwMode="auto">
          <a:xfrm>
            <a:off x="1665314" y="2827793"/>
            <a:ext cx="532563" cy="631485"/>
          </a:xfrm>
          <a:prstGeom prst="rect">
            <a:avLst/>
          </a:prstGeom>
          <a:solidFill>
            <a:srgbClr val="FF3399"/>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p:txBody>
      </p:sp>
      <p:sp>
        <p:nvSpPr>
          <p:cNvPr id="19" name="Text Box 22"/>
          <p:cNvSpPr txBox="1">
            <a:spLocks noChangeArrowheads="1"/>
          </p:cNvSpPr>
          <p:nvPr/>
        </p:nvSpPr>
        <p:spPr bwMode="auto">
          <a:xfrm>
            <a:off x="1422503" y="4298565"/>
            <a:ext cx="1438214" cy="307777"/>
          </a:xfrm>
          <a:prstGeom prst="rect">
            <a:avLst/>
          </a:prstGeom>
          <a:noFill/>
          <a:ln w="9525">
            <a:noFill/>
            <a:miter lim="800000"/>
            <a:headEnd/>
            <a:tailEnd/>
          </a:ln>
        </p:spPr>
        <p:txBody>
          <a:bodyPr wrap="none">
            <a:spAutoFit/>
          </a:bodyPr>
          <a:lstStyle/>
          <a:p>
            <a:pPr algn="ctr" eaLnBrk="0" hangingPunct="0"/>
            <a:r>
              <a:rPr lang="en-US" sz="1400" b="1" dirty="0" smtClean="0">
                <a:ea typeface="ＭＳ Ｐゴシック"/>
                <a:cs typeface="ＭＳ Ｐゴシック"/>
              </a:rPr>
              <a:t>Physical Disks</a:t>
            </a:r>
            <a:endParaRPr lang="en-US" sz="1400" b="1" dirty="0">
              <a:ea typeface="ＭＳ Ｐゴシック"/>
              <a:cs typeface="ＭＳ Ｐゴシック"/>
            </a:endParaRPr>
          </a:p>
        </p:txBody>
      </p:sp>
      <p:grpSp>
        <p:nvGrpSpPr>
          <p:cNvPr id="4" name="Group 25"/>
          <p:cNvGrpSpPr>
            <a:grpSpLocks/>
          </p:cNvGrpSpPr>
          <p:nvPr/>
        </p:nvGrpSpPr>
        <p:grpSpPr bwMode="auto">
          <a:xfrm>
            <a:off x="433040" y="3844719"/>
            <a:ext cx="935038" cy="132159"/>
            <a:chOff x="533" y="2799"/>
            <a:chExt cx="589" cy="111"/>
          </a:xfrm>
        </p:grpSpPr>
        <p:pic>
          <p:nvPicPr>
            <p:cNvPr id="2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2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2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2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5" name="Group 25"/>
          <p:cNvGrpSpPr>
            <a:grpSpLocks/>
          </p:cNvGrpSpPr>
          <p:nvPr/>
        </p:nvGrpSpPr>
        <p:grpSpPr bwMode="auto">
          <a:xfrm>
            <a:off x="585440" y="3981879"/>
            <a:ext cx="935038" cy="132159"/>
            <a:chOff x="533" y="2799"/>
            <a:chExt cx="589" cy="111"/>
          </a:xfrm>
        </p:grpSpPr>
        <p:pic>
          <p:nvPicPr>
            <p:cNvPr id="26"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27"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28"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29"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20" name="Group 25"/>
          <p:cNvGrpSpPr>
            <a:grpSpLocks/>
          </p:cNvGrpSpPr>
          <p:nvPr/>
        </p:nvGrpSpPr>
        <p:grpSpPr bwMode="auto">
          <a:xfrm>
            <a:off x="737840" y="4119039"/>
            <a:ext cx="935038" cy="132159"/>
            <a:chOff x="533" y="2799"/>
            <a:chExt cx="589" cy="111"/>
          </a:xfrm>
        </p:grpSpPr>
        <p:pic>
          <p:nvPicPr>
            <p:cNvPr id="3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3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3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3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25" name="Group 25"/>
          <p:cNvGrpSpPr>
            <a:grpSpLocks/>
          </p:cNvGrpSpPr>
          <p:nvPr/>
        </p:nvGrpSpPr>
        <p:grpSpPr bwMode="auto">
          <a:xfrm>
            <a:off x="1540028" y="3855270"/>
            <a:ext cx="935038" cy="132159"/>
            <a:chOff x="533" y="2799"/>
            <a:chExt cx="589" cy="111"/>
          </a:xfrm>
        </p:grpSpPr>
        <p:pic>
          <p:nvPicPr>
            <p:cNvPr id="36"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37"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38"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39"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30" name="Group 25"/>
          <p:cNvGrpSpPr>
            <a:grpSpLocks/>
          </p:cNvGrpSpPr>
          <p:nvPr/>
        </p:nvGrpSpPr>
        <p:grpSpPr bwMode="auto">
          <a:xfrm>
            <a:off x="1692428" y="3992430"/>
            <a:ext cx="935038" cy="132159"/>
            <a:chOff x="533" y="2799"/>
            <a:chExt cx="589" cy="111"/>
          </a:xfrm>
        </p:grpSpPr>
        <p:pic>
          <p:nvPicPr>
            <p:cNvPr id="4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4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4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4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35" name="Group 25"/>
          <p:cNvGrpSpPr>
            <a:grpSpLocks/>
          </p:cNvGrpSpPr>
          <p:nvPr/>
        </p:nvGrpSpPr>
        <p:grpSpPr bwMode="auto">
          <a:xfrm>
            <a:off x="1844828" y="4129590"/>
            <a:ext cx="935038" cy="132159"/>
            <a:chOff x="533" y="2799"/>
            <a:chExt cx="589" cy="111"/>
          </a:xfrm>
        </p:grpSpPr>
        <p:pic>
          <p:nvPicPr>
            <p:cNvPr id="46"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47"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48"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49"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40" name="Group 25"/>
          <p:cNvGrpSpPr>
            <a:grpSpLocks/>
          </p:cNvGrpSpPr>
          <p:nvPr/>
        </p:nvGrpSpPr>
        <p:grpSpPr bwMode="auto">
          <a:xfrm>
            <a:off x="2675487" y="3864314"/>
            <a:ext cx="935038" cy="132159"/>
            <a:chOff x="533" y="2799"/>
            <a:chExt cx="589" cy="111"/>
          </a:xfrm>
        </p:grpSpPr>
        <p:pic>
          <p:nvPicPr>
            <p:cNvPr id="5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5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5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5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45" name="Group 25"/>
          <p:cNvGrpSpPr>
            <a:grpSpLocks/>
          </p:cNvGrpSpPr>
          <p:nvPr/>
        </p:nvGrpSpPr>
        <p:grpSpPr bwMode="auto">
          <a:xfrm>
            <a:off x="2827887" y="4001474"/>
            <a:ext cx="935038" cy="132159"/>
            <a:chOff x="533" y="2799"/>
            <a:chExt cx="589" cy="111"/>
          </a:xfrm>
        </p:grpSpPr>
        <p:pic>
          <p:nvPicPr>
            <p:cNvPr id="56"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57"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58"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59"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50" name="Group 25"/>
          <p:cNvGrpSpPr>
            <a:grpSpLocks/>
          </p:cNvGrpSpPr>
          <p:nvPr/>
        </p:nvGrpSpPr>
        <p:grpSpPr bwMode="auto">
          <a:xfrm>
            <a:off x="2980287" y="4138634"/>
            <a:ext cx="935038" cy="132159"/>
            <a:chOff x="533" y="2799"/>
            <a:chExt cx="589" cy="111"/>
          </a:xfrm>
        </p:grpSpPr>
        <p:pic>
          <p:nvPicPr>
            <p:cNvPr id="6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6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6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6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sp>
        <p:nvSpPr>
          <p:cNvPr id="65" name="Rectangle 2"/>
          <p:cNvSpPr>
            <a:spLocks noChangeArrowheads="1"/>
          </p:cNvSpPr>
          <p:nvPr/>
        </p:nvSpPr>
        <p:spPr bwMode="auto">
          <a:xfrm>
            <a:off x="358196" y="1055872"/>
            <a:ext cx="3709989" cy="858742"/>
          </a:xfrm>
          <a:prstGeom prst="rect">
            <a:avLst/>
          </a:prstGeom>
          <a:noFill/>
          <a:ln w="28575">
            <a:noFill/>
            <a:miter lim="800000"/>
            <a:headEnd/>
            <a:tailEnd/>
          </a:ln>
        </p:spPr>
        <p:txBody>
          <a:bodyPr wrap="none" anchor="ctr"/>
          <a:lstStyle/>
          <a:p>
            <a:endParaRPr lang="en-US" dirty="0"/>
          </a:p>
        </p:txBody>
      </p:sp>
      <p:sp>
        <p:nvSpPr>
          <p:cNvPr id="55" name="Rectangle 54"/>
          <p:cNvSpPr/>
          <p:nvPr/>
        </p:nvSpPr>
        <p:spPr>
          <a:xfrm>
            <a:off x="694184" y="2619284"/>
            <a:ext cx="477838" cy="79216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66" name="Text Box 22"/>
          <p:cNvSpPr txBox="1">
            <a:spLocks noChangeArrowheads="1"/>
          </p:cNvSpPr>
          <p:nvPr/>
        </p:nvSpPr>
        <p:spPr bwMode="auto">
          <a:xfrm>
            <a:off x="1573432" y="2186070"/>
            <a:ext cx="1279516" cy="307777"/>
          </a:xfrm>
          <a:prstGeom prst="rect">
            <a:avLst/>
          </a:prstGeom>
          <a:noFill/>
          <a:ln w="9525">
            <a:noFill/>
            <a:miter lim="800000"/>
            <a:headEnd/>
            <a:tailEnd/>
          </a:ln>
        </p:spPr>
        <p:txBody>
          <a:bodyPr wrap="none">
            <a:spAutoFit/>
          </a:bodyPr>
          <a:lstStyle/>
          <a:p>
            <a:pPr algn="ctr" eaLnBrk="0" hangingPunct="0"/>
            <a:r>
              <a:rPr lang="en-US" sz="1400" b="1" dirty="0" smtClean="0">
                <a:ea typeface="ＭＳ Ｐゴシック"/>
                <a:cs typeface="ＭＳ Ｐゴシック"/>
              </a:rPr>
              <a:t>File Systems</a:t>
            </a:r>
            <a:endParaRPr lang="en-US" sz="1400" b="1" dirty="0">
              <a:ea typeface="ＭＳ Ｐゴシック"/>
              <a:cs typeface="ＭＳ Ｐゴシック"/>
            </a:endParaRPr>
          </a:p>
        </p:txBody>
      </p:sp>
      <p:sp>
        <p:nvSpPr>
          <p:cNvPr id="73" name="Rectangle 72"/>
          <p:cNvSpPr/>
          <p:nvPr/>
        </p:nvSpPr>
        <p:spPr>
          <a:xfrm>
            <a:off x="1405424" y="2206541"/>
            <a:ext cx="1577873" cy="2308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Tree>
    <p:custDataLst>
      <p:tags r:id="rId1"/>
    </p:custDataLst>
    <p:extLst>
      <p:ext uri="{BB962C8B-B14F-4D97-AF65-F5344CB8AC3E}">
        <p14:creationId xmlns:p14="http://schemas.microsoft.com/office/powerpoint/2010/main" val="1001394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FILE SYSTEMS </a:t>
            </a:r>
            <a:r>
              <a:rPr lang="en-US" dirty="0"/>
              <a:t>BEST PRACTICES </a:t>
            </a:r>
            <a:r>
              <a:rPr lang="en-US" dirty="0" smtClean="0"/>
              <a:t> </a:t>
            </a:r>
            <a:br>
              <a:rPr lang="en-US" dirty="0" smtClean="0"/>
            </a:br>
            <a:r>
              <a:rPr lang="en-US" sz="1400" dirty="0" smtClean="0">
                <a:solidFill>
                  <a:schemeClr val="bg1">
                    <a:lumMod val="75000"/>
                  </a:schemeClr>
                </a:solidFill>
              </a:rPr>
              <a:t>AUTO-EXPANSION</a:t>
            </a:r>
            <a:r>
              <a:rPr lang="en-US" sz="1400" dirty="0">
                <a:solidFill>
                  <a:schemeClr val="bg1">
                    <a:lumMod val="75000"/>
                  </a:schemeClr>
                </a:solidFill>
              </a:rPr>
              <a:t>, BLOCK SIZE, </a:t>
            </a:r>
            <a:r>
              <a:rPr lang="en-US" sz="1400" dirty="0" smtClean="0">
                <a:solidFill>
                  <a:schemeClr val="bg1">
                    <a:lumMod val="75000"/>
                  </a:schemeClr>
                </a:solidFill>
              </a:rPr>
              <a:t>UTILIZATION</a:t>
            </a:r>
            <a:endParaRPr lang="en-US" sz="1400" dirty="0">
              <a:solidFill>
                <a:schemeClr val="bg1">
                  <a:lumMod val="75000"/>
                </a:schemeClr>
              </a:solidFill>
            </a:endParaRPr>
          </a:p>
        </p:txBody>
      </p:sp>
      <p:sp>
        <p:nvSpPr>
          <p:cNvPr id="6" name="Rectangle 5"/>
          <p:cNvSpPr/>
          <p:nvPr/>
        </p:nvSpPr>
        <p:spPr>
          <a:xfrm>
            <a:off x="257080" y="1452991"/>
            <a:ext cx="3989695" cy="1999397"/>
          </a:xfrm>
          <a:prstGeom prst="rect">
            <a:avLst/>
          </a:pr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lvl="1" indent="-171450">
              <a:lnSpc>
                <a:spcPct val="100000"/>
              </a:lnSpc>
              <a:buFont typeface="Wingdings" panose="05000000000000000000" pitchFamily="2" charset="2"/>
              <a:buChar char="§"/>
            </a:pPr>
            <a:endParaRPr lang="en-US" sz="1600" dirty="0" smtClean="0">
              <a:latin typeface="Calibri" panose="020F0502020204030204" pitchFamily="34" charset="0"/>
              <a:cs typeface="Calibri" panose="020F0502020204030204" pitchFamily="34" charset="0"/>
            </a:endParaRPr>
          </a:p>
          <a:p>
            <a:r>
              <a:rPr lang="en-US" sz="1600" dirty="0" smtClean="0"/>
              <a:t>Provides </a:t>
            </a:r>
            <a:r>
              <a:rPr lang="en-US" sz="1600" dirty="0"/>
              <a:t>best efficiency with small files but should only be used with 10k/SSD drives</a:t>
            </a:r>
          </a:p>
          <a:p>
            <a:endParaRPr lang="en-US" sz="1600" dirty="0" smtClean="0"/>
          </a:p>
          <a:p>
            <a:r>
              <a:rPr lang="en-US" sz="1600" dirty="0" smtClean="0"/>
              <a:t>Is best </a:t>
            </a:r>
            <a:r>
              <a:rPr lang="en-US" sz="1600" dirty="0"/>
              <a:t>suited to small block random I/O, 32kb FS to large block I/O</a:t>
            </a:r>
          </a:p>
        </p:txBody>
      </p:sp>
      <p:sp>
        <p:nvSpPr>
          <p:cNvPr id="7" name="Rectangle 6"/>
          <p:cNvSpPr/>
          <p:nvPr/>
        </p:nvSpPr>
        <p:spPr>
          <a:xfrm>
            <a:off x="4922036" y="1452992"/>
            <a:ext cx="3989695" cy="1999398"/>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1200" dirty="0" smtClean="0">
              <a:latin typeface="Calibri" panose="020F0502020204030204" pitchFamily="34" charset="0"/>
              <a:cs typeface="Calibri" panose="020F0502020204030204" pitchFamily="34" charset="0"/>
            </a:endParaRPr>
          </a:p>
          <a:p>
            <a:r>
              <a:rPr lang="en-US" sz="1600" dirty="0"/>
              <a:t>Should always be used with slower dense drives i.e. 7.2k </a:t>
            </a:r>
            <a:r>
              <a:rPr lang="en-US" sz="1600" dirty="0" smtClean="0"/>
              <a:t>SAS</a:t>
            </a:r>
          </a:p>
          <a:p>
            <a:endParaRPr lang="en-US" sz="1600" dirty="0"/>
          </a:p>
          <a:p>
            <a:r>
              <a:rPr lang="en-US" sz="1600" dirty="0" smtClean="0"/>
              <a:t>Best suited to large block/sequential I/O</a:t>
            </a:r>
            <a:endParaRPr lang="en-US" sz="1600" dirty="0"/>
          </a:p>
        </p:txBody>
      </p:sp>
      <p:sp>
        <p:nvSpPr>
          <p:cNvPr id="8" name="Rectangle 7"/>
          <p:cNvSpPr/>
          <p:nvPr/>
        </p:nvSpPr>
        <p:spPr>
          <a:xfrm>
            <a:off x="257081" y="1050383"/>
            <a:ext cx="3989695" cy="402609"/>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latin typeface="Calibri" panose="020F0502020204030204" pitchFamily="34" charset="0"/>
                <a:cs typeface="Calibri" panose="020F0502020204030204" pitchFamily="34" charset="0"/>
              </a:rPr>
              <a:t>4 KB File Systems</a:t>
            </a:r>
            <a:endParaRPr lang="en-US" sz="2400" b="1" dirty="0">
              <a:latin typeface="Calibri" panose="020F0502020204030204" pitchFamily="34" charset="0"/>
              <a:cs typeface="Calibri" panose="020F0502020204030204" pitchFamily="34" charset="0"/>
            </a:endParaRPr>
          </a:p>
        </p:txBody>
      </p:sp>
      <p:sp>
        <p:nvSpPr>
          <p:cNvPr id="10" name="Rectangle 9"/>
          <p:cNvSpPr/>
          <p:nvPr/>
        </p:nvSpPr>
        <p:spPr>
          <a:xfrm>
            <a:off x="4922036" y="1050383"/>
            <a:ext cx="3989695" cy="402609"/>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latin typeface="Calibri" panose="020F0502020204030204" pitchFamily="34" charset="0"/>
                <a:cs typeface="Calibri" panose="020F0502020204030204" pitchFamily="34" charset="0"/>
              </a:rPr>
              <a:t>32 KB File Systems</a:t>
            </a:r>
            <a:endParaRPr lang="en-US" sz="2400" b="1" dirty="0">
              <a:latin typeface="Calibri" panose="020F0502020204030204" pitchFamily="34" charset="0"/>
              <a:cs typeface="Calibri" panose="020F0502020204030204" pitchFamily="34" charset="0"/>
            </a:endParaRPr>
          </a:p>
        </p:txBody>
      </p:sp>
      <p:sp>
        <p:nvSpPr>
          <p:cNvPr id="9" name="Content Placeholder 1"/>
          <p:cNvSpPr>
            <a:spLocks noGrp="1"/>
          </p:cNvSpPr>
          <p:nvPr>
            <p:ph idx="1"/>
          </p:nvPr>
        </p:nvSpPr>
        <p:spPr>
          <a:xfrm>
            <a:off x="257080" y="3630633"/>
            <a:ext cx="8584006" cy="923330"/>
          </a:xfrm>
        </p:spPr>
        <p:txBody>
          <a:bodyPr/>
          <a:lstStyle/>
          <a:p>
            <a:r>
              <a:rPr lang="en-US" sz="1800" dirty="0" smtClean="0"/>
              <a:t>In many environments 32kb is a good fit, except when majority of files are small (capacity efficiency) or average I/O size is small (4-16kb) which could cause </a:t>
            </a:r>
            <a:r>
              <a:rPr lang="en-US" sz="1800" smtClean="0"/>
              <a:t>excessive RMW</a:t>
            </a:r>
            <a:endParaRPr lang="en-US" sz="1800" dirty="0"/>
          </a:p>
        </p:txBody>
      </p:sp>
    </p:spTree>
    <p:custDataLst>
      <p:tags r:id="rId1"/>
    </p:custDataLst>
    <p:extLst>
      <p:ext uri="{BB962C8B-B14F-4D97-AF65-F5344CB8AC3E}">
        <p14:creationId xmlns:p14="http://schemas.microsoft.com/office/powerpoint/2010/main" val="117850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FILE SYSTEMS </a:t>
            </a:r>
            <a:r>
              <a:rPr lang="en-US" dirty="0"/>
              <a:t>BEST PRACTICES </a:t>
            </a:r>
            <a:r>
              <a:rPr lang="en-US" dirty="0" smtClean="0"/>
              <a:t> </a:t>
            </a:r>
            <a:br>
              <a:rPr lang="en-US" dirty="0" smtClean="0"/>
            </a:br>
            <a:r>
              <a:rPr lang="en-US" sz="1400" dirty="0" smtClean="0">
                <a:solidFill>
                  <a:schemeClr val="bg1">
                    <a:lumMod val="75000"/>
                  </a:schemeClr>
                </a:solidFill>
              </a:rPr>
              <a:t>AUTO-EXPANSION</a:t>
            </a:r>
            <a:r>
              <a:rPr lang="en-US" sz="1400" dirty="0">
                <a:solidFill>
                  <a:schemeClr val="bg1">
                    <a:lumMod val="75000"/>
                  </a:schemeClr>
                </a:solidFill>
              </a:rPr>
              <a:t>, BLOCK SIZE, </a:t>
            </a:r>
            <a:r>
              <a:rPr lang="en-US" sz="1400" dirty="0" smtClean="0">
                <a:solidFill>
                  <a:schemeClr val="bg1">
                    <a:lumMod val="75000"/>
                  </a:schemeClr>
                </a:solidFill>
              </a:rPr>
              <a:t>UTILIZATION</a:t>
            </a:r>
            <a:endParaRPr lang="en-US" sz="1400" dirty="0">
              <a:solidFill>
                <a:schemeClr val="bg1">
                  <a:lumMod val="75000"/>
                </a:schemeClr>
              </a:solidFill>
            </a:endParaRPr>
          </a:p>
        </p:txBody>
      </p:sp>
      <p:sp>
        <p:nvSpPr>
          <p:cNvPr id="5" name="Content Placeholder 1"/>
          <p:cNvSpPr>
            <a:spLocks noGrp="1"/>
          </p:cNvSpPr>
          <p:nvPr>
            <p:ph idx="1"/>
          </p:nvPr>
        </p:nvSpPr>
        <p:spPr>
          <a:xfrm>
            <a:off x="264160" y="1026841"/>
            <a:ext cx="8584006" cy="2983894"/>
          </a:xfrm>
        </p:spPr>
        <p:txBody>
          <a:bodyPr/>
          <a:lstStyle/>
          <a:p>
            <a:r>
              <a:rPr lang="en-US" sz="1600" dirty="0"/>
              <a:t>In general it is advantageous to allow the file system </a:t>
            </a:r>
            <a:r>
              <a:rPr lang="en-US" sz="1600" dirty="0" smtClean="0"/>
              <a:t>to auto-expand </a:t>
            </a:r>
            <a:r>
              <a:rPr lang="en-US" sz="1600" dirty="0"/>
              <a:t>as required for a few reasons</a:t>
            </a:r>
          </a:p>
          <a:p>
            <a:pPr lvl="1"/>
            <a:r>
              <a:rPr lang="en-US" sz="1400" dirty="0" smtClean="0"/>
              <a:t>It </a:t>
            </a:r>
            <a:r>
              <a:rPr lang="en-US" sz="1400" dirty="0"/>
              <a:t>allows the chunk allocator to take </a:t>
            </a:r>
            <a:r>
              <a:rPr lang="en-US" sz="1400" dirty="0" smtClean="0"/>
              <a:t>advantage of </a:t>
            </a:r>
            <a:r>
              <a:rPr lang="en-US" sz="1400" dirty="0"/>
              <a:t>new information -- for example, if one deletes </a:t>
            </a:r>
            <a:r>
              <a:rPr lang="en-US" sz="1400" dirty="0" smtClean="0"/>
              <a:t>file system </a:t>
            </a:r>
            <a:r>
              <a:rPr lang="en-US" sz="1400" dirty="0"/>
              <a:t>A while </a:t>
            </a:r>
            <a:r>
              <a:rPr lang="en-US" sz="1400" dirty="0" smtClean="0"/>
              <a:t>file system </a:t>
            </a:r>
            <a:r>
              <a:rPr lang="en-US" sz="1400" dirty="0"/>
              <a:t>B is still auto-expanding, the chunk allocator can back-fill previously used chunks by including them in </a:t>
            </a:r>
            <a:r>
              <a:rPr lang="en-US" sz="1400" dirty="0" smtClean="0"/>
              <a:t>file system </a:t>
            </a:r>
            <a:r>
              <a:rPr lang="en-US" sz="1400" dirty="0"/>
              <a:t>B to balance load optimally across the </a:t>
            </a:r>
            <a:r>
              <a:rPr lang="en-US" sz="1400" dirty="0" err="1"/>
              <a:t>stripesets</a:t>
            </a:r>
            <a:r>
              <a:rPr lang="en-US" sz="1400" dirty="0"/>
              <a:t>.</a:t>
            </a:r>
          </a:p>
          <a:p>
            <a:pPr lvl="1"/>
            <a:r>
              <a:rPr lang="en-US" sz="1400" dirty="0"/>
              <a:t>I</a:t>
            </a:r>
            <a:r>
              <a:rPr lang="en-US" sz="1400" dirty="0" smtClean="0"/>
              <a:t>t </a:t>
            </a:r>
            <a:r>
              <a:rPr lang="en-US" sz="1400" dirty="0"/>
              <a:t>allows capacity to be allocated on demand rather than “paying” up front for the capacity.</a:t>
            </a:r>
          </a:p>
          <a:p>
            <a:pPr lvl="1"/>
            <a:r>
              <a:rPr lang="en-US" sz="1400" dirty="0" smtClean="0"/>
              <a:t>File </a:t>
            </a:r>
            <a:r>
              <a:rPr lang="en-US" sz="1400" dirty="0"/>
              <a:t>systems can't be shrunk, only expanded. Auto-expansion prevents possible over allocation of capacity that can’t easily be undone.</a:t>
            </a:r>
          </a:p>
          <a:p>
            <a:pPr lvl="1"/>
            <a:r>
              <a:rPr lang="en-US" sz="1400" dirty="0" smtClean="0"/>
              <a:t>Auto-expansion </a:t>
            </a:r>
            <a:r>
              <a:rPr lang="en-US" sz="1400" dirty="0"/>
              <a:t>provides more optimal behavior in later code releases. In our 12.1 release which features HDP Integration, we strongly discourage large manual expansions since large expansion using HDP (1TB) could take multiple minutes to complete.</a:t>
            </a:r>
          </a:p>
        </p:txBody>
      </p:sp>
    </p:spTree>
    <p:custDataLst>
      <p:tags r:id="rId1"/>
    </p:custDataLst>
    <p:extLst>
      <p:ext uri="{BB962C8B-B14F-4D97-AF65-F5344CB8AC3E}">
        <p14:creationId xmlns:p14="http://schemas.microsoft.com/office/powerpoint/2010/main" val="1465954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4167038"/>
          </a:xfrm>
        </p:spPr>
        <p:txBody>
          <a:bodyPr/>
          <a:lstStyle/>
          <a:p>
            <a:r>
              <a:rPr lang="en-US" sz="1100" b="1" i="1" dirty="0" smtClean="0">
                <a:solidFill>
                  <a:schemeClr val="accent4">
                    <a:lumMod val="75000"/>
                  </a:schemeClr>
                </a:solidFill>
              </a:rPr>
              <a:t>Avoid filling file system </a:t>
            </a:r>
            <a:r>
              <a:rPr lang="en-US" sz="1100" dirty="0" smtClean="0"/>
              <a:t>beyond specific capacity limits (80-90% max.)</a:t>
            </a:r>
          </a:p>
          <a:p>
            <a:pPr lvl="1"/>
            <a:r>
              <a:rPr lang="en-US" sz="1000" dirty="0" smtClean="0"/>
              <a:t>As file system fills the </a:t>
            </a:r>
            <a:r>
              <a:rPr lang="en-US" sz="1000" dirty="0" err="1" smtClean="0"/>
              <a:t>Superflush</a:t>
            </a:r>
            <a:r>
              <a:rPr lang="en-US" sz="1000" dirty="0" smtClean="0"/>
              <a:t> efficiency degrades</a:t>
            </a:r>
          </a:p>
          <a:p>
            <a:pPr lvl="1"/>
            <a:r>
              <a:rPr lang="en-US" sz="1000" dirty="0" smtClean="0"/>
              <a:t>Results in less sequential writes and more random writes</a:t>
            </a:r>
          </a:p>
          <a:p>
            <a:pPr lvl="1"/>
            <a:r>
              <a:rPr lang="en-US" sz="1000" dirty="0" err="1" smtClean="0"/>
              <a:t>FreeSpaceAllocator</a:t>
            </a:r>
            <a:r>
              <a:rPr lang="en-US" sz="1000" dirty="0" smtClean="0"/>
              <a:t> (FSA) spends more time searching for rather than allocating blocks</a:t>
            </a:r>
          </a:p>
          <a:p>
            <a:r>
              <a:rPr lang="en-US" sz="1100" dirty="0" smtClean="0"/>
              <a:t>In general, avoid creating many small file systems (&lt;1TB) and attempt to use larger file systems with multiple virtual volumes. </a:t>
            </a:r>
          </a:p>
          <a:p>
            <a:pPr lvl="1"/>
            <a:r>
              <a:rPr lang="en-US" sz="1000" dirty="0" smtClean="0"/>
              <a:t>At the time of writing this document, HNAS is limited to 128 file system in a single node or 125 in a cluster.</a:t>
            </a:r>
          </a:p>
          <a:p>
            <a:pPr lvl="1"/>
            <a:r>
              <a:rPr lang="en-US" sz="1000" dirty="0" smtClean="0"/>
              <a:t>Many file system that represent a small amount of data might may impact scalability (limited # of </a:t>
            </a:r>
            <a:r>
              <a:rPr lang="en-US" sz="1000" dirty="0" err="1" smtClean="0"/>
              <a:t>filesystems</a:t>
            </a:r>
            <a:r>
              <a:rPr lang="en-US" sz="1000" dirty="0" smtClean="0"/>
              <a:t>) or replication (# concurrent replication policies)</a:t>
            </a:r>
          </a:p>
          <a:p>
            <a:pPr lvl="1"/>
            <a:r>
              <a:rPr lang="en-US" sz="1000" dirty="0" smtClean="0"/>
              <a:t>Sometimes there are very good reasons to continue using multiple smaller file systems (snapshots &amp; replication granularity)</a:t>
            </a:r>
          </a:p>
          <a:p>
            <a:r>
              <a:rPr lang="en-US" sz="1100" dirty="0" smtClean="0"/>
              <a:t>File systems that are too large however could impact the scale of downtime in the event of catastrophic event </a:t>
            </a:r>
          </a:p>
          <a:p>
            <a:pPr lvl="1"/>
            <a:r>
              <a:rPr lang="en-US" sz="1000" dirty="0" smtClean="0"/>
              <a:t>Larger file systems take longer to fix should corruption/storage trauma occur</a:t>
            </a:r>
          </a:p>
          <a:p>
            <a:pPr lvl="1"/>
            <a:r>
              <a:rPr lang="en-US" sz="1000" dirty="0" smtClean="0"/>
              <a:t>Larger file systems take longer to backup/recover (NDMP backup)</a:t>
            </a:r>
          </a:p>
          <a:p>
            <a:r>
              <a:rPr lang="en-US" sz="1100" dirty="0" smtClean="0"/>
              <a:t>In Summary, select the file system size appropriate to business requirements and HNAS scalability limits</a:t>
            </a:r>
            <a:r>
              <a:rPr lang="en-US" sz="1650" dirty="0" smtClean="0"/>
              <a:t/>
            </a:r>
            <a:br>
              <a:rPr lang="en-US" sz="1650" dirty="0" smtClean="0"/>
            </a:br>
            <a:endParaRPr lang="en-US" sz="1650" dirty="0" smtClean="0"/>
          </a:p>
        </p:txBody>
      </p:sp>
      <p:sp>
        <p:nvSpPr>
          <p:cNvPr id="4" name="Title 3"/>
          <p:cNvSpPr>
            <a:spLocks noGrp="1"/>
          </p:cNvSpPr>
          <p:nvPr>
            <p:ph type="title"/>
          </p:nvPr>
        </p:nvSpPr>
        <p:spPr/>
        <p:txBody>
          <a:bodyPr>
            <a:normAutofit/>
          </a:bodyPr>
          <a:lstStyle/>
          <a:p>
            <a:r>
              <a:rPr lang="en-US" dirty="0"/>
              <a:t>FILE SYSTEMS BEST </a:t>
            </a:r>
            <a:r>
              <a:rPr lang="en-US" dirty="0" smtClean="0"/>
              <a:t>PRACTICES (cont’d)</a:t>
            </a:r>
            <a:r>
              <a:rPr lang="en-US" dirty="0"/>
              <a:t/>
            </a:r>
            <a:br>
              <a:rPr lang="en-US" dirty="0"/>
            </a:br>
            <a:r>
              <a:rPr lang="en-US" sz="1400" dirty="0">
                <a:solidFill>
                  <a:schemeClr val="bg1">
                    <a:lumMod val="75000"/>
                  </a:schemeClr>
                </a:solidFill>
              </a:rPr>
              <a:t>AUTO-EXPANSION, BLOCK SIZE, </a:t>
            </a:r>
            <a:r>
              <a:rPr lang="en-US" sz="1400" dirty="0" smtClean="0">
                <a:solidFill>
                  <a:schemeClr val="bg1">
                    <a:lumMod val="75000"/>
                  </a:schemeClr>
                </a:solidFill>
              </a:rPr>
              <a:t>UTILIZATION</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513340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3055681"/>
            <a:ext cx="8584006" cy="1928733"/>
          </a:xfrm>
        </p:spPr>
        <p:txBody>
          <a:bodyPr/>
          <a:lstStyle/>
          <a:p>
            <a:r>
              <a:rPr lang="en-US" sz="1400" dirty="0" smtClean="0"/>
              <a:t>Avoid multiple EVS sharing an HNAS storage pool</a:t>
            </a:r>
          </a:p>
          <a:p>
            <a:pPr lvl="1"/>
            <a:r>
              <a:rPr lang="en-US" sz="1200" dirty="0"/>
              <a:t>HNAS Q-Depth per SD is 32. HNAS understands port Q-Depth limits of Hitachi Storage Arrays. </a:t>
            </a:r>
            <a:r>
              <a:rPr lang="en-US" sz="1200" dirty="0" smtClean="0"/>
              <a:t>SD Q-Depth </a:t>
            </a:r>
            <a:r>
              <a:rPr lang="en-US" sz="1200" dirty="0"/>
              <a:t>is set </a:t>
            </a:r>
            <a:r>
              <a:rPr lang="en-US" sz="1200" dirty="0" smtClean="0"/>
              <a:t>at 32 regardless </a:t>
            </a:r>
            <a:r>
              <a:rPr lang="en-US" sz="1200" dirty="0"/>
              <a:t>of underlying RG size or disk type within a specific array.</a:t>
            </a:r>
          </a:p>
          <a:p>
            <a:pPr lvl="1"/>
            <a:r>
              <a:rPr lang="en-US" sz="1200" dirty="0" smtClean="0"/>
              <a:t>If more than one EVS mounts file systems from the same pool across HNAS nodes, then SD queues are shared across two nodes reducing available Q-Depth per SD on each node</a:t>
            </a:r>
          </a:p>
          <a:p>
            <a:pPr lvl="1"/>
            <a:r>
              <a:rPr lang="en-US" sz="1200" dirty="0" smtClean="0"/>
              <a:t>If SDs that compose an HNAS storage pool are shared across two nodes (because the file systems on that pool are mounted by EVSs on each node), then Q-Depth per SD will be reduced to 16. This will likely incur performance penalties when under load.</a:t>
            </a:r>
            <a:endParaRPr lang="en-US" sz="1200" dirty="0"/>
          </a:p>
        </p:txBody>
      </p:sp>
      <p:sp>
        <p:nvSpPr>
          <p:cNvPr id="4" name="Title 3"/>
          <p:cNvSpPr>
            <a:spLocks noGrp="1"/>
          </p:cNvSpPr>
          <p:nvPr>
            <p:ph type="title"/>
          </p:nvPr>
        </p:nvSpPr>
        <p:spPr/>
        <p:txBody>
          <a:bodyPr>
            <a:normAutofit/>
          </a:bodyPr>
          <a:lstStyle/>
          <a:p>
            <a:r>
              <a:rPr lang="en-US" dirty="0"/>
              <a:t>FILE SYSTEMS BEST PRACTICES (cont’d)</a:t>
            </a:r>
            <a:br>
              <a:rPr lang="en-US" dirty="0"/>
            </a:br>
            <a:r>
              <a:rPr lang="en-US" sz="1400" dirty="0" smtClean="0">
                <a:solidFill>
                  <a:schemeClr val="bg1">
                    <a:lumMod val="75000"/>
                  </a:schemeClr>
                </a:solidFill>
              </a:rPr>
              <a:t>Q DEPTH</a:t>
            </a:r>
            <a:endParaRPr lang="en-US" sz="1400" dirty="0">
              <a:solidFill>
                <a:schemeClr val="bg1">
                  <a:lumMod val="75000"/>
                </a:schemeClr>
              </a:solidFill>
            </a:endParaRPr>
          </a:p>
        </p:txBody>
      </p:sp>
      <p:sp>
        <p:nvSpPr>
          <p:cNvPr id="5" name="Rounded Rectangle 4"/>
          <p:cNvSpPr/>
          <p:nvPr/>
        </p:nvSpPr>
        <p:spPr bwMode="auto">
          <a:xfrm>
            <a:off x="2406649" y="935436"/>
            <a:ext cx="1936750" cy="536050"/>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lstStyle/>
          <a:p>
            <a:pPr marL="381000" indent="-381000">
              <a:tabLst>
                <a:tab pos="2246313" algn="l"/>
                <a:tab pos="2514600" algn="l"/>
              </a:tabLst>
            </a:pPr>
            <a:endParaRPr lang="en-US">
              <a:solidFill>
                <a:srgbClr val="333333"/>
              </a:solidFill>
              <a:latin typeface="Arial" charset="0"/>
            </a:endParaRPr>
          </a:p>
        </p:txBody>
      </p:sp>
      <p:sp>
        <p:nvSpPr>
          <p:cNvPr id="6" name="Rounded Rectangle 5"/>
          <p:cNvSpPr/>
          <p:nvPr/>
        </p:nvSpPr>
        <p:spPr bwMode="auto">
          <a:xfrm>
            <a:off x="4605336" y="935437"/>
            <a:ext cx="1938338" cy="536049"/>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lstStyle/>
          <a:p>
            <a:pPr marL="381000" indent="-381000">
              <a:tabLst>
                <a:tab pos="2246313" algn="l"/>
                <a:tab pos="2514600" algn="l"/>
              </a:tabLst>
            </a:pPr>
            <a:endParaRPr lang="en-US" b="1">
              <a:solidFill>
                <a:srgbClr val="333333"/>
              </a:solidFill>
              <a:latin typeface="Arial" charset="0"/>
            </a:endParaRPr>
          </a:p>
        </p:txBody>
      </p:sp>
      <p:grpSp>
        <p:nvGrpSpPr>
          <p:cNvPr id="37" name="Group 36"/>
          <p:cNvGrpSpPr/>
          <p:nvPr/>
        </p:nvGrpSpPr>
        <p:grpSpPr>
          <a:xfrm>
            <a:off x="3064452" y="1075123"/>
            <a:ext cx="568324" cy="672525"/>
            <a:chOff x="1151165" y="1354138"/>
            <a:chExt cx="568324" cy="896700"/>
          </a:xfrm>
        </p:grpSpPr>
        <p:sp>
          <p:nvSpPr>
            <p:cNvPr id="38" name="Isosceles Triangle 37"/>
            <p:cNvSpPr/>
            <p:nvPr/>
          </p:nvSpPr>
          <p:spPr>
            <a:xfrm>
              <a:off x="1206954" y="1354138"/>
              <a:ext cx="348343" cy="896700"/>
            </a:xfrm>
            <a:prstGeom prst="triangle">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spAutoFit/>
            </a:bodyPr>
            <a:lstStyle/>
            <a:p>
              <a:pPr algn="ctr">
                <a:spcBef>
                  <a:spcPts val="600"/>
                </a:spcBef>
              </a:pPr>
              <a:endParaRPr lang="en-US" sz="1600" dirty="0" err="1" smtClean="0">
                <a:solidFill>
                  <a:schemeClr val="tx1">
                    <a:lumMod val="85000"/>
                    <a:lumOff val="15000"/>
                  </a:schemeClr>
                </a:solidFill>
                <a:latin typeface="+mj-lt"/>
              </a:endParaRPr>
            </a:p>
          </p:txBody>
        </p:sp>
        <p:sp>
          <p:nvSpPr>
            <p:cNvPr id="39" name="TextBox 38"/>
            <p:cNvSpPr txBox="1">
              <a:spLocks noChangeArrowheads="1"/>
            </p:cNvSpPr>
            <p:nvPr/>
          </p:nvSpPr>
          <p:spPr bwMode="auto">
            <a:xfrm>
              <a:off x="1151165" y="1393957"/>
              <a:ext cx="568324"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1600">
                  <a:solidFill>
                    <a:srgbClr val="333333"/>
                  </a:solidFill>
                  <a:latin typeface="Arial" charset="0"/>
                  <a:ea typeface="ＭＳ Ｐゴシック" pitchFamily="34" charset="-128"/>
                </a:defRPr>
              </a:lvl1pPr>
              <a:lvl2pPr marL="742950" indent="-285750" eaLnBrk="0" hangingPunct="0">
                <a:defRPr kumimoji="1" sz="1600">
                  <a:solidFill>
                    <a:srgbClr val="333333"/>
                  </a:solidFill>
                  <a:latin typeface="Arial" charset="0"/>
                  <a:ea typeface="ＭＳ Ｐゴシック" pitchFamily="34" charset="-128"/>
                </a:defRPr>
              </a:lvl2pPr>
              <a:lvl3pPr marL="1143000" indent="-228600" eaLnBrk="0" hangingPunct="0">
                <a:defRPr kumimoji="1" sz="1600">
                  <a:solidFill>
                    <a:srgbClr val="333333"/>
                  </a:solidFill>
                  <a:latin typeface="Arial" charset="0"/>
                  <a:ea typeface="ＭＳ Ｐゴシック" pitchFamily="34" charset="-128"/>
                </a:defRPr>
              </a:lvl3pPr>
              <a:lvl4pPr marL="1600200" indent="-228600" eaLnBrk="0" hangingPunct="0">
                <a:defRPr kumimoji="1" sz="1600">
                  <a:solidFill>
                    <a:srgbClr val="333333"/>
                  </a:solidFill>
                  <a:latin typeface="Arial" charset="0"/>
                  <a:ea typeface="ＭＳ Ｐゴシック" pitchFamily="34" charset="-128"/>
                </a:defRPr>
              </a:lvl4pPr>
              <a:lvl5pPr marL="2057400" indent="-228600" eaLnBrk="0" hangingPunct="0">
                <a:defRPr kumimoji="1" sz="1600">
                  <a:solidFill>
                    <a:srgbClr val="333333"/>
                  </a:solidFill>
                  <a:latin typeface="Arial" charset="0"/>
                  <a:ea typeface="ＭＳ Ｐゴシック" pitchFamily="34" charset="-128"/>
                </a:defRPr>
              </a:lvl5pPr>
              <a:lvl6pPr marL="25146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6pPr>
              <a:lvl7pPr marL="29718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7pPr>
              <a:lvl8pPr marL="34290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8pPr>
              <a:lvl9pPr marL="38862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9pPr>
            </a:lstStyle>
            <a:p>
              <a:pPr eaLnBrk="1" hangingPunct="1">
                <a:buFontTx/>
                <a:buNone/>
              </a:pPr>
              <a:r>
                <a:rPr lang="en-US" sz="1050" b="1" dirty="0" smtClean="0"/>
                <a:t>EVS</a:t>
              </a:r>
              <a:endParaRPr lang="en-US" sz="1050" b="1" dirty="0"/>
            </a:p>
          </p:txBody>
        </p:sp>
      </p:grpSp>
      <p:grpSp>
        <p:nvGrpSpPr>
          <p:cNvPr id="43" name="Group 42"/>
          <p:cNvGrpSpPr/>
          <p:nvPr/>
        </p:nvGrpSpPr>
        <p:grpSpPr>
          <a:xfrm>
            <a:off x="5383666" y="1075123"/>
            <a:ext cx="568324" cy="672525"/>
            <a:chOff x="1151165" y="1354138"/>
            <a:chExt cx="568324" cy="896700"/>
          </a:xfrm>
        </p:grpSpPr>
        <p:sp>
          <p:nvSpPr>
            <p:cNvPr id="47" name="Isosceles Triangle 46"/>
            <p:cNvSpPr/>
            <p:nvPr/>
          </p:nvSpPr>
          <p:spPr>
            <a:xfrm>
              <a:off x="1206954" y="1354138"/>
              <a:ext cx="348343" cy="896700"/>
            </a:xfrm>
            <a:prstGeom prst="triangle">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spAutoFit/>
            </a:bodyPr>
            <a:lstStyle/>
            <a:p>
              <a:pPr algn="ctr">
                <a:spcBef>
                  <a:spcPts val="600"/>
                </a:spcBef>
              </a:pPr>
              <a:endParaRPr lang="en-US" sz="1600" dirty="0" err="1" smtClean="0">
                <a:solidFill>
                  <a:schemeClr val="tx1">
                    <a:lumMod val="85000"/>
                    <a:lumOff val="15000"/>
                  </a:schemeClr>
                </a:solidFill>
                <a:latin typeface="+mj-lt"/>
              </a:endParaRPr>
            </a:p>
          </p:txBody>
        </p:sp>
        <p:sp>
          <p:nvSpPr>
            <p:cNvPr id="48" name="TextBox 38"/>
            <p:cNvSpPr txBox="1">
              <a:spLocks noChangeArrowheads="1"/>
            </p:cNvSpPr>
            <p:nvPr/>
          </p:nvSpPr>
          <p:spPr bwMode="auto">
            <a:xfrm>
              <a:off x="1151165" y="1393957"/>
              <a:ext cx="568324"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1600">
                  <a:solidFill>
                    <a:srgbClr val="333333"/>
                  </a:solidFill>
                  <a:latin typeface="Arial" charset="0"/>
                  <a:ea typeface="ＭＳ Ｐゴシック" pitchFamily="34" charset="-128"/>
                </a:defRPr>
              </a:lvl1pPr>
              <a:lvl2pPr marL="742950" indent="-285750" eaLnBrk="0" hangingPunct="0">
                <a:defRPr kumimoji="1" sz="1600">
                  <a:solidFill>
                    <a:srgbClr val="333333"/>
                  </a:solidFill>
                  <a:latin typeface="Arial" charset="0"/>
                  <a:ea typeface="ＭＳ Ｐゴシック" pitchFamily="34" charset="-128"/>
                </a:defRPr>
              </a:lvl2pPr>
              <a:lvl3pPr marL="1143000" indent="-228600" eaLnBrk="0" hangingPunct="0">
                <a:defRPr kumimoji="1" sz="1600">
                  <a:solidFill>
                    <a:srgbClr val="333333"/>
                  </a:solidFill>
                  <a:latin typeface="Arial" charset="0"/>
                  <a:ea typeface="ＭＳ Ｐゴシック" pitchFamily="34" charset="-128"/>
                </a:defRPr>
              </a:lvl3pPr>
              <a:lvl4pPr marL="1600200" indent="-228600" eaLnBrk="0" hangingPunct="0">
                <a:defRPr kumimoji="1" sz="1600">
                  <a:solidFill>
                    <a:srgbClr val="333333"/>
                  </a:solidFill>
                  <a:latin typeface="Arial" charset="0"/>
                  <a:ea typeface="ＭＳ Ｐゴシック" pitchFamily="34" charset="-128"/>
                </a:defRPr>
              </a:lvl4pPr>
              <a:lvl5pPr marL="2057400" indent="-228600" eaLnBrk="0" hangingPunct="0">
                <a:defRPr kumimoji="1" sz="1600">
                  <a:solidFill>
                    <a:srgbClr val="333333"/>
                  </a:solidFill>
                  <a:latin typeface="Arial" charset="0"/>
                  <a:ea typeface="ＭＳ Ｐゴシック" pitchFamily="34" charset="-128"/>
                </a:defRPr>
              </a:lvl5pPr>
              <a:lvl6pPr marL="25146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6pPr>
              <a:lvl7pPr marL="29718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7pPr>
              <a:lvl8pPr marL="34290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8pPr>
              <a:lvl9pPr marL="38862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9pPr>
            </a:lstStyle>
            <a:p>
              <a:pPr eaLnBrk="1" hangingPunct="1">
                <a:buFontTx/>
                <a:buNone/>
              </a:pPr>
              <a:r>
                <a:rPr lang="en-US" sz="1050" b="1" dirty="0" smtClean="0"/>
                <a:t>EVS</a:t>
              </a:r>
              <a:endParaRPr lang="en-US" sz="1050" b="1" dirty="0"/>
            </a:p>
          </p:txBody>
        </p:sp>
      </p:grpSp>
      <p:pic>
        <p:nvPicPr>
          <p:cNvPr id="63" name="Picture 5" descr="storage_pool_2"/>
          <p:cNvPicPr>
            <a:picLocks noChangeAspect="1" noChangeArrowheads="1"/>
          </p:cNvPicPr>
          <p:nvPr/>
        </p:nvPicPr>
        <p:blipFill>
          <a:blip r:embed="rId3" cstate="print"/>
          <a:srcRect/>
          <a:stretch>
            <a:fillRect/>
          </a:stretch>
        </p:blipFill>
        <p:spPr bwMode="auto">
          <a:xfrm>
            <a:off x="1981891" y="1876770"/>
            <a:ext cx="2151571" cy="733127"/>
          </a:xfrm>
          <a:prstGeom prst="rect">
            <a:avLst/>
          </a:prstGeom>
          <a:noFill/>
          <a:ln w="9525">
            <a:noFill/>
            <a:miter lim="800000"/>
            <a:headEnd/>
            <a:tailEnd/>
          </a:ln>
        </p:spPr>
      </p:pic>
      <p:pic>
        <p:nvPicPr>
          <p:cNvPr id="64" name="Picture 6" descr="LSP_system_1"/>
          <p:cNvPicPr>
            <a:picLocks noChangeAspect="1" noChangeArrowheads="1"/>
          </p:cNvPicPr>
          <p:nvPr/>
        </p:nvPicPr>
        <p:blipFill>
          <a:blip r:embed="rId4" cstate="print"/>
          <a:srcRect/>
          <a:stretch>
            <a:fillRect/>
          </a:stretch>
        </p:blipFill>
        <p:spPr bwMode="auto">
          <a:xfrm>
            <a:off x="1986653" y="2016269"/>
            <a:ext cx="263059" cy="530424"/>
          </a:xfrm>
          <a:prstGeom prst="rect">
            <a:avLst/>
          </a:prstGeom>
          <a:noFill/>
          <a:ln w="9525">
            <a:noFill/>
            <a:miter lim="800000"/>
            <a:headEnd/>
            <a:tailEnd/>
          </a:ln>
        </p:spPr>
      </p:pic>
      <p:pic>
        <p:nvPicPr>
          <p:cNvPr id="65" name="Picture 7" descr="LSP_system_2"/>
          <p:cNvPicPr>
            <a:picLocks noChangeAspect="1" noChangeArrowheads="1"/>
          </p:cNvPicPr>
          <p:nvPr/>
        </p:nvPicPr>
        <p:blipFill>
          <a:blip r:embed="rId5" cstate="print"/>
          <a:srcRect/>
          <a:stretch>
            <a:fillRect/>
          </a:stretch>
        </p:blipFill>
        <p:spPr bwMode="auto">
          <a:xfrm>
            <a:off x="2256880" y="2094000"/>
            <a:ext cx="399758" cy="506573"/>
          </a:xfrm>
          <a:prstGeom prst="rect">
            <a:avLst/>
          </a:prstGeom>
          <a:noFill/>
          <a:ln w="9525">
            <a:noFill/>
            <a:miter lim="800000"/>
            <a:headEnd/>
            <a:tailEnd/>
          </a:ln>
        </p:spPr>
      </p:pic>
      <p:pic>
        <p:nvPicPr>
          <p:cNvPr id="70" name="Picture 5" descr="storage_pool_2"/>
          <p:cNvPicPr>
            <a:picLocks noChangeAspect="1" noChangeArrowheads="1"/>
          </p:cNvPicPr>
          <p:nvPr/>
        </p:nvPicPr>
        <p:blipFill>
          <a:blip r:embed="rId3" cstate="print"/>
          <a:srcRect/>
          <a:stretch>
            <a:fillRect/>
          </a:stretch>
        </p:blipFill>
        <p:spPr bwMode="auto">
          <a:xfrm>
            <a:off x="4712013" y="1885504"/>
            <a:ext cx="2151571" cy="733127"/>
          </a:xfrm>
          <a:prstGeom prst="rect">
            <a:avLst/>
          </a:prstGeom>
          <a:noFill/>
          <a:ln w="9525">
            <a:noFill/>
            <a:miter lim="800000"/>
            <a:headEnd/>
            <a:tailEnd/>
          </a:ln>
        </p:spPr>
      </p:pic>
      <p:pic>
        <p:nvPicPr>
          <p:cNvPr id="71" name="Picture 6" descr="LSP_system_1"/>
          <p:cNvPicPr>
            <a:picLocks noChangeAspect="1" noChangeArrowheads="1"/>
          </p:cNvPicPr>
          <p:nvPr/>
        </p:nvPicPr>
        <p:blipFill>
          <a:blip r:embed="rId4" cstate="print"/>
          <a:srcRect/>
          <a:stretch>
            <a:fillRect/>
          </a:stretch>
        </p:blipFill>
        <p:spPr bwMode="auto">
          <a:xfrm>
            <a:off x="4716775" y="2025003"/>
            <a:ext cx="263059" cy="530424"/>
          </a:xfrm>
          <a:prstGeom prst="rect">
            <a:avLst/>
          </a:prstGeom>
          <a:noFill/>
          <a:ln w="9525">
            <a:noFill/>
            <a:miter lim="800000"/>
            <a:headEnd/>
            <a:tailEnd/>
          </a:ln>
        </p:spPr>
      </p:pic>
      <p:pic>
        <p:nvPicPr>
          <p:cNvPr id="72" name="Picture 7" descr="LSP_system_2"/>
          <p:cNvPicPr>
            <a:picLocks noChangeAspect="1" noChangeArrowheads="1"/>
          </p:cNvPicPr>
          <p:nvPr/>
        </p:nvPicPr>
        <p:blipFill>
          <a:blip r:embed="rId5" cstate="print"/>
          <a:srcRect/>
          <a:stretch>
            <a:fillRect/>
          </a:stretch>
        </p:blipFill>
        <p:spPr bwMode="auto">
          <a:xfrm>
            <a:off x="4987002" y="2102733"/>
            <a:ext cx="399758" cy="506573"/>
          </a:xfrm>
          <a:prstGeom prst="rect">
            <a:avLst/>
          </a:prstGeom>
          <a:noFill/>
          <a:ln w="9525">
            <a:noFill/>
            <a:miter lim="800000"/>
            <a:headEnd/>
            <a:tailEnd/>
          </a:ln>
        </p:spPr>
      </p:pic>
      <p:cxnSp>
        <p:nvCxnSpPr>
          <p:cNvPr id="73" name="Straight Arrow Connector 72"/>
          <p:cNvCxnSpPr>
            <a:stCxn id="64" idx="0"/>
          </p:cNvCxnSpPr>
          <p:nvPr/>
        </p:nvCxnSpPr>
        <p:spPr>
          <a:xfrm flipV="1">
            <a:off x="2118182" y="1408503"/>
            <a:ext cx="946270" cy="607766"/>
          </a:xfrm>
          <a:prstGeom prst="straightConnector1">
            <a:avLst/>
          </a:prstGeom>
          <a:ln w="28575">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65" idx="0"/>
          </p:cNvCxnSpPr>
          <p:nvPr/>
        </p:nvCxnSpPr>
        <p:spPr>
          <a:xfrm flipV="1">
            <a:off x="2456759" y="1408503"/>
            <a:ext cx="762302" cy="685496"/>
          </a:xfrm>
          <a:prstGeom prst="straightConnector1">
            <a:avLst/>
          </a:prstGeom>
          <a:ln w="28575">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71" idx="0"/>
          </p:cNvCxnSpPr>
          <p:nvPr/>
        </p:nvCxnSpPr>
        <p:spPr>
          <a:xfrm flipV="1">
            <a:off x="4848305" y="1408504"/>
            <a:ext cx="591151" cy="616499"/>
          </a:xfrm>
          <a:prstGeom prst="straightConnector1">
            <a:avLst/>
          </a:prstGeom>
          <a:ln w="28575">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5186881" y="1408503"/>
            <a:ext cx="387624" cy="685496"/>
          </a:xfrm>
          <a:prstGeom prst="straightConnector1">
            <a:avLst/>
          </a:prstGeom>
          <a:ln w="28575">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grpSp>
        <p:nvGrpSpPr>
          <p:cNvPr id="80" name="Group 34"/>
          <p:cNvGrpSpPr>
            <a:grpSpLocks/>
          </p:cNvGrpSpPr>
          <p:nvPr/>
        </p:nvGrpSpPr>
        <p:grpSpPr bwMode="auto">
          <a:xfrm>
            <a:off x="1981889" y="2749259"/>
            <a:ext cx="2151572" cy="205382"/>
            <a:chOff x="1084" y="2454"/>
            <a:chExt cx="1850" cy="190"/>
          </a:xfrm>
        </p:grpSpPr>
        <p:sp>
          <p:nvSpPr>
            <p:cNvPr id="81" name="Rectangle 35"/>
            <p:cNvSpPr>
              <a:spLocks noChangeArrowheads="1"/>
            </p:cNvSpPr>
            <p:nvPr/>
          </p:nvSpPr>
          <p:spPr bwMode="auto">
            <a:xfrm>
              <a:off x="1084"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2" name="Rectangle 36"/>
            <p:cNvSpPr>
              <a:spLocks noChangeArrowheads="1"/>
            </p:cNvSpPr>
            <p:nvPr/>
          </p:nvSpPr>
          <p:spPr bwMode="auto">
            <a:xfrm>
              <a:off x="1827"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3" name="Rectangle 37"/>
            <p:cNvSpPr>
              <a:spLocks noChangeArrowheads="1"/>
            </p:cNvSpPr>
            <p:nvPr/>
          </p:nvSpPr>
          <p:spPr bwMode="auto">
            <a:xfrm>
              <a:off x="1456" y="2454"/>
              <a:ext cx="367"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4" name="Rectangle 38"/>
            <p:cNvSpPr>
              <a:spLocks noChangeArrowheads="1"/>
            </p:cNvSpPr>
            <p:nvPr/>
          </p:nvSpPr>
          <p:spPr bwMode="auto">
            <a:xfrm>
              <a:off x="2195"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dirty="0">
                  <a:cs typeface="Arial" pitchFamily="34" charset="0"/>
                </a:rPr>
                <a:t>SD</a:t>
              </a:r>
            </a:p>
          </p:txBody>
        </p:sp>
        <p:sp>
          <p:nvSpPr>
            <p:cNvPr id="85" name="Rectangle 39"/>
            <p:cNvSpPr>
              <a:spLocks noChangeArrowheads="1"/>
            </p:cNvSpPr>
            <p:nvPr/>
          </p:nvSpPr>
          <p:spPr bwMode="auto">
            <a:xfrm>
              <a:off x="2566"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grpSp>
      <p:grpSp>
        <p:nvGrpSpPr>
          <p:cNvPr id="86" name="Group 34"/>
          <p:cNvGrpSpPr>
            <a:grpSpLocks/>
          </p:cNvGrpSpPr>
          <p:nvPr/>
        </p:nvGrpSpPr>
        <p:grpSpPr bwMode="auto">
          <a:xfrm>
            <a:off x="4712013" y="2749258"/>
            <a:ext cx="2151571" cy="205382"/>
            <a:chOff x="1084" y="2454"/>
            <a:chExt cx="1850" cy="190"/>
          </a:xfrm>
        </p:grpSpPr>
        <p:sp>
          <p:nvSpPr>
            <p:cNvPr id="87" name="Rectangle 35"/>
            <p:cNvSpPr>
              <a:spLocks noChangeArrowheads="1"/>
            </p:cNvSpPr>
            <p:nvPr/>
          </p:nvSpPr>
          <p:spPr bwMode="auto">
            <a:xfrm>
              <a:off x="1084"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dirty="0">
                  <a:cs typeface="Arial" pitchFamily="34" charset="0"/>
                </a:rPr>
                <a:t>SD</a:t>
              </a:r>
            </a:p>
          </p:txBody>
        </p:sp>
        <p:sp>
          <p:nvSpPr>
            <p:cNvPr id="88" name="Rectangle 36"/>
            <p:cNvSpPr>
              <a:spLocks noChangeArrowheads="1"/>
            </p:cNvSpPr>
            <p:nvPr/>
          </p:nvSpPr>
          <p:spPr bwMode="auto">
            <a:xfrm>
              <a:off x="1827"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9" name="Rectangle 37"/>
            <p:cNvSpPr>
              <a:spLocks noChangeArrowheads="1"/>
            </p:cNvSpPr>
            <p:nvPr/>
          </p:nvSpPr>
          <p:spPr bwMode="auto">
            <a:xfrm>
              <a:off x="1456" y="2454"/>
              <a:ext cx="367"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90" name="Rectangle 38"/>
            <p:cNvSpPr>
              <a:spLocks noChangeArrowheads="1"/>
            </p:cNvSpPr>
            <p:nvPr/>
          </p:nvSpPr>
          <p:spPr bwMode="auto">
            <a:xfrm>
              <a:off x="2195"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dirty="0">
                  <a:cs typeface="Arial" pitchFamily="34" charset="0"/>
                </a:rPr>
                <a:t>SD</a:t>
              </a:r>
            </a:p>
          </p:txBody>
        </p:sp>
        <p:sp>
          <p:nvSpPr>
            <p:cNvPr id="91" name="Rectangle 39"/>
            <p:cNvSpPr>
              <a:spLocks noChangeArrowheads="1"/>
            </p:cNvSpPr>
            <p:nvPr/>
          </p:nvSpPr>
          <p:spPr bwMode="auto">
            <a:xfrm>
              <a:off x="2566"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grpSp>
      <p:sp>
        <p:nvSpPr>
          <p:cNvPr id="94" name="TextBox 93"/>
          <p:cNvSpPr txBox="1"/>
          <p:nvPr/>
        </p:nvSpPr>
        <p:spPr>
          <a:xfrm>
            <a:off x="1929174" y="2183377"/>
            <a:ext cx="365806" cy="261610"/>
          </a:xfrm>
          <a:prstGeom prst="rect">
            <a:avLst/>
          </a:prstGeom>
          <a:noFill/>
        </p:spPr>
        <p:txBody>
          <a:bodyPr wrap="none" rtlCol="0">
            <a:spAutoFit/>
          </a:bodyPr>
          <a:lstStyle/>
          <a:p>
            <a:r>
              <a:rPr lang="en-US" sz="1100" dirty="0" smtClean="0"/>
              <a:t>FS</a:t>
            </a:r>
            <a:endParaRPr lang="en-US" sz="1100" dirty="0"/>
          </a:p>
        </p:txBody>
      </p:sp>
      <p:sp>
        <p:nvSpPr>
          <p:cNvPr id="95" name="TextBox 94"/>
          <p:cNvSpPr txBox="1"/>
          <p:nvPr/>
        </p:nvSpPr>
        <p:spPr>
          <a:xfrm>
            <a:off x="2273856" y="2183377"/>
            <a:ext cx="365806" cy="261610"/>
          </a:xfrm>
          <a:prstGeom prst="rect">
            <a:avLst/>
          </a:prstGeom>
          <a:noFill/>
        </p:spPr>
        <p:txBody>
          <a:bodyPr wrap="none" rtlCol="0">
            <a:spAutoFit/>
          </a:bodyPr>
          <a:lstStyle/>
          <a:p>
            <a:r>
              <a:rPr lang="en-US" sz="1100" dirty="0" smtClean="0"/>
              <a:t>FS</a:t>
            </a:r>
            <a:endParaRPr lang="en-US" sz="1100" dirty="0"/>
          </a:p>
        </p:txBody>
      </p:sp>
      <p:sp>
        <p:nvSpPr>
          <p:cNvPr id="96" name="TextBox 95"/>
          <p:cNvSpPr txBox="1"/>
          <p:nvPr/>
        </p:nvSpPr>
        <p:spPr>
          <a:xfrm>
            <a:off x="4671817" y="2183377"/>
            <a:ext cx="365806" cy="261610"/>
          </a:xfrm>
          <a:prstGeom prst="rect">
            <a:avLst/>
          </a:prstGeom>
          <a:noFill/>
        </p:spPr>
        <p:txBody>
          <a:bodyPr wrap="none" rtlCol="0">
            <a:spAutoFit/>
          </a:bodyPr>
          <a:lstStyle/>
          <a:p>
            <a:r>
              <a:rPr lang="en-US" sz="1100" dirty="0" smtClean="0"/>
              <a:t>FS</a:t>
            </a:r>
            <a:endParaRPr lang="en-US" sz="1100" dirty="0"/>
          </a:p>
        </p:txBody>
      </p:sp>
      <p:sp>
        <p:nvSpPr>
          <p:cNvPr id="97" name="TextBox 96"/>
          <p:cNvSpPr txBox="1"/>
          <p:nvPr/>
        </p:nvSpPr>
        <p:spPr>
          <a:xfrm>
            <a:off x="5006974" y="2183377"/>
            <a:ext cx="365806" cy="261610"/>
          </a:xfrm>
          <a:prstGeom prst="rect">
            <a:avLst/>
          </a:prstGeom>
          <a:noFill/>
        </p:spPr>
        <p:txBody>
          <a:bodyPr wrap="none" rtlCol="0">
            <a:spAutoFit/>
          </a:bodyPr>
          <a:lstStyle/>
          <a:p>
            <a:r>
              <a:rPr lang="en-US" sz="1100" dirty="0" smtClean="0"/>
              <a:t>FS</a:t>
            </a:r>
            <a:endParaRPr lang="en-US" sz="1100" dirty="0"/>
          </a:p>
        </p:txBody>
      </p:sp>
      <p:sp>
        <p:nvSpPr>
          <p:cNvPr id="99" name="Rounded Rectangle 98"/>
          <p:cNvSpPr/>
          <p:nvPr/>
        </p:nvSpPr>
        <p:spPr>
          <a:xfrm>
            <a:off x="5463947" y="1945551"/>
            <a:ext cx="647700" cy="14143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mj-lt"/>
              </a:rPr>
              <a:t>SP</a:t>
            </a:r>
          </a:p>
        </p:txBody>
      </p:sp>
      <p:sp>
        <p:nvSpPr>
          <p:cNvPr id="100" name="Rounded Rectangle 99"/>
          <p:cNvSpPr/>
          <p:nvPr/>
        </p:nvSpPr>
        <p:spPr>
          <a:xfrm>
            <a:off x="2733825" y="1945550"/>
            <a:ext cx="647700" cy="14143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mj-lt"/>
              </a:rPr>
              <a:t>SP</a:t>
            </a:r>
          </a:p>
        </p:txBody>
      </p:sp>
    </p:spTree>
    <p:custDataLst>
      <p:tags r:id="rId1"/>
    </p:custDataLst>
    <p:extLst>
      <p:ext uri="{BB962C8B-B14F-4D97-AF65-F5344CB8AC3E}">
        <p14:creationId xmlns:p14="http://schemas.microsoft.com/office/powerpoint/2010/main" val="76615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6118" y="967575"/>
            <a:ext cx="4462819" cy="1961306"/>
          </a:xfrm>
        </p:spPr>
        <p:txBody>
          <a:bodyPr/>
          <a:lstStyle/>
          <a:p>
            <a:r>
              <a:rPr lang="en-US" sz="1400" dirty="0" smtClean="0"/>
              <a:t>HNAS delivers a method for partitioning the file systems called Virtual Volumes</a:t>
            </a:r>
          </a:p>
          <a:p>
            <a:r>
              <a:rPr lang="en-US" sz="1400" dirty="0" smtClean="0"/>
              <a:t>Virtual volumes exist within file system subfolders</a:t>
            </a:r>
          </a:p>
          <a:p>
            <a:r>
              <a:rPr lang="en-US" sz="1400" dirty="0" smtClean="0"/>
              <a:t>Capacity usage and file count limits (quotas) can be applied to both filesystems and virtual volumes</a:t>
            </a:r>
          </a:p>
          <a:p>
            <a:r>
              <a:rPr lang="en-US" sz="1400" dirty="0" smtClean="0"/>
              <a:t>Virtual Volumes are logical containers, which can be grown and contracted with a simple size control implementation. Client machines see changes to the size of Virtual Volumes instantly</a:t>
            </a:r>
          </a:p>
          <a:p>
            <a:r>
              <a:rPr lang="en-US" sz="1400" dirty="0" smtClean="0"/>
              <a:t>The sum of the space controlled by the Virtual Volumes may be greater than the size of the entire file system (over-subscription). Virtual volumes quotas do not track metadata overhead</a:t>
            </a:r>
            <a:endParaRPr lang="en-US" sz="1400" dirty="0"/>
          </a:p>
        </p:txBody>
      </p:sp>
      <p:sp>
        <p:nvSpPr>
          <p:cNvPr id="2" name="Title 1"/>
          <p:cNvSpPr>
            <a:spLocks noGrp="1"/>
          </p:cNvSpPr>
          <p:nvPr>
            <p:ph type="title"/>
          </p:nvPr>
        </p:nvSpPr>
        <p:spPr/>
        <p:txBody>
          <a:bodyPr/>
          <a:lstStyle/>
          <a:p>
            <a:r>
              <a:rPr lang="en-US" cap="all" dirty="0" smtClean="0"/>
              <a:t>HNAS Storage – VIVOLS</a:t>
            </a:r>
            <a:endParaRPr lang="en-US" cap="all" dirty="0"/>
          </a:p>
        </p:txBody>
      </p:sp>
      <p:sp>
        <p:nvSpPr>
          <p:cNvPr id="6" name="Rectangle 2"/>
          <p:cNvSpPr>
            <a:spLocks noChangeArrowheads="1"/>
          </p:cNvSpPr>
          <p:nvPr/>
        </p:nvSpPr>
        <p:spPr bwMode="auto">
          <a:xfrm>
            <a:off x="235103" y="994907"/>
            <a:ext cx="4262438" cy="3969345"/>
          </a:xfrm>
          <a:prstGeom prst="rect">
            <a:avLst/>
          </a:prstGeom>
          <a:solidFill>
            <a:schemeClr val="bg1"/>
          </a:solidFill>
          <a:ln w="28575">
            <a:solidFill>
              <a:srgbClr val="0070C0"/>
            </a:solidFill>
            <a:miter lim="800000"/>
            <a:headEnd/>
            <a:tailEnd/>
          </a:ln>
        </p:spPr>
        <p:txBody>
          <a:bodyPr wrap="none" anchor="ctr"/>
          <a:lstStyle/>
          <a:p>
            <a:endParaRPr lang="en-US" dirty="0"/>
          </a:p>
        </p:txBody>
      </p:sp>
      <p:pic>
        <p:nvPicPr>
          <p:cNvPr id="7" name="Picture 5" descr="storage_pool_2"/>
          <p:cNvPicPr>
            <a:picLocks noChangeAspect="1" noChangeArrowheads="1"/>
          </p:cNvPicPr>
          <p:nvPr/>
        </p:nvPicPr>
        <p:blipFill>
          <a:blip r:embed="rId4" cstate="print"/>
          <a:srcRect/>
          <a:stretch>
            <a:fillRect/>
          </a:stretch>
        </p:blipFill>
        <p:spPr bwMode="auto">
          <a:xfrm>
            <a:off x="751332" y="2592695"/>
            <a:ext cx="2973388" cy="1013153"/>
          </a:xfrm>
          <a:prstGeom prst="rect">
            <a:avLst/>
          </a:prstGeom>
          <a:noFill/>
          <a:ln w="9525">
            <a:noFill/>
            <a:miter lim="800000"/>
            <a:headEnd/>
            <a:tailEnd/>
          </a:ln>
        </p:spPr>
      </p:pic>
      <p:pic>
        <p:nvPicPr>
          <p:cNvPr id="8" name="Picture 6" descr="LSP_system_1"/>
          <p:cNvPicPr>
            <a:picLocks noChangeAspect="1" noChangeArrowheads="1"/>
          </p:cNvPicPr>
          <p:nvPr/>
        </p:nvPicPr>
        <p:blipFill>
          <a:blip r:embed="rId5" cstate="print"/>
          <a:srcRect/>
          <a:stretch>
            <a:fillRect/>
          </a:stretch>
        </p:blipFill>
        <p:spPr bwMode="auto">
          <a:xfrm>
            <a:off x="751332" y="2794631"/>
            <a:ext cx="363538" cy="715967"/>
          </a:xfrm>
          <a:prstGeom prst="rect">
            <a:avLst/>
          </a:prstGeom>
          <a:noFill/>
          <a:ln w="9525">
            <a:noFill/>
            <a:miter lim="800000"/>
            <a:headEnd/>
            <a:tailEnd/>
          </a:ln>
        </p:spPr>
      </p:pic>
      <p:pic>
        <p:nvPicPr>
          <p:cNvPr id="9" name="Picture 7" descr="LSP_system_2"/>
          <p:cNvPicPr>
            <a:picLocks noChangeAspect="1" noChangeArrowheads="1"/>
          </p:cNvPicPr>
          <p:nvPr/>
        </p:nvPicPr>
        <p:blipFill>
          <a:blip r:embed="rId6" cstate="print"/>
          <a:srcRect/>
          <a:stretch>
            <a:fillRect/>
          </a:stretch>
        </p:blipFill>
        <p:spPr bwMode="auto">
          <a:xfrm>
            <a:off x="1119632" y="2900174"/>
            <a:ext cx="552450" cy="686624"/>
          </a:xfrm>
          <a:prstGeom prst="rect">
            <a:avLst/>
          </a:prstGeom>
          <a:noFill/>
          <a:ln w="9525">
            <a:noFill/>
            <a:miter lim="800000"/>
            <a:headEnd/>
            <a:tailEnd/>
          </a:ln>
        </p:spPr>
      </p:pic>
      <p:sp>
        <p:nvSpPr>
          <p:cNvPr id="10" name="Text Box 22"/>
          <p:cNvSpPr txBox="1">
            <a:spLocks noChangeArrowheads="1"/>
          </p:cNvSpPr>
          <p:nvPr/>
        </p:nvSpPr>
        <p:spPr bwMode="auto">
          <a:xfrm>
            <a:off x="1238315" y="3584214"/>
            <a:ext cx="1963999" cy="307777"/>
          </a:xfrm>
          <a:prstGeom prst="rect">
            <a:avLst/>
          </a:prstGeom>
          <a:noFill/>
          <a:ln w="9525">
            <a:noFill/>
            <a:miter lim="800000"/>
            <a:headEnd/>
            <a:tailEnd/>
          </a:ln>
        </p:spPr>
        <p:txBody>
          <a:bodyPr wrap="none">
            <a:spAutoFit/>
          </a:bodyPr>
          <a:lstStyle/>
          <a:p>
            <a:pPr algn="ctr" eaLnBrk="0" hangingPunct="0"/>
            <a:r>
              <a:rPr lang="en-US" sz="1400" b="1" dirty="0">
                <a:ea typeface="ＭＳ Ｐゴシック"/>
                <a:cs typeface="ＭＳ Ｐゴシック"/>
              </a:rPr>
              <a:t>Logical Storage Pool</a:t>
            </a:r>
          </a:p>
        </p:txBody>
      </p:sp>
      <p:sp>
        <p:nvSpPr>
          <p:cNvPr id="11" name="Text Box 23"/>
          <p:cNvSpPr txBox="1">
            <a:spLocks noChangeArrowheads="1"/>
          </p:cNvSpPr>
          <p:nvPr/>
        </p:nvSpPr>
        <p:spPr bwMode="auto">
          <a:xfrm>
            <a:off x="2459134" y="2979580"/>
            <a:ext cx="1125415" cy="461665"/>
          </a:xfrm>
          <a:prstGeom prst="rect">
            <a:avLst/>
          </a:prstGeom>
          <a:noFill/>
          <a:ln w="9525">
            <a:noFill/>
            <a:miter lim="800000"/>
            <a:headEnd/>
            <a:tailEnd/>
          </a:ln>
        </p:spPr>
        <p:txBody>
          <a:bodyPr wrap="square">
            <a:spAutoFit/>
          </a:bodyPr>
          <a:lstStyle/>
          <a:p>
            <a:pPr algn="ctr" eaLnBrk="0" hangingPunct="0"/>
            <a:r>
              <a:rPr lang="en-US" sz="1200" b="1" dirty="0">
                <a:ea typeface="ＭＳ Ｐゴシック"/>
                <a:cs typeface="ＭＳ Ｐゴシック"/>
              </a:rPr>
              <a:t>Un-allocated Free Space</a:t>
            </a:r>
          </a:p>
        </p:txBody>
      </p:sp>
      <p:pic>
        <p:nvPicPr>
          <p:cNvPr id="12" name="Picture 12" descr="SiliconStack"/>
          <p:cNvPicPr>
            <a:picLocks noChangeAspect="1" noChangeArrowheads="1"/>
          </p:cNvPicPr>
          <p:nvPr/>
        </p:nvPicPr>
        <p:blipFill>
          <a:blip r:embed="rId7" cstate="print"/>
          <a:srcRect/>
          <a:stretch>
            <a:fillRect/>
          </a:stretch>
        </p:blipFill>
        <p:spPr bwMode="auto">
          <a:xfrm>
            <a:off x="367723" y="1206731"/>
            <a:ext cx="3700463" cy="829866"/>
          </a:xfrm>
          <a:prstGeom prst="rect">
            <a:avLst/>
          </a:prstGeom>
          <a:noFill/>
          <a:ln w="28575">
            <a:noFill/>
            <a:miter lim="800000"/>
            <a:headEnd/>
            <a:tailEnd/>
          </a:ln>
        </p:spPr>
      </p:pic>
      <p:pic>
        <p:nvPicPr>
          <p:cNvPr id="13" name="Picture 13" descr="FS_1_med"/>
          <p:cNvPicPr>
            <a:picLocks noChangeAspect="1" noChangeArrowheads="1"/>
          </p:cNvPicPr>
          <p:nvPr/>
        </p:nvPicPr>
        <p:blipFill>
          <a:blip r:embed="rId8" cstate="print"/>
          <a:srcRect/>
          <a:stretch>
            <a:fillRect/>
          </a:stretch>
        </p:blipFill>
        <p:spPr bwMode="auto">
          <a:xfrm>
            <a:off x="978909" y="1477003"/>
            <a:ext cx="495300" cy="323850"/>
          </a:xfrm>
          <a:prstGeom prst="rect">
            <a:avLst/>
          </a:prstGeom>
          <a:noFill/>
          <a:ln w="9525">
            <a:noFill/>
            <a:miter lim="800000"/>
            <a:headEnd/>
            <a:tailEnd/>
          </a:ln>
        </p:spPr>
      </p:pic>
      <p:pic>
        <p:nvPicPr>
          <p:cNvPr id="14" name="Picture 14" descr="FS_2_med"/>
          <p:cNvPicPr>
            <a:picLocks noChangeAspect="1" noChangeArrowheads="1"/>
          </p:cNvPicPr>
          <p:nvPr/>
        </p:nvPicPr>
        <p:blipFill>
          <a:blip r:embed="rId9" cstate="print"/>
          <a:srcRect/>
          <a:stretch>
            <a:fillRect/>
          </a:stretch>
        </p:blipFill>
        <p:spPr bwMode="auto">
          <a:xfrm>
            <a:off x="3068059" y="1516294"/>
            <a:ext cx="376238" cy="253603"/>
          </a:xfrm>
          <a:prstGeom prst="rect">
            <a:avLst/>
          </a:prstGeom>
          <a:noFill/>
          <a:ln w="9525">
            <a:noFill/>
            <a:miter lim="800000"/>
            <a:headEnd/>
            <a:tailEnd/>
          </a:ln>
        </p:spPr>
      </p:pic>
      <p:pic>
        <p:nvPicPr>
          <p:cNvPr id="15" name="Picture 15" descr="FS_4_med"/>
          <p:cNvPicPr>
            <a:picLocks noChangeAspect="1" noChangeArrowheads="1"/>
          </p:cNvPicPr>
          <p:nvPr/>
        </p:nvPicPr>
        <p:blipFill>
          <a:blip r:embed="rId10" cstate="print"/>
          <a:srcRect/>
          <a:stretch>
            <a:fillRect/>
          </a:stretch>
        </p:blipFill>
        <p:spPr bwMode="auto">
          <a:xfrm>
            <a:off x="1859973" y="1492481"/>
            <a:ext cx="696913" cy="426244"/>
          </a:xfrm>
          <a:prstGeom prst="rect">
            <a:avLst/>
          </a:prstGeom>
          <a:noFill/>
          <a:ln w="9525">
            <a:noFill/>
            <a:miter lim="800000"/>
            <a:headEnd/>
            <a:tailEnd/>
          </a:ln>
        </p:spPr>
      </p:pic>
      <p:sp>
        <p:nvSpPr>
          <p:cNvPr id="16" name="Rectangle 16"/>
          <p:cNvSpPr>
            <a:spLocks noChangeArrowheads="1"/>
          </p:cNvSpPr>
          <p:nvPr/>
        </p:nvSpPr>
        <p:spPr bwMode="auto">
          <a:xfrm>
            <a:off x="358196" y="1199587"/>
            <a:ext cx="3709988" cy="842963"/>
          </a:xfrm>
          <a:prstGeom prst="rect">
            <a:avLst/>
          </a:prstGeom>
          <a:noFill/>
          <a:ln w="19050">
            <a:solidFill>
              <a:srgbClr val="8DBEFF"/>
            </a:solidFill>
            <a:miter lim="800000"/>
            <a:headEnd/>
            <a:tailEnd/>
          </a:ln>
        </p:spPr>
        <p:txBody>
          <a:bodyPr wrap="none" anchor="ctr"/>
          <a:lstStyle/>
          <a:p>
            <a:endParaRPr lang="en-US" dirty="0"/>
          </a:p>
        </p:txBody>
      </p:sp>
      <p:sp>
        <p:nvSpPr>
          <p:cNvPr id="17" name="Text Box 22"/>
          <p:cNvSpPr txBox="1">
            <a:spLocks noChangeArrowheads="1"/>
          </p:cNvSpPr>
          <p:nvPr/>
        </p:nvSpPr>
        <p:spPr bwMode="auto">
          <a:xfrm>
            <a:off x="1460695" y="2030239"/>
            <a:ext cx="1522596" cy="307777"/>
          </a:xfrm>
          <a:prstGeom prst="rect">
            <a:avLst/>
          </a:prstGeom>
          <a:noFill/>
          <a:ln w="9525">
            <a:noFill/>
            <a:miter lim="800000"/>
            <a:headEnd/>
            <a:tailEnd/>
          </a:ln>
        </p:spPr>
        <p:txBody>
          <a:bodyPr wrap="none">
            <a:spAutoFit/>
          </a:bodyPr>
          <a:lstStyle/>
          <a:p>
            <a:pPr algn="ctr" eaLnBrk="0" hangingPunct="0"/>
            <a:r>
              <a:rPr lang="en-US" sz="1400" b="1" dirty="0" smtClean="0">
                <a:ea typeface="ＭＳ Ｐゴシック"/>
                <a:cs typeface="ＭＳ Ｐゴシック"/>
              </a:rPr>
              <a:t>Virtual Volumes</a:t>
            </a:r>
            <a:endParaRPr lang="en-US" sz="1400" b="1" dirty="0">
              <a:ea typeface="ＭＳ Ｐゴシック"/>
              <a:cs typeface="ＭＳ Ｐゴシック"/>
            </a:endParaRPr>
          </a:p>
        </p:txBody>
      </p:sp>
      <p:sp>
        <p:nvSpPr>
          <p:cNvPr id="18" name="Rectangle 17"/>
          <p:cNvSpPr/>
          <p:nvPr/>
        </p:nvSpPr>
        <p:spPr bwMode="auto">
          <a:xfrm>
            <a:off x="1665314" y="2965039"/>
            <a:ext cx="532563" cy="631485"/>
          </a:xfrm>
          <a:prstGeom prst="rect">
            <a:avLst/>
          </a:prstGeom>
          <a:solidFill>
            <a:srgbClr val="FF3399"/>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p:txBody>
      </p:sp>
      <p:sp>
        <p:nvSpPr>
          <p:cNvPr id="19" name="Text Box 22"/>
          <p:cNvSpPr txBox="1">
            <a:spLocks noChangeArrowheads="1"/>
          </p:cNvSpPr>
          <p:nvPr/>
        </p:nvSpPr>
        <p:spPr bwMode="auto">
          <a:xfrm>
            <a:off x="1422503" y="4435811"/>
            <a:ext cx="1438214" cy="307777"/>
          </a:xfrm>
          <a:prstGeom prst="rect">
            <a:avLst/>
          </a:prstGeom>
          <a:noFill/>
          <a:ln w="9525">
            <a:noFill/>
            <a:miter lim="800000"/>
            <a:headEnd/>
            <a:tailEnd/>
          </a:ln>
        </p:spPr>
        <p:txBody>
          <a:bodyPr wrap="none">
            <a:spAutoFit/>
          </a:bodyPr>
          <a:lstStyle/>
          <a:p>
            <a:pPr algn="ctr" eaLnBrk="0" hangingPunct="0"/>
            <a:r>
              <a:rPr lang="en-US" sz="1400" b="1" dirty="0" smtClean="0">
                <a:ea typeface="ＭＳ Ｐゴシック"/>
                <a:cs typeface="ＭＳ Ｐゴシック"/>
              </a:rPr>
              <a:t>Physical Disks</a:t>
            </a:r>
            <a:endParaRPr lang="en-US" sz="1400" b="1" dirty="0">
              <a:ea typeface="ＭＳ Ｐゴシック"/>
              <a:cs typeface="ＭＳ Ｐゴシック"/>
            </a:endParaRPr>
          </a:p>
        </p:txBody>
      </p:sp>
      <p:grpSp>
        <p:nvGrpSpPr>
          <p:cNvPr id="4" name="Group 25"/>
          <p:cNvGrpSpPr>
            <a:grpSpLocks/>
          </p:cNvGrpSpPr>
          <p:nvPr/>
        </p:nvGrpSpPr>
        <p:grpSpPr bwMode="auto">
          <a:xfrm>
            <a:off x="433040" y="3981965"/>
            <a:ext cx="935038" cy="132159"/>
            <a:chOff x="533" y="2799"/>
            <a:chExt cx="589" cy="111"/>
          </a:xfrm>
        </p:grpSpPr>
        <p:pic>
          <p:nvPicPr>
            <p:cNvPr id="2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2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2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2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5" name="Group 25"/>
          <p:cNvGrpSpPr>
            <a:grpSpLocks/>
          </p:cNvGrpSpPr>
          <p:nvPr/>
        </p:nvGrpSpPr>
        <p:grpSpPr bwMode="auto">
          <a:xfrm>
            <a:off x="585440" y="4119125"/>
            <a:ext cx="935038" cy="132159"/>
            <a:chOff x="533" y="2799"/>
            <a:chExt cx="589" cy="111"/>
          </a:xfrm>
        </p:grpSpPr>
        <p:pic>
          <p:nvPicPr>
            <p:cNvPr id="26"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27"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28"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29"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20" name="Group 25"/>
          <p:cNvGrpSpPr>
            <a:grpSpLocks/>
          </p:cNvGrpSpPr>
          <p:nvPr/>
        </p:nvGrpSpPr>
        <p:grpSpPr bwMode="auto">
          <a:xfrm>
            <a:off x="737840" y="4256285"/>
            <a:ext cx="935038" cy="132159"/>
            <a:chOff x="533" y="2799"/>
            <a:chExt cx="589" cy="111"/>
          </a:xfrm>
        </p:grpSpPr>
        <p:pic>
          <p:nvPicPr>
            <p:cNvPr id="3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3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3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3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25" name="Group 25"/>
          <p:cNvGrpSpPr>
            <a:grpSpLocks/>
          </p:cNvGrpSpPr>
          <p:nvPr/>
        </p:nvGrpSpPr>
        <p:grpSpPr bwMode="auto">
          <a:xfrm>
            <a:off x="1540028" y="3992516"/>
            <a:ext cx="935038" cy="132159"/>
            <a:chOff x="533" y="2799"/>
            <a:chExt cx="589" cy="111"/>
          </a:xfrm>
        </p:grpSpPr>
        <p:pic>
          <p:nvPicPr>
            <p:cNvPr id="36"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37"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38"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39"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30" name="Group 25"/>
          <p:cNvGrpSpPr>
            <a:grpSpLocks/>
          </p:cNvGrpSpPr>
          <p:nvPr/>
        </p:nvGrpSpPr>
        <p:grpSpPr bwMode="auto">
          <a:xfrm>
            <a:off x="1692428" y="4129676"/>
            <a:ext cx="935038" cy="132159"/>
            <a:chOff x="533" y="2799"/>
            <a:chExt cx="589" cy="111"/>
          </a:xfrm>
        </p:grpSpPr>
        <p:pic>
          <p:nvPicPr>
            <p:cNvPr id="4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4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4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4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35" name="Group 25"/>
          <p:cNvGrpSpPr>
            <a:grpSpLocks/>
          </p:cNvGrpSpPr>
          <p:nvPr/>
        </p:nvGrpSpPr>
        <p:grpSpPr bwMode="auto">
          <a:xfrm>
            <a:off x="1844828" y="4266836"/>
            <a:ext cx="935038" cy="132159"/>
            <a:chOff x="533" y="2799"/>
            <a:chExt cx="589" cy="111"/>
          </a:xfrm>
        </p:grpSpPr>
        <p:pic>
          <p:nvPicPr>
            <p:cNvPr id="46"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47"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48"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49"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40" name="Group 25"/>
          <p:cNvGrpSpPr>
            <a:grpSpLocks/>
          </p:cNvGrpSpPr>
          <p:nvPr/>
        </p:nvGrpSpPr>
        <p:grpSpPr bwMode="auto">
          <a:xfrm>
            <a:off x="2675487" y="4001560"/>
            <a:ext cx="935038" cy="132159"/>
            <a:chOff x="533" y="2799"/>
            <a:chExt cx="589" cy="111"/>
          </a:xfrm>
        </p:grpSpPr>
        <p:pic>
          <p:nvPicPr>
            <p:cNvPr id="5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5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5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5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45" name="Group 25"/>
          <p:cNvGrpSpPr>
            <a:grpSpLocks/>
          </p:cNvGrpSpPr>
          <p:nvPr/>
        </p:nvGrpSpPr>
        <p:grpSpPr bwMode="auto">
          <a:xfrm>
            <a:off x="2827887" y="4138720"/>
            <a:ext cx="935038" cy="132159"/>
            <a:chOff x="533" y="2799"/>
            <a:chExt cx="589" cy="111"/>
          </a:xfrm>
        </p:grpSpPr>
        <p:pic>
          <p:nvPicPr>
            <p:cNvPr id="56"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57"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58"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59"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grpSp>
        <p:nvGrpSpPr>
          <p:cNvPr id="50" name="Group 25"/>
          <p:cNvGrpSpPr>
            <a:grpSpLocks/>
          </p:cNvGrpSpPr>
          <p:nvPr/>
        </p:nvGrpSpPr>
        <p:grpSpPr bwMode="auto">
          <a:xfrm>
            <a:off x="2980287" y="4275880"/>
            <a:ext cx="935038" cy="132159"/>
            <a:chOff x="533" y="2799"/>
            <a:chExt cx="589" cy="111"/>
          </a:xfrm>
        </p:grpSpPr>
        <p:pic>
          <p:nvPicPr>
            <p:cNvPr id="61" name="Picture 26" descr="FS_1_small"/>
            <p:cNvPicPr>
              <a:picLocks noChangeAspect="1" noChangeArrowheads="1"/>
            </p:cNvPicPr>
            <p:nvPr/>
          </p:nvPicPr>
          <p:blipFill>
            <a:blip r:embed="rId11" cstate="print"/>
            <a:srcRect/>
            <a:stretch>
              <a:fillRect/>
            </a:stretch>
          </p:blipFill>
          <p:spPr bwMode="auto">
            <a:xfrm>
              <a:off x="533" y="2799"/>
              <a:ext cx="137" cy="99"/>
            </a:xfrm>
            <a:prstGeom prst="rect">
              <a:avLst/>
            </a:prstGeom>
            <a:noFill/>
            <a:ln w="9525">
              <a:noFill/>
              <a:miter lim="800000"/>
              <a:headEnd/>
              <a:tailEnd/>
            </a:ln>
          </p:spPr>
        </p:pic>
        <p:pic>
          <p:nvPicPr>
            <p:cNvPr id="62" name="Picture 27" descr="FS_1_small"/>
            <p:cNvPicPr>
              <a:picLocks noChangeAspect="1" noChangeArrowheads="1"/>
            </p:cNvPicPr>
            <p:nvPr/>
          </p:nvPicPr>
          <p:blipFill>
            <a:blip r:embed="rId11" cstate="print"/>
            <a:srcRect/>
            <a:stretch>
              <a:fillRect/>
            </a:stretch>
          </p:blipFill>
          <p:spPr bwMode="auto">
            <a:xfrm>
              <a:off x="683" y="2803"/>
              <a:ext cx="137" cy="99"/>
            </a:xfrm>
            <a:prstGeom prst="rect">
              <a:avLst/>
            </a:prstGeom>
            <a:noFill/>
            <a:ln w="9525">
              <a:noFill/>
              <a:miter lim="800000"/>
              <a:headEnd/>
              <a:tailEnd/>
            </a:ln>
          </p:spPr>
        </p:pic>
        <p:pic>
          <p:nvPicPr>
            <p:cNvPr id="63" name="Picture 28" descr="FS_1_small"/>
            <p:cNvPicPr>
              <a:picLocks noChangeAspect="1" noChangeArrowheads="1"/>
            </p:cNvPicPr>
            <p:nvPr/>
          </p:nvPicPr>
          <p:blipFill>
            <a:blip r:embed="rId11" cstate="print"/>
            <a:srcRect/>
            <a:stretch>
              <a:fillRect/>
            </a:stretch>
          </p:blipFill>
          <p:spPr bwMode="auto">
            <a:xfrm>
              <a:off x="834" y="2807"/>
              <a:ext cx="137" cy="99"/>
            </a:xfrm>
            <a:prstGeom prst="rect">
              <a:avLst/>
            </a:prstGeom>
            <a:noFill/>
            <a:ln w="9525">
              <a:noFill/>
              <a:miter lim="800000"/>
              <a:headEnd/>
              <a:tailEnd/>
            </a:ln>
          </p:spPr>
        </p:pic>
        <p:pic>
          <p:nvPicPr>
            <p:cNvPr id="64" name="Picture 29" descr="FS_1_small"/>
            <p:cNvPicPr>
              <a:picLocks noChangeAspect="1" noChangeArrowheads="1"/>
            </p:cNvPicPr>
            <p:nvPr/>
          </p:nvPicPr>
          <p:blipFill>
            <a:blip r:embed="rId11" cstate="print"/>
            <a:srcRect/>
            <a:stretch>
              <a:fillRect/>
            </a:stretch>
          </p:blipFill>
          <p:spPr bwMode="auto">
            <a:xfrm>
              <a:off x="985" y="2811"/>
              <a:ext cx="137" cy="99"/>
            </a:xfrm>
            <a:prstGeom prst="rect">
              <a:avLst/>
            </a:prstGeom>
            <a:noFill/>
            <a:ln w="9525">
              <a:noFill/>
              <a:miter lim="800000"/>
              <a:headEnd/>
              <a:tailEnd/>
            </a:ln>
          </p:spPr>
        </p:pic>
      </p:grpSp>
      <p:sp>
        <p:nvSpPr>
          <p:cNvPr id="65" name="Rectangle 2"/>
          <p:cNvSpPr>
            <a:spLocks noChangeArrowheads="1"/>
          </p:cNvSpPr>
          <p:nvPr/>
        </p:nvSpPr>
        <p:spPr bwMode="auto">
          <a:xfrm>
            <a:off x="358196" y="1193118"/>
            <a:ext cx="3709989" cy="858742"/>
          </a:xfrm>
          <a:prstGeom prst="rect">
            <a:avLst/>
          </a:prstGeom>
          <a:noFill/>
          <a:ln w="28575">
            <a:solidFill>
              <a:schemeClr val="accent1"/>
            </a:solidFill>
            <a:miter lim="800000"/>
            <a:headEnd/>
            <a:tailEnd/>
          </a:ln>
        </p:spPr>
        <p:txBody>
          <a:bodyPr wrap="none" anchor="ctr"/>
          <a:lstStyle/>
          <a:p>
            <a:endParaRPr lang="en-US" dirty="0"/>
          </a:p>
        </p:txBody>
      </p:sp>
      <p:sp>
        <p:nvSpPr>
          <p:cNvPr id="66" name="Rectangle 2"/>
          <p:cNvSpPr>
            <a:spLocks noChangeArrowheads="1"/>
          </p:cNvSpPr>
          <p:nvPr/>
        </p:nvSpPr>
        <p:spPr bwMode="auto">
          <a:xfrm>
            <a:off x="802929" y="1334161"/>
            <a:ext cx="857483" cy="584564"/>
          </a:xfrm>
          <a:prstGeom prst="rect">
            <a:avLst/>
          </a:prstGeom>
          <a:noFill/>
          <a:ln w="28575">
            <a:solidFill>
              <a:schemeClr val="accent1"/>
            </a:solidFill>
            <a:miter lim="800000"/>
            <a:headEnd/>
            <a:tailEnd/>
          </a:ln>
        </p:spPr>
        <p:txBody>
          <a:bodyPr wrap="none" anchor="ctr"/>
          <a:lstStyle/>
          <a:p>
            <a:endParaRPr lang="en-US" dirty="0"/>
          </a:p>
        </p:txBody>
      </p:sp>
      <p:sp>
        <p:nvSpPr>
          <p:cNvPr id="67" name="Text Box 22"/>
          <p:cNvSpPr txBox="1">
            <a:spLocks noChangeArrowheads="1"/>
          </p:cNvSpPr>
          <p:nvPr/>
        </p:nvSpPr>
        <p:spPr bwMode="auto">
          <a:xfrm>
            <a:off x="1573432" y="2323316"/>
            <a:ext cx="1279516" cy="307777"/>
          </a:xfrm>
          <a:prstGeom prst="rect">
            <a:avLst/>
          </a:prstGeom>
          <a:noFill/>
          <a:ln w="9525">
            <a:noFill/>
            <a:miter lim="800000"/>
            <a:headEnd/>
            <a:tailEnd/>
          </a:ln>
        </p:spPr>
        <p:txBody>
          <a:bodyPr wrap="none">
            <a:spAutoFit/>
          </a:bodyPr>
          <a:lstStyle/>
          <a:p>
            <a:pPr algn="ctr" eaLnBrk="0" hangingPunct="0"/>
            <a:r>
              <a:rPr lang="en-US" sz="1400" b="1" dirty="0" smtClean="0">
                <a:ea typeface="ＭＳ Ｐゴシック"/>
                <a:cs typeface="ＭＳ Ｐゴシック"/>
              </a:rPr>
              <a:t>File Systems</a:t>
            </a:r>
            <a:endParaRPr lang="en-US" sz="1400" b="1" dirty="0">
              <a:ea typeface="ＭＳ Ｐゴシック"/>
              <a:cs typeface="ＭＳ Ｐゴシック"/>
            </a:endParaRPr>
          </a:p>
        </p:txBody>
      </p:sp>
      <p:sp>
        <p:nvSpPr>
          <p:cNvPr id="68" name="Rectangle 67"/>
          <p:cNvSpPr/>
          <p:nvPr/>
        </p:nvSpPr>
        <p:spPr>
          <a:xfrm>
            <a:off x="1412008" y="2051859"/>
            <a:ext cx="1577873" cy="2308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Tree>
    <p:custDataLst>
      <p:tags r:id="rId1"/>
    </p:custDataLst>
    <p:extLst>
      <p:ext uri="{BB962C8B-B14F-4D97-AF65-F5344CB8AC3E}">
        <p14:creationId xmlns:p14="http://schemas.microsoft.com/office/powerpoint/2010/main" val="143305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HDP SPECIFICS</a:t>
            </a:r>
            <a:endParaRPr lang="en-US" dirty="0"/>
          </a:p>
        </p:txBody>
      </p:sp>
      <p:sp>
        <p:nvSpPr>
          <p:cNvPr id="3" name="Rectangle 2"/>
          <p:cNvSpPr/>
          <p:nvPr/>
        </p:nvSpPr>
        <p:spPr>
          <a:xfrm>
            <a:off x="-61415" y="2558956"/>
            <a:ext cx="9260006" cy="1023582"/>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1" dirty="0" smtClean="0">
                <a:latin typeface="+mj-lt"/>
              </a:rPr>
              <a:t>Important Note: The information contained in the following HDP specific section is applicable to HNAS OS releases up to v12.0 – if you are using firmware levels beyond v12.0 please check with HNAS PM as these best practice guidelines are evolving and are subject to change</a:t>
            </a:r>
          </a:p>
        </p:txBody>
      </p:sp>
    </p:spTree>
    <p:custDataLst>
      <p:tags r:id="rId1"/>
    </p:custDataLst>
    <p:extLst>
      <p:ext uri="{BB962C8B-B14F-4D97-AF65-F5344CB8AC3E}">
        <p14:creationId xmlns:p14="http://schemas.microsoft.com/office/powerpoint/2010/main" val="2355212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2647904"/>
          </a:xfrm>
        </p:spPr>
        <p:txBody>
          <a:bodyPr/>
          <a:lstStyle/>
          <a:p>
            <a:r>
              <a:rPr lang="en-US" sz="2000" dirty="0" smtClean="0"/>
              <a:t>HDP is supported with HNAS with two mandatory guidelines</a:t>
            </a:r>
          </a:p>
          <a:p>
            <a:pPr lvl="1"/>
            <a:r>
              <a:rPr lang="en-US" sz="2000" b="1" u="sng" dirty="0" smtClean="0"/>
              <a:t>DP Pool must not be oversubscribed </a:t>
            </a:r>
          </a:p>
          <a:p>
            <a:pPr lvl="2"/>
            <a:r>
              <a:rPr lang="en-US" sz="1800" dirty="0" smtClean="0"/>
              <a:t>If dedicated pool set oversubscription to 95% or use Full Volume mode</a:t>
            </a:r>
          </a:p>
          <a:p>
            <a:pPr lvl="1"/>
            <a:r>
              <a:rPr lang="en-US" sz="2000" b="1" u="sng" dirty="0" smtClean="0"/>
              <a:t>DP Volumes must never be re-sized</a:t>
            </a:r>
          </a:p>
          <a:p>
            <a:pPr lvl="2"/>
            <a:r>
              <a:rPr lang="en-US" sz="1800" dirty="0" smtClean="0"/>
              <a:t>HNAS volumes cannot be re-sized either online or offline</a:t>
            </a:r>
          </a:p>
          <a:p>
            <a:pPr lvl="2"/>
            <a:r>
              <a:rPr lang="en-US" sz="1800" dirty="0" smtClean="0"/>
              <a:t>To add storage to HNAS, create more SDs and add to/create new Storage pool</a:t>
            </a:r>
            <a:endParaRPr lang="en-US" sz="1800" dirty="0"/>
          </a:p>
        </p:txBody>
      </p:sp>
      <p:sp>
        <p:nvSpPr>
          <p:cNvPr id="4" name="Title 3"/>
          <p:cNvSpPr>
            <a:spLocks noGrp="1"/>
          </p:cNvSpPr>
          <p:nvPr>
            <p:ph type="title"/>
          </p:nvPr>
        </p:nvSpPr>
        <p:spPr/>
        <p:txBody>
          <a:bodyPr>
            <a:normAutofit/>
          </a:bodyPr>
          <a:lstStyle/>
          <a:p>
            <a:r>
              <a:rPr lang="en-US" cap="all" dirty="0" smtClean="0"/>
              <a:t>Hitachi DYNAMIC </a:t>
            </a:r>
            <a:r>
              <a:rPr lang="en-US" cap="all" dirty="0"/>
              <a:t>PROVISIONING</a:t>
            </a:r>
            <a:br>
              <a:rPr lang="en-US" cap="all" dirty="0"/>
            </a:br>
            <a:r>
              <a:rPr lang="en-US" sz="1600" dirty="0">
                <a:solidFill>
                  <a:schemeClr val="bg1">
                    <a:lumMod val="75000"/>
                  </a:schemeClr>
                </a:solidFill>
              </a:rPr>
              <a:t>MANDATORY GUIDELINES FOR HDP USAGE WITH </a:t>
            </a:r>
            <a:r>
              <a:rPr lang="en-US" sz="1600" dirty="0" smtClean="0">
                <a:solidFill>
                  <a:schemeClr val="bg1">
                    <a:lumMod val="75000"/>
                  </a:schemeClr>
                </a:solidFill>
              </a:rPr>
              <a:t>HNAS</a:t>
            </a:r>
            <a:endParaRPr lang="en-US" sz="1600" dirty="0">
              <a:solidFill>
                <a:schemeClr val="bg1">
                  <a:lumMod val="75000"/>
                </a:schemeClr>
              </a:solidFill>
            </a:endParaRPr>
          </a:p>
        </p:txBody>
      </p:sp>
    </p:spTree>
    <p:custDataLst>
      <p:tags r:id="rId1"/>
    </p:custDataLst>
    <p:extLst>
      <p:ext uri="{BB962C8B-B14F-4D97-AF65-F5344CB8AC3E}">
        <p14:creationId xmlns:p14="http://schemas.microsoft.com/office/powerpoint/2010/main" val="101603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p:cNvSpPr/>
          <p:nvPr/>
        </p:nvSpPr>
        <p:spPr>
          <a:xfrm>
            <a:off x="5086791" y="787673"/>
            <a:ext cx="1127512" cy="384192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normAutofit/>
          </a:bodyPr>
          <a:lstStyle/>
          <a:p>
            <a:r>
              <a:rPr lang="en-GB" dirty="0" smtClean="0"/>
              <a:t>HDP OVERPROVISIONING </a:t>
            </a:r>
            <a:br>
              <a:rPr lang="en-GB" dirty="0" smtClean="0"/>
            </a:br>
            <a:r>
              <a:rPr lang="en-GB" sz="1600" cap="all" dirty="0" smtClean="0">
                <a:solidFill>
                  <a:schemeClr val="bg1">
                    <a:lumMod val="75000"/>
                  </a:schemeClr>
                </a:solidFill>
              </a:rPr>
              <a:t>not supported with HNAS</a:t>
            </a:r>
            <a:endParaRPr lang="en-GB" sz="1600" cap="all" dirty="0">
              <a:solidFill>
                <a:schemeClr val="bg1">
                  <a:lumMod val="75000"/>
                </a:schemeClr>
              </a:solidFill>
            </a:endParaRPr>
          </a:p>
        </p:txBody>
      </p:sp>
      <p:sp>
        <p:nvSpPr>
          <p:cNvPr id="16" name="Left Arrow 15"/>
          <p:cNvSpPr/>
          <p:nvPr/>
        </p:nvSpPr>
        <p:spPr>
          <a:xfrm>
            <a:off x="7802071" y="2738799"/>
            <a:ext cx="568842" cy="306808"/>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18" name="Group 17"/>
          <p:cNvGrpSpPr/>
          <p:nvPr/>
        </p:nvGrpSpPr>
        <p:grpSpPr>
          <a:xfrm>
            <a:off x="6610791" y="1627321"/>
            <a:ext cx="2493334" cy="1961707"/>
            <a:chOff x="5814237" y="1950050"/>
            <a:chExt cx="3308496" cy="2615609"/>
          </a:xfrm>
          <a:solidFill>
            <a:schemeClr val="bg2"/>
          </a:solidFill>
        </p:grpSpPr>
        <p:grpSp>
          <p:nvGrpSpPr>
            <p:cNvPr id="14" name="Group 13"/>
            <p:cNvGrpSpPr/>
            <p:nvPr/>
          </p:nvGrpSpPr>
          <p:grpSpPr>
            <a:xfrm>
              <a:off x="7410893" y="2343455"/>
              <a:ext cx="1580707" cy="1633870"/>
              <a:chOff x="7145079" y="1711842"/>
              <a:chExt cx="1580707" cy="1633870"/>
            </a:xfrm>
            <a:grpFill/>
          </p:grpSpPr>
          <p:sp>
            <p:nvSpPr>
              <p:cNvPr id="5" name="Can 4"/>
              <p:cNvSpPr/>
              <p:nvPr/>
            </p:nvSpPr>
            <p:spPr>
              <a:xfrm>
                <a:off x="7145079" y="17118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Can 5"/>
              <p:cNvSpPr/>
              <p:nvPr/>
            </p:nvSpPr>
            <p:spPr>
              <a:xfrm>
                <a:off x="7297479" y="18642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Can 6"/>
              <p:cNvSpPr/>
              <p:nvPr/>
            </p:nvSpPr>
            <p:spPr>
              <a:xfrm>
                <a:off x="7449879" y="20166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Can 7"/>
              <p:cNvSpPr/>
              <p:nvPr/>
            </p:nvSpPr>
            <p:spPr>
              <a:xfrm>
                <a:off x="7602279" y="21690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Can 8"/>
              <p:cNvSpPr/>
              <p:nvPr/>
            </p:nvSpPr>
            <p:spPr>
              <a:xfrm>
                <a:off x="7754679" y="23214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Can 9"/>
              <p:cNvSpPr/>
              <p:nvPr/>
            </p:nvSpPr>
            <p:spPr>
              <a:xfrm>
                <a:off x="7907079" y="24738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Can 10"/>
              <p:cNvSpPr/>
              <p:nvPr/>
            </p:nvSpPr>
            <p:spPr>
              <a:xfrm>
                <a:off x="8059479" y="26262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Can 11"/>
              <p:cNvSpPr/>
              <p:nvPr/>
            </p:nvSpPr>
            <p:spPr>
              <a:xfrm>
                <a:off x="8211879" y="27786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Can 12"/>
              <p:cNvSpPr/>
              <p:nvPr/>
            </p:nvSpPr>
            <p:spPr>
              <a:xfrm>
                <a:off x="8364279" y="2931042"/>
                <a:ext cx="361507" cy="414670"/>
              </a:xfrm>
              <a:prstGeom prst="can">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
          <p:nvSpPr>
            <p:cNvPr id="15" name="Can 14"/>
            <p:cNvSpPr/>
            <p:nvPr/>
          </p:nvSpPr>
          <p:spPr>
            <a:xfrm>
              <a:off x="5814237" y="1950050"/>
              <a:ext cx="1541721" cy="2615609"/>
            </a:xfrm>
            <a:prstGeom prst="can">
              <a:avLst/>
            </a:prstGeom>
            <a:grpFill/>
          </p:spPr>
          <p:style>
            <a:lnRef idx="1">
              <a:schemeClr val="accent5"/>
            </a:lnRef>
            <a:fillRef idx="3">
              <a:schemeClr val="accent5"/>
            </a:fillRef>
            <a:effectRef idx="2">
              <a:schemeClr val="accent5"/>
            </a:effectRef>
            <a:fontRef idx="minor">
              <a:schemeClr val="lt1"/>
            </a:fontRef>
          </p:style>
          <p:txBody>
            <a:bodyPr rtlCol="0" anchor="ctr"/>
            <a:lstStyle/>
            <a:p>
              <a:pPr algn="ctr"/>
              <a:r>
                <a:rPr lang="en-GB" dirty="0" smtClean="0"/>
                <a:t>HDP Pool</a:t>
              </a:r>
            </a:p>
            <a:p>
              <a:pPr algn="ctr"/>
              <a:r>
                <a:rPr lang="en-GB" dirty="0" smtClean="0"/>
                <a:t>20TB</a:t>
              </a:r>
              <a:endParaRPr lang="en-GB" dirty="0"/>
            </a:p>
          </p:txBody>
        </p:sp>
        <p:sp>
          <p:nvSpPr>
            <p:cNvPr id="17" name="TextBox 16"/>
            <p:cNvSpPr txBox="1"/>
            <p:nvPr/>
          </p:nvSpPr>
          <p:spPr>
            <a:xfrm>
              <a:off x="7460510" y="4054744"/>
              <a:ext cx="1662223" cy="369332"/>
            </a:xfrm>
            <a:prstGeom prst="rect">
              <a:avLst/>
            </a:prstGeom>
            <a:grpFill/>
          </p:spPr>
          <p:txBody>
            <a:bodyPr wrap="square" rtlCol="0">
              <a:spAutoFit/>
            </a:bodyPr>
            <a:lstStyle/>
            <a:p>
              <a:r>
                <a:rPr lang="en-GB" sz="1200" dirty="0" smtClean="0"/>
                <a:t>20TB RGs</a:t>
              </a:r>
              <a:endParaRPr lang="en-GB" sz="1200" dirty="0"/>
            </a:p>
          </p:txBody>
        </p:sp>
      </p:grpSp>
      <p:grpSp>
        <p:nvGrpSpPr>
          <p:cNvPr id="28" name="Group 27"/>
          <p:cNvGrpSpPr/>
          <p:nvPr/>
        </p:nvGrpSpPr>
        <p:grpSpPr>
          <a:xfrm>
            <a:off x="5333768" y="1061749"/>
            <a:ext cx="684526" cy="3543551"/>
            <a:chOff x="4285503" y="1211599"/>
            <a:chExt cx="684526" cy="4724734"/>
          </a:xfrm>
          <a:noFill/>
        </p:grpSpPr>
        <p:sp>
          <p:nvSpPr>
            <p:cNvPr id="19" name="Can 18"/>
            <p:cNvSpPr/>
            <p:nvPr/>
          </p:nvSpPr>
          <p:spPr>
            <a:xfrm>
              <a:off x="4304112" y="1211599"/>
              <a:ext cx="665917" cy="557185"/>
            </a:xfrm>
            <a:prstGeom prst="can">
              <a:avLst/>
            </a:prstGeom>
            <a:solidFill>
              <a:schemeClr val="tx1">
                <a:lumMod val="50000"/>
              </a:schemeClr>
            </a:solidFill>
            <a:ln>
              <a:solidFill>
                <a:schemeClr val="tx1">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21" name="Can 20"/>
            <p:cNvSpPr/>
            <p:nvPr/>
          </p:nvSpPr>
          <p:spPr>
            <a:xfrm>
              <a:off x="4304112" y="1786270"/>
              <a:ext cx="665917" cy="557185"/>
            </a:xfrm>
            <a:prstGeom prst="can">
              <a:avLst/>
            </a:prstGeom>
            <a:solidFill>
              <a:schemeClr val="tx1">
                <a:lumMod val="50000"/>
              </a:schemeClr>
            </a:solidFill>
            <a:ln>
              <a:solidFill>
                <a:schemeClr val="tx1">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22" name="Can 21"/>
            <p:cNvSpPr/>
            <p:nvPr/>
          </p:nvSpPr>
          <p:spPr>
            <a:xfrm>
              <a:off x="4297714" y="2378426"/>
              <a:ext cx="665917" cy="557185"/>
            </a:xfrm>
            <a:prstGeom prst="can">
              <a:avLst/>
            </a:prstGeom>
            <a:solidFill>
              <a:schemeClr val="tx1">
                <a:lumMod val="50000"/>
              </a:schemeClr>
            </a:solidFill>
            <a:ln>
              <a:solidFill>
                <a:schemeClr val="tx1">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23" name="Can 22"/>
            <p:cNvSpPr/>
            <p:nvPr/>
          </p:nvSpPr>
          <p:spPr>
            <a:xfrm>
              <a:off x="4285503" y="2979261"/>
              <a:ext cx="665917" cy="557185"/>
            </a:xfrm>
            <a:prstGeom prst="can">
              <a:avLst/>
            </a:prstGeom>
            <a:solidFill>
              <a:schemeClr val="tx1">
                <a:lumMod val="50000"/>
              </a:schemeClr>
            </a:solidFill>
            <a:ln>
              <a:solidFill>
                <a:schemeClr val="tx1">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24" name="Can 23"/>
            <p:cNvSpPr/>
            <p:nvPr/>
          </p:nvSpPr>
          <p:spPr>
            <a:xfrm>
              <a:off x="4285503" y="3587893"/>
              <a:ext cx="665917" cy="557185"/>
            </a:xfrm>
            <a:prstGeom prst="can">
              <a:avLst/>
            </a:prstGeom>
            <a:solidFill>
              <a:schemeClr val="tx1">
                <a:lumMod val="50000"/>
              </a:schemeClr>
            </a:solidFill>
            <a:ln>
              <a:solidFill>
                <a:schemeClr val="tx1">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25" name="Can 24"/>
            <p:cNvSpPr/>
            <p:nvPr/>
          </p:nvSpPr>
          <p:spPr>
            <a:xfrm>
              <a:off x="4297715" y="4188728"/>
              <a:ext cx="665917" cy="557185"/>
            </a:xfrm>
            <a:prstGeom prst="can">
              <a:avLst/>
            </a:prstGeom>
            <a:solidFill>
              <a:schemeClr val="tx1">
                <a:lumMod val="50000"/>
              </a:schemeClr>
            </a:solidFill>
            <a:ln>
              <a:solidFill>
                <a:schemeClr val="tx1">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26" name="Can 25"/>
            <p:cNvSpPr/>
            <p:nvPr/>
          </p:nvSpPr>
          <p:spPr>
            <a:xfrm>
              <a:off x="4285504" y="4778313"/>
              <a:ext cx="665917" cy="557185"/>
            </a:xfrm>
            <a:prstGeom prst="can">
              <a:avLst/>
            </a:prstGeom>
            <a:solidFill>
              <a:schemeClr val="tx1">
                <a:lumMod val="50000"/>
              </a:schemeClr>
            </a:solidFill>
            <a:ln>
              <a:solidFill>
                <a:schemeClr val="tx1">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27" name="Can 26"/>
            <p:cNvSpPr/>
            <p:nvPr/>
          </p:nvSpPr>
          <p:spPr>
            <a:xfrm>
              <a:off x="4304112" y="5379148"/>
              <a:ext cx="665917" cy="557185"/>
            </a:xfrm>
            <a:prstGeom prst="can">
              <a:avLst/>
            </a:prstGeom>
            <a:solidFill>
              <a:schemeClr val="tx1">
                <a:lumMod val="50000"/>
              </a:schemeClr>
            </a:solidFill>
            <a:ln>
              <a:solidFill>
                <a:schemeClr val="tx1">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grpSp>
      <p:sp>
        <p:nvSpPr>
          <p:cNvPr id="29" name="Left Arrow 28"/>
          <p:cNvSpPr/>
          <p:nvPr/>
        </p:nvSpPr>
        <p:spPr>
          <a:xfrm>
            <a:off x="6041453" y="2453847"/>
            <a:ext cx="550728" cy="306808"/>
          </a:xfrm>
          <a:prstGeom prst="leftArrow">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TextBox 29"/>
          <p:cNvSpPr txBox="1"/>
          <p:nvPr/>
        </p:nvSpPr>
        <p:spPr>
          <a:xfrm>
            <a:off x="5146492" y="787673"/>
            <a:ext cx="1703045" cy="276999"/>
          </a:xfrm>
          <a:prstGeom prst="rect">
            <a:avLst/>
          </a:prstGeom>
          <a:noFill/>
        </p:spPr>
        <p:txBody>
          <a:bodyPr wrap="square" rtlCol="0">
            <a:spAutoFit/>
          </a:bodyPr>
          <a:lstStyle/>
          <a:p>
            <a:r>
              <a:rPr lang="en-GB" sz="1200" dirty="0" smtClean="0"/>
              <a:t>DP </a:t>
            </a:r>
            <a:r>
              <a:rPr lang="en-GB" sz="1200" dirty="0" err="1" smtClean="0"/>
              <a:t>Vols</a:t>
            </a:r>
            <a:r>
              <a:rPr lang="en-GB" sz="1200" dirty="0" smtClean="0"/>
              <a:t> 64TB</a:t>
            </a:r>
            <a:endParaRPr lang="en-GB" sz="1200" dirty="0"/>
          </a:p>
        </p:txBody>
      </p:sp>
      <p:grpSp>
        <p:nvGrpSpPr>
          <p:cNvPr id="73" name="Group 72"/>
          <p:cNvGrpSpPr/>
          <p:nvPr/>
        </p:nvGrpSpPr>
        <p:grpSpPr>
          <a:xfrm>
            <a:off x="3549258" y="774973"/>
            <a:ext cx="1458994" cy="3910856"/>
            <a:chOff x="2600865" y="813586"/>
            <a:chExt cx="1458994" cy="5214474"/>
          </a:xfrm>
          <a:noFill/>
        </p:grpSpPr>
        <p:sp>
          <p:nvSpPr>
            <p:cNvPr id="32" name="Rectangle 31"/>
            <p:cNvSpPr/>
            <p:nvPr/>
          </p:nvSpPr>
          <p:spPr>
            <a:xfrm>
              <a:off x="2679404" y="905266"/>
              <a:ext cx="1257021" cy="51227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33" name="Group 32"/>
            <p:cNvGrpSpPr/>
            <p:nvPr/>
          </p:nvGrpSpPr>
          <p:grpSpPr>
            <a:xfrm>
              <a:off x="2957210" y="1168795"/>
              <a:ext cx="684526" cy="4724734"/>
              <a:chOff x="4285503" y="1211599"/>
              <a:chExt cx="684526" cy="4724734"/>
            </a:xfrm>
            <a:grpFill/>
          </p:grpSpPr>
          <p:sp>
            <p:nvSpPr>
              <p:cNvPr id="34" name="Can 33"/>
              <p:cNvSpPr/>
              <p:nvPr/>
            </p:nvSpPr>
            <p:spPr>
              <a:xfrm>
                <a:off x="4304112" y="1211599"/>
                <a:ext cx="665917" cy="557185"/>
              </a:xfrm>
              <a:prstGeom prst="can">
                <a:avLst/>
              </a:prstGeom>
              <a:gradFill>
                <a:gsLst>
                  <a:gs pos="0">
                    <a:srgbClr val="000082"/>
                  </a:gs>
                  <a:gs pos="30000">
                    <a:srgbClr val="66008F"/>
                  </a:gs>
                  <a:gs pos="64999">
                    <a:srgbClr val="BA0066"/>
                  </a:gs>
                  <a:gs pos="89999">
                    <a:srgbClr val="FF0000"/>
                  </a:gs>
                  <a:gs pos="100000">
                    <a:srgbClr val="FF8200"/>
                  </a:gs>
                </a:gsLst>
                <a:lin ang="16200000" scaled="0"/>
              </a:gra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35" name="Can 34"/>
              <p:cNvSpPr/>
              <p:nvPr/>
            </p:nvSpPr>
            <p:spPr>
              <a:xfrm>
                <a:off x="4304112" y="1786270"/>
                <a:ext cx="665917" cy="557185"/>
              </a:xfrm>
              <a:prstGeom prst="can">
                <a:avLst/>
              </a:prstGeom>
              <a:gradFill>
                <a:gsLst>
                  <a:gs pos="0">
                    <a:srgbClr val="000082"/>
                  </a:gs>
                  <a:gs pos="30000">
                    <a:srgbClr val="66008F"/>
                  </a:gs>
                  <a:gs pos="64999">
                    <a:srgbClr val="BA0066"/>
                  </a:gs>
                  <a:gs pos="89999">
                    <a:srgbClr val="FF0000"/>
                  </a:gs>
                  <a:gs pos="100000">
                    <a:srgbClr val="FF8200"/>
                  </a:gs>
                </a:gsLst>
                <a:lin ang="16200000" scaled="0"/>
              </a:gra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36" name="Can 35"/>
              <p:cNvSpPr/>
              <p:nvPr/>
            </p:nvSpPr>
            <p:spPr>
              <a:xfrm>
                <a:off x="4297714" y="2378426"/>
                <a:ext cx="665917" cy="557185"/>
              </a:xfrm>
              <a:prstGeom prst="can">
                <a:avLst/>
              </a:prstGeom>
              <a:gradFill>
                <a:gsLst>
                  <a:gs pos="0">
                    <a:srgbClr val="000082"/>
                  </a:gs>
                  <a:gs pos="30000">
                    <a:srgbClr val="66008F"/>
                  </a:gs>
                  <a:gs pos="64999">
                    <a:srgbClr val="BA0066"/>
                  </a:gs>
                  <a:gs pos="89999">
                    <a:srgbClr val="FF0000"/>
                  </a:gs>
                  <a:gs pos="100000">
                    <a:srgbClr val="FF8200"/>
                  </a:gs>
                </a:gsLst>
                <a:lin ang="16200000" scaled="0"/>
              </a:gra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37" name="Can 36"/>
              <p:cNvSpPr/>
              <p:nvPr/>
            </p:nvSpPr>
            <p:spPr>
              <a:xfrm>
                <a:off x="4285503" y="2979261"/>
                <a:ext cx="665917" cy="557185"/>
              </a:xfrm>
              <a:prstGeom prst="can">
                <a:avLst/>
              </a:prstGeom>
              <a:gradFill>
                <a:gsLst>
                  <a:gs pos="0">
                    <a:srgbClr val="000082"/>
                  </a:gs>
                  <a:gs pos="30000">
                    <a:srgbClr val="66008F"/>
                  </a:gs>
                  <a:gs pos="64999">
                    <a:srgbClr val="BA0066"/>
                  </a:gs>
                  <a:gs pos="89999">
                    <a:srgbClr val="FF0000"/>
                  </a:gs>
                  <a:gs pos="100000">
                    <a:srgbClr val="FF8200"/>
                  </a:gs>
                </a:gsLst>
                <a:lin ang="16200000" scaled="0"/>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38" name="Can 37"/>
              <p:cNvSpPr/>
              <p:nvPr/>
            </p:nvSpPr>
            <p:spPr>
              <a:xfrm>
                <a:off x="4285503" y="3587893"/>
                <a:ext cx="665917" cy="557185"/>
              </a:xfrm>
              <a:prstGeom prst="can">
                <a:avLst/>
              </a:prstGeom>
              <a:gradFill>
                <a:gsLst>
                  <a:gs pos="0">
                    <a:srgbClr val="000082"/>
                  </a:gs>
                  <a:gs pos="30000">
                    <a:srgbClr val="66008F"/>
                  </a:gs>
                  <a:gs pos="64999">
                    <a:srgbClr val="BA0066"/>
                  </a:gs>
                  <a:gs pos="89999">
                    <a:srgbClr val="FF0000"/>
                  </a:gs>
                  <a:gs pos="100000">
                    <a:srgbClr val="FF8200"/>
                  </a:gs>
                </a:gsLst>
                <a:lin ang="16200000" scaled="0"/>
              </a:gra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39" name="Can 38"/>
              <p:cNvSpPr/>
              <p:nvPr/>
            </p:nvSpPr>
            <p:spPr>
              <a:xfrm>
                <a:off x="4297715" y="4188728"/>
                <a:ext cx="665917" cy="557185"/>
              </a:xfrm>
              <a:prstGeom prst="can">
                <a:avLst/>
              </a:prstGeom>
              <a:gradFill>
                <a:gsLst>
                  <a:gs pos="0">
                    <a:srgbClr val="000082"/>
                  </a:gs>
                  <a:gs pos="30000">
                    <a:srgbClr val="66008F"/>
                  </a:gs>
                  <a:gs pos="64999">
                    <a:srgbClr val="BA0066"/>
                  </a:gs>
                  <a:gs pos="89999">
                    <a:srgbClr val="FF0000"/>
                  </a:gs>
                  <a:gs pos="100000">
                    <a:srgbClr val="FF8200"/>
                  </a:gs>
                </a:gsLst>
                <a:lin ang="16200000" scaled="0"/>
              </a:gra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40" name="Can 39"/>
              <p:cNvSpPr/>
              <p:nvPr/>
            </p:nvSpPr>
            <p:spPr>
              <a:xfrm>
                <a:off x="4285504" y="4778313"/>
                <a:ext cx="665917" cy="557185"/>
              </a:xfrm>
              <a:prstGeom prst="can">
                <a:avLst/>
              </a:prstGeom>
              <a:gradFill>
                <a:gsLst>
                  <a:gs pos="0">
                    <a:srgbClr val="000082"/>
                  </a:gs>
                  <a:gs pos="30000">
                    <a:srgbClr val="66008F"/>
                  </a:gs>
                  <a:gs pos="64999">
                    <a:srgbClr val="BA0066"/>
                  </a:gs>
                  <a:gs pos="89999">
                    <a:srgbClr val="FF0000"/>
                  </a:gs>
                  <a:gs pos="100000">
                    <a:srgbClr val="FF8200"/>
                  </a:gs>
                </a:gsLst>
                <a:lin ang="16200000" scaled="0"/>
              </a:gra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sp>
            <p:nvSpPr>
              <p:cNvPr id="41" name="Can 40"/>
              <p:cNvSpPr/>
              <p:nvPr/>
            </p:nvSpPr>
            <p:spPr>
              <a:xfrm>
                <a:off x="4304112" y="5379148"/>
                <a:ext cx="665917" cy="557185"/>
              </a:xfrm>
              <a:prstGeom prst="can">
                <a:avLst/>
              </a:prstGeom>
              <a:gradFill>
                <a:gsLst>
                  <a:gs pos="0">
                    <a:srgbClr val="000082"/>
                  </a:gs>
                  <a:gs pos="30000">
                    <a:srgbClr val="66008F"/>
                  </a:gs>
                  <a:gs pos="64999">
                    <a:srgbClr val="BA0066"/>
                  </a:gs>
                  <a:gs pos="89999">
                    <a:srgbClr val="FF0000"/>
                  </a:gs>
                  <a:gs pos="100000">
                    <a:srgbClr val="FF8200"/>
                  </a:gs>
                </a:gsLst>
                <a:lin ang="16200000" scaled="0"/>
              </a:gra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GB" dirty="0"/>
                  <a:t>8</a:t>
                </a:r>
                <a:r>
                  <a:rPr lang="en-GB" dirty="0" smtClean="0"/>
                  <a:t> TB</a:t>
                </a:r>
                <a:endParaRPr lang="en-GB" dirty="0"/>
              </a:p>
            </p:txBody>
          </p:sp>
        </p:grpSp>
        <p:sp>
          <p:nvSpPr>
            <p:cNvPr id="51" name="TextBox 50"/>
            <p:cNvSpPr txBox="1"/>
            <p:nvPr/>
          </p:nvSpPr>
          <p:spPr>
            <a:xfrm>
              <a:off x="2600865" y="813586"/>
              <a:ext cx="1458994" cy="369332"/>
            </a:xfrm>
            <a:prstGeom prst="rect">
              <a:avLst/>
            </a:prstGeom>
            <a:grpFill/>
          </p:spPr>
          <p:txBody>
            <a:bodyPr wrap="square" rtlCol="0">
              <a:spAutoFit/>
            </a:bodyPr>
            <a:lstStyle/>
            <a:p>
              <a:r>
                <a:rPr lang="en-GB" sz="1200" dirty="0" smtClean="0"/>
                <a:t>HNAS Pool 64 TB</a:t>
              </a:r>
              <a:endParaRPr lang="en-GB" sz="1200" dirty="0"/>
            </a:p>
          </p:txBody>
        </p:sp>
      </p:grpSp>
      <p:grpSp>
        <p:nvGrpSpPr>
          <p:cNvPr id="74" name="Group 73"/>
          <p:cNvGrpSpPr/>
          <p:nvPr/>
        </p:nvGrpSpPr>
        <p:grpSpPr>
          <a:xfrm>
            <a:off x="1867929" y="855413"/>
            <a:ext cx="1241718" cy="3853703"/>
            <a:chOff x="1280445" y="889789"/>
            <a:chExt cx="1241718" cy="5138271"/>
          </a:xfrm>
        </p:grpSpPr>
        <p:sp>
          <p:nvSpPr>
            <p:cNvPr id="67" name="Rectangle 66"/>
            <p:cNvSpPr/>
            <p:nvPr/>
          </p:nvSpPr>
          <p:spPr>
            <a:xfrm>
              <a:off x="1280445" y="889789"/>
              <a:ext cx="1241718" cy="5138271"/>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66" name="Group 65"/>
            <p:cNvGrpSpPr/>
            <p:nvPr/>
          </p:nvGrpSpPr>
          <p:grpSpPr>
            <a:xfrm>
              <a:off x="1532184" y="1080764"/>
              <a:ext cx="754912" cy="4929473"/>
              <a:chOff x="1525827" y="894780"/>
              <a:chExt cx="754912" cy="4929473"/>
            </a:xfrm>
          </p:grpSpPr>
          <p:grpSp>
            <p:nvGrpSpPr>
              <p:cNvPr id="56" name="Group 55"/>
              <p:cNvGrpSpPr/>
              <p:nvPr/>
            </p:nvGrpSpPr>
            <p:grpSpPr>
              <a:xfrm>
                <a:off x="1525827" y="894780"/>
                <a:ext cx="723014" cy="1213706"/>
                <a:chOff x="669851" y="1129749"/>
                <a:chExt cx="723014" cy="1213706"/>
              </a:xfrm>
            </p:grpSpPr>
            <p:sp>
              <p:nvSpPr>
                <p:cNvPr id="53" name="Can 52"/>
                <p:cNvSpPr/>
                <p:nvPr/>
              </p:nvSpPr>
              <p:spPr>
                <a:xfrm>
                  <a:off x="669851" y="1129749"/>
                  <a:ext cx="723014" cy="1213706"/>
                </a:xfrm>
                <a:prstGeom prst="can">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GB" dirty="0" smtClean="0"/>
                    <a:t>20</a:t>
                  </a:r>
                  <a:endParaRPr lang="en-GB" dirty="0"/>
                </a:p>
              </p:txBody>
            </p:sp>
            <p:sp>
              <p:nvSpPr>
                <p:cNvPr id="55" name="Can 54"/>
                <p:cNvSpPr/>
                <p:nvPr/>
              </p:nvSpPr>
              <p:spPr>
                <a:xfrm>
                  <a:off x="669851" y="1950050"/>
                  <a:ext cx="723014" cy="385572"/>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smtClean="0"/>
                    <a:t>5</a:t>
                  </a:r>
                  <a:endParaRPr lang="en-GB" dirty="0"/>
                </a:p>
              </p:txBody>
            </p:sp>
          </p:grpSp>
          <p:grpSp>
            <p:nvGrpSpPr>
              <p:cNvPr id="57" name="Group 56"/>
              <p:cNvGrpSpPr/>
              <p:nvPr/>
            </p:nvGrpSpPr>
            <p:grpSpPr>
              <a:xfrm>
                <a:off x="1557725" y="3381683"/>
                <a:ext cx="723014" cy="1213706"/>
                <a:chOff x="669851" y="1129749"/>
                <a:chExt cx="723014" cy="1213706"/>
              </a:xfrm>
            </p:grpSpPr>
            <p:sp>
              <p:nvSpPr>
                <p:cNvPr id="58" name="Can 57"/>
                <p:cNvSpPr/>
                <p:nvPr/>
              </p:nvSpPr>
              <p:spPr>
                <a:xfrm>
                  <a:off x="669851" y="1129749"/>
                  <a:ext cx="723014" cy="1213706"/>
                </a:xfrm>
                <a:prstGeom prst="can">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GB" dirty="0" smtClean="0"/>
                    <a:t>20</a:t>
                  </a:r>
                  <a:endParaRPr lang="en-GB" dirty="0"/>
                </a:p>
              </p:txBody>
            </p:sp>
            <p:sp>
              <p:nvSpPr>
                <p:cNvPr id="59" name="Can 58"/>
                <p:cNvSpPr/>
                <p:nvPr/>
              </p:nvSpPr>
              <p:spPr>
                <a:xfrm>
                  <a:off x="669851" y="1950050"/>
                  <a:ext cx="723014" cy="385572"/>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smtClean="0"/>
                    <a:t>5</a:t>
                  </a:r>
                  <a:endParaRPr lang="en-GB" dirty="0"/>
                </a:p>
              </p:txBody>
            </p:sp>
          </p:grpSp>
          <p:grpSp>
            <p:nvGrpSpPr>
              <p:cNvPr id="60" name="Group 59"/>
              <p:cNvGrpSpPr/>
              <p:nvPr/>
            </p:nvGrpSpPr>
            <p:grpSpPr>
              <a:xfrm>
                <a:off x="1525827" y="2137867"/>
                <a:ext cx="723014" cy="1213706"/>
                <a:chOff x="669851" y="1129749"/>
                <a:chExt cx="723014" cy="1213706"/>
              </a:xfrm>
            </p:grpSpPr>
            <p:sp>
              <p:nvSpPr>
                <p:cNvPr id="61" name="Can 60"/>
                <p:cNvSpPr/>
                <p:nvPr/>
              </p:nvSpPr>
              <p:spPr>
                <a:xfrm>
                  <a:off x="669851" y="1129749"/>
                  <a:ext cx="723014" cy="1213706"/>
                </a:xfrm>
                <a:prstGeom prst="can">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GB" dirty="0" smtClean="0"/>
                    <a:t>20</a:t>
                  </a:r>
                  <a:endParaRPr lang="en-GB" dirty="0"/>
                </a:p>
              </p:txBody>
            </p:sp>
            <p:sp>
              <p:nvSpPr>
                <p:cNvPr id="62" name="Can 61"/>
                <p:cNvSpPr/>
                <p:nvPr/>
              </p:nvSpPr>
              <p:spPr>
                <a:xfrm>
                  <a:off x="669851" y="1950050"/>
                  <a:ext cx="723014" cy="385572"/>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smtClean="0"/>
                    <a:t>5</a:t>
                  </a:r>
                  <a:endParaRPr lang="en-GB" dirty="0"/>
                </a:p>
              </p:txBody>
            </p:sp>
          </p:grpSp>
          <p:grpSp>
            <p:nvGrpSpPr>
              <p:cNvPr id="63" name="Group 62"/>
              <p:cNvGrpSpPr/>
              <p:nvPr/>
            </p:nvGrpSpPr>
            <p:grpSpPr>
              <a:xfrm>
                <a:off x="1557725" y="4610547"/>
                <a:ext cx="723014" cy="1213706"/>
                <a:chOff x="669851" y="1129749"/>
                <a:chExt cx="723014" cy="1213706"/>
              </a:xfrm>
            </p:grpSpPr>
            <p:sp>
              <p:nvSpPr>
                <p:cNvPr id="64" name="Can 63"/>
                <p:cNvSpPr/>
                <p:nvPr/>
              </p:nvSpPr>
              <p:spPr>
                <a:xfrm>
                  <a:off x="669851" y="1129749"/>
                  <a:ext cx="723014" cy="1213706"/>
                </a:xfrm>
                <a:prstGeom prst="can">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GB" dirty="0" smtClean="0"/>
                    <a:t>20</a:t>
                  </a:r>
                  <a:endParaRPr lang="en-GB" dirty="0"/>
                </a:p>
              </p:txBody>
            </p:sp>
            <p:sp>
              <p:nvSpPr>
                <p:cNvPr id="65" name="Can 64"/>
                <p:cNvSpPr/>
                <p:nvPr/>
              </p:nvSpPr>
              <p:spPr>
                <a:xfrm>
                  <a:off x="669851" y="1950050"/>
                  <a:ext cx="723014" cy="385572"/>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smtClean="0"/>
                    <a:t>5</a:t>
                  </a:r>
                  <a:endParaRPr lang="en-GB" dirty="0"/>
                </a:p>
              </p:txBody>
            </p:sp>
          </p:grpSp>
        </p:grpSp>
      </p:grpSp>
      <p:sp>
        <p:nvSpPr>
          <p:cNvPr id="70" name="Line Callout 1 69"/>
          <p:cNvSpPr/>
          <p:nvPr/>
        </p:nvSpPr>
        <p:spPr>
          <a:xfrm>
            <a:off x="1121485" y="1501107"/>
            <a:ext cx="717356" cy="301072"/>
          </a:xfrm>
          <a:prstGeom prst="borderCallout1">
            <a:avLst>
              <a:gd name="adj1" fmla="val 50718"/>
              <a:gd name="adj2" fmla="val 99725"/>
              <a:gd name="adj3" fmla="val 65549"/>
              <a:gd name="adj4" fmla="val 138776"/>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dirty="0" smtClean="0">
                <a:solidFill>
                  <a:schemeClr val="tx1"/>
                </a:solidFill>
              </a:rPr>
              <a:t>Allocated </a:t>
            </a:r>
          </a:p>
          <a:p>
            <a:pPr algn="ctr"/>
            <a:r>
              <a:rPr lang="en-GB" sz="1000" dirty="0" smtClean="0">
                <a:solidFill>
                  <a:schemeClr val="tx1"/>
                </a:solidFill>
              </a:rPr>
              <a:t>Space</a:t>
            </a:r>
            <a:endParaRPr lang="en-GB" sz="1000" dirty="0">
              <a:solidFill>
                <a:schemeClr val="tx1"/>
              </a:solidFill>
            </a:endParaRPr>
          </a:p>
        </p:txBody>
      </p:sp>
      <p:sp>
        <p:nvSpPr>
          <p:cNvPr id="71" name="Line Callout 1 70"/>
          <p:cNvSpPr/>
          <p:nvPr/>
        </p:nvSpPr>
        <p:spPr>
          <a:xfrm>
            <a:off x="1294789" y="986003"/>
            <a:ext cx="514965" cy="301072"/>
          </a:xfrm>
          <a:prstGeom prst="borderCallout1">
            <a:avLst>
              <a:gd name="adj1" fmla="val 50718"/>
              <a:gd name="adj2" fmla="val 99725"/>
              <a:gd name="adj3" fmla="val 54872"/>
              <a:gd name="adj4" fmla="val 155192"/>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dirty="0" smtClean="0">
                <a:solidFill>
                  <a:schemeClr val="tx1"/>
                </a:solidFill>
              </a:rPr>
              <a:t>Total </a:t>
            </a:r>
          </a:p>
          <a:p>
            <a:pPr algn="ctr"/>
            <a:r>
              <a:rPr lang="en-GB" sz="1000" dirty="0" smtClean="0">
                <a:solidFill>
                  <a:schemeClr val="tx1"/>
                </a:solidFill>
              </a:rPr>
              <a:t>Size</a:t>
            </a:r>
            <a:endParaRPr lang="en-GB" sz="1000" dirty="0">
              <a:solidFill>
                <a:schemeClr val="tx1"/>
              </a:solidFill>
            </a:endParaRPr>
          </a:p>
        </p:txBody>
      </p:sp>
      <p:sp>
        <p:nvSpPr>
          <p:cNvPr id="75" name="Right Arrow 74"/>
          <p:cNvSpPr/>
          <p:nvPr/>
        </p:nvSpPr>
        <p:spPr>
          <a:xfrm rot="10800000">
            <a:off x="2842683" y="2446463"/>
            <a:ext cx="789021" cy="26980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6" name="Right Arrow 75"/>
          <p:cNvSpPr/>
          <p:nvPr/>
        </p:nvSpPr>
        <p:spPr>
          <a:xfrm rot="10800000">
            <a:off x="2874579" y="3375185"/>
            <a:ext cx="757122" cy="26980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7" name="Right Arrow 76"/>
          <p:cNvSpPr/>
          <p:nvPr/>
        </p:nvSpPr>
        <p:spPr>
          <a:xfrm rot="10800000">
            <a:off x="2874578" y="4305905"/>
            <a:ext cx="743167" cy="26980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8" name="Right Arrow 77"/>
          <p:cNvSpPr/>
          <p:nvPr/>
        </p:nvSpPr>
        <p:spPr>
          <a:xfrm rot="10800000">
            <a:off x="2842683" y="1516742"/>
            <a:ext cx="789021" cy="26980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9" name="Can 78"/>
          <p:cNvSpPr/>
          <p:nvPr/>
        </p:nvSpPr>
        <p:spPr>
          <a:xfrm>
            <a:off x="2151564" y="4358356"/>
            <a:ext cx="723013" cy="116504"/>
          </a:xfrm>
          <a:prstGeom prst="can">
            <a:avLst>
              <a:gd name="adj" fmla="val 50000"/>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2" name="Can 71"/>
          <p:cNvSpPr/>
          <p:nvPr/>
        </p:nvSpPr>
        <p:spPr>
          <a:xfrm>
            <a:off x="2146536" y="4339367"/>
            <a:ext cx="723014" cy="356382"/>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t>7</a:t>
            </a:r>
          </a:p>
        </p:txBody>
      </p:sp>
      <p:sp>
        <p:nvSpPr>
          <p:cNvPr id="20" name="TextBox 19"/>
          <p:cNvSpPr txBox="1"/>
          <p:nvPr/>
        </p:nvSpPr>
        <p:spPr>
          <a:xfrm>
            <a:off x="91407" y="1846461"/>
            <a:ext cx="1728773" cy="900246"/>
          </a:xfrm>
          <a:prstGeom prst="rect">
            <a:avLst/>
          </a:prstGeom>
          <a:noFill/>
        </p:spPr>
        <p:txBody>
          <a:bodyPr wrap="square" rtlCol="0">
            <a:spAutoFit/>
          </a:bodyPr>
          <a:lstStyle/>
          <a:p>
            <a:r>
              <a:rPr lang="en-GB" sz="1050" dirty="0"/>
              <a:t>HNAS </a:t>
            </a:r>
            <a:r>
              <a:rPr lang="en-GB" sz="1050" dirty="0" smtClean="0"/>
              <a:t>expands file system </a:t>
            </a:r>
            <a:r>
              <a:rPr lang="en-GB" sz="1050" dirty="0"/>
              <a:t>when usage reaches threshold. This allocates </a:t>
            </a:r>
            <a:r>
              <a:rPr lang="en-GB" sz="1050" dirty="0" smtClean="0"/>
              <a:t>space </a:t>
            </a:r>
            <a:r>
              <a:rPr lang="en-GB" sz="1050" dirty="0"/>
              <a:t>from HNAS pool and succeeds</a:t>
            </a:r>
          </a:p>
        </p:txBody>
      </p:sp>
      <p:sp>
        <p:nvSpPr>
          <p:cNvPr id="81" name="TextBox 80"/>
          <p:cNvSpPr txBox="1"/>
          <p:nvPr/>
        </p:nvSpPr>
        <p:spPr>
          <a:xfrm>
            <a:off x="115841" y="2738800"/>
            <a:ext cx="1268975" cy="261610"/>
          </a:xfrm>
          <a:prstGeom prst="rect">
            <a:avLst/>
          </a:prstGeom>
          <a:noFill/>
        </p:spPr>
        <p:txBody>
          <a:bodyPr wrap="square" rtlCol="0">
            <a:spAutoFit/>
          </a:bodyPr>
          <a:lstStyle/>
          <a:p>
            <a:r>
              <a:rPr lang="en-GB" sz="1050" b="1" dirty="0" smtClean="0"/>
              <a:t>Later…</a:t>
            </a:r>
            <a:endParaRPr lang="en-GB" sz="1050" b="1" dirty="0"/>
          </a:p>
        </p:txBody>
      </p:sp>
      <p:sp>
        <p:nvSpPr>
          <p:cNvPr id="83" name="TextBox 82"/>
          <p:cNvSpPr txBox="1"/>
          <p:nvPr/>
        </p:nvSpPr>
        <p:spPr>
          <a:xfrm>
            <a:off x="103791" y="2946549"/>
            <a:ext cx="1448479" cy="430887"/>
          </a:xfrm>
          <a:prstGeom prst="rect">
            <a:avLst/>
          </a:prstGeom>
          <a:noFill/>
        </p:spPr>
        <p:txBody>
          <a:bodyPr wrap="square" rtlCol="0">
            <a:spAutoFit/>
          </a:bodyPr>
          <a:lstStyle/>
          <a:p>
            <a:r>
              <a:rPr lang="en-GB" sz="1050" dirty="0"/>
              <a:t>HNAS </a:t>
            </a:r>
            <a:r>
              <a:rPr lang="en-GB" sz="1050" dirty="0" smtClean="0"/>
              <a:t>issues SCSI Write to new space.</a:t>
            </a:r>
            <a:endParaRPr lang="en-GB" sz="1050" dirty="0"/>
          </a:p>
        </p:txBody>
      </p:sp>
      <p:sp>
        <p:nvSpPr>
          <p:cNvPr id="86" name="TextBox 85"/>
          <p:cNvSpPr txBox="1"/>
          <p:nvPr/>
        </p:nvSpPr>
        <p:spPr>
          <a:xfrm>
            <a:off x="6113697" y="2343811"/>
            <a:ext cx="346230" cy="707886"/>
          </a:xfrm>
          <a:prstGeom prst="rect">
            <a:avLst/>
          </a:prstGeom>
          <a:noFill/>
        </p:spPr>
        <p:txBody>
          <a:bodyPr wrap="square" rtlCol="0">
            <a:spAutoFit/>
          </a:bodyPr>
          <a:lstStyle/>
          <a:p>
            <a:r>
              <a:rPr lang="en-GB" sz="4000" dirty="0" smtClean="0">
                <a:solidFill>
                  <a:srgbClr val="FF0000"/>
                </a:solidFill>
                <a:latin typeface="Forte" panose="03060902040502070203" pitchFamily="66" charset="0"/>
              </a:rPr>
              <a:t>X</a:t>
            </a:r>
            <a:endParaRPr lang="en-GB" sz="4000" dirty="0">
              <a:solidFill>
                <a:srgbClr val="FF0000"/>
              </a:solidFill>
              <a:latin typeface="Forte" panose="03060902040502070203" pitchFamily="66" charset="0"/>
            </a:endParaRPr>
          </a:p>
        </p:txBody>
      </p:sp>
      <p:sp>
        <p:nvSpPr>
          <p:cNvPr id="87" name="TextBox 86"/>
          <p:cNvSpPr txBox="1"/>
          <p:nvPr/>
        </p:nvSpPr>
        <p:spPr>
          <a:xfrm>
            <a:off x="103791" y="3474041"/>
            <a:ext cx="1268975" cy="577081"/>
          </a:xfrm>
          <a:prstGeom prst="rect">
            <a:avLst/>
          </a:prstGeom>
          <a:noFill/>
        </p:spPr>
        <p:txBody>
          <a:bodyPr wrap="square" rtlCol="0">
            <a:spAutoFit/>
          </a:bodyPr>
          <a:lstStyle/>
          <a:p>
            <a:r>
              <a:rPr lang="en-GB" sz="1050" dirty="0" smtClean="0">
                <a:solidFill>
                  <a:srgbClr val="FF0000"/>
                </a:solidFill>
              </a:rPr>
              <a:t>DP Pool unable to allocate physical page</a:t>
            </a:r>
            <a:endParaRPr lang="en-GB" sz="1050" dirty="0">
              <a:solidFill>
                <a:srgbClr val="FF0000"/>
              </a:solidFill>
            </a:endParaRPr>
          </a:p>
        </p:txBody>
      </p:sp>
      <p:sp>
        <p:nvSpPr>
          <p:cNvPr id="43" name="Right Arrow 42"/>
          <p:cNvSpPr/>
          <p:nvPr/>
        </p:nvSpPr>
        <p:spPr>
          <a:xfrm>
            <a:off x="4618465" y="4246148"/>
            <a:ext cx="733913" cy="343345"/>
          </a:xfrm>
          <a:prstGeom prst="rightArrow">
            <a:avLst/>
          </a:prstGeom>
          <a:gradFill>
            <a:gsLst>
              <a:gs pos="83000">
                <a:schemeClr val="accent3"/>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800" dirty="0" smtClean="0"/>
              <a:t>SCSI Write</a:t>
            </a:r>
            <a:endParaRPr lang="en-GB" sz="800" dirty="0"/>
          </a:p>
        </p:txBody>
      </p:sp>
      <p:sp>
        <p:nvSpPr>
          <p:cNvPr id="88" name="Right Arrow 87"/>
          <p:cNvSpPr/>
          <p:nvPr/>
        </p:nvSpPr>
        <p:spPr>
          <a:xfrm flipH="1">
            <a:off x="4599854" y="4231863"/>
            <a:ext cx="752522" cy="343345"/>
          </a:xfrm>
          <a:prstGeom prst="rightArrow">
            <a:avLst/>
          </a:prstGeom>
          <a:gradFill>
            <a:gsLst>
              <a:gs pos="8300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800" dirty="0" smtClean="0"/>
              <a:t>SCSI Error</a:t>
            </a:r>
            <a:endParaRPr lang="en-GB" sz="800" dirty="0"/>
          </a:p>
        </p:txBody>
      </p:sp>
      <p:sp>
        <p:nvSpPr>
          <p:cNvPr id="89" name="TextBox 88"/>
          <p:cNvSpPr txBox="1"/>
          <p:nvPr/>
        </p:nvSpPr>
        <p:spPr>
          <a:xfrm>
            <a:off x="3545150" y="1904823"/>
            <a:ext cx="599539" cy="2215991"/>
          </a:xfrm>
          <a:prstGeom prst="rect">
            <a:avLst/>
          </a:prstGeom>
          <a:noFill/>
        </p:spPr>
        <p:txBody>
          <a:bodyPr wrap="square" rtlCol="0">
            <a:spAutoFit/>
          </a:bodyPr>
          <a:lstStyle/>
          <a:p>
            <a:r>
              <a:rPr lang="en-GB" sz="13800" dirty="0" smtClean="0">
                <a:latin typeface="Forte" panose="03060902040502070203" pitchFamily="66" charset="0"/>
              </a:rPr>
              <a:t>X</a:t>
            </a:r>
            <a:endParaRPr lang="en-GB" sz="13800" dirty="0">
              <a:latin typeface="Forte" panose="03060902040502070203" pitchFamily="66" charset="0"/>
            </a:endParaRPr>
          </a:p>
        </p:txBody>
      </p:sp>
      <p:sp>
        <p:nvSpPr>
          <p:cNvPr id="90" name="TextBox 89"/>
          <p:cNvSpPr txBox="1"/>
          <p:nvPr/>
        </p:nvSpPr>
        <p:spPr>
          <a:xfrm>
            <a:off x="2253894" y="3902533"/>
            <a:ext cx="346230" cy="707886"/>
          </a:xfrm>
          <a:prstGeom prst="rect">
            <a:avLst/>
          </a:prstGeom>
          <a:noFill/>
        </p:spPr>
        <p:txBody>
          <a:bodyPr wrap="square" rtlCol="0">
            <a:spAutoFit/>
          </a:bodyPr>
          <a:lstStyle/>
          <a:p>
            <a:r>
              <a:rPr lang="en-GB" sz="4000" dirty="0" smtClean="0">
                <a:solidFill>
                  <a:srgbClr val="FF0000"/>
                </a:solidFill>
                <a:latin typeface="Forte" panose="03060902040502070203" pitchFamily="66" charset="0"/>
              </a:rPr>
              <a:t>X</a:t>
            </a:r>
            <a:endParaRPr lang="en-GB" sz="4000" dirty="0">
              <a:solidFill>
                <a:srgbClr val="FF0000"/>
              </a:solidFill>
              <a:latin typeface="Forte" panose="03060902040502070203" pitchFamily="66" charset="0"/>
            </a:endParaRPr>
          </a:p>
        </p:txBody>
      </p:sp>
      <p:sp>
        <p:nvSpPr>
          <p:cNvPr id="91" name="TextBox 90"/>
          <p:cNvSpPr txBox="1"/>
          <p:nvPr/>
        </p:nvSpPr>
        <p:spPr>
          <a:xfrm>
            <a:off x="2242059" y="3002102"/>
            <a:ext cx="346230" cy="707886"/>
          </a:xfrm>
          <a:prstGeom prst="rect">
            <a:avLst/>
          </a:prstGeom>
          <a:noFill/>
        </p:spPr>
        <p:txBody>
          <a:bodyPr wrap="square" rtlCol="0">
            <a:spAutoFit/>
          </a:bodyPr>
          <a:lstStyle/>
          <a:p>
            <a:r>
              <a:rPr lang="en-GB" sz="4000" dirty="0" smtClean="0">
                <a:solidFill>
                  <a:srgbClr val="FF0000"/>
                </a:solidFill>
                <a:latin typeface="Forte" panose="03060902040502070203" pitchFamily="66" charset="0"/>
              </a:rPr>
              <a:t>X</a:t>
            </a:r>
            <a:endParaRPr lang="en-GB" sz="4000" dirty="0">
              <a:solidFill>
                <a:srgbClr val="FF0000"/>
              </a:solidFill>
              <a:latin typeface="Forte" panose="03060902040502070203" pitchFamily="66" charset="0"/>
            </a:endParaRPr>
          </a:p>
        </p:txBody>
      </p:sp>
      <p:sp>
        <p:nvSpPr>
          <p:cNvPr id="92" name="TextBox 91"/>
          <p:cNvSpPr txBox="1"/>
          <p:nvPr/>
        </p:nvSpPr>
        <p:spPr>
          <a:xfrm>
            <a:off x="2227007" y="2124697"/>
            <a:ext cx="346230" cy="707886"/>
          </a:xfrm>
          <a:prstGeom prst="rect">
            <a:avLst/>
          </a:prstGeom>
          <a:noFill/>
        </p:spPr>
        <p:txBody>
          <a:bodyPr wrap="square" rtlCol="0">
            <a:spAutoFit/>
          </a:bodyPr>
          <a:lstStyle/>
          <a:p>
            <a:r>
              <a:rPr lang="en-GB" sz="4000" dirty="0" smtClean="0">
                <a:solidFill>
                  <a:srgbClr val="FF0000"/>
                </a:solidFill>
                <a:latin typeface="Forte" panose="03060902040502070203" pitchFamily="66" charset="0"/>
              </a:rPr>
              <a:t>X</a:t>
            </a:r>
            <a:endParaRPr lang="en-GB" sz="4000" dirty="0">
              <a:solidFill>
                <a:srgbClr val="FF0000"/>
              </a:solidFill>
              <a:latin typeface="Forte" panose="03060902040502070203" pitchFamily="66" charset="0"/>
            </a:endParaRPr>
          </a:p>
        </p:txBody>
      </p:sp>
      <p:sp>
        <p:nvSpPr>
          <p:cNvPr id="93" name="TextBox 92"/>
          <p:cNvSpPr txBox="1"/>
          <p:nvPr/>
        </p:nvSpPr>
        <p:spPr>
          <a:xfrm>
            <a:off x="2222037" y="1188326"/>
            <a:ext cx="346230" cy="707886"/>
          </a:xfrm>
          <a:prstGeom prst="rect">
            <a:avLst/>
          </a:prstGeom>
          <a:noFill/>
        </p:spPr>
        <p:txBody>
          <a:bodyPr wrap="square" rtlCol="0">
            <a:spAutoFit/>
          </a:bodyPr>
          <a:lstStyle/>
          <a:p>
            <a:r>
              <a:rPr lang="en-GB" sz="4000" dirty="0" smtClean="0">
                <a:solidFill>
                  <a:srgbClr val="FF0000"/>
                </a:solidFill>
                <a:latin typeface="Forte" panose="03060902040502070203" pitchFamily="66" charset="0"/>
              </a:rPr>
              <a:t>X</a:t>
            </a:r>
            <a:endParaRPr lang="en-GB" sz="4000" dirty="0">
              <a:solidFill>
                <a:srgbClr val="FF0000"/>
              </a:solidFill>
              <a:latin typeface="Forte" panose="03060902040502070203" pitchFamily="66" charset="0"/>
            </a:endParaRPr>
          </a:p>
        </p:txBody>
      </p:sp>
      <p:sp>
        <p:nvSpPr>
          <p:cNvPr id="94" name="TextBox 93"/>
          <p:cNvSpPr txBox="1"/>
          <p:nvPr/>
        </p:nvSpPr>
        <p:spPr>
          <a:xfrm>
            <a:off x="110069" y="4036237"/>
            <a:ext cx="1268975" cy="261610"/>
          </a:xfrm>
          <a:prstGeom prst="rect">
            <a:avLst/>
          </a:prstGeom>
          <a:noFill/>
        </p:spPr>
        <p:txBody>
          <a:bodyPr wrap="square" rtlCol="0">
            <a:spAutoFit/>
          </a:bodyPr>
          <a:lstStyle/>
          <a:p>
            <a:r>
              <a:rPr lang="en-GB" sz="1050" dirty="0" smtClean="0">
                <a:solidFill>
                  <a:srgbClr val="FF0000"/>
                </a:solidFill>
              </a:rPr>
              <a:t>SCSI Write Fails</a:t>
            </a:r>
            <a:endParaRPr lang="en-GB" sz="1050" dirty="0">
              <a:solidFill>
                <a:srgbClr val="FF0000"/>
              </a:solidFill>
            </a:endParaRPr>
          </a:p>
        </p:txBody>
      </p:sp>
      <p:sp>
        <p:nvSpPr>
          <p:cNvPr id="95" name="TextBox 94"/>
          <p:cNvSpPr txBox="1"/>
          <p:nvPr/>
        </p:nvSpPr>
        <p:spPr>
          <a:xfrm>
            <a:off x="110069" y="4274979"/>
            <a:ext cx="1268975" cy="261610"/>
          </a:xfrm>
          <a:prstGeom prst="rect">
            <a:avLst/>
          </a:prstGeom>
          <a:noFill/>
        </p:spPr>
        <p:txBody>
          <a:bodyPr wrap="square" rtlCol="0">
            <a:spAutoFit/>
          </a:bodyPr>
          <a:lstStyle/>
          <a:p>
            <a:r>
              <a:rPr lang="en-GB" sz="1050" dirty="0" smtClean="0">
                <a:solidFill>
                  <a:srgbClr val="FF0000"/>
                </a:solidFill>
              </a:rPr>
              <a:t>HNAS Pool Fails</a:t>
            </a:r>
            <a:endParaRPr lang="en-GB" sz="1050" dirty="0">
              <a:solidFill>
                <a:srgbClr val="FF0000"/>
              </a:solidFill>
            </a:endParaRPr>
          </a:p>
        </p:txBody>
      </p:sp>
      <p:sp>
        <p:nvSpPr>
          <p:cNvPr id="96" name="TextBox 95"/>
          <p:cNvSpPr txBox="1"/>
          <p:nvPr/>
        </p:nvSpPr>
        <p:spPr>
          <a:xfrm>
            <a:off x="110066" y="4517558"/>
            <a:ext cx="1268975" cy="430887"/>
          </a:xfrm>
          <a:prstGeom prst="rect">
            <a:avLst/>
          </a:prstGeom>
          <a:noFill/>
        </p:spPr>
        <p:txBody>
          <a:bodyPr wrap="square" rtlCol="0">
            <a:spAutoFit/>
          </a:bodyPr>
          <a:lstStyle/>
          <a:p>
            <a:r>
              <a:rPr lang="en-GB" sz="1050" dirty="0" smtClean="0">
                <a:solidFill>
                  <a:srgbClr val="FF0000"/>
                </a:solidFill>
              </a:rPr>
              <a:t>HNAS File systems fail</a:t>
            </a:r>
            <a:endParaRPr lang="en-GB" sz="1050" dirty="0">
              <a:solidFill>
                <a:srgbClr val="FF0000"/>
              </a:solidFill>
            </a:endParaRPr>
          </a:p>
        </p:txBody>
      </p:sp>
    </p:spTree>
    <p:custDataLst>
      <p:tags r:id="rId1"/>
    </p:custDataLst>
    <p:extLst>
      <p:ext uri="{BB962C8B-B14F-4D97-AF65-F5344CB8AC3E}">
        <p14:creationId xmlns:p14="http://schemas.microsoft.com/office/powerpoint/2010/main" val="3723365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43"/>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72" grpId="0" animBg="1"/>
      <p:bldP spid="20" grpId="0"/>
      <p:bldP spid="81" grpId="0"/>
      <p:bldP spid="83" grpId="0"/>
      <p:bldP spid="86" grpId="0"/>
      <p:bldP spid="87" grpId="0"/>
      <p:bldP spid="43" grpId="0" animBg="1"/>
      <p:bldP spid="43" grpId="1" animBg="1"/>
      <p:bldP spid="88" grpId="0" animBg="1"/>
      <p:bldP spid="89" grpId="0"/>
      <p:bldP spid="90" grpId="0"/>
      <p:bldP spid="91" grpId="0"/>
      <p:bldP spid="92" grpId="0"/>
      <p:bldP spid="93" grpId="0"/>
      <p:bldP spid="94" grpId="0"/>
      <p:bldP spid="95" grpId="0"/>
      <p:bldP spid="9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85648" y="967575"/>
            <a:ext cx="4558352" cy="4068806"/>
          </a:xfrm>
        </p:spPr>
        <p:txBody>
          <a:bodyPr/>
          <a:lstStyle/>
          <a:p>
            <a:r>
              <a:rPr lang="en-US" sz="1400" b="1" i="1" dirty="0" smtClean="0">
                <a:solidFill>
                  <a:schemeClr val="accent4">
                    <a:lumMod val="75000"/>
                  </a:schemeClr>
                </a:solidFill>
              </a:rPr>
              <a:t>HNAS v11.2 </a:t>
            </a:r>
            <a:r>
              <a:rPr lang="en-US" sz="1400" dirty="0" smtClean="0"/>
              <a:t>auto-groups DP-Volumes from the same HDP pool into a single parallel SDG</a:t>
            </a:r>
          </a:p>
          <a:p>
            <a:pPr lvl="1">
              <a:spcBef>
                <a:spcPts val="0"/>
              </a:spcBef>
              <a:spcAft>
                <a:spcPts val="0"/>
              </a:spcAft>
            </a:pPr>
            <a:r>
              <a:rPr lang="en-US" sz="1200" dirty="0" smtClean="0"/>
              <a:t>Previous BP was to group each SD alone</a:t>
            </a:r>
          </a:p>
          <a:p>
            <a:pPr lvl="1">
              <a:spcBef>
                <a:spcPts val="0"/>
              </a:spcBef>
              <a:spcAft>
                <a:spcPts val="0"/>
              </a:spcAft>
            </a:pPr>
            <a:r>
              <a:rPr lang="en-US" sz="1200" dirty="0" smtClean="0"/>
              <a:t>Changing requires un-mount of file systems</a:t>
            </a:r>
          </a:p>
          <a:p>
            <a:pPr lvl="1">
              <a:spcBef>
                <a:spcPts val="0"/>
              </a:spcBef>
              <a:spcAft>
                <a:spcPts val="0"/>
              </a:spcAft>
            </a:pPr>
            <a:r>
              <a:rPr lang="en-US" sz="1200" dirty="0" smtClean="0"/>
              <a:t>Changing will only become necessary if a span must be expanded.</a:t>
            </a:r>
          </a:p>
          <a:p>
            <a:pPr lvl="1">
              <a:spcBef>
                <a:spcPts val="0"/>
              </a:spcBef>
              <a:spcAft>
                <a:spcPts val="0"/>
              </a:spcAft>
            </a:pPr>
            <a:r>
              <a:rPr lang="en-US" sz="1200" dirty="0"/>
              <a:t>SD’s grouped into a parallel SDG can only belong to a single tier.</a:t>
            </a:r>
          </a:p>
          <a:p>
            <a:r>
              <a:rPr lang="en-US" sz="1400" dirty="0" smtClean="0"/>
              <a:t>HDP Pool should be dedicated to the Hitachi NAS cluster</a:t>
            </a:r>
          </a:p>
          <a:p>
            <a:pPr lvl="1">
              <a:spcBef>
                <a:spcPts val="0"/>
              </a:spcBef>
              <a:spcAft>
                <a:spcPts val="0"/>
              </a:spcAft>
            </a:pPr>
            <a:r>
              <a:rPr lang="en-US" sz="1200" dirty="0" smtClean="0"/>
              <a:t>Sharing the pool with block devices is supported but not recommended</a:t>
            </a:r>
          </a:p>
          <a:p>
            <a:pPr lvl="1">
              <a:spcBef>
                <a:spcPts val="0"/>
              </a:spcBef>
              <a:spcAft>
                <a:spcPts val="0"/>
              </a:spcAft>
            </a:pPr>
            <a:r>
              <a:rPr lang="en-US" sz="1200" dirty="0" smtClean="0"/>
              <a:t>On HUS1x0, AMS use Advanced Wide Striping Mode (AWS)</a:t>
            </a:r>
          </a:p>
          <a:p>
            <a:pPr lvl="1">
              <a:spcBef>
                <a:spcPts val="0"/>
              </a:spcBef>
              <a:spcAft>
                <a:spcPts val="0"/>
              </a:spcAft>
            </a:pPr>
            <a:r>
              <a:rPr lang="en-US" sz="1200" dirty="0" smtClean="0"/>
              <a:t>On HUS-VM/VSP set SOM 917 to ON. This facilitates </a:t>
            </a:r>
            <a:r>
              <a:rPr lang="en-US" sz="1200" dirty="0"/>
              <a:t>the balance of </a:t>
            </a:r>
            <a:r>
              <a:rPr lang="en-US" sz="1200" dirty="0" smtClean="0"/>
              <a:t>pages across Parity </a:t>
            </a:r>
            <a:r>
              <a:rPr lang="en-US" sz="1200" dirty="0"/>
              <a:t>Groups rather than Pool </a:t>
            </a:r>
            <a:r>
              <a:rPr lang="en-US" sz="1200" dirty="0" smtClean="0"/>
              <a:t>Volumes</a:t>
            </a:r>
          </a:p>
          <a:p>
            <a:pPr lvl="1">
              <a:spcBef>
                <a:spcPts val="0"/>
              </a:spcBef>
              <a:spcAft>
                <a:spcPts val="0"/>
              </a:spcAft>
            </a:pPr>
            <a:r>
              <a:rPr lang="en-US" sz="1200" dirty="0"/>
              <a:t>On VSP/VSP G1000 set SOM 896 to ON; on HUS-VM set SOM 896 to OFF(default). </a:t>
            </a:r>
            <a:r>
              <a:rPr lang="en-US" sz="1200"/>
              <a:t>This ensures that pages are formatted in the background rather than at allocation</a:t>
            </a:r>
            <a:endParaRPr lang="en-US" sz="1200" dirty="0"/>
          </a:p>
        </p:txBody>
      </p:sp>
      <p:sp>
        <p:nvSpPr>
          <p:cNvPr id="4" name="Title 3"/>
          <p:cNvSpPr>
            <a:spLocks noGrp="1"/>
          </p:cNvSpPr>
          <p:nvPr>
            <p:ph type="title"/>
          </p:nvPr>
        </p:nvSpPr>
        <p:spPr/>
        <p:txBody>
          <a:bodyPr>
            <a:normAutofit/>
          </a:bodyPr>
          <a:lstStyle/>
          <a:p>
            <a:r>
              <a:rPr lang="en-US" dirty="0" smtClean="0"/>
              <a:t>LUN PROVISIONING – BEST </a:t>
            </a:r>
            <a:r>
              <a:rPr lang="en-US" dirty="0"/>
              <a:t>PRACTICES</a:t>
            </a:r>
            <a:br>
              <a:rPr lang="en-US" dirty="0"/>
            </a:br>
            <a:r>
              <a:rPr lang="en-US" sz="1600" dirty="0">
                <a:solidFill>
                  <a:schemeClr val="bg1">
                    <a:lumMod val="75000"/>
                  </a:schemeClr>
                </a:solidFill>
              </a:rPr>
              <a:t>SYSTEM DRIVE </a:t>
            </a:r>
            <a:r>
              <a:rPr lang="en-US" sz="1600" dirty="0" smtClean="0">
                <a:solidFill>
                  <a:schemeClr val="bg1">
                    <a:lumMod val="75000"/>
                  </a:schemeClr>
                </a:solidFill>
              </a:rPr>
              <a:t>GROUPS</a:t>
            </a:r>
            <a:endParaRPr lang="en-US" sz="1600" dirty="0">
              <a:solidFill>
                <a:schemeClr val="bg1">
                  <a:lumMod val="75000"/>
                </a:schemeClr>
              </a:solidFill>
            </a:endParaRPr>
          </a:p>
        </p:txBody>
      </p:sp>
      <p:sp>
        <p:nvSpPr>
          <p:cNvPr id="54" name="Rectangle 35"/>
          <p:cNvSpPr>
            <a:spLocks noChangeArrowheads="1"/>
          </p:cNvSpPr>
          <p:nvPr/>
        </p:nvSpPr>
        <p:spPr bwMode="auto">
          <a:xfrm>
            <a:off x="498140" y="1087341"/>
            <a:ext cx="777423" cy="410765"/>
          </a:xfrm>
          <a:prstGeom prst="rect">
            <a:avLst/>
          </a:prstGeom>
          <a:solidFill>
            <a:srgbClr val="009999"/>
          </a:solidFill>
          <a:ln w="9525">
            <a:solidFill>
              <a:schemeClr val="tx1"/>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grpSp>
        <p:nvGrpSpPr>
          <p:cNvPr id="56" name="Group 17"/>
          <p:cNvGrpSpPr>
            <a:grpSpLocks/>
          </p:cNvGrpSpPr>
          <p:nvPr/>
        </p:nvGrpSpPr>
        <p:grpSpPr bwMode="auto">
          <a:xfrm>
            <a:off x="498141" y="4244722"/>
            <a:ext cx="3901904" cy="410765"/>
            <a:chOff x="1075" y="2886"/>
            <a:chExt cx="1847" cy="190"/>
          </a:xfrm>
          <a:solidFill>
            <a:schemeClr val="accent4">
              <a:lumMod val="60000"/>
              <a:lumOff val="40000"/>
            </a:schemeClr>
          </a:solidFill>
          <a:effectLst>
            <a:outerShdw blurRad="50800" dist="38100" dir="2700000" algn="tl" rotWithShape="0">
              <a:prstClr val="black">
                <a:alpha val="40000"/>
              </a:prstClr>
            </a:outerShdw>
          </a:effectLst>
        </p:grpSpPr>
        <p:sp>
          <p:nvSpPr>
            <p:cNvPr id="57" name="Rectangle 50"/>
            <p:cNvSpPr>
              <a:spLocks noChangeArrowheads="1"/>
            </p:cNvSpPr>
            <p:nvPr/>
          </p:nvSpPr>
          <p:spPr bwMode="auto">
            <a:xfrm>
              <a:off x="1075"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 RG</a:t>
              </a:r>
              <a:endParaRPr lang="en-US" b="1" dirty="0">
                <a:solidFill>
                  <a:schemeClr val="bg1"/>
                </a:solidFill>
                <a:latin typeface="Calibri" panose="020F0502020204030204" pitchFamily="34" charset="0"/>
                <a:cs typeface="Calibri" panose="020F0502020204030204" pitchFamily="34" charset="0"/>
              </a:endParaRPr>
            </a:p>
          </p:txBody>
        </p:sp>
        <p:sp>
          <p:nvSpPr>
            <p:cNvPr id="58" name="Rectangle 51"/>
            <p:cNvSpPr>
              <a:spLocks noChangeArrowheads="1"/>
            </p:cNvSpPr>
            <p:nvPr/>
          </p:nvSpPr>
          <p:spPr bwMode="auto">
            <a:xfrm>
              <a:off x="1815"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RG</a:t>
              </a:r>
              <a:endParaRPr lang="en-US" b="1" dirty="0">
                <a:solidFill>
                  <a:schemeClr val="bg1"/>
                </a:solidFill>
                <a:latin typeface="Calibri" panose="020F0502020204030204" pitchFamily="34" charset="0"/>
                <a:cs typeface="Calibri" panose="020F0502020204030204" pitchFamily="34" charset="0"/>
              </a:endParaRPr>
            </a:p>
          </p:txBody>
        </p:sp>
        <p:sp>
          <p:nvSpPr>
            <p:cNvPr id="59" name="Rectangle 52"/>
            <p:cNvSpPr>
              <a:spLocks noChangeArrowheads="1"/>
            </p:cNvSpPr>
            <p:nvPr/>
          </p:nvSpPr>
          <p:spPr bwMode="auto">
            <a:xfrm>
              <a:off x="1444" y="2886"/>
              <a:ext cx="367"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RG</a:t>
              </a:r>
              <a:endParaRPr lang="en-US" b="1" dirty="0">
                <a:solidFill>
                  <a:schemeClr val="bg1"/>
                </a:solidFill>
                <a:latin typeface="Calibri" panose="020F0502020204030204" pitchFamily="34" charset="0"/>
                <a:cs typeface="Calibri" panose="020F0502020204030204" pitchFamily="34" charset="0"/>
              </a:endParaRPr>
            </a:p>
          </p:txBody>
        </p:sp>
        <p:sp>
          <p:nvSpPr>
            <p:cNvPr id="60" name="Rectangle 53"/>
            <p:cNvSpPr>
              <a:spLocks noChangeArrowheads="1"/>
            </p:cNvSpPr>
            <p:nvPr/>
          </p:nvSpPr>
          <p:spPr bwMode="auto">
            <a:xfrm>
              <a:off x="2183"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RG</a:t>
              </a:r>
              <a:endParaRPr lang="en-US" b="1" dirty="0">
                <a:solidFill>
                  <a:schemeClr val="bg1"/>
                </a:solidFill>
                <a:latin typeface="Calibri" panose="020F0502020204030204" pitchFamily="34" charset="0"/>
                <a:cs typeface="Calibri" panose="020F0502020204030204" pitchFamily="34" charset="0"/>
              </a:endParaRPr>
            </a:p>
          </p:txBody>
        </p:sp>
        <p:sp>
          <p:nvSpPr>
            <p:cNvPr id="61" name="Rectangle 54"/>
            <p:cNvSpPr>
              <a:spLocks noChangeArrowheads="1"/>
            </p:cNvSpPr>
            <p:nvPr/>
          </p:nvSpPr>
          <p:spPr bwMode="auto">
            <a:xfrm>
              <a:off x="2554"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RG</a:t>
              </a:r>
              <a:endParaRPr lang="en-US" b="1" dirty="0">
                <a:solidFill>
                  <a:schemeClr val="bg1"/>
                </a:solidFill>
                <a:latin typeface="Calibri" panose="020F0502020204030204" pitchFamily="34" charset="0"/>
                <a:cs typeface="Calibri" panose="020F0502020204030204" pitchFamily="34" charset="0"/>
              </a:endParaRPr>
            </a:p>
          </p:txBody>
        </p:sp>
      </p:grpSp>
      <p:grpSp>
        <p:nvGrpSpPr>
          <p:cNvPr id="62" name="Group 34"/>
          <p:cNvGrpSpPr>
            <a:grpSpLocks/>
          </p:cNvGrpSpPr>
          <p:nvPr/>
        </p:nvGrpSpPr>
        <p:grpSpPr bwMode="auto">
          <a:xfrm>
            <a:off x="498141" y="1888847"/>
            <a:ext cx="3901904" cy="410765"/>
            <a:chOff x="1087" y="2454"/>
            <a:chExt cx="1847" cy="190"/>
          </a:xfrm>
          <a:effectLst>
            <a:outerShdw blurRad="50800" dist="38100" dir="2700000" algn="tl" rotWithShape="0">
              <a:prstClr val="black">
                <a:alpha val="40000"/>
              </a:prstClr>
            </a:outerShdw>
          </a:effectLst>
        </p:grpSpPr>
        <p:sp>
          <p:nvSpPr>
            <p:cNvPr id="63" name="Rectangle 35"/>
            <p:cNvSpPr>
              <a:spLocks noChangeArrowheads="1"/>
            </p:cNvSpPr>
            <p:nvPr/>
          </p:nvSpPr>
          <p:spPr bwMode="auto">
            <a:xfrm>
              <a:off x="108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4" name="Rectangle 36"/>
            <p:cNvSpPr>
              <a:spLocks noChangeArrowheads="1"/>
            </p:cNvSpPr>
            <p:nvPr/>
          </p:nvSpPr>
          <p:spPr bwMode="auto">
            <a:xfrm>
              <a:off x="182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5" name="Rectangle 37"/>
            <p:cNvSpPr>
              <a:spLocks noChangeArrowheads="1"/>
            </p:cNvSpPr>
            <p:nvPr/>
          </p:nvSpPr>
          <p:spPr bwMode="auto">
            <a:xfrm>
              <a:off x="1456" y="2454"/>
              <a:ext cx="367"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6" name="Rectangle 38"/>
            <p:cNvSpPr>
              <a:spLocks noChangeArrowheads="1"/>
            </p:cNvSpPr>
            <p:nvPr/>
          </p:nvSpPr>
          <p:spPr bwMode="auto">
            <a:xfrm>
              <a:off x="2195"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sp>
          <p:nvSpPr>
            <p:cNvPr id="67" name="Rectangle 39"/>
            <p:cNvSpPr>
              <a:spLocks noChangeArrowheads="1"/>
            </p:cNvSpPr>
            <p:nvPr/>
          </p:nvSpPr>
          <p:spPr bwMode="auto">
            <a:xfrm>
              <a:off x="2566"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grpSp>
      <p:grpSp>
        <p:nvGrpSpPr>
          <p:cNvPr id="68" name="Group 17"/>
          <p:cNvGrpSpPr>
            <a:grpSpLocks/>
          </p:cNvGrpSpPr>
          <p:nvPr/>
        </p:nvGrpSpPr>
        <p:grpSpPr bwMode="auto">
          <a:xfrm>
            <a:off x="498141" y="2665689"/>
            <a:ext cx="3901904" cy="410765"/>
            <a:chOff x="1075" y="2886"/>
            <a:chExt cx="1847" cy="190"/>
          </a:xfrm>
          <a:solidFill>
            <a:srgbClr val="00B050"/>
          </a:solidFill>
          <a:effectLst>
            <a:outerShdw blurRad="50800" dist="38100" dir="2700000" algn="tl" rotWithShape="0">
              <a:prstClr val="black">
                <a:alpha val="40000"/>
              </a:prstClr>
            </a:outerShdw>
          </a:effectLst>
        </p:grpSpPr>
        <p:sp>
          <p:nvSpPr>
            <p:cNvPr id="69" name="Rectangle 50"/>
            <p:cNvSpPr>
              <a:spLocks noChangeArrowheads="1"/>
            </p:cNvSpPr>
            <p:nvPr/>
          </p:nvSpPr>
          <p:spPr bwMode="auto">
            <a:xfrm>
              <a:off x="107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DPVOL</a:t>
              </a:r>
              <a:endParaRPr lang="en-US" b="1" dirty="0">
                <a:latin typeface="Calibri" panose="020F0502020204030204" pitchFamily="34" charset="0"/>
                <a:cs typeface="Calibri" panose="020F0502020204030204" pitchFamily="34" charset="0"/>
              </a:endParaRPr>
            </a:p>
          </p:txBody>
        </p:sp>
        <p:sp>
          <p:nvSpPr>
            <p:cNvPr id="70" name="Rectangle 51"/>
            <p:cNvSpPr>
              <a:spLocks noChangeArrowheads="1"/>
            </p:cNvSpPr>
            <p:nvPr/>
          </p:nvSpPr>
          <p:spPr bwMode="auto">
            <a:xfrm>
              <a:off x="181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94" name="Rectangle 52"/>
            <p:cNvSpPr>
              <a:spLocks noChangeArrowheads="1"/>
            </p:cNvSpPr>
            <p:nvPr/>
          </p:nvSpPr>
          <p:spPr bwMode="auto">
            <a:xfrm>
              <a:off x="1444" y="2886"/>
              <a:ext cx="367"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95" name="Rectangle 53"/>
            <p:cNvSpPr>
              <a:spLocks noChangeArrowheads="1"/>
            </p:cNvSpPr>
            <p:nvPr/>
          </p:nvSpPr>
          <p:spPr bwMode="auto">
            <a:xfrm>
              <a:off x="2183"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96" name="Rectangle 54"/>
            <p:cNvSpPr>
              <a:spLocks noChangeArrowheads="1"/>
            </p:cNvSpPr>
            <p:nvPr/>
          </p:nvSpPr>
          <p:spPr bwMode="auto">
            <a:xfrm>
              <a:off x="2554"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grpSp>
      <p:sp>
        <p:nvSpPr>
          <p:cNvPr id="97" name="Rectangle 35"/>
          <p:cNvSpPr>
            <a:spLocks noChangeArrowheads="1"/>
          </p:cNvSpPr>
          <p:nvPr/>
        </p:nvSpPr>
        <p:spPr bwMode="auto">
          <a:xfrm>
            <a:off x="498140" y="1087341"/>
            <a:ext cx="3901905" cy="410765"/>
          </a:xfrm>
          <a:prstGeom prst="rect">
            <a:avLst/>
          </a:prstGeom>
          <a:solidFill>
            <a:schemeClr val="accent5"/>
          </a:solid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SDG</a:t>
            </a:r>
            <a:endParaRPr lang="en-US" b="1" dirty="0">
              <a:latin typeface="Calibri" panose="020F0502020204030204" pitchFamily="34" charset="0"/>
              <a:cs typeface="Calibri" panose="020F0502020204030204" pitchFamily="34" charset="0"/>
            </a:endParaRPr>
          </a:p>
        </p:txBody>
      </p:sp>
      <p:grpSp>
        <p:nvGrpSpPr>
          <p:cNvPr id="98" name="Group 97"/>
          <p:cNvGrpSpPr/>
          <p:nvPr/>
        </p:nvGrpSpPr>
        <p:grpSpPr>
          <a:xfrm>
            <a:off x="784430" y="1569492"/>
            <a:ext cx="3308367" cy="259308"/>
            <a:chOff x="798078" y="1624084"/>
            <a:chExt cx="3308367" cy="348020"/>
          </a:xfrm>
          <a:effectLst>
            <a:outerShdw blurRad="50800" dist="38100" dir="2700000" algn="tl" rotWithShape="0">
              <a:prstClr val="black">
                <a:alpha val="40000"/>
              </a:prstClr>
            </a:outerShdw>
          </a:effectLst>
        </p:grpSpPr>
        <p:sp>
          <p:nvSpPr>
            <p:cNvPr id="99" name="Down Arrow 98"/>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0" name="Down Arrow 99"/>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1" name="Down Arrow 100"/>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2" name="Down Arrow 101"/>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3" name="Down Arrow 102"/>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104" name="Group 103"/>
          <p:cNvGrpSpPr/>
          <p:nvPr/>
        </p:nvGrpSpPr>
        <p:grpSpPr>
          <a:xfrm>
            <a:off x="788654" y="2359696"/>
            <a:ext cx="3308367" cy="259308"/>
            <a:chOff x="798078" y="1624084"/>
            <a:chExt cx="3308367" cy="348020"/>
          </a:xfrm>
          <a:effectLst>
            <a:outerShdw blurRad="50800" dist="38100" dir="2700000" algn="tl" rotWithShape="0">
              <a:prstClr val="black">
                <a:alpha val="40000"/>
              </a:prstClr>
            </a:outerShdw>
          </a:effectLst>
        </p:grpSpPr>
        <p:sp>
          <p:nvSpPr>
            <p:cNvPr id="105" name="Down Arrow 104"/>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6" name="Down Arrow 105"/>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7" name="Down Arrow 106"/>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8" name="Down Arrow 107"/>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9" name="Down Arrow 108"/>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110" name="Group 109"/>
          <p:cNvGrpSpPr/>
          <p:nvPr/>
        </p:nvGrpSpPr>
        <p:grpSpPr>
          <a:xfrm>
            <a:off x="792877" y="3935222"/>
            <a:ext cx="3308367" cy="259308"/>
            <a:chOff x="798078" y="1624084"/>
            <a:chExt cx="3308367" cy="348020"/>
          </a:xfrm>
          <a:effectLst>
            <a:outerShdw blurRad="50800" dist="38100" dir="2700000" algn="tl" rotWithShape="0">
              <a:prstClr val="black">
                <a:alpha val="40000"/>
              </a:prstClr>
            </a:outerShdw>
          </a:effectLst>
        </p:grpSpPr>
        <p:sp>
          <p:nvSpPr>
            <p:cNvPr id="111" name="Down Arrow 110"/>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2" name="Down Arrow 111"/>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3" name="Down Arrow 112"/>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4" name="Down Arrow 113"/>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5" name="Down Arrow 114"/>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
        <p:nvSpPr>
          <p:cNvPr id="116" name="Rectangle 35"/>
          <p:cNvSpPr>
            <a:spLocks noChangeArrowheads="1"/>
          </p:cNvSpPr>
          <p:nvPr/>
        </p:nvSpPr>
        <p:spPr bwMode="auto">
          <a:xfrm>
            <a:off x="498141" y="3467417"/>
            <a:ext cx="3901904" cy="410765"/>
          </a:xfrm>
          <a:prstGeom prst="rect">
            <a:avLst/>
          </a:prstGeom>
          <a:solidFill>
            <a:srgbClr val="FFFF00"/>
          </a:solidFill>
          <a:ln w="9525">
            <a:solidFill>
              <a:schemeClr val="bg1">
                <a:lumMod val="75000"/>
              </a:schemeClr>
            </a:solidFill>
            <a:miter lim="800000"/>
            <a:headEnd/>
            <a:tailEnd/>
          </a:ln>
          <a:effectLst>
            <a:outerShdw blurRad="50800" dist="38100" dir="2700000" algn="tl" rotWithShape="0">
              <a:prstClr val="black">
                <a:alpha val="40000"/>
              </a:prstClr>
            </a:outerShdw>
          </a:effectLst>
        </p:spPr>
        <p:txBody>
          <a:bodyPr wrap="none" anchor="ctr"/>
          <a:lstStyle/>
          <a:p>
            <a:pPr algn="ctr"/>
            <a:r>
              <a:rPr lang="en-US" b="1" dirty="0">
                <a:latin typeface="Calibri" panose="020F0502020204030204" pitchFamily="34" charset="0"/>
                <a:cs typeface="Calibri" panose="020F0502020204030204" pitchFamily="34" charset="0"/>
              </a:rPr>
              <a:t>HDP POOL</a:t>
            </a:r>
          </a:p>
        </p:txBody>
      </p:sp>
      <p:grpSp>
        <p:nvGrpSpPr>
          <p:cNvPr id="117" name="Group 116"/>
          <p:cNvGrpSpPr/>
          <p:nvPr/>
        </p:nvGrpSpPr>
        <p:grpSpPr>
          <a:xfrm>
            <a:off x="792877" y="3146693"/>
            <a:ext cx="3308367" cy="259308"/>
            <a:chOff x="798078" y="1624084"/>
            <a:chExt cx="3308367" cy="348020"/>
          </a:xfrm>
          <a:effectLst>
            <a:outerShdw blurRad="50800" dist="38100" dir="2700000" algn="tl" rotWithShape="0">
              <a:prstClr val="black">
                <a:alpha val="40000"/>
              </a:prstClr>
            </a:outerShdw>
          </a:effectLst>
        </p:grpSpPr>
        <p:sp>
          <p:nvSpPr>
            <p:cNvPr id="118" name="Down Arrow 117"/>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9" name="Down Arrow 118"/>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20" name="Down Arrow 119"/>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21" name="Down Arrow 120"/>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22" name="Down Arrow 121"/>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Tree>
    <p:custDataLst>
      <p:tags r:id="rId1"/>
    </p:custDataLst>
    <p:extLst>
      <p:ext uri="{BB962C8B-B14F-4D97-AF65-F5344CB8AC3E}">
        <p14:creationId xmlns:p14="http://schemas.microsoft.com/office/powerpoint/2010/main" val="3192436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85648" y="967575"/>
            <a:ext cx="4558352" cy="4068806"/>
          </a:xfrm>
        </p:spPr>
        <p:txBody>
          <a:bodyPr/>
          <a:lstStyle/>
          <a:p>
            <a:r>
              <a:rPr lang="en-US" sz="1400" b="1" i="1" dirty="0" smtClean="0">
                <a:solidFill>
                  <a:schemeClr val="accent4">
                    <a:lumMod val="75000"/>
                  </a:schemeClr>
                </a:solidFill>
              </a:rPr>
              <a:t>HNAS v11.2 </a:t>
            </a:r>
            <a:r>
              <a:rPr lang="en-US" sz="1400" dirty="0" smtClean="0"/>
              <a:t>auto-groups DP-Volumes from the same HDP pool into a single parallel SDG</a:t>
            </a:r>
          </a:p>
          <a:p>
            <a:pPr lvl="1">
              <a:spcBef>
                <a:spcPts val="0"/>
              </a:spcBef>
              <a:spcAft>
                <a:spcPts val="0"/>
              </a:spcAft>
            </a:pPr>
            <a:r>
              <a:rPr lang="en-US" sz="1200" dirty="0" smtClean="0"/>
              <a:t>Previous BP was to group each SD alone</a:t>
            </a:r>
          </a:p>
          <a:p>
            <a:pPr lvl="1">
              <a:spcBef>
                <a:spcPts val="0"/>
              </a:spcBef>
              <a:spcAft>
                <a:spcPts val="0"/>
              </a:spcAft>
            </a:pPr>
            <a:r>
              <a:rPr lang="en-US" sz="1200" dirty="0" smtClean="0"/>
              <a:t>Changing requires un-mount of file systems</a:t>
            </a:r>
          </a:p>
          <a:p>
            <a:pPr lvl="1">
              <a:spcBef>
                <a:spcPts val="0"/>
              </a:spcBef>
              <a:spcAft>
                <a:spcPts val="0"/>
              </a:spcAft>
            </a:pPr>
            <a:r>
              <a:rPr lang="en-US" sz="1200" dirty="0" smtClean="0"/>
              <a:t>Changing will only become necessary if a span must be expanded.</a:t>
            </a:r>
          </a:p>
          <a:p>
            <a:pPr lvl="1">
              <a:spcBef>
                <a:spcPts val="0"/>
              </a:spcBef>
              <a:spcAft>
                <a:spcPts val="0"/>
              </a:spcAft>
            </a:pPr>
            <a:r>
              <a:rPr lang="en-US" sz="1200" dirty="0"/>
              <a:t>SD’s grouped into a parallel SDG can only belong to a single tier.</a:t>
            </a:r>
          </a:p>
          <a:p>
            <a:r>
              <a:rPr lang="en-US" sz="1400" dirty="0" smtClean="0"/>
              <a:t>HDP Pool should be dedicated to the Hitachi NAS cluster</a:t>
            </a:r>
          </a:p>
          <a:p>
            <a:pPr lvl="1">
              <a:spcBef>
                <a:spcPts val="0"/>
              </a:spcBef>
              <a:spcAft>
                <a:spcPts val="0"/>
              </a:spcAft>
            </a:pPr>
            <a:r>
              <a:rPr lang="en-US" sz="1200" dirty="0" smtClean="0"/>
              <a:t>Sharing the pool with block devices is supported but not recommended</a:t>
            </a:r>
          </a:p>
          <a:p>
            <a:pPr lvl="1">
              <a:spcBef>
                <a:spcPts val="0"/>
              </a:spcBef>
              <a:spcAft>
                <a:spcPts val="0"/>
              </a:spcAft>
            </a:pPr>
            <a:r>
              <a:rPr lang="en-US" sz="1200" dirty="0" smtClean="0"/>
              <a:t>On HUS1x0, AMS use Advanced Wide Striping Mode (AWS)</a:t>
            </a:r>
          </a:p>
          <a:p>
            <a:pPr lvl="1">
              <a:spcBef>
                <a:spcPts val="0"/>
              </a:spcBef>
              <a:spcAft>
                <a:spcPts val="0"/>
              </a:spcAft>
            </a:pPr>
            <a:r>
              <a:rPr lang="en-US" sz="1200" dirty="0" smtClean="0"/>
              <a:t>On HUS-VM/VSP set SOM 917 to ON. This facilitates </a:t>
            </a:r>
            <a:r>
              <a:rPr lang="en-US" sz="1200" dirty="0"/>
              <a:t>the balance of </a:t>
            </a:r>
            <a:r>
              <a:rPr lang="en-US" sz="1200" dirty="0" smtClean="0"/>
              <a:t>pages across Parity </a:t>
            </a:r>
            <a:r>
              <a:rPr lang="en-US" sz="1200" dirty="0"/>
              <a:t>Groups rather than Pool </a:t>
            </a:r>
            <a:r>
              <a:rPr lang="en-US" sz="1200" dirty="0" smtClean="0"/>
              <a:t>Volumes</a:t>
            </a:r>
          </a:p>
          <a:p>
            <a:pPr lvl="1">
              <a:spcBef>
                <a:spcPts val="0"/>
              </a:spcBef>
              <a:spcAft>
                <a:spcPts val="0"/>
              </a:spcAft>
            </a:pPr>
            <a:r>
              <a:rPr lang="en-US" sz="1200" dirty="0" smtClean="0"/>
              <a:t>On VSP/VSP G1000 set SOM 896 to ON; on HUS-VM set SOM 896 </a:t>
            </a:r>
            <a:r>
              <a:rPr lang="en-US" sz="1200" smtClean="0"/>
              <a:t>to OFF(default). </a:t>
            </a:r>
            <a:r>
              <a:rPr lang="en-US" sz="1200" dirty="0" smtClean="0"/>
              <a:t>This ensures that pages are formatted in the background rather than at allocation</a:t>
            </a:r>
            <a:endParaRPr lang="en-US" sz="1200" dirty="0"/>
          </a:p>
        </p:txBody>
      </p:sp>
      <p:sp>
        <p:nvSpPr>
          <p:cNvPr id="4" name="Title 3"/>
          <p:cNvSpPr>
            <a:spLocks noGrp="1"/>
          </p:cNvSpPr>
          <p:nvPr>
            <p:ph type="title"/>
          </p:nvPr>
        </p:nvSpPr>
        <p:spPr/>
        <p:txBody>
          <a:bodyPr>
            <a:normAutofit/>
          </a:bodyPr>
          <a:lstStyle/>
          <a:p>
            <a:r>
              <a:rPr lang="en-US" dirty="0" smtClean="0"/>
              <a:t>LUN PROVISIONING – BEST </a:t>
            </a:r>
            <a:r>
              <a:rPr lang="en-US" dirty="0"/>
              <a:t>PRACTICES</a:t>
            </a:r>
            <a:br>
              <a:rPr lang="en-US" dirty="0"/>
            </a:br>
            <a:r>
              <a:rPr lang="en-US" sz="1600" dirty="0">
                <a:solidFill>
                  <a:schemeClr val="bg1">
                    <a:lumMod val="75000"/>
                  </a:schemeClr>
                </a:solidFill>
              </a:rPr>
              <a:t>SYSTEM DRIVE </a:t>
            </a:r>
            <a:r>
              <a:rPr lang="en-US" sz="1600" dirty="0" smtClean="0">
                <a:solidFill>
                  <a:schemeClr val="bg1">
                    <a:lumMod val="75000"/>
                  </a:schemeClr>
                </a:solidFill>
              </a:rPr>
              <a:t>GROUPS</a:t>
            </a:r>
            <a:endParaRPr lang="en-US" sz="1600" dirty="0">
              <a:solidFill>
                <a:schemeClr val="bg1">
                  <a:lumMod val="75000"/>
                </a:schemeClr>
              </a:solidFill>
            </a:endParaRPr>
          </a:p>
        </p:txBody>
      </p:sp>
      <p:sp>
        <p:nvSpPr>
          <p:cNvPr id="54" name="Rectangle 35"/>
          <p:cNvSpPr>
            <a:spLocks noChangeArrowheads="1"/>
          </p:cNvSpPr>
          <p:nvPr/>
        </p:nvSpPr>
        <p:spPr bwMode="auto">
          <a:xfrm>
            <a:off x="498140" y="1087341"/>
            <a:ext cx="777423" cy="410765"/>
          </a:xfrm>
          <a:prstGeom prst="rect">
            <a:avLst/>
          </a:prstGeom>
          <a:solidFill>
            <a:srgbClr val="009999"/>
          </a:solidFill>
          <a:ln w="9525">
            <a:solidFill>
              <a:schemeClr val="tx1"/>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grpSp>
        <p:nvGrpSpPr>
          <p:cNvPr id="56" name="Group 17"/>
          <p:cNvGrpSpPr>
            <a:grpSpLocks/>
          </p:cNvGrpSpPr>
          <p:nvPr/>
        </p:nvGrpSpPr>
        <p:grpSpPr bwMode="auto">
          <a:xfrm>
            <a:off x="498141" y="4244722"/>
            <a:ext cx="3901904" cy="410765"/>
            <a:chOff x="1075" y="2886"/>
            <a:chExt cx="1847" cy="190"/>
          </a:xfrm>
          <a:solidFill>
            <a:schemeClr val="accent4">
              <a:lumMod val="60000"/>
              <a:lumOff val="40000"/>
            </a:schemeClr>
          </a:solidFill>
          <a:effectLst>
            <a:outerShdw blurRad="50800" dist="38100" dir="2700000" algn="tl" rotWithShape="0">
              <a:prstClr val="black">
                <a:alpha val="40000"/>
              </a:prstClr>
            </a:outerShdw>
          </a:effectLst>
        </p:grpSpPr>
        <p:sp>
          <p:nvSpPr>
            <p:cNvPr id="57" name="Rectangle 50"/>
            <p:cNvSpPr>
              <a:spLocks noChangeArrowheads="1"/>
            </p:cNvSpPr>
            <p:nvPr/>
          </p:nvSpPr>
          <p:spPr bwMode="auto">
            <a:xfrm>
              <a:off x="1075"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 RG</a:t>
              </a:r>
              <a:endParaRPr lang="en-US" b="1" dirty="0">
                <a:solidFill>
                  <a:schemeClr val="bg1"/>
                </a:solidFill>
                <a:latin typeface="Calibri" panose="020F0502020204030204" pitchFamily="34" charset="0"/>
                <a:cs typeface="Calibri" panose="020F0502020204030204" pitchFamily="34" charset="0"/>
              </a:endParaRPr>
            </a:p>
          </p:txBody>
        </p:sp>
        <p:sp>
          <p:nvSpPr>
            <p:cNvPr id="58" name="Rectangle 51"/>
            <p:cNvSpPr>
              <a:spLocks noChangeArrowheads="1"/>
            </p:cNvSpPr>
            <p:nvPr/>
          </p:nvSpPr>
          <p:spPr bwMode="auto">
            <a:xfrm>
              <a:off x="1815"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RG</a:t>
              </a:r>
              <a:endParaRPr lang="en-US" b="1" dirty="0">
                <a:solidFill>
                  <a:schemeClr val="bg1"/>
                </a:solidFill>
                <a:latin typeface="Calibri" panose="020F0502020204030204" pitchFamily="34" charset="0"/>
                <a:cs typeface="Calibri" panose="020F0502020204030204" pitchFamily="34" charset="0"/>
              </a:endParaRPr>
            </a:p>
          </p:txBody>
        </p:sp>
        <p:sp>
          <p:nvSpPr>
            <p:cNvPr id="59" name="Rectangle 52"/>
            <p:cNvSpPr>
              <a:spLocks noChangeArrowheads="1"/>
            </p:cNvSpPr>
            <p:nvPr/>
          </p:nvSpPr>
          <p:spPr bwMode="auto">
            <a:xfrm>
              <a:off x="1444" y="2886"/>
              <a:ext cx="367"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RG</a:t>
              </a:r>
              <a:endParaRPr lang="en-US" b="1" dirty="0">
                <a:solidFill>
                  <a:schemeClr val="bg1"/>
                </a:solidFill>
                <a:latin typeface="Calibri" panose="020F0502020204030204" pitchFamily="34" charset="0"/>
                <a:cs typeface="Calibri" panose="020F0502020204030204" pitchFamily="34" charset="0"/>
              </a:endParaRPr>
            </a:p>
          </p:txBody>
        </p:sp>
        <p:sp>
          <p:nvSpPr>
            <p:cNvPr id="60" name="Rectangle 53"/>
            <p:cNvSpPr>
              <a:spLocks noChangeArrowheads="1"/>
            </p:cNvSpPr>
            <p:nvPr/>
          </p:nvSpPr>
          <p:spPr bwMode="auto">
            <a:xfrm>
              <a:off x="2183"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RG</a:t>
              </a:r>
              <a:endParaRPr lang="en-US" b="1" dirty="0">
                <a:solidFill>
                  <a:schemeClr val="bg1"/>
                </a:solidFill>
                <a:latin typeface="Calibri" panose="020F0502020204030204" pitchFamily="34" charset="0"/>
                <a:cs typeface="Calibri" panose="020F0502020204030204" pitchFamily="34" charset="0"/>
              </a:endParaRPr>
            </a:p>
          </p:txBody>
        </p:sp>
        <p:sp>
          <p:nvSpPr>
            <p:cNvPr id="61" name="Rectangle 54"/>
            <p:cNvSpPr>
              <a:spLocks noChangeArrowheads="1"/>
            </p:cNvSpPr>
            <p:nvPr/>
          </p:nvSpPr>
          <p:spPr bwMode="auto">
            <a:xfrm>
              <a:off x="2554"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solidFill>
                    <a:schemeClr val="bg1"/>
                  </a:solidFill>
                  <a:latin typeface="Calibri" panose="020F0502020204030204" pitchFamily="34" charset="0"/>
                  <a:cs typeface="Calibri" panose="020F0502020204030204" pitchFamily="34" charset="0"/>
                </a:rPr>
                <a:t>RG</a:t>
              </a:r>
              <a:endParaRPr lang="en-US" b="1" dirty="0">
                <a:solidFill>
                  <a:schemeClr val="bg1"/>
                </a:solidFill>
                <a:latin typeface="Calibri" panose="020F0502020204030204" pitchFamily="34" charset="0"/>
                <a:cs typeface="Calibri" panose="020F0502020204030204" pitchFamily="34" charset="0"/>
              </a:endParaRPr>
            </a:p>
          </p:txBody>
        </p:sp>
      </p:grpSp>
      <p:grpSp>
        <p:nvGrpSpPr>
          <p:cNvPr id="62" name="Group 34"/>
          <p:cNvGrpSpPr>
            <a:grpSpLocks/>
          </p:cNvGrpSpPr>
          <p:nvPr/>
        </p:nvGrpSpPr>
        <p:grpSpPr bwMode="auto">
          <a:xfrm>
            <a:off x="498141" y="1888847"/>
            <a:ext cx="3901904" cy="410765"/>
            <a:chOff x="1087" y="2454"/>
            <a:chExt cx="1847" cy="190"/>
          </a:xfrm>
          <a:effectLst>
            <a:outerShdw blurRad="50800" dist="38100" dir="2700000" algn="tl" rotWithShape="0">
              <a:prstClr val="black">
                <a:alpha val="40000"/>
              </a:prstClr>
            </a:outerShdw>
          </a:effectLst>
        </p:grpSpPr>
        <p:sp>
          <p:nvSpPr>
            <p:cNvPr id="63" name="Rectangle 35"/>
            <p:cNvSpPr>
              <a:spLocks noChangeArrowheads="1"/>
            </p:cNvSpPr>
            <p:nvPr/>
          </p:nvSpPr>
          <p:spPr bwMode="auto">
            <a:xfrm>
              <a:off x="108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4" name="Rectangle 36"/>
            <p:cNvSpPr>
              <a:spLocks noChangeArrowheads="1"/>
            </p:cNvSpPr>
            <p:nvPr/>
          </p:nvSpPr>
          <p:spPr bwMode="auto">
            <a:xfrm>
              <a:off x="182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5" name="Rectangle 37"/>
            <p:cNvSpPr>
              <a:spLocks noChangeArrowheads="1"/>
            </p:cNvSpPr>
            <p:nvPr/>
          </p:nvSpPr>
          <p:spPr bwMode="auto">
            <a:xfrm>
              <a:off x="1456" y="2454"/>
              <a:ext cx="367"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sp>
          <p:nvSpPr>
            <p:cNvPr id="66" name="Rectangle 38"/>
            <p:cNvSpPr>
              <a:spLocks noChangeArrowheads="1"/>
            </p:cNvSpPr>
            <p:nvPr/>
          </p:nvSpPr>
          <p:spPr bwMode="auto">
            <a:xfrm>
              <a:off x="2195"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SD</a:t>
              </a:r>
            </a:p>
          </p:txBody>
        </p:sp>
        <p:sp>
          <p:nvSpPr>
            <p:cNvPr id="67" name="Rectangle 39"/>
            <p:cNvSpPr>
              <a:spLocks noChangeArrowheads="1"/>
            </p:cNvSpPr>
            <p:nvPr/>
          </p:nvSpPr>
          <p:spPr bwMode="auto">
            <a:xfrm>
              <a:off x="2566"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a:latin typeface="Calibri" panose="020F0502020204030204" pitchFamily="34" charset="0"/>
                  <a:cs typeface="Calibri" panose="020F0502020204030204" pitchFamily="34" charset="0"/>
                </a:rPr>
                <a:t>SD</a:t>
              </a:r>
            </a:p>
          </p:txBody>
        </p:sp>
      </p:grpSp>
      <p:grpSp>
        <p:nvGrpSpPr>
          <p:cNvPr id="68" name="Group 17"/>
          <p:cNvGrpSpPr>
            <a:grpSpLocks/>
          </p:cNvGrpSpPr>
          <p:nvPr/>
        </p:nvGrpSpPr>
        <p:grpSpPr bwMode="auto">
          <a:xfrm>
            <a:off x="498141" y="2665689"/>
            <a:ext cx="3901904" cy="410765"/>
            <a:chOff x="1075" y="2886"/>
            <a:chExt cx="1847" cy="190"/>
          </a:xfrm>
          <a:solidFill>
            <a:srgbClr val="00B050"/>
          </a:solidFill>
          <a:effectLst>
            <a:outerShdw blurRad="50800" dist="38100" dir="2700000" algn="tl" rotWithShape="0">
              <a:prstClr val="black">
                <a:alpha val="40000"/>
              </a:prstClr>
            </a:outerShdw>
          </a:effectLst>
        </p:grpSpPr>
        <p:sp>
          <p:nvSpPr>
            <p:cNvPr id="69" name="Rectangle 50"/>
            <p:cNvSpPr>
              <a:spLocks noChangeArrowheads="1"/>
            </p:cNvSpPr>
            <p:nvPr/>
          </p:nvSpPr>
          <p:spPr bwMode="auto">
            <a:xfrm>
              <a:off x="107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DPVOL</a:t>
              </a:r>
              <a:endParaRPr lang="en-US" b="1" dirty="0">
                <a:latin typeface="Calibri" panose="020F0502020204030204" pitchFamily="34" charset="0"/>
                <a:cs typeface="Calibri" panose="020F0502020204030204" pitchFamily="34" charset="0"/>
              </a:endParaRPr>
            </a:p>
          </p:txBody>
        </p:sp>
        <p:sp>
          <p:nvSpPr>
            <p:cNvPr id="70" name="Rectangle 51"/>
            <p:cNvSpPr>
              <a:spLocks noChangeArrowheads="1"/>
            </p:cNvSpPr>
            <p:nvPr/>
          </p:nvSpPr>
          <p:spPr bwMode="auto">
            <a:xfrm>
              <a:off x="181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94" name="Rectangle 52"/>
            <p:cNvSpPr>
              <a:spLocks noChangeArrowheads="1"/>
            </p:cNvSpPr>
            <p:nvPr/>
          </p:nvSpPr>
          <p:spPr bwMode="auto">
            <a:xfrm>
              <a:off x="1444" y="2886"/>
              <a:ext cx="367"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95" name="Rectangle 53"/>
            <p:cNvSpPr>
              <a:spLocks noChangeArrowheads="1"/>
            </p:cNvSpPr>
            <p:nvPr/>
          </p:nvSpPr>
          <p:spPr bwMode="auto">
            <a:xfrm>
              <a:off x="2183"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96" name="Rectangle 54"/>
            <p:cNvSpPr>
              <a:spLocks noChangeArrowheads="1"/>
            </p:cNvSpPr>
            <p:nvPr/>
          </p:nvSpPr>
          <p:spPr bwMode="auto">
            <a:xfrm>
              <a:off x="2554"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grpSp>
      <p:sp>
        <p:nvSpPr>
          <p:cNvPr id="97" name="Rectangle 35"/>
          <p:cNvSpPr>
            <a:spLocks noChangeArrowheads="1"/>
          </p:cNvSpPr>
          <p:nvPr/>
        </p:nvSpPr>
        <p:spPr bwMode="auto">
          <a:xfrm>
            <a:off x="498140" y="1087341"/>
            <a:ext cx="3901905" cy="410765"/>
          </a:xfrm>
          <a:prstGeom prst="rect">
            <a:avLst/>
          </a:prstGeom>
          <a:solidFill>
            <a:schemeClr val="accent5"/>
          </a:solidFill>
          <a:ln w="9525">
            <a:solidFill>
              <a:schemeClr val="bg1">
                <a:lumMod val="8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SDG</a:t>
            </a:r>
            <a:endParaRPr lang="en-US" b="1" dirty="0">
              <a:latin typeface="Calibri" panose="020F0502020204030204" pitchFamily="34" charset="0"/>
              <a:cs typeface="Calibri" panose="020F0502020204030204" pitchFamily="34" charset="0"/>
            </a:endParaRPr>
          </a:p>
        </p:txBody>
      </p:sp>
      <p:grpSp>
        <p:nvGrpSpPr>
          <p:cNvPr id="98" name="Group 97"/>
          <p:cNvGrpSpPr/>
          <p:nvPr/>
        </p:nvGrpSpPr>
        <p:grpSpPr>
          <a:xfrm>
            <a:off x="784430" y="1569492"/>
            <a:ext cx="3308367" cy="259308"/>
            <a:chOff x="798078" y="1624084"/>
            <a:chExt cx="3308367" cy="348020"/>
          </a:xfrm>
          <a:effectLst>
            <a:outerShdw blurRad="50800" dist="38100" dir="2700000" algn="tl" rotWithShape="0">
              <a:prstClr val="black">
                <a:alpha val="40000"/>
              </a:prstClr>
            </a:outerShdw>
          </a:effectLst>
        </p:grpSpPr>
        <p:sp>
          <p:nvSpPr>
            <p:cNvPr id="99" name="Down Arrow 98"/>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0" name="Down Arrow 99"/>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1" name="Down Arrow 100"/>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2" name="Down Arrow 101"/>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3" name="Down Arrow 102"/>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104" name="Group 103"/>
          <p:cNvGrpSpPr/>
          <p:nvPr/>
        </p:nvGrpSpPr>
        <p:grpSpPr>
          <a:xfrm>
            <a:off x="788654" y="2359696"/>
            <a:ext cx="3308367" cy="259308"/>
            <a:chOff x="798078" y="1624084"/>
            <a:chExt cx="3308367" cy="348020"/>
          </a:xfrm>
          <a:effectLst>
            <a:outerShdw blurRad="50800" dist="38100" dir="2700000" algn="tl" rotWithShape="0">
              <a:prstClr val="black">
                <a:alpha val="40000"/>
              </a:prstClr>
            </a:outerShdw>
          </a:effectLst>
        </p:grpSpPr>
        <p:sp>
          <p:nvSpPr>
            <p:cNvPr id="105" name="Down Arrow 104"/>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6" name="Down Arrow 105"/>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7" name="Down Arrow 106"/>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8" name="Down Arrow 107"/>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09" name="Down Arrow 108"/>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grpSp>
        <p:nvGrpSpPr>
          <p:cNvPr id="110" name="Group 109"/>
          <p:cNvGrpSpPr/>
          <p:nvPr/>
        </p:nvGrpSpPr>
        <p:grpSpPr>
          <a:xfrm>
            <a:off x="792877" y="3935222"/>
            <a:ext cx="3308367" cy="259308"/>
            <a:chOff x="798078" y="1624084"/>
            <a:chExt cx="3308367" cy="348020"/>
          </a:xfrm>
          <a:effectLst>
            <a:outerShdw blurRad="50800" dist="38100" dir="2700000" algn="tl" rotWithShape="0">
              <a:prstClr val="black">
                <a:alpha val="40000"/>
              </a:prstClr>
            </a:outerShdw>
          </a:effectLst>
        </p:grpSpPr>
        <p:sp>
          <p:nvSpPr>
            <p:cNvPr id="111" name="Down Arrow 110"/>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2" name="Down Arrow 111"/>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3" name="Down Arrow 112"/>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4" name="Down Arrow 113"/>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5" name="Down Arrow 114"/>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
        <p:nvSpPr>
          <p:cNvPr id="116" name="Rectangle 35"/>
          <p:cNvSpPr>
            <a:spLocks noChangeArrowheads="1"/>
          </p:cNvSpPr>
          <p:nvPr/>
        </p:nvSpPr>
        <p:spPr bwMode="auto">
          <a:xfrm>
            <a:off x="498141" y="3467417"/>
            <a:ext cx="3901904" cy="410765"/>
          </a:xfrm>
          <a:prstGeom prst="rect">
            <a:avLst/>
          </a:prstGeom>
          <a:solidFill>
            <a:srgbClr val="FFFF00"/>
          </a:solidFill>
          <a:ln w="9525">
            <a:solidFill>
              <a:schemeClr val="bg1">
                <a:lumMod val="75000"/>
              </a:schemeClr>
            </a:solidFill>
            <a:miter lim="800000"/>
            <a:headEnd/>
            <a:tailEnd/>
          </a:ln>
          <a:effectLst>
            <a:outerShdw blurRad="50800" dist="38100" dir="2700000" algn="tl" rotWithShape="0">
              <a:prstClr val="black">
                <a:alpha val="40000"/>
              </a:prstClr>
            </a:outerShdw>
          </a:effectLst>
        </p:spPr>
        <p:txBody>
          <a:bodyPr wrap="none" anchor="ctr"/>
          <a:lstStyle/>
          <a:p>
            <a:pPr algn="ctr"/>
            <a:r>
              <a:rPr lang="en-US" b="1" dirty="0">
                <a:latin typeface="Calibri" panose="020F0502020204030204" pitchFamily="34" charset="0"/>
                <a:cs typeface="Calibri" panose="020F0502020204030204" pitchFamily="34" charset="0"/>
              </a:rPr>
              <a:t>HDP POOL</a:t>
            </a:r>
          </a:p>
        </p:txBody>
      </p:sp>
      <p:grpSp>
        <p:nvGrpSpPr>
          <p:cNvPr id="117" name="Group 116"/>
          <p:cNvGrpSpPr/>
          <p:nvPr/>
        </p:nvGrpSpPr>
        <p:grpSpPr>
          <a:xfrm>
            <a:off x="792877" y="3146693"/>
            <a:ext cx="3308367" cy="259308"/>
            <a:chOff x="798078" y="1624084"/>
            <a:chExt cx="3308367" cy="348020"/>
          </a:xfrm>
          <a:effectLst>
            <a:outerShdw blurRad="50800" dist="38100" dir="2700000" algn="tl" rotWithShape="0">
              <a:prstClr val="black">
                <a:alpha val="40000"/>
              </a:prstClr>
            </a:outerShdw>
          </a:effectLst>
        </p:grpSpPr>
        <p:sp>
          <p:nvSpPr>
            <p:cNvPr id="118" name="Down Arrow 117"/>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19" name="Down Arrow 118"/>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20" name="Down Arrow 119"/>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21" name="Down Arrow 120"/>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sp>
          <p:nvSpPr>
            <p:cNvPr id="122" name="Down Arrow 121"/>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mj-lt"/>
              </a:endParaRPr>
            </a:p>
          </p:txBody>
        </p:sp>
      </p:grpSp>
    </p:spTree>
    <p:custDataLst>
      <p:tags r:id="rId1"/>
    </p:custDataLst>
    <p:extLst>
      <p:ext uri="{BB962C8B-B14F-4D97-AF65-F5344CB8AC3E}">
        <p14:creationId xmlns:p14="http://schemas.microsoft.com/office/powerpoint/2010/main" val="190998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59" y="3182194"/>
            <a:ext cx="8879841" cy="1714315"/>
          </a:xfrm>
        </p:spPr>
        <p:txBody>
          <a:bodyPr/>
          <a:lstStyle/>
          <a:p>
            <a:r>
              <a:rPr lang="en-US" sz="1600" u="sng" dirty="0" smtClean="0"/>
              <a:t>The ratio of DP Volumes to physical RGs matters</a:t>
            </a:r>
          </a:p>
          <a:p>
            <a:pPr lvl="1"/>
            <a:r>
              <a:rPr lang="en-US" sz="1400" dirty="0" smtClean="0"/>
              <a:t>Undersubscribing will starve the storage </a:t>
            </a:r>
          </a:p>
          <a:p>
            <a:pPr lvl="1"/>
            <a:r>
              <a:rPr lang="en-US" sz="1400" dirty="0" smtClean="0"/>
              <a:t>Oversubscribing will overload the storage (HNAS QD per SD is still 32)</a:t>
            </a:r>
          </a:p>
          <a:p>
            <a:pPr lvl="1"/>
            <a:r>
              <a:rPr lang="en-US" sz="1400" dirty="0" smtClean="0"/>
              <a:t>General ratio is 1:1, but 2:1 could be used with larger 10k RGs and when using RAID10 with 10k drives</a:t>
            </a:r>
          </a:p>
          <a:p>
            <a:pPr lvl="1"/>
            <a:r>
              <a:rPr lang="en-US" sz="1400" dirty="0" smtClean="0"/>
              <a:t>When using HAF/SSD an 8:1 ratio provides best overall IOPS</a:t>
            </a:r>
            <a:endParaRPr lang="en-US" sz="1400" dirty="0"/>
          </a:p>
        </p:txBody>
      </p:sp>
      <p:sp>
        <p:nvSpPr>
          <p:cNvPr id="4" name="Title 3"/>
          <p:cNvSpPr>
            <a:spLocks noGrp="1"/>
          </p:cNvSpPr>
          <p:nvPr>
            <p:ph type="title"/>
          </p:nvPr>
        </p:nvSpPr>
        <p:spPr/>
        <p:txBody>
          <a:bodyPr>
            <a:normAutofit/>
          </a:bodyPr>
          <a:lstStyle/>
          <a:p>
            <a:r>
              <a:rPr lang="en-US" cap="all" dirty="0" smtClean="0"/>
              <a:t>LUN Provisioning – BEST </a:t>
            </a:r>
            <a:r>
              <a:rPr lang="en-US" cap="all" dirty="0"/>
              <a:t>PRACTICES</a:t>
            </a:r>
            <a:br>
              <a:rPr lang="en-US" cap="all" dirty="0"/>
            </a:br>
            <a:r>
              <a:rPr lang="en-US" sz="1600" dirty="0">
                <a:solidFill>
                  <a:schemeClr val="bg1">
                    <a:lumMod val="75000"/>
                  </a:schemeClr>
                </a:solidFill>
              </a:rPr>
              <a:t>DP VOL – RG RATIO </a:t>
            </a:r>
          </a:p>
        </p:txBody>
      </p:sp>
      <p:grpSp>
        <p:nvGrpSpPr>
          <p:cNvPr id="3" name="Group 2"/>
          <p:cNvGrpSpPr/>
          <p:nvPr/>
        </p:nvGrpSpPr>
        <p:grpSpPr>
          <a:xfrm>
            <a:off x="257050" y="1094272"/>
            <a:ext cx="8525000" cy="1938556"/>
            <a:chOff x="257050" y="1094272"/>
            <a:chExt cx="8525000" cy="1938556"/>
          </a:xfrm>
        </p:grpSpPr>
        <p:sp>
          <p:nvSpPr>
            <p:cNvPr id="38" name="Rounded Rectangle 37"/>
            <p:cNvSpPr/>
            <p:nvPr/>
          </p:nvSpPr>
          <p:spPr>
            <a:xfrm>
              <a:off x="3752850" y="2698148"/>
              <a:ext cx="5029200" cy="33467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Calibri" panose="020F0502020204030204" pitchFamily="34" charset="0"/>
                  <a:cs typeface="Calibri" panose="020F0502020204030204" pitchFamily="34" charset="0"/>
                </a:rPr>
                <a:t>RGs within the Pool should be consistent</a:t>
              </a:r>
            </a:p>
          </p:txBody>
        </p:sp>
        <p:grpSp>
          <p:nvGrpSpPr>
            <p:cNvPr id="44" name="Group 43"/>
            <p:cNvGrpSpPr/>
            <p:nvPr/>
          </p:nvGrpSpPr>
          <p:grpSpPr>
            <a:xfrm>
              <a:off x="257050" y="1630575"/>
              <a:ext cx="3048911" cy="334679"/>
              <a:chOff x="2253185" y="2983902"/>
              <a:chExt cx="2759759" cy="485015"/>
            </a:xfrm>
            <a:solidFill>
              <a:srgbClr val="A4CE4E"/>
            </a:solidFill>
            <a:effectLst>
              <a:outerShdw blurRad="50800" dist="38100" dir="2700000" algn="tl" rotWithShape="0">
                <a:prstClr val="black">
                  <a:alpha val="40000"/>
                </a:prstClr>
              </a:outerShdw>
            </a:effectLst>
          </p:grpSpPr>
          <p:sp>
            <p:nvSpPr>
              <p:cNvPr id="6" name="Rectangle 50"/>
              <p:cNvSpPr>
                <a:spLocks noChangeArrowheads="1"/>
              </p:cNvSpPr>
              <p:nvPr/>
            </p:nvSpPr>
            <p:spPr bwMode="auto">
              <a:xfrm>
                <a:off x="2253185" y="2983902"/>
                <a:ext cx="680705" cy="485015"/>
              </a:xfrm>
              <a:prstGeom prst="rect">
                <a:avLst/>
              </a:prstGeom>
              <a:grp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7" name="Rectangle 51"/>
              <p:cNvSpPr>
                <a:spLocks noChangeArrowheads="1"/>
              </p:cNvSpPr>
              <p:nvPr/>
            </p:nvSpPr>
            <p:spPr bwMode="auto">
              <a:xfrm>
                <a:off x="3639539" y="2983902"/>
                <a:ext cx="680705" cy="485015"/>
              </a:xfrm>
              <a:prstGeom prst="rect">
                <a:avLst/>
              </a:prstGeom>
              <a:grp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8" name="Rectangle 52"/>
              <p:cNvSpPr>
                <a:spLocks noChangeArrowheads="1"/>
              </p:cNvSpPr>
              <p:nvPr/>
            </p:nvSpPr>
            <p:spPr bwMode="auto">
              <a:xfrm>
                <a:off x="2941291" y="2983902"/>
                <a:ext cx="678856" cy="485015"/>
              </a:xfrm>
              <a:prstGeom prst="rect">
                <a:avLst/>
              </a:prstGeom>
              <a:grp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sp>
            <p:nvSpPr>
              <p:cNvPr id="9" name="Rectangle 53"/>
              <p:cNvSpPr>
                <a:spLocks noChangeArrowheads="1"/>
              </p:cNvSpPr>
              <p:nvPr/>
            </p:nvSpPr>
            <p:spPr bwMode="auto">
              <a:xfrm>
                <a:off x="4332239" y="2983902"/>
                <a:ext cx="680705" cy="485015"/>
              </a:xfrm>
              <a:prstGeom prst="rect">
                <a:avLst/>
              </a:prstGeom>
              <a:grpFill/>
              <a:ln w="9525">
                <a:solidFill>
                  <a:schemeClr val="bg1">
                    <a:lumMod val="75000"/>
                  </a:schemeClr>
                </a:solidFill>
                <a:miter lim="800000"/>
                <a:headEnd/>
                <a:tailEnd/>
              </a:ln>
            </p:spPr>
            <p:txBody>
              <a:bodyPr wrap="none" anchor="ctr"/>
              <a:lstStyle/>
              <a:p>
                <a:pPr algn="ctr"/>
                <a:r>
                  <a:rPr lang="en-US" b="1" dirty="0">
                    <a:latin typeface="Calibri" panose="020F0502020204030204" pitchFamily="34" charset="0"/>
                    <a:cs typeface="Calibri" panose="020F0502020204030204" pitchFamily="34" charset="0"/>
                  </a:rPr>
                  <a:t>DPVOL</a:t>
                </a:r>
              </a:p>
            </p:txBody>
          </p:sp>
        </p:grpSp>
        <p:grpSp>
          <p:nvGrpSpPr>
            <p:cNvPr id="11" name="Group 17"/>
            <p:cNvGrpSpPr>
              <a:grpSpLocks/>
            </p:cNvGrpSpPr>
            <p:nvPr/>
          </p:nvGrpSpPr>
          <p:grpSpPr bwMode="auto">
            <a:xfrm>
              <a:off x="270303" y="2698148"/>
              <a:ext cx="3022410" cy="334680"/>
              <a:chOff x="1075" y="2886"/>
              <a:chExt cx="1476" cy="190"/>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a:outerShdw blurRad="50800" dist="38100" dir="2700000" algn="tl" rotWithShape="0">
                <a:prstClr val="black">
                  <a:alpha val="40000"/>
                </a:prstClr>
              </a:outerShdw>
            </a:effectLst>
          </p:grpSpPr>
          <p:sp>
            <p:nvSpPr>
              <p:cNvPr id="12" name="Rectangle 50"/>
              <p:cNvSpPr>
                <a:spLocks noChangeArrowheads="1"/>
              </p:cNvSpPr>
              <p:nvPr/>
            </p:nvSpPr>
            <p:spPr bwMode="auto">
              <a:xfrm>
                <a:off x="1075" y="2886"/>
                <a:ext cx="368" cy="190"/>
              </a:xfrm>
              <a:prstGeom prst="rect">
                <a:avLst/>
              </a:prstGeom>
              <a:grpFill/>
              <a:ln w="9525">
                <a:solidFill>
                  <a:schemeClr val="bg1">
                    <a:lumMod val="75000"/>
                  </a:schemeClr>
                </a:solidFill>
                <a:miter lim="800000"/>
                <a:headEnd/>
                <a:tailEnd/>
              </a:ln>
            </p:spPr>
            <p:txBody>
              <a:bodyPr wrap="none" anchor="ctr"/>
              <a:lstStyle/>
              <a:p>
                <a:pPr algn="ctr"/>
                <a:r>
                  <a:rPr lang="en-US" sz="1400" b="1" dirty="0" smtClean="0">
                    <a:latin typeface="Calibri" panose="020F0502020204030204" pitchFamily="34" charset="0"/>
                    <a:cs typeface="Calibri" panose="020F0502020204030204" pitchFamily="34" charset="0"/>
                  </a:rPr>
                  <a:t> </a:t>
                </a:r>
                <a:r>
                  <a:rPr lang="en-US" b="1" dirty="0" smtClean="0">
                    <a:latin typeface="Calibri" panose="020F0502020204030204" pitchFamily="34" charset="0"/>
                    <a:cs typeface="Calibri" panose="020F0502020204030204" pitchFamily="34" charset="0"/>
                  </a:rPr>
                  <a:t>RG</a:t>
                </a:r>
                <a:endParaRPr lang="en-US" b="1" dirty="0">
                  <a:latin typeface="Calibri" panose="020F0502020204030204" pitchFamily="34" charset="0"/>
                  <a:cs typeface="Calibri" panose="020F0502020204030204" pitchFamily="34" charset="0"/>
                </a:endParaRPr>
              </a:p>
            </p:txBody>
          </p:sp>
          <p:sp>
            <p:nvSpPr>
              <p:cNvPr id="13" name="Rectangle 51"/>
              <p:cNvSpPr>
                <a:spLocks noChangeArrowheads="1"/>
              </p:cNvSpPr>
              <p:nvPr/>
            </p:nvSpPr>
            <p:spPr bwMode="auto">
              <a:xfrm>
                <a:off x="1815"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RG</a:t>
                </a:r>
                <a:endParaRPr lang="en-US" b="1" dirty="0">
                  <a:latin typeface="Calibri" panose="020F0502020204030204" pitchFamily="34" charset="0"/>
                  <a:cs typeface="Calibri" panose="020F0502020204030204" pitchFamily="34" charset="0"/>
                </a:endParaRPr>
              </a:p>
            </p:txBody>
          </p:sp>
          <p:sp>
            <p:nvSpPr>
              <p:cNvPr id="14" name="Rectangle 52"/>
              <p:cNvSpPr>
                <a:spLocks noChangeArrowheads="1"/>
              </p:cNvSpPr>
              <p:nvPr/>
            </p:nvSpPr>
            <p:spPr bwMode="auto">
              <a:xfrm>
                <a:off x="1447" y="2886"/>
                <a:ext cx="367"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RG</a:t>
                </a:r>
                <a:endParaRPr lang="en-US" b="1" dirty="0">
                  <a:latin typeface="Calibri" panose="020F0502020204030204" pitchFamily="34" charset="0"/>
                  <a:cs typeface="Calibri" panose="020F0502020204030204" pitchFamily="34" charset="0"/>
                </a:endParaRPr>
              </a:p>
            </p:txBody>
          </p:sp>
          <p:sp>
            <p:nvSpPr>
              <p:cNvPr id="15" name="Rectangle 53"/>
              <p:cNvSpPr>
                <a:spLocks noChangeArrowheads="1"/>
              </p:cNvSpPr>
              <p:nvPr/>
            </p:nvSpPr>
            <p:spPr bwMode="auto">
              <a:xfrm>
                <a:off x="2183" y="2886"/>
                <a:ext cx="368" cy="190"/>
              </a:xfrm>
              <a:prstGeom prst="rect">
                <a:avLst/>
              </a:prstGeom>
              <a:grpFill/>
              <a:ln w="9525">
                <a:solidFill>
                  <a:schemeClr val="bg1">
                    <a:lumMod val="75000"/>
                  </a:schemeClr>
                </a:solidFill>
                <a:miter lim="800000"/>
                <a:headEnd/>
                <a:tailEnd/>
              </a:ln>
            </p:spPr>
            <p:txBody>
              <a:bodyPr wrap="none" anchor="ctr"/>
              <a:lstStyle/>
              <a:p>
                <a:pPr algn="ctr"/>
                <a:r>
                  <a:rPr lang="en-US" b="1" dirty="0" smtClean="0">
                    <a:latin typeface="Calibri" panose="020F0502020204030204" pitchFamily="34" charset="0"/>
                    <a:cs typeface="Calibri" panose="020F0502020204030204" pitchFamily="34" charset="0"/>
                  </a:rPr>
                  <a:t>RG</a:t>
                </a:r>
                <a:endParaRPr lang="en-US" b="1" dirty="0">
                  <a:latin typeface="Calibri" panose="020F0502020204030204" pitchFamily="34" charset="0"/>
                  <a:cs typeface="Calibri" panose="020F0502020204030204" pitchFamily="34" charset="0"/>
                </a:endParaRPr>
              </a:p>
            </p:txBody>
          </p:sp>
        </p:grpSp>
        <p:sp>
          <p:nvSpPr>
            <p:cNvPr id="17" name="Rectangle 35"/>
            <p:cNvSpPr>
              <a:spLocks noChangeArrowheads="1"/>
            </p:cNvSpPr>
            <p:nvPr/>
          </p:nvSpPr>
          <p:spPr bwMode="auto">
            <a:xfrm>
              <a:off x="270304" y="2178741"/>
              <a:ext cx="3022410" cy="321031"/>
            </a:xfrm>
            <a:prstGeom prst="rect">
              <a:avLst/>
            </a:prstGeom>
            <a:solidFill>
              <a:srgbClr val="FFFF00"/>
            </a:solidFill>
            <a:ln w="9525">
              <a:solidFill>
                <a:schemeClr val="bg1">
                  <a:lumMod val="75000"/>
                </a:schemeClr>
              </a:solidFill>
              <a:miter lim="800000"/>
              <a:headEnd/>
              <a:tailEnd/>
            </a:ln>
            <a:effectLst>
              <a:outerShdw blurRad="50800" dist="38100" dir="2700000" algn="tl" rotWithShape="0">
                <a:prstClr val="black">
                  <a:alpha val="40000"/>
                </a:prstClr>
              </a:outerShdw>
            </a:effectLst>
          </p:spPr>
          <p:txBody>
            <a:bodyPr wrap="none" anchor="ctr"/>
            <a:lstStyle/>
            <a:p>
              <a:pPr algn="ctr"/>
              <a:r>
                <a:rPr lang="en-US" b="1" dirty="0">
                  <a:latin typeface="Calibri" panose="020F0502020204030204" pitchFamily="34" charset="0"/>
                  <a:cs typeface="Calibri" panose="020F0502020204030204" pitchFamily="34" charset="0"/>
                </a:rPr>
                <a:t>HDP POOL</a:t>
              </a:r>
            </a:p>
          </p:txBody>
        </p:sp>
        <p:sp>
          <p:nvSpPr>
            <p:cNvPr id="42" name="Rectangle 35"/>
            <p:cNvSpPr>
              <a:spLocks noChangeArrowheads="1"/>
            </p:cNvSpPr>
            <p:nvPr/>
          </p:nvSpPr>
          <p:spPr bwMode="auto">
            <a:xfrm>
              <a:off x="270304" y="1094272"/>
              <a:ext cx="3022409" cy="334679"/>
            </a:xfrm>
            <a:prstGeom prst="rect">
              <a:avLst/>
            </a:prstGeom>
            <a:solidFill>
              <a:schemeClr val="accent5"/>
            </a:solidFill>
            <a:ln w="9525">
              <a:solidFill>
                <a:schemeClr val="bg1">
                  <a:lumMod val="75000"/>
                </a:schemeClr>
              </a:solidFill>
              <a:miter lim="800000"/>
              <a:headEnd/>
              <a:tailEnd/>
            </a:ln>
            <a:effectLst>
              <a:outerShdw blurRad="50800" dist="38100" dir="2700000" algn="tl" rotWithShape="0">
                <a:prstClr val="black">
                  <a:alpha val="40000"/>
                </a:prstClr>
              </a:outerShdw>
            </a:effectLst>
          </p:spPr>
          <p:txBody>
            <a:bodyPr wrap="none" anchor="ctr"/>
            <a:lstStyle/>
            <a:p>
              <a:pPr algn="ctr"/>
              <a:r>
                <a:rPr lang="en-US" b="1" dirty="0">
                  <a:latin typeface="Calibri" panose="020F0502020204030204" pitchFamily="34" charset="0"/>
                  <a:cs typeface="Calibri" panose="020F0502020204030204" pitchFamily="34" charset="0"/>
                </a:rPr>
                <a:t>HNAS STORAGE POOL</a:t>
              </a:r>
            </a:p>
          </p:txBody>
        </p:sp>
        <p:sp>
          <p:nvSpPr>
            <p:cNvPr id="51" name="Rounded Rectangle 50"/>
            <p:cNvSpPr/>
            <p:nvPr/>
          </p:nvSpPr>
          <p:spPr>
            <a:xfrm>
              <a:off x="3752850" y="1630575"/>
              <a:ext cx="5029200" cy="33467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Calibri" panose="020F0502020204030204" pitchFamily="34" charset="0"/>
                  <a:cs typeface="Calibri" panose="020F0502020204030204" pitchFamily="34" charset="0"/>
                </a:rPr>
                <a:t>Do not mix and match volumes in HNAS Pool</a:t>
              </a:r>
            </a:p>
          </p:txBody>
        </p:sp>
        <p:sp>
          <p:nvSpPr>
            <p:cNvPr id="52" name="Rounded Rectangle 51"/>
            <p:cNvSpPr/>
            <p:nvPr/>
          </p:nvSpPr>
          <p:spPr>
            <a:xfrm>
              <a:off x="3752850" y="2165093"/>
              <a:ext cx="5029200" cy="33467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Calibri" panose="020F0502020204030204" pitchFamily="34" charset="0"/>
                  <a:cs typeface="Calibri" panose="020F0502020204030204" pitchFamily="34" charset="0"/>
                </a:rPr>
                <a:t>1:1 Ratio of DP Volumes to RGs</a:t>
              </a:r>
            </a:p>
          </p:txBody>
        </p:sp>
        <p:sp>
          <p:nvSpPr>
            <p:cNvPr id="53" name="Rounded Rectangle 52"/>
            <p:cNvSpPr/>
            <p:nvPr/>
          </p:nvSpPr>
          <p:spPr>
            <a:xfrm>
              <a:off x="3752850" y="1094272"/>
              <a:ext cx="5029200" cy="33467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Calibri" panose="020F0502020204030204" pitchFamily="34" charset="0"/>
                  <a:cs typeface="Calibri" panose="020F0502020204030204" pitchFamily="34" charset="0"/>
                </a:rPr>
                <a:t>1 HNAS Storage Pool per DP Pool</a:t>
              </a:r>
            </a:p>
          </p:txBody>
        </p:sp>
        <p:grpSp>
          <p:nvGrpSpPr>
            <p:cNvPr id="36" name="Group 35"/>
            <p:cNvGrpSpPr/>
            <p:nvPr/>
          </p:nvGrpSpPr>
          <p:grpSpPr>
            <a:xfrm>
              <a:off x="626071" y="2524140"/>
              <a:ext cx="2347058" cy="143998"/>
              <a:chOff x="798076" y="1624081"/>
              <a:chExt cx="2442811" cy="174009"/>
            </a:xfrm>
            <a:effectLst>
              <a:outerShdw blurRad="50800" dist="38100" dir="2700000" algn="tl" rotWithShape="0">
                <a:prstClr val="black">
                  <a:alpha val="40000"/>
                </a:prstClr>
              </a:outerShdw>
            </a:effectLst>
          </p:grpSpPr>
          <p:sp>
            <p:nvSpPr>
              <p:cNvPr id="37" name="Down Arrow 36"/>
              <p:cNvSpPr/>
              <p:nvPr/>
            </p:nvSpPr>
            <p:spPr>
              <a:xfrm rot="10800000">
                <a:off x="798076" y="1624081"/>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39" name="Down Arrow 38"/>
              <p:cNvSpPr/>
              <p:nvPr/>
            </p:nvSpPr>
            <p:spPr>
              <a:xfrm rot="10800000">
                <a:off x="1582894" y="1624082"/>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40" name="Down Arrow 39"/>
              <p:cNvSpPr/>
              <p:nvPr/>
            </p:nvSpPr>
            <p:spPr>
              <a:xfrm rot="10800000">
                <a:off x="2367710" y="1624083"/>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54" name="Down Arrow 53"/>
              <p:cNvSpPr/>
              <p:nvPr/>
            </p:nvSpPr>
            <p:spPr>
              <a:xfrm rot="10800000">
                <a:off x="3145134" y="1624081"/>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grpSp>
        <p:grpSp>
          <p:nvGrpSpPr>
            <p:cNvPr id="56" name="Group 55"/>
            <p:cNvGrpSpPr/>
            <p:nvPr/>
          </p:nvGrpSpPr>
          <p:grpSpPr>
            <a:xfrm>
              <a:off x="626608" y="2014271"/>
              <a:ext cx="2347058" cy="143998"/>
              <a:chOff x="798076" y="1624081"/>
              <a:chExt cx="2442811" cy="174009"/>
            </a:xfrm>
            <a:effectLst>
              <a:outerShdw blurRad="50800" dist="38100" dir="2700000" algn="tl" rotWithShape="0">
                <a:prstClr val="black">
                  <a:alpha val="40000"/>
                </a:prstClr>
              </a:outerShdw>
            </a:effectLst>
          </p:grpSpPr>
          <p:sp>
            <p:nvSpPr>
              <p:cNvPr id="57" name="Down Arrow 56"/>
              <p:cNvSpPr/>
              <p:nvPr/>
            </p:nvSpPr>
            <p:spPr>
              <a:xfrm rot="10800000">
                <a:off x="798076" y="1624081"/>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58" name="Down Arrow 57"/>
              <p:cNvSpPr/>
              <p:nvPr/>
            </p:nvSpPr>
            <p:spPr>
              <a:xfrm rot="10800000">
                <a:off x="1582894" y="1624082"/>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59" name="Down Arrow 58"/>
              <p:cNvSpPr/>
              <p:nvPr/>
            </p:nvSpPr>
            <p:spPr>
              <a:xfrm rot="10800000">
                <a:off x="2367710" y="1624083"/>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60" name="Down Arrow 59"/>
              <p:cNvSpPr/>
              <p:nvPr/>
            </p:nvSpPr>
            <p:spPr>
              <a:xfrm rot="10800000">
                <a:off x="3145134" y="1624081"/>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grpSp>
        <p:grpSp>
          <p:nvGrpSpPr>
            <p:cNvPr id="61" name="Group 60"/>
            <p:cNvGrpSpPr/>
            <p:nvPr/>
          </p:nvGrpSpPr>
          <p:grpSpPr>
            <a:xfrm>
              <a:off x="626608" y="1443825"/>
              <a:ext cx="2347058" cy="143998"/>
              <a:chOff x="798076" y="1624081"/>
              <a:chExt cx="2442811" cy="174009"/>
            </a:xfrm>
            <a:effectLst>
              <a:outerShdw blurRad="50800" dist="38100" dir="2700000" algn="tl" rotWithShape="0">
                <a:prstClr val="black">
                  <a:alpha val="40000"/>
                </a:prstClr>
              </a:outerShdw>
            </a:effectLst>
          </p:grpSpPr>
          <p:sp>
            <p:nvSpPr>
              <p:cNvPr id="62" name="Down Arrow 61"/>
              <p:cNvSpPr/>
              <p:nvPr/>
            </p:nvSpPr>
            <p:spPr>
              <a:xfrm rot="10800000">
                <a:off x="798076" y="1624081"/>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63" name="Down Arrow 62"/>
              <p:cNvSpPr/>
              <p:nvPr/>
            </p:nvSpPr>
            <p:spPr>
              <a:xfrm rot="10800000">
                <a:off x="1582894" y="1624082"/>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64" name="Down Arrow 63"/>
              <p:cNvSpPr/>
              <p:nvPr/>
            </p:nvSpPr>
            <p:spPr>
              <a:xfrm rot="10800000">
                <a:off x="2367710" y="1624083"/>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sp>
            <p:nvSpPr>
              <p:cNvPr id="65" name="Down Arrow 64"/>
              <p:cNvSpPr/>
              <p:nvPr/>
            </p:nvSpPr>
            <p:spPr>
              <a:xfrm rot="10800000">
                <a:off x="3145134" y="1624081"/>
                <a:ext cx="95753" cy="17400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atin typeface="+mj-lt"/>
                </a:endParaRPr>
              </a:p>
            </p:txBody>
          </p:sp>
        </p:grpSp>
      </p:grpSp>
    </p:spTree>
    <p:custDataLst>
      <p:tags r:id="rId1"/>
    </p:custDataLst>
    <p:extLst>
      <p:ext uri="{BB962C8B-B14F-4D97-AF65-F5344CB8AC3E}">
        <p14:creationId xmlns:p14="http://schemas.microsoft.com/office/powerpoint/2010/main" val="4288466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4265783"/>
          </a:xfrm>
        </p:spPr>
        <p:txBody>
          <a:bodyPr/>
          <a:lstStyle/>
          <a:p>
            <a:r>
              <a:rPr lang="en-US" sz="1800" dirty="0" smtClean="0"/>
              <a:t>Maximum DP Volume size is 60TB, however on Enterprise platforms scalability could be reduced to 4TB for Max DP Volume size.</a:t>
            </a:r>
          </a:p>
          <a:p>
            <a:pPr lvl="1"/>
            <a:r>
              <a:rPr lang="en-US" sz="1600" dirty="0" smtClean="0"/>
              <a:t>TC, SI, HUR and UVM limit max volume size to 4TB as of the writing of this ppt. (Check with Enterprise Storage PM for latest information)</a:t>
            </a:r>
          </a:p>
          <a:p>
            <a:r>
              <a:rPr lang="en-US" sz="1800" dirty="0" smtClean="0"/>
              <a:t>Guidelines for Stripe Sets and Storage Pool expansion still apply – even though HDP is performing wide-striping, Q-Depth across the stripe sets must still be sufficient and consistent</a:t>
            </a:r>
          </a:p>
          <a:p>
            <a:pPr lvl="1"/>
            <a:r>
              <a:rPr lang="en-US" sz="1600" dirty="0" smtClean="0"/>
              <a:t>Stripe Sets should still be expanded in a consistent fashion i.e. 2+2 or 4+4</a:t>
            </a:r>
          </a:p>
          <a:p>
            <a:pPr lvl="1"/>
            <a:r>
              <a:rPr lang="en-US" sz="1600" dirty="0" smtClean="0"/>
              <a:t>One should still allocate optimum number of DP Volumes per stripeset to provide sufficient Q-Depth to the underlying stripeset. 4 SDs per Stripeset is often used, but size appropriate to requirements.</a:t>
            </a:r>
          </a:p>
          <a:p>
            <a:endParaRPr lang="en-US" sz="2000" dirty="0" smtClean="0"/>
          </a:p>
        </p:txBody>
      </p:sp>
      <p:sp>
        <p:nvSpPr>
          <p:cNvPr id="4" name="Title 3"/>
          <p:cNvSpPr>
            <a:spLocks noGrp="1"/>
          </p:cNvSpPr>
          <p:nvPr>
            <p:ph type="title"/>
          </p:nvPr>
        </p:nvSpPr>
        <p:spPr/>
        <p:txBody>
          <a:bodyPr>
            <a:normAutofit/>
          </a:bodyPr>
          <a:lstStyle/>
          <a:p>
            <a:r>
              <a:rPr lang="en-US" dirty="0" smtClean="0"/>
              <a:t>STORAGE POOL BEST PRACTICES </a:t>
            </a:r>
            <a:r>
              <a:rPr lang="en-US" dirty="0"/>
              <a:t>– HDP</a:t>
            </a:r>
            <a:br>
              <a:rPr lang="en-US" dirty="0"/>
            </a:br>
            <a:r>
              <a:rPr lang="en-US" sz="1400" dirty="0">
                <a:solidFill>
                  <a:schemeClr val="bg1">
                    <a:lumMod val="75000"/>
                  </a:schemeClr>
                </a:solidFill>
              </a:rPr>
              <a:t>STRIPESIZE and POOL </a:t>
            </a:r>
            <a:r>
              <a:rPr lang="en-US" sz="1400" dirty="0" smtClean="0">
                <a:solidFill>
                  <a:schemeClr val="bg1">
                    <a:lumMod val="75000"/>
                  </a:schemeClr>
                </a:solidFill>
              </a:rPr>
              <a:t>EXPANSION</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2870059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3532762"/>
          </a:xfrm>
        </p:spPr>
        <p:txBody>
          <a:bodyPr/>
          <a:lstStyle/>
          <a:p>
            <a:r>
              <a:rPr lang="en-US" sz="2000" dirty="0" smtClean="0"/>
              <a:t>The need for DRB is minimized by HDP (due to block level restriping) </a:t>
            </a:r>
          </a:p>
          <a:p>
            <a:pPr lvl="1"/>
            <a:r>
              <a:rPr lang="en-US" sz="1800" dirty="0" smtClean="0"/>
              <a:t>For example a 4+4 Storage pool that is expanded by 4 SDs (4+4+4)</a:t>
            </a:r>
          </a:p>
          <a:p>
            <a:pPr lvl="1"/>
            <a:r>
              <a:rPr lang="en-US" sz="1800" dirty="0" smtClean="0"/>
              <a:t>If all chunks are already allocated, then HNAS writes will prefer the chunks allocated to the 3</a:t>
            </a:r>
            <a:r>
              <a:rPr lang="en-US" sz="1800" baseline="30000" dirty="0" smtClean="0"/>
              <a:t>rd</a:t>
            </a:r>
            <a:r>
              <a:rPr lang="en-US" sz="1800" dirty="0" smtClean="0"/>
              <a:t> stripe set</a:t>
            </a:r>
          </a:p>
          <a:p>
            <a:pPr lvl="1"/>
            <a:r>
              <a:rPr lang="en-US" sz="1800" dirty="0" smtClean="0"/>
              <a:t>New Write I/O will be queued by HNAS to only 4 of the 12 SDs, however all data will be re-striped by HDP across all underlying spindles, thereby minimizing the need for DRB.</a:t>
            </a:r>
          </a:p>
          <a:p>
            <a:pPr lvl="1"/>
            <a:r>
              <a:rPr lang="en-US" sz="1800" dirty="0" smtClean="0"/>
              <a:t>DRB cannot be run against a file system when all SDs in a span reside in the same SDG (which is the recommended practice for HDP)</a:t>
            </a:r>
          </a:p>
          <a:p>
            <a:pPr lvl="1"/>
            <a:endParaRPr lang="en-US" sz="1800" dirty="0" smtClean="0"/>
          </a:p>
        </p:txBody>
      </p:sp>
      <p:sp>
        <p:nvSpPr>
          <p:cNvPr id="4" name="Title 3"/>
          <p:cNvSpPr>
            <a:spLocks noGrp="1"/>
          </p:cNvSpPr>
          <p:nvPr>
            <p:ph type="title"/>
          </p:nvPr>
        </p:nvSpPr>
        <p:spPr>
          <a:xfrm>
            <a:off x="264160" y="53113"/>
            <a:ext cx="7569656" cy="732441"/>
          </a:xfrm>
        </p:spPr>
        <p:txBody>
          <a:bodyPr>
            <a:normAutofit/>
          </a:bodyPr>
          <a:lstStyle/>
          <a:p>
            <a:r>
              <a:rPr lang="en-US" dirty="0" smtClean="0"/>
              <a:t>STORAGE POOL BEST PRACTICES </a:t>
            </a:r>
            <a:r>
              <a:rPr lang="en-US" dirty="0"/>
              <a:t>– </a:t>
            </a:r>
            <a:r>
              <a:rPr lang="en-US" dirty="0" smtClean="0"/>
              <a:t>HDP (cont’d)</a:t>
            </a:r>
            <a:r>
              <a:rPr lang="en-US" dirty="0"/>
              <a:t/>
            </a:r>
            <a:br>
              <a:rPr lang="en-US" dirty="0"/>
            </a:br>
            <a:r>
              <a:rPr lang="en-US" sz="1400" dirty="0">
                <a:solidFill>
                  <a:schemeClr val="bg1">
                    <a:lumMod val="75000"/>
                  </a:schemeClr>
                </a:solidFill>
              </a:rPr>
              <a:t>STRIPESIZE and POOL </a:t>
            </a:r>
            <a:r>
              <a:rPr lang="en-US" sz="1400" dirty="0" smtClean="0">
                <a:solidFill>
                  <a:schemeClr val="bg1">
                    <a:lumMod val="75000"/>
                  </a:schemeClr>
                </a:solidFill>
              </a:rPr>
              <a:t>EXPANSION</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938100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967575"/>
            <a:ext cx="8584006" cy="3308598"/>
          </a:xfrm>
        </p:spPr>
        <p:txBody>
          <a:bodyPr/>
          <a:lstStyle/>
          <a:p>
            <a:r>
              <a:rPr lang="en-US" sz="2000" dirty="0" smtClean="0"/>
              <a:t>Generally speaking there should be little performance difference between HDP and non HDP configurations, </a:t>
            </a:r>
            <a:r>
              <a:rPr lang="en-US" sz="2000" i="1" u="sng" dirty="0" smtClean="0">
                <a:solidFill>
                  <a:schemeClr val="accent4">
                    <a:lumMod val="75000"/>
                  </a:schemeClr>
                </a:solidFill>
              </a:rPr>
              <a:t>provided Best Practices are followed</a:t>
            </a:r>
            <a:endParaRPr lang="en-US" sz="2000" i="1" dirty="0" smtClean="0">
              <a:solidFill>
                <a:schemeClr val="accent4">
                  <a:lumMod val="75000"/>
                </a:schemeClr>
              </a:solidFill>
            </a:endParaRPr>
          </a:p>
          <a:p>
            <a:r>
              <a:rPr lang="en-US" sz="2000" dirty="0" smtClean="0"/>
              <a:t>While it is possible to place multiple HNAS pools within a single HDP pool, this will not be a supported configuration in the future, therefore it is recommended that each HNAS span be mapped to it’s own HDP pool. </a:t>
            </a:r>
          </a:p>
          <a:p>
            <a:endParaRPr lang="en-US" sz="1200" dirty="0" smtClean="0"/>
          </a:p>
          <a:p>
            <a:endParaRPr lang="en-US" sz="1200" dirty="0"/>
          </a:p>
        </p:txBody>
      </p:sp>
      <p:sp>
        <p:nvSpPr>
          <p:cNvPr id="4" name="Title 3"/>
          <p:cNvSpPr>
            <a:spLocks noGrp="1"/>
          </p:cNvSpPr>
          <p:nvPr>
            <p:ph type="title"/>
          </p:nvPr>
        </p:nvSpPr>
        <p:spPr/>
        <p:txBody>
          <a:bodyPr>
            <a:normAutofit/>
          </a:bodyPr>
          <a:lstStyle/>
          <a:p>
            <a:r>
              <a:rPr lang="en-US" cap="all" dirty="0" smtClean="0"/>
              <a:t>HDP or NATIVE </a:t>
            </a:r>
            <a:r>
              <a:rPr lang="en-US" cap="all" dirty="0"/>
              <a:t>RG</a:t>
            </a:r>
            <a:br>
              <a:rPr lang="en-US" cap="all" dirty="0"/>
            </a:br>
            <a:r>
              <a:rPr lang="en-US" sz="1400" dirty="0">
                <a:solidFill>
                  <a:schemeClr val="bg1">
                    <a:lumMod val="75000"/>
                  </a:schemeClr>
                </a:solidFill>
              </a:rPr>
              <a:t>SHOULD I USE HDP OR NATIVE RG</a:t>
            </a:r>
            <a:r>
              <a:rPr lang="en-US" sz="1400" dirty="0" smtClean="0">
                <a:solidFill>
                  <a:schemeClr val="bg1">
                    <a:lumMod val="75000"/>
                  </a:schemeClr>
                </a:solidFill>
              </a:rPr>
              <a:t>?</a:t>
            </a:r>
            <a:endParaRPr lang="en-US" sz="1400" dirty="0">
              <a:solidFill>
                <a:schemeClr val="bg1">
                  <a:lumMod val="75000"/>
                </a:schemeClr>
              </a:solidFill>
            </a:endParaRPr>
          </a:p>
        </p:txBody>
      </p:sp>
    </p:spTree>
    <p:custDataLst>
      <p:tags r:id="rId1"/>
    </p:custDataLst>
    <p:extLst>
      <p:ext uri="{BB962C8B-B14F-4D97-AF65-F5344CB8AC3E}">
        <p14:creationId xmlns:p14="http://schemas.microsoft.com/office/powerpoint/2010/main" val="1093651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FILE SYSTEMS </a:t>
            </a:r>
            <a:r>
              <a:rPr lang="en-US" dirty="0"/>
              <a:t>BEST PRACTICES </a:t>
            </a:r>
            <a:r>
              <a:rPr lang="en-US" dirty="0" smtClean="0"/>
              <a:t> </a:t>
            </a:r>
            <a:br>
              <a:rPr lang="en-US" dirty="0" smtClean="0"/>
            </a:br>
            <a:r>
              <a:rPr lang="en-US" sz="1400" dirty="0" smtClean="0">
                <a:solidFill>
                  <a:schemeClr val="bg1">
                    <a:lumMod val="75000"/>
                  </a:schemeClr>
                </a:solidFill>
              </a:rPr>
              <a:t>AUTO-EXPANSION</a:t>
            </a:r>
            <a:r>
              <a:rPr lang="en-US" sz="1400" dirty="0">
                <a:solidFill>
                  <a:schemeClr val="bg1">
                    <a:lumMod val="75000"/>
                  </a:schemeClr>
                </a:solidFill>
              </a:rPr>
              <a:t>, BLOCK SIZE, </a:t>
            </a:r>
            <a:r>
              <a:rPr lang="en-US" sz="1400" dirty="0" smtClean="0">
                <a:solidFill>
                  <a:schemeClr val="bg1">
                    <a:lumMod val="75000"/>
                  </a:schemeClr>
                </a:solidFill>
              </a:rPr>
              <a:t>UTILIZATION</a:t>
            </a:r>
            <a:endParaRPr lang="en-US" sz="1400" dirty="0">
              <a:solidFill>
                <a:schemeClr val="bg1">
                  <a:lumMod val="75000"/>
                </a:schemeClr>
              </a:solidFill>
            </a:endParaRPr>
          </a:p>
        </p:txBody>
      </p:sp>
      <p:sp>
        <p:nvSpPr>
          <p:cNvPr id="6" name="Rectangle 5"/>
          <p:cNvSpPr/>
          <p:nvPr/>
        </p:nvSpPr>
        <p:spPr>
          <a:xfrm>
            <a:off x="264159" y="1487605"/>
            <a:ext cx="3989695" cy="1999397"/>
          </a:xfrm>
          <a:prstGeom prst="rect">
            <a:avLst/>
          </a:prstGeom>
          <a:solidFill>
            <a:srgbClr val="7030A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1600" dirty="0" smtClean="0">
              <a:latin typeface="Calibri" panose="020F0502020204030204" pitchFamily="34" charset="0"/>
              <a:cs typeface="Calibri" panose="020F0502020204030204" pitchFamily="34" charset="0"/>
            </a:endParaRPr>
          </a:p>
          <a:p>
            <a:r>
              <a:rPr lang="en-US" sz="1600" dirty="0" smtClean="0">
                <a:latin typeface="Calibri" panose="020F0502020204030204" pitchFamily="34" charset="0"/>
                <a:cs typeface="Calibri" panose="020F0502020204030204" pitchFamily="34" charset="0"/>
              </a:rPr>
              <a:t>Non </a:t>
            </a:r>
            <a:r>
              <a:rPr lang="en-US" sz="1600" dirty="0">
                <a:latin typeface="Calibri" panose="020F0502020204030204" pitchFamily="34" charset="0"/>
                <a:cs typeface="Calibri" panose="020F0502020204030204" pitchFamily="34" charset="0"/>
              </a:rPr>
              <a:t>HDP configurations often utilize RAID5, especially when using 10k drives and small </a:t>
            </a:r>
            <a:r>
              <a:rPr lang="en-US" sz="1600" dirty="0" smtClean="0">
                <a:latin typeface="Calibri" panose="020F0502020204030204" pitchFamily="34" charset="0"/>
                <a:cs typeface="Calibri" panose="020F0502020204030204" pitchFamily="34" charset="0"/>
              </a:rPr>
              <a:t>configurations; e.g</a:t>
            </a:r>
            <a:r>
              <a:rPr lang="en-US" sz="1600" dirty="0">
                <a:latin typeface="Calibri" panose="020F0502020204030204" pitchFamily="34" charset="0"/>
                <a:cs typeface="Calibri" panose="020F0502020204030204" pitchFamily="34" charset="0"/>
              </a:rPr>
              <a:t>. RAID5 </a:t>
            </a:r>
            <a:r>
              <a:rPr lang="en-US" sz="1600" dirty="0" smtClean="0">
                <a:latin typeface="Calibri" panose="020F0502020204030204" pitchFamily="34" charset="0"/>
                <a:cs typeface="Calibri" panose="020F0502020204030204" pitchFamily="34" charset="0"/>
              </a:rPr>
              <a:t>4+1</a:t>
            </a:r>
          </a:p>
          <a:p>
            <a:endParaRPr lang="en-US" sz="1600" dirty="0">
              <a:latin typeface="Calibri" panose="020F0502020204030204" pitchFamily="34" charset="0"/>
              <a:cs typeface="Calibri" panose="020F0502020204030204" pitchFamily="34" charset="0"/>
            </a:endParaRPr>
          </a:p>
          <a:p>
            <a:pPr marL="0" lvl="1"/>
            <a:r>
              <a:rPr lang="en-US" sz="1600" dirty="0">
                <a:latin typeface="Calibri" panose="020F0502020204030204" pitchFamily="34" charset="0"/>
                <a:cs typeface="Calibri" panose="020F0502020204030204" pitchFamily="34" charset="0"/>
              </a:rPr>
              <a:t>RAID5 is generally more I/O efficient than RAID6</a:t>
            </a:r>
          </a:p>
          <a:p>
            <a:endParaRPr lang="en-US" sz="1600" dirty="0">
              <a:latin typeface="Calibri" panose="020F0502020204030204" pitchFamily="34" charset="0"/>
              <a:cs typeface="Calibri" panose="020F0502020204030204" pitchFamily="34" charset="0"/>
            </a:endParaRPr>
          </a:p>
          <a:p>
            <a:endParaRPr lang="en-US" sz="1600" dirty="0">
              <a:latin typeface="Calibri" panose="020F0502020204030204" pitchFamily="34" charset="0"/>
              <a:cs typeface="Calibri" panose="020F0502020204030204" pitchFamily="34" charset="0"/>
            </a:endParaRPr>
          </a:p>
          <a:p>
            <a:endParaRPr lang="en-US" sz="1600" dirty="0">
              <a:latin typeface="Calibri" panose="020F0502020204030204" pitchFamily="34" charset="0"/>
              <a:cs typeface="Calibri" panose="020F0502020204030204" pitchFamily="34" charset="0"/>
            </a:endParaRPr>
          </a:p>
        </p:txBody>
      </p:sp>
      <p:sp>
        <p:nvSpPr>
          <p:cNvPr id="7" name="Rectangle 6"/>
          <p:cNvSpPr/>
          <p:nvPr/>
        </p:nvSpPr>
        <p:spPr>
          <a:xfrm>
            <a:off x="4929115" y="1487606"/>
            <a:ext cx="3989695" cy="1999398"/>
          </a:xfrm>
          <a:prstGeom prst="rect">
            <a:avLst/>
          </a:pr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1200" dirty="0">
              <a:latin typeface="Calibri" panose="020F0502020204030204" pitchFamily="34" charset="0"/>
              <a:cs typeface="Calibri" panose="020F0502020204030204" pitchFamily="34" charset="0"/>
            </a:endParaRPr>
          </a:p>
          <a:p>
            <a:r>
              <a:rPr lang="en-US" sz="1600" dirty="0" smtClean="0">
                <a:latin typeface="Calibri" panose="020F0502020204030204" pitchFamily="34" charset="0"/>
                <a:cs typeface="Calibri" panose="020F0502020204030204" pitchFamily="34" charset="0"/>
              </a:rPr>
              <a:t>HDP </a:t>
            </a:r>
            <a:r>
              <a:rPr lang="en-US" sz="1600" dirty="0">
                <a:latin typeface="Calibri" panose="020F0502020204030204" pitchFamily="34" charset="0"/>
                <a:cs typeface="Calibri" panose="020F0502020204030204" pitchFamily="34" charset="0"/>
              </a:rPr>
              <a:t>Configurations almost always use RAID6, per HDS Best </a:t>
            </a:r>
            <a:r>
              <a:rPr lang="en-US" sz="1600" dirty="0" smtClean="0">
                <a:latin typeface="Calibri" panose="020F0502020204030204" pitchFamily="34" charset="0"/>
                <a:cs typeface="Calibri" panose="020F0502020204030204" pitchFamily="34" charset="0"/>
              </a:rPr>
              <a:t>Practices</a:t>
            </a:r>
          </a:p>
          <a:p>
            <a:endParaRPr lang="en-US" sz="1600" dirty="0">
              <a:latin typeface="Calibri" panose="020F0502020204030204" pitchFamily="34" charset="0"/>
              <a:cs typeface="Calibri" panose="020F0502020204030204" pitchFamily="34" charset="0"/>
            </a:endParaRPr>
          </a:p>
          <a:p>
            <a:pPr marL="0" lvl="1"/>
            <a:r>
              <a:rPr lang="en-US" sz="1600" dirty="0">
                <a:latin typeface="Calibri" panose="020F0502020204030204" pitchFamily="34" charset="0"/>
                <a:cs typeface="Calibri" panose="020F0502020204030204" pitchFamily="34" charset="0"/>
              </a:rPr>
              <a:t>RAID6 provides a higher level of protection</a:t>
            </a:r>
          </a:p>
          <a:p>
            <a:endParaRPr lang="en-US" sz="1600" dirty="0">
              <a:latin typeface="Calibri" panose="020F0502020204030204" pitchFamily="34" charset="0"/>
              <a:cs typeface="Calibri" panose="020F0502020204030204" pitchFamily="34" charset="0"/>
            </a:endParaRPr>
          </a:p>
        </p:txBody>
      </p:sp>
      <p:sp>
        <p:nvSpPr>
          <p:cNvPr id="8" name="Rectangle 7"/>
          <p:cNvSpPr/>
          <p:nvPr/>
        </p:nvSpPr>
        <p:spPr>
          <a:xfrm>
            <a:off x="264160" y="1084997"/>
            <a:ext cx="3989695" cy="402609"/>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smtClean="0">
                <a:latin typeface="Calibri" panose="020F0502020204030204" pitchFamily="34" charset="0"/>
                <a:cs typeface="Calibri" panose="020F0502020204030204" pitchFamily="34" charset="0"/>
              </a:rPr>
              <a:t>RAID 5</a:t>
            </a:r>
            <a:endParaRPr lang="en-US" sz="2400" b="1" dirty="0">
              <a:latin typeface="Calibri" panose="020F0502020204030204" pitchFamily="34" charset="0"/>
              <a:cs typeface="Calibri" panose="020F0502020204030204" pitchFamily="34" charset="0"/>
            </a:endParaRPr>
          </a:p>
        </p:txBody>
      </p:sp>
      <p:sp>
        <p:nvSpPr>
          <p:cNvPr id="10" name="Rectangle 9"/>
          <p:cNvSpPr/>
          <p:nvPr/>
        </p:nvSpPr>
        <p:spPr>
          <a:xfrm>
            <a:off x="4929115" y="1084997"/>
            <a:ext cx="3989695" cy="402609"/>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b="1" dirty="0">
                <a:latin typeface="Calibri" panose="020F0502020204030204" pitchFamily="34" charset="0"/>
                <a:cs typeface="Calibri" panose="020F0502020204030204" pitchFamily="34" charset="0"/>
              </a:rPr>
              <a:t>RAID </a:t>
            </a:r>
            <a:r>
              <a:rPr lang="en-US" sz="2400" b="1" dirty="0" smtClean="0">
                <a:latin typeface="Calibri" panose="020F0502020204030204" pitchFamily="34" charset="0"/>
                <a:cs typeface="Calibri" panose="020F0502020204030204" pitchFamily="34" charset="0"/>
              </a:rPr>
              <a:t>6</a:t>
            </a:r>
            <a:endParaRPr lang="en-US" sz="2400" b="1" dirty="0">
              <a:latin typeface="Calibri" panose="020F0502020204030204" pitchFamily="34" charset="0"/>
              <a:cs typeface="Calibri" panose="020F0502020204030204" pitchFamily="34" charset="0"/>
            </a:endParaRPr>
          </a:p>
        </p:txBody>
      </p:sp>
      <p:sp>
        <p:nvSpPr>
          <p:cNvPr id="9" name="Content Placeholder 1"/>
          <p:cNvSpPr>
            <a:spLocks noGrp="1"/>
          </p:cNvSpPr>
          <p:nvPr>
            <p:ph idx="1"/>
          </p:nvPr>
        </p:nvSpPr>
        <p:spPr>
          <a:xfrm>
            <a:off x="264160" y="3596475"/>
            <a:ext cx="8584006" cy="1569660"/>
          </a:xfrm>
        </p:spPr>
        <p:txBody>
          <a:bodyPr/>
          <a:lstStyle/>
          <a:p>
            <a:r>
              <a:rPr lang="en-US" sz="1400" dirty="0" smtClean="0"/>
              <a:t>In reality the choice of RAID5/RAID6 has nothing to do with HDP and has everything to do with managing risk, although many make that connection</a:t>
            </a:r>
          </a:p>
          <a:p>
            <a:r>
              <a:rPr lang="en-US" sz="1400" dirty="0" smtClean="0"/>
              <a:t>RAID10 should also be considered for environments with heavy random write workloads, which can occur in HNAS environments experiencing poor </a:t>
            </a:r>
            <a:r>
              <a:rPr lang="en-US" sz="1400" dirty="0" err="1" smtClean="0"/>
              <a:t>superflush</a:t>
            </a:r>
            <a:r>
              <a:rPr lang="en-US" sz="1400" dirty="0" smtClean="0"/>
              <a:t> efficiency</a:t>
            </a:r>
            <a:endParaRPr lang="en-US" sz="1000" dirty="0" smtClean="0"/>
          </a:p>
          <a:p>
            <a:endParaRPr lang="en-US" sz="1000" dirty="0"/>
          </a:p>
        </p:txBody>
      </p:sp>
    </p:spTree>
    <p:custDataLst>
      <p:tags r:id="rId1"/>
    </p:custDataLst>
    <p:extLst>
      <p:ext uri="{BB962C8B-B14F-4D97-AF65-F5344CB8AC3E}">
        <p14:creationId xmlns:p14="http://schemas.microsoft.com/office/powerpoint/2010/main" val="2073592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ctrTitle"/>
          </p:nvPr>
        </p:nvSpPr>
        <p:spPr>
          <a:xfrm>
            <a:off x="2548458" y="1027595"/>
            <a:ext cx="6131767" cy="2212429"/>
          </a:xfrm>
        </p:spPr>
        <p:txBody>
          <a:bodyPr anchor="ctr" anchorCtr="0"/>
          <a:lstStyle/>
          <a:p>
            <a:pPr>
              <a:lnSpc>
                <a:spcPts val="5100"/>
              </a:lnSpc>
            </a:pPr>
            <a:r>
              <a:rPr lang="en-US" dirty="0" smtClean="0"/>
              <a:t>Questions </a:t>
            </a:r>
            <a:br>
              <a:rPr lang="en-US" dirty="0" smtClean="0"/>
            </a:br>
            <a:r>
              <a:rPr lang="en-US" dirty="0" smtClean="0"/>
              <a:t>and Discussion</a:t>
            </a:r>
            <a:endParaRPr lang="en-US" dirty="0"/>
          </a:p>
        </p:txBody>
      </p:sp>
    </p:spTree>
    <p:custDataLst>
      <p:tags r:id="rId1"/>
    </p:custDataLst>
    <p:extLst>
      <p:ext uri="{BB962C8B-B14F-4D97-AF65-F5344CB8AC3E}">
        <p14:creationId xmlns:p14="http://schemas.microsoft.com/office/powerpoint/2010/main" val="2837407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2548458" y="1027595"/>
            <a:ext cx="6131767" cy="2212429"/>
          </a:xfrm>
        </p:spPr>
        <p:txBody>
          <a:bodyPr anchor="ctr" anchorCtr="0"/>
          <a:lstStyle/>
          <a:p>
            <a:pPr>
              <a:lnSpc>
                <a:spcPts val="5100"/>
              </a:lnSpc>
            </a:pPr>
            <a:r>
              <a:rPr lang="en-US" dirty="0" smtClean="0"/>
              <a:t>Thank You</a:t>
            </a:r>
            <a:endParaRPr lang="en-US" dirty="0"/>
          </a:p>
        </p:txBody>
      </p:sp>
    </p:spTree>
    <p:custDataLst>
      <p:tags r:id="rId1"/>
    </p:custDataLst>
    <p:extLst>
      <p:ext uri="{BB962C8B-B14F-4D97-AF65-F5344CB8AC3E}">
        <p14:creationId xmlns:p14="http://schemas.microsoft.com/office/powerpoint/2010/main" val="1722227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9"/>
</p:tagLst>
</file>

<file path=ppt/tags/tag2.xml><?xml version="1.0" encoding="utf-8"?>
<p:tagLst xmlns:a="http://schemas.openxmlformats.org/drawingml/2006/main" xmlns:r="http://schemas.openxmlformats.org/officeDocument/2006/relationships" xmlns:p="http://schemas.openxmlformats.org/presentationml/2006/main">
  <p:tag name="OFFISYNC_SLIDE_GUID" val="051b5dc4-8026-44ff-9402-9d87c94831c1"/>
</p:tagLst>
</file>

<file path=ppt/tags/tag3.xml><?xml version="1.0" encoding="utf-8"?>
<p:tagLst xmlns:a="http://schemas.openxmlformats.org/drawingml/2006/main" xmlns:r="http://schemas.openxmlformats.org/officeDocument/2006/relationships" xmlns:p="http://schemas.openxmlformats.org/presentationml/2006/main">
  <p:tag name="OFFISYNC_SLIDE_GUID" val="43bdc86f-8ba8-4f1e-afc1-fcfcf9edaeac"/>
</p:tagLst>
</file>

<file path=ppt/tags/tag4.xml><?xml version="1.0" encoding="utf-8"?>
<p:tagLst xmlns:a="http://schemas.openxmlformats.org/drawingml/2006/main" xmlns:r="http://schemas.openxmlformats.org/officeDocument/2006/relationships" xmlns:p="http://schemas.openxmlformats.org/presentationml/2006/main">
  <p:tag name="OFFISYNC_SLIDE_GUID" val="1ba7a35d-7250-414b-a844-2188711fe5c9"/>
</p:tagLst>
</file>

<file path=ppt/tags/tag5.xml><?xml version="1.0" encoding="utf-8"?>
<p:tagLst xmlns:a="http://schemas.openxmlformats.org/drawingml/2006/main" xmlns:r="http://schemas.openxmlformats.org/officeDocument/2006/relationships" xmlns:p="http://schemas.openxmlformats.org/presentationml/2006/main">
  <p:tag name="OFFISYNC_SLIDE_GUID" val="35504782-99f4-498d-8ac4-573dc19fec32"/>
</p:tagLst>
</file>

<file path=ppt/tags/tag6.xml><?xml version="1.0" encoding="utf-8"?>
<p:tagLst xmlns:a="http://schemas.openxmlformats.org/drawingml/2006/main" xmlns:r="http://schemas.openxmlformats.org/officeDocument/2006/relationships" xmlns:p="http://schemas.openxmlformats.org/presentationml/2006/main">
  <p:tag name="OFFISYNC_SLIDE_GUID" val="36ad878f-0fe8-41ae-9a11-3e7b382d5da5"/>
</p:tagLst>
</file>

<file path=ppt/tags/tag7.xml><?xml version="1.0" encoding="utf-8"?>
<p:tagLst xmlns:a="http://schemas.openxmlformats.org/drawingml/2006/main" xmlns:r="http://schemas.openxmlformats.org/officeDocument/2006/relationships" xmlns:p="http://schemas.openxmlformats.org/presentationml/2006/main">
  <p:tag name="OFFISYNC_SLIDE_GUID" val="68cf67e0-f551-483b-adfd-fa389c88d0a0"/>
</p:tagLst>
</file>

<file path=ppt/tags/tag8.xml><?xml version="1.0" encoding="utf-8"?>
<p:tagLst xmlns:a="http://schemas.openxmlformats.org/drawingml/2006/main" xmlns:r="http://schemas.openxmlformats.org/officeDocument/2006/relationships" xmlns:p="http://schemas.openxmlformats.org/presentationml/2006/main">
  <p:tag name="OFFISYNC_SLIDE_GUID" val="d148268a-1a4f-47af-a9bc-184aba28938b"/>
</p:tagLst>
</file>

<file path=ppt/tags/tag9.xml><?xml version="1.0" encoding="utf-8"?>
<p:tagLst xmlns:a="http://schemas.openxmlformats.org/drawingml/2006/main" xmlns:r="http://schemas.openxmlformats.org/officeDocument/2006/relationships" xmlns:p="http://schemas.openxmlformats.org/presentationml/2006/main">
  <p:tag name="OFFISYNC_SLIDE_GUID" val="01612f37-862c-4df7-a319-4df6bddc6697"/>
</p:tagLst>
</file>

<file path=ppt/tags/tag10.xml><?xml version="1.0" encoding="utf-8"?>
<p:tagLst xmlns:a="http://schemas.openxmlformats.org/drawingml/2006/main" xmlns:r="http://schemas.openxmlformats.org/officeDocument/2006/relationships" xmlns:p="http://schemas.openxmlformats.org/presentationml/2006/main">
  <p:tag name="OFFISYNC_SLIDE_GUID" val="80b646a2-d19d-4719-9d25-082f9c2a9cee"/>
</p:tagLst>
</file>

<file path=ppt/tags/tag11.xml><?xml version="1.0" encoding="utf-8"?>
<p:tagLst xmlns:a="http://schemas.openxmlformats.org/drawingml/2006/main" xmlns:r="http://schemas.openxmlformats.org/officeDocument/2006/relationships" xmlns:p="http://schemas.openxmlformats.org/presentationml/2006/main">
  <p:tag name="OFFISYNC_SLIDE_GUID" val="36d6bc7b-d639-4825-a35c-1b7b36940e8e"/>
</p:tagLst>
</file>

<file path=ppt/tags/tag12.xml><?xml version="1.0" encoding="utf-8"?>
<p:tagLst xmlns:a="http://schemas.openxmlformats.org/drawingml/2006/main" xmlns:r="http://schemas.openxmlformats.org/officeDocument/2006/relationships" xmlns:p="http://schemas.openxmlformats.org/presentationml/2006/main">
  <p:tag name="OFFISYNC_SLIDE_GUID" val="7b2f0689-f7ff-4d41-a57f-97d1ab766f0e"/>
</p:tagLst>
</file>

<file path=ppt/tags/tag13.xml><?xml version="1.0" encoding="utf-8"?>
<p:tagLst xmlns:a="http://schemas.openxmlformats.org/drawingml/2006/main" xmlns:r="http://schemas.openxmlformats.org/officeDocument/2006/relationships" xmlns:p="http://schemas.openxmlformats.org/presentationml/2006/main">
  <p:tag name="OFFISYNC_SLIDE_GUID" val="fc224fd1-6970-46e4-8835-2dcc4229b813"/>
</p:tagLst>
</file>

<file path=ppt/tags/tag14.xml><?xml version="1.0" encoding="utf-8"?>
<p:tagLst xmlns:a="http://schemas.openxmlformats.org/drawingml/2006/main" xmlns:r="http://schemas.openxmlformats.org/officeDocument/2006/relationships" xmlns:p="http://schemas.openxmlformats.org/presentationml/2006/main">
  <p:tag name="OFFISYNC_SLIDE_GUID" val="52eca269-6e02-402a-b518-43432526631c"/>
</p:tagLst>
</file>

<file path=ppt/tags/tag15.xml><?xml version="1.0" encoding="utf-8"?>
<p:tagLst xmlns:a="http://schemas.openxmlformats.org/drawingml/2006/main" xmlns:r="http://schemas.openxmlformats.org/officeDocument/2006/relationships" xmlns:p="http://schemas.openxmlformats.org/presentationml/2006/main">
  <p:tag name="OFFISYNC_SLIDE_GUID" val="19a0791f-ac1c-447c-aab7-6d99521c2700"/>
</p:tagLst>
</file>

<file path=ppt/tags/tag16.xml><?xml version="1.0" encoding="utf-8"?>
<p:tagLst xmlns:a="http://schemas.openxmlformats.org/drawingml/2006/main" xmlns:r="http://schemas.openxmlformats.org/officeDocument/2006/relationships" xmlns:p="http://schemas.openxmlformats.org/presentationml/2006/main">
  <p:tag name="OFFISYNC_SLIDE_GUID" val="a04a0b2e-8d98-430a-9ac1-0613ca789982"/>
</p:tagLst>
</file>

<file path=ppt/tags/tag17.xml><?xml version="1.0" encoding="utf-8"?>
<p:tagLst xmlns:a="http://schemas.openxmlformats.org/drawingml/2006/main" xmlns:r="http://schemas.openxmlformats.org/officeDocument/2006/relationships" xmlns:p="http://schemas.openxmlformats.org/presentationml/2006/main">
  <p:tag name="OFFISYNC_SLIDE_GUID" val="9dea429e-3c71-4abf-bde5-37eaf8f5cdba"/>
</p:tagLst>
</file>

<file path=ppt/tags/tag18.xml><?xml version="1.0" encoding="utf-8"?>
<p:tagLst xmlns:a="http://schemas.openxmlformats.org/drawingml/2006/main" xmlns:r="http://schemas.openxmlformats.org/officeDocument/2006/relationships" xmlns:p="http://schemas.openxmlformats.org/presentationml/2006/main">
  <p:tag name="OFFISYNC_SLIDE_GUID" val="4b56e815-4c74-4ba9-b291-6fc880dd081a"/>
</p:tagLst>
</file>

<file path=ppt/tags/tag19.xml><?xml version="1.0" encoding="utf-8"?>
<p:tagLst xmlns:a="http://schemas.openxmlformats.org/drawingml/2006/main" xmlns:r="http://schemas.openxmlformats.org/officeDocument/2006/relationships" xmlns:p="http://schemas.openxmlformats.org/presentationml/2006/main">
  <p:tag name="OFFISYNC_SLIDE_GUID" val="fabe544b-6a7f-459d-ad4e-78b96470c509"/>
</p:tagLst>
</file>

<file path=ppt/tags/tag20.xml><?xml version="1.0" encoding="utf-8"?>
<p:tagLst xmlns:a="http://schemas.openxmlformats.org/drawingml/2006/main" xmlns:r="http://schemas.openxmlformats.org/officeDocument/2006/relationships" xmlns:p="http://schemas.openxmlformats.org/presentationml/2006/main">
  <p:tag name="OFFISYNC_SLIDE_GUID" val="9dc12ac3-ef0d-4b18-b15f-6e9b71593dea"/>
</p:tagLst>
</file>

<file path=ppt/tags/tag21.xml><?xml version="1.0" encoding="utf-8"?>
<p:tagLst xmlns:a="http://schemas.openxmlformats.org/drawingml/2006/main" xmlns:r="http://schemas.openxmlformats.org/officeDocument/2006/relationships" xmlns:p="http://schemas.openxmlformats.org/presentationml/2006/main">
  <p:tag name="OFFISYNC_SLIDE_GUID" val="92990113-f2b7-44d2-83d2-8e5d39267857"/>
</p:tagLst>
</file>

<file path=ppt/tags/tag22.xml><?xml version="1.0" encoding="utf-8"?>
<p:tagLst xmlns:a="http://schemas.openxmlformats.org/drawingml/2006/main" xmlns:r="http://schemas.openxmlformats.org/officeDocument/2006/relationships" xmlns:p="http://schemas.openxmlformats.org/presentationml/2006/main">
  <p:tag name="OFFISYNC_SLIDE_GUID" val="c988d1c6-7c14-423f-b3e3-4dab2e94e05e"/>
  <p:tag name="OFFISYNC_MODIFIEDSLIDETYPE" val="Theirs"/>
</p:tagLst>
</file>

<file path=ppt/tags/tag23.xml><?xml version="1.0" encoding="utf-8"?>
<p:tagLst xmlns:a="http://schemas.openxmlformats.org/drawingml/2006/main" xmlns:r="http://schemas.openxmlformats.org/officeDocument/2006/relationships" xmlns:p="http://schemas.openxmlformats.org/presentationml/2006/main">
  <p:tag name="OFFISYNC_SLIDE_GUID" val="c988d1c6-7c14-423f-b3e3-4dab2e94e05e"/>
  <p:tag name="OFFISYNC_MODIFIEDSLIDETYPE" val="My"/>
</p:tagLst>
</file>

<file path=ppt/tags/tag24.xml><?xml version="1.0" encoding="utf-8"?>
<p:tagLst xmlns:a="http://schemas.openxmlformats.org/drawingml/2006/main" xmlns:r="http://schemas.openxmlformats.org/officeDocument/2006/relationships" xmlns:p="http://schemas.openxmlformats.org/presentationml/2006/main">
  <p:tag name="OFFISYNC_SLIDE_GUID" val="ea2f7690-3148-4cf4-9827-d1fdcf4d9c25"/>
</p:tagLst>
</file>

<file path=ppt/tags/tag25.xml><?xml version="1.0" encoding="utf-8"?>
<p:tagLst xmlns:a="http://schemas.openxmlformats.org/drawingml/2006/main" xmlns:r="http://schemas.openxmlformats.org/officeDocument/2006/relationships" xmlns:p="http://schemas.openxmlformats.org/presentationml/2006/main">
  <p:tag name="OFFISYNC_SLIDE_GUID" val="f538e619-4292-4706-b553-04e99f2448d3"/>
</p:tagLst>
</file>

<file path=ppt/tags/tag26.xml><?xml version="1.0" encoding="utf-8"?>
<p:tagLst xmlns:a="http://schemas.openxmlformats.org/drawingml/2006/main" xmlns:r="http://schemas.openxmlformats.org/officeDocument/2006/relationships" xmlns:p="http://schemas.openxmlformats.org/presentationml/2006/main">
  <p:tag name="OFFISYNC_SLIDE_GUID" val="516eb8d1-2cd5-4fcf-953d-009a63ba1228"/>
</p:tagLst>
</file>

<file path=ppt/tags/tag27.xml><?xml version="1.0" encoding="utf-8"?>
<p:tagLst xmlns:a="http://schemas.openxmlformats.org/drawingml/2006/main" xmlns:r="http://schemas.openxmlformats.org/officeDocument/2006/relationships" xmlns:p="http://schemas.openxmlformats.org/presentationml/2006/main">
  <p:tag name="OFFISYNC_SLIDE_GUID" val="a3c2e299-ca25-4183-9baa-bd8fe18039e5"/>
</p:tagLst>
</file>

<file path=ppt/tags/tag28.xml><?xml version="1.0" encoding="utf-8"?>
<p:tagLst xmlns:a="http://schemas.openxmlformats.org/drawingml/2006/main" xmlns:r="http://schemas.openxmlformats.org/officeDocument/2006/relationships" xmlns:p="http://schemas.openxmlformats.org/presentationml/2006/main">
  <p:tag name="OFFISYNC_SLIDE_GUID" val="afa8308a-e8f1-4b60-b8a0-146e3af9da68"/>
</p:tagLst>
</file>

<file path=ppt/tags/tag29.xml><?xml version="1.0" encoding="utf-8"?>
<p:tagLst xmlns:a="http://schemas.openxmlformats.org/drawingml/2006/main" xmlns:r="http://schemas.openxmlformats.org/officeDocument/2006/relationships" xmlns:p="http://schemas.openxmlformats.org/presentationml/2006/main">
  <p:tag name="OFFISYNC_SLIDE_GUID" val="6e19c8e3-349f-494d-9c40-a449acdc83bf"/>
</p:tagLst>
</file>

<file path=ppt/tags/tag30.xml><?xml version="1.0" encoding="utf-8"?>
<p:tagLst xmlns:a="http://schemas.openxmlformats.org/drawingml/2006/main" xmlns:r="http://schemas.openxmlformats.org/officeDocument/2006/relationships" xmlns:p="http://schemas.openxmlformats.org/presentationml/2006/main">
  <p:tag name="OFFISYNC_SLIDE_GUID" val="0850d965-f608-482d-850c-1bf5df0e2c90"/>
</p:tagLst>
</file>

<file path=ppt/theme/theme1.xml><?xml version="1.0" encoding="utf-8"?>
<a:theme xmlns:a="http://schemas.openxmlformats.org/drawingml/2006/main" name="Blank">
  <a:themeElements>
    <a:clrScheme name="HDS Final">
      <a:dk1>
        <a:srgbClr val="414141"/>
      </a:dk1>
      <a:lt1>
        <a:sysClr val="window" lastClr="FFFFFF"/>
      </a:lt1>
      <a:dk2>
        <a:srgbClr val="00A499"/>
      </a:dk2>
      <a:lt2>
        <a:srgbClr val="999999"/>
      </a:lt2>
      <a:accent1>
        <a:srgbClr val="CC0000"/>
      </a:accent1>
      <a:accent2>
        <a:srgbClr val="CC0000"/>
      </a:accent2>
      <a:accent3>
        <a:srgbClr val="55951B"/>
      </a:accent3>
      <a:accent4>
        <a:srgbClr val="008EAA"/>
      </a:accent4>
      <a:accent5>
        <a:srgbClr val="FFC600"/>
      </a:accent5>
      <a:accent6>
        <a:srgbClr val="F78E1E"/>
      </a:accent6>
      <a:hlink>
        <a:srgbClr val="00C8DC"/>
      </a:hlink>
      <a:folHlink>
        <a:srgbClr val="008EAA"/>
      </a:folHlink>
    </a:clrScheme>
    <a:fontScheme name="HDS 201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dirty="0"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HDS 2011">
      <a:dk1>
        <a:sysClr val="windowText" lastClr="000000"/>
      </a:dk1>
      <a:lt1>
        <a:sysClr val="window" lastClr="FFFFFF"/>
      </a:lt1>
      <a:dk2>
        <a:srgbClr val="14AF9F"/>
      </a:dk2>
      <a:lt2>
        <a:srgbClr val="6D6E71"/>
      </a:lt2>
      <a:accent1>
        <a:srgbClr val="FD0014"/>
      </a:accent1>
      <a:accent2>
        <a:srgbClr val="C20014"/>
      </a:accent2>
      <a:accent3>
        <a:srgbClr val="009933"/>
      </a:accent3>
      <a:accent4>
        <a:srgbClr val="0073B2"/>
      </a:accent4>
      <a:accent5>
        <a:srgbClr val="DEB408"/>
      </a:accent5>
      <a:accent6>
        <a:srgbClr val="DC7400"/>
      </a:accent6>
      <a:hlink>
        <a:srgbClr val="FD0014"/>
      </a:hlink>
      <a:folHlink>
        <a:srgbClr val="C20014"/>
      </a:folHlink>
    </a:clrScheme>
    <a:fontScheme name="HDS 201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HDS 2011">
      <a:dk1>
        <a:sysClr val="windowText" lastClr="000000"/>
      </a:dk1>
      <a:lt1>
        <a:sysClr val="window" lastClr="FFFFFF"/>
      </a:lt1>
      <a:dk2>
        <a:srgbClr val="14AF9F"/>
      </a:dk2>
      <a:lt2>
        <a:srgbClr val="6D6E71"/>
      </a:lt2>
      <a:accent1>
        <a:srgbClr val="FD0014"/>
      </a:accent1>
      <a:accent2>
        <a:srgbClr val="C20014"/>
      </a:accent2>
      <a:accent3>
        <a:srgbClr val="009933"/>
      </a:accent3>
      <a:accent4>
        <a:srgbClr val="0073B2"/>
      </a:accent4>
      <a:accent5>
        <a:srgbClr val="DEB408"/>
      </a:accent5>
      <a:accent6>
        <a:srgbClr val="DC7400"/>
      </a:accent6>
      <a:hlink>
        <a:srgbClr val="FD0014"/>
      </a:hlink>
      <a:folHlink>
        <a:srgbClr val="C20014"/>
      </a:folHlink>
    </a:clrScheme>
    <a:fontScheme name="HDS 201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3180</Words>
  <Application>Microsoft Office PowerPoint</Application>
  <PresentationFormat>On-screen Show (16:9)</PresentationFormat>
  <Paragraphs>392</Paragraphs>
  <Slides>29</Slides>
  <Notes>11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Blank</vt:lpstr>
      <vt:lpstr>Best Practice for Using HDP with HNAS</vt:lpstr>
      <vt:lpstr>PowerPoint Presentation</vt:lpstr>
      <vt:lpstr>LUN PROVISIONING SYSTEM DRIVE GROUPS</vt:lpstr>
      <vt:lpstr>RG and LUN BEST PRACTICES  For NON HDP scenarios</vt:lpstr>
      <vt:lpstr>Storage POOLS and STRIPESETS</vt:lpstr>
      <vt:lpstr>STORAGE POOL BEST PRACTICES STRIPESIZE</vt:lpstr>
      <vt:lpstr>STORAGE POOL BEST PRACTICES CHUNK SIZE</vt:lpstr>
      <vt:lpstr>STORAGE POOL BEST PRACTICES  CHUNK SIZE (cont’d)</vt:lpstr>
      <vt:lpstr>EXPANDING A SPAN</vt:lpstr>
      <vt:lpstr>STORAGE POOL BEST PRACTICES EXPANDING A SPAN</vt:lpstr>
      <vt:lpstr>STORAGE POOL BEST PRACTICES EXPANDING A SPAN (cont’d)</vt:lpstr>
      <vt:lpstr>FILE SYSTEMS</vt:lpstr>
      <vt:lpstr>FILE SYSTEMS BEST PRACTICES   AUTO-EXPANSION, BLOCK SIZE, UTILIZATION</vt:lpstr>
      <vt:lpstr>FILE SYSTEMS BEST PRACTICES   AUTO-EXPANSION, BLOCK SIZE, UTILIZATION</vt:lpstr>
      <vt:lpstr>FILE SYSTEMS BEST PRACTICES (cont’d) AUTO-EXPANSION, BLOCK SIZE, UTILIZATION</vt:lpstr>
      <vt:lpstr>FILE SYSTEMS BEST PRACTICES (cont’d) Q DEPTH</vt:lpstr>
      <vt:lpstr>HNAS Storage – VIVOLS</vt:lpstr>
      <vt:lpstr>HDP SPECIFICS</vt:lpstr>
      <vt:lpstr>Hitachi DYNAMIC PROVISIONING MANDATORY GUIDELINES FOR HDP USAGE WITH HNAS</vt:lpstr>
      <vt:lpstr>HDP OVERPROVISIONING  not supported with HNAS</vt:lpstr>
      <vt:lpstr>LUN PROVISIONING – BEST PRACTICES SYSTEM DRIVE GROUPS</vt:lpstr>
      <vt:lpstr>LUN PROVISIONING – BEST PRACTICES SYSTEM DRIVE GROUPS</vt:lpstr>
      <vt:lpstr>LUN Provisioning – BEST PRACTICES DP VOL – RG RATIO </vt:lpstr>
      <vt:lpstr>STORAGE POOL BEST PRACTICES – HDP STRIPESIZE and POOL EXPANSION</vt:lpstr>
      <vt:lpstr>STORAGE POOL BEST PRACTICES – HDP (cont’d) STRIPESIZE and POOL EXPANSION</vt:lpstr>
      <vt:lpstr>HDP or NATIVE RG SHOULD I USE HDP OR NATIVE RG?</vt:lpstr>
      <vt:lpstr>FILE SYSTEMS BEST PRACTICES   AUTO-EXPANSION, BLOCK SIZE, UTILIZATION</vt:lpstr>
      <vt:lpstr>Questions  and Discussion</vt:lpstr>
      <vt:lpstr>Thank You</vt:lpstr>
    </vt:vector>
  </TitlesOfParts>
  <Manager>lee.abrahamson@hds.com</Manager>
  <Company>Hitachi Data Systems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HNAS Best Practice with HDP</dc:title>
  <dc:creator>nathan.king@hds.com;Francisco.Salinas@hds.com</dc:creator>
  <cp:lastModifiedBy>Hitachi Data Systems</cp:lastModifiedBy>
  <cp:revision>70</cp:revision>
  <dcterms:created xsi:type="dcterms:W3CDTF">2014-03-03T16:31:36Z</dcterms:created>
  <dcterms:modified xsi:type="dcterms:W3CDTF">2014-08-28T20:54:41Z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Offisync_IsFrozen" pid="2">
    <vt:lpwstr>False</vt:lpwstr>
  </property>
  <property fmtid="{D5CDD505-2E9C-101B-9397-08002B2CF9AE}" name="Offisync_UpdateToken" pid="3">
    <vt:lpwstr>5</vt:lpwstr>
  </property>
  <property fmtid="{D5CDD505-2E9C-101B-9397-08002B2CF9AE}" name="Offisync_UserID" pid="4">
    <vt:lpwstr>9063</vt:lpwstr>
  </property>
  <property fmtid="{D5CDD505-2E9C-101B-9397-08002B2CF9AE}" name="Offisync_FolderId" pid="5">
    <vt:lpwstr/>
  </property>
  <property fmtid="{D5CDD505-2E9C-101B-9397-08002B2CF9AE}" name="Offisync_Username" pid="6">
    <vt:lpwstr>ahagopian</vt:lpwstr>
  </property>
  <property fmtid="{D5CDD505-2E9C-101B-9397-08002B2CF9AE}" name="Offisync_ProviderInitializationData" pid="7">
    <vt:lpwstr>http://loop.hds.com</vt:lpwstr>
  </property>
  <property fmtid="{D5CDD505-2E9C-101B-9397-08002B2CF9AE}" name="Offisync_FileTitle" pid="8">
    <vt:lpwstr/>
  </property>
  <property fmtid="{D5CDD505-2E9C-101B-9397-08002B2CF9AE}" name="Offisync_ProviderName" pid="9">
    <vt:lpwstr/>
  </property>
  <property fmtid="{D5CDD505-2E9C-101B-9397-08002B2CF9AE}" name="Offisync_UniqueId" pid="10">
    <vt:lpwstr>51415</vt:lpwstr>
  </property>
  <property fmtid="{D5CDD505-2E9C-101B-9397-08002B2CF9AE}" name="Offisync_SaveTime" pid="11">
    <vt:lpwstr/>
  </property>
  <property fmtid="{D5CDD505-2E9C-101B-9397-08002B2CF9AE}" name="Offisync_IsSaved" pid="12">
    <vt:lpwstr/>
  </property>
  <property fmtid="{D5CDD505-2E9C-101B-9397-08002B2CF9AE}" name="Offisync_SavedByUsername" pid="13">
    <vt:lpwstr>ahagopian</vt:lpwstr>
  </property>
  <property fmtid="{D5CDD505-2E9C-101B-9397-08002B2CF9AE}" name="Offisync_BinaryId" pid="14">
    <vt:lpwstr/>
  </property>
  <property fmtid="{D5CDD505-2E9C-101B-9397-08002B2CF9AE}" name="Offisync_ServerID" pid="15">
    <vt:lpwstr>414d2b0d-dc8b-4dd7-afa1-96e003078543</vt:lpwstr>
  </property>
  <property fmtid="{D5CDD505-2E9C-101B-9397-08002B2CF9AE}" name="Jive_LatestUserAccountName" pid="16">
    <vt:lpwstr>oaltuntas</vt:lpwstr>
  </property>
  <property fmtid="{D5CDD505-2E9C-101B-9397-08002B2CF9AE}" name="Jive_VersionGuid" pid="17">
    <vt:lpwstr>c21e3400-f750-4169-9287-872e06529721</vt:lpwstr>
  </property>
</Properties>
</file>