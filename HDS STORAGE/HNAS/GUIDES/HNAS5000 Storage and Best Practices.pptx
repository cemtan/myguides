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tiff" ContentType="image/tif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tags/tag2.xml" ContentType="application/vnd.openxmlformats-officedocument.presentationml.tags+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tags/tag3.xml" ContentType="application/vnd.openxmlformats-officedocument.presentationml.tags+xml"/>
  <Override PartName="/ppt/notesSlides/notesSlide34.xml" ContentType="application/vnd.openxmlformats-officedocument.presentationml.notesSlide+xml"/>
  <Override PartName="/ppt/tags/tag4.xml" ContentType="application/vnd.openxmlformats-officedocument.presentationml.tags+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30" r:id="rId1"/>
  </p:sldMasterIdLst>
  <p:notesMasterIdLst>
    <p:notesMasterId r:id="rId63"/>
  </p:notesMasterIdLst>
  <p:handoutMasterIdLst>
    <p:handoutMasterId r:id="rId64"/>
  </p:handoutMasterIdLst>
  <p:sldIdLst>
    <p:sldId id="363" r:id="rId2"/>
    <p:sldId id="352" r:id="rId3"/>
    <p:sldId id="432" r:id="rId4"/>
    <p:sldId id="434" r:id="rId5"/>
    <p:sldId id="435" r:id="rId6"/>
    <p:sldId id="436" r:id="rId7"/>
    <p:sldId id="437" r:id="rId8"/>
    <p:sldId id="438" r:id="rId9"/>
    <p:sldId id="439" r:id="rId10"/>
    <p:sldId id="440" r:id="rId11"/>
    <p:sldId id="441" r:id="rId12"/>
    <p:sldId id="433" r:id="rId13"/>
    <p:sldId id="315" r:id="rId14"/>
    <p:sldId id="431" r:id="rId15"/>
    <p:sldId id="379" r:id="rId16"/>
    <p:sldId id="442" r:id="rId17"/>
    <p:sldId id="443" r:id="rId18"/>
    <p:sldId id="317" r:id="rId19"/>
    <p:sldId id="321" r:id="rId20"/>
    <p:sldId id="318" r:id="rId21"/>
    <p:sldId id="327" r:id="rId22"/>
    <p:sldId id="326" r:id="rId23"/>
    <p:sldId id="322" r:id="rId24"/>
    <p:sldId id="385" r:id="rId25"/>
    <p:sldId id="323" r:id="rId26"/>
    <p:sldId id="386" r:id="rId27"/>
    <p:sldId id="381" r:id="rId28"/>
    <p:sldId id="382" r:id="rId29"/>
    <p:sldId id="413" r:id="rId30"/>
    <p:sldId id="407" r:id="rId31"/>
    <p:sldId id="416" r:id="rId32"/>
    <p:sldId id="415" r:id="rId33"/>
    <p:sldId id="417" r:id="rId34"/>
    <p:sldId id="389" r:id="rId35"/>
    <p:sldId id="410" r:id="rId36"/>
    <p:sldId id="419" r:id="rId37"/>
    <p:sldId id="418" r:id="rId38"/>
    <p:sldId id="383" r:id="rId39"/>
    <p:sldId id="421" r:id="rId40"/>
    <p:sldId id="422" r:id="rId41"/>
    <p:sldId id="423" r:id="rId42"/>
    <p:sldId id="425" r:id="rId43"/>
    <p:sldId id="444" r:id="rId44"/>
    <p:sldId id="420" r:id="rId45"/>
    <p:sldId id="409" r:id="rId46"/>
    <p:sldId id="426" r:id="rId47"/>
    <p:sldId id="427" r:id="rId48"/>
    <p:sldId id="428" r:id="rId49"/>
    <p:sldId id="429" r:id="rId50"/>
    <p:sldId id="430" r:id="rId51"/>
    <p:sldId id="449" r:id="rId52"/>
    <p:sldId id="450" r:id="rId53"/>
    <p:sldId id="451" r:id="rId54"/>
    <p:sldId id="452" r:id="rId55"/>
    <p:sldId id="453" r:id="rId56"/>
    <p:sldId id="447" r:id="rId57"/>
    <p:sldId id="454" r:id="rId58"/>
    <p:sldId id="448" r:id="rId59"/>
    <p:sldId id="456" r:id="rId60"/>
    <p:sldId id="445" r:id="rId61"/>
    <p:sldId id="446" r:id="rId62"/>
  </p:sldIdLst>
  <p:sldSz cx="9144000" cy="5143500" type="screen16x9"/>
  <p:notesSz cx="6858000" cy="9144000"/>
  <p:custDataLst>
    <p:tags r:id="rId65"/>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240" userDrawn="1">
          <p15:clr>
            <a:srgbClr val="A4A3A4"/>
          </p15:clr>
        </p15:guide>
        <p15:guide id="2">
          <p15:clr>
            <a:srgbClr val="A4A3A4"/>
          </p15:clr>
        </p15:guide>
        <p15:guide id="3" pos="5760" userDrawn="1">
          <p15:clr>
            <a:srgbClr val="A4A3A4"/>
          </p15:clr>
        </p15:guide>
        <p15:guide id="4" orient="horz"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guide id="3" pos="173">
          <p15:clr>
            <a:srgbClr val="A4A3A4"/>
          </p15:clr>
        </p15:guide>
        <p15:guide id="4" pos="4148">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Kathleen Watson" initials="KW" lastIdx="1" clrIdx="0"/>
  <p:cmAuthor id="2" name="Kathleen Watson" initials="KW [2]" lastIdx="1" clrIdx="1"/>
  <p:cmAuthor id="3" name="Kathleen Watson" initials="KW [3]" lastIdx="1" clrIdx="2"/>
  <p:cmAuthor id="4" name="Kathleen Watson" initials="KW [4]" lastIdx="1" clrIdx="3"/>
  <p:cmAuthor id="5" name="Kathleen Watson" initials="KW [5]" lastIdx="1" clrIdx="4"/>
  <p:cmAuthor id="6" name="Kathleen Watson" initials="KW [6]" lastIdx="1" clrIdx="5"/>
  <p:cmAuthor id="7" name="Kathleen Watson" initials="KW [7]" lastIdx="1" clrIdx="6"/>
  <p:cmAuthor id="8" name="Kathleen Watson" initials="KW [8]" lastIdx="1" clrIdx="7"/>
  <p:cmAuthor id="9" name="Kathleen Watson" initials="KW [9]" lastIdx="1" clrIdx="8"/>
  <p:cmAuthor id="10" name="Kathleen Watson" initials="KW [10]" lastIdx="1" clrIdx="9"/>
  <p:cmAuthor id="11" name="Kathleen Watson" initials="KW [11]" lastIdx="1" clrIdx="10"/>
  <p:cmAuthor id="12" name="Kathleen Watson" initials="KW [12]" lastIdx="1" clrIdx="11"/>
  <p:cmAuthor id="13" name="Jeff San Miguel" initials="JSM" lastIdx="1" clrIdx="12"/>
  <p:cmAuthor id="14" name="Jeff San Miguel" initials="JSM [2]" lastIdx="1" clrIdx="13"/>
  <p:cmAuthor id="15" name="Jeff San Miguel" initials="JSM [3]" lastIdx="1" clrIdx="14"/>
  <p:cmAuthor id="16" name="Jeff San Miguel" initials="JSM [4]" lastIdx="1" clrIdx="15"/>
  <p:cmAuthor id="17" name="Jeff San Miguel" initials="JSM [5]" lastIdx="1" clrIdx="16"/>
  <p:cmAuthor id="18" name="Jeff San Miguel" initials="JSM [6]" lastIdx="1" clrIdx="17"/>
  <p:cmAuthor id="19" name="Jeff San Miguel" initials="JSM [7]" lastIdx="1" clrIdx="18"/>
  <p:cmAuthor id="20" name="Jeff San Miguel" initials="JSM [8]" lastIdx="1" clrIdx="19"/>
  <p:cmAuthor id="21" name="Jeff San Miguel" initials="JSM [9]" lastIdx="1" clrIdx="2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51C2C"/>
    <a:srgbClr val="072941"/>
    <a:srgbClr val="53E2DD"/>
    <a:srgbClr val="F2F1F1"/>
    <a:srgbClr val="E8E8E7"/>
    <a:srgbClr val="271E1C"/>
    <a:srgbClr val="0E1628"/>
    <a:srgbClr val="000000"/>
    <a:srgbClr val="135295"/>
    <a:srgbClr val="032F46"/>
  </p:clrMru>
  <p:extLst>
    <p:ext uri="{E76CE94A-603C-4142-B9EB-6D1370010A27}">
      <p14:discardImageEditData xmlns:p14="http://schemas.microsoft.com/office/powerpoint/2010/main" val="1"/>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9675BCF-87A2-4E97-93B4-CCAE0C0D956F}" v="3" dt="2021-05-24T19:23:26.85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18603FDC-E32A-4AB5-989C-0864C3EAD2B8}" styleName="Themed Style 2 - Accent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aximized">
    <p:restoredLeft sz="12539" autoAdjust="0"/>
    <p:restoredTop sz="67685" autoAdjust="0"/>
  </p:normalViewPr>
  <p:slideViewPr>
    <p:cSldViewPr snapToGrid="0" snapToObjects="1" showGuides="1">
      <p:cViewPr varScale="1">
        <p:scale>
          <a:sx n="102" d="100"/>
          <a:sy n="102" d="100"/>
        </p:scale>
        <p:origin x="1482" y="72"/>
      </p:cViewPr>
      <p:guideLst>
        <p:guide orient="horz" pos="3240"/>
        <p:guide/>
        <p:guide pos="5760"/>
        <p:guide orient="horz"/>
      </p:guideLst>
    </p:cSldViewPr>
  </p:slideViewPr>
  <p:outlineViewPr>
    <p:cViewPr>
      <p:scale>
        <a:sx n="33" d="100"/>
        <a:sy n="33" d="100"/>
      </p:scale>
      <p:origin x="0" y="-2608"/>
    </p:cViewPr>
  </p:outlineViewPr>
  <p:notesTextViewPr>
    <p:cViewPr>
      <p:scale>
        <a:sx n="1" d="1"/>
        <a:sy n="1" d="1"/>
      </p:scale>
      <p:origin x="0" y="0"/>
    </p:cViewPr>
  </p:notesTextViewPr>
  <p:sorterViewPr>
    <p:cViewPr>
      <p:scale>
        <a:sx n="200" d="100"/>
        <a:sy n="200" d="100"/>
      </p:scale>
      <p:origin x="0" y="0"/>
    </p:cViewPr>
  </p:sorterViewPr>
  <p:notesViewPr>
    <p:cSldViewPr snapToGrid="0" snapToObjects="1">
      <p:cViewPr varScale="1">
        <p:scale>
          <a:sx n="153" d="100"/>
          <a:sy n="153" d="100"/>
        </p:scale>
        <p:origin x="5880" y="176"/>
      </p:cViewPr>
      <p:guideLst>
        <p:guide orient="horz" pos="2880"/>
        <p:guide pos="2160"/>
        <p:guide pos="173"/>
        <p:guide pos="4148"/>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notesMaster" Target="notesMasters/notesMaster1.xml"/><Relationship Id="rId6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commentAuthors" Target="commentAuthors.xml"/><Relationship Id="rId74" Type="http://schemas.openxmlformats.org/officeDocument/2006/relationships/customXml" Target="../customXml/item2.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handoutMaster" Target="handoutMasters/handoutMaster1.xml"/><Relationship Id="rId69"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microsoft.com/office/2015/10/relationships/revisionInfo" Target="revisionInfo.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ableStyles" Target="tableStyles.xml"/><Relationship Id="rId75" Type="http://schemas.openxmlformats.org/officeDocument/2006/relationships/customXml" Target="../customXml/item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ags" Target="tags/tag1.xml"/><Relationship Id="rId73" Type="http://schemas.openxmlformats.org/officeDocument/2006/relationships/customXml" Target="../customXml/item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athan King" userId="653205e7-435b-4377-9e3b-447660626ba8" providerId="ADAL" clId="{29675BCF-87A2-4E97-93B4-CCAE0C0D956F}"/>
    <pc:docChg chg="addSld delSld modSld sldOrd">
      <pc:chgData name="Nathan King" userId="653205e7-435b-4377-9e3b-447660626ba8" providerId="ADAL" clId="{29675BCF-87A2-4E97-93B4-CCAE0C0D956F}" dt="2021-05-24T19:43:37.779" v="83" actId="1076"/>
      <pc:docMkLst>
        <pc:docMk/>
      </pc:docMkLst>
      <pc:sldChg chg="addSp modSp mod">
        <pc:chgData name="Nathan King" userId="653205e7-435b-4377-9e3b-447660626ba8" providerId="ADAL" clId="{29675BCF-87A2-4E97-93B4-CCAE0C0D956F}" dt="2021-05-24T19:24:40.057" v="81" actId="1076"/>
        <pc:sldMkLst>
          <pc:docMk/>
          <pc:sldMk cId="244739995" sldId="436"/>
        </pc:sldMkLst>
        <pc:spChg chg="add mod">
          <ac:chgData name="Nathan King" userId="653205e7-435b-4377-9e3b-447660626ba8" providerId="ADAL" clId="{29675BCF-87A2-4E97-93B4-CCAE0C0D956F}" dt="2021-05-24T19:24:40.057" v="81" actId="1076"/>
          <ac:spMkLst>
            <pc:docMk/>
            <pc:sldMk cId="244739995" sldId="436"/>
            <ac:spMk id="2" creationId="{595C3594-7C7F-4610-B2D4-DABE50AC06B3}"/>
          </ac:spMkLst>
        </pc:spChg>
      </pc:sldChg>
      <pc:sldChg chg="modSp mod">
        <pc:chgData name="Nathan King" userId="653205e7-435b-4377-9e3b-447660626ba8" providerId="ADAL" clId="{29675BCF-87A2-4E97-93B4-CCAE0C0D956F}" dt="2021-05-24T19:43:37.779" v="83" actId="1076"/>
        <pc:sldMkLst>
          <pc:docMk/>
          <pc:sldMk cId="2378282993" sldId="438"/>
        </pc:sldMkLst>
        <pc:spChg chg="mod">
          <ac:chgData name="Nathan King" userId="653205e7-435b-4377-9e3b-447660626ba8" providerId="ADAL" clId="{29675BCF-87A2-4E97-93B4-CCAE0C0D956F}" dt="2021-05-24T19:43:37.779" v="83" actId="1076"/>
          <ac:spMkLst>
            <pc:docMk/>
            <pc:sldMk cId="2378282993" sldId="438"/>
            <ac:spMk id="5" creationId="{AA86D48E-89F1-0540-A9AD-8ADE600BBADD}"/>
          </ac:spMkLst>
        </pc:spChg>
      </pc:sldChg>
      <pc:sldChg chg="ord">
        <pc:chgData name="Nathan King" userId="653205e7-435b-4377-9e3b-447660626ba8" providerId="ADAL" clId="{29675BCF-87A2-4E97-93B4-CCAE0C0D956F}" dt="2021-05-24T19:19:55.357" v="2"/>
        <pc:sldMkLst>
          <pc:docMk/>
          <pc:sldMk cId="3647710458" sldId="448"/>
        </pc:sldMkLst>
      </pc:sldChg>
      <pc:sldChg chg="add">
        <pc:chgData name="Nathan King" userId="653205e7-435b-4377-9e3b-447660626ba8" providerId="ADAL" clId="{29675BCF-87A2-4E97-93B4-CCAE0C0D956F}" dt="2021-05-24T19:19:12.199" v="0"/>
        <pc:sldMkLst>
          <pc:docMk/>
          <pc:sldMk cId="2399113279" sldId="454"/>
        </pc:sldMkLst>
      </pc:sldChg>
      <pc:sldChg chg="add del">
        <pc:chgData name="Nathan King" userId="653205e7-435b-4377-9e3b-447660626ba8" providerId="ADAL" clId="{29675BCF-87A2-4E97-93B4-CCAE0C0D956F}" dt="2021-05-24T19:20:53.446" v="3" actId="47"/>
        <pc:sldMkLst>
          <pc:docMk/>
          <pc:sldMk cId="452323995" sldId="455"/>
        </pc:sldMkLst>
      </pc:sldChg>
      <pc:sldChg chg="add">
        <pc:chgData name="Nathan King" userId="653205e7-435b-4377-9e3b-447660626ba8" providerId="ADAL" clId="{29675BCF-87A2-4E97-93B4-CCAE0C0D956F}" dt="2021-05-24T19:19:12.199" v="0"/>
        <pc:sldMkLst>
          <pc:docMk/>
          <pc:sldMk cId="3732813809" sldId="456"/>
        </pc:sldMkLst>
      </pc:sldChg>
    </pc:docChg>
  </pc:docChgLst>
  <pc:docChgLst>
    <pc:chgData name="Nathan King" userId="653205e7-435b-4377-9e3b-447660626ba8" providerId="ADAL" clId="{1ADA7C75-A22D-4C0E-A218-B5F4AB8B8A5F}"/>
    <pc:docChg chg="custSel modSld">
      <pc:chgData name="Nathan King" userId="653205e7-435b-4377-9e3b-447660626ba8" providerId="ADAL" clId="{1ADA7C75-A22D-4C0E-A218-B5F4AB8B8A5F}" dt="2021-03-22T14:51:52.690" v="4997" actId="20577"/>
      <pc:docMkLst>
        <pc:docMk/>
      </pc:docMkLst>
      <pc:sldChg chg="modNotesTx">
        <pc:chgData name="Nathan King" userId="653205e7-435b-4377-9e3b-447660626ba8" providerId="ADAL" clId="{1ADA7C75-A22D-4C0E-A218-B5F4AB8B8A5F}" dt="2021-03-22T02:41:25.478" v="1380" actId="20577"/>
        <pc:sldMkLst>
          <pc:docMk/>
          <pc:sldMk cId="411890300" sldId="409"/>
        </pc:sldMkLst>
      </pc:sldChg>
      <pc:sldChg chg="modNotesTx">
        <pc:chgData name="Nathan King" userId="653205e7-435b-4377-9e3b-447660626ba8" providerId="ADAL" clId="{1ADA7C75-A22D-4C0E-A218-B5F4AB8B8A5F}" dt="2021-03-22T02:49:40.255" v="3475" actId="20577"/>
        <pc:sldMkLst>
          <pc:docMk/>
          <pc:sldMk cId="4002683267" sldId="426"/>
        </pc:sldMkLst>
      </pc:sldChg>
      <pc:sldChg chg="modNotesTx">
        <pc:chgData name="Nathan King" userId="653205e7-435b-4377-9e3b-447660626ba8" providerId="ADAL" clId="{1ADA7C75-A22D-4C0E-A218-B5F4AB8B8A5F}" dt="2021-03-22T02:53:54.110" v="4279" actId="20577"/>
        <pc:sldMkLst>
          <pc:docMk/>
          <pc:sldMk cId="804471229" sldId="427"/>
        </pc:sldMkLst>
      </pc:sldChg>
      <pc:sldChg chg="modNotesTx">
        <pc:chgData name="Nathan King" userId="653205e7-435b-4377-9e3b-447660626ba8" providerId="ADAL" clId="{1ADA7C75-A22D-4C0E-A218-B5F4AB8B8A5F}" dt="2021-03-22T02:54:54.617" v="4463" actId="20577"/>
        <pc:sldMkLst>
          <pc:docMk/>
          <pc:sldMk cId="1984178375" sldId="428"/>
        </pc:sldMkLst>
      </pc:sldChg>
      <pc:sldChg chg="modNotesTx">
        <pc:chgData name="Nathan King" userId="653205e7-435b-4377-9e3b-447660626ba8" providerId="ADAL" clId="{1ADA7C75-A22D-4C0E-A218-B5F4AB8B8A5F}" dt="2021-03-22T14:51:52.690" v="4997" actId="20577"/>
        <pc:sldMkLst>
          <pc:docMk/>
          <pc:sldMk cId="1289518412" sldId="429"/>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08B3F974-BB90-4059-9901-8147A3A63439}" type="datetimeFigureOut">
              <a:rPr lang="en-US" smtClean="0"/>
              <a:pPr/>
              <a:t>5/24/2021</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BC55FBB6-509D-433A-BC0A-FC2E7C728BAD}" type="slidenum">
              <a:rPr lang="en-US" smtClean="0"/>
              <a:pPr/>
              <a:t>‹#›</a:t>
            </a:fld>
            <a:endParaRPr lang="en-US" dirty="0"/>
          </a:p>
        </p:txBody>
      </p:sp>
    </p:spTree>
    <p:extLst>
      <p:ext uri="{BB962C8B-B14F-4D97-AF65-F5344CB8AC3E}">
        <p14:creationId xmlns:p14="http://schemas.microsoft.com/office/powerpoint/2010/main" val="3973380650"/>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584200" y="849313"/>
            <a:ext cx="5689600" cy="32004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155010" y="4236396"/>
            <a:ext cx="6414557" cy="4114800"/>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699262549"/>
      </p:ext>
    </p:extLst>
  </p:cSld>
  <p:clrMap bg1="lt1" tx1="dk1" bg2="lt2" tx2="dk2" accent1="accent1" accent2="accent2" accent3="accent3" accent4="accent4" accent5="accent5" accent6="accent6" hlink="hlink" folHlink="folHlink"/>
  <p:hf hdr="0" ftr="0" dt="0"/>
  <p:notesStyle>
    <a:lvl1pPr marL="171450" indent="-171450" algn="l" defTabSz="914400" rtl="0" eaLnBrk="1" latinLnBrk="0" hangingPunct="1">
      <a:lnSpc>
        <a:spcPct val="95000"/>
      </a:lnSpc>
      <a:spcBef>
        <a:spcPts val="800"/>
      </a:spcBef>
      <a:spcAft>
        <a:spcPts val="600"/>
      </a:spcAft>
      <a:buClr>
        <a:schemeClr val="accent2"/>
      </a:buClr>
      <a:buFont typeface="Wingdings" pitchFamily="2" charset="2"/>
      <a:buChar char="§"/>
      <a:defRPr sz="1400" kern="1200">
        <a:solidFill>
          <a:schemeClr val="tx1"/>
        </a:solidFill>
        <a:latin typeface="+mn-lt"/>
        <a:ea typeface="+mn-ea"/>
        <a:cs typeface="+mn-cs"/>
      </a:defRPr>
    </a:lvl1pPr>
    <a:lvl2pPr marL="339725" indent="-165100" algn="l" defTabSz="914400" rtl="0" eaLnBrk="1" latinLnBrk="0" hangingPunct="1">
      <a:lnSpc>
        <a:spcPct val="85000"/>
      </a:lnSpc>
      <a:spcBef>
        <a:spcPts val="0"/>
      </a:spcBef>
      <a:spcAft>
        <a:spcPts val="400"/>
      </a:spcAft>
      <a:buClr>
        <a:schemeClr val="tx1">
          <a:lumMod val="85000"/>
          <a:lumOff val="15000"/>
        </a:schemeClr>
      </a:buClr>
      <a:buFont typeface="HelveticaNeueLT Std" pitchFamily="34" charset="0"/>
      <a:buChar char="‐"/>
      <a:defRPr sz="1200" kern="1200">
        <a:solidFill>
          <a:schemeClr val="tx1"/>
        </a:solidFill>
        <a:latin typeface="+mn-lt"/>
        <a:ea typeface="+mn-ea"/>
        <a:cs typeface="+mn-cs"/>
      </a:defRPr>
    </a:lvl2pPr>
    <a:lvl3pPr marL="457200" indent="-117475" algn="l" defTabSz="914400" rtl="0" eaLnBrk="1" latinLnBrk="0" hangingPunct="1">
      <a:lnSpc>
        <a:spcPct val="85000"/>
      </a:lnSpc>
      <a:spcBef>
        <a:spcPts val="0"/>
      </a:spcBef>
      <a:spcAft>
        <a:spcPts val="400"/>
      </a:spcAft>
      <a:buClr>
        <a:schemeClr val="tx1">
          <a:lumMod val="85000"/>
          <a:lumOff val="15000"/>
        </a:schemeClr>
      </a:buClr>
      <a:buFont typeface="HelveticaNeueLT Std" pitchFamily="34" charset="0"/>
      <a:buChar char="‐"/>
      <a:defRPr sz="1200" kern="1200">
        <a:solidFill>
          <a:schemeClr val="tx1"/>
        </a:solidFill>
        <a:latin typeface="+mn-lt"/>
        <a:ea typeface="+mn-ea"/>
        <a:cs typeface="+mn-cs"/>
      </a:defRPr>
    </a:lvl3pPr>
    <a:lvl4pPr marL="574675" indent="-117475" algn="l" defTabSz="914400" rtl="0" eaLnBrk="1" latinLnBrk="0" hangingPunct="1">
      <a:lnSpc>
        <a:spcPct val="85000"/>
      </a:lnSpc>
      <a:spcBef>
        <a:spcPts val="0"/>
      </a:spcBef>
      <a:spcAft>
        <a:spcPts val="400"/>
      </a:spcAft>
      <a:buClr>
        <a:schemeClr val="tx1">
          <a:lumMod val="85000"/>
          <a:lumOff val="15000"/>
        </a:schemeClr>
      </a:buClr>
      <a:buFont typeface="HelveticaNeueLT Std" pitchFamily="34" charset="0"/>
      <a:buChar char="‐"/>
      <a:defRPr sz="1200" kern="1200">
        <a:solidFill>
          <a:schemeClr val="tx1"/>
        </a:solidFill>
        <a:latin typeface="+mn-lt"/>
        <a:ea typeface="+mn-ea"/>
        <a:cs typeface="+mn-cs"/>
      </a:defRPr>
    </a:lvl4pPr>
    <a:lvl5pPr marL="739775" indent="-165100" algn="l" defTabSz="914400" rtl="0" eaLnBrk="1" latinLnBrk="0" hangingPunct="1">
      <a:lnSpc>
        <a:spcPct val="85000"/>
      </a:lnSpc>
      <a:spcBef>
        <a:spcPts val="0"/>
      </a:spcBef>
      <a:spcAft>
        <a:spcPts val="400"/>
      </a:spcAft>
      <a:buClr>
        <a:schemeClr val="tx1">
          <a:lumMod val="85000"/>
          <a:lumOff val="15000"/>
        </a:schemeClr>
      </a:buClr>
      <a:buFont typeface="HelveticaNeueLT Std" pitchFamily="34" charset="0"/>
      <a:buChar char="‐"/>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0096744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3"/>
          <p:cNvSpPr>
            <a:spLocks noGrp="1" noChangeArrowheads="1"/>
          </p:cNvSpPr>
          <p:nvPr>
            <p:ph type="dt" sz="quarter" idx="1"/>
          </p:nvPr>
        </p:nvSpPr>
        <p:spPr>
          <a:xfrm>
            <a:off x="3884852" y="0"/>
            <a:ext cx="2971593" cy="457200"/>
          </a:xfrm>
          <a:prstGeom prst="rect">
            <a:avLst/>
          </a:prstGeom>
        </p:spPr>
        <p:txBody>
          <a:bodyPr lIns="89940" tIns="44970" rIns="89940" bIns="44970"/>
          <a:lstStyle/>
          <a:p>
            <a:pPr>
              <a:defRPr/>
            </a:pPr>
            <a:fld id="{91D7FFD9-4DAB-4CB2-9968-D6A971F9EEDA}" type="datetime1">
              <a:rPr lang="en-US" smtClean="0">
                <a:latin typeface="Arial" pitchFamily="34" charset="0"/>
              </a:rPr>
              <a:pPr>
                <a:defRPr/>
              </a:pPr>
              <a:t>5/24/2021</a:t>
            </a:fld>
            <a:endParaRPr lang="en-US">
              <a:latin typeface="Arial" pitchFamily="34" charset="0"/>
            </a:endParaRPr>
          </a:p>
        </p:txBody>
      </p:sp>
      <p:sp>
        <p:nvSpPr>
          <p:cNvPr id="68611" name="Rectangle 7"/>
          <p:cNvSpPr>
            <a:spLocks noGrp="1" noChangeArrowheads="1"/>
          </p:cNvSpPr>
          <p:nvPr>
            <p:ph type="sldNum" sz="quarter" idx="5"/>
          </p:nvPr>
        </p:nvSpPr>
        <p:spPr>
          <a:xfrm>
            <a:off x="3884852" y="8685235"/>
            <a:ext cx="2971593" cy="457200"/>
          </a:xfrm>
          <a:prstGeom prst="rect">
            <a:avLst/>
          </a:prstGeom>
        </p:spPr>
        <p:txBody>
          <a:bodyPr lIns="89940" tIns="44970" rIns="89940" bIns="44970"/>
          <a:lstStyle/>
          <a:p>
            <a:pPr>
              <a:defRPr/>
            </a:pPr>
            <a:fld id="{4DCA0915-09A9-4641-809C-57C90B10F35C}" type="slidenum">
              <a:rPr lang="en-US" smtClean="0">
                <a:latin typeface="Arial" pitchFamily="34" charset="0"/>
              </a:rPr>
              <a:pPr>
                <a:defRPr/>
              </a:pPr>
              <a:t>2</a:t>
            </a:fld>
            <a:endParaRPr lang="en-US">
              <a:latin typeface="Arial" pitchFamily="34" charset="0"/>
            </a:endParaRPr>
          </a:p>
        </p:txBody>
      </p:sp>
      <p:sp>
        <p:nvSpPr>
          <p:cNvPr id="68612" name="Rectangle 2"/>
          <p:cNvSpPr>
            <a:spLocks noGrp="1" noRot="1" noChangeAspect="1" noChangeArrowheads="1" noTextEdit="1"/>
          </p:cNvSpPr>
          <p:nvPr>
            <p:ph type="sldImg"/>
          </p:nvPr>
        </p:nvSpPr>
        <p:spPr>
          <a:xfrm>
            <a:off x="382588" y="685800"/>
            <a:ext cx="6096000" cy="3429000"/>
          </a:xfrm>
          <a:ln/>
        </p:spPr>
      </p:sp>
      <p:sp>
        <p:nvSpPr>
          <p:cNvPr id="68613" name="Rectangle 3"/>
          <p:cNvSpPr>
            <a:spLocks noGrp="1" noChangeArrowheads="1"/>
          </p:cNvSpPr>
          <p:nvPr>
            <p:ph type="body" idx="1"/>
          </p:nvPr>
        </p:nvSpPr>
        <p:spPr>
          <a:xfrm>
            <a:off x="686112" y="4343400"/>
            <a:ext cx="5485778" cy="4114800"/>
          </a:xfrm>
          <a:noFill/>
          <a:ln/>
        </p:spPr>
        <p:txBody>
          <a:bodyPr/>
          <a:lstStyle/>
          <a:p>
            <a:pPr eaLnBrk="1" hangingPunct="1"/>
            <a:r>
              <a:rPr lang="en-US" dirty="0">
                <a:latin typeface="Arial" pitchFamily="34" charset="0"/>
              </a:rPr>
              <a:t>Today we will be discussing Hitachi NAS Storage</a:t>
            </a:r>
            <a:r>
              <a:rPr lang="en-US" baseline="0" dirty="0">
                <a:latin typeface="Arial" pitchFamily="34" charset="0"/>
              </a:rPr>
              <a:t> Architecture and Best Practices</a:t>
            </a:r>
          </a:p>
          <a:p>
            <a:pPr eaLnBrk="1" hangingPunct="1"/>
            <a:endParaRPr lang="en-US" baseline="0" dirty="0">
              <a:latin typeface="Arial" pitchFamily="34" charset="0"/>
            </a:endParaRPr>
          </a:p>
          <a:p>
            <a:pPr eaLnBrk="1" hangingPunct="1"/>
            <a:r>
              <a:rPr lang="en-US" baseline="0" dirty="0">
                <a:latin typeface="Arial" pitchFamily="34" charset="0"/>
              </a:rPr>
              <a:t>The Hitachi NAS 5000 Solution is a NAS Gateway solution that is built on top of Hitachi world class VSP Block Storage, in particular Hitachi’s Wide Striping Thin Provisioning Layer known as HDP Hitachi Dynamic Provisioning.</a:t>
            </a:r>
          </a:p>
          <a:p>
            <a:pPr eaLnBrk="1" hangingPunct="1"/>
            <a:endParaRPr lang="en-US" baseline="0" dirty="0">
              <a:latin typeface="Arial" pitchFamily="34" charset="0"/>
            </a:endParaRPr>
          </a:p>
          <a:p>
            <a:pPr eaLnBrk="1" hangingPunct="1"/>
            <a:r>
              <a:rPr lang="en-US" baseline="0" dirty="0">
                <a:latin typeface="Arial" pitchFamily="34" charset="0"/>
              </a:rPr>
              <a:t>On to of that layer are Hitachi NAS Spans or Pools that serve as an aggregation layer on top of which the NAS File Systems are created. Within the File Systems are Virtual Volumes, which serve as a storage/security partition within the file system upon which Shares, Export are created. </a:t>
            </a:r>
          </a:p>
          <a:p>
            <a:pPr eaLnBrk="1" hangingPunct="1"/>
            <a:endParaRPr lang="en-US" baseline="0" dirty="0">
              <a:latin typeface="Arial" pitchFamily="34" charset="0"/>
            </a:endParaRPr>
          </a:p>
          <a:p>
            <a:pPr eaLnBrk="1" hangingPunct="1"/>
            <a:r>
              <a:rPr lang="en-US" baseline="0" dirty="0">
                <a:latin typeface="Arial" pitchFamily="34" charset="0"/>
              </a:rPr>
              <a:t>The File Systems are mounted by Virtual Servers. Virtual Servers reside on the Physical Nodes of the Cluster, up to 64 Virtual Servers may reside on a cluster of up to 8 nodes. This provides an architecture which allows capacity and performance to scale up and scale-out. </a:t>
            </a:r>
            <a:endParaRPr lang="en-US" dirty="0">
              <a:latin typeface="Arial" pitchFamily="34" charset="0"/>
            </a:endParaRPr>
          </a:p>
        </p:txBody>
      </p:sp>
    </p:spTree>
    <p:extLst>
      <p:ext uri="{BB962C8B-B14F-4D97-AF65-F5344CB8AC3E}">
        <p14:creationId xmlns:p14="http://schemas.microsoft.com/office/powerpoint/2010/main" val="4290919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examine the Physical FC Layer</a:t>
            </a:r>
          </a:p>
        </p:txBody>
      </p:sp>
    </p:spTree>
    <p:extLst>
      <p:ext uri="{BB962C8B-B14F-4D97-AF65-F5344CB8AC3E}">
        <p14:creationId xmlns:p14="http://schemas.microsoft.com/office/powerpoint/2010/main" val="38421162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dirty="0"/>
              <a:t>Each</a:t>
            </a:r>
            <a:r>
              <a:rPr lang="en-US" baseline="0" dirty="0"/>
              <a:t> Hitachi NAS Server node has 4 integrated </a:t>
            </a:r>
            <a:r>
              <a:rPr lang="en-US" baseline="0" dirty="0" err="1"/>
              <a:t>Fibre</a:t>
            </a:r>
            <a:r>
              <a:rPr lang="en-US" baseline="0" dirty="0"/>
              <a:t> Channel ports to attach to Hitachi Block Storage</a:t>
            </a:r>
          </a:p>
          <a:p>
            <a:pPr marL="0" indent="0">
              <a:buNone/>
            </a:pPr>
            <a:endParaRPr lang="en-US" baseline="0" dirty="0"/>
          </a:p>
          <a:p>
            <a:pPr marL="0" indent="0">
              <a:buNone/>
            </a:pPr>
            <a:r>
              <a:rPr lang="en-US" baseline="0" dirty="0"/>
              <a:t>The Hitachi NAS Supports N port only – both Fabric and Direct Attach.</a:t>
            </a:r>
          </a:p>
          <a:p>
            <a:pPr marL="0" indent="0">
              <a:buNone/>
            </a:pPr>
            <a:endParaRPr lang="en-US" baseline="0" dirty="0"/>
          </a:p>
          <a:p>
            <a:pPr marL="0" indent="0">
              <a:buNone/>
            </a:pPr>
            <a:r>
              <a:rPr lang="en-US" baseline="0" dirty="0"/>
              <a:t>The ports are numbered Right to Left 1,2,3,4</a:t>
            </a:r>
          </a:p>
          <a:p>
            <a:pPr marL="0" indent="0">
              <a:buNone/>
            </a:pPr>
            <a:endParaRPr lang="en-US" baseline="0" dirty="0"/>
          </a:p>
          <a:p>
            <a:pPr marL="0" indent="0">
              <a:buNone/>
            </a:pPr>
            <a:r>
              <a:rPr lang="en-US" baseline="0" dirty="0"/>
              <a:t>A few CLI commands that are useful when working with the FC layer</a:t>
            </a:r>
          </a:p>
          <a:p>
            <a:pPr marL="0" indent="0">
              <a:buNone/>
            </a:pPr>
            <a:endParaRPr lang="en-US" baseline="0" dirty="0"/>
          </a:p>
          <a:p>
            <a:pPr marL="0" indent="0">
              <a:buNone/>
            </a:pPr>
            <a:r>
              <a:rPr lang="en-US" baseline="0" dirty="0"/>
              <a:t>Fc-fabric is a useful CLI tool that shows the WW node name of the </a:t>
            </a:r>
            <a:r>
              <a:rPr lang="en-US" baseline="0" dirty="0" err="1"/>
              <a:t>Fibre</a:t>
            </a:r>
            <a:r>
              <a:rPr lang="en-US" baseline="0" dirty="0"/>
              <a:t> Channel fabric the server is connected to</a:t>
            </a:r>
          </a:p>
          <a:p>
            <a:pPr marL="0" indent="0">
              <a:buNone/>
            </a:pPr>
            <a:endParaRPr lang="en-US" baseline="0" dirty="0"/>
          </a:p>
          <a:p>
            <a:pPr marL="0" indent="0">
              <a:buNone/>
            </a:pPr>
            <a:r>
              <a:rPr lang="en-US" baseline="0" dirty="0"/>
              <a:t>Fc-link this command is used to enable or disable a </a:t>
            </a:r>
            <a:r>
              <a:rPr lang="en-US" baseline="0" dirty="0" err="1"/>
              <a:t>Fibre</a:t>
            </a:r>
            <a:r>
              <a:rPr lang="en-US" baseline="0" dirty="0"/>
              <a:t> Channel interface on the server. The settings apply to all nodes in a cluster.</a:t>
            </a:r>
          </a:p>
          <a:p>
            <a:pPr marL="0" indent="0">
              <a:buNone/>
            </a:pPr>
            <a:endParaRPr lang="en-US" dirty="0"/>
          </a:p>
          <a:p>
            <a:pPr marL="0" indent="0">
              <a:buNone/>
            </a:pPr>
            <a:r>
              <a:rPr lang="en-US" dirty="0"/>
              <a:t>Fc-ports - d</a:t>
            </a:r>
            <a:r>
              <a:rPr lang="en-US" sz="1400" b="0" i="0" kern="1200" dirty="0">
                <a:solidFill>
                  <a:schemeClr val="tx1"/>
                </a:solidFill>
                <a:effectLst/>
                <a:latin typeface="+mn-lt"/>
                <a:ea typeface="+mn-ea"/>
                <a:cs typeface="+mn-cs"/>
              </a:rPr>
              <a:t>isplays summary or verbose information about all the FC remote ports discovered by the server. </a:t>
            </a:r>
          </a:p>
          <a:p>
            <a:pPr marL="0" indent="0">
              <a:buNone/>
            </a:pPr>
            <a:endParaRPr lang="en-US" sz="1400" b="0" i="0" kern="1200" dirty="0">
              <a:solidFill>
                <a:schemeClr val="tx1"/>
              </a:solidFill>
              <a:effectLst/>
              <a:latin typeface="+mn-lt"/>
              <a:ea typeface="+mn-ea"/>
              <a:cs typeface="+mn-cs"/>
            </a:endParaRPr>
          </a:p>
          <a:p>
            <a:pPr marL="0" indent="0">
              <a:buNone/>
            </a:pPr>
            <a:r>
              <a:rPr lang="en-US" sz="1400" b="0" i="0" kern="1200" dirty="0">
                <a:solidFill>
                  <a:schemeClr val="tx1"/>
                </a:solidFill>
                <a:effectLst/>
                <a:latin typeface="+mn-lt"/>
                <a:ea typeface="+mn-ea"/>
                <a:cs typeface="+mn-cs"/>
              </a:rPr>
              <a:t>Fc-nodes - List the WW node name of each </a:t>
            </a:r>
            <a:r>
              <a:rPr lang="en-US" sz="1400" b="0" i="0" kern="1200" dirty="0" err="1">
                <a:solidFill>
                  <a:schemeClr val="tx1"/>
                </a:solidFill>
                <a:effectLst/>
                <a:latin typeface="+mn-lt"/>
                <a:ea typeface="+mn-ea"/>
                <a:cs typeface="+mn-cs"/>
              </a:rPr>
              <a:t>fibre</a:t>
            </a:r>
            <a:r>
              <a:rPr lang="en-US" sz="1400" b="0" i="0" kern="1200" dirty="0">
                <a:solidFill>
                  <a:schemeClr val="tx1"/>
                </a:solidFill>
                <a:effectLst/>
                <a:latin typeface="+mn-lt"/>
                <a:ea typeface="+mn-ea"/>
                <a:cs typeface="+mn-cs"/>
              </a:rPr>
              <a:t> channel target node that the server has discovered</a:t>
            </a:r>
          </a:p>
          <a:p>
            <a:pPr marL="0" indent="0">
              <a:buNone/>
            </a:pPr>
            <a:endParaRPr lang="en-US" sz="1400" b="0" i="0" kern="1200" dirty="0">
              <a:solidFill>
                <a:schemeClr val="tx1"/>
              </a:solidFill>
              <a:effectLst/>
              <a:latin typeface="+mn-lt"/>
              <a:ea typeface="+mn-ea"/>
              <a:cs typeface="+mn-cs"/>
            </a:endParaRPr>
          </a:p>
          <a:p>
            <a:pPr marL="0" indent="0">
              <a:buNone/>
            </a:pPr>
            <a:r>
              <a:rPr lang="en-US" sz="1400" b="0" i="0" kern="1200" dirty="0">
                <a:solidFill>
                  <a:schemeClr val="tx1"/>
                </a:solidFill>
                <a:effectLst/>
                <a:latin typeface="+mn-lt"/>
                <a:ea typeface="+mn-ea"/>
                <a:cs typeface="+mn-cs"/>
              </a:rPr>
              <a:t>Fc-</a:t>
            </a:r>
            <a:r>
              <a:rPr lang="en-US" sz="1400" b="0" i="0" kern="1200" dirty="0" err="1">
                <a:solidFill>
                  <a:schemeClr val="tx1"/>
                </a:solidFill>
                <a:effectLst/>
                <a:latin typeface="+mn-lt"/>
                <a:ea typeface="+mn-ea"/>
                <a:cs typeface="+mn-cs"/>
              </a:rPr>
              <a:t>hports</a:t>
            </a:r>
            <a:r>
              <a:rPr lang="en-US" sz="1400" b="0" i="0" kern="1200" dirty="0">
                <a:solidFill>
                  <a:schemeClr val="tx1"/>
                </a:solidFill>
                <a:effectLst/>
                <a:latin typeface="+mn-lt"/>
                <a:ea typeface="+mn-ea"/>
                <a:cs typeface="+mn-cs"/>
              </a:rPr>
              <a:t> - Display information about all server host ports</a:t>
            </a:r>
            <a:endParaRPr lang="en-US" dirty="0"/>
          </a:p>
        </p:txBody>
      </p:sp>
    </p:spTree>
    <p:extLst>
      <p:ext uri="{BB962C8B-B14F-4D97-AF65-F5344CB8AC3E}">
        <p14:creationId xmlns:p14="http://schemas.microsoft.com/office/powerpoint/2010/main" val="33749637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terms</a:t>
            </a:r>
            <a:r>
              <a:rPr lang="en-US" baseline="0" dirty="0"/>
              <a:t> of wiring the NAS System to the Storage</a:t>
            </a:r>
          </a:p>
          <a:p>
            <a:endParaRPr lang="en-US" baseline="0" dirty="0"/>
          </a:p>
          <a:p>
            <a:r>
              <a:rPr lang="en-US" baseline="0" dirty="0"/>
              <a:t>Direct attach and Fabric attach are both supported, although when direct attached a max of 2 storage subsystem are supported. Clusters with more than 2 nodes require a switched back-end also. </a:t>
            </a:r>
          </a:p>
          <a:p>
            <a:endParaRPr lang="en-US" baseline="0" dirty="0"/>
          </a:p>
          <a:p>
            <a:r>
              <a:rPr lang="en-US" sz="1400" b="0" i="0" u="none" strike="noStrike" kern="1200" baseline="0" dirty="0">
                <a:solidFill>
                  <a:schemeClr val="tx1"/>
                </a:solidFill>
                <a:latin typeface="+mn-lt"/>
                <a:ea typeface="+mn-ea"/>
                <a:cs typeface="+mn-cs"/>
              </a:rPr>
              <a:t>To correctly failover between nodes, the HNAS system must see the same view of the storage from both nodes. </a:t>
            </a:r>
          </a:p>
          <a:p>
            <a:endParaRPr lang="en-US" baseline="0" dirty="0"/>
          </a:p>
          <a:p>
            <a:r>
              <a:rPr lang="en-US" baseline="0" dirty="0"/>
              <a:t>When fabric attached, each nodes should be wired such that each node views the same target ports – the view of the storage system should be consistent across all cluster nodes</a:t>
            </a:r>
          </a:p>
          <a:p>
            <a:endParaRPr lang="en-US" baseline="0" dirty="0"/>
          </a:p>
          <a:p>
            <a:r>
              <a:rPr lang="en-US" baseline="0" dirty="0"/>
              <a:t>It is generally best to limit SD paths to 16 – 2 HNAS </a:t>
            </a:r>
            <a:r>
              <a:rPr lang="en-US" baseline="0" dirty="0" err="1"/>
              <a:t>hports</a:t>
            </a:r>
            <a:r>
              <a:rPr lang="en-US" baseline="0" dirty="0"/>
              <a:t> per switch x 2 switches, 4 target ports per switch</a:t>
            </a:r>
          </a:p>
          <a:p>
            <a:endParaRPr lang="en-US" baseline="0" dirty="0"/>
          </a:p>
          <a:p>
            <a:r>
              <a:rPr lang="en-US" sz="1400" b="0" i="0" u="none" strike="noStrike" kern="1200" baseline="0" dirty="0">
                <a:solidFill>
                  <a:schemeClr val="tx1"/>
                </a:solidFill>
                <a:latin typeface="+mn-lt"/>
                <a:ea typeface="+mn-ea"/>
                <a:cs typeface="+mn-cs"/>
              </a:rPr>
              <a:t>It is not necessary to create multiple host storage domains for each HNAS </a:t>
            </a:r>
            <a:r>
              <a:rPr lang="en-US" sz="1400" b="0" i="0" u="none" strike="noStrike" kern="1200" baseline="0" dirty="0" err="1">
                <a:solidFill>
                  <a:schemeClr val="tx1"/>
                </a:solidFill>
                <a:latin typeface="+mn-lt"/>
                <a:ea typeface="+mn-ea"/>
                <a:cs typeface="+mn-cs"/>
              </a:rPr>
              <a:t>hport</a:t>
            </a:r>
            <a:r>
              <a:rPr lang="en-US" sz="1400" b="0" i="0" u="none" strike="noStrike" kern="1200" baseline="0" dirty="0">
                <a:solidFill>
                  <a:schemeClr val="tx1"/>
                </a:solidFill>
                <a:latin typeface="+mn-lt"/>
                <a:ea typeface="+mn-ea"/>
                <a:cs typeface="+mn-cs"/>
              </a:rPr>
              <a:t> on a specific VSP FC port. A single host storage domain is sufficient. Use the standard default host mode.</a:t>
            </a:r>
          </a:p>
          <a:p>
            <a:endParaRPr lang="en-US" sz="1400" b="0" i="0" u="none" strike="noStrike" kern="1200" baseline="0" dirty="0">
              <a:solidFill>
                <a:schemeClr val="tx1"/>
              </a:solidFill>
              <a:latin typeface="+mn-lt"/>
              <a:ea typeface="+mn-ea"/>
              <a:cs typeface="+mn-cs"/>
            </a:endParaRPr>
          </a:p>
          <a:p>
            <a:r>
              <a:rPr lang="en-US" sz="1400" b="0" i="0" u="none" strike="noStrike" kern="1200" baseline="0" dirty="0">
                <a:solidFill>
                  <a:schemeClr val="tx1"/>
                </a:solidFill>
                <a:latin typeface="+mn-lt"/>
                <a:ea typeface="+mn-ea"/>
                <a:cs typeface="+mn-cs"/>
              </a:rPr>
              <a:t>The storage ports used by HNAS should be dedicated to it and not shared with other block hosts</a:t>
            </a:r>
            <a:endParaRPr lang="en-US" baseline="0" dirty="0"/>
          </a:p>
        </p:txBody>
      </p:sp>
    </p:spTree>
    <p:extLst>
      <p:ext uri="{BB962C8B-B14F-4D97-AF65-F5344CB8AC3E}">
        <p14:creationId xmlns:p14="http://schemas.microsoft.com/office/powerpoint/2010/main" val="408133054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looking at the Switch Attach,</a:t>
            </a:r>
            <a:r>
              <a:rPr lang="en-US" baseline="0" dirty="0"/>
              <a:t> the zoning should be single initiator zoning. </a:t>
            </a:r>
          </a:p>
          <a:p>
            <a:endParaRPr lang="en-US" baseline="0" dirty="0"/>
          </a:p>
          <a:p>
            <a:r>
              <a:rPr lang="en-US" baseline="0" dirty="0"/>
              <a:t>This is an older diagram that show the port numbers left to right. HNAS5000 actually has 1,2,3,4 right to left. </a:t>
            </a:r>
          </a:p>
          <a:p>
            <a:endParaRPr lang="en-US" baseline="0" dirty="0"/>
          </a:p>
          <a:p>
            <a:r>
              <a:rPr lang="en-US" baseline="0" dirty="0"/>
              <a:t>All LUNs available through all ports</a:t>
            </a:r>
          </a:p>
          <a:p>
            <a:endParaRPr lang="en-US" baseline="0" dirty="0"/>
          </a:p>
          <a:p>
            <a:r>
              <a:rPr lang="en-US" baseline="0" dirty="0"/>
              <a:t>Node 1 Port 1 1A, 1B,2A,2B</a:t>
            </a:r>
          </a:p>
          <a:p>
            <a:r>
              <a:rPr lang="en-US" baseline="0" dirty="0"/>
              <a:t>Node 1 Port 2 1A, 1B,2A,2B</a:t>
            </a:r>
          </a:p>
          <a:p>
            <a:r>
              <a:rPr lang="en-US" baseline="0" dirty="0"/>
              <a:t>Node 1 Port 3 3A,3B,4A,4B</a:t>
            </a:r>
          </a:p>
          <a:p>
            <a:r>
              <a:rPr lang="en-US" baseline="0" dirty="0"/>
              <a:t>Node 1 Port 4 3A,3B,4A,4B</a:t>
            </a:r>
          </a:p>
          <a:p>
            <a:endParaRPr lang="en-US" baseline="0" dirty="0"/>
          </a:p>
          <a:p>
            <a:r>
              <a:rPr lang="en-US" baseline="0" dirty="0"/>
              <a:t>Node 2 Port 1 1A,1B,2A,2B</a:t>
            </a:r>
          </a:p>
          <a:p>
            <a:r>
              <a:rPr lang="en-US" baseline="0" dirty="0"/>
              <a:t>Node 2 Port 2 1A,1B,2A,2B</a:t>
            </a:r>
          </a:p>
          <a:p>
            <a:r>
              <a:rPr lang="en-US" baseline="0" dirty="0"/>
              <a:t>Node 2 Port 3 3A,3B,4A,4B</a:t>
            </a:r>
          </a:p>
          <a:p>
            <a:r>
              <a:rPr lang="en-US" baseline="0" dirty="0"/>
              <a:t>Node 2 Port 4 3A,3B,4A,4B</a:t>
            </a:r>
          </a:p>
          <a:p>
            <a:endParaRPr lang="en-US" baseline="0" dirty="0"/>
          </a:p>
          <a:p>
            <a:endParaRPr lang="en-US" dirty="0"/>
          </a:p>
        </p:txBody>
      </p:sp>
    </p:spTree>
    <p:extLst>
      <p:ext uri="{BB962C8B-B14F-4D97-AF65-F5344CB8AC3E}">
        <p14:creationId xmlns:p14="http://schemas.microsoft.com/office/powerpoint/2010/main" val="86441894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 system is wired</a:t>
            </a:r>
            <a:r>
              <a:rPr lang="en-US" baseline="0" dirty="0"/>
              <a:t> correctly, t</a:t>
            </a:r>
            <a:r>
              <a:rPr lang="en-US" dirty="0"/>
              <a:t>he Hitachi</a:t>
            </a:r>
            <a:r>
              <a:rPr lang="en-US" baseline="0" dirty="0"/>
              <a:t> NAS server should automatically balance LUNs across Host Ports and Target ports to provide an even load balance across controllers. This insure that sufficient queue depth is provided for the number of LUNs presented via each storage port. </a:t>
            </a:r>
          </a:p>
          <a:p>
            <a:endParaRPr lang="en-US" baseline="0" dirty="0"/>
          </a:p>
          <a:p>
            <a:r>
              <a:rPr lang="en-US" baseline="0" dirty="0"/>
              <a:t>You can check on the host port and storage port balancing, by running the command fc-host-port-load and fc-target-port-load </a:t>
            </a:r>
          </a:p>
          <a:p>
            <a:endParaRPr lang="en-US" baseline="0" dirty="0"/>
          </a:p>
          <a:p>
            <a:r>
              <a:rPr lang="en-US" baseline="0" dirty="0"/>
              <a:t>If necessary you can set a preferred path using </a:t>
            </a:r>
            <a:r>
              <a:rPr lang="en-US" baseline="0" dirty="0" err="1"/>
              <a:t>sdpath</a:t>
            </a:r>
            <a:r>
              <a:rPr lang="en-US" baseline="0" dirty="0"/>
              <a:t> command, although this shouldn’t be necessary</a:t>
            </a:r>
          </a:p>
          <a:p>
            <a:endParaRPr lang="en-US" baseline="0" dirty="0"/>
          </a:p>
          <a:p>
            <a:r>
              <a:rPr lang="en-US" baseline="0" dirty="0"/>
              <a:t>Note that the load balancing first attempts to balance LUN across storage controller target ports, then across storage controllers, then across host ports. </a:t>
            </a:r>
          </a:p>
          <a:p>
            <a:endParaRPr lang="en-US" baseline="0" dirty="0"/>
          </a:p>
          <a:p>
            <a:r>
              <a:rPr lang="en-US" baseline="0" dirty="0"/>
              <a:t>Avoid presenting LUNs to the server if they are not used, so that the server doesn’t factor these LUNs into the balancer. </a:t>
            </a:r>
            <a:endParaRPr lang="en-US" dirty="0"/>
          </a:p>
        </p:txBody>
      </p:sp>
    </p:spTree>
    <p:extLst>
      <p:ext uri="{BB962C8B-B14F-4D97-AF65-F5344CB8AC3E}">
        <p14:creationId xmlns:p14="http://schemas.microsoft.com/office/powerpoint/2010/main" val="16808788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Ideally, you should see a balance</a:t>
            </a:r>
            <a:r>
              <a:rPr lang="en-US" baseline="0" dirty="0"/>
              <a:t> of LUNs across host ports and target ports</a:t>
            </a:r>
            <a:endParaRPr lang="en-US" dirty="0"/>
          </a:p>
        </p:txBody>
      </p:sp>
    </p:spTree>
    <p:extLst>
      <p:ext uri="{BB962C8B-B14F-4D97-AF65-F5344CB8AC3E}">
        <p14:creationId xmlns:p14="http://schemas.microsoft.com/office/powerpoint/2010/main" val="41905096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HNAS5000</a:t>
            </a:r>
            <a:r>
              <a:rPr lang="en-US" baseline="0" dirty="0"/>
              <a:t> supports all Hitachi Storage</a:t>
            </a:r>
          </a:p>
          <a:p>
            <a:r>
              <a:rPr lang="en-US" baseline="0" dirty="0"/>
              <a:t>You cannot directly attach 3</a:t>
            </a:r>
            <a:r>
              <a:rPr lang="en-US" baseline="30000" dirty="0"/>
              <a:t>rd</a:t>
            </a:r>
            <a:r>
              <a:rPr lang="en-US" baseline="0" dirty="0"/>
              <a:t> party storage to an HNAS, but you can attach 3</a:t>
            </a:r>
            <a:r>
              <a:rPr lang="en-US" baseline="30000" dirty="0"/>
              <a:t>rd</a:t>
            </a:r>
            <a:r>
              <a:rPr lang="en-US" baseline="0" dirty="0"/>
              <a:t> party storage that is virtualized by HUVM (It has to be supported by HUVM)</a:t>
            </a:r>
          </a:p>
          <a:p>
            <a:r>
              <a:rPr lang="en-US" baseline="0" dirty="0"/>
              <a:t>Use the standard default host mode for HNAS. A single host storage domain for all HNAS host ports is </a:t>
            </a:r>
            <a:r>
              <a:rPr lang="en-US" baseline="0" dirty="0" err="1"/>
              <a:t>sufficicent</a:t>
            </a:r>
            <a:endParaRPr lang="en-US" baseline="0" dirty="0"/>
          </a:p>
          <a:p>
            <a:endParaRPr lang="en-US" baseline="0" dirty="0"/>
          </a:p>
          <a:p>
            <a:r>
              <a:rPr lang="en-US" baseline="0" dirty="0"/>
              <a:t>Hitachi NAS requires HMO7 and 68 Host Mode Option on Enterprise Storage. HMO7 provides an automatic notification of changes to storage. HMO68 is required for HDP Integration to operate correctly so that HNAS can perform </a:t>
            </a:r>
            <a:r>
              <a:rPr lang="en-US" baseline="0" dirty="0" err="1"/>
              <a:t>unmapping</a:t>
            </a:r>
            <a:r>
              <a:rPr lang="en-US" baseline="0" dirty="0"/>
              <a:t> functions. </a:t>
            </a:r>
          </a:p>
          <a:p>
            <a:endParaRPr lang="en-US" baseline="0" dirty="0"/>
          </a:p>
          <a:p>
            <a:r>
              <a:rPr lang="en-US" baseline="0" dirty="0"/>
              <a:t>When using HNAS5000 in a stretched cluster with GAD, HMO78 should be set on the host group of the ports used by the “remote” system. This insures that HNAS uses local paths over remote paths.</a:t>
            </a:r>
            <a:endParaRPr lang="en-US" dirty="0"/>
          </a:p>
        </p:txBody>
      </p:sp>
    </p:spTree>
    <p:extLst>
      <p:ext uri="{BB962C8B-B14F-4D97-AF65-F5344CB8AC3E}">
        <p14:creationId xmlns:p14="http://schemas.microsoft.com/office/powerpoint/2010/main" val="257210640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strongly recommend</a:t>
            </a:r>
            <a:r>
              <a:rPr lang="en-US" baseline="0" dirty="0"/>
              <a:t> the use of THINLY provisioned HDP Pools with HNAS</a:t>
            </a:r>
          </a:p>
          <a:p>
            <a:endParaRPr lang="en-US" baseline="0" dirty="0"/>
          </a:p>
          <a:p>
            <a:r>
              <a:rPr lang="en-US" baseline="0" dirty="0"/>
              <a:t>HDP in particular allows performance to scale linearly as capacity is added. </a:t>
            </a:r>
          </a:p>
          <a:p>
            <a:r>
              <a:rPr lang="en-US" baseline="0" dirty="0"/>
              <a:t>It supports larger LUN size (up to 64TB)</a:t>
            </a:r>
          </a:p>
          <a:p>
            <a:r>
              <a:rPr lang="en-US" baseline="0" dirty="0"/>
              <a:t>If Thinly provisioned, the pool can be grown incrementally by adding pool volumes to the HDP Pool without having to run span-expand. </a:t>
            </a:r>
          </a:p>
          <a:p>
            <a:endParaRPr lang="en-US" baseline="0" dirty="0"/>
          </a:p>
          <a:p>
            <a:r>
              <a:rPr lang="en-US" baseline="0" dirty="0"/>
              <a:t>HNAS is “Thin friendly”, file system creation and expansion are safe – because they check for space before creation/expansion operations.</a:t>
            </a:r>
            <a:endParaRPr lang="en-US" dirty="0"/>
          </a:p>
        </p:txBody>
      </p:sp>
    </p:spTree>
    <p:extLst>
      <p:ext uri="{BB962C8B-B14F-4D97-AF65-F5344CB8AC3E}">
        <p14:creationId xmlns:p14="http://schemas.microsoft.com/office/powerpoint/2010/main" val="536336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look</a:t>
            </a:r>
            <a:r>
              <a:rPr lang="en-US" baseline="0" dirty="0"/>
              <a:t> now at the NAS Storage Pool Layer</a:t>
            </a:r>
            <a:endParaRPr lang="en-US" dirty="0"/>
          </a:p>
        </p:txBody>
      </p:sp>
    </p:spTree>
    <p:extLst>
      <p:ext uri="{BB962C8B-B14F-4D97-AF65-F5344CB8AC3E}">
        <p14:creationId xmlns:p14="http://schemas.microsoft.com/office/powerpoint/2010/main" val="291958128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HNAS Storage Pool</a:t>
            </a:r>
            <a:r>
              <a:rPr lang="en-US" baseline="0" dirty="0"/>
              <a:t> is composed of multiple system drives – as few as four and as many as thirty two</a:t>
            </a:r>
          </a:p>
          <a:p>
            <a:endParaRPr lang="en-US" baseline="0" dirty="0"/>
          </a:p>
          <a:p>
            <a:r>
              <a:rPr lang="en-US" baseline="0" dirty="0"/>
              <a:t>Each System drive is a LUN (DP Volume)</a:t>
            </a:r>
          </a:p>
          <a:p>
            <a:endParaRPr lang="en-US" baseline="0" dirty="0"/>
          </a:p>
          <a:p>
            <a:r>
              <a:rPr lang="en-US" baseline="0" dirty="0"/>
              <a:t>You can expand an existing Span, but you can’t shrink one.</a:t>
            </a:r>
          </a:p>
          <a:p>
            <a:endParaRPr lang="en-US" baseline="0" dirty="0"/>
          </a:p>
          <a:p>
            <a:r>
              <a:rPr lang="en-US" baseline="0" dirty="0"/>
              <a:t>Spans are made up of logical units known as “Chunks”. Chunks are units of capacity assigned by the Span to file systems. </a:t>
            </a:r>
          </a:p>
          <a:p>
            <a:r>
              <a:rPr lang="en-US" baseline="0" dirty="0"/>
              <a:t>The chunk size is defined at span-creation – it could be as little as 1GB and as large as 18GB.</a:t>
            </a:r>
          </a:p>
          <a:p>
            <a:pPr marL="171450" marR="0" indent="-171450" algn="l" defTabSz="914400" rtl="0" eaLnBrk="1" fontAlgn="auto" latinLnBrk="0" hangingPunct="1">
              <a:lnSpc>
                <a:spcPct val="95000"/>
              </a:lnSpc>
              <a:spcBef>
                <a:spcPts val="800"/>
              </a:spcBef>
              <a:spcAft>
                <a:spcPts val="600"/>
              </a:spcAft>
              <a:buClr>
                <a:schemeClr val="accent2"/>
              </a:buClr>
              <a:buSzTx/>
              <a:buFont typeface="Wingdings" pitchFamily="2" charset="2"/>
              <a:buChar char="§"/>
              <a:tabLst/>
              <a:defRPr/>
            </a:pPr>
            <a:r>
              <a:rPr lang="en-US" baseline="0" dirty="0"/>
              <a:t>A span or file system can have to up 60,000 chunks.</a:t>
            </a:r>
            <a:endParaRPr lang="en-US" dirty="0"/>
          </a:p>
          <a:p>
            <a:endParaRPr lang="en-US" baseline="0" dirty="0"/>
          </a:p>
          <a:p>
            <a:endParaRPr lang="en-US" baseline="0" dirty="0"/>
          </a:p>
          <a:p>
            <a:r>
              <a:rPr lang="en-US" baseline="0" dirty="0"/>
              <a:t>When a file system is created or expanded, the HNAS will allocated one or more chunks. </a:t>
            </a:r>
          </a:p>
          <a:p>
            <a:endParaRPr lang="en-US" baseline="0" dirty="0"/>
          </a:p>
        </p:txBody>
      </p:sp>
    </p:spTree>
    <p:extLst>
      <p:ext uri="{BB962C8B-B14F-4D97-AF65-F5344CB8AC3E}">
        <p14:creationId xmlns:p14="http://schemas.microsoft.com/office/powerpoint/2010/main" val="61523073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a Storage Pool/Span is created,</a:t>
            </a:r>
            <a:r>
              <a:rPr lang="en-US" baseline="0" dirty="0"/>
              <a:t> the system creates an initial/first stripe set</a:t>
            </a:r>
          </a:p>
          <a:p>
            <a:endParaRPr lang="en-US" baseline="0" dirty="0"/>
          </a:p>
          <a:p>
            <a:r>
              <a:rPr lang="en-US" baseline="0" dirty="0"/>
              <a:t>If you ever expand the span, then another stripe set is created and added to that span. </a:t>
            </a:r>
          </a:p>
          <a:p>
            <a:endParaRPr lang="en-US" baseline="0" dirty="0"/>
          </a:p>
          <a:p>
            <a:r>
              <a:rPr lang="en-US" baseline="0" dirty="0"/>
              <a:t>The chunks can reside on one strip set. The server uses a mechanism called DWB to balance writes across stripe sets. The HNAS will write to every stripe-set on which the file systems has free space, but if a span has &gt;1 stripe set, it will prefer writing to the stripe set where there is more free space. </a:t>
            </a:r>
          </a:p>
          <a:p>
            <a:endParaRPr lang="en-US" baseline="0" dirty="0"/>
          </a:p>
          <a:p>
            <a:r>
              <a:rPr lang="en-US" baseline="0" dirty="0"/>
              <a:t>This could mean that when a new stripe set is added to an existing pool that is almost full, that most writes will </a:t>
            </a:r>
            <a:r>
              <a:rPr lang="en-US" baseline="0" dirty="0" err="1"/>
              <a:t>goto</a:t>
            </a:r>
            <a:r>
              <a:rPr lang="en-US" baseline="0" dirty="0"/>
              <a:t> the new stripe set and prefer those underlying LUNs/SD.</a:t>
            </a:r>
          </a:p>
          <a:p>
            <a:endParaRPr lang="en-US" baseline="0" dirty="0"/>
          </a:p>
          <a:p>
            <a:r>
              <a:rPr lang="en-US" baseline="0" dirty="0"/>
              <a:t>However if the span is based on HDP, HDPs will insure that all writes are spread across all pages (PGs within the pool), so a dispersal of IO across all spindles still occurs</a:t>
            </a:r>
          </a:p>
          <a:p>
            <a:r>
              <a:rPr lang="en-US" baseline="0" dirty="0"/>
              <a:t>Internally it may look like certain SDs are being preferred and indeed more queue operations will occur to those SDs. </a:t>
            </a:r>
          </a:p>
          <a:p>
            <a:endParaRPr lang="en-US" baseline="0" dirty="0"/>
          </a:p>
          <a:p>
            <a:endParaRPr lang="en-US" baseline="0" dirty="0"/>
          </a:p>
          <a:p>
            <a:endParaRPr lang="en-US" dirty="0"/>
          </a:p>
        </p:txBody>
      </p:sp>
    </p:spTree>
    <p:extLst>
      <p:ext uri="{BB962C8B-B14F-4D97-AF65-F5344CB8AC3E}">
        <p14:creationId xmlns:p14="http://schemas.microsoft.com/office/powerpoint/2010/main" val="91466744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span-chunk allocator</a:t>
            </a:r>
            <a:r>
              <a:rPr lang="en-US" baseline="0" dirty="0"/>
              <a:t> is an internal algorithm that manages the expansion of file systems across multiple stripe set</a:t>
            </a:r>
          </a:p>
          <a:p>
            <a:endParaRPr lang="en-US" baseline="0" dirty="0"/>
          </a:p>
          <a:p>
            <a:r>
              <a:rPr lang="en-US" baseline="0" dirty="0"/>
              <a:t>Historically, spans and file systems were limited to 1,023 chunks. In 11.2 an enhancement was delivered, that expanded this to 60,000 working around some VLSI limitations.</a:t>
            </a:r>
          </a:p>
          <a:p>
            <a:endParaRPr lang="en-US" baseline="0" dirty="0"/>
          </a:p>
          <a:p>
            <a:r>
              <a:rPr lang="en-US" baseline="0" dirty="0"/>
              <a:t>VLSI continues to operate internally with a table entry limit of 1,024, but rather than mapping that directly to chunks, these now becomes “runs” – a run can consists of one or more chunks.</a:t>
            </a:r>
          </a:p>
          <a:p>
            <a:endParaRPr lang="en-US" baseline="0" dirty="0"/>
          </a:p>
          <a:p>
            <a:r>
              <a:rPr lang="en-US" baseline="0" dirty="0"/>
              <a:t>The span-chunk-allocator works with this enhancements to try to allocate consecutive chunks to maximize runs, while still providing flexibility and achieve 60,000 chunks per file systems</a:t>
            </a:r>
          </a:p>
          <a:p>
            <a:endParaRPr lang="en-US" baseline="0" dirty="0"/>
          </a:p>
          <a:p>
            <a:r>
              <a:rPr lang="en-US" dirty="0"/>
              <a:t>It tries to balance the load evenly across all the span's stripesets so that, if all filesystems are evenly loaded, all storage will be equally loaded.</a:t>
            </a:r>
          </a:p>
          <a:p>
            <a:endParaRPr lang="en-US" dirty="0"/>
          </a:p>
          <a:p>
            <a:r>
              <a:rPr lang="en-US" dirty="0"/>
              <a:t>It tries to spread each filesystem evenly across all available stripesets, so that, if only one or two of a span's filesystems are heavily loaded, all storage will still be evenly loaded.</a:t>
            </a:r>
          </a:p>
          <a:p>
            <a:endParaRPr lang="en-US" dirty="0"/>
          </a:p>
          <a:p>
            <a:r>
              <a:rPr lang="en-US" dirty="0"/>
              <a:t>It tries to ensure that new chunk allocations are drawn from as many stripesets as possible. Newly allocated chunks usually receive more write operations than other chunks.</a:t>
            </a:r>
          </a:p>
        </p:txBody>
      </p:sp>
    </p:spTree>
    <p:extLst>
      <p:ext uri="{BB962C8B-B14F-4D97-AF65-F5344CB8AC3E}">
        <p14:creationId xmlns:p14="http://schemas.microsoft.com/office/powerpoint/2010/main" val="62127452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Tiered File System (TFS) is a feature of Spans.</a:t>
            </a:r>
            <a:r>
              <a:rPr lang="en-US" baseline="0" dirty="0"/>
              <a:t> It allows file systems built on top of those spans to separate data from metadata into separate DP volumes (storage devices)</a:t>
            </a:r>
          </a:p>
          <a:p>
            <a:endParaRPr lang="en-US" baseline="0" dirty="0"/>
          </a:p>
          <a:p>
            <a:r>
              <a:rPr lang="en-US" baseline="0" dirty="0"/>
              <a:t>Metadata is typically a much smaller portion of the data (less than 10% of the overall capacity). </a:t>
            </a:r>
          </a:p>
          <a:p>
            <a:endParaRPr lang="en-US" baseline="0" dirty="0"/>
          </a:p>
          <a:p>
            <a:r>
              <a:rPr lang="en-US" baseline="0" dirty="0"/>
              <a:t>A TFS based span will typically use SSD DP Volumes to store metadata, while using SAS or NL-SAS DP Volumes to store data.</a:t>
            </a:r>
          </a:p>
          <a:p>
            <a:endParaRPr lang="en-US" baseline="0" dirty="0"/>
          </a:p>
          <a:p>
            <a:r>
              <a:rPr lang="en-US" baseline="0" dirty="0"/>
              <a:t>Both tiers require at least 4 SDs – usually from separate HDP Pools, although they can be from the same HDT Pool where the SDs used for Tier0 are “pinned” into the Flash layer of the HDT pool. </a:t>
            </a:r>
            <a:endParaRPr lang="en-US" dirty="0"/>
          </a:p>
        </p:txBody>
      </p:sp>
    </p:spTree>
    <p:extLst>
      <p:ext uri="{BB962C8B-B14F-4D97-AF65-F5344CB8AC3E}">
        <p14:creationId xmlns:p14="http://schemas.microsoft.com/office/powerpoint/2010/main" val="286939932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Once a Tiered Pool</a:t>
            </a:r>
            <a:r>
              <a:rPr lang="en-US" baseline="0" dirty="0"/>
              <a:t> is created all file system on that pool inherit metadata </a:t>
            </a:r>
            <a:r>
              <a:rPr lang="en-US" baseline="0" dirty="0" err="1"/>
              <a:t>tiering</a:t>
            </a:r>
            <a:endParaRPr lang="en-US" baseline="0" dirty="0"/>
          </a:p>
          <a:p>
            <a:endParaRPr lang="en-US" baseline="0" dirty="0"/>
          </a:p>
          <a:p>
            <a:r>
              <a:rPr lang="en-US" baseline="0" dirty="0"/>
              <a:t>It is possible to turn a </a:t>
            </a:r>
            <a:r>
              <a:rPr lang="en-US" baseline="0" dirty="0" err="1"/>
              <a:t>nonTFS</a:t>
            </a:r>
            <a:r>
              <a:rPr lang="en-US" baseline="0" dirty="0"/>
              <a:t> pool into TFS, but not the other way around.</a:t>
            </a:r>
          </a:p>
          <a:p>
            <a:endParaRPr lang="en-US" baseline="0" dirty="0"/>
          </a:p>
          <a:p>
            <a:r>
              <a:rPr lang="en-US" baseline="0" dirty="0"/>
              <a:t>Tier 0 and Tier 1 can be expanded independently and often are. </a:t>
            </a:r>
          </a:p>
          <a:p>
            <a:endParaRPr lang="en-US" baseline="0" dirty="0"/>
          </a:p>
          <a:p>
            <a:r>
              <a:rPr lang="en-US" baseline="0" dirty="0"/>
              <a:t>If Tier 0 exhausts, then metadata overflows into Tier1, although this will impact performance. If this occurs, the system will not allow more file system to be created on the pool until more capacity is added to Tier 0</a:t>
            </a:r>
          </a:p>
          <a:p>
            <a:endParaRPr lang="en-US" baseline="0" dirty="0"/>
          </a:p>
          <a:p>
            <a:r>
              <a:rPr lang="en-US" baseline="0" dirty="0"/>
              <a:t>The amount of metadata capacity require depends on file system density which is driven a lot by average file size. </a:t>
            </a:r>
          </a:p>
          <a:p>
            <a:endParaRPr lang="en-US" baseline="0" dirty="0"/>
          </a:p>
          <a:p>
            <a:r>
              <a:rPr lang="en-US" baseline="0" dirty="0"/>
              <a:t>The average is 10%, but can be higher when dealing with dense file systems with very small files (32k or less) or can be much lower (2%) if storing large file (like VMs, Disk Libraries or Videos) </a:t>
            </a:r>
          </a:p>
          <a:p>
            <a:endParaRPr lang="en-US" baseline="0" dirty="0"/>
          </a:p>
          <a:p>
            <a:r>
              <a:rPr lang="en-US" baseline="0" dirty="0"/>
              <a:t>The HNAS CLI command fs-analyze-metadata-usage can be run against an existing FS to understand it’s metadata consumption.</a:t>
            </a:r>
          </a:p>
        </p:txBody>
      </p:sp>
    </p:spTree>
    <p:extLst>
      <p:ext uri="{BB962C8B-B14F-4D97-AF65-F5344CB8AC3E}">
        <p14:creationId xmlns:p14="http://schemas.microsoft.com/office/powerpoint/2010/main" val="146826563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talk about</a:t>
            </a:r>
            <a:r>
              <a:rPr lang="en-US" baseline="0" dirty="0"/>
              <a:t> HDP briefly</a:t>
            </a:r>
            <a:endParaRPr lang="en-US" dirty="0"/>
          </a:p>
        </p:txBody>
      </p:sp>
    </p:spTree>
    <p:extLst>
      <p:ext uri="{BB962C8B-B14F-4D97-AF65-F5344CB8AC3E}">
        <p14:creationId xmlns:p14="http://schemas.microsoft.com/office/powerpoint/2010/main" val="262104468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HDP – Hitachi</a:t>
            </a:r>
            <a:r>
              <a:rPr lang="en-US" baseline="0" dirty="0"/>
              <a:t> Dynamic Provisioning is supported by all Hitachi Storage</a:t>
            </a:r>
          </a:p>
          <a:p>
            <a:endParaRPr lang="en-US" baseline="0" dirty="0"/>
          </a:p>
          <a:p>
            <a:r>
              <a:rPr lang="en-US" baseline="0" dirty="0"/>
              <a:t>HNAS Integration with HDP begins at FW level 12.1</a:t>
            </a:r>
          </a:p>
          <a:p>
            <a:endParaRPr lang="en-US" baseline="0" dirty="0"/>
          </a:p>
          <a:p>
            <a:r>
              <a:rPr lang="en-US" baseline="0" dirty="0"/>
              <a:t>There are no specific array </a:t>
            </a:r>
            <a:r>
              <a:rPr lang="en-US" baseline="0" dirty="0" err="1"/>
              <a:t>requriements</a:t>
            </a:r>
            <a:r>
              <a:rPr lang="en-US" baseline="0" dirty="0"/>
              <a:t> </a:t>
            </a:r>
          </a:p>
          <a:p>
            <a:endParaRPr lang="en-US" baseline="0" dirty="0"/>
          </a:p>
          <a:p>
            <a:r>
              <a:rPr lang="en-US" baseline="0" dirty="0"/>
              <a:t>It does not affect the way NFS/SMB operate</a:t>
            </a:r>
            <a:endParaRPr lang="en-US" dirty="0"/>
          </a:p>
        </p:txBody>
      </p:sp>
    </p:spTree>
    <p:extLst>
      <p:ext uri="{BB962C8B-B14F-4D97-AF65-F5344CB8AC3E}">
        <p14:creationId xmlns:p14="http://schemas.microsoft.com/office/powerpoint/2010/main" val="31445966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HDP is a thin-provisioning virtualisation layer in Hitachi storage</a:t>
            </a:r>
          </a:p>
          <a:p>
            <a:endParaRPr lang="en-GB" dirty="0"/>
          </a:p>
          <a:p>
            <a:r>
              <a:rPr lang="en-GB" dirty="0"/>
              <a:t>An HDP pool is a collection of storage with physical Raid arrays (pool volumes) at the bottom and virtual LUs (DP-</a:t>
            </a:r>
            <a:r>
              <a:rPr lang="en-GB" dirty="0" err="1"/>
              <a:t>Vols</a:t>
            </a:r>
            <a:r>
              <a:rPr lang="en-GB" dirty="0"/>
              <a:t>) at the top</a:t>
            </a:r>
          </a:p>
          <a:p>
            <a:endParaRPr lang="en-GB" dirty="0"/>
          </a:p>
          <a:p>
            <a:r>
              <a:rPr lang="en-GB" dirty="0"/>
              <a:t>LDEVs</a:t>
            </a:r>
            <a:r>
              <a:rPr lang="en-GB" baseline="0" dirty="0"/>
              <a:t> are created from the PGs and placed into an HDP Pool – these LDEVs are known as “Pool Volumes”</a:t>
            </a:r>
          </a:p>
          <a:p>
            <a:endParaRPr lang="en-GB" baseline="0" dirty="0"/>
          </a:p>
          <a:p>
            <a:r>
              <a:rPr lang="en-GB" baseline="0" dirty="0"/>
              <a:t>Virtual Volumes or DP Volumes are created on top of the DP Pool. DP Volumes can exceed the capacity of the DP Pool – this is THIN provisioning. </a:t>
            </a:r>
          </a:p>
          <a:p>
            <a:endParaRPr lang="en-GB" baseline="0" dirty="0"/>
          </a:p>
          <a:p>
            <a:r>
              <a:rPr lang="en-GB" baseline="0" dirty="0"/>
              <a:t>Real capacity is allocated from the PGs the first time the server writes to the DP Volumes. Capacity is allocated in 42MB pages. </a:t>
            </a:r>
          </a:p>
          <a:p>
            <a:endParaRPr lang="en-GB" baseline="0" dirty="0"/>
          </a:p>
          <a:p>
            <a:r>
              <a:rPr lang="en-GB" dirty="0"/>
              <a:t>I/O to a single DP-Vol is multiplexed among all pool volumes – this is wide striping</a:t>
            </a:r>
          </a:p>
          <a:p>
            <a:endParaRPr lang="en-US" dirty="0"/>
          </a:p>
        </p:txBody>
      </p:sp>
    </p:spTree>
    <p:extLst>
      <p:ext uri="{BB962C8B-B14F-4D97-AF65-F5344CB8AC3E}">
        <p14:creationId xmlns:p14="http://schemas.microsoft.com/office/powerpoint/2010/main" val="105946650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84200" y="849313"/>
            <a:ext cx="5689600" cy="3200400"/>
          </a:xfrm>
        </p:spPr>
      </p:sp>
      <p:sp>
        <p:nvSpPr>
          <p:cNvPr id="3" name="Notes Placeholder 2"/>
          <p:cNvSpPr>
            <a:spLocks noGrp="1"/>
          </p:cNvSpPr>
          <p:nvPr>
            <p:ph type="body" idx="1"/>
          </p:nvPr>
        </p:nvSpPr>
        <p:spPr/>
        <p:txBody>
          <a:bodyPr/>
          <a:lstStyle/>
          <a:p>
            <a:r>
              <a:rPr lang="en-US" dirty="0"/>
              <a:t>Thin Provisioning basically</a:t>
            </a:r>
            <a:r>
              <a:rPr lang="en-US" baseline="0" dirty="0"/>
              <a:t> means that the HDP Pool’s capacity can exceed that of the allocated pool volumes.</a:t>
            </a:r>
          </a:p>
          <a:p>
            <a:endParaRPr lang="en-US" baseline="0" dirty="0"/>
          </a:p>
          <a:p>
            <a:r>
              <a:rPr lang="en-US" baseline="0" dirty="0"/>
              <a:t>So I may have 30TB of Pool Volumes (real capacity), but I can create 60TB of DP Volumes. This would be a 200% over subscription.</a:t>
            </a:r>
          </a:p>
          <a:p>
            <a:endParaRPr lang="en-US" baseline="0" dirty="0"/>
          </a:p>
          <a:p>
            <a:r>
              <a:rPr lang="en-US" baseline="0" dirty="0"/>
              <a:t>HDP only allocates real capacity as the server writes data and does so in 42MB pages. Each page resides on a single pool volume.</a:t>
            </a:r>
          </a:p>
          <a:p>
            <a:endParaRPr lang="en-US" baseline="0" dirty="0"/>
          </a:p>
          <a:p>
            <a:r>
              <a:rPr lang="en-US" baseline="0" dirty="0"/>
              <a:t>The server can write anywhere on any DP Volume, but it can’t write everywhere – That is to say, that it can’t exceed the physical capacity of the pool. It can only write to the available physical capacity.</a:t>
            </a:r>
            <a:endParaRPr lang="en-US" dirty="0"/>
          </a:p>
        </p:txBody>
      </p:sp>
    </p:spTree>
    <p:extLst>
      <p:ext uri="{BB962C8B-B14F-4D97-AF65-F5344CB8AC3E}">
        <p14:creationId xmlns:p14="http://schemas.microsoft.com/office/powerpoint/2010/main" val="354490282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talking about How Thin Provisioning operates</a:t>
            </a:r>
            <a:r>
              <a:rPr lang="en-US" baseline="0" dirty="0"/>
              <a:t> with HNAS</a:t>
            </a:r>
            <a:endParaRPr lang="en-US" dirty="0"/>
          </a:p>
        </p:txBody>
      </p:sp>
    </p:spTree>
    <p:extLst>
      <p:ext uri="{BB962C8B-B14F-4D97-AF65-F5344CB8AC3E}">
        <p14:creationId xmlns:p14="http://schemas.microsoft.com/office/powerpoint/2010/main" val="201796403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should</a:t>
            </a:r>
            <a:r>
              <a:rPr lang="en-US" baseline="0" dirty="0"/>
              <a:t> we thin provision? </a:t>
            </a:r>
          </a:p>
          <a:p>
            <a:endParaRPr lang="en-US" baseline="0" dirty="0"/>
          </a:p>
          <a:p>
            <a:r>
              <a:rPr lang="en-US" baseline="0" dirty="0"/>
              <a:t>Using LUNs from an HDP pool will maximize performance, due to the multiplexed IO/wide </a:t>
            </a:r>
            <a:r>
              <a:rPr lang="en-US" baseline="0" dirty="0" err="1"/>
              <a:t>stripi</a:t>
            </a:r>
            <a:endParaRPr lang="en-US" baseline="0" dirty="0"/>
          </a:p>
          <a:p>
            <a:endParaRPr lang="en-US" baseline="0" dirty="0"/>
          </a:p>
          <a:p>
            <a:r>
              <a:rPr lang="en-US" dirty="0"/>
              <a:t>Using larger</a:t>
            </a:r>
            <a:r>
              <a:rPr lang="en-US" baseline="0" dirty="0"/>
              <a:t> “thin” LUNs allows better HNAS scalability. Using larger (up to 64TB LUNs) allows HNAS to reach it’s 32PB max scalability, since the max LUNs is 512 per cluster</a:t>
            </a:r>
          </a:p>
          <a:p>
            <a:endParaRPr lang="en-US" baseline="0" dirty="0"/>
          </a:p>
          <a:p>
            <a:r>
              <a:rPr lang="en-US" baseline="0" dirty="0"/>
              <a:t>The main reason though is to provide an ease of incremental expansion. </a:t>
            </a:r>
          </a:p>
          <a:p>
            <a:endParaRPr lang="en-US" baseline="0" dirty="0"/>
          </a:p>
          <a:p>
            <a:r>
              <a:rPr lang="en-US" baseline="0" dirty="0"/>
              <a:t>Prior to HDP, in order to add capacity to a span, the span had to be expanded, but it has to be expanded in equal fashions. For example, if the Span initially had 4 Volumes based on 4 PGs, the expansion needed to have a similar geometry (4 Volumes on 4 PGs) to provide consistent performance across the two stripe sets. </a:t>
            </a:r>
          </a:p>
          <a:p>
            <a:endParaRPr lang="en-US" baseline="0" dirty="0"/>
          </a:p>
          <a:p>
            <a:r>
              <a:rPr lang="en-US" baseline="0" dirty="0"/>
              <a:t>By thin provisioning, we may not even have to expand the span at all. By creating a span based on “THIN” volumes, to add capacity, we just add more pool volumes to the HDP Pool. The HDP Pool automatically rebalances pages across pool volumes thereby eliminating hot spotting and providing scaling performance with additional </a:t>
            </a:r>
            <a:r>
              <a:rPr lang="en-US" baseline="0" dirty="0" err="1"/>
              <a:t>capaicyt</a:t>
            </a:r>
            <a:r>
              <a:rPr lang="en-US" baseline="0" dirty="0"/>
              <a:t>. </a:t>
            </a:r>
          </a:p>
          <a:p>
            <a:endParaRPr lang="en-US" baseline="0" dirty="0"/>
          </a:p>
          <a:p>
            <a:endParaRPr lang="en-US" dirty="0"/>
          </a:p>
        </p:txBody>
      </p:sp>
    </p:spTree>
    <p:extLst>
      <p:ext uri="{BB962C8B-B14F-4D97-AF65-F5344CB8AC3E}">
        <p14:creationId xmlns:p14="http://schemas.microsoft.com/office/powerpoint/2010/main" val="134749218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order to do this,</a:t>
            </a:r>
            <a:r>
              <a:rPr lang="en-US" baseline="0" dirty="0"/>
              <a:t> the HNAS  was enhanced to be “THIN” friendly.</a:t>
            </a:r>
          </a:p>
          <a:p>
            <a:endParaRPr lang="en-US" baseline="0" dirty="0"/>
          </a:p>
          <a:p>
            <a:r>
              <a:rPr lang="en-US" baseline="0" dirty="0"/>
              <a:t>Whenever a file system is created or expanded, necessitating the need to add chunks, the span layer in HNAS checks for available space in the HDP pool.</a:t>
            </a:r>
          </a:p>
          <a:p>
            <a:endParaRPr lang="en-US" baseline="0" dirty="0"/>
          </a:p>
          <a:p>
            <a:r>
              <a:rPr lang="en-US" baseline="0" dirty="0"/>
              <a:t>It writes one (non zero) block to each 42MB HDP Page required to fulfill the addition of the span chunks to the file system. This prompts HDP to map HDP pages – in other words, it guarantees that the capacity is physically allocated and that file system will never fail due to lack of space – the HNAS know ahead of time – it will not allow file system creation/expansion to take place if there is insufficient capacity. </a:t>
            </a:r>
          </a:p>
          <a:p>
            <a:endParaRPr lang="en-US" baseline="0" dirty="0"/>
          </a:p>
          <a:p>
            <a:r>
              <a:rPr lang="en-US" baseline="0" dirty="0"/>
              <a:t>The up front mapping of capacity, is known as pre-allocation – it requires IO and takes some time – so allocations are limited to 1TB when creating or expanding file systems. </a:t>
            </a:r>
          </a:p>
          <a:p>
            <a:endParaRPr lang="en-US" baseline="0" dirty="0"/>
          </a:p>
          <a:p>
            <a:r>
              <a:rPr lang="en-US" baseline="0" dirty="0"/>
              <a:t>The CLI does provide a means for performing large expansions (using a flag –storage-is-lightly-loaded), but should only be done when required.. </a:t>
            </a:r>
          </a:p>
          <a:p>
            <a:endParaRPr lang="en-US" baseline="0" dirty="0"/>
          </a:p>
          <a:p>
            <a:r>
              <a:rPr lang="en-US" baseline="0" dirty="0"/>
              <a:t>Generally speaking it is best to let file systems auto-expand as required – by default a file system will auto-expand at 85% full up to the configured auto-expansion limit.</a:t>
            </a:r>
          </a:p>
          <a:p>
            <a:endParaRPr lang="en-US" baseline="0" dirty="0"/>
          </a:p>
          <a:p>
            <a:r>
              <a:rPr lang="en-US" baseline="0" dirty="0"/>
              <a:t>If an administrator wishes applications to view their auto-expansion capacity rather then the current fs capacity, they can enable file system thin provisioning.. This enable an application to “see” a much larger file system than what is physically allocated, but allows the system to auto-expand as the application writes to the file system and it reaches the auto-expansion </a:t>
            </a:r>
            <a:r>
              <a:rPr lang="en-US" baseline="0" dirty="0" err="1"/>
              <a:t>threshhold</a:t>
            </a:r>
            <a:r>
              <a:rPr lang="en-US" baseline="0" dirty="0"/>
              <a:t>.</a:t>
            </a:r>
          </a:p>
          <a:p>
            <a:endParaRPr lang="en-US" baseline="0" dirty="0"/>
          </a:p>
          <a:p>
            <a:r>
              <a:rPr lang="en-US" baseline="0" dirty="0"/>
              <a:t>Auto-expansion </a:t>
            </a:r>
            <a:r>
              <a:rPr lang="en-US" baseline="0" dirty="0" err="1"/>
              <a:t>threshhold</a:t>
            </a:r>
            <a:r>
              <a:rPr lang="en-US" baseline="0" dirty="0"/>
              <a:t> and rates of expansion can be configured</a:t>
            </a:r>
          </a:p>
        </p:txBody>
      </p:sp>
    </p:spTree>
    <p:extLst>
      <p:ext uri="{BB962C8B-B14F-4D97-AF65-F5344CB8AC3E}">
        <p14:creationId xmlns:p14="http://schemas.microsoft.com/office/powerpoint/2010/main" val="313218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84200" y="849313"/>
            <a:ext cx="5689600" cy="3200400"/>
          </a:xfrm>
        </p:spPr>
      </p:sp>
      <p:sp>
        <p:nvSpPr>
          <p:cNvPr id="3" name="Notes Placeholder 2"/>
          <p:cNvSpPr>
            <a:spLocks noGrp="1"/>
          </p:cNvSpPr>
          <p:nvPr>
            <p:ph type="body" idx="1"/>
          </p:nvPr>
        </p:nvSpPr>
        <p:spPr/>
        <p:txBody>
          <a:bodyPr/>
          <a:lstStyle/>
          <a:p>
            <a:r>
              <a:rPr lang="en-US" dirty="0"/>
              <a:t>So.. How do</a:t>
            </a:r>
            <a:r>
              <a:rPr lang="en-US" baseline="0" dirty="0"/>
              <a:t> we implement a thin provisioned system? </a:t>
            </a:r>
          </a:p>
          <a:p>
            <a:endParaRPr lang="en-US" baseline="0" dirty="0"/>
          </a:p>
          <a:p>
            <a:r>
              <a:rPr lang="en-US" baseline="0" dirty="0"/>
              <a:t>Generally speaking, you want to create enough DP Volumes for that span to meet it’s projected eventual size with enough SDs to provide sufficient queue depth. (more on this later)</a:t>
            </a:r>
          </a:p>
          <a:p>
            <a:endParaRPr lang="en-US" baseline="0" dirty="0"/>
          </a:p>
          <a:p>
            <a:r>
              <a:rPr lang="en-US" baseline="0" dirty="0"/>
              <a:t>Modes thin provisioning of 2 or 3:1 is typical.. Over aggressive thin provisioning (&gt;300% tends to use up a lot of array shared memory)</a:t>
            </a:r>
          </a:p>
          <a:p>
            <a:endParaRPr lang="en-US" baseline="0" dirty="0"/>
          </a:p>
          <a:p>
            <a:r>
              <a:rPr lang="en-US" baseline="0" dirty="0"/>
              <a:t>Create the span based on these DP Volumes (one single </a:t>
            </a:r>
            <a:r>
              <a:rPr lang="en-US" baseline="0" dirty="0" err="1"/>
              <a:t>stripeset</a:t>
            </a:r>
            <a:r>
              <a:rPr lang="en-US" baseline="0" dirty="0"/>
              <a:t>).</a:t>
            </a:r>
          </a:p>
          <a:p>
            <a:endParaRPr lang="en-US" baseline="0" dirty="0"/>
          </a:p>
          <a:p>
            <a:r>
              <a:rPr lang="en-US" baseline="0" dirty="0"/>
              <a:t>Use file system-thin or setup filesystem confinement (auto-expansion) limits as appropriate. </a:t>
            </a:r>
          </a:p>
          <a:p>
            <a:endParaRPr lang="en-US" baseline="0" dirty="0"/>
          </a:p>
          <a:p>
            <a:r>
              <a:rPr lang="en-US" baseline="0" dirty="0"/>
              <a:t>How do I add capacity to this span..</a:t>
            </a:r>
          </a:p>
          <a:p>
            <a:endParaRPr lang="en-US" baseline="0" dirty="0"/>
          </a:p>
          <a:p>
            <a:r>
              <a:rPr lang="en-US" baseline="0" dirty="0"/>
              <a:t>First insure that span is confined</a:t>
            </a:r>
          </a:p>
          <a:p>
            <a:endParaRPr lang="en-US" baseline="0" dirty="0"/>
          </a:p>
          <a:p>
            <a:r>
              <a:rPr lang="en-US" baseline="0" dirty="0"/>
              <a:t>Add PGs/Pool Volumes to the HDP pool. These should be of the same type/geometry as the existing pool volumes/PGs</a:t>
            </a:r>
          </a:p>
          <a:p>
            <a:endParaRPr lang="en-US" baseline="0" dirty="0"/>
          </a:p>
          <a:p>
            <a:r>
              <a:rPr lang="en-US" baseline="0" dirty="0"/>
              <a:t>The HNAS will auto-detect the new capacity.</a:t>
            </a:r>
          </a:p>
          <a:p>
            <a:endParaRPr lang="en-US" baseline="0" dirty="0"/>
          </a:p>
          <a:p>
            <a:r>
              <a:rPr lang="en-US" baseline="0" dirty="0"/>
              <a:t>Release the span and re-set any auto-expansion limits allowing file system to expand again. </a:t>
            </a:r>
            <a:endParaRPr lang="en-US" dirty="0"/>
          </a:p>
        </p:txBody>
      </p:sp>
    </p:spTree>
    <p:extLst>
      <p:ext uri="{BB962C8B-B14F-4D97-AF65-F5344CB8AC3E}">
        <p14:creationId xmlns:p14="http://schemas.microsoft.com/office/powerpoint/2010/main" val="14134406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84200" y="849313"/>
            <a:ext cx="5689600" cy="3200400"/>
          </a:xfrm>
        </p:spPr>
      </p:sp>
      <p:sp>
        <p:nvSpPr>
          <p:cNvPr id="3" name="Notes Placeholder 2"/>
          <p:cNvSpPr>
            <a:spLocks noGrp="1"/>
          </p:cNvSpPr>
          <p:nvPr>
            <p:ph type="body" idx="1"/>
          </p:nvPr>
        </p:nvSpPr>
        <p:spPr/>
        <p:txBody>
          <a:bodyPr/>
          <a:lstStyle/>
          <a:p>
            <a:r>
              <a:rPr lang="en-US" dirty="0"/>
              <a:t>This is</a:t>
            </a:r>
            <a:r>
              <a:rPr lang="en-US" baseline="0" dirty="0"/>
              <a:t> a simple example showing a 200% oversubscribed span based on a single HDP Pool.</a:t>
            </a:r>
          </a:p>
          <a:p>
            <a:endParaRPr lang="en-US" baseline="0" dirty="0"/>
          </a:p>
          <a:p>
            <a:r>
              <a:rPr lang="en-US" baseline="0" dirty="0"/>
              <a:t>It starts out with 8 SDs based on 4 </a:t>
            </a:r>
            <a:r>
              <a:rPr lang="en-US" baseline="0" dirty="0" err="1"/>
              <a:t>PGs.</a:t>
            </a:r>
            <a:endParaRPr lang="en-US" baseline="0" dirty="0"/>
          </a:p>
          <a:p>
            <a:endParaRPr lang="en-US" baseline="0" dirty="0"/>
          </a:p>
          <a:p>
            <a:r>
              <a:rPr lang="en-US" baseline="0" dirty="0"/>
              <a:t>As PGs / Pool Volumes are added to the pool, the real capacity of the span increases allowing file systems to grow/expand. </a:t>
            </a:r>
          </a:p>
          <a:p>
            <a:endParaRPr lang="en-US" baseline="0" dirty="0"/>
          </a:p>
        </p:txBody>
      </p:sp>
    </p:spTree>
    <p:extLst>
      <p:ext uri="{BB962C8B-B14F-4D97-AF65-F5344CB8AC3E}">
        <p14:creationId xmlns:p14="http://schemas.microsoft.com/office/powerpoint/2010/main" val="396606047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reaching 1:1  - no oversubscription, the span will need to be expanded</a:t>
            </a:r>
          </a:p>
          <a:p>
            <a:endParaRPr lang="en-US" dirty="0"/>
          </a:p>
          <a:p>
            <a:r>
              <a:rPr lang="en-US" dirty="0"/>
              <a:t>Add PGs, a few more pool volumes</a:t>
            </a:r>
            <a:r>
              <a:rPr lang="en-US" baseline="0" dirty="0"/>
              <a:t> </a:t>
            </a:r>
          </a:p>
          <a:p>
            <a:endParaRPr lang="en-US" baseline="0" dirty="0"/>
          </a:p>
          <a:p>
            <a:r>
              <a:rPr lang="en-US" baseline="0" dirty="0"/>
              <a:t>Add an identical stripe set to the existing one – if the first stripe set was 8 x 10TB Volumes, the second should also be 8 x 10TB Volumes</a:t>
            </a:r>
          </a:p>
          <a:p>
            <a:endParaRPr lang="en-US" dirty="0"/>
          </a:p>
          <a:p>
            <a:r>
              <a:rPr lang="en-US" dirty="0"/>
              <a:t>This takes us back again to 200% over subscription.</a:t>
            </a:r>
          </a:p>
          <a:p>
            <a:endParaRPr lang="en-US" dirty="0"/>
          </a:p>
          <a:p>
            <a:r>
              <a:rPr lang="en-US" dirty="0"/>
              <a:t>Wait for all the formatting to complete.</a:t>
            </a:r>
          </a:p>
          <a:p>
            <a:endParaRPr lang="en-US" dirty="0"/>
          </a:p>
          <a:p>
            <a:r>
              <a:rPr lang="en-US" dirty="0"/>
              <a:t>Then expand the</a:t>
            </a:r>
            <a:r>
              <a:rPr lang="en-US" baseline="0" dirty="0"/>
              <a:t> span onto the additional DP Volumes. </a:t>
            </a:r>
            <a:endParaRPr lang="en-US" dirty="0"/>
          </a:p>
          <a:p>
            <a:endParaRPr lang="en-US" dirty="0"/>
          </a:p>
        </p:txBody>
      </p:sp>
    </p:spTree>
    <p:extLst>
      <p:ext uri="{BB962C8B-B14F-4D97-AF65-F5344CB8AC3E}">
        <p14:creationId xmlns:p14="http://schemas.microsoft.com/office/powerpoint/2010/main" val="248156179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84200" y="849313"/>
            <a:ext cx="5689600" cy="3200400"/>
          </a:xfrm>
        </p:spPr>
      </p:sp>
      <p:sp>
        <p:nvSpPr>
          <p:cNvPr id="3" name="Notes Placeholder 2"/>
          <p:cNvSpPr>
            <a:spLocks noGrp="1"/>
          </p:cNvSpPr>
          <p:nvPr>
            <p:ph type="body" idx="1"/>
          </p:nvPr>
        </p:nvSpPr>
        <p:spPr/>
        <p:txBody>
          <a:bodyPr/>
          <a:lstStyle/>
          <a:p>
            <a:r>
              <a:rPr lang="en-US" dirty="0"/>
              <a:t>This illustration shows what</a:t>
            </a:r>
            <a:r>
              <a:rPr lang="en-US" baseline="0" dirty="0"/>
              <a:t> occurs when the second strip set is added.</a:t>
            </a:r>
          </a:p>
          <a:p>
            <a:endParaRPr lang="en-US" baseline="0" dirty="0"/>
          </a:p>
          <a:p>
            <a:r>
              <a:rPr lang="en-US" baseline="0" dirty="0"/>
              <a:t>The Span goes from 1 x 8 SDs to 2 x 8 SDs or 2 stripe sets of 8 SDs</a:t>
            </a:r>
          </a:p>
          <a:p>
            <a:endParaRPr lang="en-US" baseline="0" dirty="0"/>
          </a:p>
          <a:p>
            <a:r>
              <a:rPr lang="en-US" baseline="0" dirty="0"/>
              <a:t>This resets the oversubscription back to 200%</a:t>
            </a:r>
          </a:p>
          <a:p>
            <a:endParaRPr lang="en-US" baseline="0" dirty="0"/>
          </a:p>
          <a:p>
            <a:r>
              <a:rPr lang="en-US" baseline="0" dirty="0"/>
              <a:t>The addition of more DP Volumes may require some tuning of q-depth – the CLI command </a:t>
            </a:r>
            <a:r>
              <a:rPr lang="en-US" baseline="0" dirty="0" err="1"/>
              <a:t>sd</a:t>
            </a:r>
            <a:r>
              <a:rPr lang="en-US" baseline="0" dirty="0"/>
              <a:t>-set –q  can tune SD queue depth if necessary. </a:t>
            </a:r>
          </a:p>
          <a:p>
            <a:endParaRPr lang="en-US" baseline="0" dirty="0"/>
          </a:p>
          <a:p>
            <a:r>
              <a:rPr lang="en-US" baseline="0" dirty="0"/>
              <a:t>This can be repeated up to 63 times, although you are more likely to reach the 60k chunk limit first. </a:t>
            </a:r>
          </a:p>
          <a:p>
            <a:endParaRPr lang="en-US" baseline="0" dirty="0"/>
          </a:p>
          <a:p>
            <a:r>
              <a:rPr lang="en-US" baseline="0" dirty="0"/>
              <a:t>All in all it is best if we can simply plan for a single thin provisioned stripe set to last the implementation of the storage array/NAS</a:t>
            </a:r>
            <a:endParaRPr lang="en-US" dirty="0"/>
          </a:p>
        </p:txBody>
      </p:sp>
    </p:spTree>
    <p:extLst>
      <p:ext uri="{BB962C8B-B14F-4D97-AF65-F5344CB8AC3E}">
        <p14:creationId xmlns:p14="http://schemas.microsoft.com/office/powerpoint/2010/main" val="147163729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go</a:t>
            </a:r>
            <a:r>
              <a:rPr lang="en-US" baseline="0" dirty="0"/>
              <a:t> over some of those guidelines and best practices again</a:t>
            </a:r>
            <a:endParaRPr lang="en-US" dirty="0"/>
          </a:p>
        </p:txBody>
      </p:sp>
    </p:spTree>
    <p:extLst>
      <p:ext uri="{BB962C8B-B14F-4D97-AF65-F5344CB8AC3E}">
        <p14:creationId xmlns:p14="http://schemas.microsoft.com/office/powerpoint/2010/main" val="41271420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a:t>
            </a:r>
            <a:r>
              <a:rPr lang="en-US" baseline="0" dirty="0"/>
              <a:t> mentioned earlier, the preference is to build spans based on 2-3X the physical capacity..  In some case if you believe the pool configuration is static, then there may be no need to thin provision it at all.</a:t>
            </a:r>
          </a:p>
          <a:p>
            <a:endParaRPr lang="en-US" baseline="0" dirty="0"/>
          </a:p>
          <a:p>
            <a:r>
              <a:rPr lang="en-US" baseline="0" dirty="0"/>
              <a:t>The initial span must have a at least 4 SDs, but larger </a:t>
            </a:r>
            <a:r>
              <a:rPr lang="en-US" baseline="0" dirty="0" err="1"/>
              <a:t>stripesets</a:t>
            </a:r>
            <a:r>
              <a:rPr lang="en-US" baseline="0" dirty="0"/>
              <a:t> can help drive performance by creating more q depth and </a:t>
            </a:r>
            <a:r>
              <a:rPr lang="en-US" baseline="0" dirty="0" err="1"/>
              <a:t>parralelism</a:t>
            </a:r>
            <a:r>
              <a:rPr lang="en-US" baseline="0" dirty="0"/>
              <a:t>. The maximum # of SD per stripe set is 32.</a:t>
            </a:r>
          </a:p>
          <a:p>
            <a:endParaRPr lang="en-US" baseline="0" dirty="0"/>
          </a:p>
          <a:p>
            <a:r>
              <a:rPr lang="en-US" baseline="0" dirty="0"/>
              <a:t>You don’t want to have TOO many SDs either.. The limit is 512 per cluster. So you need to strike the right balance..</a:t>
            </a:r>
          </a:p>
          <a:p>
            <a:endParaRPr lang="en-US" baseline="0" dirty="0"/>
          </a:p>
          <a:p>
            <a:r>
              <a:rPr lang="en-US" baseline="0" dirty="0"/>
              <a:t>Too few.. May not drive enough performance, too many may overdrive it or limit scalability (capacity) </a:t>
            </a:r>
          </a:p>
          <a:p>
            <a:endParaRPr lang="en-US" baseline="0" dirty="0"/>
          </a:p>
          <a:p>
            <a:r>
              <a:rPr lang="en-US" baseline="0" dirty="0"/>
              <a:t>Generally speaking we advise 1-2 DP Volumes per HDD based PG. Certainly 2 DP Volumes per 14+2 and 1-2 per 6+2</a:t>
            </a:r>
          </a:p>
          <a:p>
            <a:endParaRPr lang="en-US" baseline="0" dirty="0"/>
          </a:p>
          <a:p>
            <a:r>
              <a:rPr lang="en-US" baseline="0" dirty="0"/>
              <a:t>SSD/flash based DP Pool perform best with 4-8 SD per PG, although there’s no point in creating multiple stripe sets of 32 SD, even if you have many PGs of Flash. </a:t>
            </a:r>
          </a:p>
          <a:p>
            <a:endParaRPr lang="en-US" baseline="0" dirty="0"/>
          </a:p>
          <a:p>
            <a:r>
              <a:rPr lang="en-US" baseline="0" dirty="0"/>
              <a:t>Remember that </a:t>
            </a:r>
            <a:r>
              <a:rPr lang="en-US" baseline="0" dirty="0" err="1"/>
              <a:t>qdepth</a:t>
            </a:r>
            <a:r>
              <a:rPr lang="en-US" baseline="0" dirty="0"/>
              <a:t> can be tuned on  per SD basis, using </a:t>
            </a:r>
            <a:r>
              <a:rPr lang="en-US" baseline="0" dirty="0" err="1"/>
              <a:t>sd</a:t>
            </a:r>
            <a:r>
              <a:rPr lang="en-US" baseline="0" dirty="0"/>
              <a:t>-set –q </a:t>
            </a:r>
            <a:endParaRPr lang="en-US" dirty="0"/>
          </a:p>
        </p:txBody>
      </p:sp>
    </p:spTree>
    <p:extLst>
      <p:ext uri="{BB962C8B-B14F-4D97-AF65-F5344CB8AC3E}">
        <p14:creationId xmlns:p14="http://schemas.microsoft.com/office/powerpoint/2010/main" val="300012530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talk about the minimum requiremen</a:t>
            </a:r>
            <a:r>
              <a:rPr lang="en-US" baseline="0" dirty="0"/>
              <a:t>t though.. As sometimes we deal with very small NAS footprints.</a:t>
            </a:r>
          </a:p>
          <a:p>
            <a:endParaRPr lang="en-US" baseline="0" dirty="0"/>
          </a:p>
          <a:p>
            <a:r>
              <a:rPr lang="en-US" baseline="0" dirty="0"/>
              <a:t>The minimum is 4 SDs – this is based on a need to create a minimum viable pool of 4 PGs – of about 24 10k HDDs – 48 7.2k NL-SAS HDDs</a:t>
            </a:r>
          </a:p>
          <a:p>
            <a:endParaRPr lang="en-US" baseline="0" dirty="0"/>
          </a:p>
          <a:p>
            <a:r>
              <a:rPr lang="en-US" baseline="0" dirty="0"/>
              <a:t>All RAID types are supported including 14+2</a:t>
            </a:r>
          </a:p>
          <a:p>
            <a:endParaRPr lang="en-US" baseline="0" dirty="0"/>
          </a:p>
          <a:p>
            <a:r>
              <a:rPr lang="en-US" baseline="0" dirty="0"/>
              <a:t>Consider your RAID options.. Sometimes RAID1 is best for write intensive workloads. </a:t>
            </a:r>
          </a:p>
          <a:p>
            <a:endParaRPr lang="en-US" baseline="0" dirty="0"/>
          </a:p>
          <a:p>
            <a:r>
              <a:rPr lang="en-US" baseline="0" dirty="0"/>
              <a:t>SSD/Flash have no minimum drive requirement. A single 3+1 is supported.. But you always require at least 4 SDs. </a:t>
            </a:r>
          </a:p>
          <a:p>
            <a:pPr marL="0" indent="0">
              <a:buNone/>
            </a:pPr>
            <a:endParaRPr lang="en-US" dirty="0"/>
          </a:p>
        </p:txBody>
      </p:sp>
    </p:spTree>
    <p:extLst>
      <p:ext uri="{BB962C8B-B14F-4D97-AF65-F5344CB8AC3E}">
        <p14:creationId xmlns:p14="http://schemas.microsoft.com/office/powerpoint/2010/main" val="229049342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do end up having to expand a NAS</a:t>
            </a:r>
            <a:r>
              <a:rPr lang="en-US" baseline="0" dirty="0"/>
              <a:t> pool, remember than when using HDP based spans, that the next </a:t>
            </a:r>
            <a:r>
              <a:rPr lang="en-US" baseline="0" dirty="0" err="1"/>
              <a:t>stripeset</a:t>
            </a:r>
            <a:r>
              <a:rPr lang="en-US" baseline="0" dirty="0"/>
              <a:t> must have at least as many SDs as the first.</a:t>
            </a:r>
          </a:p>
          <a:p>
            <a:endParaRPr lang="en-US" baseline="0" dirty="0"/>
          </a:p>
          <a:p>
            <a:r>
              <a:rPr lang="en-US" baseline="0" dirty="0"/>
              <a:t>So if you started with 8 SDs, the second </a:t>
            </a:r>
            <a:r>
              <a:rPr lang="en-US" baseline="0" dirty="0" err="1"/>
              <a:t>stripeset</a:t>
            </a:r>
            <a:r>
              <a:rPr lang="en-US" baseline="0" dirty="0"/>
              <a:t> must also have at least 8 SDs</a:t>
            </a:r>
          </a:p>
          <a:p>
            <a:endParaRPr lang="en-US" baseline="0" dirty="0"/>
          </a:p>
          <a:p>
            <a:r>
              <a:rPr lang="en-US" baseline="0" dirty="0"/>
              <a:t>The best practice is to keep identical stripe sets with a uniform configuration.</a:t>
            </a:r>
          </a:p>
          <a:p>
            <a:endParaRPr lang="en-US" baseline="0" dirty="0"/>
          </a:p>
          <a:p>
            <a:r>
              <a:rPr lang="en-US" baseline="0" dirty="0"/>
              <a:t>You can’t mix and match DP Volumes from different DP Pools in the same </a:t>
            </a:r>
            <a:r>
              <a:rPr lang="en-US" baseline="0" dirty="0" err="1"/>
              <a:t>stripeset</a:t>
            </a:r>
            <a:r>
              <a:rPr lang="en-US" baseline="0" dirty="0"/>
              <a:t>, but the server will allow you to expand a span with DP Volumes from different DP Pools.</a:t>
            </a:r>
          </a:p>
          <a:p>
            <a:endParaRPr lang="en-US" baseline="0" dirty="0"/>
          </a:p>
          <a:p>
            <a:r>
              <a:rPr lang="en-US" baseline="0" dirty="0"/>
              <a:t>i.e. stripe set 0 could come from DP Pool 0, stripe set 1 could come from DP Pool 1. That is supported, but perhaps not the best way to do it. </a:t>
            </a:r>
          </a:p>
          <a:p>
            <a:endParaRPr lang="en-US" baseline="0" dirty="0"/>
          </a:p>
          <a:p>
            <a:r>
              <a:rPr lang="en-US" baseline="0" dirty="0"/>
              <a:t>You obviously can’t mix and match DP Volumes with non DP Volumes in the same span.  The span must be all HDP or all plan LDEVs.</a:t>
            </a:r>
          </a:p>
          <a:p>
            <a:endParaRPr lang="en-US" baseline="0" dirty="0"/>
          </a:p>
          <a:p>
            <a:r>
              <a:rPr lang="en-US" baseline="0" dirty="0"/>
              <a:t>Pool Volumes from a PG should belong to only 1 HDP Pool</a:t>
            </a:r>
            <a:endParaRPr lang="en-US" dirty="0"/>
          </a:p>
        </p:txBody>
      </p:sp>
    </p:spTree>
    <p:extLst>
      <p:ext uri="{BB962C8B-B14F-4D97-AF65-F5344CB8AC3E}">
        <p14:creationId xmlns:p14="http://schemas.microsoft.com/office/powerpoint/2010/main" val="396855867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Can you create multiple Span on</a:t>
            </a:r>
            <a:r>
              <a:rPr lang="en-US" baseline="0" dirty="0"/>
              <a:t> top of a single HDP Pool?  DP Pool with 16 DP Volumes – 8 for Span 1, 8 for Span 2?</a:t>
            </a:r>
          </a:p>
          <a:p>
            <a:endParaRPr lang="en-US" baseline="0" dirty="0"/>
          </a:p>
          <a:p>
            <a:r>
              <a:rPr lang="en-US" baseline="0" dirty="0"/>
              <a:t>Yes, you can. Although the server will warn you about the possible dangers of doing so before allowing it to happen. </a:t>
            </a:r>
          </a:p>
          <a:p>
            <a:endParaRPr lang="en-US" baseline="0" dirty="0"/>
          </a:p>
          <a:p>
            <a:r>
              <a:rPr lang="en-US" baseline="0" dirty="0"/>
              <a:t>Sometimes multiple Span on an HDP Pool is advantageous or required.</a:t>
            </a:r>
          </a:p>
          <a:p>
            <a:endParaRPr lang="en-US" baseline="0" dirty="0"/>
          </a:p>
          <a:p>
            <a:r>
              <a:rPr lang="en-US" baseline="0" dirty="0"/>
              <a:t>A Span is generally limited to 32 file systems, so creating more than 32 files systems required &gt;1 span. This may be the only way to implement something based on a single PG for high density flash e.g. 7+1 of 30TB drives is over 200TB of capacity. </a:t>
            </a:r>
          </a:p>
          <a:p>
            <a:endParaRPr lang="en-US" baseline="0" dirty="0"/>
          </a:p>
          <a:p>
            <a:r>
              <a:rPr lang="en-US" baseline="0" dirty="0"/>
              <a:t>Having 1 span per HDP Pool could end up creating island of capacity. E.g. If I had 2 PGs for Flash @100TB ea. If I have to dedicate 1 PG for each Span, if 1 span grows faster than the other, then I could end up requiring 130TB on Span 1 and only 30TB on Span 2. If that was all 1 HDP pool, that would be 160TB/200TB… but if that’s split into two, I’m left having to acquire more capacity. </a:t>
            </a:r>
          </a:p>
          <a:p>
            <a:endParaRPr lang="en-US" baseline="0" dirty="0"/>
          </a:p>
          <a:p>
            <a:r>
              <a:rPr lang="en-US" baseline="0" dirty="0"/>
              <a:t>Creating multiple spans might also help avoid queue split (covered later in this presentation) and help utilize more of the underlying media (IOPS)</a:t>
            </a:r>
          </a:p>
          <a:p>
            <a:endParaRPr lang="en-US" baseline="0" dirty="0"/>
          </a:p>
          <a:p>
            <a:endParaRPr lang="en-US" baseline="0" dirty="0"/>
          </a:p>
          <a:p>
            <a:r>
              <a:rPr lang="en-US" baseline="0" dirty="0"/>
              <a:t>Historically, 1 Span per HDP Pool was strongly advocated. This was primarily to avoid a situation where capacity was de-allocated by deleting a file system from 1 span to give to another. In order to unhook the capacity of the deleted file system from the span, requires </a:t>
            </a:r>
            <a:r>
              <a:rPr lang="en-US" baseline="0" dirty="0" err="1"/>
              <a:t>unmapping</a:t>
            </a:r>
            <a:r>
              <a:rPr lang="en-US" baseline="0" dirty="0"/>
              <a:t>. On older HUS class storage, this proved to be an impactful exercise. Modern VSP class storage handles </a:t>
            </a:r>
            <a:r>
              <a:rPr lang="en-US" baseline="0" dirty="0" err="1"/>
              <a:t>unmap</a:t>
            </a:r>
            <a:r>
              <a:rPr lang="en-US" baseline="0" dirty="0"/>
              <a:t> with minimal impact.</a:t>
            </a:r>
          </a:p>
          <a:p>
            <a:endParaRPr lang="en-US" baseline="0" dirty="0"/>
          </a:p>
          <a:p>
            <a:r>
              <a:rPr lang="en-US" baseline="0" dirty="0"/>
              <a:t>More than 1 span, often also results in many file systems, which can result in more I/O load to the back-end. If storage is slow, this could create a bottleneck. </a:t>
            </a:r>
            <a:endParaRPr lang="en-US" dirty="0"/>
          </a:p>
        </p:txBody>
      </p:sp>
    </p:spTree>
    <p:extLst>
      <p:ext uri="{BB962C8B-B14F-4D97-AF65-F5344CB8AC3E}">
        <p14:creationId xmlns:p14="http://schemas.microsoft.com/office/powerpoint/2010/main" val="314990830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when should you avoid</a:t>
            </a:r>
            <a:r>
              <a:rPr lang="en-US" baseline="0" dirty="0"/>
              <a:t> multiple spans per HDP Pool</a:t>
            </a:r>
          </a:p>
          <a:p>
            <a:endParaRPr lang="en-US" baseline="0" dirty="0"/>
          </a:p>
          <a:p>
            <a:r>
              <a:rPr lang="en-US" baseline="0" dirty="0"/>
              <a:t>Well.. Whenever </a:t>
            </a:r>
            <a:r>
              <a:rPr lang="en-US" baseline="0" dirty="0" err="1"/>
              <a:t>unmapping</a:t>
            </a:r>
            <a:r>
              <a:rPr lang="en-US" baseline="0" dirty="0"/>
              <a:t> would happen regularly… but in truth most implementations rarely use it. </a:t>
            </a:r>
          </a:p>
          <a:p>
            <a:endParaRPr lang="en-US" baseline="0" dirty="0"/>
          </a:p>
          <a:p>
            <a:r>
              <a:rPr lang="en-US" baseline="0" dirty="0" err="1"/>
              <a:t>Unmapping</a:t>
            </a:r>
            <a:r>
              <a:rPr lang="en-US" baseline="0" dirty="0"/>
              <a:t> has generally not found to be impactful on VSP class storage., although it was a lot more impactful on HUS1x0 storage where it should certainly be avoided. </a:t>
            </a:r>
          </a:p>
          <a:p>
            <a:endParaRPr lang="en-US" baseline="0" dirty="0"/>
          </a:p>
          <a:p>
            <a:r>
              <a:rPr lang="en-US" baseline="0" dirty="0"/>
              <a:t>If you are still concerned about the overhead of </a:t>
            </a:r>
            <a:r>
              <a:rPr lang="en-US" baseline="0" dirty="0" err="1"/>
              <a:t>unmap</a:t>
            </a:r>
            <a:r>
              <a:rPr lang="en-US" baseline="0" dirty="0"/>
              <a:t>, there are CLI commands which can throttle the rate at which HNAS the pages are </a:t>
            </a:r>
            <a:r>
              <a:rPr lang="en-US" baseline="0" dirty="0" err="1"/>
              <a:t>umapped</a:t>
            </a:r>
            <a:r>
              <a:rPr lang="en-US" baseline="0" dirty="0"/>
              <a:t> at the NAS Level, in order to try to pace the back-end and not create a backlog of work. </a:t>
            </a:r>
          </a:p>
          <a:p>
            <a:endParaRPr lang="en-US" baseline="0" dirty="0"/>
          </a:p>
          <a:p>
            <a:r>
              <a:rPr lang="en-US" baseline="0" dirty="0"/>
              <a:t>Finally, consider that just because you can have multiple spans, doesn’t mean you should though. </a:t>
            </a:r>
          </a:p>
          <a:p>
            <a:endParaRPr lang="en-US" baseline="0" dirty="0"/>
          </a:p>
          <a:p>
            <a:r>
              <a:rPr lang="en-US" baseline="0" dirty="0"/>
              <a:t>You should always weigh up the complexity of too many spans and the IO it might create against the back-end configuration.  In some cases a single span is just fine. </a:t>
            </a:r>
            <a:endParaRPr lang="en-US" dirty="0"/>
          </a:p>
        </p:txBody>
      </p:sp>
    </p:spTree>
    <p:extLst>
      <p:ext uri="{BB962C8B-B14F-4D97-AF65-F5344CB8AC3E}">
        <p14:creationId xmlns:p14="http://schemas.microsoft.com/office/powerpoint/2010/main" val="301576301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talked earlier about queue splits – what are those. </a:t>
            </a:r>
          </a:p>
          <a:p>
            <a:endParaRPr lang="en-US" dirty="0"/>
          </a:p>
          <a:p>
            <a:r>
              <a:rPr lang="en-US" dirty="0"/>
              <a:t>Let’s look at a configuration</a:t>
            </a:r>
            <a:r>
              <a:rPr lang="en-US" baseline="0" dirty="0"/>
              <a:t> where an HDP Pool has a single span.</a:t>
            </a:r>
          </a:p>
          <a:p>
            <a:endParaRPr lang="en-US" baseline="0" dirty="0"/>
          </a:p>
          <a:p>
            <a:r>
              <a:rPr lang="en-US" baseline="0" dirty="0"/>
              <a:t>On top of that span are two files systems. One FS (FS1) is mounted on one EVS on Node 1 and another FS (FS2) is mounted on an EVS on Node 2.</a:t>
            </a:r>
          </a:p>
          <a:p>
            <a:endParaRPr lang="en-US" baseline="0" dirty="0"/>
          </a:p>
          <a:p>
            <a:r>
              <a:rPr lang="en-US" baseline="0" dirty="0"/>
              <a:t>This means that the System Drives are shared between two nodes (two ways). </a:t>
            </a:r>
          </a:p>
          <a:p>
            <a:endParaRPr lang="en-US" baseline="0" dirty="0"/>
          </a:p>
          <a:p>
            <a:r>
              <a:rPr lang="en-US" baseline="0" dirty="0"/>
              <a:t>The cluster recognizes that the System Drives are shared across two nodes and splits the queue depth of the SDs evenly across the 2 initiators.</a:t>
            </a:r>
          </a:p>
          <a:p>
            <a:endParaRPr lang="en-US" baseline="0" dirty="0"/>
          </a:p>
          <a:p>
            <a:r>
              <a:rPr lang="en-US" baseline="0" dirty="0"/>
              <a:t>Each SD on each node now has a queue depth of 16 rather than 32. </a:t>
            </a:r>
          </a:p>
          <a:p>
            <a:endParaRPr lang="en-US" baseline="0" dirty="0"/>
          </a:p>
          <a:p>
            <a:r>
              <a:rPr lang="en-US" baseline="0" dirty="0"/>
              <a:t>This can lead to reduced performance, especially if the workload is skewed (N1 is heavy/N2 is light)</a:t>
            </a:r>
            <a:endParaRPr lang="en-US" dirty="0"/>
          </a:p>
        </p:txBody>
      </p:sp>
    </p:spTree>
    <p:extLst>
      <p:ext uri="{BB962C8B-B14F-4D97-AF65-F5344CB8AC3E}">
        <p14:creationId xmlns:p14="http://schemas.microsoft.com/office/powerpoint/2010/main" val="126196726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a:t>
            </a:r>
            <a:r>
              <a:rPr lang="en-US" baseline="0" dirty="0"/>
              <a:t> I create 2 spans, I can avoid the queue split. </a:t>
            </a:r>
          </a:p>
          <a:p>
            <a:endParaRPr lang="en-US" baseline="0" dirty="0"/>
          </a:p>
          <a:p>
            <a:r>
              <a:rPr lang="en-US" baseline="0" dirty="0"/>
              <a:t>Each node gets its own dedicated SDs</a:t>
            </a:r>
          </a:p>
          <a:p>
            <a:endParaRPr lang="en-US" baseline="0" dirty="0"/>
          </a:p>
          <a:p>
            <a:r>
              <a:rPr lang="en-US" baseline="0" dirty="0"/>
              <a:t>Just because I have double the number of SDs though, doesn’t mean I am home free.</a:t>
            </a:r>
          </a:p>
          <a:p>
            <a:endParaRPr lang="en-US" baseline="0" dirty="0"/>
          </a:p>
          <a:p>
            <a:r>
              <a:rPr lang="en-US" baseline="0" dirty="0"/>
              <a:t>If the underlying HDP Pool has limited </a:t>
            </a:r>
            <a:r>
              <a:rPr lang="en-US" baseline="0" dirty="0" err="1"/>
              <a:t>iops</a:t>
            </a:r>
            <a:r>
              <a:rPr lang="en-US" baseline="0" dirty="0"/>
              <a:t> (e.g. 4 PGs of NL-SAS), I could end up over-driving it. In that scenario, it would be best just to keep the 2 EVS on the same node.</a:t>
            </a:r>
          </a:p>
          <a:p>
            <a:endParaRPr lang="en-US" baseline="0" dirty="0"/>
          </a:p>
          <a:p>
            <a:r>
              <a:rPr lang="en-US" baseline="0" dirty="0"/>
              <a:t>So the technique of creating 2 spans on top of the single HDP pool in order to avoid queue splits, may work well in some instances, but not all – it’s easier to oversubscribe the back-end, especially if it’s underpowered.</a:t>
            </a:r>
          </a:p>
          <a:p>
            <a:endParaRPr lang="en-US" baseline="0" dirty="0"/>
          </a:p>
          <a:p>
            <a:endParaRPr lang="en-US" dirty="0"/>
          </a:p>
        </p:txBody>
      </p:sp>
    </p:spTree>
    <p:extLst>
      <p:ext uri="{BB962C8B-B14F-4D97-AF65-F5344CB8AC3E}">
        <p14:creationId xmlns:p14="http://schemas.microsoft.com/office/powerpoint/2010/main" val="208973133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summarize here.</a:t>
            </a:r>
          </a:p>
          <a:p>
            <a:endParaRPr lang="en-US" dirty="0"/>
          </a:p>
          <a:p>
            <a:r>
              <a:rPr lang="en-US" dirty="0"/>
              <a:t>Splitting the SD queues is generally not a good thing,  but how it impacts performance can vary.</a:t>
            </a:r>
          </a:p>
          <a:p>
            <a:endParaRPr lang="en-US" dirty="0"/>
          </a:p>
          <a:p>
            <a:r>
              <a:rPr lang="en-US" dirty="0"/>
              <a:t>The impact is worse in a skewed workload, because it means that one node will be starved, while the other has an overabundance. </a:t>
            </a:r>
          </a:p>
          <a:p>
            <a:endParaRPr lang="en-US" dirty="0"/>
          </a:p>
          <a:p>
            <a:r>
              <a:rPr lang="en-US" dirty="0"/>
              <a:t>The impact is worse when dealing with an underpowered back-end (NL-SAS), its often less impactful with SSD (Flash)</a:t>
            </a:r>
          </a:p>
          <a:p>
            <a:endParaRPr lang="en-US" dirty="0"/>
          </a:p>
          <a:p>
            <a:r>
              <a:rPr lang="en-US" dirty="0"/>
              <a:t>The more you split the queues the worse it is.. E.g. 4 nodes sharing a pool is worse than 2 nodes sharing a pool (4 way split vs 2 way split)</a:t>
            </a:r>
          </a:p>
          <a:p>
            <a:endParaRPr lang="en-US" dirty="0"/>
          </a:p>
          <a:p>
            <a:r>
              <a:rPr lang="en-US" dirty="0"/>
              <a:t>Some instances the solution is straightforward</a:t>
            </a:r>
          </a:p>
          <a:p>
            <a:endParaRPr lang="en-US" dirty="0"/>
          </a:p>
          <a:p>
            <a:r>
              <a:rPr lang="en-US" dirty="0"/>
              <a:t>E.g. Don’t try to split a small NL-SAS HDP Pool into 2 spans to avoid a split. Your bottleneck is going to be the disk back-end, not the node, so simply create 1 pool and try to keep all the EVS on 1 node. </a:t>
            </a:r>
          </a:p>
          <a:p>
            <a:endParaRPr lang="en-US" dirty="0"/>
          </a:p>
          <a:p>
            <a:r>
              <a:rPr lang="en-US" dirty="0"/>
              <a:t>E.g. A single small PG of flash probably is fine as single span with the queue split. As long as you don’t need &gt;32 file systems, this is probably fine.. You can easily bump up the SD queue depth as the back-end can absorb a lot of IO.</a:t>
            </a:r>
          </a:p>
          <a:p>
            <a:endParaRPr lang="en-US" dirty="0"/>
          </a:p>
          <a:p>
            <a:r>
              <a:rPr lang="en-US" dirty="0"/>
              <a:t>So in summary, apply some thought but try to keep it simple. </a:t>
            </a:r>
          </a:p>
        </p:txBody>
      </p:sp>
    </p:spTree>
    <p:extLst>
      <p:ext uri="{BB962C8B-B14F-4D97-AF65-F5344CB8AC3E}">
        <p14:creationId xmlns:p14="http://schemas.microsoft.com/office/powerpoint/2010/main" val="94266933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of the limitations of HDP Integration, is that the in order to expand (add capacity) to a file system, the system must write a non zero block to each page as it allocates capacity. </a:t>
            </a:r>
          </a:p>
          <a:p>
            <a:endParaRPr lang="en-US" dirty="0"/>
          </a:p>
          <a:p>
            <a:r>
              <a:rPr lang="en-US" dirty="0"/>
              <a:t>This does take some amount of IO and time, therefore file system creation and expansions are limited to 1TB.</a:t>
            </a:r>
          </a:p>
          <a:p>
            <a:endParaRPr lang="en-US" dirty="0"/>
          </a:p>
          <a:p>
            <a:r>
              <a:rPr lang="en-US" dirty="0"/>
              <a:t>This doesn’t mean that you can’t create a 10 or 100TB file system and then let it start at 1TB and auto-expand.. In fact that’s exactly what you should do. </a:t>
            </a:r>
          </a:p>
          <a:p>
            <a:endParaRPr lang="en-US" dirty="0"/>
          </a:p>
          <a:p>
            <a:r>
              <a:rPr lang="en-US" dirty="0"/>
              <a:t>You can combine that with file system thin provisioning that will allow end user/applications to perceive file system capacity as the auto-expansion maximum rather than the fs current size.</a:t>
            </a:r>
          </a:p>
          <a:p>
            <a:endParaRPr lang="en-US" dirty="0"/>
          </a:p>
          <a:p>
            <a:r>
              <a:rPr lang="en-US" dirty="0"/>
              <a:t>There is also a CLI command flag with filesystem-expand –storage-is-lightly-loaded, which allows expansions beyond 1TB, but the process is synchronous and should be done when the system is largely idle</a:t>
            </a:r>
          </a:p>
          <a:p>
            <a:endParaRPr lang="en-US" dirty="0"/>
          </a:p>
          <a:p>
            <a:endParaRPr lang="en-US" dirty="0"/>
          </a:p>
        </p:txBody>
      </p:sp>
    </p:spTree>
    <p:extLst>
      <p:ext uri="{BB962C8B-B14F-4D97-AF65-F5344CB8AC3E}">
        <p14:creationId xmlns:p14="http://schemas.microsoft.com/office/powerpoint/2010/main" val="269039525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HNAS file system supports two blocks size – 4kb and 32kb</a:t>
            </a:r>
          </a:p>
          <a:p>
            <a:endParaRPr lang="en-US" dirty="0"/>
          </a:p>
          <a:p>
            <a:r>
              <a:rPr lang="en-US" dirty="0"/>
              <a:t>4kb  is best suited for capacity efficiency in storing many small files, whereas 32kb is most optimized for IO performance. It is especially beneficial for large block streaming workloads as it requires less ops to read a given amount of data. </a:t>
            </a:r>
          </a:p>
          <a:p>
            <a:endParaRPr lang="en-US" dirty="0"/>
          </a:p>
          <a:p>
            <a:r>
              <a:rPr lang="en-US" dirty="0"/>
              <a:t>4kb tends to place a heavier load on the back-end – more ops requires to read a given amount of data. We recommend against using 4kb file systems on NL-SAS drives.</a:t>
            </a:r>
          </a:p>
          <a:p>
            <a:endParaRPr lang="en-US" dirty="0"/>
          </a:p>
          <a:p>
            <a:r>
              <a:rPr lang="en-US" dirty="0"/>
              <a:t>32kb should be your default choice and the best choice with NL-SAS</a:t>
            </a:r>
          </a:p>
          <a:p>
            <a:endParaRPr lang="en-US" dirty="0"/>
          </a:p>
          <a:p>
            <a:r>
              <a:rPr lang="en-US" dirty="0"/>
              <a:t>One performance exception is when the IO profile is small block in nature. Small block IO writes into a 32kb file system can result in RMW at the FS layer. </a:t>
            </a:r>
          </a:p>
        </p:txBody>
      </p:sp>
    </p:spTree>
    <p:extLst>
      <p:ext uri="{BB962C8B-B14F-4D97-AF65-F5344CB8AC3E}">
        <p14:creationId xmlns:p14="http://schemas.microsoft.com/office/powerpoint/2010/main" val="400592311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that this RMW behavior is something specific to the file system layer, this has nothing to do with RMW at the storage/raid layer. </a:t>
            </a:r>
          </a:p>
          <a:p>
            <a:endParaRPr lang="en-US" dirty="0"/>
          </a:p>
          <a:p>
            <a:r>
              <a:rPr lang="en-US" dirty="0"/>
              <a:t>RMW can occur when modifying an existing file.  In HNAS we never modify data in pace, we always write out into “free space” or “write new”</a:t>
            </a:r>
          </a:p>
          <a:p>
            <a:endParaRPr lang="en-US" dirty="0"/>
          </a:p>
          <a:p>
            <a:r>
              <a:rPr lang="en-US" dirty="0"/>
              <a:t>HNAS does this so that snapshot blocks are preserved – it allows the file system to easily rollback through pointer manipulation.</a:t>
            </a:r>
          </a:p>
          <a:p>
            <a:endParaRPr lang="en-US" dirty="0"/>
          </a:p>
          <a:p>
            <a:endParaRPr lang="en-US" dirty="0"/>
          </a:p>
        </p:txBody>
      </p:sp>
    </p:spTree>
    <p:extLst>
      <p:ext uri="{BB962C8B-B14F-4D97-AF65-F5344CB8AC3E}">
        <p14:creationId xmlns:p14="http://schemas.microsoft.com/office/powerpoint/2010/main" val="70407704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It’s easier to understand this with a visual depiction. </a:t>
            </a:r>
          </a:p>
          <a:p>
            <a:endParaRPr lang="en-US" dirty="0"/>
          </a:p>
          <a:p>
            <a:r>
              <a:rPr lang="en-US" dirty="0"/>
              <a:t>Imagine on the left that we have new data that needs to be written (yellow) over the existing cyan. This is pretty straightforward if this is just one block replacing another block.</a:t>
            </a:r>
          </a:p>
          <a:p>
            <a:endParaRPr lang="en-US" dirty="0"/>
          </a:p>
          <a:p>
            <a:r>
              <a:rPr lang="en-US" dirty="0"/>
              <a:t>But looking at the right now…  what if the modification is small – it’s a partial block update. </a:t>
            </a:r>
          </a:p>
          <a:p>
            <a:endParaRPr lang="en-US" dirty="0"/>
          </a:p>
          <a:p>
            <a:r>
              <a:rPr lang="en-US" dirty="0"/>
              <a:t>To do that, we have to read the old block in order to merge the partial update with the existing data and then write it out.</a:t>
            </a:r>
          </a:p>
          <a:p>
            <a:endParaRPr lang="en-US" dirty="0"/>
          </a:p>
          <a:p>
            <a:r>
              <a:rPr lang="en-US" dirty="0"/>
              <a:t>This requires us to read the old block, modify it and write it out.</a:t>
            </a:r>
          </a:p>
          <a:p>
            <a:endParaRPr lang="en-US" dirty="0"/>
          </a:p>
          <a:p>
            <a:r>
              <a:rPr lang="en-US" dirty="0"/>
              <a:t>This introduces significant write latency and additional unwanted IO – we have to read from disk, before we can </a:t>
            </a:r>
            <a:r>
              <a:rPr lang="en-US" dirty="0" err="1"/>
              <a:t>destage</a:t>
            </a:r>
            <a:r>
              <a:rPr lang="en-US" dirty="0"/>
              <a:t> and re-write the update. </a:t>
            </a:r>
          </a:p>
          <a:p>
            <a:pPr marL="0" indent="0">
              <a:buNone/>
            </a:pPr>
            <a:endParaRPr lang="en-US" dirty="0"/>
          </a:p>
        </p:txBody>
      </p:sp>
    </p:spTree>
    <p:extLst>
      <p:ext uri="{BB962C8B-B14F-4D97-AF65-F5344CB8AC3E}">
        <p14:creationId xmlns:p14="http://schemas.microsoft.com/office/powerpoint/2010/main" val="197453028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therefore try to avoid RMW</a:t>
            </a:r>
          </a:p>
          <a:p>
            <a:endParaRPr lang="en-US" dirty="0"/>
          </a:p>
          <a:p>
            <a:r>
              <a:rPr lang="en-US" dirty="0"/>
              <a:t>It’s more likely to occur when pairing small block random workloads with 32kf file systems.</a:t>
            </a:r>
          </a:p>
          <a:p>
            <a:endParaRPr lang="en-US" dirty="0"/>
          </a:p>
          <a:p>
            <a:r>
              <a:rPr lang="en-US" dirty="0"/>
              <a:t>Oracle OLTP and </a:t>
            </a:r>
            <a:r>
              <a:rPr lang="en-US" dirty="0" err="1"/>
              <a:t>Vmware</a:t>
            </a:r>
            <a:r>
              <a:rPr lang="en-US" dirty="0"/>
              <a:t> are two good examples of small block random workloads that perform poorly on 32kb file system for this reason. </a:t>
            </a:r>
          </a:p>
          <a:p>
            <a:endParaRPr lang="en-US" dirty="0"/>
          </a:p>
          <a:p>
            <a:r>
              <a:rPr lang="en-US" dirty="0"/>
              <a:t>So while 32kb is good for most applications, there are exceptions.</a:t>
            </a:r>
          </a:p>
        </p:txBody>
      </p:sp>
    </p:spTree>
    <p:extLst>
      <p:ext uri="{BB962C8B-B14F-4D97-AF65-F5344CB8AC3E}">
        <p14:creationId xmlns:p14="http://schemas.microsoft.com/office/powerpoint/2010/main" val="165726915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1"/>
            <a:r>
              <a:rPr lang="en-US" sz="1200" dirty="0">
                <a:sym typeface="Wingdings" pitchFamily="2" charset="2"/>
              </a:rPr>
              <a:t>Let’s talk now about how we implement HDP Thin provisioned storage.</a:t>
            </a:r>
          </a:p>
          <a:p>
            <a:pPr lvl="1"/>
            <a:endParaRPr lang="en-US" sz="1200" dirty="0">
              <a:sym typeface="Wingdings" pitchFamily="2" charset="2"/>
            </a:endParaRPr>
          </a:p>
          <a:p>
            <a:pPr lvl="1"/>
            <a:r>
              <a:rPr lang="en-US" sz="1200" dirty="0">
                <a:sym typeface="Wingdings" pitchFamily="2" charset="2"/>
              </a:rPr>
              <a:t>This must first start with accurate sizing, although in-depth discussion on this topic is beyond the scope of this presentation</a:t>
            </a:r>
          </a:p>
          <a:p>
            <a:pPr lvl="1"/>
            <a:endParaRPr lang="en-US" sz="1200" dirty="0">
              <a:sym typeface="Wingdings" pitchFamily="2" charset="2"/>
            </a:endParaRPr>
          </a:p>
          <a:p>
            <a:pPr lvl="1"/>
            <a:r>
              <a:rPr lang="en-US" sz="1200" dirty="0">
                <a:sym typeface="Wingdings" pitchFamily="2" charset="2"/>
              </a:rPr>
              <a:t>Some things to bear in mind though..</a:t>
            </a:r>
          </a:p>
          <a:p>
            <a:pPr lvl="1"/>
            <a:endParaRPr lang="en-US" sz="1200" dirty="0">
              <a:sym typeface="Wingdings" pitchFamily="2" charset="2"/>
            </a:endParaRPr>
          </a:p>
          <a:p>
            <a:pPr lvl="1"/>
            <a:r>
              <a:rPr lang="en-US" sz="1200" dirty="0">
                <a:sym typeface="Wingdings" pitchFamily="2" charset="2"/>
              </a:rPr>
              <a:t>SMB/NFS ops DO not equal IOPS – sometimes 1 NFS/SMB op = multiple disk ops, sometimes the opposite is true. </a:t>
            </a:r>
          </a:p>
          <a:p>
            <a:pPr lvl="1"/>
            <a:endParaRPr lang="en-US" sz="1200" dirty="0">
              <a:sym typeface="Wingdings" pitchFamily="2" charset="2"/>
            </a:endParaRPr>
          </a:p>
          <a:p>
            <a:pPr lvl="1"/>
            <a:r>
              <a:rPr lang="en-US" sz="1200" dirty="0">
                <a:sym typeface="Wingdings" pitchFamily="2" charset="2"/>
              </a:rPr>
              <a:t>HNAS does have a dedicated metadata read cache, but it can be overwhelmed during certain workloads forcing more small block random read workload </a:t>
            </a:r>
          </a:p>
          <a:p>
            <a:pPr lvl="1"/>
            <a:endParaRPr lang="en-US" sz="1200" dirty="0">
              <a:sym typeface="Wingdings" pitchFamily="2" charset="2"/>
            </a:endParaRPr>
          </a:p>
          <a:p>
            <a:pPr lvl="1"/>
            <a:r>
              <a:rPr lang="en-US" sz="1200" dirty="0">
                <a:sym typeface="Wingdings" pitchFamily="2" charset="2"/>
              </a:rPr>
              <a:t>Write workload is often amplified i.e. 1 SMB/NFS write, will often require multiple IO writes. Nature of a file system that writes out redundant metadata structures + the data itself. Other phenomena can result in further amplification.. Plan for the fact that it will happen. </a:t>
            </a:r>
          </a:p>
          <a:p>
            <a:pPr lvl="1"/>
            <a:endParaRPr lang="en-US" sz="1200" dirty="0">
              <a:sym typeface="Wingdings" pitchFamily="2" charset="2"/>
            </a:endParaRPr>
          </a:p>
          <a:p>
            <a:pPr lvl="1"/>
            <a:r>
              <a:rPr lang="en-US" sz="1200" dirty="0">
                <a:sym typeface="Wingdings" pitchFamily="2" charset="2"/>
              </a:rPr>
              <a:t>As a result a 70/30 front end mix, might end up being 60/40 to the back end. Writes are more expensive than reads.</a:t>
            </a:r>
          </a:p>
          <a:p>
            <a:pPr lvl="1"/>
            <a:endParaRPr lang="en-US" sz="1200" dirty="0">
              <a:sym typeface="Wingdings" pitchFamily="2" charset="2"/>
            </a:endParaRPr>
          </a:p>
          <a:p>
            <a:pPr lvl="1"/>
            <a:r>
              <a:rPr lang="en-US" sz="1200" dirty="0">
                <a:sym typeface="Wingdings" pitchFamily="2" charset="2"/>
              </a:rPr>
              <a:t>HNAS does attempt to “</a:t>
            </a:r>
            <a:r>
              <a:rPr lang="en-US" sz="1200" dirty="0" err="1">
                <a:sym typeface="Wingdings" pitchFamily="2" charset="2"/>
              </a:rPr>
              <a:t>sequentialize</a:t>
            </a:r>
            <a:r>
              <a:rPr lang="en-US" sz="1200" dirty="0">
                <a:sym typeface="Wingdings" pitchFamily="2" charset="2"/>
              </a:rPr>
              <a:t>” write IO (</a:t>
            </a:r>
            <a:r>
              <a:rPr lang="en-US" sz="1200" dirty="0" err="1">
                <a:sym typeface="Wingdings" pitchFamily="2" charset="2"/>
              </a:rPr>
              <a:t>Superflush</a:t>
            </a:r>
            <a:r>
              <a:rPr lang="en-US" sz="1200" dirty="0">
                <a:sym typeface="Wingdings" pitchFamily="2" charset="2"/>
              </a:rPr>
              <a:t>). This works well on a fresh file system, but over time the amount of </a:t>
            </a:r>
            <a:r>
              <a:rPr lang="en-US" sz="1200" dirty="0" err="1">
                <a:sym typeface="Wingdings" pitchFamily="2" charset="2"/>
              </a:rPr>
              <a:t>superflush</a:t>
            </a:r>
            <a:r>
              <a:rPr lang="en-US" sz="1200" dirty="0">
                <a:sym typeface="Wingdings" pitchFamily="2" charset="2"/>
              </a:rPr>
              <a:t> will decrease. Therefore plan for writes to become more random over time. </a:t>
            </a:r>
            <a:r>
              <a:rPr lang="en-US" sz="1200" dirty="0" err="1">
                <a:sym typeface="Wingdings" pitchFamily="2" charset="2"/>
              </a:rPr>
              <a:t>Superflush</a:t>
            </a:r>
            <a:r>
              <a:rPr lang="en-US" sz="1200" dirty="0">
                <a:sym typeface="Wingdings" pitchFamily="2" charset="2"/>
              </a:rPr>
              <a:t> block size is 384kb, but non-</a:t>
            </a:r>
            <a:r>
              <a:rPr lang="en-US" sz="1200" dirty="0" err="1">
                <a:sym typeface="Wingdings" pitchFamily="2" charset="2"/>
              </a:rPr>
              <a:t>superflush</a:t>
            </a:r>
            <a:r>
              <a:rPr lang="en-US" sz="1200" dirty="0">
                <a:sym typeface="Wingdings" pitchFamily="2" charset="2"/>
              </a:rPr>
              <a:t> write IOs vary between 4kb and 32kb. File system block size influences read/write IO size, but metadata operations are often smaller IOs</a:t>
            </a:r>
          </a:p>
          <a:p>
            <a:endParaRPr lang="en-US" dirty="0"/>
          </a:p>
        </p:txBody>
      </p:sp>
    </p:spTree>
    <p:extLst>
      <p:ext uri="{BB962C8B-B14F-4D97-AF65-F5344CB8AC3E}">
        <p14:creationId xmlns:p14="http://schemas.microsoft.com/office/powerpoint/2010/main" val="296949131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terms of a set of high level recommendation.</a:t>
            </a:r>
          </a:p>
          <a:p>
            <a:endParaRPr lang="en-US" dirty="0"/>
          </a:p>
          <a:p>
            <a:r>
              <a:rPr lang="en-US" dirty="0"/>
              <a:t>First and foremost – leverage thin provisioning – 200-300% over provisioning is recommended.</a:t>
            </a:r>
          </a:p>
          <a:p>
            <a:endParaRPr lang="en-US" dirty="0"/>
          </a:p>
          <a:p>
            <a:r>
              <a:rPr lang="en-US" dirty="0"/>
              <a:t>One span per HDP pool is the base recommendation, but multiple spans per HDP pool can be deployed depending on the situation at hand</a:t>
            </a:r>
          </a:p>
          <a:p>
            <a:endParaRPr lang="en-US" dirty="0"/>
          </a:p>
          <a:p>
            <a:r>
              <a:rPr lang="en-US" dirty="0"/>
              <a:t>If you decided to implement TFS, then we would recommend two separate HDP pools to separate the different storage types, although it could be implemented as a single HDT Pool and the Tier 0 Metadata DP Volumes could be pinned into Flash (Tier 1) media.</a:t>
            </a:r>
          </a:p>
          <a:p>
            <a:endParaRPr lang="en-US" dirty="0"/>
          </a:p>
          <a:p>
            <a:r>
              <a:rPr lang="en-US" dirty="0"/>
              <a:t>An HDP Pool should be dedicated to a NAS Cluster. It should not be shared with other clusters or with other block hosts. </a:t>
            </a:r>
          </a:p>
          <a:p>
            <a:endParaRPr lang="en-US" dirty="0"/>
          </a:p>
          <a:p>
            <a:r>
              <a:rPr lang="en-US" dirty="0"/>
              <a:t>Why not? First off. HNAS is thin friendly – it is designed to work with thin provisioned pools. Other block hosts operating systems may not be thin friendly and therefore may not operate reliably with a thin provisioned pool. </a:t>
            </a:r>
          </a:p>
          <a:p>
            <a:endParaRPr lang="en-US" dirty="0"/>
          </a:p>
          <a:p>
            <a:r>
              <a:rPr lang="en-US" dirty="0"/>
              <a:t>More often than not though the reason to keep the HDP Pool dedicated is to provide predictable performance. NAS clusters have a habit of creating quite intensive workloads that could interfere with other cluster or other hosts sharing that pool and vice versa. </a:t>
            </a:r>
          </a:p>
          <a:p>
            <a:endParaRPr lang="en-US" dirty="0"/>
          </a:p>
          <a:p>
            <a:r>
              <a:rPr lang="en-US" dirty="0"/>
              <a:t>As mentioned previously queue splits should be avoided.</a:t>
            </a:r>
          </a:p>
          <a:p>
            <a:endParaRPr lang="en-US" dirty="0"/>
          </a:p>
          <a:p>
            <a:r>
              <a:rPr lang="en-US" dirty="0"/>
              <a:t>But many of these practices are </a:t>
            </a:r>
            <a:r>
              <a:rPr lang="en-US" dirty="0" err="1"/>
              <a:t>guideines</a:t>
            </a:r>
            <a:r>
              <a:rPr lang="en-US" dirty="0"/>
              <a:t> and should be adapted according to the workload and configuration. Every circumstances if unique. </a:t>
            </a:r>
          </a:p>
          <a:p>
            <a:endParaRPr lang="en-US" dirty="0"/>
          </a:p>
        </p:txBody>
      </p:sp>
    </p:spTree>
    <p:extLst>
      <p:ext uri="{BB962C8B-B14F-4D97-AF65-F5344CB8AC3E}">
        <p14:creationId xmlns:p14="http://schemas.microsoft.com/office/powerpoint/2010/main" val="81007927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creating the DP Pool and DP Volumes for NAS to consume, customers often struggle to understand how many volumes should be created and what size they should be.</a:t>
            </a:r>
          </a:p>
          <a:p>
            <a:endParaRPr lang="en-US" dirty="0"/>
          </a:p>
          <a:p>
            <a:r>
              <a:rPr lang="en-US" dirty="0"/>
              <a:t>There’s some general guidance that can be provided here, but the guidance here is just that.. Don’t try to get too caught up in the minutiae and try to make it into an exact science, because it isn’t</a:t>
            </a:r>
          </a:p>
          <a:p>
            <a:endParaRPr lang="en-US" dirty="0"/>
          </a:p>
          <a:p>
            <a:r>
              <a:rPr lang="en-US" dirty="0"/>
              <a:t>General speaking for HDD based pools, create 1-2 DP Volumes per 6+2 PG. Certainly 2 DP Volumes for each 14+2 PG. </a:t>
            </a:r>
          </a:p>
          <a:p>
            <a:endParaRPr lang="en-US" dirty="0"/>
          </a:p>
          <a:p>
            <a:r>
              <a:rPr lang="en-US" dirty="0"/>
              <a:t>The size of the volumes should be based on the oversubscription ratio. E.g. If you have 100TB across 4 PGs of 7+1 R5 HDDs, then 4 DP Volumes @50TB each = 200TB – that is an oversubscription of 200%. Equally 8 DP Volumes at 25TB would probably be fine, since that would also be 200% over subscription.</a:t>
            </a:r>
          </a:p>
          <a:p>
            <a:endParaRPr lang="en-US" dirty="0"/>
          </a:p>
          <a:p>
            <a:r>
              <a:rPr lang="en-US" dirty="0"/>
              <a:t>The number of SD is a balance of a few things..</a:t>
            </a:r>
          </a:p>
          <a:p>
            <a:endParaRPr lang="en-US" dirty="0"/>
          </a:p>
          <a:p>
            <a:r>
              <a:rPr lang="en-US" dirty="0"/>
              <a:t>You need at least 4 SDs to form a span. More SD creates more a bit more parallelism, but too much can overwhelm the back-end drives.  Each SD by default will queue 32 IOs (default QD). Too few queue IOs means that you don’t drive the back-end hard enough, the application latency might go up, because it’s not pushing the back-end. Too many queue IOs means that you overdrive the back-end and the latency of the storage will go up, which can also negatively impact performance. </a:t>
            </a:r>
          </a:p>
          <a:p>
            <a:endParaRPr lang="en-US" dirty="0"/>
          </a:p>
          <a:p>
            <a:r>
              <a:rPr lang="en-US" dirty="0"/>
              <a:t>The good news is that per SD queue depth can be dynamically changed via the CLI. So if you initially create 4 SDs, but want to increase QD, you can do that via the CLI. </a:t>
            </a:r>
          </a:p>
          <a:p>
            <a:endParaRPr lang="en-US" dirty="0"/>
          </a:p>
          <a:p>
            <a:r>
              <a:rPr lang="en-US" dirty="0"/>
              <a:t>Let’s look at a few examples:</a:t>
            </a:r>
          </a:p>
          <a:p>
            <a:endParaRPr lang="en-US" dirty="0"/>
          </a:p>
          <a:p>
            <a:endParaRPr lang="en-US" dirty="0"/>
          </a:p>
        </p:txBody>
      </p:sp>
    </p:spTree>
    <p:extLst>
      <p:ext uri="{BB962C8B-B14F-4D97-AF65-F5344CB8AC3E}">
        <p14:creationId xmlns:p14="http://schemas.microsoft.com/office/powerpoint/2010/main" val="287942337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consider a VSP400 Unified. </a:t>
            </a:r>
          </a:p>
          <a:p>
            <a:endParaRPr lang="en-US" dirty="0"/>
          </a:p>
          <a:p>
            <a:r>
              <a:rPr lang="en-US" dirty="0"/>
              <a:t>100TB of 2.4TB 10k drives = 64 drives or 8 PGs</a:t>
            </a:r>
          </a:p>
          <a:p>
            <a:endParaRPr lang="en-US" dirty="0"/>
          </a:p>
          <a:p>
            <a:r>
              <a:rPr lang="en-US" dirty="0"/>
              <a:t>Customer doesn’t believe his configuration will grow much but isn’t sure. </a:t>
            </a:r>
          </a:p>
          <a:p>
            <a:endParaRPr lang="en-US" dirty="0"/>
          </a:p>
          <a:p>
            <a:r>
              <a:rPr lang="en-US" dirty="0"/>
              <a:t>Customer has a requirement for multiple EVS, only 1 EVS is likely to have a heavier load. </a:t>
            </a:r>
          </a:p>
          <a:p>
            <a:endParaRPr lang="en-US" dirty="0"/>
          </a:p>
          <a:p>
            <a:r>
              <a:rPr lang="en-US" dirty="0"/>
              <a:t>In this case, we could </a:t>
            </a:r>
          </a:p>
          <a:p>
            <a:endParaRPr lang="en-US" dirty="0"/>
          </a:p>
          <a:p>
            <a:endParaRPr lang="en-US" dirty="0"/>
          </a:p>
          <a:p>
            <a:r>
              <a:rPr lang="en-US" dirty="0"/>
              <a:t>Create 1 Span with 8 or 16 SDs that provides 200TB total or 2 Spans with 100TB each. </a:t>
            </a:r>
          </a:p>
          <a:p>
            <a:endParaRPr lang="en-US" dirty="0"/>
          </a:p>
          <a:p>
            <a:r>
              <a:rPr lang="en-US" dirty="0"/>
              <a:t>A single span would result in queue split if the EVS run on both nodes</a:t>
            </a:r>
          </a:p>
          <a:p>
            <a:pPr marL="0" indent="0">
              <a:buNone/>
            </a:pPr>
            <a:endParaRPr lang="en-US" dirty="0"/>
          </a:p>
          <a:p>
            <a:r>
              <a:rPr lang="en-US" dirty="0"/>
              <a:t>Two spans could be placed across a single HDP Pool.. So even if 1 EVS on N1 pushed hard, it could use all the underlying PGs without a queue split</a:t>
            </a:r>
          </a:p>
          <a:p>
            <a:endParaRPr lang="en-US" dirty="0"/>
          </a:p>
        </p:txBody>
      </p:sp>
    </p:spTree>
    <p:extLst>
      <p:ext uri="{BB962C8B-B14F-4D97-AF65-F5344CB8AC3E}">
        <p14:creationId xmlns:p14="http://schemas.microsoft.com/office/powerpoint/2010/main" val="95393232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assume we did use 2 Spans then</a:t>
            </a:r>
          </a:p>
          <a:p>
            <a:endParaRPr lang="en-US" dirty="0"/>
          </a:p>
          <a:p>
            <a:r>
              <a:rPr lang="en-US" dirty="0"/>
              <a:t>Single HDP Pool with 16 DP Volumes @12.5TB</a:t>
            </a:r>
          </a:p>
          <a:p>
            <a:endParaRPr lang="en-US" dirty="0"/>
          </a:p>
          <a:p>
            <a:r>
              <a:rPr lang="en-US" dirty="0"/>
              <a:t>8 for Span 1, 8 for Span 2</a:t>
            </a:r>
          </a:p>
          <a:p>
            <a:endParaRPr lang="en-US" dirty="0"/>
          </a:p>
          <a:p>
            <a:r>
              <a:rPr lang="en-US" dirty="0"/>
              <a:t>As we add more PGs over time, we could raise the QD</a:t>
            </a:r>
          </a:p>
        </p:txBody>
      </p:sp>
    </p:spTree>
    <p:extLst>
      <p:ext uri="{BB962C8B-B14F-4D97-AF65-F5344CB8AC3E}">
        <p14:creationId xmlns:p14="http://schemas.microsoft.com/office/powerpoint/2010/main" val="157739495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dirty="0"/>
              <a:t>Let’s look at another example</a:t>
            </a:r>
          </a:p>
          <a:p>
            <a:pPr marL="0" indent="0">
              <a:buNone/>
            </a:pPr>
            <a:endParaRPr lang="en-US" dirty="0"/>
          </a:p>
          <a:p>
            <a:pPr marL="0" indent="0">
              <a:buNone/>
            </a:pPr>
            <a:r>
              <a:rPr lang="en-US" dirty="0"/>
              <a:t>In this example, we have a 400TB Capacity requirement. There’s not a </a:t>
            </a:r>
            <a:r>
              <a:rPr lang="en-US" dirty="0" err="1"/>
              <a:t>mutli</a:t>
            </a:r>
            <a:r>
              <a:rPr lang="en-US" dirty="0"/>
              <a:t>-tenancy requirement here, but there is an emphasis on performance and reaching up to 14GB/sec (READ)</a:t>
            </a:r>
          </a:p>
          <a:p>
            <a:pPr marL="0" indent="0">
              <a:buNone/>
            </a:pPr>
            <a:endParaRPr lang="en-US" dirty="0"/>
          </a:p>
          <a:p>
            <a:pPr marL="0" indent="0">
              <a:buNone/>
            </a:pPr>
            <a:r>
              <a:rPr lang="en-US" dirty="0"/>
              <a:t>The customer expect to offload older / in active data to cloud, so growth is expected to be minimal. </a:t>
            </a:r>
          </a:p>
          <a:p>
            <a:pPr marL="0" indent="0">
              <a:buNone/>
            </a:pPr>
            <a:endParaRPr lang="en-US" dirty="0"/>
          </a:p>
          <a:p>
            <a:pPr marL="0" indent="0">
              <a:buNone/>
            </a:pPr>
            <a:r>
              <a:rPr lang="en-US" dirty="0"/>
              <a:t>The account </a:t>
            </a:r>
            <a:r>
              <a:rPr lang="en-US"/>
              <a:t>team settles on a 4 node 5300 using an E990 w/400TB – 10 x 6+2R6 7.6TB SSD</a:t>
            </a:r>
            <a:endParaRPr lang="en-US" dirty="0"/>
          </a:p>
        </p:txBody>
      </p:sp>
    </p:spTree>
    <p:extLst>
      <p:ext uri="{BB962C8B-B14F-4D97-AF65-F5344CB8AC3E}">
        <p14:creationId xmlns:p14="http://schemas.microsoft.com/office/powerpoint/2010/main" val="846160349"/>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054912473"/>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UVM (Universal</a:t>
            </a:r>
            <a:r>
              <a:rPr lang="en-US" baseline="0" dirty="0"/>
              <a:t> Volume Manager) is supported with Hitachi NAS, but is generally not a good high performance solution owing to the need to re-issue the IO through the VSP </a:t>
            </a:r>
            <a:r>
              <a:rPr lang="en-US" baseline="0" dirty="0" err="1"/>
              <a:t>controlller</a:t>
            </a:r>
            <a:r>
              <a:rPr lang="en-US" baseline="0" dirty="0"/>
              <a:t> to the external array.</a:t>
            </a:r>
          </a:p>
          <a:p>
            <a:endParaRPr lang="en-US" baseline="0" dirty="0"/>
          </a:p>
          <a:p>
            <a:r>
              <a:rPr lang="en-US" baseline="0" dirty="0"/>
              <a:t>There’s essentially two ways in which UVM could be deployed. </a:t>
            </a:r>
          </a:p>
          <a:p>
            <a:endParaRPr lang="en-US" baseline="0" dirty="0"/>
          </a:p>
          <a:p>
            <a:r>
              <a:rPr lang="en-US" baseline="0" dirty="0"/>
              <a:t>In a pass through or via HDP</a:t>
            </a:r>
          </a:p>
          <a:p>
            <a:endParaRPr lang="en-US" baseline="0" dirty="0"/>
          </a:p>
          <a:p>
            <a:r>
              <a:rPr lang="en-US" baseline="0" dirty="0"/>
              <a:t>Pass-through is typically used when an existing HDP Pool is used with HNAS, but there’s a desire to virtualize it behind a VSP array. The existing LUN configuration is basically re-presented through the VSP. </a:t>
            </a:r>
          </a:p>
          <a:p>
            <a:endParaRPr lang="en-US" baseline="0" dirty="0"/>
          </a:p>
          <a:p>
            <a:r>
              <a:rPr lang="en-US" baseline="0" dirty="0"/>
              <a:t>HDP is typically used with a new deployment e.g. if there’s a requirement to utilize a 3</a:t>
            </a:r>
            <a:r>
              <a:rPr lang="en-US" baseline="30000" dirty="0"/>
              <a:t>rd</a:t>
            </a:r>
            <a:r>
              <a:rPr lang="en-US" baseline="0" dirty="0"/>
              <a:t> party array with HNAS or the customer has some additional capacity that he’d like to redeploy through an existing VSP</a:t>
            </a:r>
          </a:p>
          <a:p>
            <a:pPr marL="0" indent="0">
              <a:buNone/>
            </a:pPr>
            <a:endParaRPr lang="en-US" dirty="0"/>
          </a:p>
        </p:txBody>
      </p:sp>
    </p:spTree>
    <p:extLst>
      <p:ext uri="{BB962C8B-B14F-4D97-AF65-F5344CB8AC3E}">
        <p14:creationId xmlns:p14="http://schemas.microsoft.com/office/powerpoint/2010/main" val="1347723487"/>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rPr lang="en-US" dirty="0"/>
              <a:t>Pass-through</a:t>
            </a:r>
            <a:r>
              <a:rPr lang="en-US" baseline="0" dirty="0"/>
              <a:t> presents some challenges to HNAS, since even if the external Hitachi array with an HDP Pool, the HNAS can no longer directly interrogate the HDP Pool.  Therefore even if the Pool were thin provisioned, the HNAS would no longer understand the real capacity. It therefore becomes the Administrator’s responsibility to maintain free space. </a:t>
            </a:r>
          </a:p>
          <a:p>
            <a:endParaRPr lang="en-US" baseline="0" dirty="0"/>
          </a:p>
          <a:p>
            <a:r>
              <a:rPr lang="en-US" baseline="0" dirty="0"/>
              <a:t>To migrate a pool to a UVM pool.</a:t>
            </a:r>
          </a:p>
          <a:p>
            <a:endParaRPr lang="en-US" baseline="0" dirty="0"/>
          </a:p>
          <a:p>
            <a:r>
              <a:rPr lang="en-US" baseline="0" dirty="0"/>
              <a:t>Dismount the file systems.</a:t>
            </a:r>
          </a:p>
          <a:p>
            <a:r>
              <a:rPr lang="en-US" baseline="0" dirty="0"/>
              <a:t>Re-present the LUNs to the HNAS via UVM</a:t>
            </a:r>
          </a:p>
          <a:p>
            <a:r>
              <a:rPr lang="en-US" dirty="0"/>
              <a:t>Use '</a:t>
            </a:r>
            <a:r>
              <a:rPr lang="en-US" dirty="0" err="1"/>
              <a:t>sd</a:t>
            </a:r>
            <a:r>
              <a:rPr lang="en-US" dirty="0"/>
              <a:t>-allow-access' to license the 'new' SDs. </a:t>
            </a:r>
          </a:p>
          <a:p>
            <a:r>
              <a:rPr lang="en-US" dirty="0"/>
              <a:t>Wait for Cod to load by running 'span-wait-for-loading'. The server will log events about changed </a:t>
            </a:r>
            <a:r>
              <a:rPr lang="en-US" dirty="0" err="1"/>
              <a:t>Luids</a:t>
            </a:r>
            <a:r>
              <a:rPr lang="en-US" dirty="0"/>
              <a:t>.</a:t>
            </a:r>
          </a:p>
          <a:p>
            <a:r>
              <a:rPr lang="en-US" dirty="0"/>
              <a:t>If 'span-list' shows the failed span, unload it by typing '</a:t>
            </a:r>
            <a:r>
              <a:rPr lang="en-US" dirty="0" err="1"/>
              <a:t>sd</a:t>
            </a:r>
            <a:r>
              <a:rPr lang="en-US" dirty="0"/>
              <a:t>-rescan-cod &lt;span-instance-name&gt;'. </a:t>
            </a:r>
          </a:p>
          <a:p>
            <a:r>
              <a:rPr lang="en-US" dirty="0"/>
              <a:t>Use 'span-wait-for-loading' to wait for Cod to be rescanned</a:t>
            </a:r>
          </a:p>
          <a:p>
            <a:r>
              <a:rPr lang="en-US" dirty="0"/>
              <a:t>Use '</a:t>
            </a:r>
            <a:r>
              <a:rPr lang="en-US" dirty="0" err="1"/>
              <a:t>sd</a:t>
            </a:r>
            <a:r>
              <a:rPr lang="en-US" dirty="0"/>
              <a:t>-list-changed-</a:t>
            </a:r>
            <a:r>
              <a:rPr lang="en-US" dirty="0" err="1"/>
              <a:t>luids</a:t>
            </a:r>
            <a:r>
              <a:rPr lang="en-US" dirty="0"/>
              <a:t>' to check that the server has detected all changed </a:t>
            </a:r>
            <a:r>
              <a:rPr lang="en-US" dirty="0" err="1"/>
              <a:t>Luids</a:t>
            </a:r>
            <a:r>
              <a:rPr lang="en-US" dirty="0"/>
              <a:t>.</a:t>
            </a:r>
          </a:p>
          <a:p>
            <a:r>
              <a:rPr lang="en-US" dirty="0"/>
              <a:t>Use '</a:t>
            </a:r>
            <a:r>
              <a:rPr lang="en-US" dirty="0" err="1"/>
              <a:t>sd</a:t>
            </a:r>
            <a:r>
              <a:rPr lang="en-US" dirty="0"/>
              <a:t>-recover-from-changed-</a:t>
            </a:r>
            <a:r>
              <a:rPr lang="en-US" dirty="0" err="1"/>
              <a:t>luids</a:t>
            </a:r>
            <a:r>
              <a:rPr lang="en-US" dirty="0"/>
              <a:t>' to make the server reload spans.</a:t>
            </a:r>
          </a:p>
          <a:p>
            <a:r>
              <a:rPr lang="en-US" dirty="0"/>
              <a:t>Run 'span-wait-for-loading' to wait for the Cod to load. Run 'span-list' to see which spans have been recovered. </a:t>
            </a:r>
          </a:p>
          <a:p>
            <a:r>
              <a:rPr lang="en-US" dirty="0"/>
              <a:t>Use 'span-rewrite-cod' to update the Cod, reflecting the updated configuration.</a:t>
            </a:r>
          </a:p>
          <a:p>
            <a:r>
              <a:rPr lang="en-US" dirty="0"/>
              <a:t>Mount file systems. </a:t>
            </a:r>
          </a:p>
          <a:p>
            <a:r>
              <a:rPr lang="en-US" dirty="0"/>
              <a:t>Use '</a:t>
            </a:r>
            <a:r>
              <a:rPr lang="en-US" dirty="0" err="1"/>
              <a:t>sd</a:t>
            </a:r>
            <a:r>
              <a:rPr lang="en-US" dirty="0"/>
              <a:t>-forget' to remove the 'old' SDs from the server's registry.</a:t>
            </a:r>
          </a:p>
        </p:txBody>
      </p:sp>
    </p:spTree>
    <p:extLst>
      <p:ext uri="{BB962C8B-B14F-4D97-AF65-F5344CB8AC3E}">
        <p14:creationId xmlns:p14="http://schemas.microsoft.com/office/powerpoint/2010/main" val="4176650814"/>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UVM based storage that is used in pass through has some limitations – mostly due to the fact that the server</a:t>
            </a:r>
            <a:r>
              <a:rPr lang="en-US" baseline="0" dirty="0"/>
              <a:t> can no longer detect the nature of HDP and the available free space</a:t>
            </a:r>
          </a:p>
          <a:p>
            <a:endParaRPr lang="en-US" baseline="0" dirty="0"/>
          </a:p>
          <a:p>
            <a:r>
              <a:rPr lang="en-US" baseline="0" dirty="0"/>
              <a:t>Since it can no longer interrogate the HDP Layer, it won’t show the available free space, nor will it allow auto-expansion of the span</a:t>
            </a:r>
          </a:p>
          <a:p>
            <a:endParaRPr lang="en-US" baseline="0" dirty="0"/>
          </a:p>
          <a:p>
            <a:r>
              <a:rPr lang="en-US" baseline="0" dirty="0"/>
              <a:t>While the server still performs pre-allocation, and a vacated chunks list, you can no longer use </a:t>
            </a:r>
            <a:r>
              <a:rPr lang="en-US" baseline="0" dirty="0" err="1"/>
              <a:t>unmap</a:t>
            </a:r>
            <a:endParaRPr lang="en-US" baseline="0" dirty="0"/>
          </a:p>
          <a:p>
            <a:endParaRPr lang="en-US" baseline="0" dirty="0"/>
          </a:p>
          <a:p>
            <a:r>
              <a:rPr lang="en-US" baseline="0" dirty="0"/>
              <a:t>It is possible to use HSTM to migrate a UVM based pool to local HDP pool, but be aware that doing so will result in the pool becoming THICK</a:t>
            </a:r>
          </a:p>
          <a:p>
            <a:endParaRPr lang="en-US" baseline="0" dirty="0"/>
          </a:p>
          <a:p>
            <a:r>
              <a:rPr lang="en-US" baseline="0" dirty="0"/>
              <a:t>E.g. if the existing HDP Pool that is being virtualized has 8 x 10TB Volumes based on 40TB of Pool Volumes, if HTSM is used to migrate to another HDP pool. That HDP Pool will require 80TB of capacity. </a:t>
            </a:r>
          </a:p>
        </p:txBody>
      </p:sp>
    </p:spTree>
    <p:extLst>
      <p:ext uri="{BB962C8B-B14F-4D97-AF65-F5344CB8AC3E}">
        <p14:creationId xmlns:p14="http://schemas.microsoft.com/office/powerpoint/2010/main" val="797160015"/>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elect</a:t>
            </a:r>
            <a:r>
              <a:rPr lang="en-US" baseline="0" dirty="0"/>
              <a:t> to use external storage with HNAS, and you’re not forced into re-using an existing span, then the best way it to create the HDP pool locally, but utilize external pool volumes.</a:t>
            </a:r>
          </a:p>
          <a:p>
            <a:endParaRPr lang="en-US" baseline="0" dirty="0"/>
          </a:p>
          <a:p>
            <a:r>
              <a:rPr lang="en-US" baseline="0" dirty="0"/>
              <a:t>In this fashion, the HNAS continues to operate with the HDP pool in a local manner – it will be able to understand real free capacity, auto-expansion will still be available, as will </a:t>
            </a:r>
            <a:r>
              <a:rPr lang="en-US" baseline="0" dirty="0" err="1"/>
              <a:t>unamp</a:t>
            </a:r>
            <a:endParaRPr lang="en-US" baseline="0" dirty="0"/>
          </a:p>
          <a:p>
            <a:endParaRPr lang="en-US" baseline="0" dirty="0"/>
          </a:p>
          <a:p>
            <a:r>
              <a:rPr lang="en-US" baseline="0" dirty="0"/>
              <a:t>If HTSM is used to migrate the external array to internal volumes, the HDP pool would remain THIN, since this would simply be copying the thick pool volumes, the DP Volumes would stay the same. </a:t>
            </a:r>
            <a:endParaRPr lang="en-US" dirty="0"/>
          </a:p>
        </p:txBody>
      </p:sp>
    </p:spTree>
    <p:extLst>
      <p:ext uri="{BB962C8B-B14F-4D97-AF65-F5344CB8AC3E}">
        <p14:creationId xmlns:p14="http://schemas.microsoft.com/office/powerpoint/2010/main" val="2698661622"/>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Contrary to Hitachi Accelerated Flash module drives (FMDs) physical capacity statistics reporting with Hitachi VSP Unified or VSP N, SVOS RF-based data reduction does not currently report in-band the data reduction levels or physical pool utilization level of the host HDP Pool. As such a HNAS system attached to an HDP Pool that is leveraging SVOS RF ADR cannot accurately measure the physical free space available to the HNAS file systems</a:t>
            </a:r>
          </a:p>
          <a:p>
            <a:endParaRPr lang="en-US" dirty="0"/>
          </a:p>
          <a:p>
            <a:r>
              <a:rPr lang="en-US" sz="1400" b="0" i="0" u="none" strike="noStrike" kern="1200" baseline="0" dirty="0">
                <a:solidFill>
                  <a:schemeClr val="tx1"/>
                </a:solidFill>
                <a:latin typeface="+mn-lt"/>
                <a:ea typeface="+mn-ea"/>
                <a:cs typeface="+mn-cs"/>
              </a:rPr>
              <a:t>Since the HNAS in unable to measure actual physical free space when ADR is deployed, it cannot prevent a catastrophic capacity exhaustion event – an attempt made by the system to write to a mounted file system that fails due to lack of available free space (that was previously provided by HDP Integration). In such an event, the file system and its host span will fail and remain offline until additional capacity can be acquired and provisioned to the underlying pool. If this is the only HDP pool used by the NAS system, all NAS resource would be rendered offline, until the situation is rectified (by acquisition of additional capacity). </a:t>
            </a:r>
          </a:p>
          <a:p>
            <a:endParaRPr lang="en-US" sz="1400" b="0" i="0" u="none" strike="noStrike" kern="1200" baseline="0" dirty="0">
              <a:solidFill>
                <a:schemeClr val="tx1"/>
              </a:solidFill>
              <a:latin typeface="+mn-lt"/>
              <a:ea typeface="+mn-ea"/>
              <a:cs typeface="+mn-cs"/>
            </a:endParaRPr>
          </a:p>
          <a:p>
            <a:r>
              <a:rPr lang="en-US" sz="1400" b="0" i="0" u="none" strike="noStrike" kern="1200" baseline="0" dirty="0">
                <a:solidFill>
                  <a:schemeClr val="tx1"/>
                </a:solidFill>
                <a:latin typeface="+mn-lt"/>
                <a:ea typeface="+mn-ea"/>
                <a:cs typeface="+mn-cs"/>
              </a:rPr>
              <a:t>While the use of SVOS RF ADR with HDP Pools attached to HNAS is a supported configuration, for these reasons it is not recommended.</a:t>
            </a:r>
          </a:p>
          <a:p>
            <a:endParaRPr lang="en-US" sz="1400" b="0" i="0" u="none" strike="noStrike" kern="1200" baseline="0" dirty="0">
              <a:solidFill>
                <a:schemeClr val="tx1"/>
              </a:solidFill>
              <a:latin typeface="+mn-lt"/>
              <a:ea typeface="+mn-ea"/>
              <a:cs typeface="+mn-cs"/>
            </a:endParaRPr>
          </a:p>
          <a:p>
            <a:r>
              <a:rPr lang="en-US" sz="1400" b="0" i="0" u="none" strike="noStrike" kern="1200" baseline="0" dirty="0">
                <a:solidFill>
                  <a:schemeClr val="tx1"/>
                </a:solidFill>
                <a:latin typeface="+mn-lt"/>
                <a:ea typeface="+mn-ea"/>
                <a:cs typeface="+mn-cs"/>
              </a:rPr>
              <a:t>Customers who choose to leverage SVOS RF ADR with HDP Pools used by HNAS, must acknowledge and understand that free space management must be performed by consulting the storage system itself for free space information</a:t>
            </a:r>
            <a:endParaRPr lang="en-US" dirty="0"/>
          </a:p>
        </p:txBody>
      </p:sp>
    </p:spTree>
    <p:extLst>
      <p:ext uri="{BB962C8B-B14F-4D97-AF65-F5344CB8AC3E}">
        <p14:creationId xmlns:p14="http://schemas.microsoft.com/office/powerpoint/2010/main" val="4032082528"/>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84200" y="849313"/>
            <a:ext cx="5689600" cy="3200400"/>
          </a:xfrm>
        </p:spPr>
      </p:sp>
      <p:sp>
        <p:nvSpPr>
          <p:cNvPr id="3" name="Notes Placeholder 2"/>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324517029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24_Title Slide">
    <p:spTree>
      <p:nvGrpSpPr>
        <p:cNvPr id="1" name=""/>
        <p:cNvGrpSpPr/>
        <p:nvPr/>
      </p:nvGrpSpPr>
      <p:grpSpPr>
        <a:xfrm>
          <a:off x="0" y="0"/>
          <a:ext cx="0" cy="0"/>
          <a:chOff x="0" y="0"/>
          <a:chExt cx="0" cy="0"/>
        </a:xfrm>
      </p:grpSpPr>
      <p:sp>
        <p:nvSpPr>
          <p:cNvPr id="40" name="Rectangle 39">
            <a:extLst>
              <a:ext uri="{FF2B5EF4-FFF2-40B4-BE49-F238E27FC236}">
                <a16:creationId xmlns:a16="http://schemas.microsoft.com/office/drawing/2014/main" id="{AAA4BB55-22A6-9C48-9B94-C2A7131C877F}"/>
              </a:ext>
            </a:extLst>
          </p:cNvPr>
          <p:cNvSpPr/>
          <p:nvPr userDrawn="1"/>
        </p:nvSpPr>
        <p:spPr>
          <a:xfrm>
            <a:off x="5942892" y="0"/>
            <a:ext cx="3201108" cy="5157216"/>
          </a:xfrm>
          <a:prstGeom prst="rect">
            <a:avLst/>
          </a:prstGeom>
          <a:blipFill>
            <a:blip r:embed="rId2" cstate="screen">
              <a:extLst>
                <a:ext uri="{28A0092B-C50C-407E-A947-70E740481C1C}">
                  <a14:useLocalDpi xmlns:a14="http://schemas.microsoft.com/office/drawing/2010/main"/>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j-lt"/>
            </a:endParaRPr>
          </a:p>
        </p:txBody>
      </p:sp>
      <p:sp>
        <p:nvSpPr>
          <p:cNvPr id="41" name="Rectangle 40">
            <a:extLst>
              <a:ext uri="{FF2B5EF4-FFF2-40B4-BE49-F238E27FC236}">
                <a16:creationId xmlns:a16="http://schemas.microsoft.com/office/drawing/2014/main" id="{DC087B14-6753-6F4D-B0BE-B2E45CBD35B4}"/>
              </a:ext>
            </a:extLst>
          </p:cNvPr>
          <p:cNvSpPr/>
          <p:nvPr userDrawn="1"/>
        </p:nvSpPr>
        <p:spPr>
          <a:xfrm>
            <a:off x="-1" y="0"/>
            <a:ext cx="5942893" cy="5157216"/>
          </a:xfrm>
          <a:prstGeom prst="rect">
            <a:avLst/>
          </a:prstGeom>
          <a:gradFill flip="none" rotWithShape="1">
            <a:gsLst>
              <a:gs pos="0">
                <a:schemeClr val="tx2"/>
              </a:gs>
              <a:gs pos="66000">
                <a:srgbClr val="051C2C"/>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j-lt"/>
            </a:endParaRPr>
          </a:p>
        </p:txBody>
      </p:sp>
      <p:sp>
        <p:nvSpPr>
          <p:cNvPr id="56" name="Subtitle 2"/>
          <p:cNvSpPr>
            <a:spLocks noGrp="1"/>
          </p:cNvSpPr>
          <p:nvPr>
            <p:ph type="subTitle" idx="1" hasCustomPrompt="1"/>
          </p:nvPr>
        </p:nvSpPr>
        <p:spPr>
          <a:xfrm>
            <a:off x="681348" y="2803117"/>
            <a:ext cx="4286425" cy="830997"/>
          </a:xfrm>
          <a:prstGeom prst="rect">
            <a:avLst/>
          </a:prstGeom>
          <a:effectLst/>
        </p:spPr>
        <p:txBody>
          <a:bodyPr/>
          <a:lstStyle>
            <a:lvl1pPr marL="0" marR="0" indent="0" algn="l" defTabSz="914400" rtl="0" eaLnBrk="1" fontAlgn="auto" latinLnBrk="0" hangingPunct="1">
              <a:lnSpc>
                <a:spcPct val="100000"/>
              </a:lnSpc>
              <a:spcBef>
                <a:spcPts val="0"/>
              </a:spcBef>
              <a:spcAft>
                <a:spcPts val="0"/>
              </a:spcAft>
              <a:buClr>
                <a:schemeClr val="accent2"/>
              </a:buClr>
              <a:buSzTx/>
              <a:buFont typeface="Wingdings" charset="2"/>
              <a:buNone/>
              <a:tabLst/>
              <a:defRPr sz="2400" cap="none" baseline="0">
                <a:solidFill>
                  <a:schemeClr val="bg1"/>
                </a:solidFill>
                <a:latin typeface="+mn-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Subtitle placeholder</a:t>
            </a:r>
          </a:p>
          <a:p>
            <a:r>
              <a:rPr lang="en-US" dirty="0"/>
              <a:t>Subtitle placeholder</a:t>
            </a:r>
          </a:p>
        </p:txBody>
      </p:sp>
      <p:sp>
        <p:nvSpPr>
          <p:cNvPr id="57" name="Title 1"/>
          <p:cNvSpPr>
            <a:spLocks noGrp="1"/>
          </p:cNvSpPr>
          <p:nvPr>
            <p:ph type="ctrTitle" hasCustomPrompt="1"/>
          </p:nvPr>
        </p:nvSpPr>
        <p:spPr>
          <a:xfrm>
            <a:off x="681348" y="725773"/>
            <a:ext cx="5148359" cy="2071294"/>
          </a:xfrm>
          <a:prstGeom prst="rect">
            <a:avLst/>
          </a:prstGeom>
          <a:effectLst/>
        </p:spPr>
        <p:txBody>
          <a:bodyPr anchor="t">
            <a:noAutofit/>
          </a:bodyPr>
          <a:lstStyle>
            <a:lvl1pPr>
              <a:lnSpc>
                <a:spcPct val="100000"/>
              </a:lnSpc>
              <a:defRPr sz="4400" b="1" cap="none" baseline="0">
                <a:solidFill>
                  <a:schemeClr val="accent2"/>
                </a:solidFill>
                <a:latin typeface="+mn-lt"/>
              </a:defRPr>
            </a:lvl1pPr>
          </a:lstStyle>
          <a:p>
            <a:r>
              <a:rPr lang="en-US" dirty="0"/>
              <a:t>2 Line Hitachi Title Slide Placeholder </a:t>
            </a:r>
            <a:br>
              <a:rPr lang="en-US" dirty="0"/>
            </a:br>
            <a:r>
              <a:rPr lang="en-US" dirty="0"/>
              <a:t>2 Line Hitachi </a:t>
            </a:r>
          </a:p>
        </p:txBody>
      </p:sp>
      <p:sp>
        <p:nvSpPr>
          <p:cNvPr id="58" name="Text Placeholder 6"/>
          <p:cNvSpPr>
            <a:spLocks noGrp="1"/>
          </p:cNvSpPr>
          <p:nvPr>
            <p:ph type="body" sz="quarter" idx="11" hasCustomPrompt="1"/>
          </p:nvPr>
        </p:nvSpPr>
        <p:spPr>
          <a:xfrm>
            <a:off x="681348" y="3905309"/>
            <a:ext cx="3544411" cy="307777"/>
          </a:xfrm>
        </p:spPr>
        <p:txBody>
          <a:bodyPr anchor="t"/>
          <a:lstStyle>
            <a:lvl1pPr marL="0" indent="0">
              <a:spcBef>
                <a:spcPts val="0"/>
              </a:spcBef>
              <a:spcAft>
                <a:spcPts val="300"/>
              </a:spcAft>
              <a:buNone/>
              <a:defRPr sz="1400" b="1" baseline="0">
                <a:solidFill>
                  <a:schemeClr val="bg1"/>
                </a:solidFill>
              </a:defRPr>
            </a:lvl1pPr>
            <a:lvl2pPr marL="280987" indent="0">
              <a:buNone/>
              <a:defRPr/>
            </a:lvl2pPr>
            <a:lvl3pPr marL="574675" indent="0">
              <a:buNone/>
              <a:defRPr/>
            </a:lvl3pPr>
            <a:lvl4pPr marL="855663" indent="0">
              <a:buNone/>
              <a:defRPr/>
            </a:lvl4pPr>
            <a:lvl5pPr marL="1090613" indent="0">
              <a:buNone/>
              <a:defRPr/>
            </a:lvl5pPr>
          </a:lstStyle>
          <a:p>
            <a:pPr lvl="0"/>
            <a:r>
              <a:rPr lang="en-US" dirty="0"/>
              <a:t>Name Here</a:t>
            </a:r>
          </a:p>
        </p:txBody>
      </p:sp>
      <p:sp>
        <p:nvSpPr>
          <p:cNvPr id="79" name="Text Placeholder 8"/>
          <p:cNvSpPr>
            <a:spLocks noGrp="1"/>
          </p:cNvSpPr>
          <p:nvPr>
            <p:ph type="body" sz="quarter" idx="12" hasCustomPrompt="1"/>
          </p:nvPr>
        </p:nvSpPr>
        <p:spPr>
          <a:xfrm>
            <a:off x="681348" y="4134651"/>
            <a:ext cx="3544411" cy="461665"/>
          </a:xfrm>
        </p:spPr>
        <p:txBody>
          <a:bodyPr anchor="t"/>
          <a:lstStyle>
            <a:lvl1pPr marL="0" indent="0">
              <a:spcBef>
                <a:spcPts val="0"/>
              </a:spcBef>
              <a:spcAft>
                <a:spcPts val="300"/>
              </a:spcAft>
              <a:buNone/>
              <a:defRPr sz="1200">
                <a:solidFill>
                  <a:schemeClr val="bg1"/>
                </a:solidFill>
              </a:defRPr>
            </a:lvl1pPr>
            <a:lvl2pPr marL="280987" indent="0">
              <a:buNone/>
              <a:defRPr/>
            </a:lvl2pPr>
            <a:lvl3pPr marL="574675" indent="0">
              <a:buNone/>
              <a:defRPr/>
            </a:lvl3pPr>
            <a:lvl4pPr marL="855663" indent="0">
              <a:buNone/>
              <a:defRPr/>
            </a:lvl4pPr>
            <a:lvl5pPr marL="1090613" indent="0">
              <a:buNone/>
              <a:defRPr/>
            </a:lvl5pPr>
          </a:lstStyle>
          <a:p>
            <a:pPr lvl="0"/>
            <a:r>
              <a:rPr lang="en-US" dirty="0"/>
              <a:t>Title/Department</a:t>
            </a:r>
            <a:br>
              <a:rPr lang="en-US" dirty="0"/>
            </a:br>
            <a:r>
              <a:rPr lang="en-US" dirty="0"/>
              <a:t>Date</a:t>
            </a:r>
          </a:p>
        </p:txBody>
      </p:sp>
      <p:sp>
        <p:nvSpPr>
          <p:cNvPr id="39" name="TextBox 38"/>
          <p:cNvSpPr txBox="1"/>
          <p:nvPr/>
        </p:nvSpPr>
        <p:spPr>
          <a:xfrm>
            <a:off x="1611" y="4915450"/>
            <a:ext cx="312906" cy="215444"/>
          </a:xfrm>
          <a:prstGeom prst="rect">
            <a:avLst/>
          </a:prstGeom>
          <a:noFill/>
        </p:spPr>
        <p:txBody>
          <a:bodyPr wrap="none" rtlCol="0">
            <a:spAutoFit/>
          </a:bodyPr>
          <a:lstStyle/>
          <a:p>
            <a:fld id="{111F478C-84AE-4601-9BE4-60468A3A6C06}" type="slidenum">
              <a:rPr lang="en-US" sz="800" smtClean="0">
                <a:solidFill>
                  <a:prstClr val="white">
                    <a:alpha val="50000"/>
                  </a:prstClr>
                </a:solidFill>
                <a:latin typeface="Arial"/>
              </a:rPr>
              <a:pPr/>
              <a:t>‹#›</a:t>
            </a:fld>
            <a:endParaRPr lang="en-US" sz="800" dirty="0">
              <a:solidFill>
                <a:prstClr val="white">
                  <a:alpha val="50000"/>
                </a:prstClr>
              </a:solidFill>
              <a:latin typeface="Arial"/>
            </a:endParaRPr>
          </a:p>
        </p:txBody>
      </p:sp>
      <p:sp>
        <p:nvSpPr>
          <p:cNvPr id="47" name="TextBox 46">
            <a:extLst>
              <a:ext uri="{FF2B5EF4-FFF2-40B4-BE49-F238E27FC236}">
                <a16:creationId xmlns:a16="http://schemas.microsoft.com/office/drawing/2014/main" id="{1F6F85EA-1CAA-F34C-8631-AB308554EFA3}"/>
              </a:ext>
            </a:extLst>
          </p:cNvPr>
          <p:cNvSpPr txBox="1"/>
          <p:nvPr userDrawn="1"/>
        </p:nvSpPr>
        <p:spPr>
          <a:xfrm>
            <a:off x="1611" y="4915450"/>
            <a:ext cx="312906" cy="215444"/>
          </a:xfrm>
          <a:prstGeom prst="rect">
            <a:avLst/>
          </a:prstGeom>
          <a:noFill/>
        </p:spPr>
        <p:txBody>
          <a:bodyPr wrap="none" rtlCol="0">
            <a:spAutoFit/>
          </a:bodyPr>
          <a:lstStyle/>
          <a:p>
            <a:fld id="{111F478C-84AE-4601-9BE4-60468A3A6C06}" type="slidenum">
              <a:rPr lang="en-US" sz="800" smtClean="0">
                <a:solidFill>
                  <a:prstClr val="white">
                    <a:alpha val="50000"/>
                  </a:prstClr>
                </a:solidFill>
                <a:latin typeface="Arial"/>
              </a:rPr>
              <a:pPr/>
              <a:t>‹#›</a:t>
            </a:fld>
            <a:endParaRPr lang="en-US" sz="800" dirty="0">
              <a:solidFill>
                <a:prstClr val="white">
                  <a:alpha val="50000"/>
                </a:prstClr>
              </a:solidFill>
              <a:latin typeface="Arial"/>
            </a:endParaRPr>
          </a:p>
        </p:txBody>
      </p:sp>
      <p:sp>
        <p:nvSpPr>
          <p:cNvPr id="38" name="Rectangle 37">
            <a:extLst>
              <a:ext uri="{FF2B5EF4-FFF2-40B4-BE49-F238E27FC236}">
                <a16:creationId xmlns:a16="http://schemas.microsoft.com/office/drawing/2014/main" id="{F4AD3290-648D-D840-B50D-09EEC67C7D28}"/>
              </a:ext>
            </a:extLst>
          </p:cNvPr>
          <p:cNvSpPr/>
          <p:nvPr userDrawn="1"/>
        </p:nvSpPr>
        <p:spPr>
          <a:xfrm>
            <a:off x="5942892" y="0"/>
            <a:ext cx="3201108" cy="5157216"/>
          </a:xfrm>
          <a:prstGeom prst="rect">
            <a:avLst/>
          </a:prstGeom>
          <a:gradFill flip="none" rotWithShape="1">
            <a:gsLst>
              <a:gs pos="53000">
                <a:schemeClr val="bg1">
                  <a:alpha val="0"/>
                </a:schemeClr>
              </a:gs>
              <a:gs pos="0">
                <a:srgbClr val="53E2DD">
                  <a:alpha val="56000"/>
                  <a:lumMod val="29000"/>
                </a:srgbClr>
              </a:gs>
              <a:gs pos="100000">
                <a:schemeClr val="accent2">
                  <a:alpha val="54000"/>
                  <a:lumMod val="38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j-lt"/>
            </a:endParaRPr>
          </a:p>
        </p:txBody>
      </p:sp>
      <p:sp>
        <p:nvSpPr>
          <p:cNvPr id="93" name="Rectangle 92">
            <a:extLst>
              <a:ext uri="{FF2B5EF4-FFF2-40B4-BE49-F238E27FC236}">
                <a16:creationId xmlns:a16="http://schemas.microsoft.com/office/drawing/2014/main" id="{39418557-F9FB-2C49-8652-E9BC5F420543}"/>
              </a:ext>
            </a:extLst>
          </p:cNvPr>
          <p:cNvSpPr/>
          <p:nvPr userDrawn="1"/>
        </p:nvSpPr>
        <p:spPr>
          <a:xfrm>
            <a:off x="5942892" y="0"/>
            <a:ext cx="3201108" cy="5157216"/>
          </a:xfrm>
          <a:prstGeom prst="rect">
            <a:avLst/>
          </a:prstGeom>
          <a:gradFill flip="none" rotWithShape="1">
            <a:gsLst>
              <a:gs pos="71000">
                <a:schemeClr val="tx2">
                  <a:alpha val="0"/>
                </a:schemeClr>
              </a:gs>
              <a:gs pos="100000">
                <a:schemeClr val="tx2">
                  <a:alpha val="65000"/>
                </a:schemeClr>
              </a:gs>
            </a:gsLst>
            <a:lin ang="18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j-lt"/>
            </a:endParaRPr>
          </a:p>
        </p:txBody>
      </p:sp>
      <p:grpSp>
        <p:nvGrpSpPr>
          <p:cNvPr id="42" name="Group 41">
            <a:extLst>
              <a:ext uri="{FF2B5EF4-FFF2-40B4-BE49-F238E27FC236}">
                <a16:creationId xmlns:a16="http://schemas.microsoft.com/office/drawing/2014/main" id="{3EF58E61-59AF-0B40-BD87-B8415DF5B20F}"/>
              </a:ext>
            </a:extLst>
          </p:cNvPr>
          <p:cNvGrpSpPr/>
          <p:nvPr userDrawn="1"/>
        </p:nvGrpSpPr>
        <p:grpSpPr>
          <a:xfrm>
            <a:off x="7684916" y="225821"/>
            <a:ext cx="1247901" cy="356665"/>
            <a:chOff x="2751138" y="3262313"/>
            <a:chExt cx="4665662" cy="1333500"/>
          </a:xfrm>
          <a:solidFill>
            <a:schemeClr val="bg1"/>
          </a:solidFill>
        </p:grpSpPr>
        <p:sp>
          <p:nvSpPr>
            <p:cNvPr id="43" name="Freeform 1">
              <a:extLst>
                <a:ext uri="{FF2B5EF4-FFF2-40B4-BE49-F238E27FC236}">
                  <a16:creationId xmlns:a16="http://schemas.microsoft.com/office/drawing/2014/main" id="{199E89AD-2705-134A-918E-26469FC8CD68}"/>
                </a:ext>
              </a:extLst>
            </p:cNvPr>
            <p:cNvSpPr>
              <a:spLocks noChangeArrowheads="1"/>
            </p:cNvSpPr>
            <p:nvPr/>
          </p:nvSpPr>
          <p:spPr bwMode="auto">
            <a:xfrm>
              <a:off x="6180138" y="3275013"/>
              <a:ext cx="673100" cy="631825"/>
            </a:xfrm>
            <a:custGeom>
              <a:avLst/>
              <a:gdLst>
                <a:gd name="T0" fmla="*/ 465 w 1868"/>
                <a:gd name="T1" fmla="*/ 0 h 1755"/>
                <a:gd name="T2" fmla="*/ 465 w 1868"/>
                <a:gd name="T3" fmla="*/ 700 h 1755"/>
                <a:gd name="T4" fmla="*/ 1402 w 1868"/>
                <a:gd name="T5" fmla="*/ 700 h 1755"/>
                <a:gd name="T6" fmla="*/ 1402 w 1868"/>
                <a:gd name="T7" fmla="*/ 0 h 1755"/>
                <a:gd name="T8" fmla="*/ 1867 w 1868"/>
                <a:gd name="T9" fmla="*/ 0 h 1755"/>
                <a:gd name="T10" fmla="*/ 1867 w 1868"/>
                <a:gd name="T11" fmla="*/ 1754 h 1755"/>
                <a:gd name="T12" fmla="*/ 1402 w 1868"/>
                <a:gd name="T13" fmla="*/ 1754 h 1755"/>
                <a:gd name="T14" fmla="*/ 1402 w 1868"/>
                <a:gd name="T15" fmla="*/ 983 h 1755"/>
                <a:gd name="T16" fmla="*/ 465 w 1868"/>
                <a:gd name="T17" fmla="*/ 983 h 1755"/>
                <a:gd name="T18" fmla="*/ 465 w 1868"/>
                <a:gd name="T19" fmla="*/ 1754 h 1755"/>
                <a:gd name="T20" fmla="*/ 0 w 1868"/>
                <a:gd name="T21" fmla="*/ 1754 h 1755"/>
                <a:gd name="T22" fmla="*/ 0 w 1868"/>
                <a:gd name="T23" fmla="*/ 0 h 1755"/>
                <a:gd name="T24" fmla="*/ 465 w 1868"/>
                <a:gd name="T25" fmla="*/ 0 h 17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68" h="1755">
                  <a:moveTo>
                    <a:pt x="465" y="0"/>
                  </a:moveTo>
                  <a:cubicBezTo>
                    <a:pt x="465" y="0"/>
                    <a:pt x="465" y="705"/>
                    <a:pt x="465" y="700"/>
                  </a:cubicBezTo>
                  <a:lnTo>
                    <a:pt x="1402" y="700"/>
                  </a:lnTo>
                  <a:cubicBezTo>
                    <a:pt x="1402" y="705"/>
                    <a:pt x="1402" y="0"/>
                    <a:pt x="1402" y="0"/>
                  </a:cubicBezTo>
                  <a:cubicBezTo>
                    <a:pt x="1402" y="0"/>
                    <a:pt x="1863" y="0"/>
                    <a:pt x="1867" y="0"/>
                  </a:cubicBezTo>
                  <a:cubicBezTo>
                    <a:pt x="1867" y="0"/>
                    <a:pt x="1867" y="1750"/>
                    <a:pt x="1867" y="1754"/>
                  </a:cubicBezTo>
                  <a:lnTo>
                    <a:pt x="1402" y="1754"/>
                  </a:lnTo>
                  <a:cubicBezTo>
                    <a:pt x="1402" y="1754"/>
                    <a:pt x="1402" y="987"/>
                    <a:pt x="1402" y="983"/>
                  </a:cubicBezTo>
                  <a:cubicBezTo>
                    <a:pt x="1402" y="987"/>
                    <a:pt x="465" y="983"/>
                    <a:pt x="465" y="983"/>
                  </a:cubicBezTo>
                  <a:cubicBezTo>
                    <a:pt x="465" y="987"/>
                    <a:pt x="465" y="1754"/>
                    <a:pt x="465" y="1754"/>
                  </a:cubicBezTo>
                  <a:lnTo>
                    <a:pt x="0" y="1754"/>
                  </a:lnTo>
                  <a:cubicBezTo>
                    <a:pt x="0" y="1754"/>
                    <a:pt x="4" y="0"/>
                    <a:pt x="0" y="0"/>
                  </a:cubicBezTo>
                  <a:lnTo>
                    <a:pt x="465"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44" name="Freeform 2">
              <a:extLst>
                <a:ext uri="{FF2B5EF4-FFF2-40B4-BE49-F238E27FC236}">
                  <a16:creationId xmlns:a16="http://schemas.microsoft.com/office/drawing/2014/main" id="{0494D0CA-794C-0E4B-AA3F-CCDBD582982E}"/>
                </a:ext>
              </a:extLst>
            </p:cNvPr>
            <p:cNvSpPr>
              <a:spLocks noChangeArrowheads="1"/>
            </p:cNvSpPr>
            <p:nvPr/>
          </p:nvSpPr>
          <p:spPr bwMode="auto">
            <a:xfrm>
              <a:off x="4083050" y="3275013"/>
              <a:ext cx="677863" cy="631825"/>
            </a:xfrm>
            <a:custGeom>
              <a:avLst/>
              <a:gdLst>
                <a:gd name="T0" fmla="*/ 1883 w 1884"/>
                <a:gd name="T1" fmla="*/ 0 h 1755"/>
                <a:gd name="T2" fmla="*/ 1883 w 1884"/>
                <a:gd name="T3" fmla="*/ 298 h 1755"/>
                <a:gd name="T4" fmla="*/ 1174 w 1884"/>
                <a:gd name="T5" fmla="*/ 298 h 1755"/>
                <a:gd name="T6" fmla="*/ 1174 w 1884"/>
                <a:gd name="T7" fmla="*/ 1754 h 1755"/>
                <a:gd name="T8" fmla="*/ 709 w 1884"/>
                <a:gd name="T9" fmla="*/ 1754 h 1755"/>
                <a:gd name="T10" fmla="*/ 709 w 1884"/>
                <a:gd name="T11" fmla="*/ 298 h 1755"/>
                <a:gd name="T12" fmla="*/ 0 w 1884"/>
                <a:gd name="T13" fmla="*/ 298 h 1755"/>
                <a:gd name="T14" fmla="*/ 0 w 1884"/>
                <a:gd name="T15" fmla="*/ 0 h 1755"/>
                <a:gd name="T16" fmla="*/ 1883 w 1884"/>
                <a:gd name="T17" fmla="*/ 0 h 17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884" h="1755">
                  <a:moveTo>
                    <a:pt x="1883" y="0"/>
                  </a:moveTo>
                  <a:cubicBezTo>
                    <a:pt x="1883" y="4"/>
                    <a:pt x="1883" y="298"/>
                    <a:pt x="1883" y="298"/>
                  </a:cubicBezTo>
                  <a:lnTo>
                    <a:pt x="1174" y="298"/>
                  </a:lnTo>
                  <a:lnTo>
                    <a:pt x="1174" y="1754"/>
                  </a:lnTo>
                  <a:lnTo>
                    <a:pt x="709" y="1754"/>
                  </a:lnTo>
                  <a:lnTo>
                    <a:pt x="709" y="298"/>
                  </a:lnTo>
                  <a:lnTo>
                    <a:pt x="0" y="298"/>
                  </a:lnTo>
                  <a:lnTo>
                    <a:pt x="0" y="0"/>
                  </a:lnTo>
                  <a:lnTo>
                    <a:pt x="1883"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45" name="Freeform 3">
              <a:extLst>
                <a:ext uri="{FF2B5EF4-FFF2-40B4-BE49-F238E27FC236}">
                  <a16:creationId xmlns:a16="http://schemas.microsoft.com/office/drawing/2014/main" id="{9DCC5901-D10A-FB4A-B33B-ED481418C9B6}"/>
                </a:ext>
              </a:extLst>
            </p:cNvPr>
            <p:cNvSpPr>
              <a:spLocks noChangeArrowheads="1"/>
            </p:cNvSpPr>
            <p:nvPr/>
          </p:nvSpPr>
          <p:spPr bwMode="auto">
            <a:xfrm>
              <a:off x="4614863" y="3275013"/>
              <a:ext cx="796925" cy="631825"/>
            </a:xfrm>
            <a:custGeom>
              <a:avLst/>
              <a:gdLst>
                <a:gd name="T0" fmla="*/ 2214 w 2215"/>
                <a:gd name="T1" fmla="*/ 1754 h 1755"/>
                <a:gd name="T2" fmla="*/ 1695 w 2215"/>
                <a:gd name="T3" fmla="*/ 1754 h 1755"/>
                <a:gd name="T4" fmla="*/ 1542 w 2215"/>
                <a:gd name="T5" fmla="*/ 1377 h 1755"/>
                <a:gd name="T6" fmla="*/ 672 w 2215"/>
                <a:gd name="T7" fmla="*/ 1377 h 1755"/>
                <a:gd name="T8" fmla="*/ 518 w 2215"/>
                <a:gd name="T9" fmla="*/ 1754 h 1755"/>
                <a:gd name="T10" fmla="*/ 0 w 2215"/>
                <a:gd name="T11" fmla="*/ 1754 h 1755"/>
                <a:gd name="T12" fmla="*/ 825 w 2215"/>
                <a:gd name="T13" fmla="*/ 0 h 1755"/>
                <a:gd name="T14" fmla="*/ 1392 w 2215"/>
                <a:gd name="T15" fmla="*/ 0 h 1755"/>
                <a:gd name="T16" fmla="*/ 2214 w 2215"/>
                <a:gd name="T17" fmla="*/ 1754 h 1755"/>
                <a:gd name="T18" fmla="*/ 788 w 2215"/>
                <a:gd name="T19" fmla="*/ 1095 h 1755"/>
                <a:gd name="T20" fmla="*/ 1434 w 2215"/>
                <a:gd name="T21" fmla="*/ 1095 h 1755"/>
                <a:gd name="T22" fmla="*/ 1107 w 2215"/>
                <a:gd name="T23" fmla="*/ 298 h 1755"/>
                <a:gd name="T24" fmla="*/ 788 w 2215"/>
                <a:gd name="T25" fmla="*/ 1095 h 17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15" h="1755">
                  <a:moveTo>
                    <a:pt x="2214" y="1754"/>
                  </a:moveTo>
                  <a:cubicBezTo>
                    <a:pt x="2214" y="1754"/>
                    <a:pt x="1691" y="1754"/>
                    <a:pt x="1695" y="1754"/>
                  </a:cubicBezTo>
                  <a:lnTo>
                    <a:pt x="1542" y="1377"/>
                  </a:lnTo>
                  <a:lnTo>
                    <a:pt x="672" y="1377"/>
                  </a:lnTo>
                  <a:cubicBezTo>
                    <a:pt x="672" y="1377"/>
                    <a:pt x="522" y="1754"/>
                    <a:pt x="518" y="1754"/>
                  </a:cubicBezTo>
                  <a:lnTo>
                    <a:pt x="0" y="1754"/>
                  </a:lnTo>
                  <a:lnTo>
                    <a:pt x="825" y="0"/>
                  </a:lnTo>
                  <a:lnTo>
                    <a:pt x="1392" y="0"/>
                  </a:lnTo>
                  <a:lnTo>
                    <a:pt x="2214" y="1754"/>
                  </a:lnTo>
                  <a:close/>
                  <a:moveTo>
                    <a:pt x="788" y="1095"/>
                  </a:moveTo>
                  <a:lnTo>
                    <a:pt x="1434" y="1095"/>
                  </a:lnTo>
                  <a:lnTo>
                    <a:pt x="1107" y="298"/>
                  </a:lnTo>
                  <a:lnTo>
                    <a:pt x="788" y="1095"/>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46" name="Freeform 4">
              <a:extLst>
                <a:ext uri="{FF2B5EF4-FFF2-40B4-BE49-F238E27FC236}">
                  <a16:creationId xmlns:a16="http://schemas.microsoft.com/office/drawing/2014/main" id="{E89E2B8D-ACF0-2F45-AEFB-BDDCF2F74FCA}"/>
                </a:ext>
              </a:extLst>
            </p:cNvPr>
            <p:cNvSpPr>
              <a:spLocks noChangeArrowheads="1"/>
            </p:cNvSpPr>
            <p:nvPr/>
          </p:nvSpPr>
          <p:spPr bwMode="auto">
            <a:xfrm>
              <a:off x="6985000" y="3275013"/>
              <a:ext cx="166688" cy="631825"/>
            </a:xfrm>
            <a:custGeom>
              <a:avLst/>
              <a:gdLst>
                <a:gd name="T0" fmla="*/ 232 w 465"/>
                <a:gd name="T1" fmla="*/ 1754 h 1755"/>
                <a:gd name="T2" fmla="*/ 0 w 465"/>
                <a:gd name="T3" fmla="*/ 1754 h 1755"/>
                <a:gd name="T4" fmla="*/ 0 w 465"/>
                <a:gd name="T5" fmla="*/ 0 h 1755"/>
                <a:gd name="T6" fmla="*/ 464 w 465"/>
                <a:gd name="T7" fmla="*/ 0 h 1755"/>
                <a:gd name="T8" fmla="*/ 464 w 465"/>
                <a:gd name="T9" fmla="*/ 1754 h 1755"/>
                <a:gd name="T10" fmla="*/ 232 w 465"/>
                <a:gd name="T11" fmla="*/ 1754 h 1755"/>
              </a:gdLst>
              <a:ahLst/>
              <a:cxnLst>
                <a:cxn ang="0">
                  <a:pos x="T0" y="T1"/>
                </a:cxn>
                <a:cxn ang="0">
                  <a:pos x="T2" y="T3"/>
                </a:cxn>
                <a:cxn ang="0">
                  <a:pos x="T4" y="T5"/>
                </a:cxn>
                <a:cxn ang="0">
                  <a:pos x="T6" y="T7"/>
                </a:cxn>
                <a:cxn ang="0">
                  <a:pos x="T8" y="T9"/>
                </a:cxn>
                <a:cxn ang="0">
                  <a:pos x="T10" y="T11"/>
                </a:cxn>
              </a:cxnLst>
              <a:rect l="0" t="0" r="r" b="b"/>
              <a:pathLst>
                <a:path w="465" h="1755">
                  <a:moveTo>
                    <a:pt x="232" y="1754"/>
                  </a:moveTo>
                  <a:lnTo>
                    <a:pt x="0" y="1754"/>
                  </a:lnTo>
                  <a:lnTo>
                    <a:pt x="0" y="0"/>
                  </a:lnTo>
                  <a:lnTo>
                    <a:pt x="464" y="0"/>
                  </a:lnTo>
                  <a:lnTo>
                    <a:pt x="464" y="1754"/>
                  </a:lnTo>
                  <a:lnTo>
                    <a:pt x="232" y="1754"/>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48" name="Freeform 5">
              <a:extLst>
                <a:ext uri="{FF2B5EF4-FFF2-40B4-BE49-F238E27FC236}">
                  <a16:creationId xmlns:a16="http://schemas.microsoft.com/office/drawing/2014/main" id="{22029583-0D66-5343-987C-CF43A574E882}"/>
                </a:ext>
              </a:extLst>
            </p:cNvPr>
            <p:cNvSpPr>
              <a:spLocks noChangeArrowheads="1"/>
            </p:cNvSpPr>
            <p:nvPr/>
          </p:nvSpPr>
          <p:spPr bwMode="auto">
            <a:xfrm>
              <a:off x="3049588" y="3275013"/>
              <a:ext cx="673100" cy="631825"/>
            </a:xfrm>
            <a:custGeom>
              <a:avLst/>
              <a:gdLst>
                <a:gd name="T0" fmla="*/ 465 w 1868"/>
                <a:gd name="T1" fmla="*/ 0 h 1755"/>
                <a:gd name="T2" fmla="*/ 465 w 1868"/>
                <a:gd name="T3" fmla="*/ 700 h 1755"/>
                <a:gd name="T4" fmla="*/ 1402 w 1868"/>
                <a:gd name="T5" fmla="*/ 700 h 1755"/>
                <a:gd name="T6" fmla="*/ 1402 w 1868"/>
                <a:gd name="T7" fmla="*/ 0 h 1755"/>
                <a:gd name="T8" fmla="*/ 1867 w 1868"/>
                <a:gd name="T9" fmla="*/ 0 h 1755"/>
                <a:gd name="T10" fmla="*/ 1867 w 1868"/>
                <a:gd name="T11" fmla="*/ 1754 h 1755"/>
                <a:gd name="T12" fmla="*/ 1402 w 1868"/>
                <a:gd name="T13" fmla="*/ 1754 h 1755"/>
                <a:gd name="T14" fmla="*/ 1402 w 1868"/>
                <a:gd name="T15" fmla="*/ 983 h 1755"/>
                <a:gd name="T16" fmla="*/ 465 w 1868"/>
                <a:gd name="T17" fmla="*/ 983 h 1755"/>
                <a:gd name="T18" fmla="*/ 465 w 1868"/>
                <a:gd name="T19" fmla="*/ 1754 h 1755"/>
                <a:gd name="T20" fmla="*/ 0 w 1868"/>
                <a:gd name="T21" fmla="*/ 1754 h 1755"/>
                <a:gd name="T22" fmla="*/ 0 w 1868"/>
                <a:gd name="T23" fmla="*/ 0 h 1755"/>
                <a:gd name="T24" fmla="*/ 465 w 1868"/>
                <a:gd name="T25" fmla="*/ 0 h 17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68" h="1755">
                  <a:moveTo>
                    <a:pt x="465" y="0"/>
                  </a:moveTo>
                  <a:cubicBezTo>
                    <a:pt x="465" y="0"/>
                    <a:pt x="465" y="705"/>
                    <a:pt x="465" y="700"/>
                  </a:cubicBezTo>
                  <a:lnTo>
                    <a:pt x="1402" y="700"/>
                  </a:lnTo>
                  <a:cubicBezTo>
                    <a:pt x="1402" y="705"/>
                    <a:pt x="1402" y="0"/>
                    <a:pt x="1402" y="0"/>
                  </a:cubicBezTo>
                  <a:cubicBezTo>
                    <a:pt x="1402" y="0"/>
                    <a:pt x="1863" y="0"/>
                    <a:pt x="1867" y="0"/>
                  </a:cubicBezTo>
                  <a:cubicBezTo>
                    <a:pt x="1867" y="0"/>
                    <a:pt x="1867" y="1750"/>
                    <a:pt x="1867" y="1754"/>
                  </a:cubicBezTo>
                  <a:lnTo>
                    <a:pt x="1402" y="1754"/>
                  </a:lnTo>
                  <a:cubicBezTo>
                    <a:pt x="1402" y="1754"/>
                    <a:pt x="1402" y="987"/>
                    <a:pt x="1402" y="983"/>
                  </a:cubicBezTo>
                  <a:cubicBezTo>
                    <a:pt x="1402" y="987"/>
                    <a:pt x="465" y="983"/>
                    <a:pt x="465" y="983"/>
                  </a:cubicBezTo>
                  <a:cubicBezTo>
                    <a:pt x="465" y="987"/>
                    <a:pt x="465" y="1754"/>
                    <a:pt x="465" y="1754"/>
                  </a:cubicBezTo>
                  <a:lnTo>
                    <a:pt x="0" y="1754"/>
                  </a:lnTo>
                  <a:cubicBezTo>
                    <a:pt x="0" y="1754"/>
                    <a:pt x="5" y="0"/>
                    <a:pt x="0" y="0"/>
                  </a:cubicBezTo>
                  <a:lnTo>
                    <a:pt x="465"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49" name="Freeform 6">
              <a:extLst>
                <a:ext uri="{FF2B5EF4-FFF2-40B4-BE49-F238E27FC236}">
                  <a16:creationId xmlns:a16="http://schemas.microsoft.com/office/drawing/2014/main" id="{853178F1-F0AF-6240-8FB2-09BC14B17DBA}"/>
                </a:ext>
              </a:extLst>
            </p:cNvPr>
            <p:cNvSpPr>
              <a:spLocks noChangeArrowheads="1"/>
            </p:cNvSpPr>
            <p:nvPr/>
          </p:nvSpPr>
          <p:spPr bwMode="auto">
            <a:xfrm>
              <a:off x="3854450" y="3275013"/>
              <a:ext cx="168275" cy="631825"/>
            </a:xfrm>
            <a:custGeom>
              <a:avLst/>
              <a:gdLst>
                <a:gd name="T0" fmla="*/ 233 w 466"/>
                <a:gd name="T1" fmla="*/ 1754 h 1755"/>
                <a:gd name="T2" fmla="*/ 0 w 466"/>
                <a:gd name="T3" fmla="*/ 1754 h 1755"/>
                <a:gd name="T4" fmla="*/ 0 w 466"/>
                <a:gd name="T5" fmla="*/ 0 h 1755"/>
                <a:gd name="T6" fmla="*/ 465 w 466"/>
                <a:gd name="T7" fmla="*/ 0 h 1755"/>
                <a:gd name="T8" fmla="*/ 465 w 466"/>
                <a:gd name="T9" fmla="*/ 1754 h 1755"/>
                <a:gd name="T10" fmla="*/ 233 w 466"/>
                <a:gd name="T11" fmla="*/ 1754 h 1755"/>
              </a:gdLst>
              <a:ahLst/>
              <a:cxnLst>
                <a:cxn ang="0">
                  <a:pos x="T0" y="T1"/>
                </a:cxn>
                <a:cxn ang="0">
                  <a:pos x="T2" y="T3"/>
                </a:cxn>
                <a:cxn ang="0">
                  <a:pos x="T4" y="T5"/>
                </a:cxn>
                <a:cxn ang="0">
                  <a:pos x="T6" y="T7"/>
                </a:cxn>
                <a:cxn ang="0">
                  <a:pos x="T8" y="T9"/>
                </a:cxn>
                <a:cxn ang="0">
                  <a:pos x="T10" y="T11"/>
                </a:cxn>
              </a:cxnLst>
              <a:rect l="0" t="0" r="r" b="b"/>
              <a:pathLst>
                <a:path w="466" h="1755">
                  <a:moveTo>
                    <a:pt x="233" y="1754"/>
                  </a:moveTo>
                  <a:lnTo>
                    <a:pt x="0" y="1754"/>
                  </a:lnTo>
                  <a:lnTo>
                    <a:pt x="0" y="0"/>
                  </a:lnTo>
                  <a:lnTo>
                    <a:pt x="465" y="0"/>
                  </a:lnTo>
                  <a:lnTo>
                    <a:pt x="465" y="1754"/>
                  </a:lnTo>
                  <a:lnTo>
                    <a:pt x="233" y="1754"/>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50" name="Freeform 7">
              <a:extLst>
                <a:ext uri="{FF2B5EF4-FFF2-40B4-BE49-F238E27FC236}">
                  <a16:creationId xmlns:a16="http://schemas.microsoft.com/office/drawing/2014/main" id="{587CA836-2BC9-604B-8F93-B6FA817F991A}"/>
                </a:ext>
              </a:extLst>
            </p:cNvPr>
            <p:cNvSpPr>
              <a:spLocks noChangeArrowheads="1"/>
            </p:cNvSpPr>
            <p:nvPr/>
          </p:nvSpPr>
          <p:spPr bwMode="auto">
            <a:xfrm>
              <a:off x="5383213" y="3262313"/>
              <a:ext cx="715962" cy="663575"/>
            </a:xfrm>
            <a:custGeom>
              <a:avLst/>
              <a:gdLst>
                <a:gd name="T0" fmla="*/ 62 w 1988"/>
                <a:gd name="T1" fmla="*/ 1307 h 1842"/>
                <a:gd name="T2" fmla="*/ 0 w 1988"/>
                <a:gd name="T3" fmla="*/ 933 h 1842"/>
                <a:gd name="T4" fmla="*/ 120 w 1988"/>
                <a:gd name="T5" fmla="*/ 423 h 1842"/>
                <a:gd name="T6" fmla="*/ 518 w 1988"/>
                <a:gd name="T7" fmla="*/ 91 h 1842"/>
                <a:gd name="T8" fmla="*/ 1033 w 1988"/>
                <a:gd name="T9" fmla="*/ 0 h 1842"/>
                <a:gd name="T10" fmla="*/ 1618 w 1988"/>
                <a:gd name="T11" fmla="*/ 125 h 1842"/>
                <a:gd name="T12" fmla="*/ 1950 w 1988"/>
                <a:gd name="T13" fmla="*/ 531 h 1842"/>
                <a:gd name="T14" fmla="*/ 1966 w 1988"/>
                <a:gd name="T15" fmla="*/ 643 h 1842"/>
                <a:gd name="T16" fmla="*/ 1481 w 1988"/>
                <a:gd name="T17" fmla="*/ 643 h 1842"/>
                <a:gd name="T18" fmla="*/ 1456 w 1988"/>
                <a:gd name="T19" fmla="*/ 506 h 1842"/>
                <a:gd name="T20" fmla="*/ 1240 w 1988"/>
                <a:gd name="T21" fmla="*/ 303 h 1842"/>
                <a:gd name="T22" fmla="*/ 1037 w 1988"/>
                <a:gd name="T23" fmla="*/ 274 h 1842"/>
                <a:gd name="T24" fmla="*/ 809 w 1988"/>
                <a:gd name="T25" fmla="*/ 315 h 1842"/>
                <a:gd name="T26" fmla="*/ 556 w 1988"/>
                <a:gd name="T27" fmla="*/ 573 h 1842"/>
                <a:gd name="T28" fmla="*/ 494 w 1988"/>
                <a:gd name="T29" fmla="*/ 942 h 1842"/>
                <a:gd name="T30" fmla="*/ 539 w 1988"/>
                <a:gd name="T31" fmla="*/ 1249 h 1842"/>
                <a:gd name="T32" fmla="*/ 792 w 1988"/>
                <a:gd name="T33" fmla="*/ 1527 h 1842"/>
                <a:gd name="T34" fmla="*/ 1041 w 1988"/>
                <a:gd name="T35" fmla="*/ 1572 h 1842"/>
                <a:gd name="T36" fmla="*/ 1257 w 1988"/>
                <a:gd name="T37" fmla="*/ 1539 h 1842"/>
                <a:gd name="T38" fmla="*/ 1460 w 1988"/>
                <a:gd name="T39" fmla="*/ 1356 h 1842"/>
                <a:gd name="T40" fmla="*/ 1497 w 1988"/>
                <a:gd name="T41" fmla="*/ 1170 h 1842"/>
                <a:gd name="T42" fmla="*/ 1987 w 1988"/>
                <a:gd name="T43" fmla="*/ 1170 h 1842"/>
                <a:gd name="T44" fmla="*/ 1962 w 1988"/>
                <a:gd name="T45" fmla="*/ 1336 h 1842"/>
                <a:gd name="T46" fmla="*/ 1638 w 1988"/>
                <a:gd name="T47" fmla="*/ 1721 h 1842"/>
                <a:gd name="T48" fmla="*/ 1041 w 1988"/>
                <a:gd name="T49" fmla="*/ 1841 h 1842"/>
                <a:gd name="T50" fmla="*/ 568 w 1988"/>
                <a:gd name="T51" fmla="*/ 1771 h 1842"/>
                <a:gd name="T52" fmla="*/ 62 w 1988"/>
                <a:gd name="T53" fmla="*/ 1307 h 18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988" h="1842">
                  <a:moveTo>
                    <a:pt x="62" y="1307"/>
                  </a:moveTo>
                  <a:cubicBezTo>
                    <a:pt x="21" y="1191"/>
                    <a:pt x="0" y="1066"/>
                    <a:pt x="0" y="933"/>
                  </a:cubicBezTo>
                  <a:cubicBezTo>
                    <a:pt x="0" y="751"/>
                    <a:pt x="33" y="573"/>
                    <a:pt x="120" y="423"/>
                  </a:cubicBezTo>
                  <a:cubicBezTo>
                    <a:pt x="211" y="270"/>
                    <a:pt x="348" y="154"/>
                    <a:pt x="518" y="91"/>
                  </a:cubicBezTo>
                  <a:cubicBezTo>
                    <a:pt x="680" y="33"/>
                    <a:pt x="850" y="0"/>
                    <a:pt x="1033" y="0"/>
                  </a:cubicBezTo>
                  <a:cubicBezTo>
                    <a:pt x="1240" y="0"/>
                    <a:pt x="1439" y="46"/>
                    <a:pt x="1618" y="125"/>
                  </a:cubicBezTo>
                  <a:cubicBezTo>
                    <a:pt x="1784" y="195"/>
                    <a:pt x="1912" y="349"/>
                    <a:pt x="1950" y="531"/>
                  </a:cubicBezTo>
                  <a:cubicBezTo>
                    <a:pt x="1958" y="568"/>
                    <a:pt x="1962" y="606"/>
                    <a:pt x="1966" y="643"/>
                  </a:cubicBezTo>
                  <a:lnTo>
                    <a:pt x="1481" y="643"/>
                  </a:lnTo>
                  <a:cubicBezTo>
                    <a:pt x="1481" y="597"/>
                    <a:pt x="1472" y="552"/>
                    <a:pt x="1456" y="506"/>
                  </a:cubicBezTo>
                  <a:cubicBezTo>
                    <a:pt x="1419" y="411"/>
                    <a:pt x="1340" y="332"/>
                    <a:pt x="1240" y="303"/>
                  </a:cubicBezTo>
                  <a:cubicBezTo>
                    <a:pt x="1174" y="282"/>
                    <a:pt x="1107" y="274"/>
                    <a:pt x="1037" y="274"/>
                  </a:cubicBezTo>
                  <a:cubicBezTo>
                    <a:pt x="958" y="274"/>
                    <a:pt x="879" y="286"/>
                    <a:pt x="809" y="315"/>
                  </a:cubicBezTo>
                  <a:cubicBezTo>
                    <a:pt x="688" y="357"/>
                    <a:pt x="597" y="452"/>
                    <a:pt x="556" y="573"/>
                  </a:cubicBezTo>
                  <a:cubicBezTo>
                    <a:pt x="514" y="689"/>
                    <a:pt x="494" y="813"/>
                    <a:pt x="494" y="942"/>
                  </a:cubicBezTo>
                  <a:cubicBezTo>
                    <a:pt x="494" y="1050"/>
                    <a:pt x="510" y="1153"/>
                    <a:pt x="539" y="1249"/>
                  </a:cubicBezTo>
                  <a:cubicBezTo>
                    <a:pt x="572" y="1377"/>
                    <a:pt x="672" y="1481"/>
                    <a:pt x="792" y="1527"/>
                  </a:cubicBezTo>
                  <a:cubicBezTo>
                    <a:pt x="871" y="1556"/>
                    <a:pt x="954" y="1572"/>
                    <a:pt x="1041" y="1572"/>
                  </a:cubicBezTo>
                  <a:cubicBezTo>
                    <a:pt x="1116" y="1572"/>
                    <a:pt x="1186" y="1560"/>
                    <a:pt x="1257" y="1539"/>
                  </a:cubicBezTo>
                  <a:cubicBezTo>
                    <a:pt x="1348" y="1510"/>
                    <a:pt x="1423" y="1444"/>
                    <a:pt x="1460" y="1356"/>
                  </a:cubicBezTo>
                  <a:cubicBezTo>
                    <a:pt x="1485" y="1298"/>
                    <a:pt x="1497" y="1236"/>
                    <a:pt x="1497" y="1170"/>
                  </a:cubicBezTo>
                  <a:lnTo>
                    <a:pt x="1987" y="1170"/>
                  </a:lnTo>
                  <a:cubicBezTo>
                    <a:pt x="1983" y="1228"/>
                    <a:pt x="1974" y="1282"/>
                    <a:pt x="1962" y="1336"/>
                  </a:cubicBezTo>
                  <a:cubicBezTo>
                    <a:pt x="1920" y="1510"/>
                    <a:pt x="1800" y="1655"/>
                    <a:pt x="1638" y="1721"/>
                  </a:cubicBezTo>
                  <a:cubicBezTo>
                    <a:pt x="1456" y="1800"/>
                    <a:pt x="1253" y="1841"/>
                    <a:pt x="1041" y="1841"/>
                  </a:cubicBezTo>
                  <a:cubicBezTo>
                    <a:pt x="875" y="1841"/>
                    <a:pt x="718" y="1817"/>
                    <a:pt x="568" y="1771"/>
                  </a:cubicBezTo>
                  <a:cubicBezTo>
                    <a:pt x="336" y="1692"/>
                    <a:pt x="137" y="1527"/>
                    <a:pt x="62" y="1307"/>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51" name="Freeform 8">
              <a:extLst>
                <a:ext uri="{FF2B5EF4-FFF2-40B4-BE49-F238E27FC236}">
                  <a16:creationId xmlns:a16="http://schemas.microsoft.com/office/drawing/2014/main" id="{9BEF782E-D5DE-734F-9C51-AB343EB194F6}"/>
                </a:ext>
              </a:extLst>
            </p:cNvPr>
            <p:cNvSpPr>
              <a:spLocks noChangeArrowheads="1"/>
            </p:cNvSpPr>
            <p:nvPr/>
          </p:nvSpPr>
          <p:spPr bwMode="auto">
            <a:xfrm>
              <a:off x="2751138" y="4083050"/>
              <a:ext cx="153987" cy="398463"/>
            </a:xfrm>
            <a:custGeom>
              <a:avLst/>
              <a:gdLst>
                <a:gd name="T0" fmla="*/ 415 w 428"/>
                <a:gd name="T1" fmla="*/ 0 h 1109"/>
                <a:gd name="T2" fmla="*/ 0 w 428"/>
                <a:gd name="T3" fmla="*/ 38 h 1109"/>
                <a:gd name="T4" fmla="*/ 0 w 428"/>
                <a:gd name="T5" fmla="*/ 100 h 1109"/>
                <a:gd name="T6" fmla="*/ 12 w 428"/>
                <a:gd name="T7" fmla="*/ 100 h 1109"/>
                <a:gd name="T8" fmla="*/ 178 w 428"/>
                <a:gd name="T9" fmla="*/ 241 h 1109"/>
                <a:gd name="T10" fmla="*/ 178 w 428"/>
                <a:gd name="T11" fmla="*/ 1108 h 1109"/>
                <a:gd name="T12" fmla="*/ 427 w 428"/>
                <a:gd name="T13" fmla="*/ 1108 h 1109"/>
                <a:gd name="T14" fmla="*/ 427 w 428"/>
                <a:gd name="T15" fmla="*/ 0 h 1109"/>
                <a:gd name="T16" fmla="*/ 415 w 428"/>
                <a:gd name="T17" fmla="*/ 0 h 1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28" h="1109">
                  <a:moveTo>
                    <a:pt x="415" y="0"/>
                  </a:moveTo>
                  <a:lnTo>
                    <a:pt x="0" y="38"/>
                  </a:lnTo>
                  <a:lnTo>
                    <a:pt x="0" y="100"/>
                  </a:lnTo>
                  <a:lnTo>
                    <a:pt x="12" y="100"/>
                  </a:lnTo>
                  <a:cubicBezTo>
                    <a:pt x="178" y="121"/>
                    <a:pt x="178" y="121"/>
                    <a:pt x="178" y="241"/>
                  </a:cubicBezTo>
                  <a:lnTo>
                    <a:pt x="178" y="1108"/>
                  </a:lnTo>
                  <a:lnTo>
                    <a:pt x="427" y="1108"/>
                  </a:lnTo>
                  <a:lnTo>
                    <a:pt x="427" y="0"/>
                  </a:lnTo>
                  <a:lnTo>
                    <a:pt x="415"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52" name="Freeform 9">
              <a:extLst>
                <a:ext uri="{FF2B5EF4-FFF2-40B4-BE49-F238E27FC236}">
                  <a16:creationId xmlns:a16="http://schemas.microsoft.com/office/drawing/2014/main" id="{0C8F20BF-80B8-AA43-8103-58006CF5B9E1}"/>
                </a:ext>
              </a:extLst>
            </p:cNvPr>
            <p:cNvSpPr>
              <a:spLocks noChangeArrowheads="1"/>
            </p:cNvSpPr>
            <p:nvPr/>
          </p:nvSpPr>
          <p:spPr bwMode="auto">
            <a:xfrm>
              <a:off x="2986088" y="4198938"/>
              <a:ext cx="315912" cy="282575"/>
            </a:xfrm>
            <a:custGeom>
              <a:avLst/>
              <a:gdLst>
                <a:gd name="T0" fmla="*/ 643 w 876"/>
                <a:gd name="T1" fmla="*/ 4 h 785"/>
                <a:gd name="T2" fmla="*/ 353 w 876"/>
                <a:gd name="T3" fmla="*/ 170 h 785"/>
                <a:gd name="T4" fmla="*/ 353 w 876"/>
                <a:gd name="T5" fmla="*/ 0 h 785"/>
                <a:gd name="T6" fmla="*/ 336 w 876"/>
                <a:gd name="T7" fmla="*/ 4 h 785"/>
                <a:gd name="T8" fmla="*/ 0 w 876"/>
                <a:gd name="T9" fmla="*/ 58 h 785"/>
                <a:gd name="T10" fmla="*/ 0 w 876"/>
                <a:gd name="T11" fmla="*/ 116 h 785"/>
                <a:gd name="T12" fmla="*/ 17 w 876"/>
                <a:gd name="T13" fmla="*/ 116 h 785"/>
                <a:gd name="T14" fmla="*/ 145 w 876"/>
                <a:gd name="T15" fmla="*/ 240 h 785"/>
                <a:gd name="T16" fmla="*/ 145 w 876"/>
                <a:gd name="T17" fmla="*/ 784 h 785"/>
                <a:gd name="T18" fmla="*/ 353 w 876"/>
                <a:gd name="T19" fmla="*/ 784 h 785"/>
                <a:gd name="T20" fmla="*/ 353 w 876"/>
                <a:gd name="T21" fmla="*/ 386 h 785"/>
                <a:gd name="T22" fmla="*/ 560 w 876"/>
                <a:gd name="T23" fmla="*/ 141 h 785"/>
                <a:gd name="T24" fmla="*/ 664 w 876"/>
                <a:gd name="T25" fmla="*/ 361 h 785"/>
                <a:gd name="T26" fmla="*/ 664 w 876"/>
                <a:gd name="T27" fmla="*/ 784 h 785"/>
                <a:gd name="T28" fmla="*/ 871 w 876"/>
                <a:gd name="T29" fmla="*/ 784 h 785"/>
                <a:gd name="T30" fmla="*/ 871 w 876"/>
                <a:gd name="T31" fmla="*/ 240 h 785"/>
                <a:gd name="T32" fmla="*/ 643 w 876"/>
                <a:gd name="T33" fmla="*/ 4 h 7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76" h="785">
                  <a:moveTo>
                    <a:pt x="643" y="4"/>
                  </a:moveTo>
                  <a:cubicBezTo>
                    <a:pt x="490" y="4"/>
                    <a:pt x="398" y="108"/>
                    <a:pt x="353" y="170"/>
                  </a:cubicBezTo>
                  <a:cubicBezTo>
                    <a:pt x="353" y="112"/>
                    <a:pt x="353" y="0"/>
                    <a:pt x="353" y="0"/>
                  </a:cubicBezTo>
                  <a:lnTo>
                    <a:pt x="336" y="4"/>
                  </a:lnTo>
                  <a:lnTo>
                    <a:pt x="0" y="58"/>
                  </a:lnTo>
                  <a:lnTo>
                    <a:pt x="0" y="116"/>
                  </a:lnTo>
                  <a:lnTo>
                    <a:pt x="17" y="116"/>
                  </a:lnTo>
                  <a:cubicBezTo>
                    <a:pt x="124" y="120"/>
                    <a:pt x="145" y="141"/>
                    <a:pt x="145" y="240"/>
                  </a:cubicBezTo>
                  <a:lnTo>
                    <a:pt x="145" y="784"/>
                  </a:lnTo>
                  <a:lnTo>
                    <a:pt x="353" y="784"/>
                  </a:lnTo>
                  <a:lnTo>
                    <a:pt x="353" y="386"/>
                  </a:lnTo>
                  <a:cubicBezTo>
                    <a:pt x="353" y="278"/>
                    <a:pt x="452" y="141"/>
                    <a:pt x="560" y="141"/>
                  </a:cubicBezTo>
                  <a:cubicBezTo>
                    <a:pt x="660" y="141"/>
                    <a:pt x="664" y="224"/>
                    <a:pt x="664" y="361"/>
                  </a:cubicBezTo>
                  <a:lnTo>
                    <a:pt x="664" y="784"/>
                  </a:lnTo>
                  <a:lnTo>
                    <a:pt x="871" y="784"/>
                  </a:lnTo>
                  <a:lnTo>
                    <a:pt x="871" y="240"/>
                  </a:lnTo>
                  <a:cubicBezTo>
                    <a:pt x="875" y="87"/>
                    <a:pt x="792" y="4"/>
                    <a:pt x="643" y="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53" name="Freeform 10">
              <a:extLst>
                <a:ext uri="{FF2B5EF4-FFF2-40B4-BE49-F238E27FC236}">
                  <a16:creationId xmlns:a16="http://schemas.microsoft.com/office/drawing/2014/main" id="{5B65AB5A-E732-2349-89E5-B07E524928B0}"/>
                </a:ext>
              </a:extLst>
            </p:cNvPr>
            <p:cNvSpPr>
              <a:spLocks noChangeArrowheads="1"/>
            </p:cNvSpPr>
            <p:nvPr/>
          </p:nvSpPr>
          <p:spPr bwMode="auto">
            <a:xfrm>
              <a:off x="3386138" y="4200525"/>
              <a:ext cx="212725" cy="288925"/>
            </a:xfrm>
            <a:custGeom>
              <a:avLst/>
              <a:gdLst>
                <a:gd name="T0" fmla="*/ 348 w 590"/>
                <a:gd name="T1" fmla="*/ 303 h 802"/>
                <a:gd name="T2" fmla="*/ 195 w 590"/>
                <a:gd name="T3" fmla="*/ 170 h 802"/>
                <a:gd name="T4" fmla="*/ 307 w 590"/>
                <a:gd name="T5" fmla="*/ 100 h 802"/>
                <a:gd name="T6" fmla="*/ 502 w 590"/>
                <a:gd name="T7" fmla="*/ 166 h 802"/>
                <a:gd name="T8" fmla="*/ 535 w 590"/>
                <a:gd name="T9" fmla="*/ 187 h 802"/>
                <a:gd name="T10" fmla="*/ 535 w 590"/>
                <a:gd name="T11" fmla="*/ 162 h 802"/>
                <a:gd name="T12" fmla="*/ 535 w 590"/>
                <a:gd name="T13" fmla="*/ 33 h 802"/>
                <a:gd name="T14" fmla="*/ 506 w 590"/>
                <a:gd name="T15" fmla="*/ 25 h 802"/>
                <a:gd name="T16" fmla="*/ 315 w 590"/>
                <a:gd name="T17" fmla="*/ 0 h 802"/>
                <a:gd name="T18" fmla="*/ 0 w 590"/>
                <a:gd name="T19" fmla="*/ 224 h 802"/>
                <a:gd name="T20" fmla="*/ 228 w 590"/>
                <a:gd name="T21" fmla="*/ 465 h 802"/>
                <a:gd name="T22" fmla="*/ 390 w 590"/>
                <a:gd name="T23" fmla="*/ 606 h 802"/>
                <a:gd name="T24" fmla="*/ 249 w 590"/>
                <a:gd name="T25" fmla="*/ 697 h 802"/>
                <a:gd name="T26" fmla="*/ 20 w 590"/>
                <a:gd name="T27" fmla="*/ 618 h 802"/>
                <a:gd name="T28" fmla="*/ 0 w 590"/>
                <a:gd name="T29" fmla="*/ 606 h 802"/>
                <a:gd name="T30" fmla="*/ 0 w 590"/>
                <a:gd name="T31" fmla="*/ 767 h 802"/>
                <a:gd name="T32" fmla="*/ 16 w 590"/>
                <a:gd name="T33" fmla="*/ 771 h 802"/>
                <a:gd name="T34" fmla="*/ 244 w 590"/>
                <a:gd name="T35" fmla="*/ 801 h 802"/>
                <a:gd name="T36" fmla="*/ 580 w 590"/>
                <a:gd name="T37" fmla="*/ 568 h 802"/>
                <a:gd name="T38" fmla="*/ 348 w 590"/>
                <a:gd name="T39" fmla="*/ 303 h 8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590" h="802">
                  <a:moveTo>
                    <a:pt x="348" y="303"/>
                  </a:moveTo>
                  <a:cubicBezTo>
                    <a:pt x="265" y="261"/>
                    <a:pt x="195" y="228"/>
                    <a:pt x="195" y="170"/>
                  </a:cubicBezTo>
                  <a:cubicBezTo>
                    <a:pt x="195" y="104"/>
                    <a:pt x="274" y="100"/>
                    <a:pt x="307" y="100"/>
                  </a:cubicBezTo>
                  <a:cubicBezTo>
                    <a:pt x="394" y="100"/>
                    <a:pt x="468" y="145"/>
                    <a:pt x="502" y="166"/>
                  </a:cubicBezTo>
                  <a:lnTo>
                    <a:pt x="535" y="187"/>
                  </a:lnTo>
                  <a:lnTo>
                    <a:pt x="535" y="162"/>
                  </a:lnTo>
                  <a:lnTo>
                    <a:pt x="535" y="33"/>
                  </a:lnTo>
                  <a:lnTo>
                    <a:pt x="506" y="25"/>
                  </a:lnTo>
                  <a:cubicBezTo>
                    <a:pt x="468" y="17"/>
                    <a:pt x="398" y="0"/>
                    <a:pt x="315" y="0"/>
                  </a:cubicBezTo>
                  <a:cubicBezTo>
                    <a:pt x="120" y="0"/>
                    <a:pt x="0" y="83"/>
                    <a:pt x="0" y="224"/>
                  </a:cubicBezTo>
                  <a:cubicBezTo>
                    <a:pt x="0" y="353"/>
                    <a:pt x="124" y="411"/>
                    <a:pt x="228" y="465"/>
                  </a:cubicBezTo>
                  <a:cubicBezTo>
                    <a:pt x="311" y="506"/>
                    <a:pt x="390" y="543"/>
                    <a:pt x="390" y="606"/>
                  </a:cubicBezTo>
                  <a:cubicBezTo>
                    <a:pt x="390" y="664"/>
                    <a:pt x="340" y="697"/>
                    <a:pt x="249" y="697"/>
                  </a:cubicBezTo>
                  <a:cubicBezTo>
                    <a:pt x="149" y="697"/>
                    <a:pt x="70" y="647"/>
                    <a:pt x="20" y="618"/>
                  </a:cubicBezTo>
                  <a:lnTo>
                    <a:pt x="0" y="606"/>
                  </a:lnTo>
                  <a:lnTo>
                    <a:pt x="0" y="767"/>
                  </a:lnTo>
                  <a:lnTo>
                    <a:pt x="16" y="771"/>
                  </a:lnTo>
                  <a:cubicBezTo>
                    <a:pt x="58" y="780"/>
                    <a:pt x="137" y="801"/>
                    <a:pt x="244" y="801"/>
                  </a:cubicBezTo>
                  <a:cubicBezTo>
                    <a:pt x="456" y="801"/>
                    <a:pt x="580" y="713"/>
                    <a:pt x="580" y="568"/>
                  </a:cubicBezTo>
                  <a:cubicBezTo>
                    <a:pt x="589" y="419"/>
                    <a:pt x="460" y="357"/>
                    <a:pt x="348" y="30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54" name="Freeform 11">
              <a:extLst>
                <a:ext uri="{FF2B5EF4-FFF2-40B4-BE49-F238E27FC236}">
                  <a16:creationId xmlns:a16="http://schemas.microsoft.com/office/drawing/2014/main" id="{18907CF9-1658-E045-9ADF-2C0EB3806774}"/>
                </a:ext>
              </a:extLst>
            </p:cNvPr>
            <p:cNvSpPr>
              <a:spLocks noChangeArrowheads="1"/>
            </p:cNvSpPr>
            <p:nvPr/>
          </p:nvSpPr>
          <p:spPr bwMode="auto">
            <a:xfrm>
              <a:off x="3635375" y="4198938"/>
              <a:ext cx="325438" cy="396875"/>
            </a:xfrm>
            <a:custGeom>
              <a:avLst/>
              <a:gdLst>
                <a:gd name="T0" fmla="*/ 577 w 906"/>
                <a:gd name="T1" fmla="*/ 4 h 1104"/>
                <a:gd name="T2" fmla="*/ 357 w 906"/>
                <a:gd name="T3" fmla="*/ 112 h 1104"/>
                <a:gd name="T4" fmla="*/ 357 w 906"/>
                <a:gd name="T5" fmla="*/ 0 h 1104"/>
                <a:gd name="T6" fmla="*/ 336 w 906"/>
                <a:gd name="T7" fmla="*/ 4 h 1104"/>
                <a:gd name="T8" fmla="*/ 0 w 906"/>
                <a:gd name="T9" fmla="*/ 58 h 1104"/>
                <a:gd name="T10" fmla="*/ 0 w 906"/>
                <a:gd name="T11" fmla="*/ 116 h 1104"/>
                <a:gd name="T12" fmla="*/ 13 w 906"/>
                <a:gd name="T13" fmla="*/ 116 h 1104"/>
                <a:gd name="T14" fmla="*/ 137 w 906"/>
                <a:gd name="T15" fmla="*/ 240 h 1104"/>
                <a:gd name="T16" fmla="*/ 137 w 906"/>
                <a:gd name="T17" fmla="*/ 1103 h 1104"/>
                <a:gd name="T18" fmla="*/ 345 w 906"/>
                <a:gd name="T19" fmla="*/ 1103 h 1104"/>
                <a:gd name="T20" fmla="*/ 345 w 906"/>
                <a:gd name="T21" fmla="*/ 709 h 1104"/>
                <a:gd name="T22" fmla="*/ 560 w 906"/>
                <a:gd name="T23" fmla="*/ 800 h 1104"/>
                <a:gd name="T24" fmla="*/ 896 w 906"/>
                <a:gd name="T25" fmla="*/ 390 h 1104"/>
                <a:gd name="T26" fmla="*/ 577 w 906"/>
                <a:gd name="T27" fmla="*/ 4 h 1104"/>
                <a:gd name="T28" fmla="*/ 515 w 906"/>
                <a:gd name="T29" fmla="*/ 120 h 1104"/>
                <a:gd name="T30" fmla="*/ 672 w 906"/>
                <a:gd name="T31" fmla="*/ 394 h 1104"/>
                <a:gd name="T32" fmla="*/ 515 w 906"/>
                <a:gd name="T33" fmla="*/ 688 h 1104"/>
                <a:gd name="T34" fmla="*/ 349 w 906"/>
                <a:gd name="T35" fmla="*/ 456 h 1104"/>
                <a:gd name="T36" fmla="*/ 349 w 906"/>
                <a:gd name="T37" fmla="*/ 390 h 1104"/>
                <a:gd name="T38" fmla="*/ 515 w 906"/>
                <a:gd name="T39" fmla="*/ 120 h 1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906" h="1104">
                  <a:moveTo>
                    <a:pt x="577" y="4"/>
                  </a:moveTo>
                  <a:cubicBezTo>
                    <a:pt x="498" y="4"/>
                    <a:pt x="424" y="41"/>
                    <a:pt x="357" y="112"/>
                  </a:cubicBezTo>
                  <a:cubicBezTo>
                    <a:pt x="357" y="75"/>
                    <a:pt x="357" y="0"/>
                    <a:pt x="357" y="0"/>
                  </a:cubicBezTo>
                  <a:lnTo>
                    <a:pt x="336" y="4"/>
                  </a:lnTo>
                  <a:lnTo>
                    <a:pt x="0" y="58"/>
                  </a:lnTo>
                  <a:lnTo>
                    <a:pt x="0" y="116"/>
                  </a:lnTo>
                  <a:lnTo>
                    <a:pt x="13" y="116"/>
                  </a:lnTo>
                  <a:cubicBezTo>
                    <a:pt x="117" y="120"/>
                    <a:pt x="137" y="141"/>
                    <a:pt x="137" y="240"/>
                  </a:cubicBezTo>
                  <a:lnTo>
                    <a:pt x="137" y="1103"/>
                  </a:lnTo>
                  <a:lnTo>
                    <a:pt x="345" y="1103"/>
                  </a:lnTo>
                  <a:cubicBezTo>
                    <a:pt x="345" y="1103"/>
                    <a:pt x="345" y="775"/>
                    <a:pt x="345" y="709"/>
                  </a:cubicBezTo>
                  <a:cubicBezTo>
                    <a:pt x="382" y="755"/>
                    <a:pt x="444" y="800"/>
                    <a:pt x="560" y="800"/>
                  </a:cubicBezTo>
                  <a:cubicBezTo>
                    <a:pt x="780" y="800"/>
                    <a:pt x="896" y="659"/>
                    <a:pt x="896" y="390"/>
                  </a:cubicBezTo>
                  <a:cubicBezTo>
                    <a:pt x="905" y="145"/>
                    <a:pt x="784" y="4"/>
                    <a:pt x="577" y="4"/>
                  </a:cubicBezTo>
                  <a:close/>
                  <a:moveTo>
                    <a:pt x="515" y="120"/>
                  </a:moveTo>
                  <a:cubicBezTo>
                    <a:pt x="656" y="120"/>
                    <a:pt x="672" y="274"/>
                    <a:pt x="672" y="394"/>
                  </a:cubicBezTo>
                  <a:cubicBezTo>
                    <a:pt x="672" y="593"/>
                    <a:pt x="623" y="688"/>
                    <a:pt x="515" y="688"/>
                  </a:cubicBezTo>
                  <a:cubicBezTo>
                    <a:pt x="378" y="688"/>
                    <a:pt x="349" y="560"/>
                    <a:pt x="349" y="456"/>
                  </a:cubicBezTo>
                  <a:lnTo>
                    <a:pt x="349" y="390"/>
                  </a:lnTo>
                  <a:cubicBezTo>
                    <a:pt x="353" y="307"/>
                    <a:pt x="370" y="120"/>
                    <a:pt x="515" y="120"/>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55" name="Freeform 12">
              <a:extLst>
                <a:ext uri="{FF2B5EF4-FFF2-40B4-BE49-F238E27FC236}">
                  <a16:creationId xmlns:a16="http://schemas.microsoft.com/office/drawing/2014/main" id="{6582D328-B23E-7E45-9263-09C953540134}"/>
                </a:ext>
              </a:extLst>
            </p:cNvPr>
            <p:cNvSpPr>
              <a:spLocks noChangeArrowheads="1"/>
            </p:cNvSpPr>
            <p:nvPr/>
          </p:nvSpPr>
          <p:spPr bwMode="auto">
            <a:xfrm>
              <a:off x="4013200" y="4198938"/>
              <a:ext cx="123825" cy="282575"/>
            </a:xfrm>
            <a:custGeom>
              <a:avLst/>
              <a:gdLst>
                <a:gd name="T0" fmla="*/ 0 w 345"/>
                <a:gd name="T1" fmla="*/ 58 h 785"/>
                <a:gd name="T2" fmla="*/ 0 w 345"/>
                <a:gd name="T3" fmla="*/ 116 h 785"/>
                <a:gd name="T4" fmla="*/ 12 w 345"/>
                <a:gd name="T5" fmla="*/ 116 h 785"/>
                <a:gd name="T6" fmla="*/ 137 w 345"/>
                <a:gd name="T7" fmla="*/ 240 h 785"/>
                <a:gd name="T8" fmla="*/ 137 w 345"/>
                <a:gd name="T9" fmla="*/ 784 h 785"/>
                <a:gd name="T10" fmla="*/ 344 w 345"/>
                <a:gd name="T11" fmla="*/ 784 h 785"/>
                <a:gd name="T12" fmla="*/ 344 w 345"/>
                <a:gd name="T13" fmla="*/ 0 h 785"/>
                <a:gd name="T14" fmla="*/ 328 w 345"/>
                <a:gd name="T15" fmla="*/ 4 h 785"/>
                <a:gd name="T16" fmla="*/ 0 w 345"/>
                <a:gd name="T17" fmla="*/ 58 h 7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45" h="785">
                  <a:moveTo>
                    <a:pt x="0" y="58"/>
                  </a:moveTo>
                  <a:lnTo>
                    <a:pt x="0" y="116"/>
                  </a:lnTo>
                  <a:lnTo>
                    <a:pt x="12" y="116"/>
                  </a:lnTo>
                  <a:cubicBezTo>
                    <a:pt x="116" y="120"/>
                    <a:pt x="137" y="141"/>
                    <a:pt x="137" y="240"/>
                  </a:cubicBezTo>
                  <a:lnTo>
                    <a:pt x="137" y="784"/>
                  </a:lnTo>
                  <a:lnTo>
                    <a:pt x="344" y="784"/>
                  </a:lnTo>
                  <a:lnTo>
                    <a:pt x="344" y="0"/>
                  </a:lnTo>
                  <a:lnTo>
                    <a:pt x="328" y="4"/>
                  </a:lnTo>
                  <a:lnTo>
                    <a:pt x="0" y="58"/>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59" name="Freeform 13">
              <a:extLst>
                <a:ext uri="{FF2B5EF4-FFF2-40B4-BE49-F238E27FC236}">
                  <a16:creationId xmlns:a16="http://schemas.microsoft.com/office/drawing/2014/main" id="{1C5D63DB-4DD9-2E40-B566-7E733EBF8861}"/>
                </a:ext>
              </a:extLst>
            </p:cNvPr>
            <p:cNvSpPr>
              <a:spLocks noChangeArrowheads="1"/>
            </p:cNvSpPr>
            <p:nvPr/>
          </p:nvSpPr>
          <p:spPr bwMode="auto">
            <a:xfrm>
              <a:off x="4056063" y="4084638"/>
              <a:ext cx="93662" cy="82550"/>
            </a:xfrm>
            <a:custGeom>
              <a:avLst/>
              <a:gdLst>
                <a:gd name="T0" fmla="*/ 129 w 262"/>
                <a:gd name="T1" fmla="*/ 228 h 229"/>
                <a:gd name="T2" fmla="*/ 261 w 262"/>
                <a:gd name="T3" fmla="*/ 112 h 229"/>
                <a:gd name="T4" fmla="*/ 133 w 262"/>
                <a:gd name="T5" fmla="*/ 0 h 229"/>
                <a:gd name="T6" fmla="*/ 4 w 262"/>
                <a:gd name="T7" fmla="*/ 112 h 229"/>
                <a:gd name="T8" fmla="*/ 129 w 262"/>
                <a:gd name="T9" fmla="*/ 228 h 229"/>
              </a:gdLst>
              <a:ahLst/>
              <a:cxnLst>
                <a:cxn ang="0">
                  <a:pos x="T0" y="T1"/>
                </a:cxn>
                <a:cxn ang="0">
                  <a:pos x="T2" y="T3"/>
                </a:cxn>
                <a:cxn ang="0">
                  <a:pos x="T4" y="T5"/>
                </a:cxn>
                <a:cxn ang="0">
                  <a:pos x="T6" y="T7"/>
                </a:cxn>
                <a:cxn ang="0">
                  <a:pos x="T8" y="T9"/>
                </a:cxn>
              </a:cxnLst>
              <a:rect l="0" t="0" r="r" b="b"/>
              <a:pathLst>
                <a:path w="262" h="229">
                  <a:moveTo>
                    <a:pt x="129" y="228"/>
                  </a:moveTo>
                  <a:cubicBezTo>
                    <a:pt x="199" y="228"/>
                    <a:pt x="261" y="178"/>
                    <a:pt x="261" y="112"/>
                  </a:cubicBezTo>
                  <a:cubicBezTo>
                    <a:pt x="261" y="49"/>
                    <a:pt x="203" y="0"/>
                    <a:pt x="133" y="0"/>
                  </a:cubicBezTo>
                  <a:cubicBezTo>
                    <a:pt x="62" y="0"/>
                    <a:pt x="4" y="49"/>
                    <a:pt x="4" y="112"/>
                  </a:cubicBezTo>
                  <a:cubicBezTo>
                    <a:pt x="0" y="178"/>
                    <a:pt x="58" y="228"/>
                    <a:pt x="129" y="228"/>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60" name="Freeform 14">
              <a:extLst>
                <a:ext uri="{FF2B5EF4-FFF2-40B4-BE49-F238E27FC236}">
                  <a16:creationId xmlns:a16="http://schemas.microsoft.com/office/drawing/2014/main" id="{6CC37E30-3AA8-3A4D-938A-A8B8E7A953F9}"/>
                </a:ext>
              </a:extLst>
            </p:cNvPr>
            <p:cNvSpPr>
              <a:spLocks noChangeArrowheads="1"/>
            </p:cNvSpPr>
            <p:nvPr/>
          </p:nvSpPr>
          <p:spPr bwMode="auto">
            <a:xfrm>
              <a:off x="4211638" y="4200525"/>
              <a:ext cx="244475" cy="280988"/>
            </a:xfrm>
            <a:custGeom>
              <a:avLst/>
              <a:gdLst>
                <a:gd name="T0" fmla="*/ 676 w 677"/>
                <a:gd name="T1" fmla="*/ 174 h 781"/>
                <a:gd name="T2" fmla="*/ 676 w 677"/>
                <a:gd name="T3" fmla="*/ 12 h 781"/>
                <a:gd name="T4" fmla="*/ 663 w 677"/>
                <a:gd name="T5" fmla="*/ 12 h 781"/>
                <a:gd name="T6" fmla="*/ 564 w 677"/>
                <a:gd name="T7" fmla="*/ 4 h 781"/>
                <a:gd name="T8" fmla="*/ 348 w 677"/>
                <a:gd name="T9" fmla="*/ 158 h 781"/>
                <a:gd name="T10" fmla="*/ 348 w 677"/>
                <a:gd name="T11" fmla="*/ 0 h 781"/>
                <a:gd name="T12" fmla="*/ 331 w 677"/>
                <a:gd name="T13" fmla="*/ 0 h 781"/>
                <a:gd name="T14" fmla="*/ 0 w 677"/>
                <a:gd name="T15" fmla="*/ 54 h 781"/>
                <a:gd name="T16" fmla="*/ 0 w 677"/>
                <a:gd name="T17" fmla="*/ 112 h 781"/>
                <a:gd name="T18" fmla="*/ 12 w 677"/>
                <a:gd name="T19" fmla="*/ 112 h 781"/>
                <a:gd name="T20" fmla="*/ 141 w 677"/>
                <a:gd name="T21" fmla="*/ 236 h 781"/>
                <a:gd name="T22" fmla="*/ 141 w 677"/>
                <a:gd name="T23" fmla="*/ 780 h 781"/>
                <a:gd name="T24" fmla="*/ 348 w 677"/>
                <a:gd name="T25" fmla="*/ 780 h 781"/>
                <a:gd name="T26" fmla="*/ 348 w 677"/>
                <a:gd name="T27" fmla="*/ 390 h 781"/>
                <a:gd name="T28" fmla="*/ 568 w 677"/>
                <a:gd name="T29" fmla="*/ 170 h 781"/>
                <a:gd name="T30" fmla="*/ 643 w 677"/>
                <a:gd name="T31" fmla="*/ 183 h 781"/>
                <a:gd name="T32" fmla="*/ 676 w 677"/>
                <a:gd name="T33" fmla="*/ 191 h 781"/>
                <a:gd name="T34" fmla="*/ 676 w 677"/>
                <a:gd name="T35" fmla="*/ 174 h 7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77" h="781">
                  <a:moveTo>
                    <a:pt x="676" y="174"/>
                  </a:moveTo>
                  <a:lnTo>
                    <a:pt x="676" y="12"/>
                  </a:lnTo>
                  <a:lnTo>
                    <a:pt x="663" y="12"/>
                  </a:lnTo>
                  <a:cubicBezTo>
                    <a:pt x="630" y="8"/>
                    <a:pt x="593" y="4"/>
                    <a:pt x="564" y="4"/>
                  </a:cubicBezTo>
                  <a:cubicBezTo>
                    <a:pt x="443" y="4"/>
                    <a:pt x="381" y="91"/>
                    <a:pt x="348" y="158"/>
                  </a:cubicBezTo>
                  <a:cubicBezTo>
                    <a:pt x="348" y="95"/>
                    <a:pt x="348" y="0"/>
                    <a:pt x="348" y="0"/>
                  </a:cubicBezTo>
                  <a:lnTo>
                    <a:pt x="331" y="0"/>
                  </a:lnTo>
                  <a:lnTo>
                    <a:pt x="0" y="54"/>
                  </a:lnTo>
                  <a:lnTo>
                    <a:pt x="0" y="112"/>
                  </a:lnTo>
                  <a:lnTo>
                    <a:pt x="12" y="112"/>
                  </a:lnTo>
                  <a:cubicBezTo>
                    <a:pt x="116" y="116"/>
                    <a:pt x="141" y="137"/>
                    <a:pt x="141" y="236"/>
                  </a:cubicBezTo>
                  <a:lnTo>
                    <a:pt x="141" y="780"/>
                  </a:lnTo>
                  <a:lnTo>
                    <a:pt x="348" y="780"/>
                  </a:lnTo>
                  <a:lnTo>
                    <a:pt x="348" y="390"/>
                  </a:lnTo>
                  <a:cubicBezTo>
                    <a:pt x="348" y="324"/>
                    <a:pt x="369" y="170"/>
                    <a:pt x="568" y="170"/>
                  </a:cubicBezTo>
                  <a:cubicBezTo>
                    <a:pt x="593" y="170"/>
                    <a:pt x="618" y="178"/>
                    <a:pt x="643" y="183"/>
                  </a:cubicBezTo>
                  <a:lnTo>
                    <a:pt x="676" y="191"/>
                  </a:lnTo>
                  <a:lnTo>
                    <a:pt x="676" y="174"/>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61" name="Freeform 15">
              <a:extLst>
                <a:ext uri="{FF2B5EF4-FFF2-40B4-BE49-F238E27FC236}">
                  <a16:creationId xmlns:a16="http://schemas.microsoft.com/office/drawing/2014/main" id="{15F29EA2-8A57-A243-BA94-EEAE6BD449BC}"/>
                </a:ext>
              </a:extLst>
            </p:cNvPr>
            <p:cNvSpPr>
              <a:spLocks noChangeArrowheads="1"/>
            </p:cNvSpPr>
            <p:nvPr/>
          </p:nvSpPr>
          <p:spPr bwMode="auto">
            <a:xfrm>
              <a:off x="4486275" y="4200525"/>
              <a:ext cx="266700" cy="287338"/>
            </a:xfrm>
            <a:custGeom>
              <a:avLst/>
              <a:gdLst>
                <a:gd name="T0" fmla="*/ 738 w 743"/>
                <a:gd name="T1" fmla="*/ 315 h 797"/>
                <a:gd name="T2" fmla="*/ 390 w 743"/>
                <a:gd name="T3" fmla="*/ 0 h 797"/>
                <a:gd name="T4" fmla="*/ 0 w 743"/>
                <a:gd name="T5" fmla="*/ 373 h 797"/>
                <a:gd name="T6" fmla="*/ 456 w 743"/>
                <a:gd name="T7" fmla="*/ 796 h 797"/>
                <a:gd name="T8" fmla="*/ 713 w 743"/>
                <a:gd name="T9" fmla="*/ 755 h 797"/>
                <a:gd name="T10" fmla="*/ 726 w 743"/>
                <a:gd name="T11" fmla="*/ 751 h 797"/>
                <a:gd name="T12" fmla="*/ 726 w 743"/>
                <a:gd name="T13" fmla="*/ 651 h 797"/>
                <a:gd name="T14" fmla="*/ 705 w 743"/>
                <a:gd name="T15" fmla="*/ 660 h 797"/>
                <a:gd name="T16" fmla="*/ 543 w 743"/>
                <a:gd name="T17" fmla="*/ 684 h 797"/>
                <a:gd name="T18" fmla="*/ 232 w 743"/>
                <a:gd name="T19" fmla="*/ 332 h 797"/>
                <a:gd name="T20" fmla="*/ 742 w 743"/>
                <a:gd name="T21" fmla="*/ 332 h 797"/>
                <a:gd name="T22" fmla="*/ 742 w 743"/>
                <a:gd name="T23" fmla="*/ 315 h 797"/>
                <a:gd name="T24" fmla="*/ 738 w 743"/>
                <a:gd name="T25" fmla="*/ 315 h 797"/>
                <a:gd name="T26" fmla="*/ 386 w 743"/>
                <a:gd name="T27" fmla="*/ 83 h 797"/>
                <a:gd name="T28" fmla="*/ 531 w 743"/>
                <a:gd name="T29" fmla="*/ 236 h 797"/>
                <a:gd name="T30" fmla="*/ 228 w 743"/>
                <a:gd name="T31" fmla="*/ 236 h 797"/>
                <a:gd name="T32" fmla="*/ 386 w 743"/>
                <a:gd name="T33" fmla="*/ 83 h 7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743" h="797">
                  <a:moveTo>
                    <a:pt x="738" y="315"/>
                  </a:moveTo>
                  <a:cubicBezTo>
                    <a:pt x="738" y="104"/>
                    <a:pt x="622" y="0"/>
                    <a:pt x="390" y="0"/>
                  </a:cubicBezTo>
                  <a:cubicBezTo>
                    <a:pt x="128" y="0"/>
                    <a:pt x="0" y="124"/>
                    <a:pt x="0" y="373"/>
                  </a:cubicBezTo>
                  <a:cubicBezTo>
                    <a:pt x="0" y="639"/>
                    <a:pt x="170" y="796"/>
                    <a:pt x="456" y="796"/>
                  </a:cubicBezTo>
                  <a:cubicBezTo>
                    <a:pt x="581" y="796"/>
                    <a:pt x="676" y="763"/>
                    <a:pt x="713" y="755"/>
                  </a:cubicBezTo>
                  <a:lnTo>
                    <a:pt x="726" y="751"/>
                  </a:lnTo>
                  <a:lnTo>
                    <a:pt x="726" y="651"/>
                  </a:lnTo>
                  <a:lnTo>
                    <a:pt x="705" y="660"/>
                  </a:lnTo>
                  <a:cubicBezTo>
                    <a:pt x="672" y="672"/>
                    <a:pt x="610" y="684"/>
                    <a:pt x="543" y="684"/>
                  </a:cubicBezTo>
                  <a:cubicBezTo>
                    <a:pt x="319" y="684"/>
                    <a:pt x="236" y="498"/>
                    <a:pt x="232" y="332"/>
                  </a:cubicBezTo>
                  <a:cubicBezTo>
                    <a:pt x="261" y="332"/>
                    <a:pt x="742" y="332"/>
                    <a:pt x="742" y="332"/>
                  </a:cubicBezTo>
                  <a:lnTo>
                    <a:pt x="742" y="315"/>
                  </a:lnTo>
                  <a:lnTo>
                    <a:pt x="738" y="315"/>
                  </a:lnTo>
                  <a:close/>
                  <a:moveTo>
                    <a:pt x="386" y="83"/>
                  </a:moveTo>
                  <a:cubicBezTo>
                    <a:pt x="498" y="83"/>
                    <a:pt x="527" y="166"/>
                    <a:pt x="531" y="236"/>
                  </a:cubicBezTo>
                  <a:cubicBezTo>
                    <a:pt x="506" y="236"/>
                    <a:pt x="257" y="236"/>
                    <a:pt x="228" y="236"/>
                  </a:cubicBezTo>
                  <a:cubicBezTo>
                    <a:pt x="232" y="183"/>
                    <a:pt x="269" y="83"/>
                    <a:pt x="386" y="83"/>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62" name="Freeform 16">
              <a:extLst>
                <a:ext uri="{FF2B5EF4-FFF2-40B4-BE49-F238E27FC236}">
                  <a16:creationId xmlns:a16="http://schemas.microsoft.com/office/drawing/2014/main" id="{8896A965-59FA-E943-96EE-601F7005C896}"/>
                </a:ext>
              </a:extLst>
            </p:cNvPr>
            <p:cNvSpPr>
              <a:spLocks noChangeArrowheads="1"/>
            </p:cNvSpPr>
            <p:nvPr/>
          </p:nvSpPr>
          <p:spPr bwMode="auto">
            <a:xfrm>
              <a:off x="5210175" y="4071938"/>
              <a:ext cx="314325" cy="409575"/>
            </a:xfrm>
            <a:custGeom>
              <a:avLst/>
              <a:gdLst>
                <a:gd name="T0" fmla="*/ 634 w 872"/>
                <a:gd name="T1" fmla="*/ 357 h 1138"/>
                <a:gd name="T2" fmla="*/ 348 w 872"/>
                <a:gd name="T3" fmla="*/ 523 h 1138"/>
                <a:gd name="T4" fmla="*/ 348 w 872"/>
                <a:gd name="T5" fmla="*/ 0 h 1138"/>
                <a:gd name="T6" fmla="*/ 332 w 872"/>
                <a:gd name="T7" fmla="*/ 4 h 1138"/>
                <a:gd name="T8" fmla="*/ 0 w 872"/>
                <a:gd name="T9" fmla="*/ 46 h 1138"/>
                <a:gd name="T10" fmla="*/ 0 w 872"/>
                <a:gd name="T11" fmla="*/ 104 h 1138"/>
                <a:gd name="T12" fmla="*/ 16 w 872"/>
                <a:gd name="T13" fmla="*/ 104 h 1138"/>
                <a:gd name="T14" fmla="*/ 141 w 872"/>
                <a:gd name="T15" fmla="*/ 233 h 1138"/>
                <a:gd name="T16" fmla="*/ 141 w 872"/>
                <a:gd name="T17" fmla="*/ 1137 h 1138"/>
                <a:gd name="T18" fmla="*/ 348 w 872"/>
                <a:gd name="T19" fmla="*/ 1137 h 1138"/>
                <a:gd name="T20" fmla="*/ 348 w 872"/>
                <a:gd name="T21" fmla="*/ 747 h 1138"/>
                <a:gd name="T22" fmla="*/ 547 w 872"/>
                <a:gd name="T23" fmla="*/ 494 h 1138"/>
                <a:gd name="T24" fmla="*/ 663 w 872"/>
                <a:gd name="T25" fmla="*/ 660 h 1138"/>
                <a:gd name="T26" fmla="*/ 663 w 872"/>
                <a:gd name="T27" fmla="*/ 1137 h 1138"/>
                <a:gd name="T28" fmla="*/ 871 w 872"/>
                <a:gd name="T29" fmla="*/ 1137 h 1138"/>
                <a:gd name="T30" fmla="*/ 871 w 872"/>
                <a:gd name="T31" fmla="*/ 635 h 1138"/>
                <a:gd name="T32" fmla="*/ 634 w 872"/>
                <a:gd name="T33" fmla="*/ 357 h 1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72" h="1138">
                  <a:moveTo>
                    <a:pt x="634" y="357"/>
                  </a:moveTo>
                  <a:cubicBezTo>
                    <a:pt x="481" y="357"/>
                    <a:pt x="394" y="452"/>
                    <a:pt x="348" y="523"/>
                  </a:cubicBezTo>
                  <a:cubicBezTo>
                    <a:pt x="348" y="440"/>
                    <a:pt x="348" y="0"/>
                    <a:pt x="348" y="0"/>
                  </a:cubicBezTo>
                  <a:lnTo>
                    <a:pt x="332" y="4"/>
                  </a:lnTo>
                  <a:lnTo>
                    <a:pt x="0" y="46"/>
                  </a:lnTo>
                  <a:lnTo>
                    <a:pt x="0" y="104"/>
                  </a:lnTo>
                  <a:lnTo>
                    <a:pt x="16" y="104"/>
                  </a:lnTo>
                  <a:cubicBezTo>
                    <a:pt x="120" y="108"/>
                    <a:pt x="141" y="133"/>
                    <a:pt x="141" y="233"/>
                  </a:cubicBezTo>
                  <a:lnTo>
                    <a:pt x="141" y="1137"/>
                  </a:lnTo>
                  <a:lnTo>
                    <a:pt x="348" y="1137"/>
                  </a:lnTo>
                  <a:lnTo>
                    <a:pt x="348" y="747"/>
                  </a:lnTo>
                  <a:cubicBezTo>
                    <a:pt x="348" y="606"/>
                    <a:pt x="456" y="494"/>
                    <a:pt x="547" y="494"/>
                  </a:cubicBezTo>
                  <a:cubicBezTo>
                    <a:pt x="663" y="494"/>
                    <a:pt x="663" y="581"/>
                    <a:pt x="663" y="660"/>
                  </a:cubicBezTo>
                  <a:lnTo>
                    <a:pt x="663" y="1137"/>
                  </a:lnTo>
                  <a:lnTo>
                    <a:pt x="871" y="1137"/>
                  </a:lnTo>
                  <a:lnTo>
                    <a:pt x="871" y="635"/>
                  </a:lnTo>
                  <a:cubicBezTo>
                    <a:pt x="871" y="552"/>
                    <a:pt x="871" y="357"/>
                    <a:pt x="634" y="357"/>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63" name="Freeform 17">
              <a:extLst>
                <a:ext uri="{FF2B5EF4-FFF2-40B4-BE49-F238E27FC236}">
                  <a16:creationId xmlns:a16="http://schemas.microsoft.com/office/drawing/2014/main" id="{00A05657-BBA5-E04D-A9B7-BB46AB4158F8}"/>
                </a:ext>
              </a:extLst>
            </p:cNvPr>
            <p:cNvSpPr>
              <a:spLocks noChangeArrowheads="1"/>
            </p:cNvSpPr>
            <p:nvPr/>
          </p:nvSpPr>
          <p:spPr bwMode="auto">
            <a:xfrm>
              <a:off x="5594350" y="4200525"/>
              <a:ext cx="266700" cy="287338"/>
            </a:xfrm>
            <a:custGeom>
              <a:avLst/>
              <a:gdLst>
                <a:gd name="T0" fmla="*/ 742 w 743"/>
                <a:gd name="T1" fmla="*/ 315 h 797"/>
                <a:gd name="T2" fmla="*/ 394 w 743"/>
                <a:gd name="T3" fmla="*/ 0 h 797"/>
                <a:gd name="T4" fmla="*/ 0 w 743"/>
                <a:gd name="T5" fmla="*/ 373 h 797"/>
                <a:gd name="T6" fmla="*/ 456 w 743"/>
                <a:gd name="T7" fmla="*/ 796 h 797"/>
                <a:gd name="T8" fmla="*/ 713 w 743"/>
                <a:gd name="T9" fmla="*/ 755 h 797"/>
                <a:gd name="T10" fmla="*/ 726 w 743"/>
                <a:gd name="T11" fmla="*/ 751 h 797"/>
                <a:gd name="T12" fmla="*/ 726 w 743"/>
                <a:gd name="T13" fmla="*/ 651 h 797"/>
                <a:gd name="T14" fmla="*/ 705 w 743"/>
                <a:gd name="T15" fmla="*/ 660 h 797"/>
                <a:gd name="T16" fmla="*/ 543 w 743"/>
                <a:gd name="T17" fmla="*/ 684 h 797"/>
                <a:gd name="T18" fmla="*/ 232 w 743"/>
                <a:gd name="T19" fmla="*/ 332 h 797"/>
                <a:gd name="T20" fmla="*/ 742 w 743"/>
                <a:gd name="T21" fmla="*/ 332 h 797"/>
                <a:gd name="T22" fmla="*/ 742 w 743"/>
                <a:gd name="T23" fmla="*/ 315 h 797"/>
                <a:gd name="T24" fmla="*/ 386 w 743"/>
                <a:gd name="T25" fmla="*/ 83 h 797"/>
                <a:gd name="T26" fmla="*/ 531 w 743"/>
                <a:gd name="T27" fmla="*/ 236 h 797"/>
                <a:gd name="T28" fmla="*/ 228 w 743"/>
                <a:gd name="T29" fmla="*/ 236 h 797"/>
                <a:gd name="T30" fmla="*/ 386 w 743"/>
                <a:gd name="T31" fmla="*/ 83 h 7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743" h="797">
                  <a:moveTo>
                    <a:pt x="742" y="315"/>
                  </a:moveTo>
                  <a:cubicBezTo>
                    <a:pt x="742" y="104"/>
                    <a:pt x="626" y="0"/>
                    <a:pt x="394" y="0"/>
                  </a:cubicBezTo>
                  <a:cubicBezTo>
                    <a:pt x="133" y="0"/>
                    <a:pt x="0" y="124"/>
                    <a:pt x="0" y="373"/>
                  </a:cubicBezTo>
                  <a:cubicBezTo>
                    <a:pt x="0" y="639"/>
                    <a:pt x="170" y="796"/>
                    <a:pt x="456" y="796"/>
                  </a:cubicBezTo>
                  <a:cubicBezTo>
                    <a:pt x="581" y="796"/>
                    <a:pt x="676" y="763"/>
                    <a:pt x="713" y="755"/>
                  </a:cubicBezTo>
                  <a:lnTo>
                    <a:pt x="726" y="751"/>
                  </a:lnTo>
                  <a:lnTo>
                    <a:pt x="726" y="651"/>
                  </a:lnTo>
                  <a:lnTo>
                    <a:pt x="705" y="660"/>
                  </a:lnTo>
                  <a:cubicBezTo>
                    <a:pt x="672" y="672"/>
                    <a:pt x="610" y="684"/>
                    <a:pt x="543" y="684"/>
                  </a:cubicBezTo>
                  <a:cubicBezTo>
                    <a:pt x="319" y="684"/>
                    <a:pt x="236" y="498"/>
                    <a:pt x="232" y="332"/>
                  </a:cubicBezTo>
                  <a:cubicBezTo>
                    <a:pt x="261" y="332"/>
                    <a:pt x="742" y="332"/>
                    <a:pt x="742" y="332"/>
                  </a:cubicBezTo>
                  <a:lnTo>
                    <a:pt x="742" y="315"/>
                  </a:lnTo>
                  <a:close/>
                  <a:moveTo>
                    <a:pt x="386" y="83"/>
                  </a:moveTo>
                  <a:cubicBezTo>
                    <a:pt x="498" y="83"/>
                    <a:pt x="527" y="166"/>
                    <a:pt x="531" y="236"/>
                  </a:cubicBezTo>
                  <a:cubicBezTo>
                    <a:pt x="506" y="236"/>
                    <a:pt x="257" y="236"/>
                    <a:pt x="228" y="236"/>
                  </a:cubicBezTo>
                  <a:cubicBezTo>
                    <a:pt x="236" y="183"/>
                    <a:pt x="270" y="83"/>
                    <a:pt x="386" y="83"/>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64" name="Freeform 18">
              <a:extLst>
                <a:ext uri="{FF2B5EF4-FFF2-40B4-BE49-F238E27FC236}">
                  <a16:creationId xmlns:a16="http://schemas.microsoft.com/office/drawing/2014/main" id="{75D59710-E8C6-394A-9E64-D4371DD86833}"/>
                </a:ext>
              </a:extLst>
            </p:cNvPr>
            <p:cNvSpPr>
              <a:spLocks noChangeArrowheads="1"/>
            </p:cNvSpPr>
            <p:nvPr/>
          </p:nvSpPr>
          <p:spPr bwMode="auto">
            <a:xfrm>
              <a:off x="4964113" y="4121150"/>
              <a:ext cx="212725" cy="366713"/>
            </a:xfrm>
            <a:custGeom>
              <a:avLst/>
              <a:gdLst>
                <a:gd name="T0" fmla="*/ 141 w 589"/>
                <a:gd name="T1" fmla="*/ 237 h 1017"/>
                <a:gd name="T2" fmla="*/ 0 w 589"/>
                <a:gd name="T3" fmla="*/ 237 h 1017"/>
                <a:gd name="T4" fmla="*/ 0 w 589"/>
                <a:gd name="T5" fmla="*/ 328 h 1017"/>
                <a:gd name="T6" fmla="*/ 141 w 589"/>
                <a:gd name="T7" fmla="*/ 328 h 1017"/>
                <a:gd name="T8" fmla="*/ 141 w 589"/>
                <a:gd name="T9" fmla="*/ 797 h 1017"/>
                <a:gd name="T10" fmla="*/ 427 w 589"/>
                <a:gd name="T11" fmla="*/ 1016 h 1017"/>
                <a:gd name="T12" fmla="*/ 551 w 589"/>
                <a:gd name="T13" fmla="*/ 1004 h 1017"/>
                <a:gd name="T14" fmla="*/ 564 w 589"/>
                <a:gd name="T15" fmla="*/ 1004 h 1017"/>
                <a:gd name="T16" fmla="*/ 564 w 589"/>
                <a:gd name="T17" fmla="*/ 909 h 1017"/>
                <a:gd name="T18" fmla="*/ 547 w 589"/>
                <a:gd name="T19" fmla="*/ 913 h 1017"/>
                <a:gd name="T20" fmla="*/ 485 w 589"/>
                <a:gd name="T21" fmla="*/ 917 h 1017"/>
                <a:gd name="T22" fmla="*/ 352 w 589"/>
                <a:gd name="T23" fmla="*/ 772 h 1017"/>
                <a:gd name="T24" fmla="*/ 352 w 589"/>
                <a:gd name="T25" fmla="*/ 328 h 1017"/>
                <a:gd name="T26" fmla="*/ 588 w 589"/>
                <a:gd name="T27" fmla="*/ 328 h 1017"/>
                <a:gd name="T28" fmla="*/ 588 w 589"/>
                <a:gd name="T29" fmla="*/ 237 h 1017"/>
                <a:gd name="T30" fmla="*/ 352 w 589"/>
                <a:gd name="T31" fmla="*/ 237 h 1017"/>
                <a:gd name="T32" fmla="*/ 352 w 589"/>
                <a:gd name="T33" fmla="*/ 0 h 1017"/>
                <a:gd name="T34" fmla="*/ 141 w 589"/>
                <a:gd name="T35" fmla="*/ 0 h 1017"/>
                <a:gd name="T36" fmla="*/ 141 w 589"/>
                <a:gd name="T37" fmla="*/ 237 h 10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89" h="1017">
                  <a:moveTo>
                    <a:pt x="141" y="237"/>
                  </a:moveTo>
                  <a:lnTo>
                    <a:pt x="0" y="237"/>
                  </a:lnTo>
                  <a:lnTo>
                    <a:pt x="0" y="328"/>
                  </a:lnTo>
                  <a:lnTo>
                    <a:pt x="141" y="328"/>
                  </a:lnTo>
                  <a:lnTo>
                    <a:pt x="141" y="797"/>
                  </a:lnTo>
                  <a:cubicBezTo>
                    <a:pt x="141" y="1000"/>
                    <a:pt x="270" y="1016"/>
                    <a:pt x="427" y="1016"/>
                  </a:cubicBezTo>
                  <a:cubicBezTo>
                    <a:pt x="464" y="1016"/>
                    <a:pt x="505" y="1012"/>
                    <a:pt x="551" y="1004"/>
                  </a:cubicBezTo>
                  <a:lnTo>
                    <a:pt x="564" y="1004"/>
                  </a:lnTo>
                  <a:lnTo>
                    <a:pt x="564" y="909"/>
                  </a:lnTo>
                  <a:lnTo>
                    <a:pt x="547" y="913"/>
                  </a:lnTo>
                  <a:cubicBezTo>
                    <a:pt x="530" y="917"/>
                    <a:pt x="510" y="917"/>
                    <a:pt x="485" y="917"/>
                  </a:cubicBezTo>
                  <a:cubicBezTo>
                    <a:pt x="360" y="917"/>
                    <a:pt x="352" y="880"/>
                    <a:pt x="352" y="772"/>
                  </a:cubicBezTo>
                  <a:lnTo>
                    <a:pt x="352" y="328"/>
                  </a:lnTo>
                  <a:lnTo>
                    <a:pt x="588" y="328"/>
                  </a:lnTo>
                  <a:lnTo>
                    <a:pt x="588" y="237"/>
                  </a:lnTo>
                  <a:lnTo>
                    <a:pt x="352" y="237"/>
                  </a:lnTo>
                  <a:lnTo>
                    <a:pt x="352" y="0"/>
                  </a:lnTo>
                  <a:lnTo>
                    <a:pt x="141" y="0"/>
                  </a:lnTo>
                  <a:lnTo>
                    <a:pt x="141" y="237"/>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65" name="Freeform 19">
              <a:extLst>
                <a:ext uri="{FF2B5EF4-FFF2-40B4-BE49-F238E27FC236}">
                  <a16:creationId xmlns:a16="http://schemas.microsoft.com/office/drawing/2014/main" id="{E31E38F3-CCD4-0D4A-B5AE-0E15DBF0F818}"/>
                </a:ext>
              </a:extLst>
            </p:cNvPr>
            <p:cNvSpPr>
              <a:spLocks noChangeArrowheads="1"/>
            </p:cNvSpPr>
            <p:nvPr/>
          </p:nvSpPr>
          <p:spPr bwMode="auto">
            <a:xfrm>
              <a:off x="6049963" y="4087813"/>
              <a:ext cx="450850" cy="395287"/>
            </a:xfrm>
            <a:custGeom>
              <a:avLst/>
              <a:gdLst>
                <a:gd name="T0" fmla="*/ 1245 w 1254"/>
                <a:gd name="T1" fmla="*/ 0 h 1096"/>
                <a:gd name="T2" fmla="*/ 1033 w 1254"/>
                <a:gd name="T3" fmla="*/ 0 h 1096"/>
                <a:gd name="T4" fmla="*/ 1033 w 1254"/>
                <a:gd name="T5" fmla="*/ 829 h 1096"/>
                <a:gd name="T6" fmla="*/ 485 w 1254"/>
                <a:gd name="T7" fmla="*/ 0 h 1096"/>
                <a:gd name="T8" fmla="*/ 0 w 1254"/>
                <a:gd name="T9" fmla="*/ 0 h 1096"/>
                <a:gd name="T10" fmla="*/ 0 w 1254"/>
                <a:gd name="T11" fmla="*/ 62 h 1096"/>
                <a:gd name="T12" fmla="*/ 42 w 1254"/>
                <a:gd name="T13" fmla="*/ 70 h 1096"/>
                <a:gd name="T14" fmla="*/ 178 w 1254"/>
                <a:gd name="T15" fmla="*/ 220 h 1096"/>
                <a:gd name="T16" fmla="*/ 178 w 1254"/>
                <a:gd name="T17" fmla="*/ 1095 h 1096"/>
                <a:gd name="T18" fmla="*/ 403 w 1254"/>
                <a:gd name="T19" fmla="*/ 1095 h 1096"/>
                <a:gd name="T20" fmla="*/ 403 w 1254"/>
                <a:gd name="T21" fmla="*/ 228 h 1096"/>
                <a:gd name="T22" fmla="*/ 975 w 1254"/>
                <a:gd name="T23" fmla="*/ 1095 h 1096"/>
                <a:gd name="T24" fmla="*/ 1253 w 1254"/>
                <a:gd name="T25" fmla="*/ 1095 h 1096"/>
                <a:gd name="T26" fmla="*/ 1253 w 1254"/>
                <a:gd name="T27" fmla="*/ 0 h 1096"/>
                <a:gd name="T28" fmla="*/ 1245 w 1254"/>
                <a:gd name="T29" fmla="*/ 0 h 10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54" h="1096">
                  <a:moveTo>
                    <a:pt x="1245" y="0"/>
                  </a:moveTo>
                  <a:lnTo>
                    <a:pt x="1033" y="0"/>
                  </a:lnTo>
                  <a:cubicBezTo>
                    <a:pt x="1033" y="0"/>
                    <a:pt x="1033" y="751"/>
                    <a:pt x="1033" y="829"/>
                  </a:cubicBezTo>
                  <a:cubicBezTo>
                    <a:pt x="992" y="763"/>
                    <a:pt x="485" y="0"/>
                    <a:pt x="485" y="0"/>
                  </a:cubicBezTo>
                  <a:lnTo>
                    <a:pt x="0" y="0"/>
                  </a:lnTo>
                  <a:lnTo>
                    <a:pt x="0" y="62"/>
                  </a:lnTo>
                  <a:lnTo>
                    <a:pt x="42" y="70"/>
                  </a:lnTo>
                  <a:cubicBezTo>
                    <a:pt x="170" y="91"/>
                    <a:pt x="178" y="95"/>
                    <a:pt x="178" y="220"/>
                  </a:cubicBezTo>
                  <a:lnTo>
                    <a:pt x="178" y="1095"/>
                  </a:lnTo>
                  <a:lnTo>
                    <a:pt x="403" y="1095"/>
                  </a:lnTo>
                  <a:cubicBezTo>
                    <a:pt x="403" y="1095"/>
                    <a:pt x="403" y="307"/>
                    <a:pt x="403" y="228"/>
                  </a:cubicBezTo>
                  <a:cubicBezTo>
                    <a:pt x="448" y="294"/>
                    <a:pt x="975" y="1095"/>
                    <a:pt x="975" y="1095"/>
                  </a:cubicBezTo>
                  <a:lnTo>
                    <a:pt x="1253" y="1095"/>
                  </a:lnTo>
                  <a:lnTo>
                    <a:pt x="1253" y="0"/>
                  </a:lnTo>
                  <a:lnTo>
                    <a:pt x="1245"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66" name="Freeform 20">
              <a:extLst>
                <a:ext uri="{FF2B5EF4-FFF2-40B4-BE49-F238E27FC236}">
                  <a16:creationId xmlns:a16="http://schemas.microsoft.com/office/drawing/2014/main" id="{EA81CA55-89FF-C642-90AD-A67CE9108AC3}"/>
                </a:ext>
              </a:extLst>
            </p:cNvPr>
            <p:cNvSpPr>
              <a:spLocks noChangeArrowheads="1"/>
            </p:cNvSpPr>
            <p:nvPr/>
          </p:nvSpPr>
          <p:spPr bwMode="auto">
            <a:xfrm>
              <a:off x="6573838" y="4200525"/>
              <a:ext cx="266700" cy="287338"/>
            </a:xfrm>
            <a:custGeom>
              <a:avLst/>
              <a:gdLst>
                <a:gd name="T0" fmla="*/ 390 w 740"/>
                <a:gd name="T1" fmla="*/ 0 h 797"/>
                <a:gd name="T2" fmla="*/ 0 w 740"/>
                <a:gd name="T3" fmla="*/ 373 h 797"/>
                <a:gd name="T4" fmla="*/ 456 w 740"/>
                <a:gd name="T5" fmla="*/ 796 h 797"/>
                <a:gd name="T6" fmla="*/ 714 w 740"/>
                <a:gd name="T7" fmla="*/ 755 h 797"/>
                <a:gd name="T8" fmla="*/ 726 w 740"/>
                <a:gd name="T9" fmla="*/ 751 h 797"/>
                <a:gd name="T10" fmla="*/ 726 w 740"/>
                <a:gd name="T11" fmla="*/ 651 h 797"/>
                <a:gd name="T12" fmla="*/ 705 w 740"/>
                <a:gd name="T13" fmla="*/ 660 h 797"/>
                <a:gd name="T14" fmla="*/ 539 w 740"/>
                <a:gd name="T15" fmla="*/ 684 h 797"/>
                <a:gd name="T16" fmla="*/ 228 w 740"/>
                <a:gd name="T17" fmla="*/ 332 h 797"/>
                <a:gd name="T18" fmla="*/ 739 w 740"/>
                <a:gd name="T19" fmla="*/ 332 h 797"/>
                <a:gd name="T20" fmla="*/ 739 w 740"/>
                <a:gd name="T21" fmla="*/ 315 h 797"/>
                <a:gd name="T22" fmla="*/ 390 w 740"/>
                <a:gd name="T23" fmla="*/ 0 h 797"/>
                <a:gd name="T24" fmla="*/ 386 w 740"/>
                <a:gd name="T25" fmla="*/ 83 h 797"/>
                <a:gd name="T26" fmla="*/ 531 w 740"/>
                <a:gd name="T27" fmla="*/ 236 h 797"/>
                <a:gd name="T28" fmla="*/ 228 w 740"/>
                <a:gd name="T29" fmla="*/ 236 h 797"/>
                <a:gd name="T30" fmla="*/ 386 w 740"/>
                <a:gd name="T31" fmla="*/ 83 h 7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740" h="797">
                  <a:moveTo>
                    <a:pt x="390" y="0"/>
                  </a:moveTo>
                  <a:cubicBezTo>
                    <a:pt x="129" y="0"/>
                    <a:pt x="0" y="124"/>
                    <a:pt x="0" y="373"/>
                  </a:cubicBezTo>
                  <a:cubicBezTo>
                    <a:pt x="0" y="639"/>
                    <a:pt x="170" y="796"/>
                    <a:pt x="456" y="796"/>
                  </a:cubicBezTo>
                  <a:cubicBezTo>
                    <a:pt x="581" y="796"/>
                    <a:pt x="676" y="767"/>
                    <a:pt x="714" y="755"/>
                  </a:cubicBezTo>
                  <a:lnTo>
                    <a:pt x="726" y="751"/>
                  </a:lnTo>
                  <a:lnTo>
                    <a:pt x="726" y="651"/>
                  </a:lnTo>
                  <a:lnTo>
                    <a:pt x="705" y="660"/>
                  </a:lnTo>
                  <a:cubicBezTo>
                    <a:pt x="672" y="672"/>
                    <a:pt x="610" y="684"/>
                    <a:pt x="539" y="684"/>
                  </a:cubicBezTo>
                  <a:cubicBezTo>
                    <a:pt x="315" y="684"/>
                    <a:pt x="232" y="498"/>
                    <a:pt x="228" y="332"/>
                  </a:cubicBezTo>
                  <a:lnTo>
                    <a:pt x="739" y="332"/>
                  </a:lnTo>
                  <a:lnTo>
                    <a:pt x="739" y="315"/>
                  </a:lnTo>
                  <a:cubicBezTo>
                    <a:pt x="739" y="104"/>
                    <a:pt x="622" y="0"/>
                    <a:pt x="390" y="0"/>
                  </a:cubicBezTo>
                  <a:close/>
                  <a:moveTo>
                    <a:pt x="386" y="83"/>
                  </a:moveTo>
                  <a:cubicBezTo>
                    <a:pt x="498" y="83"/>
                    <a:pt x="527" y="162"/>
                    <a:pt x="531" y="236"/>
                  </a:cubicBezTo>
                  <a:lnTo>
                    <a:pt x="228" y="236"/>
                  </a:lnTo>
                  <a:cubicBezTo>
                    <a:pt x="232" y="187"/>
                    <a:pt x="270" y="83"/>
                    <a:pt x="386" y="83"/>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67" name="Freeform 21">
              <a:extLst>
                <a:ext uri="{FF2B5EF4-FFF2-40B4-BE49-F238E27FC236}">
                  <a16:creationId xmlns:a16="http://schemas.microsoft.com/office/drawing/2014/main" id="{B993E30F-1BC1-EE44-BD31-C649CB700CD8}"/>
                </a:ext>
              </a:extLst>
            </p:cNvPr>
            <p:cNvSpPr>
              <a:spLocks noChangeArrowheads="1"/>
            </p:cNvSpPr>
            <p:nvPr/>
          </p:nvSpPr>
          <p:spPr bwMode="auto">
            <a:xfrm>
              <a:off x="7204075" y="4121150"/>
              <a:ext cx="212725" cy="366713"/>
            </a:xfrm>
            <a:custGeom>
              <a:avLst/>
              <a:gdLst>
                <a:gd name="T0" fmla="*/ 141 w 590"/>
                <a:gd name="T1" fmla="*/ 237 h 1017"/>
                <a:gd name="T2" fmla="*/ 0 w 590"/>
                <a:gd name="T3" fmla="*/ 237 h 1017"/>
                <a:gd name="T4" fmla="*/ 0 w 590"/>
                <a:gd name="T5" fmla="*/ 328 h 1017"/>
                <a:gd name="T6" fmla="*/ 141 w 590"/>
                <a:gd name="T7" fmla="*/ 328 h 1017"/>
                <a:gd name="T8" fmla="*/ 141 w 590"/>
                <a:gd name="T9" fmla="*/ 797 h 1017"/>
                <a:gd name="T10" fmla="*/ 427 w 590"/>
                <a:gd name="T11" fmla="*/ 1016 h 1017"/>
                <a:gd name="T12" fmla="*/ 551 w 590"/>
                <a:gd name="T13" fmla="*/ 1004 h 1017"/>
                <a:gd name="T14" fmla="*/ 564 w 590"/>
                <a:gd name="T15" fmla="*/ 1004 h 1017"/>
                <a:gd name="T16" fmla="*/ 564 w 590"/>
                <a:gd name="T17" fmla="*/ 909 h 1017"/>
                <a:gd name="T18" fmla="*/ 547 w 590"/>
                <a:gd name="T19" fmla="*/ 913 h 1017"/>
                <a:gd name="T20" fmla="*/ 485 w 590"/>
                <a:gd name="T21" fmla="*/ 917 h 1017"/>
                <a:gd name="T22" fmla="*/ 352 w 590"/>
                <a:gd name="T23" fmla="*/ 772 h 1017"/>
                <a:gd name="T24" fmla="*/ 352 w 590"/>
                <a:gd name="T25" fmla="*/ 328 h 1017"/>
                <a:gd name="T26" fmla="*/ 589 w 590"/>
                <a:gd name="T27" fmla="*/ 328 h 1017"/>
                <a:gd name="T28" fmla="*/ 589 w 590"/>
                <a:gd name="T29" fmla="*/ 237 h 1017"/>
                <a:gd name="T30" fmla="*/ 352 w 590"/>
                <a:gd name="T31" fmla="*/ 237 h 1017"/>
                <a:gd name="T32" fmla="*/ 352 w 590"/>
                <a:gd name="T33" fmla="*/ 0 h 1017"/>
                <a:gd name="T34" fmla="*/ 141 w 590"/>
                <a:gd name="T35" fmla="*/ 0 h 1017"/>
                <a:gd name="T36" fmla="*/ 141 w 590"/>
                <a:gd name="T37" fmla="*/ 237 h 10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90" h="1017">
                  <a:moveTo>
                    <a:pt x="141" y="237"/>
                  </a:moveTo>
                  <a:lnTo>
                    <a:pt x="0" y="237"/>
                  </a:lnTo>
                  <a:lnTo>
                    <a:pt x="0" y="328"/>
                  </a:lnTo>
                  <a:lnTo>
                    <a:pt x="141" y="328"/>
                  </a:lnTo>
                  <a:lnTo>
                    <a:pt x="141" y="797"/>
                  </a:lnTo>
                  <a:cubicBezTo>
                    <a:pt x="141" y="1000"/>
                    <a:pt x="269" y="1016"/>
                    <a:pt x="427" y="1016"/>
                  </a:cubicBezTo>
                  <a:cubicBezTo>
                    <a:pt x="464" y="1016"/>
                    <a:pt x="506" y="1012"/>
                    <a:pt x="551" y="1004"/>
                  </a:cubicBezTo>
                  <a:lnTo>
                    <a:pt x="564" y="1004"/>
                  </a:lnTo>
                  <a:lnTo>
                    <a:pt x="564" y="909"/>
                  </a:lnTo>
                  <a:lnTo>
                    <a:pt x="547" y="913"/>
                  </a:lnTo>
                  <a:cubicBezTo>
                    <a:pt x="531" y="917"/>
                    <a:pt x="510" y="917"/>
                    <a:pt x="485" y="917"/>
                  </a:cubicBezTo>
                  <a:cubicBezTo>
                    <a:pt x="361" y="917"/>
                    <a:pt x="352" y="880"/>
                    <a:pt x="352" y="772"/>
                  </a:cubicBezTo>
                  <a:lnTo>
                    <a:pt x="352" y="328"/>
                  </a:lnTo>
                  <a:lnTo>
                    <a:pt x="589" y="328"/>
                  </a:lnTo>
                  <a:lnTo>
                    <a:pt x="589" y="237"/>
                  </a:lnTo>
                  <a:lnTo>
                    <a:pt x="352" y="237"/>
                  </a:lnTo>
                  <a:lnTo>
                    <a:pt x="352" y="0"/>
                  </a:lnTo>
                  <a:lnTo>
                    <a:pt x="141" y="0"/>
                  </a:lnTo>
                  <a:lnTo>
                    <a:pt x="141" y="237"/>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91" name="Freeform 22">
              <a:extLst>
                <a:ext uri="{FF2B5EF4-FFF2-40B4-BE49-F238E27FC236}">
                  <a16:creationId xmlns:a16="http://schemas.microsoft.com/office/drawing/2014/main" id="{5220F4C6-9400-5942-B0AF-9C8740ABF281}"/>
                </a:ext>
              </a:extLst>
            </p:cNvPr>
            <p:cNvSpPr>
              <a:spLocks noChangeArrowheads="1"/>
            </p:cNvSpPr>
            <p:nvPr/>
          </p:nvSpPr>
          <p:spPr bwMode="auto">
            <a:xfrm>
              <a:off x="6850063" y="4206875"/>
              <a:ext cx="331787" cy="274638"/>
            </a:xfrm>
            <a:custGeom>
              <a:avLst/>
              <a:gdLst>
                <a:gd name="T0" fmla="*/ 705 w 921"/>
                <a:gd name="T1" fmla="*/ 248 h 764"/>
                <a:gd name="T2" fmla="*/ 920 w 921"/>
                <a:gd name="T3" fmla="*/ 0 h 764"/>
                <a:gd name="T4" fmla="*/ 701 w 921"/>
                <a:gd name="T5" fmla="*/ 0 h 764"/>
                <a:gd name="T6" fmla="*/ 497 w 921"/>
                <a:gd name="T7" fmla="*/ 236 h 764"/>
                <a:gd name="T8" fmla="*/ 319 w 921"/>
                <a:gd name="T9" fmla="*/ 0 h 764"/>
                <a:gd name="T10" fmla="*/ 0 w 921"/>
                <a:gd name="T11" fmla="*/ 0 h 764"/>
                <a:gd name="T12" fmla="*/ 0 w 921"/>
                <a:gd name="T13" fmla="*/ 62 h 764"/>
                <a:gd name="T14" fmla="*/ 12 w 921"/>
                <a:gd name="T15" fmla="*/ 62 h 764"/>
                <a:gd name="T16" fmla="*/ 211 w 921"/>
                <a:gd name="T17" fmla="*/ 178 h 764"/>
                <a:gd name="T18" fmla="*/ 344 w 921"/>
                <a:gd name="T19" fmla="*/ 352 h 764"/>
                <a:gd name="T20" fmla="*/ 128 w 921"/>
                <a:gd name="T21" fmla="*/ 601 h 764"/>
                <a:gd name="T22" fmla="*/ 348 w 921"/>
                <a:gd name="T23" fmla="*/ 601 h 764"/>
                <a:gd name="T24" fmla="*/ 443 w 921"/>
                <a:gd name="T25" fmla="*/ 489 h 764"/>
                <a:gd name="T26" fmla="*/ 651 w 921"/>
                <a:gd name="T27" fmla="*/ 763 h 764"/>
                <a:gd name="T28" fmla="*/ 900 w 921"/>
                <a:gd name="T29" fmla="*/ 763 h 764"/>
                <a:gd name="T30" fmla="*/ 506 w 921"/>
                <a:gd name="T31" fmla="*/ 248 h 764"/>
                <a:gd name="T32" fmla="*/ 705 w 921"/>
                <a:gd name="T33" fmla="*/ 248 h 7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21" h="764">
                  <a:moveTo>
                    <a:pt x="705" y="248"/>
                  </a:moveTo>
                  <a:lnTo>
                    <a:pt x="920" y="0"/>
                  </a:lnTo>
                  <a:lnTo>
                    <a:pt x="701" y="0"/>
                  </a:lnTo>
                  <a:lnTo>
                    <a:pt x="497" y="236"/>
                  </a:lnTo>
                  <a:lnTo>
                    <a:pt x="319" y="0"/>
                  </a:lnTo>
                  <a:lnTo>
                    <a:pt x="0" y="0"/>
                  </a:lnTo>
                  <a:lnTo>
                    <a:pt x="0" y="62"/>
                  </a:lnTo>
                  <a:lnTo>
                    <a:pt x="12" y="62"/>
                  </a:lnTo>
                  <a:cubicBezTo>
                    <a:pt x="120" y="70"/>
                    <a:pt x="145" y="87"/>
                    <a:pt x="211" y="178"/>
                  </a:cubicBezTo>
                  <a:lnTo>
                    <a:pt x="344" y="352"/>
                  </a:lnTo>
                  <a:lnTo>
                    <a:pt x="128" y="601"/>
                  </a:lnTo>
                  <a:lnTo>
                    <a:pt x="348" y="601"/>
                  </a:lnTo>
                  <a:lnTo>
                    <a:pt x="443" y="489"/>
                  </a:lnTo>
                  <a:lnTo>
                    <a:pt x="651" y="763"/>
                  </a:lnTo>
                  <a:lnTo>
                    <a:pt x="900" y="763"/>
                  </a:lnTo>
                  <a:lnTo>
                    <a:pt x="506" y="248"/>
                  </a:lnTo>
                  <a:lnTo>
                    <a:pt x="705" y="248"/>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92" name="Freeform 23">
              <a:extLst>
                <a:ext uri="{FF2B5EF4-FFF2-40B4-BE49-F238E27FC236}">
                  <a16:creationId xmlns:a16="http://schemas.microsoft.com/office/drawing/2014/main" id="{0D77D15C-59D2-2D40-8EFB-AE8D4D645201}"/>
                </a:ext>
              </a:extLst>
            </p:cNvPr>
            <p:cNvSpPr>
              <a:spLocks noChangeArrowheads="1"/>
            </p:cNvSpPr>
            <p:nvPr/>
          </p:nvSpPr>
          <p:spPr bwMode="auto">
            <a:xfrm>
              <a:off x="7175500" y="4010025"/>
              <a:ext cx="176213" cy="111125"/>
            </a:xfrm>
            <a:custGeom>
              <a:avLst/>
              <a:gdLst>
                <a:gd name="T0" fmla="*/ 224 w 490"/>
                <a:gd name="T1" fmla="*/ 307 h 308"/>
                <a:gd name="T2" fmla="*/ 0 w 490"/>
                <a:gd name="T3" fmla="*/ 307 h 308"/>
                <a:gd name="T4" fmla="*/ 269 w 490"/>
                <a:gd name="T5" fmla="*/ 0 h 308"/>
                <a:gd name="T6" fmla="*/ 489 w 490"/>
                <a:gd name="T7" fmla="*/ 0 h 308"/>
                <a:gd name="T8" fmla="*/ 224 w 490"/>
                <a:gd name="T9" fmla="*/ 307 h 308"/>
              </a:gdLst>
              <a:ahLst/>
              <a:cxnLst>
                <a:cxn ang="0">
                  <a:pos x="T0" y="T1"/>
                </a:cxn>
                <a:cxn ang="0">
                  <a:pos x="T2" y="T3"/>
                </a:cxn>
                <a:cxn ang="0">
                  <a:pos x="T4" y="T5"/>
                </a:cxn>
                <a:cxn ang="0">
                  <a:pos x="T6" y="T7"/>
                </a:cxn>
                <a:cxn ang="0">
                  <a:pos x="T8" y="T9"/>
                </a:cxn>
              </a:cxnLst>
              <a:rect l="0" t="0" r="r" b="b"/>
              <a:pathLst>
                <a:path w="490" h="308">
                  <a:moveTo>
                    <a:pt x="224" y="307"/>
                  </a:moveTo>
                  <a:lnTo>
                    <a:pt x="0" y="307"/>
                  </a:lnTo>
                  <a:lnTo>
                    <a:pt x="269" y="0"/>
                  </a:lnTo>
                  <a:lnTo>
                    <a:pt x="489" y="0"/>
                  </a:lnTo>
                  <a:lnTo>
                    <a:pt x="224" y="307"/>
                  </a:lnTo>
                </a:path>
              </a:pathLst>
            </a:custGeom>
            <a:solidFill>
              <a:schemeClr val="accent2"/>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grpSp>
      <p:sp>
        <p:nvSpPr>
          <p:cNvPr id="35" name="TextBox 34"/>
          <p:cNvSpPr txBox="1"/>
          <p:nvPr/>
        </p:nvSpPr>
        <p:spPr>
          <a:xfrm>
            <a:off x="6641794" y="4911221"/>
            <a:ext cx="2462534" cy="215444"/>
          </a:xfrm>
          <a:prstGeom prst="rect">
            <a:avLst/>
          </a:prstGeom>
          <a:noFill/>
        </p:spPr>
        <p:txBody>
          <a:bodyPr wrap="none" rtlCol="0">
            <a:sp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800" kern="1200" dirty="0">
                <a:solidFill>
                  <a:schemeClr val="bg1">
                    <a:alpha val="50000"/>
                  </a:schemeClr>
                </a:solidFill>
                <a:latin typeface="+mn-lt"/>
                <a:ea typeface="+mn-ea"/>
                <a:cs typeface="+mn-cs"/>
              </a:rPr>
              <a:t>© Hitachi Vantara LLC 2020. All Rights Reserved.</a:t>
            </a:r>
          </a:p>
        </p:txBody>
      </p:sp>
      <p:sp>
        <p:nvSpPr>
          <p:cNvPr id="99" name="TextBox 98">
            <a:extLst>
              <a:ext uri="{FF2B5EF4-FFF2-40B4-BE49-F238E27FC236}">
                <a16:creationId xmlns:a16="http://schemas.microsoft.com/office/drawing/2014/main" id="{AFE8C8C8-8C8F-0D45-B230-946FEDADA26C}"/>
              </a:ext>
            </a:extLst>
          </p:cNvPr>
          <p:cNvSpPr txBox="1"/>
          <p:nvPr userDrawn="1"/>
        </p:nvSpPr>
        <p:spPr>
          <a:xfrm>
            <a:off x="6641794" y="4911221"/>
            <a:ext cx="2462534" cy="215444"/>
          </a:xfrm>
          <a:prstGeom prst="rect">
            <a:avLst/>
          </a:prstGeom>
          <a:noFill/>
        </p:spPr>
        <p:txBody>
          <a:bodyPr wrap="none" rtlCol="0">
            <a:sp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800" kern="1200" dirty="0">
                <a:solidFill>
                  <a:schemeClr val="bg1">
                    <a:alpha val="50000"/>
                  </a:schemeClr>
                </a:solidFill>
                <a:latin typeface="+mn-lt"/>
                <a:ea typeface="+mn-ea"/>
                <a:cs typeface="+mn-cs"/>
              </a:rPr>
              <a:t>© Hitachi Vantara LLC 2020. All Rights Reserved.</a:t>
            </a:r>
          </a:p>
        </p:txBody>
      </p:sp>
      <p:pic>
        <p:nvPicPr>
          <p:cNvPr id="68" name="Graphic 67">
            <a:extLst>
              <a:ext uri="{FF2B5EF4-FFF2-40B4-BE49-F238E27FC236}">
                <a16:creationId xmlns:a16="http://schemas.microsoft.com/office/drawing/2014/main" id="{6ACC0D47-CD69-A847-8C9B-9B3ED8E969C9}"/>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13994" y="812800"/>
            <a:ext cx="559153" cy="4330700"/>
          </a:xfrm>
          <a:prstGeom prst="rect">
            <a:avLst/>
          </a:prstGeom>
        </p:spPr>
      </p:pic>
    </p:spTree>
    <p:extLst>
      <p:ext uri="{BB962C8B-B14F-4D97-AF65-F5344CB8AC3E}">
        <p14:creationId xmlns:p14="http://schemas.microsoft.com/office/powerpoint/2010/main" val="18845569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17_Title Slide">
    <p:spTree>
      <p:nvGrpSpPr>
        <p:cNvPr id="1" name=""/>
        <p:cNvGrpSpPr/>
        <p:nvPr/>
      </p:nvGrpSpPr>
      <p:grpSpPr>
        <a:xfrm>
          <a:off x="0" y="0"/>
          <a:ext cx="0" cy="0"/>
          <a:chOff x="0" y="0"/>
          <a:chExt cx="0" cy="0"/>
        </a:xfrm>
      </p:grpSpPr>
      <p:sp>
        <p:nvSpPr>
          <p:cNvPr id="41" name="Rectangle 40">
            <a:extLst>
              <a:ext uri="{FF2B5EF4-FFF2-40B4-BE49-F238E27FC236}">
                <a16:creationId xmlns:a16="http://schemas.microsoft.com/office/drawing/2014/main" id="{86272875-7CFB-E54E-A464-DFC119BD2050}"/>
              </a:ext>
            </a:extLst>
          </p:cNvPr>
          <p:cNvSpPr/>
          <p:nvPr userDrawn="1"/>
        </p:nvSpPr>
        <p:spPr>
          <a:xfrm>
            <a:off x="0" y="0"/>
            <a:ext cx="5943600" cy="5157216"/>
          </a:xfrm>
          <a:prstGeom prst="rect">
            <a:avLst/>
          </a:prstGeom>
          <a:gradFill>
            <a:gsLst>
              <a:gs pos="0">
                <a:schemeClr val="accent2">
                  <a:lumMod val="42000"/>
                </a:schemeClr>
              </a:gs>
              <a:gs pos="93000">
                <a:schemeClr val="accent2"/>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j-lt"/>
            </a:endParaRPr>
          </a:p>
        </p:txBody>
      </p:sp>
      <p:sp>
        <p:nvSpPr>
          <p:cNvPr id="40" name="Rectangle 39">
            <a:extLst>
              <a:ext uri="{FF2B5EF4-FFF2-40B4-BE49-F238E27FC236}">
                <a16:creationId xmlns:a16="http://schemas.microsoft.com/office/drawing/2014/main" id="{AAA4BB55-22A6-9C48-9B94-C2A7131C877F}"/>
              </a:ext>
            </a:extLst>
          </p:cNvPr>
          <p:cNvSpPr/>
          <p:nvPr userDrawn="1"/>
        </p:nvSpPr>
        <p:spPr>
          <a:xfrm>
            <a:off x="5942892" y="0"/>
            <a:ext cx="3201108" cy="5157216"/>
          </a:xfrm>
          <a:prstGeom prst="rect">
            <a:avLst/>
          </a:prstGeom>
          <a:blipFill>
            <a:blip r:embed="rId2" cstate="screen">
              <a:extLst>
                <a:ext uri="{28A0092B-C50C-407E-A947-70E740481C1C}">
                  <a14:useLocalDpi xmlns:a14="http://schemas.microsoft.com/office/drawing/2010/main"/>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j-lt"/>
            </a:endParaRPr>
          </a:p>
        </p:txBody>
      </p:sp>
      <p:sp>
        <p:nvSpPr>
          <p:cNvPr id="56" name="Subtitle 2"/>
          <p:cNvSpPr>
            <a:spLocks noGrp="1"/>
          </p:cNvSpPr>
          <p:nvPr>
            <p:ph type="subTitle" idx="1" hasCustomPrompt="1"/>
          </p:nvPr>
        </p:nvSpPr>
        <p:spPr>
          <a:xfrm>
            <a:off x="681348" y="2803117"/>
            <a:ext cx="4286425" cy="830997"/>
          </a:xfrm>
          <a:prstGeom prst="rect">
            <a:avLst/>
          </a:prstGeom>
          <a:effectLst/>
        </p:spPr>
        <p:txBody>
          <a:bodyPr/>
          <a:lstStyle>
            <a:lvl1pPr marL="0" marR="0" indent="0" algn="l" defTabSz="914400" rtl="0" eaLnBrk="1" fontAlgn="auto" latinLnBrk="0" hangingPunct="1">
              <a:lnSpc>
                <a:spcPct val="100000"/>
              </a:lnSpc>
              <a:spcBef>
                <a:spcPts val="0"/>
              </a:spcBef>
              <a:spcAft>
                <a:spcPts val="0"/>
              </a:spcAft>
              <a:buClr>
                <a:schemeClr val="accent2"/>
              </a:buClr>
              <a:buSzTx/>
              <a:buFont typeface="Wingdings" charset="2"/>
              <a:buNone/>
              <a:tabLst/>
              <a:defRPr sz="2400" cap="none" baseline="0">
                <a:solidFill>
                  <a:schemeClr val="bg1"/>
                </a:solidFill>
                <a:latin typeface="+mn-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Subtitle placeholder</a:t>
            </a:r>
          </a:p>
          <a:p>
            <a:r>
              <a:rPr lang="en-US" dirty="0"/>
              <a:t>Subtitle placeholder</a:t>
            </a:r>
          </a:p>
        </p:txBody>
      </p:sp>
      <p:sp>
        <p:nvSpPr>
          <p:cNvPr id="57" name="Title 1"/>
          <p:cNvSpPr>
            <a:spLocks noGrp="1"/>
          </p:cNvSpPr>
          <p:nvPr>
            <p:ph type="ctrTitle" hasCustomPrompt="1"/>
          </p:nvPr>
        </p:nvSpPr>
        <p:spPr>
          <a:xfrm>
            <a:off x="681348" y="725773"/>
            <a:ext cx="5148359" cy="2071294"/>
          </a:xfrm>
          <a:prstGeom prst="rect">
            <a:avLst/>
          </a:prstGeom>
          <a:effectLst/>
        </p:spPr>
        <p:txBody>
          <a:bodyPr anchor="t">
            <a:noAutofit/>
          </a:bodyPr>
          <a:lstStyle>
            <a:lvl1pPr>
              <a:lnSpc>
                <a:spcPct val="100000"/>
              </a:lnSpc>
              <a:defRPr sz="4400" b="1" cap="none" baseline="0">
                <a:solidFill>
                  <a:schemeClr val="bg1"/>
                </a:solidFill>
                <a:latin typeface="+mn-lt"/>
              </a:defRPr>
            </a:lvl1pPr>
          </a:lstStyle>
          <a:p>
            <a:r>
              <a:rPr lang="en-US" dirty="0"/>
              <a:t>2 Line Hitachi Title Slide Placeholder </a:t>
            </a:r>
            <a:br>
              <a:rPr lang="en-US" dirty="0"/>
            </a:br>
            <a:r>
              <a:rPr lang="en-US" dirty="0"/>
              <a:t>2 Line Hitachi </a:t>
            </a:r>
          </a:p>
        </p:txBody>
      </p:sp>
      <p:sp>
        <p:nvSpPr>
          <p:cNvPr id="58" name="Text Placeholder 6"/>
          <p:cNvSpPr>
            <a:spLocks noGrp="1"/>
          </p:cNvSpPr>
          <p:nvPr>
            <p:ph type="body" sz="quarter" idx="11" hasCustomPrompt="1"/>
          </p:nvPr>
        </p:nvSpPr>
        <p:spPr>
          <a:xfrm>
            <a:off x="681349" y="3905309"/>
            <a:ext cx="3544411" cy="307777"/>
          </a:xfrm>
        </p:spPr>
        <p:txBody>
          <a:bodyPr anchor="t"/>
          <a:lstStyle>
            <a:lvl1pPr marL="0" indent="0">
              <a:spcBef>
                <a:spcPts val="0"/>
              </a:spcBef>
              <a:spcAft>
                <a:spcPts val="300"/>
              </a:spcAft>
              <a:buNone/>
              <a:defRPr sz="1400" b="1" baseline="0">
                <a:solidFill>
                  <a:schemeClr val="bg1"/>
                </a:solidFill>
              </a:defRPr>
            </a:lvl1pPr>
            <a:lvl2pPr marL="280987" indent="0">
              <a:buNone/>
              <a:defRPr/>
            </a:lvl2pPr>
            <a:lvl3pPr marL="574675" indent="0">
              <a:buNone/>
              <a:defRPr/>
            </a:lvl3pPr>
            <a:lvl4pPr marL="855663" indent="0">
              <a:buNone/>
              <a:defRPr/>
            </a:lvl4pPr>
            <a:lvl5pPr marL="1090613" indent="0">
              <a:buNone/>
              <a:defRPr/>
            </a:lvl5pPr>
          </a:lstStyle>
          <a:p>
            <a:pPr lvl="0"/>
            <a:r>
              <a:rPr lang="en-US" dirty="0"/>
              <a:t>Name Here</a:t>
            </a:r>
          </a:p>
        </p:txBody>
      </p:sp>
      <p:sp>
        <p:nvSpPr>
          <p:cNvPr id="79" name="Text Placeholder 8"/>
          <p:cNvSpPr>
            <a:spLocks noGrp="1"/>
          </p:cNvSpPr>
          <p:nvPr>
            <p:ph type="body" sz="quarter" idx="12" hasCustomPrompt="1"/>
          </p:nvPr>
        </p:nvSpPr>
        <p:spPr>
          <a:xfrm>
            <a:off x="681349" y="4134651"/>
            <a:ext cx="3544411" cy="461665"/>
          </a:xfrm>
        </p:spPr>
        <p:txBody>
          <a:bodyPr anchor="t"/>
          <a:lstStyle>
            <a:lvl1pPr marL="0" indent="0">
              <a:spcBef>
                <a:spcPts val="0"/>
              </a:spcBef>
              <a:spcAft>
                <a:spcPts val="300"/>
              </a:spcAft>
              <a:buNone/>
              <a:defRPr sz="1200">
                <a:solidFill>
                  <a:schemeClr val="bg1"/>
                </a:solidFill>
              </a:defRPr>
            </a:lvl1pPr>
            <a:lvl2pPr marL="280987" indent="0">
              <a:buNone/>
              <a:defRPr/>
            </a:lvl2pPr>
            <a:lvl3pPr marL="574675" indent="0">
              <a:buNone/>
              <a:defRPr/>
            </a:lvl3pPr>
            <a:lvl4pPr marL="855663" indent="0">
              <a:buNone/>
              <a:defRPr/>
            </a:lvl4pPr>
            <a:lvl5pPr marL="1090613" indent="0">
              <a:buNone/>
              <a:defRPr/>
            </a:lvl5pPr>
          </a:lstStyle>
          <a:p>
            <a:pPr lvl="0"/>
            <a:r>
              <a:rPr lang="en-US" dirty="0"/>
              <a:t>Title/Department</a:t>
            </a:r>
            <a:br>
              <a:rPr lang="en-US" dirty="0"/>
            </a:br>
            <a:r>
              <a:rPr lang="en-US" dirty="0"/>
              <a:t>Date</a:t>
            </a:r>
          </a:p>
        </p:txBody>
      </p:sp>
      <p:sp>
        <p:nvSpPr>
          <p:cNvPr id="39" name="TextBox 38"/>
          <p:cNvSpPr txBox="1"/>
          <p:nvPr/>
        </p:nvSpPr>
        <p:spPr>
          <a:xfrm>
            <a:off x="1611" y="4915450"/>
            <a:ext cx="312906" cy="215444"/>
          </a:xfrm>
          <a:prstGeom prst="rect">
            <a:avLst/>
          </a:prstGeom>
          <a:noFill/>
        </p:spPr>
        <p:txBody>
          <a:bodyPr wrap="none" rtlCol="0">
            <a:spAutoFit/>
          </a:bodyPr>
          <a:lstStyle/>
          <a:p>
            <a:fld id="{111F478C-84AE-4601-9BE4-60468A3A6C06}" type="slidenum">
              <a:rPr lang="en-US" sz="800" smtClean="0">
                <a:solidFill>
                  <a:prstClr val="white">
                    <a:alpha val="50000"/>
                  </a:prstClr>
                </a:solidFill>
                <a:latin typeface="Arial"/>
              </a:rPr>
              <a:pPr/>
              <a:t>‹#›</a:t>
            </a:fld>
            <a:endParaRPr lang="en-US" sz="800" dirty="0">
              <a:solidFill>
                <a:prstClr val="white">
                  <a:alpha val="50000"/>
                </a:prstClr>
              </a:solidFill>
              <a:latin typeface="Arial"/>
            </a:endParaRPr>
          </a:p>
        </p:txBody>
      </p:sp>
      <p:sp>
        <p:nvSpPr>
          <p:cNvPr id="47" name="TextBox 46">
            <a:extLst>
              <a:ext uri="{FF2B5EF4-FFF2-40B4-BE49-F238E27FC236}">
                <a16:creationId xmlns:a16="http://schemas.microsoft.com/office/drawing/2014/main" id="{1F6F85EA-1CAA-F34C-8631-AB308554EFA3}"/>
              </a:ext>
            </a:extLst>
          </p:cNvPr>
          <p:cNvSpPr txBox="1"/>
          <p:nvPr userDrawn="1"/>
        </p:nvSpPr>
        <p:spPr>
          <a:xfrm>
            <a:off x="1611" y="4915450"/>
            <a:ext cx="312906" cy="215444"/>
          </a:xfrm>
          <a:prstGeom prst="rect">
            <a:avLst/>
          </a:prstGeom>
          <a:noFill/>
        </p:spPr>
        <p:txBody>
          <a:bodyPr wrap="none" rtlCol="0">
            <a:spAutoFit/>
          </a:bodyPr>
          <a:lstStyle/>
          <a:p>
            <a:fld id="{111F478C-84AE-4601-9BE4-60468A3A6C06}" type="slidenum">
              <a:rPr lang="en-US" sz="800" smtClean="0">
                <a:solidFill>
                  <a:prstClr val="white">
                    <a:alpha val="50000"/>
                  </a:prstClr>
                </a:solidFill>
                <a:latin typeface="Arial"/>
              </a:rPr>
              <a:pPr/>
              <a:t>‹#›</a:t>
            </a:fld>
            <a:endParaRPr lang="en-US" sz="800" dirty="0">
              <a:solidFill>
                <a:prstClr val="white">
                  <a:alpha val="50000"/>
                </a:prstClr>
              </a:solidFill>
              <a:latin typeface="Arial"/>
            </a:endParaRPr>
          </a:p>
        </p:txBody>
      </p:sp>
      <p:sp>
        <p:nvSpPr>
          <p:cNvPr id="38" name="Rectangle 37">
            <a:extLst>
              <a:ext uri="{FF2B5EF4-FFF2-40B4-BE49-F238E27FC236}">
                <a16:creationId xmlns:a16="http://schemas.microsoft.com/office/drawing/2014/main" id="{F4AD3290-648D-D840-B50D-09EEC67C7D28}"/>
              </a:ext>
            </a:extLst>
          </p:cNvPr>
          <p:cNvSpPr/>
          <p:nvPr userDrawn="1"/>
        </p:nvSpPr>
        <p:spPr>
          <a:xfrm>
            <a:off x="5942892" y="0"/>
            <a:ext cx="3201108" cy="5157216"/>
          </a:xfrm>
          <a:prstGeom prst="rect">
            <a:avLst/>
          </a:prstGeom>
          <a:gradFill flip="none" rotWithShape="1">
            <a:gsLst>
              <a:gs pos="53000">
                <a:schemeClr val="bg1">
                  <a:alpha val="0"/>
                </a:schemeClr>
              </a:gs>
              <a:gs pos="0">
                <a:srgbClr val="53E2DD">
                  <a:alpha val="56000"/>
                  <a:lumMod val="45000"/>
                </a:srgbClr>
              </a:gs>
              <a:gs pos="100000">
                <a:schemeClr val="accent2">
                  <a:lumMod val="61000"/>
                  <a:alpha val="54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j-lt"/>
            </a:endParaRPr>
          </a:p>
        </p:txBody>
      </p:sp>
      <p:sp>
        <p:nvSpPr>
          <p:cNvPr id="93" name="Rectangle 92">
            <a:extLst>
              <a:ext uri="{FF2B5EF4-FFF2-40B4-BE49-F238E27FC236}">
                <a16:creationId xmlns:a16="http://schemas.microsoft.com/office/drawing/2014/main" id="{39418557-F9FB-2C49-8652-E9BC5F420543}"/>
              </a:ext>
            </a:extLst>
          </p:cNvPr>
          <p:cNvSpPr/>
          <p:nvPr userDrawn="1"/>
        </p:nvSpPr>
        <p:spPr>
          <a:xfrm>
            <a:off x="5942892" y="0"/>
            <a:ext cx="3201108" cy="5157216"/>
          </a:xfrm>
          <a:prstGeom prst="rect">
            <a:avLst/>
          </a:prstGeom>
          <a:gradFill flip="none" rotWithShape="1">
            <a:gsLst>
              <a:gs pos="71000">
                <a:schemeClr val="tx2">
                  <a:alpha val="0"/>
                </a:schemeClr>
              </a:gs>
              <a:gs pos="100000">
                <a:schemeClr val="tx2">
                  <a:alpha val="65000"/>
                </a:schemeClr>
              </a:gs>
            </a:gsLst>
            <a:lin ang="18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j-lt"/>
            </a:endParaRPr>
          </a:p>
        </p:txBody>
      </p:sp>
      <p:grpSp>
        <p:nvGrpSpPr>
          <p:cNvPr id="42" name="Group 41">
            <a:extLst>
              <a:ext uri="{FF2B5EF4-FFF2-40B4-BE49-F238E27FC236}">
                <a16:creationId xmlns:a16="http://schemas.microsoft.com/office/drawing/2014/main" id="{3EF58E61-59AF-0B40-BD87-B8415DF5B20F}"/>
              </a:ext>
            </a:extLst>
          </p:cNvPr>
          <p:cNvGrpSpPr/>
          <p:nvPr userDrawn="1"/>
        </p:nvGrpSpPr>
        <p:grpSpPr>
          <a:xfrm>
            <a:off x="7684916" y="225821"/>
            <a:ext cx="1247901" cy="356665"/>
            <a:chOff x="2751138" y="3262313"/>
            <a:chExt cx="4665662" cy="1333500"/>
          </a:xfrm>
          <a:solidFill>
            <a:schemeClr val="bg1"/>
          </a:solidFill>
        </p:grpSpPr>
        <p:sp>
          <p:nvSpPr>
            <p:cNvPr id="43" name="Freeform 1">
              <a:extLst>
                <a:ext uri="{FF2B5EF4-FFF2-40B4-BE49-F238E27FC236}">
                  <a16:creationId xmlns:a16="http://schemas.microsoft.com/office/drawing/2014/main" id="{199E89AD-2705-134A-918E-26469FC8CD68}"/>
                </a:ext>
              </a:extLst>
            </p:cNvPr>
            <p:cNvSpPr>
              <a:spLocks noChangeArrowheads="1"/>
            </p:cNvSpPr>
            <p:nvPr/>
          </p:nvSpPr>
          <p:spPr bwMode="auto">
            <a:xfrm>
              <a:off x="6180138" y="3275013"/>
              <a:ext cx="673100" cy="631825"/>
            </a:xfrm>
            <a:custGeom>
              <a:avLst/>
              <a:gdLst>
                <a:gd name="T0" fmla="*/ 465 w 1868"/>
                <a:gd name="T1" fmla="*/ 0 h 1755"/>
                <a:gd name="T2" fmla="*/ 465 w 1868"/>
                <a:gd name="T3" fmla="*/ 700 h 1755"/>
                <a:gd name="T4" fmla="*/ 1402 w 1868"/>
                <a:gd name="T5" fmla="*/ 700 h 1755"/>
                <a:gd name="T6" fmla="*/ 1402 w 1868"/>
                <a:gd name="T7" fmla="*/ 0 h 1755"/>
                <a:gd name="T8" fmla="*/ 1867 w 1868"/>
                <a:gd name="T9" fmla="*/ 0 h 1755"/>
                <a:gd name="T10" fmla="*/ 1867 w 1868"/>
                <a:gd name="T11" fmla="*/ 1754 h 1755"/>
                <a:gd name="T12" fmla="*/ 1402 w 1868"/>
                <a:gd name="T13" fmla="*/ 1754 h 1755"/>
                <a:gd name="T14" fmla="*/ 1402 w 1868"/>
                <a:gd name="T15" fmla="*/ 983 h 1755"/>
                <a:gd name="T16" fmla="*/ 465 w 1868"/>
                <a:gd name="T17" fmla="*/ 983 h 1755"/>
                <a:gd name="T18" fmla="*/ 465 w 1868"/>
                <a:gd name="T19" fmla="*/ 1754 h 1755"/>
                <a:gd name="T20" fmla="*/ 0 w 1868"/>
                <a:gd name="T21" fmla="*/ 1754 h 1755"/>
                <a:gd name="T22" fmla="*/ 0 w 1868"/>
                <a:gd name="T23" fmla="*/ 0 h 1755"/>
                <a:gd name="T24" fmla="*/ 465 w 1868"/>
                <a:gd name="T25" fmla="*/ 0 h 17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68" h="1755">
                  <a:moveTo>
                    <a:pt x="465" y="0"/>
                  </a:moveTo>
                  <a:cubicBezTo>
                    <a:pt x="465" y="0"/>
                    <a:pt x="465" y="705"/>
                    <a:pt x="465" y="700"/>
                  </a:cubicBezTo>
                  <a:lnTo>
                    <a:pt x="1402" y="700"/>
                  </a:lnTo>
                  <a:cubicBezTo>
                    <a:pt x="1402" y="705"/>
                    <a:pt x="1402" y="0"/>
                    <a:pt x="1402" y="0"/>
                  </a:cubicBezTo>
                  <a:cubicBezTo>
                    <a:pt x="1402" y="0"/>
                    <a:pt x="1863" y="0"/>
                    <a:pt x="1867" y="0"/>
                  </a:cubicBezTo>
                  <a:cubicBezTo>
                    <a:pt x="1867" y="0"/>
                    <a:pt x="1867" y="1750"/>
                    <a:pt x="1867" y="1754"/>
                  </a:cubicBezTo>
                  <a:lnTo>
                    <a:pt x="1402" y="1754"/>
                  </a:lnTo>
                  <a:cubicBezTo>
                    <a:pt x="1402" y="1754"/>
                    <a:pt x="1402" y="987"/>
                    <a:pt x="1402" y="983"/>
                  </a:cubicBezTo>
                  <a:cubicBezTo>
                    <a:pt x="1402" y="987"/>
                    <a:pt x="465" y="983"/>
                    <a:pt x="465" y="983"/>
                  </a:cubicBezTo>
                  <a:cubicBezTo>
                    <a:pt x="465" y="987"/>
                    <a:pt x="465" y="1754"/>
                    <a:pt x="465" y="1754"/>
                  </a:cubicBezTo>
                  <a:lnTo>
                    <a:pt x="0" y="1754"/>
                  </a:lnTo>
                  <a:cubicBezTo>
                    <a:pt x="0" y="1754"/>
                    <a:pt x="4" y="0"/>
                    <a:pt x="0" y="0"/>
                  </a:cubicBezTo>
                  <a:lnTo>
                    <a:pt x="465"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44" name="Freeform 2">
              <a:extLst>
                <a:ext uri="{FF2B5EF4-FFF2-40B4-BE49-F238E27FC236}">
                  <a16:creationId xmlns:a16="http://schemas.microsoft.com/office/drawing/2014/main" id="{0494D0CA-794C-0E4B-AA3F-CCDBD582982E}"/>
                </a:ext>
              </a:extLst>
            </p:cNvPr>
            <p:cNvSpPr>
              <a:spLocks noChangeArrowheads="1"/>
            </p:cNvSpPr>
            <p:nvPr/>
          </p:nvSpPr>
          <p:spPr bwMode="auto">
            <a:xfrm>
              <a:off x="4083050" y="3275013"/>
              <a:ext cx="677863" cy="631825"/>
            </a:xfrm>
            <a:custGeom>
              <a:avLst/>
              <a:gdLst>
                <a:gd name="T0" fmla="*/ 1883 w 1884"/>
                <a:gd name="T1" fmla="*/ 0 h 1755"/>
                <a:gd name="T2" fmla="*/ 1883 w 1884"/>
                <a:gd name="T3" fmla="*/ 298 h 1755"/>
                <a:gd name="T4" fmla="*/ 1174 w 1884"/>
                <a:gd name="T5" fmla="*/ 298 h 1755"/>
                <a:gd name="T6" fmla="*/ 1174 w 1884"/>
                <a:gd name="T7" fmla="*/ 1754 h 1755"/>
                <a:gd name="T8" fmla="*/ 709 w 1884"/>
                <a:gd name="T9" fmla="*/ 1754 h 1755"/>
                <a:gd name="T10" fmla="*/ 709 w 1884"/>
                <a:gd name="T11" fmla="*/ 298 h 1755"/>
                <a:gd name="T12" fmla="*/ 0 w 1884"/>
                <a:gd name="T13" fmla="*/ 298 h 1755"/>
                <a:gd name="T14" fmla="*/ 0 w 1884"/>
                <a:gd name="T15" fmla="*/ 0 h 1755"/>
                <a:gd name="T16" fmla="*/ 1883 w 1884"/>
                <a:gd name="T17" fmla="*/ 0 h 17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884" h="1755">
                  <a:moveTo>
                    <a:pt x="1883" y="0"/>
                  </a:moveTo>
                  <a:cubicBezTo>
                    <a:pt x="1883" y="4"/>
                    <a:pt x="1883" y="298"/>
                    <a:pt x="1883" y="298"/>
                  </a:cubicBezTo>
                  <a:lnTo>
                    <a:pt x="1174" y="298"/>
                  </a:lnTo>
                  <a:lnTo>
                    <a:pt x="1174" y="1754"/>
                  </a:lnTo>
                  <a:lnTo>
                    <a:pt x="709" y="1754"/>
                  </a:lnTo>
                  <a:lnTo>
                    <a:pt x="709" y="298"/>
                  </a:lnTo>
                  <a:lnTo>
                    <a:pt x="0" y="298"/>
                  </a:lnTo>
                  <a:lnTo>
                    <a:pt x="0" y="0"/>
                  </a:lnTo>
                  <a:lnTo>
                    <a:pt x="1883"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45" name="Freeform 3">
              <a:extLst>
                <a:ext uri="{FF2B5EF4-FFF2-40B4-BE49-F238E27FC236}">
                  <a16:creationId xmlns:a16="http://schemas.microsoft.com/office/drawing/2014/main" id="{9DCC5901-D10A-FB4A-B33B-ED481418C9B6}"/>
                </a:ext>
              </a:extLst>
            </p:cNvPr>
            <p:cNvSpPr>
              <a:spLocks noChangeArrowheads="1"/>
            </p:cNvSpPr>
            <p:nvPr/>
          </p:nvSpPr>
          <p:spPr bwMode="auto">
            <a:xfrm>
              <a:off x="4614863" y="3275013"/>
              <a:ext cx="796925" cy="631825"/>
            </a:xfrm>
            <a:custGeom>
              <a:avLst/>
              <a:gdLst>
                <a:gd name="T0" fmla="*/ 2214 w 2215"/>
                <a:gd name="T1" fmla="*/ 1754 h 1755"/>
                <a:gd name="T2" fmla="*/ 1695 w 2215"/>
                <a:gd name="T3" fmla="*/ 1754 h 1755"/>
                <a:gd name="T4" fmla="*/ 1542 w 2215"/>
                <a:gd name="T5" fmla="*/ 1377 h 1755"/>
                <a:gd name="T6" fmla="*/ 672 w 2215"/>
                <a:gd name="T7" fmla="*/ 1377 h 1755"/>
                <a:gd name="T8" fmla="*/ 518 w 2215"/>
                <a:gd name="T9" fmla="*/ 1754 h 1755"/>
                <a:gd name="T10" fmla="*/ 0 w 2215"/>
                <a:gd name="T11" fmla="*/ 1754 h 1755"/>
                <a:gd name="T12" fmla="*/ 825 w 2215"/>
                <a:gd name="T13" fmla="*/ 0 h 1755"/>
                <a:gd name="T14" fmla="*/ 1392 w 2215"/>
                <a:gd name="T15" fmla="*/ 0 h 1755"/>
                <a:gd name="T16" fmla="*/ 2214 w 2215"/>
                <a:gd name="T17" fmla="*/ 1754 h 1755"/>
                <a:gd name="T18" fmla="*/ 788 w 2215"/>
                <a:gd name="T19" fmla="*/ 1095 h 1755"/>
                <a:gd name="T20" fmla="*/ 1434 w 2215"/>
                <a:gd name="T21" fmla="*/ 1095 h 1755"/>
                <a:gd name="T22" fmla="*/ 1107 w 2215"/>
                <a:gd name="T23" fmla="*/ 298 h 1755"/>
                <a:gd name="T24" fmla="*/ 788 w 2215"/>
                <a:gd name="T25" fmla="*/ 1095 h 17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15" h="1755">
                  <a:moveTo>
                    <a:pt x="2214" y="1754"/>
                  </a:moveTo>
                  <a:cubicBezTo>
                    <a:pt x="2214" y="1754"/>
                    <a:pt x="1691" y="1754"/>
                    <a:pt x="1695" y="1754"/>
                  </a:cubicBezTo>
                  <a:lnTo>
                    <a:pt x="1542" y="1377"/>
                  </a:lnTo>
                  <a:lnTo>
                    <a:pt x="672" y="1377"/>
                  </a:lnTo>
                  <a:cubicBezTo>
                    <a:pt x="672" y="1377"/>
                    <a:pt x="522" y="1754"/>
                    <a:pt x="518" y="1754"/>
                  </a:cubicBezTo>
                  <a:lnTo>
                    <a:pt x="0" y="1754"/>
                  </a:lnTo>
                  <a:lnTo>
                    <a:pt x="825" y="0"/>
                  </a:lnTo>
                  <a:lnTo>
                    <a:pt x="1392" y="0"/>
                  </a:lnTo>
                  <a:lnTo>
                    <a:pt x="2214" y="1754"/>
                  </a:lnTo>
                  <a:close/>
                  <a:moveTo>
                    <a:pt x="788" y="1095"/>
                  </a:moveTo>
                  <a:lnTo>
                    <a:pt x="1434" y="1095"/>
                  </a:lnTo>
                  <a:lnTo>
                    <a:pt x="1107" y="298"/>
                  </a:lnTo>
                  <a:lnTo>
                    <a:pt x="788" y="1095"/>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46" name="Freeform 4">
              <a:extLst>
                <a:ext uri="{FF2B5EF4-FFF2-40B4-BE49-F238E27FC236}">
                  <a16:creationId xmlns:a16="http://schemas.microsoft.com/office/drawing/2014/main" id="{E89E2B8D-ACF0-2F45-AEFB-BDDCF2F74FCA}"/>
                </a:ext>
              </a:extLst>
            </p:cNvPr>
            <p:cNvSpPr>
              <a:spLocks noChangeArrowheads="1"/>
            </p:cNvSpPr>
            <p:nvPr/>
          </p:nvSpPr>
          <p:spPr bwMode="auto">
            <a:xfrm>
              <a:off x="6985000" y="3275013"/>
              <a:ext cx="166688" cy="631825"/>
            </a:xfrm>
            <a:custGeom>
              <a:avLst/>
              <a:gdLst>
                <a:gd name="T0" fmla="*/ 232 w 465"/>
                <a:gd name="T1" fmla="*/ 1754 h 1755"/>
                <a:gd name="T2" fmla="*/ 0 w 465"/>
                <a:gd name="T3" fmla="*/ 1754 h 1755"/>
                <a:gd name="T4" fmla="*/ 0 w 465"/>
                <a:gd name="T5" fmla="*/ 0 h 1755"/>
                <a:gd name="T6" fmla="*/ 464 w 465"/>
                <a:gd name="T7" fmla="*/ 0 h 1755"/>
                <a:gd name="T8" fmla="*/ 464 w 465"/>
                <a:gd name="T9" fmla="*/ 1754 h 1755"/>
                <a:gd name="T10" fmla="*/ 232 w 465"/>
                <a:gd name="T11" fmla="*/ 1754 h 1755"/>
              </a:gdLst>
              <a:ahLst/>
              <a:cxnLst>
                <a:cxn ang="0">
                  <a:pos x="T0" y="T1"/>
                </a:cxn>
                <a:cxn ang="0">
                  <a:pos x="T2" y="T3"/>
                </a:cxn>
                <a:cxn ang="0">
                  <a:pos x="T4" y="T5"/>
                </a:cxn>
                <a:cxn ang="0">
                  <a:pos x="T6" y="T7"/>
                </a:cxn>
                <a:cxn ang="0">
                  <a:pos x="T8" y="T9"/>
                </a:cxn>
                <a:cxn ang="0">
                  <a:pos x="T10" y="T11"/>
                </a:cxn>
              </a:cxnLst>
              <a:rect l="0" t="0" r="r" b="b"/>
              <a:pathLst>
                <a:path w="465" h="1755">
                  <a:moveTo>
                    <a:pt x="232" y="1754"/>
                  </a:moveTo>
                  <a:lnTo>
                    <a:pt x="0" y="1754"/>
                  </a:lnTo>
                  <a:lnTo>
                    <a:pt x="0" y="0"/>
                  </a:lnTo>
                  <a:lnTo>
                    <a:pt x="464" y="0"/>
                  </a:lnTo>
                  <a:lnTo>
                    <a:pt x="464" y="1754"/>
                  </a:lnTo>
                  <a:lnTo>
                    <a:pt x="232" y="1754"/>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48" name="Freeform 5">
              <a:extLst>
                <a:ext uri="{FF2B5EF4-FFF2-40B4-BE49-F238E27FC236}">
                  <a16:creationId xmlns:a16="http://schemas.microsoft.com/office/drawing/2014/main" id="{22029583-0D66-5343-987C-CF43A574E882}"/>
                </a:ext>
              </a:extLst>
            </p:cNvPr>
            <p:cNvSpPr>
              <a:spLocks noChangeArrowheads="1"/>
            </p:cNvSpPr>
            <p:nvPr/>
          </p:nvSpPr>
          <p:spPr bwMode="auto">
            <a:xfrm>
              <a:off x="3049588" y="3275013"/>
              <a:ext cx="673100" cy="631825"/>
            </a:xfrm>
            <a:custGeom>
              <a:avLst/>
              <a:gdLst>
                <a:gd name="T0" fmla="*/ 465 w 1868"/>
                <a:gd name="T1" fmla="*/ 0 h 1755"/>
                <a:gd name="T2" fmla="*/ 465 w 1868"/>
                <a:gd name="T3" fmla="*/ 700 h 1755"/>
                <a:gd name="T4" fmla="*/ 1402 w 1868"/>
                <a:gd name="T5" fmla="*/ 700 h 1755"/>
                <a:gd name="T6" fmla="*/ 1402 w 1868"/>
                <a:gd name="T7" fmla="*/ 0 h 1755"/>
                <a:gd name="T8" fmla="*/ 1867 w 1868"/>
                <a:gd name="T9" fmla="*/ 0 h 1755"/>
                <a:gd name="T10" fmla="*/ 1867 w 1868"/>
                <a:gd name="T11" fmla="*/ 1754 h 1755"/>
                <a:gd name="T12" fmla="*/ 1402 w 1868"/>
                <a:gd name="T13" fmla="*/ 1754 h 1755"/>
                <a:gd name="T14" fmla="*/ 1402 w 1868"/>
                <a:gd name="T15" fmla="*/ 983 h 1755"/>
                <a:gd name="T16" fmla="*/ 465 w 1868"/>
                <a:gd name="T17" fmla="*/ 983 h 1755"/>
                <a:gd name="T18" fmla="*/ 465 w 1868"/>
                <a:gd name="T19" fmla="*/ 1754 h 1755"/>
                <a:gd name="T20" fmla="*/ 0 w 1868"/>
                <a:gd name="T21" fmla="*/ 1754 h 1755"/>
                <a:gd name="T22" fmla="*/ 0 w 1868"/>
                <a:gd name="T23" fmla="*/ 0 h 1755"/>
                <a:gd name="T24" fmla="*/ 465 w 1868"/>
                <a:gd name="T25" fmla="*/ 0 h 17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68" h="1755">
                  <a:moveTo>
                    <a:pt x="465" y="0"/>
                  </a:moveTo>
                  <a:cubicBezTo>
                    <a:pt x="465" y="0"/>
                    <a:pt x="465" y="705"/>
                    <a:pt x="465" y="700"/>
                  </a:cubicBezTo>
                  <a:lnTo>
                    <a:pt x="1402" y="700"/>
                  </a:lnTo>
                  <a:cubicBezTo>
                    <a:pt x="1402" y="705"/>
                    <a:pt x="1402" y="0"/>
                    <a:pt x="1402" y="0"/>
                  </a:cubicBezTo>
                  <a:cubicBezTo>
                    <a:pt x="1402" y="0"/>
                    <a:pt x="1863" y="0"/>
                    <a:pt x="1867" y="0"/>
                  </a:cubicBezTo>
                  <a:cubicBezTo>
                    <a:pt x="1867" y="0"/>
                    <a:pt x="1867" y="1750"/>
                    <a:pt x="1867" y="1754"/>
                  </a:cubicBezTo>
                  <a:lnTo>
                    <a:pt x="1402" y="1754"/>
                  </a:lnTo>
                  <a:cubicBezTo>
                    <a:pt x="1402" y="1754"/>
                    <a:pt x="1402" y="987"/>
                    <a:pt x="1402" y="983"/>
                  </a:cubicBezTo>
                  <a:cubicBezTo>
                    <a:pt x="1402" y="987"/>
                    <a:pt x="465" y="983"/>
                    <a:pt x="465" y="983"/>
                  </a:cubicBezTo>
                  <a:cubicBezTo>
                    <a:pt x="465" y="987"/>
                    <a:pt x="465" y="1754"/>
                    <a:pt x="465" y="1754"/>
                  </a:cubicBezTo>
                  <a:lnTo>
                    <a:pt x="0" y="1754"/>
                  </a:lnTo>
                  <a:cubicBezTo>
                    <a:pt x="0" y="1754"/>
                    <a:pt x="5" y="0"/>
                    <a:pt x="0" y="0"/>
                  </a:cubicBezTo>
                  <a:lnTo>
                    <a:pt x="465"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49" name="Freeform 6">
              <a:extLst>
                <a:ext uri="{FF2B5EF4-FFF2-40B4-BE49-F238E27FC236}">
                  <a16:creationId xmlns:a16="http://schemas.microsoft.com/office/drawing/2014/main" id="{853178F1-F0AF-6240-8FB2-09BC14B17DBA}"/>
                </a:ext>
              </a:extLst>
            </p:cNvPr>
            <p:cNvSpPr>
              <a:spLocks noChangeArrowheads="1"/>
            </p:cNvSpPr>
            <p:nvPr/>
          </p:nvSpPr>
          <p:spPr bwMode="auto">
            <a:xfrm>
              <a:off x="3854450" y="3275013"/>
              <a:ext cx="168275" cy="631825"/>
            </a:xfrm>
            <a:custGeom>
              <a:avLst/>
              <a:gdLst>
                <a:gd name="T0" fmla="*/ 233 w 466"/>
                <a:gd name="T1" fmla="*/ 1754 h 1755"/>
                <a:gd name="T2" fmla="*/ 0 w 466"/>
                <a:gd name="T3" fmla="*/ 1754 h 1755"/>
                <a:gd name="T4" fmla="*/ 0 w 466"/>
                <a:gd name="T5" fmla="*/ 0 h 1755"/>
                <a:gd name="T6" fmla="*/ 465 w 466"/>
                <a:gd name="T7" fmla="*/ 0 h 1755"/>
                <a:gd name="T8" fmla="*/ 465 w 466"/>
                <a:gd name="T9" fmla="*/ 1754 h 1755"/>
                <a:gd name="T10" fmla="*/ 233 w 466"/>
                <a:gd name="T11" fmla="*/ 1754 h 1755"/>
              </a:gdLst>
              <a:ahLst/>
              <a:cxnLst>
                <a:cxn ang="0">
                  <a:pos x="T0" y="T1"/>
                </a:cxn>
                <a:cxn ang="0">
                  <a:pos x="T2" y="T3"/>
                </a:cxn>
                <a:cxn ang="0">
                  <a:pos x="T4" y="T5"/>
                </a:cxn>
                <a:cxn ang="0">
                  <a:pos x="T6" y="T7"/>
                </a:cxn>
                <a:cxn ang="0">
                  <a:pos x="T8" y="T9"/>
                </a:cxn>
                <a:cxn ang="0">
                  <a:pos x="T10" y="T11"/>
                </a:cxn>
              </a:cxnLst>
              <a:rect l="0" t="0" r="r" b="b"/>
              <a:pathLst>
                <a:path w="466" h="1755">
                  <a:moveTo>
                    <a:pt x="233" y="1754"/>
                  </a:moveTo>
                  <a:lnTo>
                    <a:pt x="0" y="1754"/>
                  </a:lnTo>
                  <a:lnTo>
                    <a:pt x="0" y="0"/>
                  </a:lnTo>
                  <a:lnTo>
                    <a:pt x="465" y="0"/>
                  </a:lnTo>
                  <a:lnTo>
                    <a:pt x="465" y="1754"/>
                  </a:lnTo>
                  <a:lnTo>
                    <a:pt x="233" y="1754"/>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50" name="Freeform 7">
              <a:extLst>
                <a:ext uri="{FF2B5EF4-FFF2-40B4-BE49-F238E27FC236}">
                  <a16:creationId xmlns:a16="http://schemas.microsoft.com/office/drawing/2014/main" id="{587CA836-2BC9-604B-8F93-B6FA817F991A}"/>
                </a:ext>
              </a:extLst>
            </p:cNvPr>
            <p:cNvSpPr>
              <a:spLocks noChangeArrowheads="1"/>
            </p:cNvSpPr>
            <p:nvPr/>
          </p:nvSpPr>
          <p:spPr bwMode="auto">
            <a:xfrm>
              <a:off x="5383213" y="3262313"/>
              <a:ext cx="715962" cy="663575"/>
            </a:xfrm>
            <a:custGeom>
              <a:avLst/>
              <a:gdLst>
                <a:gd name="T0" fmla="*/ 62 w 1988"/>
                <a:gd name="T1" fmla="*/ 1307 h 1842"/>
                <a:gd name="T2" fmla="*/ 0 w 1988"/>
                <a:gd name="T3" fmla="*/ 933 h 1842"/>
                <a:gd name="T4" fmla="*/ 120 w 1988"/>
                <a:gd name="T5" fmla="*/ 423 h 1842"/>
                <a:gd name="T6" fmla="*/ 518 w 1988"/>
                <a:gd name="T7" fmla="*/ 91 h 1842"/>
                <a:gd name="T8" fmla="*/ 1033 w 1988"/>
                <a:gd name="T9" fmla="*/ 0 h 1842"/>
                <a:gd name="T10" fmla="*/ 1618 w 1988"/>
                <a:gd name="T11" fmla="*/ 125 h 1842"/>
                <a:gd name="T12" fmla="*/ 1950 w 1988"/>
                <a:gd name="T13" fmla="*/ 531 h 1842"/>
                <a:gd name="T14" fmla="*/ 1966 w 1988"/>
                <a:gd name="T15" fmla="*/ 643 h 1842"/>
                <a:gd name="T16" fmla="*/ 1481 w 1988"/>
                <a:gd name="T17" fmla="*/ 643 h 1842"/>
                <a:gd name="T18" fmla="*/ 1456 w 1988"/>
                <a:gd name="T19" fmla="*/ 506 h 1842"/>
                <a:gd name="T20" fmla="*/ 1240 w 1988"/>
                <a:gd name="T21" fmla="*/ 303 h 1842"/>
                <a:gd name="T22" fmla="*/ 1037 w 1988"/>
                <a:gd name="T23" fmla="*/ 274 h 1842"/>
                <a:gd name="T24" fmla="*/ 809 w 1988"/>
                <a:gd name="T25" fmla="*/ 315 h 1842"/>
                <a:gd name="T26" fmla="*/ 556 w 1988"/>
                <a:gd name="T27" fmla="*/ 573 h 1842"/>
                <a:gd name="T28" fmla="*/ 494 w 1988"/>
                <a:gd name="T29" fmla="*/ 942 h 1842"/>
                <a:gd name="T30" fmla="*/ 539 w 1988"/>
                <a:gd name="T31" fmla="*/ 1249 h 1842"/>
                <a:gd name="T32" fmla="*/ 792 w 1988"/>
                <a:gd name="T33" fmla="*/ 1527 h 1842"/>
                <a:gd name="T34" fmla="*/ 1041 w 1988"/>
                <a:gd name="T35" fmla="*/ 1572 h 1842"/>
                <a:gd name="T36" fmla="*/ 1257 w 1988"/>
                <a:gd name="T37" fmla="*/ 1539 h 1842"/>
                <a:gd name="T38" fmla="*/ 1460 w 1988"/>
                <a:gd name="T39" fmla="*/ 1356 h 1842"/>
                <a:gd name="T40" fmla="*/ 1497 w 1988"/>
                <a:gd name="T41" fmla="*/ 1170 h 1842"/>
                <a:gd name="T42" fmla="*/ 1987 w 1988"/>
                <a:gd name="T43" fmla="*/ 1170 h 1842"/>
                <a:gd name="T44" fmla="*/ 1962 w 1988"/>
                <a:gd name="T45" fmla="*/ 1336 h 1842"/>
                <a:gd name="T46" fmla="*/ 1638 w 1988"/>
                <a:gd name="T47" fmla="*/ 1721 h 1842"/>
                <a:gd name="T48" fmla="*/ 1041 w 1988"/>
                <a:gd name="T49" fmla="*/ 1841 h 1842"/>
                <a:gd name="T50" fmla="*/ 568 w 1988"/>
                <a:gd name="T51" fmla="*/ 1771 h 1842"/>
                <a:gd name="T52" fmla="*/ 62 w 1988"/>
                <a:gd name="T53" fmla="*/ 1307 h 18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988" h="1842">
                  <a:moveTo>
                    <a:pt x="62" y="1307"/>
                  </a:moveTo>
                  <a:cubicBezTo>
                    <a:pt x="21" y="1191"/>
                    <a:pt x="0" y="1066"/>
                    <a:pt x="0" y="933"/>
                  </a:cubicBezTo>
                  <a:cubicBezTo>
                    <a:pt x="0" y="751"/>
                    <a:pt x="33" y="573"/>
                    <a:pt x="120" y="423"/>
                  </a:cubicBezTo>
                  <a:cubicBezTo>
                    <a:pt x="211" y="270"/>
                    <a:pt x="348" y="154"/>
                    <a:pt x="518" y="91"/>
                  </a:cubicBezTo>
                  <a:cubicBezTo>
                    <a:pt x="680" y="33"/>
                    <a:pt x="850" y="0"/>
                    <a:pt x="1033" y="0"/>
                  </a:cubicBezTo>
                  <a:cubicBezTo>
                    <a:pt x="1240" y="0"/>
                    <a:pt x="1439" y="46"/>
                    <a:pt x="1618" y="125"/>
                  </a:cubicBezTo>
                  <a:cubicBezTo>
                    <a:pt x="1784" y="195"/>
                    <a:pt x="1912" y="349"/>
                    <a:pt x="1950" y="531"/>
                  </a:cubicBezTo>
                  <a:cubicBezTo>
                    <a:pt x="1958" y="568"/>
                    <a:pt x="1962" y="606"/>
                    <a:pt x="1966" y="643"/>
                  </a:cubicBezTo>
                  <a:lnTo>
                    <a:pt x="1481" y="643"/>
                  </a:lnTo>
                  <a:cubicBezTo>
                    <a:pt x="1481" y="597"/>
                    <a:pt x="1472" y="552"/>
                    <a:pt x="1456" y="506"/>
                  </a:cubicBezTo>
                  <a:cubicBezTo>
                    <a:pt x="1419" y="411"/>
                    <a:pt x="1340" y="332"/>
                    <a:pt x="1240" y="303"/>
                  </a:cubicBezTo>
                  <a:cubicBezTo>
                    <a:pt x="1174" y="282"/>
                    <a:pt x="1107" y="274"/>
                    <a:pt x="1037" y="274"/>
                  </a:cubicBezTo>
                  <a:cubicBezTo>
                    <a:pt x="958" y="274"/>
                    <a:pt x="879" y="286"/>
                    <a:pt x="809" y="315"/>
                  </a:cubicBezTo>
                  <a:cubicBezTo>
                    <a:pt x="688" y="357"/>
                    <a:pt x="597" y="452"/>
                    <a:pt x="556" y="573"/>
                  </a:cubicBezTo>
                  <a:cubicBezTo>
                    <a:pt x="514" y="689"/>
                    <a:pt x="494" y="813"/>
                    <a:pt x="494" y="942"/>
                  </a:cubicBezTo>
                  <a:cubicBezTo>
                    <a:pt x="494" y="1050"/>
                    <a:pt x="510" y="1153"/>
                    <a:pt x="539" y="1249"/>
                  </a:cubicBezTo>
                  <a:cubicBezTo>
                    <a:pt x="572" y="1377"/>
                    <a:pt x="672" y="1481"/>
                    <a:pt x="792" y="1527"/>
                  </a:cubicBezTo>
                  <a:cubicBezTo>
                    <a:pt x="871" y="1556"/>
                    <a:pt x="954" y="1572"/>
                    <a:pt x="1041" y="1572"/>
                  </a:cubicBezTo>
                  <a:cubicBezTo>
                    <a:pt x="1116" y="1572"/>
                    <a:pt x="1186" y="1560"/>
                    <a:pt x="1257" y="1539"/>
                  </a:cubicBezTo>
                  <a:cubicBezTo>
                    <a:pt x="1348" y="1510"/>
                    <a:pt x="1423" y="1444"/>
                    <a:pt x="1460" y="1356"/>
                  </a:cubicBezTo>
                  <a:cubicBezTo>
                    <a:pt x="1485" y="1298"/>
                    <a:pt x="1497" y="1236"/>
                    <a:pt x="1497" y="1170"/>
                  </a:cubicBezTo>
                  <a:lnTo>
                    <a:pt x="1987" y="1170"/>
                  </a:lnTo>
                  <a:cubicBezTo>
                    <a:pt x="1983" y="1228"/>
                    <a:pt x="1974" y="1282"/>
                    <a:pt x="1962" y="1336"/>
                  </a:cubicBezTo>
                  <a:cubicBezTo>
                    <a:pt x="1920" y="1510"/>
                    <a:pt x="1800" y="1655"/>
                    <a:pt x="1638" y="1721"/>
                  </a:cubicBezTo>
                  <a:cubicBezTo>
                    <a:pt x="1456" y="1800"/>
                    <a:pt x="1253" y="1841"/>
                    <a:pt x="1041" y="1841"/>
                  </a:cubicBezTo>
                  <a:cubicBezTo>
                    <a:pt x="875" y="1841"/>
                    <a:pt x="718" y="1817"/>
                    <a:pt x="568" y="1771"/>
                  </a:cubicBezTo>
                  <a:cubicBezTo>
                    <a:pt x="336" y="1692"/>
                    <a:pt x="137" y="1527"/>
                    <a:pt x="62" y="1307"/>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51" name="Freeform 8">
              <a:extLst>
                <a:ext uri="{FF2B5EF4-FFF2-40B4-BE49-F238E27FC236}">
                  <a16:creationId xmlns:a16="http://schemas.microsoft.com/office/drawing/2014/main" id="{9BEF782E-D5DE-734F-9C51-AB343EB194F6}"/>
                </a:ext>
              </a:extLst>
            </p:cNvPr>
            <p:cNvSpPr>
              <a:spLocks noChangeArrowheads="1"/>
            </p:cNvSpPr>
            <p:nvPr/>
          </p:nvSpPr>
          <p:spPr bwMode="auto">
            <a:xfrm>
              <a:off x="2751138" y="4083050"/>
              <a:ext cx="153987" cy="398463"/>
            </a:xfrm>
            <a:custGeom>
              <a:avLst/>
              <a:gdLst>
                <a:gd name="T0" fmla="*/ 415 w 428"/>
                <a:gd name="T1" fmla="*/ 0 h 1109"/>
                <a:gd name="T2" fmla="*/ 0 w 428"/>
                <a:gd name="T3" fmla="*/ 38 h 1109"/>
                <a:gd name="T4" fmla="*/ 0 w 428"/>
                <a:gd name="T5" fmla="*/ 100 h 1109"/>
                <a:gd name="T6" fmla="*/ 12 w 428"/>
                <a:gd name="T7" fmla="*/ 100 h 1109"/>
                <a:gd name="T8" fmla="*/ 178 w 428"/>
                <a:gd name="T9" fmla="*/ 241 h 1109"/>
                <a:gd name="T10" fmla="*/ 178 w 428"/>
                <a:gd name="T11" fmla="*/ 1108 h 1109"/>
                <a:gd name="T12" fmla="*/ 427 w 428"/>
                <a:gd name="T13" fmla="*/ 1108 h 1109"/>
                <a:gd name="T14" fmla="*/ 427 w 428"/>
                <a:gd name="T15" fmla="*/ 0 h 1109"/>
                <a:gd name="T16" fmla="*/ 415 w 428"/>
                <a:gd name="T17" fmla="*/ 0 h 1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28" h="1109">
                  <a:moveTo>
                    <a:pt x="415" y="0"/>
                  </a:moveTo>
                  <a:lnTo>
                    <a:pt x="0" y="38"/>
                  </a:lnTo>
                  <a:lnTo>
                    <a:pt x="0" y="100"/>
                  </a:lnTo>
                  <a:lnTo>
                    <a:pt x="12" y="100"/>
                  </a:lnTo>
                  <a:cubicBezTo>
                    <a:pt x="178" y="121"/>
                    <a:pt x="178" y="121"/>
                    <a:pt x="178" y="241"/>
                  </a:cubicBezTo>
                  <a:lnTo>
                    <a:pt x="178" y="1108"/>
                  </a:lnTo>
                  <a:lnTo>
                    <a:pt x="427" y="1108"/>
                  </a:lnTo>
                  <a:lnTo>
                    <a:pt x="427" y="0"/>
                  </a:lnTo>
                  <a:lnTo>
                    <a:pt x="415"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52" name="Freeform 9">
              <a:extLst>
                <a:ext uri="{FF2B5EF4-FFF2-40B4-BE49-F238E27FC236}">
                  <a16:creationId xmlns:a16="http://schemas.microsoft.com/office/drawing/2014/main" id="{0C8F20BF-80B8-AA43-8103-58006CF5B9E1}"/>
                </a:ext>
              </a:extLst>
            </p:cNvPr>
            <p:cNvSpPr>
              <a:spLocks noChangeArrowheads="1"/>
            </p:cNvSpPr>
            <p:nvPr/>
          </p:nvSpPr>
          <p:spPr bwMode="auto">
            <a:xfrm>
              <a:off x="2986088" y="4198938"/>
              <a:ext cx="315912" cy="282575"/>
            </a:xfrm>
            <a:custGeom>
              <a:avLst/>
              <a:gdLst>
                <a:gd name="T0" fmla="*/ 643 w 876"/>
                <a:gd name="T1" fmla="*/ 4 h 785"/>
                <a:gd name="T2" fmla="*/ 353 w 876"/>
                <a:gd name="T3" fmla="*/ 170 h 785"/>
                <a:gd name="T4" fmla="*/ 353 w 876"/>
                <a:gd name="T5" fmla="*/ 0 h 785"/>
                <a:gd name="T6" fmla="*/ 336 w 876"/>
                <a:gd name="T7" fmla="*/ 4 h 785"/>
                <a:gd name="T8" fmla="*/ 0 w 876"/>
                <a:gd name="T9" fmla="*/ 58 h 785"/>
                <a:gd name="T10" fmla="*/ 0 w 876"/>
                <a:gd name="T11" fmla="*/ 116 h 785"/>
                <a:gd name="T12" fmla="*/ 17 w 876"/>
                <a:gd name="T13" fmla="*/ 116 h 785"/>
                <a:gd name="T14" fmla="*/ 145 w 876"/>
                <a:gd name="T15" fmla="*/ 240 h 785"/>
                <a:gd name="T16" fmla="*/ 145 w 876"/>
                <a:gd name="T17" fmla="*/ 784 h 785"/>
                <a:gd name="T18" fmla="*/ 353 w 876"/>
                <a:gd name="T19" fmla="*/ 784 h 785"/>
                <a:gd name="T20" fmla="*/ 353 w 876"/>
                <a:gd name="T21" fmla="*/ 386 h 785"/>
                <a:gd name="T22" fmla="*/ 560 w 876"/>
                <a:gd name="T23" fmla="*/ 141 h 785"/>
                <a:gd name="T24" fmla="*/ 664 w 876"/>
                <a:gd name="T25" fmla="*/ 361 h 785"/>
                <a:gd name="T26" fmla="*/ 664 w 876"/>
                <a:gd name="T27" fmla="*/ 784 h 785"/>
                <a:gd name="T28" fmla="*/ 871 w 876"/>
                <a:gd name="T29" fmla="*/ 784 h 785"/>
                <a:gd name="T30" fmla="*/ 871 w 876"/>
                <a:gd name="T31" fmla="*/ 240 h 785"/>
                <a:gd name="T32" fmla="*/ 643 w 876"/>
                <a:gd name="T33" fmla="*/ 4 h 7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76" h="785">
                  <a:moveTo>
                    <a:pt x="643" y="4"/>
                  </a:moveTo>
                  <a:cubicBezTo>
                    <a:pt x="490" y="4"/>
                    <a:pt x="398" y="108"/>
                    <a:pt x="353" y="170"/>
                  </a:cubicBezTo>
                  <a:cubicBezTo>
                    <a:pt x="353" y="112"/>
                    <a:pt x="353" y="0"/>
                    <a:pt x="353" y="0"/>
                  </a:cubicBezTo>
                  <a:lnTo>
                    <a:pt x="336" y="4"/>
                  </a:lnTo>
                  <a:lnTo>
                    <a:pt x="0" y="58"/>
                  </a:lnTo>
                  <a:lnTo>
                    <a:pt x="0" y="116"/>
                  </a:lnTo>
                  <a:lnTo>
                    <a:pt x="17" y="116"/>
                  </a:lnTo>
                  <a:cubicBezTo>
                    <a:pt x="124" y="120"/>
                    <a:pt x="145" y="141"/>
                    <a:pt x="145" y="240"/>
                  </a:cubicBezTo>
                  <a:lnTo>
                    <a:pt x="145" y="784"/>
                  </a:lnTo>
                  <a:lnTo>
                    <a:pt x="353" y="784"/>
                  </a:lnTo>
                  <a:lnTo>
                    <a:pt x="353" y="386"/>
                  </a:lnTo>
                  <a:cubicBezTo>
                    <a:pt x="353" y="278"/>
                    <a:pt x="452" y="141"/>
                    <a:pt x="560" y="141"/>
                  </a:cubicBezTo>
                  <a:cubicBezTo>
                    <a:pt x="660" y="141"/>
                    <a:pt x="664" y="224"/>
                    <a:pt x="664" y="361"/>
                  </a:cubicBezTo>
                  <a:lnTo>
                    <a:pt x="664" y="784"/>
                  </a:lnTo>
                  <a:lnTo>
                    <a:pt x="871" y="784"/>
                  </a:lnTo>
                  <a:lnTo>
                    <a:pt x="871" y="240"/>
                  </a:lnTo>
                  <a:cubicBezTo>
                    <a:pt x="875" y="87"/>
                    <a:pt x="792" y="4"/>
                    <a:pt x="643" y="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53" name="Freeform 10">
              <a:extLst>
                <a:ext uri="{FF2B5EF4-FFF2-40B4-BE49-F238E27FC236}">
                  <a16:creationId xmlns:a16="http://schemas.microsoft.com/office/drawing/2014/main" id="{5B65AB5A-E732-2349-89E5-B07E524928B0}"/>
                </a:ext>
              </a:extLst>
            </p:cNvPr>
            <p:cNvSpPr>
              <a:spLocks noChangeArrowheads="1"/>
            </p:cNvSpPr>
            <p:nvPr/>
          </p:nvSpPr>
          <p:spPr bwMode="auto">
            <a:xfrm>
              <a:off x="3386138" y="4200525"/>
              <a:ext cx="212725" cy="288925"/>
            </a:xfrm>
            <a:custGeom>
              <a:avLst/>
              <a:gdLst>
                <a:gd name="T0" fmla="*/ 348 w 590"/>
                <a:gd name="T1" fmla="*/ 303 h 802"/>
                <a:gd name="T2" fmla="*/ 195 w 590"/>
                <a:gd name="T3" fmla="*/ 170 h 802"/>
                <a:gd name="T4" fmla="*/ 307 w 590"/>
                <a:gd name="T5" fmla="*/ 100 h 802"/>
                <a:gd name="T6" fmla="*/ 502 w 590"/>
                <a:gd name="T7" fmla="*/ 166 h 802"/>
                <a:gd name="T8" fmla="*/ 535 w 590"/>
                <a:gd name="T9" fmla="*/ 187 h 802"/>
                <a:gd name="T10" fmla="*/ 535 w 590"/>
                <a:gd name="T11" fmla="*/ 162 h 802"/>
                <a:gd name="T12" fmla="*/ 535 w 590"/>
                <a:gd name="T13" fmla="*/ 33 h 802"/>
                <a:gd name="T14" fmla="*/ 506 w 590"/>
                <a:gd name="T15" fmla="*/ 25 h 802"/>
                <a:gd name="T16" fmla="*/ 315 w 590"/>
                <a:gd name="T17" fmla="*/ 0 h 802"/>
                <a:gd name="T18" fmla="*/ 0 w 590"/>
                <a:gd name="T19" fmla="*/ 224 h 802"/>
                <a:gd name="T20" fmla="*/ 228 w 590"/>
                <a:gd name="T21" fmla="*/ 465 h 802"/>
                <a:gd name="T22" fmla="*/ 390 w 590"/>
                <a:gd name="T23" fmla="*/ 606 h 802"/>
                <a:gd name="T24" fmla="*/ 249 w 590"/>
                <a:gd name="T25" fmla="*/ 697 h 802"/>
                <a:gd name="T26" fmla="*/ 20 w 590"/>
                <a:gd name="T27" fmla="*/ 618 h 802"/>
                <a:gd name="T28" fmla="*/ 0 w 590"/>
                <a:gd name="T29" fmla="*/ 606 h 802"/>
                <a:gd name="T30" fmla="*/ 0 w 590"/>
                <a:gd name="T31" fmla="*/ 767 h 802"/>
                <a:gd name="T32" fmla="*/ 16 w 590"/>
                <a:gd name="T33" fmla="*/ 771 h 802"/>
                <a:gd name="T34" fmla="*/ 244 w 590"/>
                <a:gd name="T35" fmla="*/ 801 h 802"/>
                <a:gd name="T36" fmla="*/ 580 w 590"/>
                <a:gd name="T37" fmla="*/ 568 h 802"/>
                <a:gd name="T38" fmla="*/ 348 w 590"/>
                <a:gd name="T39" fmla="*/ 303 h 8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590" h="802">
                  <a:moveTo>
                    <a:pt x="348" y="303"/>
                  </a:moveTo>
                  <a:cubicBezTo>
                    <a:pt x="265" y="261"/>
                    <a:pt x="195" y="228"/>
                    <a:pt x="195" y="170"/>
                  </a:cubicBezTo>
                  <a:cubicBezTo>
                    <a:pt x="195" y="104"/>
                    <a:pt x="274" y="100"/>
                    <a:pt x="307" y="100"/>
                  </a:cubicBezTo>
                  <a:cubicBezTo>
                    <a:pt x="394" y="100"/>
                    <a:pt x="468" y="145"/>
                    <a:pt x="502" y="166"/>
                  </a:cubicBezTo>
                  <a:lnTo>
                    <a:pt x="535" y="187"/>
                  </a:lnTo>
                  <a:lnTo>
                    <a:pt x="535" y="162"/>
                  </a:lnTo>
                  <a:lnTo>
                    <a:pt x="535" y="33"/>
                  </a:lnTo>
                  <a:lnTo>
                    <a:pt x="506" y="25"/>
                  </a:lnTo>
                  <a:cubicBezTo>
                    <a:pt x="468" y="17"/>
                    <a:pt x="398" y="0"/>
                    <a:pt x="315" y="0"/>
                  </a:cubicBezTo>
                  <a:cubicBezTo>
                    <a:pt x="120" y="0"/>
                    <a:pt x="0" y="83"/>
                    <a:pt x="0" y="224"/>
                  </a:cubicBezTo>
                  <a:cubicBezTo>
                    <a:pt x="0" y="353"/>
                    <a:pt x="124" y="411"/>
                    <a:pt x="228" y="465"/>
                  </a:cubicBezTo>
                  <a:cubicBezTo>
                    <a:pt x="311" y="506"/>
                    <a:pt x="390" y="543"/>
                    <a:pt x="390" y="606"/>
                  </a:cubicBezTo>
                  <a:cubicBezTo>
                    <a:pt x="390" y="664"/>
                    <a:pt x="340" y="697"/>
                    <a:pt x="249" y="697"/>
                  </a:cubicBezTo>
                  <a:cubicBezTo>
                    <a:pt x="149" y="697"/>
                    <a:pt x="70" y="647"/>
                    <a:pt x="20" y="618"/>
                  </a:cubicBezTo>
                  <a:lnTo>
                    <a:pt x="0" y="606"/>
                  </a:lnTo>
                  <a:lnTo>
                    <a:pt x="0" y="767"/>
                  </a:lnTo>
                  <a:lnTo>
                    <a:pt x="16" y="771"/>
                  </a:lnTo>
                  <a:cubicBezTo>
                    <a:pt x="58" y="780"/>
                    <a:pt x="137" y="801"/>
                    <a:pt x="244" y="801"/>
                  </a:cubicBezTo>
                  <a:cubicBezTo>
                    <a:pt x="456" y="801"/>
                    <a:pt x="580" y="713"/>
                    <a:pt x="580" y="568"/>
                  </a:cubicBezTo>
                  <a:cubicBezTo>
                    <a:pt x="589" y="419"/>
                    <a:pt x="460" y="357"/>
                    <a:pt x="348" y="30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54" name="Freeform 11">
              <a:extLst>
                <a:ext uri="{FF2B5EF4-FFF2-40B4-BE49-F238E27FC236}">
                  <a16:creationId xmlns:a16="http://schemas.microsoft.com/office/drawing/2014/main" id="{18907CF9-1658-E045-9ADF-2C0EB3806774}"/>
                </a:ext>
              </a:extLst>
            </p:cNvPr>
            <p:cNvSpPr>
              <a:spLocks noChangeArrowheads="1"/>
            </p:cNvSpPr>
            <p:nvPr/>
          </p:nvSpPr>
          <p:spPr bwMode="auto">
            <a:xfrm>
              <a:off x="3635375" y="4198938"/>
              <a:ext cx="325438" cy="396875"/>
            </a:xfrm>
            <a:custGeom>
              <a:avLst/>
              <a:gdLst>
                <a:gd name="T0" fmla="*/ 577 w 906"/>
                <a:gd name="T1" fmla="*/ 4 h 1104"/>
                <a:gd name="T2" fmla="*/ 357 w 906"/>
                <a:gd name="T3" fmla="*/ 112 h 1104"/>
                <a:gd name="T4" fmla="*/ 357 w 906"/>
                <a:gd name="T5" fmla="*/ 0 h 1104"/>
                <a:gd name="T6" fmla="*/ 336 w 906"/>
                <a:gd name="T7" fmla="*/ 4 h 1104"/>
                <a:gd name="T8" fmla="*/ 0 w 906"/>
                <a:gd name="T9" fmla="*/ 58 h 1104"/>
                <a:gd name="T10" fmla="*/ 0 w 906"/>
                <a:gd name="T11" fmla="*/ 116 h 1104"/>
                <a:gd name="T12" fmla="*/ 13 w 906"/>
                <a:gd name="T13" fmla="*/ 116 h 1104"/>
                <a:gd name="T14" fmla="*/ 137 w 906"/>
                <a:gd name="T15" fmla="*/ 240 h 1104"/>
                <a:gd name="T16" fmla="*/ 137 w 906"/>
                <a:gd name="T17" fmla="*/ 1103 h 1104"/>
                <a:gd name="T18" fmla="*/ 345 w 906"/>
                <a:gd name="T19" fmla="*/ 1103 h 1104"/>
                <a:gd name="T20" fmla="*/ 345 w 906"/>
                <a:gd name="T21" fmla="*/ 709 h 1104"/>
                <a:gd name="T22" fmla="*/ 560 w 906"/>
                <a:gd name="T23" fmla="*/ 800 h 1104"/>
                <a:gd name="T24" fmla="*/ 896 w 906"/>
                <a:gd name="T25" fmla="*/ 390 h 1104"/>
                <a:gd name="T26" fmla="*/ 577 w 906"/>
                <a:gd name="T27" fmla="*/ 4 h 1104"/>
                <a:gd name="T28" fmla="*/ 515 w 906"/>
                <a:gd name="T29" fmla="*/ 120 h 1104"/>
                <a:gd name="T30" fmla="*/ 672 w 906"/>
                <a:gd name="T31" fmla="*/ 394 h 1104"/>
                <a:gd name="T32" fmla="*/ 515 w 906"/>
                <a:gd name="T33" fmla="*/ 688 h 1104"/>
                <a:gd name="T34" fmla="*/ 349 w 906"/>
                <a:gd name="T35" fmla="*/ 456 h 1104"/>
                <a:gd name="T36" fmla="*/ 349 w 906"/>
                <a:gd name="T37" fmla="*/ 390 h 1104"/>
                <a:gd name="T38" fmla="*/ 515 w 906"/>
                <a:gd name="T39" fmla="*/ 120 h 1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906" h="1104">
                  <a:moveTo>
                    <a:pt x="577" y="4"/>
                  </a:moveTo>
                  <a:cubicBezTo>
                    <a:pt x="498" y="4"/>
                    <a:pt x="424" y="41"/>
                    <a:pt x="357" y="112"/>
                  </a:cubicBezTo>
                  <a:cubicBezTo>
                    <a:pt x="357" y="75"/>
                    <a:pt x="357" y="0"/>
                    <a:pt x="357" y="0"/>
                  </a:cubicBezTo>
                  <a:lnTo>
                    <a:pt x="336" y="4"/>
                  </a:lnTo>
                  <a:lnTo>
                    <a:pt x="0" y="58"/>
                  </a:lnTo>
                  <a:lnTo>
                    <a:pt x="0" y="116"/>
                  </a:lnTo>
                  <a:lnTo>
                    <a:pt x="13" y="116"/>
                  </a:lnTo>
                  <a:cubicBezTo>
                    <a:pt x="117" y="120"/>
                    <a:pt x="137" y="141"/>
                    <a:pt x="137" y="240"/>
                  </a:cubicBezTo>
                  <a:lnTo>
                    <a:pt x="137" y="1103"/>
                  </a:lnTo>
                  <a:lnTo>
                    <a:pt x="345" y="1103"/>
                  </a:lnTo>
                  <a:cubicBezTo>
                    <a:pt x="345" y="1103"/>
                    <a:pt x="345" y="775"/>
                    <a:pt x="345" y="709"/>
                  </a:cubicBezTo>
                  <a:cubicBezTo>
                    <a:pt x="382" y="755"/>
                    <a:pt x="444" y="800"/>
                    <a:pt x="560" y="800"/>
                  </a:cubicBezTo>
                  <a:cubicBezTo>
                    <a:pt x="780" y="800"/>
                    <a:pt x="896" y="659"/>
                    <a:pt x="896" y="390"/>
                  </a:cubicBezTo>
                  <a:cubicBezTo>
                    <a:pt x="905" y="145"/>
                    <a:pt x="784" y="4"/>
                    <a:pt x="577" y="4"/>
                  </a:cubicBezTo>
                  <a:close/>
                  <a:moveTo>
                    <a:pt x="515" y="120"/>
                  </a:moveTo>
                  <a:cubicBezTo>
                    <a:pt x="656" y="120"/>
                    <a:pt x="672" y="274"/>
                    <a:pt x="672" y="394"/>
                  </a:cubicBezTo>
                  <a:cubicBezTo>
                    <a:pt x="672" y="593"/>
                    <a:pt x="623" y="688"/>
                    <a:pt x="515" y="688"/>
                  </a:cubicBezTo>
                  <a:cubicBezTo>
                    <a:pt x="378" y="688"/>
                    <a:pt x="349" y="560"/>
                    <a:pt x="349" y="456"/>
                  </a:cubicBezTo>
                  <a:lnTo>
                    <a:pt x="349" y="390"/>
                  </a:lnTo>
                  <a:cubicBezTo>
                    <a:pt x="353" y="307"/>
                    <a:pt x="370" y="120"/>
                    <a:pt x="515" y="120"/>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55" name="Freeform 12">
              <a:extLst>
                <a:ext uri="{FF2B5EF4-FFF2-40B4-BE49-F238E27FC236}">
                  <a16:creationId xmlns:a16="http://schemas.microsoft.com/office/drawing/2014/main" id="{6582D328-B23E-7E45-9263-09C953540134}"/>
                </a:ext>
              </a:extLst>
            </p:cNvPr>
            <p:cNvSpPr>
              <a:spLocks noChangeArrowheads="1"/>
            </p:cNvSpPr>
            <p:nvPr/>
          </p:nvSpPr>
          <p:spPr bwMode="auto">
            <a:xfrm>
              <a:off x="4013200" y="4198938"/>
              <a:ext cx="123825" cy="282575"/>
            </a:xfrm>
            <a:custGeom>
              <a:avLst/>
              <a:gdLst>
                <a:gd name="T0" fmla="*/ 0 w 345"/>
                <a:gd name="T1" fmla="*/ 58 h 785"/>
                <a:gd name="T2" fmla="*/ 0 w 345"/>
                <a:gd name="T3" fmla="*/ 116 h 785"/>
                <a:gd name="T4" fmla="*/ 12 w 345"/>
                <a:gd name="T5" fmla="*/ 116 h 785"/>
                <a:gd name="T6" fmla="*/ 137 w 345"/>
                <a:gd name="T7" fmla="*/ 240 h 785"/>
                <a:gd name="T8" fmla="*/ 137 w 345"/>
                <a:gd name="T9" fmla="*/ 784 h 785"/>
                <a:gd name="T10" fmla="*/ 344 w 345"/>
                <a:gd name="T11" fmla="*/ 784 h 785"/>
                <a:gd name="T12" fmla="*/ 344 w 345"/>
                <a:gd name="T13" fmla="*/ 0 h 785"/>
                <a:gd name="T14" fmla="*/ 328 w 345"/>
                <a:gd name="T15" fmla="*/ 4 h 785"/>
                <a:gd name="T16" fmla="*/ 0 w 345"/>
                <a:gd name="T17" fmla="*/ 58 h 7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45" h="785">
                  <a:moveTo>
                    <a:pt x="0" y="58"/>
                  </a:moveTo>
                  <a:lnTo>
                    <a:pt x="0" y="116"/>
                  </a:lnTo>
                  <a:lnTo>
                    <a:pt x="12" y="116"/>
                  </a:lnTo>
                  <a:cubicBezTo>
                    <a:pt x="116" y="120"/>
                    <a:pt x="137" y="141"/>
                    <a:pt x="137" y="240"/>
                  </a:cubicBezTo>
                  <a:lnTo>
                    <a:pt x="137" y="784"/>
                  </a:lnTo>
                  <a:lnTo>
                    <a:pt x="344" y="784"/>
                  </a:lnTo>
                  <a:lnTo>
                    <a:pt x="344" y="0"/>
                  </a:lnTo>
                  <a:lnTo>
                    <a:pt x="328" y="4"/>
                  </a:lnTo>
                  <a:lnTo>
                    <a:pt x="0" y="58"/>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59" name="Freeform 13">
              <a:extLst>
                <a:ext uri="{FF2B5EF4-FFF2-40B4-BE49-F238E27FC236}">
                  <a16:creationId xmlns:a16="http://schemas.microsoft.com/office/drawing/2014/main" id="{1C5D63DB-4DD9-2E40-B566-7E733EBF8861}"/>
                </a:ext>
              </a:extLst>
            </p:cNvPr>
            <p:cNvSpPr>
              <a:spLocks noChangeArrowheads="1"/>
            </p:cNvSpPr>
            <p:nvPr/>
          </p:nvSpPr>
          <p:spPr bwMode="auto">
            <a:xfrm>
              <a:off x="4056063" y="4084638"/>
              <a:ext cx="93662" cy="82550"/>
            </a:xfrm>
            <a:custGeom>
              <a:avLst/>
              <a:gdLst>
                <a:gd name="T0" fmla="*/ 129 w 262"/>
                <a:gd name="T1" fmla="*/ 228 h 229"/>
                <a:gd name="T2" fmla="*/ 261 w 262"/>
                <a:gd name="T3" fmla="*/ 112 h 229"/>
                <a:gd name="T4" fmla="*/ 133 w 262"/>
                <a:gd name="T5" fmla="*/ 0 h 229"/>
                <a:gd name="T6" fmla="*/ 4 w 262"/>
                <a:gd name="T7" fmla="*/ 112 h 229"/>
                <a:gd name="T8" fmla="*/ 129 w 262"/>
                <a:gd name="T9" fmla="*/ 228 h 229"/>
              </a:gdLst>
              <a:ahLst/>
              <a:cxnLst>
                <a:cxn ang="0">
                  <a:pos x="T0" y="T1"/>
                </a:cxn>
                <a:cxn ang="0">
                  <a:pos x="T2" y="T3"/>
                </a:cxn>
                <a:cxn ang="0">
                  <a:pos x="T4" y="T5"/>
                </a:cxn>
                <a:cxn ang="0">
                  <a:pos x="T6" y="T7"/>
                </a:cxn>
                <a:cxn ang="0">
                  <a:pos x="T8" y="T9"/>
                </a:cxn>
              </a:cxnLst>
              <a:rect l="0" t="0" r="r" b="b"/>
              <a:pathLst>
                <a:path w="262" h="229">
                  <a:moveTo>
                    <a:pt x="129" y="228"/>
                  </a:moveTo>
                  <a:cubicBezTo>
                    <a:pt x="199" y="228"/>
                    <a:pt x="261" y="178"/>
                    <a:pt x="261" y="112"/>
                  </a:cubicBezTo>
                  <a:cubicBezTo>
                    <a:pt x="261" y="49"/>
                    <a:pt x="203" y="0"/>
                    <a:pt x="133" y="0"/>
                  </a:cubicBezTo>
                  <a:cubicBezTo>
                    <a:pt x="62" y="0"/>
                    <a:pt x="4" y="49"/>
                    <a:pt x="4" y="112"/>
                  </a:cubicBezTo>
                  <a:cubicBezTo>
                    <a:pt x="0" y="178"/>
                    <a:pt x="58" y="228"/>
                    <a:pt x="129" y="228"/>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60" name="Freeform 14">
              <a:extLst>
                <a:ext uri="{FF2B5EF4-FFF2-40B4-BE49-F238E27FC236}">
                  <a16:creationId xmlns:a16="http://schemas.microsoft.com/office/drawing/2014/main" id="{6CC37E30-3AA8-3A4D-938A-A8B8E7A953F9}"/>
                </a:ext>
              </a:extLst>
            </p:cNvPr>
            <p:cNvSpPr>
              <a:spLocks noChangeArrowheads="1"/>
            </p:cNvSpPr>
            <p:nvPr/>
          </p:nvSpPr>
          <p:spPr bwMode="auto">
            <a:xfrm>
              <a:off x="4211638" y="4200525"/>
              <a:ext cx="244475" cy="280988"/>
            </a:xfrm>
            <a:custGeom>
              <a:avLst/>
              <a:gdLst>
                <a:gd name="T0" fmla="*/ 676 w 677"/>
                <a:gd name="T1" fmla="*/ 174 h 781"/>
                <a:gd name="T2" fmla="*/ 676 w 677"/>
                <a:gd name="T3" fmla="*/ 12 h 781"/>
                <a:gd name="T4" fmla="*/ 663 w 677"/>
                <a:gd name="T5" fmla="*/ 12 h 781"/>
                <a:gd name="T6" fmla="*/ 564 w 677"/>
                <a:gd name="T7" fmla="*/ 4 h 781"/>
                <a:gd name="T8" fmla="*/ 348 w 677"/>
                <a:gd name="T9" fmla="*/ 158 h 781"/>
                <a:gd name="T10" fmla="*/ 348 w 677"/>
                <a:gd name="T11" fmla="*/ 0 h 781"/>
                <a:gd name="T12" fmla="*/ 331 w 677"/>
                <a:gd name="T13" fmla="*/ 0 h 781"/>
                <a:gd name="T14" fmla="*/ 0 w 677"/>
                <a:gd name="T15" fmla="*/ 54 h 781"/>
                <a:gd name="T16" fmla="*/ 0 w 677"/>
                <a:gd name="T17" fmla="*/ 112 h 781"/>
                <a:gd name="T18" fmla="*/ 12 w 677"/>
                <a:gd name="T19" fmla="*/ 112 h 781"/>
                <a:gd name="T20" fmla="*/ 141 w 677"/>
                <a:gd name="T21" fmla="*/ 236 h 781"/>
                <a:gd name="T22" fmla="*/ 141 w 677"/>
                <a:gd name="T23" fmla="*/ 780 h 781"/>
                <a:gd name="T24" fmla="*/ 348 w 677"/>
                <a:gd name="T25" fmla="*/ 780 h 781"/>
                <a:gd name="T26" fmla="*/ 348 w 677"/>
                <a:gd name="T27" fmla="*/ 390 h 781"/>
                <a:gd name="T28" fmla="*/ 568 w 677"/>
                <a:gd name="T29" fmla="*/ 170 h 781"/>
                <a:gd name="T30" fmla="*/ 643 w 677"/>
                <a:gd name="T31" fmla="*/ 183 h 781"/>
                <a:gd name="T32" fmla="*/ 676 w 677"/>
                <a:gd name="T33" fmla="*/ 191 h 781"/>
                <a:gd name="T34" fmla="*/ 676 w 677"/>
                <a:gd name="T35" fmla="*/ 174 h 7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77" h="781">
                  <a:moveTo>
                    <a:pt x="676" y="174"/>
                  </a:moveTo>
                  <a:lnTo>
                    <a:pt x="676" y="12"/>
                  </a:lnTo>
                  <a:lnTo>
                    <a:pt x="663" y="12"/>
                  </a:lnTo>
                  <a:cubicBezTo>
                    <a:pt x="630" y="8"/>
                    <a:pt x="593" y="4"/>
                    <a:pt x="564" y="4"/>
                  </a:cubicBezTo>
                  <a:cubicBezTo>
                    <a:pt x="443" y="4"/>
                    <a:pt x="381" y="91"/>
                    <a:pt x="348" y="158"/>
                  </a:cubicBezTo>
                  <a:cubicBezTo>
                    <a:pt x="348" y="95"/>
                    <a:pt x="348" y="0"/>
                    <a:pt x="348" y="0"/>
                  </a:cubicBezTo>
                  <a:lnTo>
                    <a:pt x="331" y="0"/>
                  </a:lnTo>
                  <a:lnTo>
                    <a:pt x="0" y="54"/>
                  </a:lnTo>
                  <a:lnTo>
                    <a:pt x="0" y="112"/>
                  </a:lnTo>
                  <a:lnTo>
                    <a:pt x="12" y="112"/>
                  </a:lnTo>
                  <a:cubicBezTo>
                    <a:pt x="116" y="116"/>
                    <a:pt x="141" y="137"/>
                    <a:pt x="141" y="236"/>
                  </a:cubicBezTo>
                  <a:lnTo>
                    <a:pt x="141" y="780"/>
                  </a:lnTo>
                  <a:lnTo>
                    <a:pt x="348" y="780"/>
                  </a:lnTo>
                  <a:lnTo>
                    <a:pt x="348" y="390"/>
                  </a:lnTo>
                  <a:cubicBezTo>
                    <a:pt x="348" y="324"/>
                    <a:pt x="369" y="170"/>
                    <a:pt x="568" y="170"/>
                  </a:cubicBezTo>
                  <a:cubicBezTo>
                    <a:pt x="593" y="170"/>
                    <a:pt x="618" y="178"/>
                    <a:pt x="643" y="183"/>
                  </a:cubicBezTo>
                  <a:lnTo>
                    <a:pt x="676" y="191"/>
                  </a:lnTo>
                  <a:lnTo>
                    <a:pt x="676" y="174"/>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61" name="Freeform 15">
              <a:extLst>
                <a:ext uri="{FF2B5EF4-FFF2-40B4-BE49-F238E27FC236}">
                  <a16:creationId xmlns:a16="http://schemas.microsoft.com/office/drawing/2014/main" id="{15F29EA2-8A57-A243-BA94-EEAE6BD449BC}"/>
                </a:ext>
              </a:extLst>
            </p:cNvPr>
            <p:cNvSpPr>
              <a:spLocks noChangeArrowheads="1"/>
            </p:cNvSpPr>
            <p:nvPr/>
          </p:nvSpPr>
          <p:spPr bwMode="auto">
            <a:xfrm>
              <a:off x="4486275" y="4200525"/>
              <a:ext cx="266700" cy="287338"/>
            </a:xfrm>
            <a:custGeom>
              <a:avLst/>
              <a:gdLst>
                <a:gd name="T0" fmla="*/ 738 w 743"/>
                <a:gd name="T1" fmla="*/ 315 h 797"/>
                <a:gd name="T2" fmla="*/ 390 w 743"/>
                <a:gd name="T3" fmla="*/ 0 h 797"/>
                <a:gd name="T4" fmla="*/ 0 w 743"/>
                <a:gd name="T5" fmla="*/ 373 h 797"/>
                <a:gd name="T6" fmla="*/ 456 w 743"/>
                <a:gd name="T7" fmla="*/ 796 h 797"/>
                <a:gd name="T8" fmla="*/ 713 w 743"/>
                <a:gd name="T9" fmla="*/ 755 h 797"/>
                <a:gd name="T10" fmla="*/ 726 w 743"/>
                <a:gd name="T11" fmla="*/ 751 h 797"/>
                <a:gd name="T12" fmla="*/ 726 w 743"/>
                <a:gd name="T13" fmla="*/ 651 h 797"/>
                <a:gd name="T14" fmla="*/ 705 w 743"/>
                <a:gd name="T15" fmla="*/ 660 h 797"/>
                <a:gd name="T16" fmla="*/ 543 w 743"/>
                <a:gd name="T17" fmla="*/ 684 h 797"/>
                <a:gd name="T18" fmla="*/ 232 w 743"/>
                <a:gd name="T19" fmla="*/ 332 h 797"/>
                <a:gd name="T20" fmla="*/ 742 w 743"/>
                <a:gd name="T21" fmla="*/ 332 h 797"/>
                <a:gd name="T22" fmla="*/ 742 w 743"/>
                <a:gd name="T23" fmla="*/ 315 h 797"/>
                <a:gd name="T24" fmla="*/ 738 w 743"/>
                <a:gd name="T25" fmla="*/ 315 h 797"/>
                <a:gd name="T26" fmla="*/ 386 w 743"/>
                <a:gd name="T27" fmla="*/ 83 h 797"/>
                <a:gd name="T28" fmla="*/ 531 w 743"/>
                <a:gd name="T29" fmla="*/ 236 h 797"/>
                <a:gd name="T30" fmla="*/ 228 w 743"/>
                <a:gd name="T31" fmla="*/ 236 h 797"/>
                <a:gd name="T32" fmla="*/ 386 w 743"/>
                <a:gd name="T33" fmla="*/ 83 h 7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743" h="797">
                  <a:moveTo>
                    <a:pt x="738" y="315"/>
                  </a:moveTo>
                  <a:cubicBezTo>
                    <a:pt x="738" y="104"/>
                    <a:pt x="622" y="0"/>
                    <a:pt x="390" y="0"/>
                  </a:cubicBezTo>
                  <a:cubicBezTo>
                    <a:pt x="128" y="0"/>
                    <a:pt x="0" y="124"/>
                    <a:pt x="0" y="373"/>
                  </a:cubicBezTo>
                  <a:cubicBezTo>
                    <a:pt x="0" y="639"/>
                    <a:pt x="170" y="796"/>
                    <a:pt x="456" y="796"/>
                  </a:cubicBezTo>
                  <a:cubicBezTo>
                    <a:pt x="581" y="796"/>
                    <a:pt x="676" y="763"/>
                    <a:pt x="713" y="755"/>
                  </a:cubicBezTo>
                  <a:lnTo>
                    <a:pt x="726" y="751"/>
                  </a:lnTo>
                  <a:lnTo>
                    <a:pt x="726" y="651"/>
                  </a:lnTo>
                  <a:lnTo>
                    <a:pt x="705" y="660"/>
                  </a:lnTo>
                  <a:cubicBezTo>
                    <a:pt x="672" y="672"/>
                    <a:pt x="610" y="684"/>
                    <a:pt x="543" y="684"/>
                  </a:cubicBezTo>
                  <a:cubicBezTo>
                    <a:pt x="319" y="684"/>
                    <a:pt x="236" y="498"/>
                    <a:pt x="232" y="332"/>
                  </a:cubicBezTo>
                  <a:cubicBezTo>
                    <a:pt x="261" y="332"/>
                    <a:pt x="742" y="332"/>
                    <a:pt x="742" y="332"/>
                  </a:cubicBezTo>
                  <a:lnTo>
                    <a:pt x="742" y="315"/>
                  </a:lnTo>
                  <a:lnTo>
                    <a:pt x="738" y="315"/>
                  </a:lnTo>
                  <a:close/>
                  <a:moveTo>
                    <a:pt x="386" y="83"/>
                  </a:moveTo>
                  <a:cubicBezTo>
                    <a:pt x="498" y="83"/>
                    <a:pt x="527" y="166"/>
                    <a:pt x="531" y="236"/>
                  </a:cubicBezTo>
                  <a:cubicBezTo>
                    <a:pt x="506" y="236"/>
                    <a:pt x="257" y="236"/>
                    <a:pt x="228" y="236"/>
                  </a:cubicBezTo>
                  <a:cubicBezTo>
                    <a:pt x="232" y="183"/>
                    <a:pt x="269" y="83"/>
                    <a:pt x="386" y="83"/>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62" name="Freeform 16">
              <a:extLst>
                <a:ext uri="{FF2B5EF4-FFF2-40B4-BE49-F238E27FC236}">
                  <a16:creationId xmlns:a16="http://schemas.microsoft.com/office/drawing/2014/main" id="{8896A965-59FA-E943-96EE-601F7005C896}"/>
                </a:ext>
              </a:extLst>
            </p:cNvPr>
            <p:cNvSpPr>
              <a:spLocks noChangeArrowheads="1"/>
            </p:cNvSpPr>
            <p:nvPr/>
          </p:nvSpPr>
          <p:spPr bwMode="auto">
            <a:xfrm>
              <a:off x="5210175" y="4071938"/>
              <a:ext cx="314325" cy="409575"/>
            </a:xfrm>
            <a:custGeom>
              <a:avLst/>
              <a:gdLst>
                <a:gd name="T0" fmla="*/ 634 w 872"/>
                <a:gd name="T1" fmla="*/ 357 h 1138"/>
                <a:gd name="T2" fmla="*/ 348 w 872"/>
                <a:gd name="T3" fmla="*/ 523 h 1138"/>
                <a:gd name="T4" fmla="*/ 348 w 872"/>
                <a:gd name="T5" fmla="*/ 0 h 1138"/>
                <a:gd name="T6" fmla="*/ 332 w 872"/>
                <a:gd name="T7" fmla="*/ 4 h 1138"/>
                <a:gd name="T8" fmla="*/ 0 w 872"/>
                <a:gd name="T9" fmla="*/ 46 h 1138"/>
                <a:gd name="T10" fmla="*/ 0 w 872"/>
                <a:gd name="T11" fmla="*/ 104 h 1138"/>
                <a:gd name="T12" fmla="*/ 16 w 872"/>
                <a:gd name="T13" fmla="*/ 104 h 1138"/>
                <a:gd name="T14" fmla="*/ 141 w 872"/>
                <a:gd name="T15" fmla="*/ 233 h 1138"/>
                <a:gd name="T16" fmla="*/ 141 w 872"/>
                <a:gd name="T17" fmla="*/ 1137 h 1138"/>
                <a:gd name="T18" fmla="*/ 348 w 872"/>
                <a:gd name="T19" fmla="*/ 1137 h 1138"/>
                <a:gd name="T20" fmla="*/ 348 w 872"/>
                <a:gd name="T21" fmla="*/ 747 h 1138"/>
                <a:gd name="T22" fmla="*/ 547 w 872"/>
                <a:gd name="T23" fmla="*/ 494 h 1138"/>
                <a:gd name="T24" fmla="*/ 663 w 872"/>
                <a:gd name="T25" fmla="*/ 660 h 1138"/>
                <a:gd name="T26" fmla="*/ 663 w 872"/>
                <a:gd name="T27" fmla="*/ 1137 h 1138"/>
                <a:gd name="T28" fmla="*/ 871 w 872"/>
                <a:gd name="T29" fmla="*/ 1137 h 1138"/>
                <a:gd name="T30" fmla="*/ 871 w 872"/>
                <a:gd name="T31" fmla="*/ 635 h 1138"/>
                <a:gd name="T32" fmla="*/ 634 w 872"/>
                <a:gd name="T33" fmla="*/ 357 h 1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72" h="1138">
                  <a:moveTo>
                    <a:pt x="634" y="357"/>
                  </a:moveTo>
                  <a:cubicBezTo>
                    <a:pt x="481" y="357"/>
                    <a:pt x="394" y="452"/>
                    <a:pt x="348" y="523"/>
                  </a:cubicBezTo>
                  <a:cubicBezTo>
                    <a:pt x="348" y="440"/>
                    <a:pt x="348" y="0"/>
                    <a:pt x="348" y="0"/>
                  </a:cubicBezTo>
                  <a:lnTo>
                    <a:pt x="332" y="4"/>
                  </a:lnTo>
                  <a:lnTo>
                    <a:pt x="0" y="46"/>
                  </a:lnTo>
                  <a:lnTo>
                    <a:pt x="0" y="104"/>
                  </a:lnTo>
                  <a:lnTo>
                    <a:pt x="16" y="104"/>
                  </a:lnTo>
                  <a:cubicBezTo>
                    <a:pt x="120" y="108"/>
                    <a:pt x="141" y="133"/>
                    <a:pt x="141" y="233"/>
                  </a:cubicBezTo>
                  <a:lnTo>
                    <a:pt x="141" y="1137"/>
                  </a:lnTo>
                  <a:lnTo>
                    <a:pt x="348" y="1137"/>
                  </a:lnTo>
                  <a:lnTo>
                    <a:pt x="348" y="747"/>
                  </a:lnTo>
                  <a:cubicBezTo>
                    <a:pt x="348" y="606"/>
                    <a:pt x="456" y="494"/>
                    <a:pt x="547" y="494"/>
                  </a:cubicBezTo>
                  <a:cubicBezTo>
                    <a:pt x="663" y="494"/>
                    <a:pt x="663" y="581"/>
                    <a:pt x="663" y="660"/>
                  </a:cubicBezTo>
                  <a:lnTo>
                    <a:pt x="663" y="1137"/>
                  </a:lnTo>
                  <a:lnTo>
                    <a:pt x="871" y="1137"/>
                  </a:lnTo>
                  <a:lnTo>
                    <a:pt x="871" y="635"/>
                  </a:lnTo>
                  <a:cubicBezTo>
                    <a:pt x="871" y="552"/>
                    <a:pt x="871" y="357"/>
                    <a:pt x="634" y="357"/>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63" name="Freeform 17">
              <a:extLst>
                <a:ext uri="{FF2B5EF4-FFF2-40B4-BE49-F238E27FC236}">
                  <a16:creationId xmlns:a16="http://schemas.microsoft.com/office/drawing/2014/main" id="{00A05657-BBA5-E04D-A9B7-BB46AB4158F8}"/>
                </a:ext>
              </a:extLst>
            </p:cNvPr>
            <p:cNvSpPr>
              <a:spLocks noChangeArrowheads="1"/>
            </p:cNvSpPr>
            <p:nvPr/>
          </p:nvSpPr>
          <p:spPr bwMode="auto">
            <a:xfrm>
              <a:off x="5594350" y="4200525"/>
              <a:ext cx="266700" cy="287338"/>
            </a:xfrm>
            <a:custGeom>
              <a:avLst/>
              <a:gdLst>
                <a:gd name="T0" fmla="*/ 742 w 743"/>
                <a:gd name="T1" fmla="*/ 315 h 797"/>
                <a:gd name="T2" fmla="*/ 394 w 743"/>
                <a:gd name="T3" fmla="*/ 0 h 797"/>
                <a:gd name="T4" fmla="*/ 0 w 743"/>
                <a:gd name="T5" fmla="*/ 373 h 797"/>
                <a:gd name="T6" fmla="*/ 456 w 743"/>
                <a:gd name="T7" fmla="*/ 796 h 797"/>
                <a:gd name="T8" fmla="*/ 713 w 743"/>
                <a:gd name="T9" fmla="*/ 755 h 797"/>
                <a:gd name="T10" fmla="*/ 726 w 743"/>
                <a:gd name="T11" fmla="*/ 751 h 797"/>
                <a:gd name="T12" fmla="*/ 726 w 743"/>
                <a:gd name="T13" fmla="*/ 651 h 797"/>
                <a:gd name="T14" fmla="*/ 705 w 743"/>
                <a:gd name="T15" fmla="*/ 660 h 797"/>
                <a:gd name="T16" fmla="*/ 543 w 743"/>
                <a:gd name="T17" fmla="*/ 684 h 797"/>
                <a:gd name="T18" fmla="*/ 232 w 743"/>
                <a:gd name="T19" fmla="*/ 332 h 797"/>
                <a:gd name="T20" fmla="*/ 742 w 743"/>
                <a:gd name="T21" fmla="*/ 332 h 797"/>
                <a:gd name="T22" fmla="*/ 742 w 743"/>
                <a:gd name="T23" fmla="*/ 315 h 797"/>
                <a:gd name="T24" fmla="*/ 386 w 743"/>
                <a:gd name="T25" fmla="*/ 83 h 797"/>
                <a:gd name="T26" fmla="*/ 531 w 743"/>
                <a:gd name="T27" fmla="*/ 236 h 797"/>
                <a:gd name="T28" fmla="*/ 228 w 743"/>
                <a:gd name="T29" fmla="*/ 236 h 797"/>
                <a:gd name="T30" fmla="*/ 386 w 743"/>
                <a:gd name="T31" fmla="*/ 83 h 7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743" h="797">
                  <a:moveTo>
                    <a:pt x="742" y="315"/>
                  </a:moveTo>
                  <a:cubicBezTo>
                    <a:pt x="742" y="104"/>
                    <a:pt x="626" y="0"/>
                    <a:pt x="394" y="0"/>
                  </a:cubicBezTo>
                  <a:cubicBezTo>
                    <a:pt x="133" y="0"/>
                    <a:pt x="0" y="124"/>
                    <a:pt x="0" y="373"/>
                  </a:cubicBezTo>
                  <a:cubicBezTo>
                    <a:pt x="0" y="639"/>
                    <a:pt x="170" y="796"/>
                    <a:pt x="456" y="796"/>
                  </a:cubicBezTo>
                  <a:cubicBezTo>
                    <a:pt x="581" y="796"/>
                    <a:pt x="676" y="763"/>
                    <a:pt x="713" y="755"/>
                  </a:cubicBezTo>
                  <a:lnTo>
                    <a:pt x="726" y="751"/>
                  </a:lnTo>
                  <a:lnTo>
                    <a:pt x="726" y="651"/>
                  </a:lnTo>
                  <a:lnTo>
                    <a:pt x="705" y="660"/>
                  </a:lnTo>
                  <a:cubicBezTo>
                    <a:pt x="672" y="672"/>
                    <a:pt x="610" y="684"/>
                    <a:pt x="543" y="684"/>
                  </a:cubicBezTo>
                  <a:cubicBezTo>
                    <a:pt x="319" y="684"/>
                    <a:pt x="236" y="498"/>
                    <a:pt x="232" y="332"/>
                  </a:cubicBezTo>
                  <a:cubicBezTo>
                    <a:pt x="261" y="332"/>
                    <a:pt x="742" y="332"/>
                    <a:pt x="742" y="332"/>
                  </a:cubicBezTo>
                  <a:lnTo>
                    <a:pt x="742" y="315"/>
                  </a:lnTo>
                  <a:close/>
                  <a:moveTo>
                    <a:pt x="386" y="83"/>
                  </a:moveTo>
                  <a:cubicBezTo>
                    <a:pt x="498" y="83"/>
                    <a:pt x="527" y="166"/>
                    <a:pt x="531" y="236"/>
                  </a:cubicBezTo>
                  <a:cubicBezTo>
                    <a:pt x="506" y="236"/>
                    <a:pt x="257" y="236"/>
                    <a:pt x="228" y="236"/>
                  </a:cubicBezTo>
                  <a:cubicBezTo>
                    <a:pt x="236" y="183"/>
                    <a:pt x="270" y="83"/>
                    <a:pt x="386" y="83"/>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64" name="Freeform 18">
              <a:extLst>
                <a:ext uri="{FF2B5EF4-FFF2-40B4-BE49-F238E27FC236}">
                  <a16:creationId xmlns:a16="http://schemas.microsoft.com/office/drawing/2014/main" id="{75D59710-E8C6-394A-9E64-D4371DD86833}"/>
                </a:ext>
              </a:extLst>
            </p:cNvPr>
            <p:cNvSpPr>
              <a:spLocks noChangeArrowheads="1"/>
            </p:cNvSpPr>
            <p:nvPr/>
          </p:nvSpPr>
          <p:spPr bwMode="auto">
            <a:xfrm>
              <a:off x="4964113" y="4121150"/>
              <a:ext cx="212725" cy="366713"/>
            </a:xfrm>
            <a:custGeom>
              <a:avLst/>
              <a:gdLst>
                <a:gd name="T0" fmla="*/ 141 w 589"/>
                <a:gd name="T1" fmla="*/ 237 h 1017"/>
                <a:gd name="T2" fmla="*/ 0 w 589"/>
                <a:gd name="T3" fmla="*/ 237 h 1017"/>
                <a:gd name="T4" fmla="*/ 0 w 589"/>
                <a:gd name="T5" fmla="*/ 328 h 1017"/>
                <a:gd name="T6" fmla="*/ 141 w 589"/>
                <a:gd name="T7" fmla="*/ 328 h 1017"/>
                <a:gd name="T8" fmla="*/ 141 w 589"/>
                <a:gd name="T9" fmla="*/ 797 h 1017"/>
                <a:gd name="T10" fmla="*/ 427 w 589"/>
                <a:gd name="T11" fmla="*/ 1016 h 1017"/>
                <a:gd name="T12" fmla="*/ 551 w 589"/>
                <a:gd name="T13" fmla="*/ 1004 h 1017"/>
                <a:gd name="T14" fmla="*/ 564 w 589"/>
                <a:gd name="T15" fmla="*/ 1004 h 1017"/>
                <a:gd name="T16" fmla="*/ 564 w 589"/>
                <a:gd name="T17" fmla="*/ 909 h 1017"/>
                <a:gd name="T18" fmla="*/ 547 w 589"/>
                <a:gd name="T19" fmla="*/ 913 h 1017"/>
                <a:gd name="T20" fmla="*/ 485 w 589"/>
                <a:gd name="T21" fmla="*/ 917 h 1017"/>
                <a:gd name="T22" fmla="*/ 352 w 589"/>
                <a:gd name="T23" fmla="*/ 772 h 1017"/>
                <a:gd name="T24" fmla="*/ 352 w 589"/>
                <a:gd name="T25" fmla="*/ 328 h 1017"/>
                <a:gd name="T26" fmla="*/ 588 w 589"/>
                <a:gd name="T27" fmla="*/ 328 h 1017"/>
                <a:gd name="T28" fmla="*/ 588 w 589"/>
                <a:gd name="T29" fmla="*/ 237 h 1017"/>
                <a:gd name="T30" fmla="*/ 352 w 589"/>
                <a:gd name="T31" fmla="*/ 237 h 1017"/>
                <a:gd name="T32" fmla="*/ 352 w 589"/>
                <a:gd name="T33" fmla="*/ 0 h 1017"/>
                <a:gd name="T34" fmla="*/ 141 w 589"/>
                <a:gd name="T35" fmla="*/ 0 h 1017"/>
                <a:gd name="T36" fmla="*/ 141 w 589"/>
                <a:gd name="T37" fmla="*/ 237 h 10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89" h="1017">
                  <a:moveTo>
                    <a:pt x="141" y="237"/>
                  </a:moveTo>
                  <a:lnTo>
                    <a:pt x="0" y="237"/>
                  </a:lnTo>
                  <a:lnTo>
                    <a:pt x="0" y="328"/>
                  </a:lnTo>
                  <a:lnTo>
                    <a:pt x="141" y="328"/>
                  </a:lnTo>
                  <a:lnTo>
                    <a:pt x="141" y="797"/>
                  </a:lnTo>
                  <a:cubicBezTo>
                    <a:pt x="141" y="1000"/>
                    <a:pt x="270" y="1016"/>
                    <a:pt x="427" y="1016"/>
                  </a:cubicBezTo>
                  <a:cubicBezTo>
                    <a:pt x="464" y="1016"/>
                    <a:pt x="505" y="1012"/>
                    <a:pt x="551" y="1004"/>
                  </a:cubicBezTo>
                  <a:lnTo>
                    <a:pt x="564" y="1004"/>
                  </a:lnTo>
                  <a:lnTo>
                    <a:pt x="564" y="909"/>
                  </a:lnTo>
                  <a:lnTo>
                    <a:pt x="547" y="913"/>
                  </a:lnTo>
                  <a:cubicBezTo>
                    <a:pt x="530" y="917"/>
                    <a:pt x="510" y="917"/>
                    <a:pt x="485" y="917"/>
                  </a:cubicBezTo>
                  <a:cubicBezTo>
                    <a:pt x="360" y="917"/>
                    <a:pt x="352" y="880"/>
                    <a:pt x="352" y="772"/>
                  </a:cubicBezTo>
                  <a:lnTo>
                    <a:pt x="352" y="328"/>
                  </a:lnTo>
                  <a:lnTo>
                    <a:pt x="588" y="328"/>
                  </a:lnTo>
                  <a:lnTo>
                    <a:pt x="588" y="237"/>
                  </a:lnTo>
                  <a:lnTo>
                    <a:pt x="352" y="237"/>
                  </a:lnTo>
                  <a:lnTo>
                    <a:pt x="352" y="0"/>
                  </a:lnTo>
                  <a:lnTo>
                    <a:pt x="141" y="0"/>
                  </a:lnTo>
                  <a:lnTo>
                    <a:pt x="141" y="237"/>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65" name="Freeform 19">
              <a:extLst>
                <a:ext uri="{FF2B5EF4-FFF2-40B4-BE49-F238E27FC236}">
                  <a16:creationId xmlns:a16="http://schemas.microsoft.com/office/drawing/2014/main" id="{E31E38F3-CCD4-0D4A-B5AE-0E15DBF0F818}"/>
                </a:ext>
              </a:extLst>
            </p:cNvPr>
            <p:cNvSpPr>
              <a:spLocks noChangeArrowheads="1"/>
            </p:cNvSpPr>
            <p:nvPr/>
          </p:nvSpPr>
          <p:spPr bwMode="auto">
            <a:xfrm>
              <a:off x="6049963" y="4087813"/>
              <a:ext cx="450850" cy="395287"/>
            </a:xfrm>
            <a:custGeom>
              <a:avLst/>
              <a:gdLst>
                <a:gd name="T0" fmla="*/ 1245 w 1254"/>
                <a:gd name="T1" fmla="*/ 0 h 1096"/>
                <a:gd name="T2" fmla="*/ 1033 w 1254"/>
                <a:gd name="T3" fmla="*/ 0 h 1096"/>
                <a:gd name="T4" fmla="*/ 1033 w 1254"/>
                <a:gd name="T5" fmla="*/ 829 h 1096"/>
                <a:gd name="T6" fmla="*/ 485 w 1254"/>
                <a:gd name="T7" fmla="*/ 0 h 1096"/>
                <a:gd name="T8" fmla="*/ 0 w 1254"/>
                <a:gd name="T9" fmla="*/ 0 h 1096"/>
                <a:gd name="T10" fmla="*/ 0 w 1254"/>
                <a:gd name="T11" fmla="*/ 62 h 1096"/>
                <a:gd name="T12" fmla="*/ 42 w 1254"/>
                <a:gd name="T13" fmla="*/ 70 h 1096"/>
                <a:gd name="T14" fmla="*/ 178 w 1254"/>
                <a:gd name="T15" fmla="*/ 220 h 1096"/>
                <a:gd name="T16" fmla="*/ 178 w 1254"/>
                <a:gd name="T17" fmla="*/ 1095 h 1096"/>
                <a:gd name="T18" fmla="*/ 403 w 1254"/>
                <a:gd name="T19" fmla="*/ 1095 h 1096"/>
                <a:gd name="T20" fmla="*/ 403 w 1254"/>
                <a:gd name="T21" fmla="*/ 228 h 1096"/>
                <a:gd name="T22" fmla="*/ 975 w 1254"/>
                <a:gd name="T23" fmla="*/ 1095 h 1096"/>
                <a:gd name="T24" fmla="*/ 1253 w 1254"/>
                <a:gd name="T25" fmla="*/ 1095 h 1096"/>
                <a:gd name="T26" fmla="*/ 1253 w 1254"/>
                <a:gd name="T27" fmla="*/ 0 h 1096"/>
                <a:gd name="T28" fmla="*/ 1245 w 1254"/>
                <a:gd name="T29" fmla="*/ 0 h 10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54" h="1096">
                  <a:moveTo>
                    <a:pt x="1245" y="0"/>
                  </a:moveTo>
                  <a:lnTo>
                    <a:pt x="1033" y="0"/>
                  </a:lnTo>
                  <a:cubicBezTo>
                    <a:pt x="1033" y="0"/>
                    <a:pt x="1033" y="751"/>
                    <a:pt x="1033" y="829"/>
                  </a:cubicBezTo>
                  <a:cubicBezTo>
                    <a:pt x="992" y="763"/>
                    <a:pt x="485" y="0"/>
                    <a:pt x="485" y="0"/>
                  </a:cubicBezTo>
                  <a:lnTo>
                    <a:pt x="0" y="0"/>
                  </a:lnTo>
                  <a:lnTo>
                    <a:pt x="0" y="62"/>
                  </a:lnTo>
                  <a:lnTo>
                    <a:pt x="42" y="70"/>
                  </a:lnTo>
                  <a:cubicBezTo>
                    <a:pt x="170" y="91"/>
                    <a:pt x="178" y="95"/>
                    <a:pt x="178" y="220"/>
                  </a:cubicBezTo>
                  <a:lnTo>
                    <a:pt x="178" y="1095"/>
                  </a:lnTo>
                  <a:lnTo>
                    <a:pt x="403" y="1095"/>
                  </a:lnTo>
                  <a:cubicBezTo>
                    <a:pt x="403" y="1095"/>
                    <a:pt x="403" y="307"/>
                    <a:pt x="403" y="228"/>
                  </a:cubicBezTo>
                  <a:cubicBezTo>
                    <a:pt x="448" y="294"/>
                    <a:pt x="975" y="1095"/>
                    <a:pt x="975" y="1095"/>
                  </a:cubicBezTo>
                  <a:lnTo>
                    <a:pt x="1253" y="1095"/>
                  </a:lnTo>
                  <a:lnTo>
                    <a:pt x="1253" y="0"/>
                  </a:lnTo>
                  <a:lnTo>
                    <a:pt x="1245"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66" name="Freeform 20">
              <a:extLst>
                <a:ext uri="{FF2B5EF4-FFF2-40B4-BE49-F238E27FC236}">
                  <a16:creationId xmlns:a16="http://schemas.microsoft.com/office/drawing/2014/main" id="{EA81CA55-89FF-C642-90AD-A67CE9108AC3}"/>
                </a:ext>
              </a:extLst>
            </p:cNvPr>
            <p:cNvSpPr>
              <a:spLocks noChangeArrowheads="1"/>
            </p:cNvSpPr>
            <p:nvPr/>
          </p:nvSpPr>
          <p:spPr bwMode="auto">
            <a:xfrm>
              <a:off x="6573838" y="4200525"/>
              <a:ext cx="266700" cy="287338"/>
            </a:xfrm>
            <a:custGeom>
              <a:avLst/>
              <a:gdLst>
                <a:gd name="T0" fmla="*/ 390 w 740"/>
                <a:gd name="T1" fmla="*/ 0 h 797"/>
                <a:gd name="T2" fmla="*/ 0 w 740"/>
                <a:gd name="T3" fmla="*/ 373 h 797"/>
                <a:gd name="T4" fmla="*/ 456 w 740"/>
                <a:gd name="T5" fmla="*/ 796 h 797"/>
                <a:gd name="T6" fmla="*/ 714 w 740"/>
                <a:gd name="T7" fmla="*/ 755 h 797"/>
                <a:gd name="T8" fmla="*/ 726 w 740"/>
                <a:gd name="T9" fmla="*/ 751 h 797"/>
                <a:gd name="T10" fmla="*/ 726 w 740"/>
                <a:gd name="T11" fmla="*/ 651 h 797"/>
                <a:gd name="T12" fmla="*/ 705 w 740"/>
                <a:gd name="T13" fmla="*/ 660 h 797"/>
                <a:gd name="T14" fmla="*/ 539 w 740"/>
                <a:gd name="T15" fmla="*/ 684 h 797"/>
                <a:gd name="T16" fmla="*/ 228 w 740"/>
                <a:gd name="T17" fmla="*/ 332 h 797"/>
                <a:gd name="T18" fmla="*/ 739 w 740"/>
                <a:gd name="T19" fmla="*/ 332 h 797"/>
                <a:gd name="T20" fmla="*/ 739 w 740"/>
                <a:gd name="T21" fmla="*/ 315 h 797"/>
                <a:gd name="T22" fmla="*/ 390 w 740"/>
                <a:gd name="T23" fmla="*/ 0 h 797"/>
                <a:gd name="T24" fmla="*/ 386 w 740"/>
                <a:gd name="T25" fmla="*/ 83 h 797"/>
                <a:gd name="T26" fmla="*/ 531 w 740"/>
                <a:gd name="T27" fmla="*/ 236 h 797"/>
                <a:gd name="T28" fmla="*/ 228 w 740"/>
                <a:gd name="T29" fmla="*/ 236 h 797"/>
                <a:gd name="T30" fmla="*/ 386 w 740"/>
                <a:gd name="T31" fmla="*/ 83 h 7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740" h="797">
                  <a:moveTo>
                    <a:pt x="390" y="0"/>
                  </a:moveTo>
                  <a:cubicBezTo>
                    <a:pt x="129" y="0"/>
                    <a:pt x="0" y="124"/>
                    <a:pt x="0" y="373"/>
                  </a:cubicBezTo>
                  <a:cubicBezTo>
                    <a:pt x="0" y="639"/>
                    <a:pt x="170" y="796"/>
                    <a:pt x="456" y="796"/>
                  </a:cubicBezTo>
                  <a:cubicBezTo>
                    <a:pt x="581" y="796"/>
                    <a:pt x="676" y="767"/>
                    <a:pt x="714" y="755"/>
                  </a:cubicBezTo>
                  <a:lnTo>
                    <a:pt x="726" y="751"/>
                  </a:lnTo>
                  <a:lnTo>
                    <a:pt x="726" y="651"/>
                  </a:lnTo>
                  <a:lnTo>
                    <a:pt x="705" y="660"/>
                  </a:lnTo>
                  <a:cubicBezTo>
                    <a:pt x="672" y="672"/>
                    <a:pt x="610" y="684"/>
                    <a:pt x="539" y="684"/>
                  </a:cubicBezTo>
                  <a:cubicBezTo>
                    <a:pt x="315" y="684"/>
                    <a:pt x="232" y="498"/>
                    <a:pt x="228" y="332"/>
                  </a:cubicBezTo>
                  <a:lnTo>
                    <a:pt x="739" y="332"/>
                  </a:lnTo>
                  <a:lnTo>
                    <a:pt x="739" y="315"/>
                  </a:lnTo>
                  <a:cubicBezTo>
                    <a:pt x="739" y="104"/>
                    <a:pt x="622" y="0"/>
                    <a:pt x="390" y="0"/>
                  </a:cubicBezTo>
                  <a:close/>
                  <a:moveTo>
                    <a:pt x="386" y="83"/>
                  </a:moveTo>
                  <a:cubicBezTo>
                    <a:pt x="498" y="83"/>
                    <a:pt x="527" y="162"/>
                    <a:pt x="531" y="236"/>
                  </a:cubicBezTo>
                  <a:lnTo>
                    <a:pt x="228" y="236"/>
                  </a:lnTo>
                  <a:cubicBezTo>
                    <a:pt x="232" y="187"/>
                    <a:pt x="270" y="83"/>
                    <a:pt x="386" y="83"/>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67" name="Freeform 21">
              <a:extLst>
                <a:ext uri="{FF2B5EF4-FFF2-40B4-BE49-F238E27FC236}">
                  <a16:creationId xmlns:a16="http://schemas.microsoft.com/office/drawing/2014/main" id="{B993E30F-1BC1-EE44-BD31-C649CB700CD8}"/>
                </a:ext>
              </a:extLst>
            </p:cNvPr>
            <p:cNvSpPr>
              <a:spLocks noChangeArrowheads="1"/>
            </p:cNvSpPr>
            <p:nvPr/>
          </p:nvSpPr>
          <p:spPr bwMode="auto">
            <a:xfrm>
              <a:off x="7204075" y="4121150"/>
              <a:ext cx="212725" cy="366713"/>
            </a:xfrm>
            <a:custGeom>
              <a:avLst/>
              <a:gdLst>
                <a:gd name="T0" fmla="*/ 141 w 590"/>
                <a:gd name="T1" fmla="*/ 237 h 1017"/>
                <a:gd name="T2" fmla="*/ 0 w 590"/>
                <a:gd name="T3" fmla="*/ 237 h 1017"/>
                <a:gd name="T4" fmla="*/ 0 w 590"/>
                <a:gd name="T5" fmla="*/ 328 h 1017"/>
                <a:gd name="T6" fmla="*/ 141 w 590"/>
                <a:gd name="T7" fmla="*/ 328 h 1017"/>
                <a:gd name="T8" fmla="*/ 141 w 590"/>
                <a:gd name="T9" fmla="*/ 797 h 1017"/>
                <a:gd name="T10" fmla="*/ 427 w 590"/>
                <a:gd name="T11" fmla="*/ 1016 h 1017"/>
                <a:gd name="T12" fmla="*/ 551 w 590"/>
                <a:gd name="T13" fmla="*/ 1004 h 1017"/>
                <a:gd name="T14" fmla="*/ 564 w 590"/>
                <a:gd name="T15" fmla="*/ 1004 h 1017"/>
                <a:gd name="T16" fmla="*/ 564 w 590"/>
                <a:gd name="T17" fmla="*/ 909 h 1017"/>
                <a:gd name="T18" fmla="*/ 547 w 590"/>
                <a:gd name="T19" fmla="*/ 913 h 1017"/>
                <a:gd name="T20" fmla="*/ 485 w 590"/>
                <a:gd name="T21" fmla="*/ 917 h 1017"/>
                <a:gd name="T22" fmla="*/ 352 w 590"/>
                <a:gd name="T23" fmla="*/ 772 h 1017"/>
                <a:gd name="T24" fmla="*/ 352 w 590"/>
                <a:gd name="T25" fmla="*/ 328 h 1017"/>
                <a:gd name="T26" fmla="*/ 589 w 590"/>
                <a:gd name="T27" fmla="*/ 328 h 1017"/>
                <a:gd name="T28" fmla="*/ 589 w 590"/>
                <a:gd name="T29" fmla="*/ 237 h 1017"/>
                <a:gd name="T30" fmla="*/ 352 w 590"/>
                <a:gd name="T31" fmla="*/ 237 h 1017"/>
                <a:gd name="T32" fmla="*/ 352 w 590"/>
                <a:gd name="T33" fmla="*/ 0 h 1017"/>
                <a:gd name="T34" fmla="*/ 141 w 590"/>
                <a:gd name="T35" fmla="*/ 0 h 1017"/>
                <a:gd name="T36" fmla="*/ 141 w 590"/>
                <a:gd name="T37" fmla="*/ 237 h 10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90" h="1017">
                  <a:moveTo>
                    <a:pt x="141" y="237"/>
                  </a:moveTo>
                  <a:lnTo>
                    <a:pt x="0" y="237"/>
                  </a:lnTo>
                  <a:lnTo>
                    <a:pt x="0" y="328"/>
                  </a:lnTo>
                  <a:lnTo>
                    <a:pt x="141" y="328"/>
                  </a:lnTo>
                  <a:lnTo>
                    <a:pt x="141" y="797"/>
                  </a:lnTo>
                  <a:cubicBezTo>
                    <a:pt x="141" y="1000"/>
                    <a:pt x="269" y="1016"/>
                    <a:pt x="427" y="1016"/>
                  </a:cubicBezTo>
                  <a:cubicBezTo>
                    <a:pt x="464" y="1016"/>
                    <a:pt x="506" y="1012"/>
                    <a:pt x="551" y="1004"/>
                  </a:cubicBezTo>
                  <a:lnTo>
                    <a:pt x="564" y="1004"/>
                  </a:lnTo>
                  <a:lnTo>
                    <a:pt x="564" y="909"/>
                  </a:lnTo>
                  <a:lnTo>
                    <a:pt x="547" y="913"/>
                  </a:lnTo>
                  <a:cubicBezTo>
                    <a:pt x="531" y="917"/>
                    <a:pt x="510" y="917"/>
                    <a:pt x="485" y="917"/>
                  </a:cubicBezTo>
                  <a:cubicBezTo>
                    <a:pt x="361" y="917"/>
                    <a:pt x="352" y="880"/>
                    <a:pt x="352" y="772"/>
                  </a:cubicBezTo>
                  <a:lnTo>
                    <a:pt x="352" y="328"/>
                  </a:lnTo>
                  <a:lnTo>
                    <a:pt x="589" y="328"/>
                  </a:lnTo>
                  <a:lnTo>
                    <a:pt x="589" y="237"/>
                  </a:lnTo>
                  <a:lnTo>
                    <a:pt x="352" y="237"/>
                  </a:lnTo>
                  <a:lnTo>
                    <a:pt x="352" y="0"/>
                  </a:lnTo>
                  <a:lnTo>
                    <a:pt x="141" y="0"/>
                  </a:lnTo>
                  <a:lnTo>
                    <a:pt x="141" y="237"/>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91" name="Freeform 22">
              <a:extLst>
                <a:ext uri="{FF2B5EF4-FFF2-40B4-BE49-F238E27FC236}">
                  <a16:creationId xmlns:a16="http://schemas.microsoft.com/office/drawing/2014/main" id="{5220F4C6-9400-5942-B0AF-9C8740ABF281}"/>
                </a:ext>
              </a:extLst>
            </p:cNvPr>
            <p:cNvSpPr>
              <a:spLocks noChangeArrowheads="1"/>
            </p:cNvSpPr>
            <p:nvPr/>
          </p:nvSpPr>
          <p:spPr bwMode="auto">
            <a:xfrm>
              <a:off x="6850063" y="4206875"/>
              <a:ext cx="331787" cy="274638"/>
            </a:xfrm>
            <a:custGeom>
              <a:avLst/>
              <a:gdLst>
                <a:gd name="T0" fmla="*/ 705 w 921"/>
                <a:gd name="T1" fmla="*/ 248 h 764"/>
                <a:gd name="T2" fmla="*/ 920 w 921"/>
                <a:gd name="T3" fmla="*/ 0 h 764"/>
                <a:gd name="T4" fmla="*/ 701 w 921"/>
                <a:gd name="T5" fmla="*/ 0 h 764"/>
                <a:gd name="T6" fmla="*/ 497 w 921"/>
                <a:gd name="T7" fmla="*/ 236 h 764"/>
                <a:gd name="T8" fmla="*/ 319 w 921"/>
                <a:gd name="T9" fmla="*/ 0 h 764"/>
                <a:gd name="T10" fmla="*/ 0 w 921"/>
                <a:gd name="T11" fmla="*/ 0 h 764"/>
                <a:gd name="T12" fmla="*/ 0 w 921"/>
                <a:gd name="T13" fmla="*/ 62 h 764"/>
                <a:gd name="T14" fmla="*/ 12 w 921"/>
                <a:gd name="T15" fmla="*/ 62 h 764"/>
                <a:gd name="T16" fmla="*/ 211 w 921"/>
                <a:gd name="T17" fmla="*/ 178 h 764"/>
                <a:gd name="T18" fmla="*/ 344 w 921"/>
                <a:gd name="T19" fmla="*/ 352 h 764"/>
                <a:gd name="T20" fmla="*/ 128 w 921"/>
                <a:gd name="T21" fmla="*/ 601 h 764"/>
                <a:gd name="T22" fmla="*/ 348 w 921"/>
                <a:gd name="T23" fmla="*/ 601 h 764"/>
                <a:gd name="T24" fmla="*/ 443 w 921"/>
                <a:gd name="T25" fmla="*/ 489 h 764"/>
                <a:gd name="T26" fmla="*/ 651 w 921"/>
                <a:gd name="T27" fmla="*/ 763 h 764"/>
                <a:gd name="T28" fmla="*/ 900 w 921"/>
                <a:gd name="T29" fmla="*/ 763 h 764"/>
                <a:gd name="T30" fmla="*/ 506 w 921"/>
                <a:gd name="T31" fmla="*/ 248 h 764"/>
                <a:gd name="T32" fmla="*/ 705 w 921"/>
                <a:gd name="T33" fmla="*/ 248 h 7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21" h="764">
                  <a:moveTo>
                    <a:pt x="705" y="248"/>
                  </a:moveTo>
                  <a:lnTo>
                    <a:pt x="920" y="0"/>
                  </a:lnTo>
                  <a:lnTo>
                    <a:pt x="701" y="0"/>
                  </a:lnTo>
                  <a:lnTo>
                    <a:pt x="497" y="236"/>
                  </a:lnTo>
                  <a:lnTo>
                    <a:pt x="319" y="0"/>
                  </a:lnTo>
                  <a:lnTo>
                    <a:pt x="0" y="0"/>
                  </a:lnTo>
                  <a:lnTo>
                    <a:pt x="0" y="62"/>
                  </a:lnTo>
                  <a:lnTo>
                    <a:pt x="12" y="62"/>
                  </a:lnTo>
                  <a:cubicBezTo>
                    <a:pt x="120" y="70"/>
                    <a:pt x="145" y="87"/>
                    <a:pt x="211" y="178"/>
                  </a:cubicBezTo>
                  <a:lnTo>
                    <a:pt x="344" y="352"/>
                  </a:lnTo>
                  <a:lnTo>
                    <a:pt x="128" y="601"/>
                  </a:lnTo>
                  <a:lnTo>
                    <a:pt x="348" y="601"/>
                  </a:lnTo>
                  <a:lnTo>
                    <a:pt x="443" y="489"/>
                  </a:lnTo>
                  <a:lnTo>
                    <a:pt x="651" y="763"/>
                  </a:lnTo>
                  <a:lnTo>
                    <a:pt x="900" y="763"/>
                  </a:lnTo>
                  <a:lnTo>
                    <a:pt x="506" y="248"/>
                  </a:lnTo>
                  <a:lnTo>
                    <a:pt x="705" y="248"/>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92" name="Freeform 23">
              <a:extLst>
                <a:ext uri="{FF2B5EF4-FFF2-40B4-BE49-F238E27FC236}">
                  <a16:creationId xmlns:a16="http://schemas.microsoft.com/office/drawing/2014/main" id="{0D77D15C-59D2-2D40-8EFB-AE8D4D645201}"/>
                </a:ext>
              </a:extLst>
            </p:cNvPr>
            <p:cNvSpPr>
              <a:spLocks noChangeArrowheads="1"/>
            </p:cNvSpPr>
            <p:nvPr/>
          </p:nvSpPr>
          <p:spPr bwMode="auto">
            <a:xfrm>
              <a:off x="7175500" y="4010025"/>
              <a:ext cx="176213" cy="111125"/>
            </a:xfrm>
            <a:custGeom>
              <a:avLst/>
              <a:gdLst>
                <a:gd name="T0" fmla="*/ 224 w 490"/>
                <a:gd name="T1" fmla="*/ 307 h 308"/>
                <a:gd name="T2" fmla="*/ 0 w 490"/>
                <a:gd name="T3" fmla="*/ 307 h 308"/>
                <a:gd name="T4" fmla="*/ 269 w 490"/>
                <a:gd name="T5" fmla="*/ 0 h 308"/>
                <a:gd name="T6" fmla="*/ 489 w 490"/>
                <a:gd name="T7" fmla="*/ 0 h 308"/>
                <a:gd name="T8" fmla="*/ 224 w 490"/>
                <a:gd name="T9" fmla="*/ 307 h 308"/>
              </a:gdLst>
              <a:ahLst/>
              <a:cxnLst>
                <a:cxn ang="0">
                  <a:pos x="T0" y="T1"/>
                </a:cxn>
                <a:cxn ang="0">
                  <a:pos x="T2" y="T3"/>
                </a:cxn>
                <a:cxn ang="0">
                  <a:pos x="T4" y="T5"/>
                </a:cxn>
                <a:cxn ang="0">
                  <a:pos x="T6" y="T7"/>
                </a:cxn>
                <a:cxn ang="0">
                  <a:pos x="T8" y="T9"/>
                </a:cxn>
              </a:cxnLst>
              <a:rect l="0" t="0" r="r" b="b"/>
              <a:pathLst>
                <a:path w="490" h="308">
                  <a:moveTo>
                    <a:pt x="224" y="307"/>
                  </a:moveTo>
                  <a:lnTo>
                    <a:pt x="0" y="307"/>
                  </a:lnTo>
                  <a:lnTo>
                    <a:pt x="269" y="0"/>
                  </a:lnTo>
                  <a:lnTo>
                    <a:pt x="489" y="0"/>
                  </a:lnTo>
                  <a:lnTo>
                    <a:pt x="224" y="307"/>
                  </a:lnTo>
                </a:path>
              </a:pathLst>
            </a:custGeom>
            <a:solidFill>
              <a:schemeClr val="accent2"/>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grpSp>
      <p:sp>
        <p:nvSpPr>
          <p:cNvPr id="35" name="TextBox 34"/>
          <p:cNvSpPr txBox="1"/>
          <p:nvPr/>
        </p:nvSpPr>
        <p:spPr>
          <a:xfrm>
            <a:off x="6641794" y="4911221"/>
            <a:ext cx="2462534" cy="215444"/>
          </a:xfrm>
          <a:prstGeom prst="rect">
            <a:avLst/>
          </a:prstGeom>
          <a:noFill/>
        </p:spPr>
        <p:txBody>
          <a:bodyPr wrap="none" rtlCol="0">
            <a:sp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800" kern="1200" dirty="0">
                <a:solidFill>
                  <a:schemeClr val="bg1">
                    <a:alpha val="50000"/>
                  </a:schemeClr>
                </a:solidFill>
                <a:latin typeface="+mn-lt"/>
                <a:ea typeface="+mn-ea"/>
                <a:cs typeface="+mn-cs"/>
              </a:rPr>
              <a:t>© Hitachi Vantara LLC 2020. All Rights Reserved.</a:t>
            </a:r>
          </a:p>
        </p:txBody>
      </p:sp>
      <p:sp>
        <p:nvSpPr>
          <p:cNvPr id="99" name="TextBox 98">
            <a:extLst>
              <a:ext uri="{FF2B5EF4-FFF2-40B4-BE49-F238E27FC236}">
                <a16:creationId xmlns:a16="http://schemas.microsoft.com/office/drawing/2014/main" id="{AFE8C8C8-8C8F-0D45-B230-946FEDADA26C}"/>
              </a:ext>
            </a:extLst>
          </p:cNvPr>
          <p:cNvSpPr txBox="1"/>
          <p:nvPr userDrawn="1"/>
        </p:nvSpPr>
        <p:spPr>
          <a:xfrm>
            <a:off x="6641794" y="4911221"/>
            <a:ext cx="2462534" cy="215444"/>
          </a:xfrm>
          <a:prstGeom prst="rect">
            <a:avLst/>
          </a:prstGeom>
          <a:noFill/>
        </p:spPr>
        <p:txBody>
          <a:bodyPr wrap="none" rtlCol="0">
            <a:sp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800" kern="1200" dirty="0">
                <a:solidFill>
                  <a:schemeClr val="bg1">
                    <a:alpha val="50000"/>
                  </a:schemeClr>
                </a:solidFill>
                <a:latin typeface="+mn-lt"/>
                <a:ea typeface="+mn-ea"/>
                <a:cs typeface="+mn-cs"/>
              </a:rPr>
              <a:t>© Hitachi Vantara LLC 2020. All Rights Reserved.</a:t>
            </a:r>
          </a:p>
        </p:txBody>
      </p:sp>
      <p:pic>
        <p:nvPicPr>
          <p:cNvPr id="69" name="Graphic 68">
            <a:extLst>
              <a:ext uri="{FF2B5EF4-FFF2-40B4-BE49-F238E27FC236}">
                <a16:creationId xmlns:a16="http://schemas.microsoft.com/office/drawing/2014/main" id="{7F8506D6-2826-9940-A9FF-C97A6858C4CA}"/>
              </a:ext>
            </a:extLst>
          </p:cNvPr>
          <p:cNvPicPr>
            <a:picLocks noChangeAspect="1"/>
          </p:cNvPicPr>
          <p:nvPr userDrawn="1"/>
        </p:nvPicPr>
        <p:blipFill>
          <a:blip r:embed="rId3" cstate="screen">
            <a:alphaModFix amt="50000"/>
            <a:extLst>
              <a:ext uri="{28A0092B-C50C-407E-A947-70E740481C1C}">
                <a14:useLocalDpi xmlns:a14="http://schemas.microsoft.com/office/drawing/2010/main"/>
              </a:ext>
            </a:extLst>
          </a:blip>
          <a:srcRect/>
          <a:stretch/>
        </p:blipFill>
        <p:spPr>
          <a:xfrm>
            <a:off x="13994" y="812800"/>
            <a:ext cx="559153" cy="4330700"/>
          </a:xfrm>
          <a:prstGeom prst="rect">
            <a:avLst/>
          </a:prstGeom>
        </p:spPr>
      </p:pic>
    </p:spTree>
    <p:extLst>
      <p:ext uri="{BB962C8B-B14F-4D97-AF65-F5344CB8AC3E}">
        <p14:creationId xmlns:p14="http://schemas.microsoft.com/office/powerpoint/2010/main" val="1565760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19_Title Slide">
    <p:spTree>
      <p:nvGrpSpPr>
        <p:cNvPr id="1" name=""/>
        <p:cNvGrpSpPr/>
        <p:nvPr/>
      </p:nvGrpSpPr>
      <p:grpSpPr>
        <a:xfrm>
          <a:off x="0" y="0"/>
          <a:ext cx="0" cy="0"/>
          <a:chOff x="0" y="0"/>
          <a:chExt cx="0" cy="0"/>
        </a:xfrm>
      </p:grpSpPr>
      <p:sp>
        <p:nvSpPr>
          <p:cNvPr id="68" name="Rectangle 67">
            <a:extLst>
              <a:ext uri="{FF2B5EF4-FFF2-40B4-BE49-F238E27FC236}">
                <a16:creationId xmlns:a16="http://schemas.microsoft.com/office/drawing/2014/main" id="{E7EADFDC-3E4E-4F4C-A7A9-CF8DD7D900B7}"/>
              </a:ext>
            </a:extLst>
          </p:cNvPr>
          <p:cNvSpPr/>
          <p:nvPr userDrawn="1"/>
        </p:nvSpPr>
        <p:spPr>
          <a:xfrm>
            <a:off x="0" y="0"/>
            <a:ext cx="5943600" cy="5157216"/>
          </a:xfrm>
          <a:prstGeom prst="rect">
            <a:avLst/>
          </a:prstGeom>
          <a:gradFill>
            <a:gsLst>
              <a:gs pos="0">
                <a:schemeClr val="tx1">
                  <a:lumMod val="60000"/>
                  <a:lumOff val="40000"/>
                  <a:alpha val="25000"/>
                </a:schemeClr>
              </a:gs>
              <a:gs pos="98000">
                <a:schemeClr val="bg1"/>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j-lt"/>
            </a:endParaRPr>
          </a:p>
        </p:txBody>
      </p:sp>
      <p:sp>
        <p:nvSpPr>
          <p:cNvPr id="40" name="Rectangle 39">
            <a:extLst>
              <a:ext uri="{FF2B5EF4-FFF2-40B4-BE49-F238E27FC236}">
                <a16:creationId xmlns:a16="http://schemas.microsoft.com/office/drawing/2014/main" id="{AAA4BB55-22A6-9C48-9B94-C2A7131C877F}"/>
              </a:ext>
            </a:extLst>
          </p:cNvPr>
          <p:cNvSpPr/>
          <p:nvPr userDrawn="1"/>
        </p:nvSpPr>
        <p:spPr>
          <a:xfrm>
            <a:off x="5942892" y="0"/>
            <a:ext cx="3201108" cy="5157216"/>
          </a:xfrm>
          <a:prstGeom prst="rect">
            <a:avLst/>
          </a:prstGeom>
          <a:blipFill>
            <a:blip r:embed="rId2" cstate="screen">
              <a:extLst>
                <a:ext uri="{28A0092B-C50C-407E-A947-70E740481C1C}">
                  <a14:useLocalDpi xmlns:a14="http://schemas.microsoft.com/office/drawing/2010/main"/>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j-lt"/>
            </a:endParaRPr>
          </a:p>
        </p:txBody>
      </p:sp>
      <p:sp>
        <p:nvSpPr>
          <p:cNvPr id="56" name="Subtitle 2"/>
          <p:cNvSpPr>
            <a:spLocks noGrp="1"/>
          </p:cNvSpPr>
          <p:nvPr>
            <p:ph type="subTitle" idx="1" hasCustomPrompt="1"/>
          </p:nvPr>
        </p:nvSpPr>
        <p:spPr>
          <a:xfrm>
            <a:off x="681348" y="2803117"/>
            <a:ext cx="4286425" cy="830997"/>
          </a:xfrm>
          <a:prstGeom prst="rect">
            <a:avLst/>
          </a:prstGeom>
          <a:effectLst/>
        </p:spPr>
        <p:txBody>
          <a:bodyPr/>
          <a:lstStyle>
            <a:lvl1pPr marL="0" marR="0" indent="0" algn="l" defTabSz="914400" rtl="0" eaLnBrk="1" fontAlgn="auto" latinLnBrk="0" hangingPunct="1">
              <a:lnSpc>
                <a:spcPct val="100000"/>
              </a:lnSpc>
              <a:spcBef>
                <a:spcPts val="0"/>
              </a:spcBef>
              <a:spcAft>
                <a:spcPts val="0"/>
              </a:spcAft>
              <a:buClr>
                <a:schemeClr val="accent2"/>
              </a:buClr>
              <a:buSzTx/>
              <a:buFont typeface="Wingdings" charset="2"/>
              <a:buNone/>
              <a:tabLst/>
              <a:defRPr sz="2400" cap="none" baseline="0">
                <a:solidFill>
                  <a:schemeClr val="tx1"/>
                </a:solidFill>
                <a:latin typeface="+mn-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Subtitle placeholder</a:t>
            </a:r>
          </a:p>
          <a:p>
            <a:r>
              <a:rPr lang="en-US" dirty="0"/>
              <a:t>Subtitle placeholder</a:t>
            </a:r>
          </a:p>
        </p:txBody>
      </p:sp>
      <p:sp>
        <p:nvSpPr>
          <p:cNvPr id="57" name="Title 1"/>
          <p:cNvSpPr>
            <a:spLocks noGrp="1"/>
          </p:cNvSpPr>
          <p:nvPr>
            <p:ph type="ctrTitle" hasCustomPrompt="1"/>
          </p:nvPr>
        </p:nvSpPr>
        <p:spPr>
          <a:xfrm>
            <a:off x="681348" y="725773"/>
            <a:ext cx="5148359" cy="2071294"/>
          </a:xfrm>
          <a:prstGeom prst="rect">
            <a:avLst/>
          </a:prstGeom>
          <a:effectLst/>
        </p:spPr>
        <p:txBody>
          <a:bodyPr anchor="t">
            <a:noAutofit/>
          </a:bodyPr>
          <a:lstStyle>
            <a:lvl1pPr>
              <a:lnSpc>
                <a:spcPct val="100000"/>
              </a:lnSpc>
              <a:defRPr sz="4400" b="1" cap="none" baseline="0">
                <a:solidFill>
                  <a:schemeClr val="accent2"/>
                </a:solidFill>
                <a:latin typeface="+mn-lt"/>
              </a:defRPr>
            </a:lvl1pPr>
          </a:lstStyle>
          <a:p>
            <a:r>
              <a:rPr lang="en-US" dirty="0"/>
              <a:t>2 Line Hitachi Title Slide Placeholder </a:t>
            </a:r>
            <a:br>
              <a:rPr lang="en-US" dirty="0"/>
            </a:br>
            <a:r>
              <a:rPr lang="en-US" dirty="0"/>
              <a:t>2 Line Hitachi </a:t>
            </a:r>
          </a:p>
        </p:txBody>
      </p:sp>
      <p:sp>
        <p:nvSpPr>
          <p:cNvPr id="58" name="Text Placeholder 6"/>
          <p:cNvSpPr>
            <a:spLocks noGrp="1"/>
          </p:cNvSpPr>
          <p:nvPr>
            <p:ph type="body" sz="quarter" idx="11" hasCustomPrompt="1"/>
          </p:nvPr>
        </p:nvSpPr>
        <p:spPr>
          <a:xfrm>
            <a:off x="681349" y="3905309"/>
            <a:ext cx="3544411" cy="307777"/>
          </a:xfrm>
        </p:spPr>
        <p:txBody>
          <a:bodyPr anchor="t"/>
          <a:lstStyle>
            <a:lvl1pPr marL="0" indent="0">
              <a:spcBef>
                <a:spcPts val="0"/>
              </a:spcBef>
              <a:spcAft>
                <a:spcPts val="300"/>
              </a:spcAft>
              <a:buNone/>
              <a:defRPr sz="1400" b="1" baseline="0">
                <a:solidFill>
                  <a:schemeClr val="tx1"/>
                </a:solidFill>
              </a:defRPr>
            </a:lvl1pPr>
            <a:lvl2pPr marL="280987" indent="0">
              <a:buNone/>
              <a:defRPr/>
            </a:lvl2pPr>
            <a:lvl3pPr marL="574675" indent="0">
              <a:buNone/>
              <a:defRPr/>
            </a:lvl3pPr>
            <a:lvl4pPr marL="855663" indent="0">
              <a:buNone/>
              <a:defRPr/>
            </a:lvl4pPr>
            <a:lvl5pPr marL="1090613" indent="0">
              <a:buNone/>
              <a:defRPr/>
            </a:lvl5pPr>
          </a:lstStyle>
          <a:p>
            <a:pPr lvl="0"/>
            <a:r>
              <a:rPr lang="en-US" dirty="0"/>
              <a:t>Name Here</a:t>
            </a:r>
          </a:p>
        </p:txBody>
      </p:sp>
      <p:sp>
        <p:nvSpPr>
          <p:cNvPr id="79" name="Text Placeholder 8"/>
          <p:cNvSpPr>
            <a:spLocks noGrp="1"/>
          </p:cNvSpPr>
          <p:nvPr>
            <p:ph type="body" sz="quarter" idx="12" hasCustomPrompt="1"/>
          </p:nvPr>
        </p:nvSpPr>
        <p:spPr>
          <a:xfrm>
            <a:off x="681349" y="4134651"/>
            <a:ext cx="3544411" cy="461665"/>
          </a:xfrm>
        </p:spPr>
        <p:txBody>
          <a:bodyPr anchor="t"/>
          <a:lstStyle>
            <a:lvl1pPr marL="0" indent="0">
              <a:spcBef>
                <a:spcPts val="0"/>
              </a:spcBef>
              <a:spcAft>
                <a:spcPts val="300"/>
              </a:spcAft>
              <a:buNone/>
              <a:defRPr sz="1200">
                <a:solidFill>
                  <a:schemeClr val="tx1"/>
                </a:solidFill>
              </a:defRPr>
            </a:lvl1pPr>
            <a:lvl2pPr marL="280987" indent="0">
              <a:buNone/>
              <a:defRPr/>
            </a:lvl2pPr>
            <a:lvl3pPr marL="574675" indent="0">
              <a:buNone/>
              <a:defRPr/>
            </a:lvl3pPr>
            <a:lvl4pPr marL="855663" indent="0">
              <a:buNone/>
              <a:defRPr/>
            </a:lvl4pPr>
            <a:lvl5pPr marL="1090613" indent="0">
              <a:buNone/>
              <a:defRPr/>
            </a:lvl5pPr>
          </a:lstStyle>
          <a:p>
            <a:pPr lvl="0"/>
            <a:r>
              <a:rPr lang="en-US" dirty="0"/>
              <a:t>Title/Department</a:t>
            </a:r>
            <a:br>
              <a:rPr lang="en-US" dirty="0"/>
            </a:br>
            <a:r>
              <a:rPr lang="en-US" dirty="0"/>
              <a:t>Date</a:t>
            </a:r>
          </a:p>
        </p:txBody>
      </p:sp>
      <p:sp>
        <p:nvSpPr>
          <p:cNvPr id="39" name="TextBox 38"/>
          <p:cNvSpPr txBox="1"/>
          <p:nvPr/>
        </p:nvSpPr>
        <p:spPr>
          <a:xfrm>
            <a:off x="1611" y="4915450"/>
            <a:ext cx="312906" cy="215444"/>
          </a:xfrm>
          <a:prstGeom prst="rect">
            <a:avLst/>
          </a:prstGeom>
          <a:noFill/>
        </p:spPr>
        <p:txBody>
          <a:bodyPr wrap="none" rtlCol="0">
            <a:spAutoFit/>
          </a:bodyPr>
          <a:lstStyle/>
          <a:p>
            <a:fld id="{111F478C-84AE-4601-9BE4-60468A3A6C06}" type="slidenum">
              <a:rPr lang="en-US" sz="800" smtClean="0">
                <a:solidFill>
                  <a:prstClr val="white">
                    <a:alpha val="50000"/>
                  </a:prstClr>
                </a:solidFill>
                <a:latin typeface="Arial"/>
              </a:rPr>
              <a:pPr/>
              <a:t>‹#›</a:t>
            </a:fld>
            <a:endParaRPr lang="en-US" sz="800" dirty="0">
              <a:solidFill>
                <a:prstClr val="white">
                  <a:alpha val="50000"/>
                </a:prstClr>
              </a:solidFill>
              <a:latin typeface="Arial"/>
            </a:endParaRPr>
          </a:p>
        </p:txBody>
      </p:sp>
      <p:sp>
        <p:nvSpPr>
          <p:cNvPr id="47" name="TextBox 46">
            <a:extLst>
              <a:ext uri="{FF2B5EF4-FFF2-40B4-BE49-F238E27FC236}">
                <a16:creationId xmlns:a16="http://schemas.microsoft.com/office/drawing/2014/main" id="{1F6F85EA-1CAA-F34C-8631-AB308554EFA3}"/>
              </a:ext>
            </a:extLst>
          </p:cNvPr>
          <p:cNvSpPr txBox="1"/>
          <p:nvPr userDrawn="1"/>
        </p:nvSpPr>
        <p:spPr>
          <a:xfrm>
            <a:off x="1611" y="4915450"/>
            <a:ext cx="312906" cy="215444"/>
          </a:xfrm>
          <a:prstGeom prst="rect">
            <a:avLst/>
          </a:prstGeom>
          <a:noFill/>
        </p:spPr>
        <p:txBody>
          <a:bodyPr wrap="none" rtlCol="0">
            <a:spAutoFit/>
          </a:bodyPr>
          <a:lstStyle/>
          <a:p>
            <a:fld id="{111F478C-84AE-4601-9BE4-60468A3A6C06}" type="slidenum">
              <a:rPr lang="en-US" sz="800" smtClean="0">
                <a:solidFill>
                  <a:prstClr val="white">
                    <a:alpha val="50000"/>
                  </a:prstClr>
                </a:solidFill>
                <a:latin typeface="Arial"/>
              </a:rPr>
              <a:pPr/>
              <a:t>‹#›</a:t>
            </a:fld>
            <a:endParaRPr lang="en-US" sz="800" dirty="0">
              <a:solidFill>
                <a:prstClr val="white">
                  <a:alpha val="50000"/>
                </a:prstClr>
              </a:solidFill>
              <a:latin typeface="Arial"/>
            </a:endParaRPr>
          </a:p>
        </p:txBody>
      </p:sp>
      <p:sp>
        <p:nvSpPr>
          <p:cNvPr id="38" name="Rectangle 37">
            <a:extLst>
              <a:ext uri="{FF2B5EF4-FFF2-40B4-BE49-F238E27FC236}">
                <a16:creationId xmlns:a16="http://schemas.microsoft.com/office/drawing/2014/main" id="{F4AD3290-648D-D840-B50D-09EEC67C7D28}"/>
              </a:ext>
            </a:extLst>
          </p:cNvPr>
          <p:cNvSpPr/>
          <p:nvPr userDrawn="1"/>
        </p:nvSpPr>
        <p:spPr>
          <a:xfrm>
            <a:off x="5942892" y="0"/>
            <a:ext cx="3201108" cy="5157216"/>
          </a:xfrm>
          <a:prstGeom prst="rect">
            <a:avLst/>
          </a:prstGeom>
          <a:gradFill flip="none" rotWithShape="1">
            <a:gsLst>
              <a:gs pos="53000">
                <a:schemeClr val="bg1">
                  <a:alpha val="0"/>
                </a:schemeClr>
              </a:gs>
              <a:gs pos="0">
                <a:srgbClr val="53E2DD">
                  <a:alpha val="56000"/>
                  <a:lumMod val="45000"/>
                </a:srgbClr>
              </a:gs>
              <a:gs pos="100000">
                <a:schemeClr val="accent2">
                  <a:lumMod val="61000"/>
                  <a:alpha val="54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j-lt"/>
            </a:endParaRPr>
          </a:p>
        </p:txBody>
      </p:sp>
      <p:sp>
        <p:nvSpPr>
          <p:cNvPr id="93" name="Rectangle 92">
            <a:extLst>
              <a:ext uri="{FF2B5EF4-FFF2-40B4-BE49-F238E27FC236}">
                <a16:creationId xmlns:a16="http://schemas.microsoft.com/office/drawing/2014/main" id="{39418557-F9FB-2C49-8652-E9BC5F420543}"/>
              </a:ext>
            </a:extLst>
          </p:cNvPr>
          <p:cNvSpPr/>
          <p:nvPr userDrawn="1"/>
        </p:nvSpPr>
        <p:spPr>
          <a:xfrm>
            <a:off x="5942892" y="0"/>
            <a:ext cx="3201108" cy="5157216"/>
          </a:xfrm>
          <a:prstGeom prst="rect">
            <a:avLst/>
          </a:prstGeom>
          <a:gradFill flip="none" rotWithShape="1">
            <a:gsLst>
              <a:gs pos="71000">
                <a:schemeClr val="tx2">
                  <a:alpha val="0"/>
                </a:schemeClr>
              </a:gs>
              <a:gs pos="100000">
                <a:schemeClr val="tx2">
                  <a:alpha val="65000"/>
                </a:schemeClr>
              </a:gs>
            </a:gsLst>
            <a:lin ang="18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j-lt"/>
            </a:endParaRPr>
          </a:p>
        </p:txBody>
      </p:sp>
      <p:grpSp>
        <p:nvGrpSpPr>
          <p:cNvPr id="42" name="Group 41">
            <a:extLst>
              <a:ext uri="{FF2B5EF4-FFF2-40B4-BE49-F238E27FC236}">
                <a16:creationId xmlns:a16="http://schemas.microsoft.com/office/drawing/2014/main" id="{3EF58E61-59AF-0B40-BD87-B8415DF5B20F}"/>
              </a:ext>
            </a:extLst>
          </p:cNvPr>
          <p:cNvGrpSpPr/>
          <p:nvPr userDrawn="1"/>
        </p:nvGrpSpPr>
        <p:grpSpPr>
          <a:xfrm>
            <a:off x="7684916" y="225821"/>
            <a:ext cx="1247901" cy="356665"/>
            <a:chOff x="2751138" y="3262313"/>
            <a:chExt cx="4665662" cy="1333500"/>
          </a:xfrm>
          <a:solidFill>
            <a:schemeClr val="bg1"/>
          </a:solidFill>
        </p:grpSpPr>
        <p:sp>
          <p:nvSpPr>
            <p:cNvPr id="43" name="Freeform 1">
              <a:extLst>
                <a:ext uri="{FF2B5EF4-FFF2-40B4-BE49-F238E27FC236}">
                  <a16:creationId xmlns:a16="http://schemas.microsoft.com/office/drawing/2014/main" id="{199E89AD-2705-134A-918E-26469FC8CD68}"/>
                </a:ext>
              </a:extLst>
            </p:cNvPr>
            <p:cNvSpPr>
              <a:spLocks noChangeArrowheads="1"/>
            </p:cNvSpPr>
            <p:nvPr/>
          </p:nvSpPr>
          <p:spPr bwMode="auto">
            <a:xfrm>
              <a:off x="6180138" y="3275013"/>
              <a:ext cx="673100" cy="631825"/>
            </a:xfrm>
            <a:custGeom>
              <a:avLst/>
              <a:gdLst>
                <a:gd name="T0" fmla="*/ 465 w 1868"/>
                <a:gd name="T1" fmla="*/ 0 h 1755"/>
                <a:gd name="T2" fmla="*/ 465 w 1868"/>
                <a:gd name="T3" fmla="*/ 700 h 1755"/>
                <a:gd name="T4" fmla="*/ 1402 w 1868"/>
                <a:gd name="T5" fmla="*/ 700 h 1755"/>
                <a:gd name="T6" fmla="*/ 1402 w 1868"/>
                <a:gd name="T7" fmla="*/ 0 h 1755"/>
                <a:gd name="T8" fmla="*/ 1867 w 1868"/>
                <a:gd name="T9" fmla="*/ 0 h 1755"/>
                <a:gd name="T10" fmla="*/ 1867 w 1868"/>
                <a:gd name="T11" fmla="*/ 1754 h 1755"/>
                <a:gd name="T12" fmla="*/ 1402 w 1868"/>
                <a:gd name="T13" fmla="*/ 1754 h 1755"/>
                <a:gd name="T14" fmla="*/ 1402 w 1868"/>
                <a:gd name="T15" fmla="*/ 983 h 1755"/>
                <a:gd name="T16" fmla="*/ 465 w 1868"/>
                <a:gd name="T17" fmla="*/ 983 h 1755"/>
                <a:gd name="T18" fmla="*/ 465 w 1868"/>
                <a:gd name="T19" fmla="*/ 1754 h 1755"/>
                <a:gd name="T20" fmla="*/ 0 w 1868"/>
                <a:gd name="T21" fmla="*/ 1754 h 1755"/>
                <a:gd name="T22" fmla="*/ 0 w 1868"/>
                <a:gd name="T23" fmla="*/ 0 h 1755"/>
                <a:gd name="T24" fmla="*/ 465 w 1868"/>
                <a:gd name="T25" fmla="*/ 0 h 17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68" h="1755">
                  <a:moveTo>
                    <a:pt x="465" y="0"/>
                  </a:moveTo>
                  <a:cubicBezTo>
                    <a:pt x="465" y="0"/>
                    <a:pt x="465" y="705"/>
                    <a:pt x="465" y="700"/>
                  </a:cubicBezTo>
                  <a:lnTo>
                    <a:pt x="1402" y="700"/>
                  </a:lnTo>
                  <a:cubicBezTo>
                    <a:pt x="1402" y="705"/>
                    <a:pt x="1402" y="0"/>
                    <a:pt x="1402" y="0"/>
                  </a:cubicBezTo>
                  <a:cubicBezTo>
                    <a:pt x="1402" y="0"/>
                    <a:pt x="1863" y="0"/>
                    <a:pt x="1867" y="0"/>
                  </a:cubicBezTo>
                  <a:cubicBezTo>
                    <a:pt x="1867" y="0"/>
                    <a:pt x="1867" y="1750"/>
                    <a:pt x="1867" y="1754"/>
                  </a:cubicBezTo>
                  <a:lnTo>
                    <a:pt x="1402" y="1754"/>
                  </a:lnTo>
                  <a:cubicBezTo>
                    <a:pt x="1402" y="1754"/>
                    <a:pt x="1402" y="987"/>
                    <a:pt x="1402" y="983"/>
                  </a:cubicBezTo>
                  <a:cubicBezTo>
                    <a:pt x="1402" y="987"/>
                    <a:pt x="465" y="983"/>
                    <a:pt x="465" y="983"/>
                  </a:cubicBezTo>
                  <a:cubicBezTo>
                    <a:pt x="465" y="987"/>
                    <a:pt x="465" y="1754"/>
                    <a:pt x="465" y="1754"/>
                  </a:cubicBezTo>
                  <a:lnTo>
                    <a:pt x="0" y="1754"/>
                  </a:lnTo>
                  <a:cubicBezTo>
                    <a:pt x="0" y="1754"/>
                    <a:pt x="4" y="0"/>
                    <a:pt x="0" y="0"/>
                  </a:cubicBezTo>
                  <a:lnTo>
                    <a:pt x="465"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44" name="Freeform 2">
              <a:extLst>
                <a:ext uri="{FF2B5EF4-FFF2-40B4-BE49-F238E27FC236}">
                  <a16:creationId xmlns:a16="http://schemas.microsoft.com/office/drawing/2014/main" id="{0494D0CA-794C-0E4B-AA3F-CCDBD582982E}"/>
                </a:ext>
              </a:extLst>
            </p:cNvPr>
            <p:cNvSpPr>
              <a:spLocks noChangeArrowheads="1"/>
            </p:cNvSpPr>
            <p:nvPr/>
          </p:nvSpPr>
          <p:spPr bwMode="auto">
            <a:xfrm>
              <a:off x="4083050" y="3275013"/>
              <a:ext cx="677863" cy="631825"/>
            </a:xfrm>
            <a:custGeom>
              <a:avLst/>
              <a:gdLst>
                <a:gd name="T0" fmla="*/ 1883 w 1884"/>
                <a:gd name="T1" fmla="*/ 0 h 1755"/>
                <a:gd name="T2" fmla="*/ 1883 w 1884"/>
                <a:gd name="T3" fmla="*/ 298 h 1755"/>
                <a:gd name="T4" fmla="*/ 1174 w 1884"/>
                <a:gd name="T5" fmla="*/ 298 h 1755"/>
                <a:gd name="T6" fmla="*/ 1174 w 1884"/>
                <a:gd name="T7" fmla="*/ 1754 h 1755"/>
                <a:gd name="T8" fmla="*/ 709 w 1884"/>
                <a:gd name="T9" fmla="*/ 1754 h 1755"/>
                <a:gd name="T10" fmla="*/ 709 w 1884"/>
                <a:gd name="T11" fmla="*/ 298 h 1755"/>
                <a:gd name="T12" fmla="*/ 0 w 1884"/>
                <a:gd name="T13" fmla="*/ 298 h 1755"/>
                <a:gd name="T14" fmla="*/ 0 w 1884"/>
                <a:gd name="T15" fmla="*/ 0 h 1755"/>
                <a:gd name="T16" fmla="*/ 1883 w 1884"/>
                <a:gd name="T17" fmla="*/ 0 h 17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884" h="1755">
                  <a:moveTo>
                    <a:pt x="1883" y="0"/>
                  </a:moveTo>
                  <a:cubicBezTo>
                    <a:pt x="1883" y="4"/>
                    <a:pt x="1883" y="298"/>
                    <a:pt x="1883" y="298"/>
                  </a:cubicBezTo>
                  <a:lnTo>
                    <a:pt x="1174" y="298"/>
                  </a:lnTo>
                  <a:lnTo>
                    <a:pt x="1174" y="1754"/>
                  </a:lnTo>
                  <a:lnTo>
                    <a:pt x="709" y="1754"/>
                  </a:lnTo>
                  <a:lnTo>
                    <a:pt x="709" y="298"/>
                  </a:lnTo>
                  <a:lnTo>
                    <a:pt x="0" y="298"/>
                  </a:lnTo>
                  <a:lnTo>
                    <a:pt x="0" y="0"/>
                  </a:lnTo>
                  <a:lnTo>
                    <a:pt x="1883"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45" name="Freeform 3">
              <a:extLst>
                <a:ext uri="{FF2B5EF4-FFF2-40B4-BE49-F238E27FC236}">
                  <a16:creationId xmlns:a16="http://schemas.microsoft.com/office/drawing/2014/main" id="{9DCC5901-D10A-FB4A-B33B-ED481418C9B6}"/>
                </a:ext>
              </a:extLst>
            </p:cNvPr>
            <p:cNvSpPr>
              <a:spLocks noChangeArrowheads="1"/>
            </p:cNvSpPr>
            <p:nvPr/>
          </p:nvSpPr>
          <p:spPr bwMode="auto">
            <a:xfrm>
              <a:off x="4614863" y="3275013"/>
              <a:ext cx="796925" cy="631825"/>
            </a:xfrm>
            <a:custGeom>
              <a:avLst/>
              <a:gdLst>
                <a:gd name="T0" fmla="*/ 2214 w 2215"/>
                <a:gd name="T1" fmla="*/ 1754 h 1755"/>
                <a:gd name="T2" fmla="*/ 1695 w 2215"/>
                <a:gd name="T3" fmla="*/ 1754 h 1755"/>
                <a:gd name="T4" fmla="*/ 1542 w 2215"/>
                <a:gd name="T5" fmla="*/ 1377 h 1755"/>
                <a:gd name="T6" fmla="*/ 672 w 2215"/>
                <a:gd name="T7" fmla="*/ 1377 h 1755"/>
                <a:gd name="T8" fmla="*/ 518 w 2215"/>
                <a:gd name="T9" fmla="*/ 1754 h 1755"/>
                <a:gd name="T10" fmla="*/ 0 w 2215"/>
                <a:gd name="T11" fmla="*/ 1754 h 1755"/>
                <a:gd name="T12" fmla="*/ 825 w 2215"/>
                <a:gd name="T13" fmla="*/ 0 h 1755"/>
                <a:gd name="T14" fmla="*/ 1392 w 2215"/>
                <a:gd name="T15" fmla="*/ 0 h 1755"/>
                <a:gd name="T16" fmla="*/ 2214 w 2215"/>
                <a:gd name="T17" fmla="*/ 1754 h 1755"/>
                <a:gd name="T18" fmla="*/ 788 w 2215"/>
                <a:gd name="T19" fmla="*/ 1095 h 1755"/>
                <a:gd name="T20" fmla="*/ 1434 w 2215"/>
                <a:gd name="T21" fmla="*/ 1095 h 1755"/>
                <a:gd name="T22" fmla="*/ 1107 w 2215"/>
                <a:gd name="T23" fmla="*/ 298 h 1755"/>
                <a:gd name="T24" fmla="*/ 788 w 2215"/>
                <a:gd name="T25" fmla="*/ 1095 h 17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15" h="1755">
                  <a:moveTo>
                    <a:pt x="2214" y="1754"/>
                  </a:moveTo>
                  <a:cubicBezTo>
                    <a:pt x="2214" y="1754"/>
                    <a:pt x="1691" y="1754"/>
                    <a:pt x="1695" y="1754"/>
                  </a:cubicBezTo>
                  <a:lnTo>
                    <a:pt x="1542" y="1377"/>
                  </a:lnTo>
                  <a:lnTo>
                    <a:pt x="672" y="1377"/>
                  </a:lnTo>
                  <a:cubicBezTo>
                    <a:pt x="672" y="1377"/>
                    <a:pt x="522" y="1754"/>
                    <a:pt x="518" y="1754"/>
                  </a:cubicBezTo>
                  <a:lnTo>
                    <a:pt x="0" y="1754"/>
                  </a:lnTo>
                  <a:lnTo>
                    <a:pt x="825" y="0"/>
                  </a:lnTo>
                  <a:lnTo>
                    <a:pt x="1392" y="0"/>
                  </a:lnTo>
                  <a:lnTo>
                    <a:pt x="2214" y="1754"/>
                  </a:lnTo>
                  <a:close/>
                  <a:moveTo>
                    <a:pt x="788" y="1095"/>
                  </a:moveTo>
                  <a:lnTo>
                    <a:pt x="1434" y="1095"/>
                  </a:lnTo>
                  <a:lnTo>
                    <a:pt x="1107" y="298"/>
                  </a:lnTo>
                  <a:lnTo>
                    <a:pt x="788" y="1095"/>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46" name="Freeform 4">
              <a:extLst>
                <a:ext uri="{FF2B5EF4-FFF2-40B4-BE49-F238E27FC236}">
                  <a16:creationId xmlns:a16="http://schemas.microsoft.com/office/drawing/2014/main" id="{E89E2B8D-ACF0-2F45-AEFB-BDDCF2F74FCA}"/>
                </a:ext>
              </a:extLst>
            </p:cNvPr>
            <p:cNvSpPr>
              <a:spLocks noChangeArrowheads="1"/>
            </p:cNvSpPr>
            <p:nvPr/>
          </p:nvSpPr>
          <p:spPr bwMode="auto">
            <a:xfrm>
              <a:off x="6985000" y="3275013"/>
              <a:ext cx="166688" cy="631825"/>
            </a:xfrm>
            <a:custGeom>
              <a:avLst/>
              <a:gdLst>
                <a:gd name="T0" fmla="*/ 232 w 465"/>
                <a:gd name="T1" fmla="*/ 1754 h 1755"/>
                <a:gd name="T2" fmla="*/ 0 w 465"/>
                <a:gd name="T3" fmla="*/ 1754 h 1755"/>
                <a:gd name="T4" fmla="*/ 0 w 465"/>
                <a:gd name="T5" fmla="*/ 0 h 1755"/>
                <a:gd name="T6" fmla="*/ 464 w 465"/>
                <a:gd name="T7" fmla="*/ 0 h 1755"/>
                <a:gd name="T8" fmla="*/ 464 w 465"/>
                <a:gd name="T9" fmla="*/ 1754 h 1755"/>
                <a:gd name="T10" fmla="*/ 232 w 465"/>
                <a:gd name="T11" fmla="*/ 1754 h 1755"/>
              </a:gdLst>
              <a:ahLst/>
              <a:cxnLst>
                <a:cxn ang="0">
                  <a:pos x="T0" y="T1"/>
                </a:cxn>
                <a:cxn ang="0">
                  <a:pos x="T2" y="T3"/>
                </a:cxn>
                <a:cxn ang="0">
                  <a:pos x="T4" y="T5"/>
                </a:cxn>
                <a:cxn ang="0">
                  <a:pos x="T6" y="T7"/>
                </a:cxn>
                <a:cxn ang="0">
                  <a:pos x="T8" y="T9"/>
                </a:cxn>
                <a:cxn ang="0">
                  <a:pos x="T10" y="T11"/>
                </a:cxn>
              </a:cxnLst>
              <a:rect l="0" t="0" r="r" b="b"/>
              <a:pathLst>
                <a:path w="465" h="1755">
                  <a:moveTo>
                    <a:pt x="232" y="1754"/>
                  </a:moveTo>
                  <a:lnTo>
                    <a:pt x="0" y="1754"/>
                  </a:lnTo>
                  <a:lnTo>
                    <a:pt x="0" y="0"/>
                  </a:lnTo>
                  <a:lnTo>
                    <a:pt x="464" y="0"/>
                  </a:lnTo>
                  <a:lnTo>
                    <a:pt x="464" y="1754"/>
                  </a:lnTo>
                  <a:lnTo>
                    <a:pt x="232" y="1754"/>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48" name="Freeform 5">
              <a:extLst>
                <a:ext uri="{FF2B5EF4-FFF2-40B4-BE49-F238E27FC236}">
                  <a16:creationId xmlns:a16="http://schemas.microsoft.com/office/drawing/2014/main" id="{22029583-0D66-5343-987C-CF43A574E882}"/>
                </a:ext>
              </a:extLst>
            </p:cNvPr>
            <p:cNvSpPr>
              <a:spLocks noChangeArrowheads="1"/>
            </p:cNvSpPr>
            <p:nvPr/>
          </p:nvSpPr>
          <p:spPr bwMode="auto">
            <a:xfrm>
              <a:off x="3049588" y="3275013"/>
              <a:ext cx="673100" cy="631825"/>
            </a:xfrm>
            <a:custGeom>
              <a:avLst/>
              <a:gdLst>
                <a:gd name="T0" fmla="*/ 465 w 1868"/>
                <a:gd name="T1" fmla="*/ 0 h 1755"/>
                <a:gd name="T2" fmla="*/ 465 w 1868"/>
                <a:gd name="T3" fmla="*/ 700 h 1755"/>
                <a:gd name="T4" fmla="*/ 1402 w 1868"/>
                <a:gd name="T5" fmla="*/ 700 h 1755"/>
                <a:gd name="T6" fmla="*/ 1402 w 1868"/>
                <a:gd name="T7" fmla="*/ 0 h 1755"/>
                <a:gd name="T8" fmla="*/ 1867 w 1868"/>
                <a:gd name="T9" fmla="*/ 0 h 1755"/>
                <a:gd name="T10" fmla="*/ 1867 w 1868"/>
                <a:gd name="T11" fmla="*/ 1754 h 1755"/>
                <a:gd name="T12" fmla="*/ 1402 w 1868"/>
                <a:gd name="T13" fmla="*/ 1754 h 1755"/>
                <a:gd name="T14" fmla="*/ 1402 w 1868"/>
                <a:gd name="T15" fmla="*/ 983 h 1755"/>
                <a:gd name="T16" fmla="*/ 465 w 1868"/>
                <a:gd name="T17" fmla="*/ 983 h 1755"/>
                <a:gd name="T18" fmla="*/ 465 w 1868"/>
                <a:gd name="T19" fmla="*/ 1754 h 1755"/>
                <a:gd name="T20" fmla="*/ 0 w 1868"/>
                <a:gd name="T21" fmla="*/ 1754 h 1755"/>
                <a:gd name="T22" fmla="*/ 0 w 1868"/>
                <a:gd name="T23" fmla="*/ 0 h 1755"/>
                <a:gd name="T24" fmla="*/ 465 w 1868"/>
                <a:gd name="T25" fmla="*/ 0 h 17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68" h="1755">
                  <a:moveTo>
                    <a:pt x="465" y="0"/>
                  </a:moveTo>
                  <a:cubicBezTo>
                    <a:pt x="465" y="0"/>
                    <a:pt x="465" y="705"/>
                    <a:pt x="465" y="700"/>
                  </a:cubicBezTo>
                  <a:lnTo>
                    <a:pt x="1402" y="700"/>
                  </a:lnTo>
                  <a:cubicBezTo>
                    <a:pt x="1402" y="705"/>
                    <a:pt x="1402" y="0"/>
                    <a:pt x="1402" y="0"/>
                  </a:cubicBezTo>
                  <a:cubicBezTo>
                    <a:pt x="1402" y="0"/>
                    <a:pt x="1863" y="0"/>
                    <a:pt x="1867" y="0"/>
                  </a:cubicBezTo>
                  <a:cubicBezTo>
                    <a:pt x="1867" y="0"/>
                    <a:pt x="1867" y="1750"/>
                    <a:pt x="1867" y="1754"/>
                  </a:cubicBezTo>
                  <a:lnTo>
                    <a:pt x="1402" y="1754"/>
                  </a:lnTo>
                  <a:cubicBezTo>
                    <a:pt x="1402" y="1754"/>
                    <a:pt x="1402" y="987"/>
                    <a:pt x="1402" y="983"/>
                  </a:cubicBezTo>
                  <a:cubicBezTo>
                    <a:pt x="1402" y="987"/>
                    <a:pt x="465" y="983"/>
                    <a:pt x="465" y="983"/>
                  </a:cubicBezTo>
                  <a:cubicBezTo>
                    <a:pt x="465" y="987"/>
                    <a:pt x="465" y="1754"/>
                    <a:pt x="465" y="1754"/>
                  </a:cubicBezTo>
                  <a:lnTo>
                    <a:pt x="0" y="1754"/>
                  </a:lnTo>
                  <a:cubicBezTo>
                    <a:pt x="0" y="1754"/>
                    <a:pt x="5" y="0"/>
                    <a:pt x="0" y="0"/>
                  </a:cubicBezTo>
                  <a:lnTo>
                    <a:pt x="465"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49" name="Freeform 6">
              <a:extLst>
                <a:ext uri="{FF2B5EF4-FFF2-40B4-BE49-F238E27FC236}">
                  <a16:creationId xmlns:a16="http://schemas.microsoft.com/office/drawing/2014/main" id="{853178F1-F0AF-6240-8FB2-09BC14B17DBA}"/>
                </a:ext>
              </a:extLst>
            </p:cNvPr>
            <p:cNvSpPr>
              <a:spLocks noChangeArrowheads="1"/>
            </p:cNvSpPr>
            <p:nvPr/>
          </p:nvSpPr>
          <p:spPr bwMode="auto">
            <a:xfrm>
              <a:off x="3854450" y="3275013"/>
              <a:ext cx="168275" cy="631825"/>
            </a:xfrm>
            <a:custGeom>
              <a:avLst/>
              <a:gdLst>
                <a:gd name="T0" fmla="*/ 233 w 466"/>
                <a:gd name="T1" fmla="*/ 1754 h 1755"/>
                <a:gd name="T2" fmla="*/ 0 w 466"/>
                <a:gd name="T3" fmla="*/ 1754 h 1755"/>
                <a:gd name="T4" fmla="*/ 0 w 466"/>
                <a:gd name="T5" fmla="*/ 0 h 1755"/>
                <a:gd name="T6" fmla="*/ 465 w 466"/>
                <a:gd name="T7" fmla="*/ 0 h 1755"/>
                <a:gd name="T8" fmla="*/ 465 w 466"/>
                <a:gd name="T9" fmla="*/ 1754 h 1755"/>
                <a:gd name="T10" fmla="*/ 233 w 466"/>
                <a:gd name="T11" fmla="*/ 1754 h 1755"/>
              </a:gdLst>
              <a:ahLst/>
              <a:cxnLst>
                <a:cxn ang="0">
                  <a:pos x="T0" y="T1"/>
                </a:cxn>
                <a:cxn ang="0">
                  <a:pos x="T2" y="T3"/>
                </a:cxn>
                <a:cxn ang="0">
                  <a:pos x="T4" y="T5"/>
                </a:cxn>
                <a:cxn ang="0">
                  <a:pos x="T6" y="T7"/>
                </a:cxn>
                <a:cxn ang="0">
                  <a:pos x="T8" y="T9"/>
                </a:cxn>
                <a:cxn ang="0">
                  <a:pos x="T10" y="T11"/>
                </a:cxn>
              </a:cxnLst>
              <a:rect l="0" t="0" r="r" b="b"/>
              <a:pathLst>
                <a:path w="466" h="1755">
                  <a:moveTo>
                    <a:pt x="233" y="1754"/>
                  </a:moveTo>
                  <a:lnTo>
                    <a:pt x="0" y="1754"/>
                  </a:lnTo>
                  <a:lnTo>
                    <a:pt x="0" y="0"/>
                  </a:lnTo>
                  <a:lnTo>
                    <a:pt x="465" y="0"/>
                  </a:lnTo>
                  <a:lnTo>
                    <a:pt x="465" y="1754"/>
                  </a:lnTo>
                  <a:lnTo>
                    <a:pt x="233" y="1754"/>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50" name="Freeform 7">
              <a:extLst>
                <a:ext uri="{FF2B5EF4-FFF2-40B4-BE49-F238E27FC236}">
                  <a16:creationId xmlns:a16="http://schemas.microsoft.com/office/drawing/2014/main" id="{587CA836-2BC9-604B-8F93-B6FA817F991A}"/>
                </a:ext>
              </a:extLst>
            </p:cNvPr>
            <p:cNvSpPr>
              <a:spLocks noChangeArrowheads="1"/>
            </p:cNvSpPr>
            <p:nvPr/>
          </p:nvSpPr>
          <p:spPr bwMode="auto">
            <a:xfrm>
              <a:off x="5383213" y="3262313"/>
              <a:ext cx="715962" cy="663575"/>
            </a:xfrm>
            <a:custGeom>
              <a:avLst/>
              <a:gdLst>
                <a:gd name="T0" fmla="*/ 62 w 1988"/>
                <a:gd name="T1" fmla="*/ 1307 h 1842"/>
                <a:gd name="T2" fmla="*/ 0 w 1988"/>
                <a:gd name="T3" fmla="*/ 933 h 1842"/>
                <a:gd name="T4" fmla="*/ 120 w 1988"/>
                <a:gd name="T5" fmla="*/ 423 h 1842"/>
                <a:gd name="T6" fmla="*/ 518 w 1988"/>
                <a:gd name="T7" fmla="*/ 91 h 1842"/>
                <a:gd name="T8" fmla="*/ 1033 w 1988"/>
                <a:gd name="T9" fmla="*/ 0 h 1842"/>
                <a:gd name="T10" fmla="*/ 1618 w 1988"/>
                <a:gd name="T11" fmla="*/ 125 h 1842"/>
                <a:gd name="T12" fmla="*/ 1950 w 1988"/>
                <a:gd name="T13" fmla="*/ 531 h 1842"/>
                <a:gd name="T14" fmla="*/ 1966 w 1988"/>
                <a:gd name="T15" fmla="*/ 643 h 1842"/>
                <a:gd name="T16" fmla="*/ 1481 w 1988"/>
                <a:gd name="T17" fmla="*/ 643 h 1842"/>
                <a:gd name="T18" fmla="*/ 1456 w 1988"/>
                <a:gd name="T19" fmla="*/ 506 h 1842"/>
                <a:gd name="T20" fmla="*/ 1240 w 1988"/>
                <a:gd name="T21" fmla="*/ 303 h 1842"/>
                <a:gd name="T22" fmla="*/ 1037 w 1988"/>
                <a:gd name="T23" fmla="*/ 274 h 1842"/>
                <a:gd name="T24" fmla="*/ 809 w 1988"/>
                <a:gd name="T25" fmla="*/ 315 h 1842"/>
                <a:gd name="T26" fmla="*/ 556 w 1988"/>
                <a:gd name="T27" fmla="*/ 573 h 1842"/>
                <a:gd name="T28" fmla="*/ 494 w 1988"/>
                <a:gd name="T29" fmla="*/ 942 h 1842"/>
                <a:gd name="T30" fmla="*/ 539 w 1988"/>
                <a:gd name="T31" fmla="*/ 1249 h 1842"/>
                <a:gd name="T32" fmla="*/ 792 w 1988"/>
                <a:gd name="T33" fmla="*/ 1527 h 1842"/>
                <a:gd name="T34" fmla="*/ 1041 w 1988"/>
                <a:gd name="T35" fmla="*/ 1572 h 1842"/>
                <a:gd name="T36" fmla="*/ 1257 w 1988"/>
                <a:gd name="T37" fmla="*/ 1539 h 1842"/>
                <a:gd name="T38" fmla="*/ 1460 w 1988"/>
                <a:gd name="T39" fmla="*/ 1356 h 1842"/>
                <a:gd name="T40" fmla="*/ 1497 w 1988"/>
                <a:gd name="T41" fmla="*/ 1170 h 1842"/>
                <a:gd name="T42" fmla="*/ 1987 w 1988"/>
                <a:gd name="T43" fmla="*/ 1170 h 1842"/>
                <a:gd name="T44" fmla="*/ 1962 w 1988"/>
                <a:gd name="T45" fmla="*/ 1336 h 1842"/>
                <a:gd name="T46" fmla="*/ 1638 w 1988"/>
                <a:gd name="T47" fmla="*/ 1721 h 1842"/>
                <a:gd name="T48" fmla="*/ 1041 w 1988"/>
                <a:gd name="T49" fmla="*/ 1841 h 1842"/>
                <a:gd name="T50" fmla="*/ 568 w 1988"/>
                <a:gd name="T51" fmla="*/ 1771 h 1842"/>
                <a:gd name="T52" fmla="*/ 62 w 1988"/>
                <a:gd name="T53" fmla="*/ 1307 h 18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988" h="1842">
                  <a:moveTo>
                    <a:pt x="62" y="1307"/>
                  </a:moveTo>
                  <a:cubicBezTo>
                    <a:pt x="21" y="1191"/>
                    <a:pt x="0" y="1066"/>
                    <a:pt x="0" y="933"/>
                  </a:cubicBezTo>
                  <a:cubicBezTo>
                    <a:pt x="0" y="751"/>
                    <a:pt x="33" y="573"/>
                    <a:pt x="120" y="423"/>
                  </a:cubicBezTo>
                  <a:cubicBezTo>
                    <a:pt x="211" y="270"/>
                    <a:pt x="348" y="154"/>
                    <a:pt x="518" y="91"/>
                  </a:cubicBezTo>
                  <a:cubicBezTo>
                    <a:pt x="680" y="33"/>
                    <a:pt x="850" y="0"/>
                    <a:pt x="1033" y="0"/>
                  </a:cubicBezTo>
                  <a:cubicBezTo>
                    <a:pt x="1240" y="0"/>
                    <a:pt x="1439" y="46"/>
                    <a:pt x="1618" y="125"/>
                  </a:cubicBezTo>
                  <a:cubicBezTo>
                    <a:pt x="1784" y="195"/>
                    <a:pt x="1912" y="349"/>
                    <a:pt x="1950" y="531"/>
                  </a:cubicBezTo>
                  <a:cubicBezTo>
                    <a:pt x="1958" y="568"/>
                    <a:pt x="1962" y="606"/>
                    <a:pt x="1966" y="643"/>
                  </a:cubicBezTo>
                  <a:lnTo>
                    <a:pt x="1481" y="643"/>
                  </a:lnTo>
                  <a:cubicBezTo>
                    <a:pt x="1481" y="597"/>
                    <a:pt x="1472" y="552"/>
                    <a:pt x="1456" y="506"/>
                  </a:cubicBezTo>
                  <a:cubicBezTo>
                    <a:pt x="1419" y="411"/>
                    <a:pt x="1340" y="332"/>
                    <a:pt x="1240" y="303"/>
                  </a:cubicBezTo>
                  <a:cubicBezTo>
                    <a:pt x="1174" y="282"/>
                    <a:pt x="1107" y="274"/>
                    <a:pt x="1037" y="274"/>
                  </a:cubicBezTo>
                  <a:cubicBezTo>
                    <a:pt x="958" y="274"/>
                    <a:pt x="879" y="286"/>
                    <a:pt x="809" y="315"/>
                  </a:cubicBezTo>
                  <a:cubicBezTo>
                    <a:pt x="688" y="357"/>
                    <a:pt x="597" y="452"/>
                    <a:pt x="556" y="573"/>
                  </a:cubicBezTo>
                  <a:cubicBezTo>
                    <a:pt x="514" y="689"/>
                    <a:pt x="494" y="813"/>
                    <a:pt x="494" y="942"/>
                  </a:cubicBezTo>
                  <a:cubicBezTo>
                    <a:pt x="494" y="1050"/>
                    <a:pt x="510" y="1153"/>
                    <a:pt x="539" y="1249"/>
                  </a:cubicBezTo>
                  <a:cubicBezTo>
                    <a:pt x="572" y="1377"/>
                    <a:pt x="672" y="1481"/>
                    <a:pt x="792" y="1527"/>
                  </a:cubicBezTo>
                  <a:cubicBezTo>
                    <a:pt x="871" y="1556"/>
                    <a:pt x="954" y="1572"/>
                    <a:pt x="1041" y="1572"/>
                  </a:cubicBezTo>
                  <a:cubicBezTo>
                    <a:pt x="1116" y="1572"/>
                    <a:pt x="1186" y="1560"/>
                    <a:pt x="1257" y="1539"/>
                  </a:cubicBezTo>
                  <a:cubicBezTo>
                    <a:pt x="1348" y="1510"/>
                    <a:pt x="1423" y="1444"/>
                    <a:pt x="1460" y="1356"/>
                  </a:cubicBezTo>
                  <a:cubicBezTo>
                    <a:pt x="1485" y="1298"/>
                    <a:pt x="1497" y="1236"/>
                    <a:pt x="1497" y="1170"/>
                  </a:cubicBezTo>
                  <a:lnTo>
                    <a:pt x="1987" y="1170"/>
                  </a:lnTo>
                  <a:cubicBezTo>
                    <a:pt x="1983" y="1228"/>
                    <a:pt x="1974" y="1282"/>
                    <a:pt x="1962" y="1336"/>
                  </a:cubicBezTo>
                  <a:cubicBezTo>
                    <a:pt x="1920" y="1510"/>
                    <a:pt x="1800" y="1655"/>
                    <a:pt x="1638" y="1721"/>
                  </a:cubicBezTo>
                  <a:cubicBezTo>
                    <a:pt x="1456" y="1800"/>
                    <a:pt x="1253" y="1841"/>
                    <a:pt x="1041" y="1841"/>
                  </a:cubicBezTo>
                  <a:cubicBezTo>
                    <a:pt x="875" y="1841"/>
                    <a:pt x="718" y="1817"/>
                    <a:pt x="568" y="1771"/>
                  </a:cubicBezTo>
                  <a:cubicBezTo>
                    <a:pt x="336" y="1692"/>
                    <a:pt x="137" y="1527"/>
                    <a:pt x="62" y="1307"/>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51" name="Freeform 8">
              <a:extLst>
                <a:ext uri="{FF2B5EF4-FFF2-40B4-BE49-F238E27FC236}">
                  <a16:creationId xmlns:a16="http://schemas.microsoft.com/office/drawing/2014/main" id="{9BEF782E-D5DE-734F-9C51-AB343EB194F6}"/>
                </a:ext>
              </a:extLst>
            </p:cNvPr>
            <p:cNvSpPr>
              <a:spLocks noChangeArrowheads="1"/>
            </p:cNvSpPr>
            <p:nvPr/>
          </p:nvSpPr>
          <p:spPr bwMode="auto">
            <a:xfrm>
              <a:off x="2751138" y="4083050"/>
              <a:ext cx="153987" cy="398463"/>
            </a:xfrm>
            <a:custGeom>
              <a:avLst/>
              <a:gdLst>
                <a:gd name="T0" fmla="*/ 415 w 428"/>
                <a:gd name="T1" fmla="*/ 0 h 1109"/>
                <a:gd name="T2" fmla="*/ 0 w 428"/>
                <a:gd name="T3" fmla="*/ 38 h 1109"/>
                <a:gd name="T4" fmla="*/ 0 w 428"/>
                <a:gd name="T5" fmla="*/ 100 h 1109"/>
                <a:gd name="T6" fmla="*/ 12 w 428"/>
                <a:gd name="T7" fmla="*/ 100 h 1109"/>
                <a:gd name="T8" fmla="*/ 178 w 428"/>
                <a:gd name="T9" fmla="*/ 241 h 1109"/>
                <a:gd name="T10" fmla="*/ 178 w 428"/>
                <a:gd name="T11" fmla="*/ 1108 h 1109"/>
                <a:gd name="T12" fmla="*/ 427 w 428"/>
                <a:gd name="T13" fmla="*/ 1108 h 1109"/>
                <a:gd name="T14" fmla="*/ 427 w 428"/>
                <a:gd name="T15" fmla="*/ 0 h 1109"/>
                <a:gd name="T16" fmla="*/ 415 w 428"/>
                <a:gd name="T17" fmla="*/ 0 h 1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28" h="1109">
                  <a:moveTo>
                    <a:pt x="415" y="0"/>
                  </a:moveTo>
                  <a:lnTo>
                    <a:pt x="0" y="38"/>
                  </a:lnTo>
                  <a:lnTo>
                    <a:pt x="0" y="100"/>
                  </a:lnTo>
                  <a:lnTo>
                    <a:pt x="12" y="100"/>
                  </a:lnTo>
                  <a:cubicBezTo>
                    <a:pt x="178" y="121"/>
                    <a:pt x="178" y="121"/>
                    <a:pt x="178" y="241"/>
                  </a:cubicBezTo>
                  <a:lnTo>
                    <a:pt x="178" y="1108"/>
                  </a:lnTo>
                  <a:lnTo>
                    <a:pt x="427" y="1108"/>
                  </a:lnTo>
                  <a:lnTo>
                    <a:pt x="427" y="0"/>
                  </a:lnTo>
                  <a:lnTo>
                    <a:pt x="415"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52" name="Freeform 9">
              <a:extLst>
                <a:ext uri="{FF2B5EF4-FFF2-40B4-BE49-F238E27FC236}">
                  <a16:creationId xmlns:a16="http://schemas.microsoft.com/office/drawing/2014/main" id="{0C8F20BF-80B8-AA43-8103-58006CF5B9E1}"/>
                </a:ext>
              </a:extLst>
            </p:cNvPr>
            <p:cNvSpPr>
              <a:spLocks noChangeArrowheads="1"/>
            </p:cNvSpPr>
            <p:nvPr/>
          </p:nvSpPr>
          <p:spPr bwMode="auto">
            <a:xfrm>
              <a:off x="2986088" y="4198938"/>
              <a:ext cx="315912" cy="282575"/>
            </a:xfrm>
            <a:custGeom>
              <a:avLst/>
              <a:gdLst>
                <a:gd name="T0" fmla="*/ 643 w 876"/>
                <a:gd name="T1" fmla="*/ 4 h 785"/>
                <a:gd name="T2" fmla="*/ 353 w 876"/>
                <a:gd name="T3" fmla="*/ 170 h 785"/>
                <a:gd name="T4" fmla="*/ 353 w 876"/>
                <a:gd name="T5" fmla="*/ 0 h 785"/>
                <a:gd name="T6" fmla="*/ 336 w 876"/>
                <a:gd name="T7" fmla="*/ 4 h 785"/>
                <a:gd name="T8" fmla="*/ 0 w 876"/>
                <a:gd name="T9" fmla="*/ 58 h 785"/>
                <a:gd name="T10" fmla="*/ 0 w 876"/>
                <a:gd name="T11" fmla="*/ 116 h 785"/>
                <a:gd name="T12" fmla="*/ 17 w 876"/>
                <a:gd name="T13" fmla="*/ 116 h 785"/>
                <a:gd name="T14" fmla="*/ 145 w 876"/>
                <a:gd name="T15" fmla="*/ 240 h 785"/>
                <a:gd name="T16" fmla="*/ 145 w 876"/>
                <a:gd name="T17" fmla="*/ 784 h 785"/>
                <a:gd name="T18" fmla="*/ 353 w 876"/>
                <a:gd name="T19" fmla="*/ 784 h 785"/>
                <a:gd name="T20" fmla="*/ 353 w 876"/>
                <a:gd name="T21" fmla="*/ 386 h 785"/>
                <a:gd name="T22" fmla="*/ 560 w 876"/>
                <a:gd name="T23" fmla="*/ 141 h 785"/>
                <a:gd name="T24" fmla="*/ 664 w 876"/>
                <a:gd name="T25" fmla="*/ 361 h 785"/>
                <a:gd name="T26" fmla="*/ 664 w 876"/>
                <a:gd name="T27" fmla="*/ 784 h 785"/>
                <a:gd name="T28" fmla="*/ 871 w 876"/>
                <a:gd name="T29" fmla="*/ 784 h 785"/>
                <a:gd name="T30" fmla="*/ 871 w 876"/>
                <a:gd name="T31" fmla="*/ 240 h 785"/>
                <a:gd name="T32" fmla="*/ 643 w 876"/>
                <a:gd name="T33" fmla="*/ 4 h 7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76" h="785">
                  <a:moveTo>
                    <a:pt x="643" y="4"/>
                  </a:moveTo>
                  <a:cubicBezTo>
                    <a:pt x="490" y="4"/>
                    <a:pt x="398" y="108"/>
                    <a:pt x="353" y="170"/>
                  </a:cubicBezTo>
                  <a:cubicBezTo>
                    <a:pt x="353" y="112"/>
                    <a:pt x="353" y="0"/>
                    <a:pt x="353" y="0"/>
                  </a:cubicBezTo>
                  <a:lnTo>
                    <a:pt x="336" y="4"/>
                  </a:lnTo>
                  <a:lnTo>
                    <a:pt x="0" y="58"/>
                  </a:lnTo>
                  <a:lnTo>
                    <a:pt x="0" y="116"/>
                  </a:lnTo>
                  <a:lnTo>
                    <a:pt x="17" y="116"/>
                  </a:lnTo>
                  <a:cubicBezTo>
                    <a:pt x="124" y="120"/>
                    <a:pt x="145" y="141"/>
                    <a:pt x="145" y="240"/>
                  </a:cubicBezTo>
                  <a:lnTo>
                    <a:pt x="145" y="784"/>
                  </a:lnTo>
                  <a:lnTo>
                    <a:pt x="353" y="784"/>
                  </a:lnTo>
                  <a:lnTo>
                    <a:pt x="353" y="386"/>
                  </a:lnTo>
                  <a:cubicBezTo>
                    <a:pt x="353" y="278"/>
                    <a:pt x="452" y="141"/>
                    <a:pt x="560" y="141"/>
                  </a:cubicBezTo>
                  <a:cubicBezTo>
                    <a:pt x="660" y="141"/>
                    <a:pt x="664" y="224"/>
                    <a:pt x="664" y="361"/>
                  </a:cubicBezTo>
                  <a:lnTo>
                    <a:pt x="664" y="784"/>
                  </a:lnTo>
                  <a:lnTo>
                    <a:pt x="871" y="784"/>
                  </a:lnTo>
                  <a:lnTo>
                    <a:pt x="871" y="240"/>
                  </a:lnTo>
                  <a:cubicBezTo>
                    <a:pt x="875" y="87"/>
                    <a:pt x="792" y="4"/>
                    <a:pt x="643" y="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53" name="Freeform 10">
              <a:extLst>
                <a:ext uri="{FF2B5EF4-FFF2-40B4-BE49-F238E27FC236}">
                  <a16:creationId xmlns:a16="http://schemas.microsoft.com/office/drawing/2014/main" id="{5B65AB5A-E732-2349-89E5-B07E524928B0}"/>
                </a:ext>
              </a:extLst>
            </p:cNvPr>
            <p:cNvSpPr>
              <a:spLocks noChangeArrowheads="1"/>
            </p:cNvSpPr>
            <p:nvPr/>
          </p:nvSpPr>
          <p:spPr bwMode="auto">
            <a:xfrm>
              <a:off x="3386138" y="4200525"/>
              <a:ext cx="212725" cy="288925"/>
            </a:xfrm>
            <a:custGeom>
              <a:avLst/>
              <a:gdLst>
                <a:gd name="T0" fmla="*/ 348 w 590"/>
                <a:gd name="T1" fmla="*/ 303 h 802"/>
                <a:gd name="T2" fmla="*/ 195 w 590"/>
                <a:gd name="T3" fmla="*/ 170 h 802"/>
                <a:gd name="T4" fmla="*/ 307 w 590"/>
                <a:gd name="T5" fmla="*/ 100 h 802"/>
                <a:gd name="T6" fmla="*/ 502 w 590"/>
                <a:gd name="T7" fmla="*/ 166 h 802"/>
                <a:gd name="T8" fmla="*/ 535 w 590"/>
                <a:gd name="T9" fmla="*/ 187 h 802"/>
                <a:gd name="T10" fmla="*/ 535 w 590"/>
                <a:gd name="T11" fmla="*/ 162 h 802"/>
                <a:gd name="T12" fmla="*/ 535 w 590"/>
                <a:gd name="T13" fmla="*/ 33 h 802"/>
                <a:gd name="T14" fmla="*/ 506 w 590"/>
                <a:gd name="T15" fmla="*/ 25 h 802"/>
                <a:gd name="T16" fmla="*/ 315 w 590"/>
                <a:gd name="T17" fmla="*/ 0 h 802"/>
                <a:gd name="T18" fmla="*/ 0 w 590"/>
                <a:gd name="T19" fmla="*/ 224 h 802"/>
                <a:gd name="T20" fmla="*/ 228 w 590"/>
                <a:gd name="T21" fmla="*/ 465 h 802"/>
                <a:gd name="T22" fmla="*/ 390 w 590"/>
                <a:gd name="T23" fmla="*/ 606 h 802"/>
                <a:gd name="T24" fmla="*/ 249 w 590"/>
                <a:gd name="T25" fmla="*/ 697 h 802"/>
                <a:gd name="T26" fmla="*/ 20 w 590"/>
                <a:gd name="T27" fmla="*/ 618 h 802"/>
                <a:gd name="T28" fmla="*/ 0 w 590"/>
                <a:gd name="T29" fmla="*/ 606 h 802"/>
                <a:gd name="T30" fmla="*/ 0 w 590"/>
                <a:gd name="T31" fmla="*/ 767 h 802"/>
                <a:gd name="T32" fmla="*/ 16 w 590"/>
                <a:gd name="T33" fmla="*/ 771 h 802"/>
                <a:gd name="T34" fmla="*/ 244 w 590"/>
                <a:gd name="T35" fmla="*/ 801 h 802"/>
                <a:gd name="T36" fmla="*/ 580 w 590"/>
                <a:gd name="T37" fmla="*/ 568 h 802"/>
                <a:gd name="T38" fmla="*/ 348 w 590"/>
                <a:gd name="T39" fmla="*/ 303 h 8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590" h="802">
                  <a:moveTo>
                    <a:pt x="348" y="303"/>
                  </a:moveTo>
                  <a:cubicBezTo>
                    <a:pt x="265" y="261"/>
                    <a:pt x="195" y="228"/>
                    <a:pt x="195" y="170"/>
                  </a:cubicBezTo>
                  <a:cubicBezTo>
                    <a:pt x="195" y="104"/>
                    <a:pt x="274" y="100"/>
                    <a:pt x="307" y="100"/>
                  </a:cubicBezTo>
                  <a:cubicBezTo>
                    <a:pt x="394" y="100"/>
                    <a:pt x="468" y="145"/>
                    <a:pt x="502" y="166"/>
                  </a:cubicBezTo>
                  <a:lnTo>
                    <a:pt x="535" y="187"/>
                  </a:lnTo>
                  <a:lnTo>
                    <a:pt x="535" y="162"/>
                  </a:lnTo>
                  <a:lnTo>
                    <a:pt x="535" y="33"/>
                  </a:lnTo>
                  <a:lnTo>
                    <a:pt x="506" y="25"/>
                  </a:lnTo>
                  <a:cubicBezTo>
                    <a:pt x="468" y="17"/>
                    <a:pt x="398" y="0"/>
                    <a:pt x="315" y="0"/>
                  </a:cubicBezTo>
                  <a:cubicBezTo>
                    <a:pt x="120" y="0"/>
                    <a:pt x="0" y="83"/>
                    <a:pt x="0" y="224"/>
                  </a:cubicBezTo>
                  <a:cubicBezTo>
                    <a:pt x="0" y="353"/>
                    <a:pt x="124" y="411"/>
                    <a:pt x="228" y="465"/>
                  </a:cubicBezTo>
                  <a:cubicBezTo>
                    <a:pt x="311" y="506"/>
                    <a:pt x="390" y="543"/>
                    <a:pt x="390" y="606"/>
                  </a:cubicBezTo>
                  <a:cubicBezTo>
                    <a:pt x="390" y="664"/>
                    <a:pt x="340" y="697"/>
                    <a:pt x="249" y="697"/>
                  </a:cubicBezTo>
                  <a:cubicBezTo>
                    <a:pt x="149" y="697"/>
                    <a:pt x="70" y="647"/>
                    <a:pt x="20" y="618"/>
                  </a:cubicBezTo>
                  <a:lnTo>
                    <a:pt x="0" y="606"/>
                  </a:lnTo>
                  <a:lnTo>
                    <a:pt x="0" y="767"/>
                  </a:lnTo>
                  <a:lnTo>
                    <a:pt x="16" y="771"/>
                  </a:lnTo>
                  <a:cubicBezTo>
                    <a:pt x="58" y="780"/>
                    <a:pt x="137" y="801"/>
                    <a:pt x="244" y="801"/>
                  </a:cubicBezTo>
                  <a:cubicBezTo>
                    <a:pt x="456" y="801"/>
                    <a:pt x="580" y="713"/>
                    <a:pt x="580" y="568"/>
                  </a:cubicBezTo>
                  <a:cubicBezTo>
                    <a:pt x="589" y="419"/>
                    <a:pt x="460" y="357"/>
                    <a:pt x="348" y="30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54" name="Freeform 11">
              <a:extLst>
                <a:ext uri="{FF2B5EF4-FFF2-40B4-BE49-F238E27FC236}">
                  <a16:creationId xmlns:a16="http://schemas.microsoft.com/office/drawing/2014/main" id="{18907CF9-1658-E045-9ADF-2C0EB3806774}"/>
                </a:ext>
              </a:extLst>
            </p:cNvPr>
            <p:cNvSpPr>
              <a:spLocks noChangeArrowheads="1"/>
            </p:cNvSpPr>
            <p:nvPr/>
          </p:nvSpPr>
          <p:spPr bwMode="auto">
            <a:xfrm>
              <a:off x="3635375" y="4198938"/>
              <a:ext cx="325438" cy="396875"/>
            </a:xfrm>
            <a:custGeom>
              <a:avLst/>
              <a:gdLst>
                <a:gd name="T0" fmla="*/ 577 w 906"/>
                <a:gd name="T1" fmla="*/ 4 h 1104"/>
                <a:gd name="T2" fmla="*/ 357 w 906"/>
                <a:gd name="T3" fmla="*/ 112 h 1104"/>
                <a:gd name="T4" fmla="*/ 357 w 906"/>
                <a:gd name="T5" fmla="*/ 0 h 1104"/>
                <a:gd name="T6" fmla="*/ 336 w 906"/>
                <a:gd name="T7" fmla="*/ 4 h 1104"/>
                <a:gd name="T8" fmla="*/ 0 w 906"/>
                <a:gd name="T9" fmla="*/ 58 h 1104"/>
                <a:gd name="T10" fmla="*/ 0 w 906"/>
                <a:gd name="T11" fmla="*/ 116 h 1104"/>
                <a:gd name="T12" fmla="*/ 13 w 906"/>
                <a:gd name="T13" fmla="*/ 116 h 1104"/>
                <a:gd name="T14" fmla="*/ 137 w 906"/>
                <a:gd name="T15" fmla="*/ 240 h 1104"/>
                <a:gd name="T16" fmla="*/ 137 w 906"/>
                <a:gd name="T17" fmla="*/ 1103 h 1104"/>
                <a:gd name="T18" fmla="*/ 345 w 906"/>
                <a:gd name="T19" fmla="*/ 1103 h 1104"/>
                <a:gd name="T20" fmla="*/ 345 w 906"/>
                <a:gd name="T21" fmla="*/ 709 h 1104"/>
                <a:gd name="T22" fmla="*/ 560 w 906"/>
                <a:gd name="T23" fmla="*/ 800 h 1104"/>
                <a:gd name="T24" fmla="*/ 896 w 906"/>
                <a:gd name="T25" fmla="*/ 390 h 1104"/>
                <a:gd name="T26" fmla="*/ 577 w 906"/>
                <a:gd name="T27" fmla="*/ 4 h 1104"/>
                <a:gd name="T28" fmla="*/ 515 w 906"/>
                <a:gd name="T29" fmla="*/ 120 h 1104"/>
                <a:gd name="T30" fmla="*/ 672 w 906"/>
                <a:gd name="T31" fmla="*/ 394 h 1104"/>
                <a:gd name="T32" fmla="*/ 515 w 906"/>
                <a:gd name="T33" fmla="*/ 688 h 1104"/>
                <a:gd name="T34" fmla="*/ 349 w 906"/>
                <a:gd name="T35" fmla="*/ 456 h 1104"/>
                <a:gd name="T36" fmla="*/ 349 w 906"/>
                <a:gd name="T37" fmla="*/ 390 h 1104"/>
                <a:gd name="T38" fmla="*/ 515 w 906"/>
                <a:gd name="T39" fmla="*/ 120 h 1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906" h="1104">
                  <a:moveTo>
                    <a:pt x="577" y="4"/>
                  </a:moveTo>
                  <a:cubicBezTo>
                    <a:pt x="498" y="4"/>
                    <a:pt x="424" y="41"/>
                    <a:pt x="357" y="112"/>
                  </a:cubicBezTo>
                  <a:cubicBezTo>
                    <a:pt x="357" y="75"/>
                    <a:pt x="357" y="0"/>
                    <a:pt x="357" y="0"/>
                  </a:cubicBezTo>
                  <a:lnTo>
                    <a:pt x="336" y="4"/>
                  </a:lnTo>
                  <a:lnTo>
                    <a:pt x="0" y="58"/>
                  </a:lnTo>
                  <a:lnTo>
                    <a:pt x="0" y="116"/>
                  </a:lnTo>
                  <a:lnTo>
                    <a:pt x="13" y="116"/>
                  </a:lnTo>
                  <a:cubicBezTo>
                    <a:pt x="117" y="120"/>
                    <a:pt x="137" y="141"/>
                    <a:pt x="137" y="240"/>
                  </a:cubicBezTo>
                  <a:lnTo>
                    <a:pt x="137" y="1103"/>
                  </a:lnTo>
                  <a:lnTo>
                    <a:pt x="345" y="1103"/>
                  </a:lnTo>
                  <a:cubicBezTo>
                    <a:pt x="345" y="1103"/>
                    <a:pt x="345" y="775"/>
                    <a:pt x="345" y="709"/>
                  </a:cubicBezTo>
                  <a:cubicBezTo>
                    <a:pt x="382" y="755"/>
                    <a:pt x="444" y="800"/>
                    <a:pt x="560" y="800"/>
                  </a:cubicBezTo>
                  <a:cubicBezTo>
                    <a:pt x="780" y="800"/>
                    <a:pt x="896" y="659"/>
                    <a:pt x="896" y="390"/>
                  </a:cubicBezTo>
                  <a:cubicBezTo>
                    <a:pt x="905" y="145"/>
                    <a:pt x="784" y="4"/>
                    <a:pt x="577" y="4"/>
                  </a:cubicBezTo>
                  <a:close/>
                  <a:moveTo>
                    <a:pt x="515" y="120"/>
                  </a:moveTo>
                  <a:cubicBezTo>
                    <a:pt x="656" y="120"/>
                    <a:pt x="672" y="274"/>
                    <a:pt x="672" y="394"/>
                  </a:cubicBezTo>
                  <a:cubicBezTo>
                    <a:pt x="672" y="593"/>
                    <a:pt x="623" y="688"/>
                    <a:pt x="515" y="688"/>
                  </a:cubicBezTo>
                  <a:cubicBezTo>
                    <a:pt x="378" y="688"/>
                    <a:pt x="349" y="560"/>
                    <a:pt x="349" y="456"/>
                  </a:cubicBezTo>
                  <a:lnTo>
                    <a:pt x="349" y="390"/>
                  </a:lnTo>
                  <a:cubicBezTo>
                    <a:pt x="353" y="307"/>
                    <a:pt x="370" y="120"/>
                    <a:pt x="515" y="120"/>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55" name="Freeform 12">
              <a:extLst>
                <a:ext uri="{FF2B5EF4-FFF2-40B4-BE49-F238E27FC236}">
                  <a16:creationId xmlns:a16="http://schemas.microsoft.com/office/drawing/2014/main" id="{6582D328-B23E-7E45-9263-09C953540134}"/>
                </a:ext>
              </a:extLst>
            </p:cNvPr>
            <p:cNvSpPr>
              <a:spLocks noChangeArrowheads="1"/>
            </p:cNvSpPr>
            <p:nvPr/>
          </p:nvSpPr>
          <p:spPr bwMode="auto">
            <a:xfrm>
              <a:off x="4013200" y="4198938"/>
              <a:ext cx="123825" cy="282575"/>
            </a:xfrm>
            <a:custGeom>
              <a:avLst/>
              <a:gdLst>
                <a:gd name="T0" fmla="*/ 0 w 345"/>
                <a:gd name="T1" fmla="*/ 58 h 785"/>
                <a:gd name="T2" fmla="*/ 0 w 345"/>
                <a:gd name="T3" fmla="*/ 116 h 785"/>
                <a:gd name="T4" fmla="*/ 12 w 345"/>
                <a:gd name="T5" fmla="*/ 116 h 785"/>
                <a:gd name="T6" fmla="*/ 137 w 345"/>
                <a:gd name="T7" fmla="*/ 240 h 785"/>
                <a:gd name="T8" fmla="*/ 137 w 345"/>
                <a:gd name="T9" fmla="*/ 784 h 785"/>
                <a:gd name="T10" fmla="*/ 344 w 345"/>
                <a:gd name="T11" fmla="*/ 784 h 785"/>
                <a:gd name="T12" fmla="*/ 344 w 345"/>
                <a:gd name="T13" fmla="*/ 0 h 785"/>
                <a:gd name="T14" fmla="*/ 328 w 345"/>
                <a:gd name="T15" fmla="*/ 4 h 785"/>
                <a:gd name="T16" fmla="*/ 0 w 345"/>
                <a:gd name="T17" fmla="*/ 58 h 7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45" h="785">
                  <a:moveTo>
                    <a:pt x="0" y="58"/>
                  </a:moveTo>
                  <a:lnTo>
                    <a:pt x="0" y="116"/>
                  </a:lnTo>
                  <a:lnTo>
                    <a:pt x="12" y="116"/>
                  </a:lnTo>
                  <a:cubicBezTo>
                    <a:pt x="116" y="120"/>
                    <a:pt x="137" y="141"/>
                    <a:pt x="137" y="240"/>
                  </a:cubicBezTo>
                  <a:lnTo>
                    <a:pt x="137" y="784"/>
                  </a:lnTo>
                  <a:lnTo>
                    <a:pt x="344" y="784"/>
                  </a:lnTo>
                  <a:lnTo>
                    <a:pt x="344" y="0"/>
                  </a:lnTo>
                  <a:lnTo>
                    <a:pt x="328" y="4"/>
                  </a:lnTo>
                  <a:lnTo>
                    <a:pt x="0" y="58"/>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59" name="Freeform 13">
              <a:extLst>
                <a:ext uri="{FF2B5EF4-FFF2-40B4-BE49-F238E27FC236}">
                  <a16:creationId xmlns:a16="http://schemas.microsoft.com/office/drawing/2014/main" id="{1C5D63DB-4DD9-2E40-B566-7E733EBF8861}"/>
                </a:ext>
              </a:extLst>
            </p:cNvPr>
            <p:cNvSpPr>
              <a:spLocks noChangeArrowheads="1"/>
            </p:cNvSpPr>
            <p:nvPr/>
          </p:nvSpPr>
          <p:spPr bwMode="auto">
            <a:xfrm>
              <a:off x="4056063" y="4084638"/>
              <a:ext cx="93662" cy="82550"/>
            </a:xfrm>
            <a:custGeom>
              <a:avLst/>
              <a:gdLst>
                <a:gd name="T0" fmla="*/ 129 w 262"/>
                <a:gd name="T1" fmla="*/ 228 h 229"/>
                <a:gd name="T2" fmla="*/ 261 w 262"/>
                <a:gd name="T3" fmla="*/ 112 h 229"/>
                <a:gd name="T4" fmla="*/ 133 w 262"/>
                <a:gd name="T5" fmla="*/ 0 h 229"/>
                <a:gd name="T6" fmla="*/ 4 w 262"/>
                <a:gd name="T7" fmla="*/ 112 h 229"/>
                <a:gd name="T8" fmla="*/ 129 w 262"/>
                <a:gd name="T9" fmla="*/ 228 h 229"/>
              </a:gdLst>
              <a:ahLst/>
              <a:cxnLst>
                <a:cxn ang="0">
                  <a:pos x="T0" y="T1"/>
                </a:cxn>
                <a:cxn ang="0">
                  <a:pos x="T2" y="T3"/>
                </a:cxn>
                <a:cxn ang="0">
                  <a:pos x="T4" y="T5"/>
                </a:cxn>
                <a:cxn ang="0">
                  <a:pos x="T6" y="T7"/>
                </a:cxn>
                <a:cxn ang="0">
                  <a:pos x="T8" y="T9"/>
                </a:cxn>
              </a:cxnLst>
              <a:rect l="0" t="0" r="r" b="b"/>
              <a:pathLst>
                <a:path w="262" h="229">
                  <a:moveTo>
                    <a:pt x="129" y="228"/>
                  </a:moveTo>
                  <a:cubicBezTo>
                    <a:pt x="199" y="228"/>
                    <a:pt x="261" y="178"/>
                    <a:pt x="261" y="112"/>
                  </a:cubicBezTo>
                  <a:cubicBezTo>
                    <a:pt x="261" y="49"/>
                    <a:pt x="203" y="0"/>
                    <a:pt x="133" y="0"/>
                  </a:cubicBezTo>
                  <a:cubicBezTo>
                    <a:pt x="62" y="0"/>
                    <a:pt x="4" y="49"/>
                    <a:pt x="4" y="112"/>
                  </a:cubicBezTo>
                  <a:cubicBezTo>
                    <a:pt x="0" y="178"/>
                    <a:pt x="58" y="228"/>
                    <a:pt x="129" y="228"/>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60" name="Freeform 14">
              <a:extLst>
                <a:ext uri="{FF2B5EF4-FFF2-40B4-BE49-F238E27FC236}">
                  <a16:creationId xmlns:a16="http://schemas.microsoft.com/office/drawing/2014/main" id="{6CC37E30-3AA8-3A4D-938A-A8B8E7A953F9}"/>
                </a:ext>
              </a:extLst>
            </p:cNvPr>
            <p:cNvSpPr>
              <a:spLocks noChangeArrowheads="1"/>
            </p:cNvSpPr>
            <p:nvPr/>
          </p:nvSpPr>
          <p:spPr bwMode="auto">
            <a:xfrm>
              <a:off x="4211638" y="4200525"/>
              <a:ext cx="244475" cy="280988"/>
            </a:xfrm>
            <a:custGeom>
              <a:avLst/>
              <a:gdLst>
                <a:gd name="T0" fmla="*/ 676 w 677"/>
                <a:gd name="T1" fmla="*/ 174 h 781"/>
                <a:gd name="T2" fmla="*/ 676 w 677"/>
                <a:gd name="T3" fmla="*/ 12 h 781"/>
                <a:gd name="T4" fmla="*/ 663 w 677"/>
                <a:gd name="T5" fmla="*/ 12 h 781"/>
                <a:gd name="T6" fmla="*/ 564 w 677"/>
                <a:gd name="T7" fmla="*/ 4 h 781"/>
                <a:gd name="T8" fmla="*/ 348 w 677"/>
                <a:gd name="T9" fmla="*/ 158 h 781"/>
                <a:gd name="T10" fmla="*/ 348 w 677"/>
                <a:gd name="T11" fmla="*/ 0 h 781"/>
                <a:gd name="T12" fmla="*/ 331 w 677"/>
                <a:gd name="T13" fmla="*/ 0 h 781"/>
                <a:gd name="T14" fmla="*/ 0 w 677"/>
                <a:gd name="T15" fmla="*/ 54 h 781"/>
                <a:gd name="T16" fmla="*/ 0 w 677"/>
                <a:gd name="T17" fmla="*/ 112 h 781"/>
                <a:gd name="T18" fmla="*/ 12 w 677"/>
                <a:gd name="T19" fmla="*/ 112 h 781"/>
                <a:gd name="T20" fmla="*/ 141 w 677"/>
                <a:gd name="T21" fmla="*/ 236 h 781"/>
                <a:gd name="T22" fmla="*/ 141 w 677"/>
                <a:gd name="T23" fmla="*/ 780 h 781"/>
                <a:gd name="T24" fmla="*/ 348 w 677"/>
                <a:gd name="T25" fmla="*/ 780 h 781"/>
                <a:gd name="T26" fmla="*/ 348 w 677"/>
                <a:gd name="T27" fmla="*/ 390 h 781"/>
                <a:gd name="T28" fmla="*/ 568 w 677"/>
                <a:gd name="T29" fmla="*/ 170 h 781"/>
                <a:gd name="T30" fmla="*/ 643 w 677"/>
                <a:gd name="T31" fmla="*/ 183 h 781"/>
                <a:gd name="T32" fmla="*/ 676 w 677"/>
                <a:gd name="T33" fmla="*/ 191 h 781"/>
                <a:gd name="T34" fmla="*/ 676 w 677"/>
                <a:gd name="T35" fmla="*/ 174 h 7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77" h="781">
                  <a:moveTo>
                    <a:pt x="676" y="174"/>
                  </a:moveTo>
                  <a:lnTo>
                    <a:pt x="676" y="12"/>
                  </a:lnTo>
                  <a:lnTo>
                    <a:pt x="663" y="12"/>
                  </a:lnTo>
                  <a:cubicBezTo>
                    <a:pt x="630" y="8"/>
                    <a:pt x="593" y="4"/>
                    <a:pt x="564" y="4"/>
                  </a:cubicBezTo>
                  <a:cubicBezTo>
                    <a:pt x="443" y="4"/>
                    <a:pt x="381" y="91"/>
                    <a:pt x="348" y="158"/>
                  </a:cubicBezTo>
                  <a:cubicBezTo>
                    <a:pt x="348" y="95"/>
                    <a:pt x="348" y="0"/>
                    <a:pt x="348" y="0"/>
                  </a:cubicBezTo>
                  <a:lnTo>
                    <a:pt x="331" y="0"/>
                  </a:lnTo>
                  <a:lnTo>
                    <a:pt x="0" y="54"/>
                  </a:lnTo>
                  <a:lnTo>
                    <a:pt x="0" y="112"/>
                  </a:lnTo>
                  <a:lnTo>
                    <a:pt x="12" y="112"/>
                  </a:lnTo>
                  <a:cubicBezTo>
                    <a:pt x="116" y="116"/>
                    <a:pt x="141" y="137"/>
                    <a:pt x="141" y="236"/>
                  </a:cubicBezTo>
                  <a:lnTo>
                    <a:pt x="141" y="780"/>
                  </a:lnTo>
                  <a:lnTo>
                    <a:pt x="348" y="780"/>
                  </a:lnTo>
                  <a:lnTo>
                    <a:pt x="348" y="390"/>
                  </a:lnTo>
                  <a:cubicBezTo>
                    <a:pt x="348" y="324"/>
                    <a:pt x="369" y="170"/>
                    <a:pt x="568" y="170"/>
                  </a:cubicBezTo>
                  <a:cubicBezTo>
                    <a:pt x="593" y="170"/>
                    <a:pt x="618" y="178"/>
                    <a:pt x="643" y="183"/>
                  </a:cubicBezTo>
                  <a:lnTo>
                    <a:pt x="676" y="191"/>
                  </a:lnTo>
                  <a:lnTo>
                    <a:pt x="676" y="174"/>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61" name="Freeform 15">
              <a:extLst>
                <a:ext uri="{FF2B5EF4-FFF2-40B4-BE49-F238E27FC236}">
                  <a16:creationId xmlns:a16="http://schemas.microsoft.com/office/drawing/2014/main" id="{15F29EA2-8A57-A243-BA94-EEAE6BD449BC}"/>
                </a:ext>
              </a:extLst>
            </p:cNvPr>
            <p:cNvSpPr>
              <a:spLocks noChangeArrowheads="1"/>
            </p:cNvSpPr>
            <p:nvPr/>
          </p:nvSpPr>
          <p:spPr bwMode="auto">
            <a:xfrm>
              <a:off x="4486275" y="4200525"/>
              <a:ext cx="266700" cy="287338"/>
            </a:xfrm>
            <a:custGeom>
              <a:avLst/>
              <a:gdLst>
                <a:gd name="T0" fmla="*/ 738 w 743"/>
                <a:gd name="T1" fmla="*/ 315 h 797"/>
                <a:gd name="T2" fmla="*/ 390 w 743"/>
                <a:gd name="T3" fmla="*/ 0 h 797"/>
                <a:gd name="T4" fmla="*/ 0 w 743"/>
                <a:gd name="T5" fmla="*/ 373 h 797"/>
                <a:gd name="T6" fmla="*/ 456 w 743"/>
                <a:gd name="T7" fmla="*/ 796 h 797"/>
                <a:gd name="T8" fmla="*/ 713 w 743"/>
                <a:gd name="T9" fmla="*/ 755 h 797"/>
                <a:gd name="T10" fmla="*/ 726 w 743"/>
                <a:gd name="T11" fmla="*/ 751 h 797"/>
                <a:gd name="T12" fmla="*/ 726 w 743"/>
                <a:gd name="T13" fmla="*/ 651 h 797"/>
                <a:gd name="T14" fmla="*/ 705 w 743"/>
                <a:gd name="T15" fmla="*/ 660 h 797"/>
                <a:gd name="T16" fmla="*/ 543 w 743"/>
                <a:gd name="T17" fmla="*/ 684 h 797"/>
                <a:gd name="T18" fmla="*/ 232 w 743"/>
                <a:gd name="T19" fmla="*/ 332 h 797"/>
                <a:gd name="T20" fmla="*/ 742 w 743"/>
                <a:gd name="T21" fmla="*/ 332 h 797"/>
                <a:gd name="T22" fmla="*/ 742 w 743"/>
                <a:gd name="T23" fmla="*/ 315 h 797"/>
                <a:gd name="T24" fmla="*/ 738 w 743"/>
                <a:gd name="T25" fmla="*/ 315 h 797"/>
                <a:gd name="T26" fmla="*/ 386 w 743"/>
                <a:gd name="T27" fmla="*/ 83 h 797"/>
                <a:gd name="T28" fmla="*/ 531 w 743"/>
                <a:gd name="T29" fmla="*/ 236 h 797"/>
                <a:gd name="T30" fmla="*/ 228 w 743"/>
                <a:gd name="T31" fmla="*/ 236 h 797"/>
                <a:gd name="T32" fmla="*/ 386 w 743"/>
                <a:gd name="T33" fmla="*/ 83 h 7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743" h="797">
                  <a:moveTo>
                    <a:pt x="738" y="315"/>
                  </a:moveTo>
                  <a:cubicBezTo>
                    <a:pt x="738" y="104"/>
                    <a:pt x="622" y="0"/>
                    <a:pt x="390" y="0"/>
                  </a:cubicBezTo>
                  <a:cubicBezTo>
                    <a:pt x="128" y="0"/>
                    <a:pt x="0" y="124"/>
                    <a:pt x="0" y="373"/>
                  </a:cubicBezTo>
                  <a:cubicBezTo>
                    <a:pt x="0" y="639"/>
                    <a:pt x="170" y="796"/>
                    <a:pt x="456" y="796"/>
                  </a:cubicBezTo>
                  <a:cubicBezTo>
                    <a:pt x="581" y="796"/>
                    <a:pt x="676" y="763"/>
                    <a:pt x="713" y="755"/>
                  </a:cubicBezTo>
                  <a:lnTo>
                    <a:pt x="726" y="751"/>
                  </a:lnTo>
                  <a:lnTo>
                    <a:pt x="726" y="651"/>
                  </a:lnTo>
                  <a:lnTo>
                    <a:pt x="705" y="660"/>
                  </a:lnTo>
                  <a:cubicBezTo>
                    <a:pt x="672" y="672"/>
                    <a:pt x="610" y="684"/>
                    <a:pt x="543" y="684"/>
                  </a:cubicBezTo>
                  <a:cubicBezTo>
                    <a:pt x="319" y="684"/>
                    <a:pt x="236" y="498"/>
                    <a:pt x="232" y="332"/>
                  </a:cubicBezTo>
                  <a:cubicBezTo>
                    <a:pt x="261" y="332"/>
                    <a:pt x="742" y="332"/>
                    <a:pt x="742" y="332"/>
                  </a:cubicBezTo>
                  <a:lnTo>
                    <a:pt x="742" y="315"/>
                  </a:lnTo>
                  <a:lnTo>
                    <a:pt x="738" y="315"/>
                  </a:lnTo>
                  <a:close/>
                  <a:moveTo>
                    <a:pt x="386" y="83"/>
                  </a:moveTo>
                  <a:cubicBezTo>
                    <a:pt x="498" y="83"/>
                    <a:pt x="527" y="166"/>
                    <a:pt x="531" y="236"/>
                  </a:cubicBezTo>
                  <a:cubicBezTo>
                    <a:pt x="506" y="236"/>
                    <a:pt x="257" y="236"/>
                    <a:pt x="228" y="236"/>
                  </a:cubicBezTo>
                  <a:cubicBezTo>
                    <a:pt x="232" y="183"/>
                    <a:pt x="269" y="83"/>
                    <a:pt x="386" y="83"/>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62" name="Freeform 16">
              <a:extLst>
                <a:ext uri="{FF2B5EF4-FFF2-40B4-BE49-F238E27FC236}">
                  <a16:creationId xmlns:a16="http://schemas.microsoft.com/office/drawing/2014/main" id="{8896A965-59FA-E943-96EE-601F7005C896}"/>
                </a:ext>
              </a:extLst>
            </p:cNvPr>
            <p:cNvSpPr>
              <a:spLocks noChangeArrowheads="1"/>
            </p:cNvSpPr>
            <p:nvPr/>
          </p:nvSpPr>
          <p:spPr bwMode="auto">
            <a:xfrm>
              <a:off x="5210175" y="4071938"/>
              <a:ext cx="314325" cy="409575"/>
            </a:xfrm>
            <a:custGeom>
              <a:avLst/>
              <a:gdLst>
                <a:gd name="T0" fmla="*/ 634 w 872"/>
                <a:gd name="T1" fmla="*/ 357 h 1138"/>
                <a:gd name="T2" fmla="*/ 348 w 872"/>
                <a:gd name="T3" fmla="*/ 523 h 1138"/>
                <a:gd name="T4" fmla="*/ 348 w 872"/>
                <a:gd name="T5" fmla="*/ 0 h 1138"/>
                <a:gd name="T6" fmla="*/ 332 w 872"/>
                <a:gd name="T7" fmla="*/ 4 h 1138"/>
                <a:gd name="T8" fmla="*/ 0 w 872"/>
                <a:gd name="T9" fmla="*/ 46 h 1138"/>
                <a:gd name="T10" fmla="*/ 0 w 872"/>
                <a:gd name="T11" fmla="*/ 104 h 1138"/>
                <a:gd name="T12" fmla="*/ 16 w 872"/>
                <a:gd name="T13" fmla="*/ 104 h 1138"/>
                <a:gd name="T14" fmla="*/ 141 w 872"/>
                <a:gd name="T15" fmla="*/ 233 h 1138"/>
                <a:gd name="T16" fmla="*/ 141 w 872"/>
                <a:gd name="T17" fmla="*/ 1137 h 1138"/>
                <a:gd name="T18" fmla="*/ 348 w 872"/>
                <a:gd name="T19" fmla="*/ 1137 h 1138"/>
                <a:gd name="T20" fmla="*/ 348 w 872"/>
                <a:gd name="T21" fmla="*/ 747 h 1138"/>
                <a:gd name="T22" fmla="*/ 547 w 872"/>
                <a:gd name="T23" fmla="*/ 494 h 1138"/>
                <a:gd name="T24" fmla="*/ 663 w 872"/>
                <a:gd name="T25" fmla="*/ 660 h 1138"/>
                <a:gd name="T26" fmla="*/ 663 w 872"/>
                <a:gd name="T27" fmla="*/ 1137 h 1138"/>
                <a:gd name="T28" fmla="*/ 871 w 872"/>
                <a:gd name="T29" fmla="*/ 1137 h 1138"/>
                <a:gd name="T30" fmla="*/ 871 w 872"/>
                <a:gd name="T31" fmla="*/ 635 h 1138"/>
                <a:gd name="T32" fmla="*/ 634 w 872"/>
                <a:gd name="T33" fmla="*/ 357 h 1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72" h="1138">
                  <a:moveTo>
                    <a:pt x="634" y="357"/>
                  </a:moveTo>
                  <a:cubicBezTo>
                    <a:pt x="481" y="357"/>
                    <a:pt x="394" y="452"/>
                    <a:pt x="348" y="523"/>
                  </a:cubicBezTo>
                  <a:cubicBezTo>
                    <a:pt x="348" y="440"/>
                    <a:pt x="348" y="0"/>
                    <a:pt x="348" y="0"/>
                  </a:cubicBezTo>
                  <a:lnTo>
                    <a:pt x="332" y="4"/>
                  </a:lnTo>
                  <a:lnTo>
                    <a:pt x="0" y="46"/>
                  </a:lnTo>
                  <a:lnTo>
                    <a:pt x="0" y="104"/>
                  </a:lnTo>
                  <a:lnTo>
                    <a:pt x="16" y="104"/>
                  </a:lnTo>
                  <a:cubicBezTo>
                    <a:pt x="120" y="108"/>
                    <a:pt x="141" y="133"/>
                    <a:pt x="141" y="233"/>
                  </a:cubicBezTo>
                  <a:lnTo>
                    <a:pt x="141" y="1137"/>
                  </a:lnTo>
                  <a:lnTo>
                    <a:pt x="348" y="1137"/>
                  </a:lnTo>
                  <a:lnTo>
                    <a:pt x="348" y="747"/>
                  </a:lnTo>
                  <a:cubicBezTo>
                    <a:pt x="348" y="606"/>
                    <a:pt x="456" y="494"/>
                    <a:pt x="547" y="494"/>
                  </a:cubicBezTo>
                  <a:cubicBezTo>
                    <a:pt x="663" y="494"/>
                    <a:pt x="663" y="581"/>
                    <a:pt x="663" y="660"/>
                  </a:cubicBezTo>
                  <a:lnTo>
                    <a:pt x="663" y="1137"/>
                  </a:lnTo>
                  <a:lnTo>
                    <a:pt x="871" y="1137"/>
                  </a:lnTo>
                  <a:lnTo>
                    <a:pt x="871" y="635"/>
                  </a:lnTo>
                  <a:cubicBezTo>
                    <a:pt x="871" y="552"/>
                    <a:pt x="871" y="357"/>
                    <a:pt x="634" y="357"/>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63" name="Freeform 17">
              <a:extLst>
                <a:ext uri="{FF2B5EF4-FFF2-40B4-BE49-F238E27FC236}">
                  <a16:creationId xmlns:a16="http://schemas.microsoft.com/office/drawing/2014/main" id="{00A05657-BBA5-E04D-A9B7-BB46AB4158F8}"/>
                </a:ext>
              </a:extLst>
            </p:cNvPr>
            <p:cNvSpPr>
              <a:spLocks noChangeArrowheads="1"/>
            </p:cNvSpPr>
            <p:nvPr/>
          </p:nvSpPr>
          <p:spPr bwMode="auto">
            <a:xfrm>
              <a:off x="5594350" y="4200525"/>
              <a:ext cx="266700" cy="287338"/>
            </a:xfrm>
            <a:custGeom>
              <a:avLst/>
              <a:gdLst>
                <a:gd name="T0" fmla="*/ 742 w 743"/>
                <a:gd name="T1" fmla="*/ 315 h 797"/>
                <a:gd name="T2" fmla="*/ 394 w 743"/>
                <a:gd name="T3" fmla="*/ 0 h 797"/>
                <a:gd name="T4" fmla="*/ 0 w 743"/>
                <a:gd name="T5" fmla="*/ 373 h 797"/>
                <a:gd name="T6" fmla="*/ 456 w 743"/>
                <a:gd name="T7" fmla="*/ 796 h 797"/>
                <a:gd name="T8" fmla="*/ 713 w 743"/>
                <a:gd name="T9" fmla="*/ 755 h 797"/>
                <a:gd name="T10" fmla="*/ 726 w 743"/>
                <a:gd name="T11" fmla="*/ 751 h 797"/>
                <a:gd name="T12" fmla="*/ 726 w 743"/>
                <a:gd name="T13" fmla="*/ 651 h 797"/>
                <a:gd name="T14" fmla="*/ 705 w 743"/>
                <a:gd name="T15" fmla="*/ 660 h 797"/>
                <a:gd name="T16" fmla="*/ 543 w 743"/>
                <a:gd name="T17" fmla="*/ 684 h 797"/>
                <a:gd name="T18" fmla="*/ 232 w 743"/>
                <a:gd name="T19" fmla="*/ 332 h 797"/>
                <a:gd name="T20" fmla="*/ 742 w 743"/>
                <a:gd name="T21" fmla="*/ 332 h 797"/>
                <a:gd name="T22" fmla="*/ 742 w 743"/>
                <a:gd name="T23" fmla="*/ 315 h 797"/>
                <a:gd name="T24" fmla="*/ 386 w 743"/>
                <a:gd name="T25" fmla="*/ 83 h 797"/>
                <a:gd name="T26" fmla="*/ 531 w 743"/>
                <a:gd name="T27" fmla="*/ 236 h 797"/>
                <a:gd name="T28" fmla="*/ 228 w 743"/>
                <a:gd name="T29" fmla="*/ 236 h 797"/>
                <a:gd name="T30" fmla="*/ 386 w 743"/>
                <a:gd name="T31" fmla="*/ 83 h 7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743" h="797">
                  <a:moveTo>
                    <a:pt x="742" y="315"/>
                  </a:moveTo>
                  <a:cubicBezTo>
                    <a:pt x="742" y="104"/>
                    <a:pt x="626" y="0"/>
                    <a:pt x="394" y="0"/>
                  </a:cubicBezTo>
                  <a:cubicBezTo>
                    <a:pt x="133" y="0"/>
                    <a:pt x="0" y="124"/>
                    <a:pt x="0" y="373"/>
                  </a:cubicBezTo>
                  <a:cubicBezTo>
                    <a:pt x="0" y="639"/>
                    <a:pt x="170" y="796"/>
                    <a:pt x="456" y="796"/>
                  </a:cubicBezTo>
                  <a:cubicBezTo>
                    <a:pt x="581" y="796"/>
                    <a:pt x="676" y="763"/>
                    <a:pt x="713" y="755"/>
                  </a:cubicBezTo>
                  <a:lnTo>
                    <a:pt x="726" y="751"/>
                  </a:lnTo>
                  <a:lnTo>
                    <a:pt x="726" y="651"/>
                  </a:lnTo>
                  <a:lnTo>
                    <a:pt x="705" y="660"/>
                  </a:lnTo>
                  <a:cubicBezTo>
                    <a:pt x="672" y="672"/>
                    <a:pt x="610" y="684"/>
                    <a:pt x="543" y="684"/>
                  </a:cubicBezTo>
                  <a:cubicBezTo>
                    <a:pt x="319" y="684"/>
                    <a:pt x="236" y="498"/>
                    <a:pt x="232" y="332"/>
                  </a:cubicBezTo>
                  <a:cubicBezTo>
                    <a:pt x="261" y="332"/>
                    <a:pt x="742" y="332"/>
                    <a:pt x="742" y="332"/>
                  </a:cubicBezTo>
                  <a:lnTo>
                    <a:pt x="742" y="315"/>
                  </a:lnTo>
                  <a:close/>
                  <a:moveTo>
                    <a:pt x="386" y="83"/>
                  </a:moveTo>
                  <a:cubicBezTo>
                    <a:pt x="498" y="83"/>
                    <a:pt x="527" y="166"/>
                    <a:pt x="531" y="236"/>
                  </a:cubicBezTo>
                  <a:cubicBezTo>
                    <a:pt x="506" y="236"/>
                    <a:pt x="257" y="236"/>
                    <a:pt x="228" y="236"/>
                  </a:cubicBezTo>
                  <a:cubicBezTo>
                    <a:pt x="236" y="183"/>
                    <a:pt x="270" y="83"/>
                    <a:pt x="386" y="83"/>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64" name="Freeform 18">
              <a:extLst>
                <a:ext uri="{FF2B5EF4-FFF2-40B4-BE49-F238E27FC236}">
                  <a16:creationId xmlns:a16="http://schemas.microsoft.com/office/drawing/2014/main" id="{75D59710-E8C6-394A-9E64-D4371DD86833}"/>
                </a:ext>
              </a:extLst>
            </p:cNvPr>
            <p:cNvSpPr>
              <a:spLocks noChangeArrowheads="1"/>
            </p:cNvSpPr>
            <p:nvPr/>
          </p:nvSpPr>
          <p:spPr bwMode="auto">
            <a:xfrm>
              <a:off x="4964113" y="4121150"/>
              <a:ext cx="212725" cy="366713"/>
            </a:xfrm>
            <a:custGeom>
              <a:avLst/>
              <a:gdLst>
                <a:gd name="T0" fmla="*/ 141 w 589"/>
                <a:gd name="T1" fmla="*/ 237 h 1017"/>
                <a:gd name="T2" fmla="*/ 0 w 589"/>
                <a:gd name="T3" fmla="*/ 237 h 1017"/>
                <a:gd name="T4" fmla="*/ 0 w 589"/>
                <a:gd name="T5" fmla="*/ 328 h 1017"/>
                <a:gd name="T6" fmla="*/ 141 w 589"/>
                <a:gd name="T7" fmla="*/ 328 h 1017"/>
                <a:gd name="T8" fmla="*/ 141 w 589"/>
                <a:gd name="T9" fmla="*/ 797 h 1017"/>
                <a:gd name="T10" fmla="*/ 427 w 589"/>
                <a:gd name="T11" fmla="*/ 1016 h 1017"/>
                <a:gd name="T12" fmla="*/ 551 w 589"/>
                <a:gd name="T13" fmla="*/ 1004 h 1017"/>
                <a:gd name="T14" fmla="*/ 564 w 589"/>
                <a:gd name="T15" fmla="*/ 1004 h 1017"/>
                <a:gd name="T16" fmla="*/ 564 w 589"/>
                <a:gd name="T17" fmla="*/ 909 h 1017"/>
                <a:gd name="T18" fmla="*/ 547 w 589"/>
                <a:gd name="T19" fmla="*/ 913 h 1017"/>
                <a:gd name="T20" fmla="*/ 485 w 589"/>
                <a:gd name="T21" fmla="*/ 917 h 1017"/>
                <a:gd name="T22" fmla="*/ 352 w 589"/>
                <a:gd name="T23" fmla="*/ 772 h 1017"/>
                <a:gd name="T24" fmla="*/ 352 w 589"/>
                <a:gd name="T25" fmla="*/ 328 h 1017"/>
                <a:gd name="T26" fmla="*/ 588 w 589"/>
                <a:gd name="T27" fmla="*/ 328 h 1017"/>
                <a:gd name="T28" fmla="*/ 588 w 589"/>
                <a:gd name="T29" fmla="*/ 237 h 1017"/>
                <a:gd name="T30" fmla="*/ 352 w 589"/>
                <a:gd name="T31" fmla="*/ 237 h 1017"/>
                <a:gd name="T32" fmla="*/ 352 w 589"/>
                <a:gd name="T33" fmla="*/ 0 h 1017"/>
                <a:gd name="T34" fmla="*/ 141 w 589"/>
                <a:gd name="T35" fmla="*/ 0 h 1017"/>
                <a:gd name="T36" fmla="*/ 141 w 589"/>
                <a:gd name="T37" fmla="*/ 237 h 10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89" h="1017">
                  <a:moveTo>
                    <a:pt x="141" y="237"/>
                  </a:moveTo>
                  <a:lnTo>
                    <a:pt x="0" y="237"/>
                  </a:lnTo>
                  <a:lnTo>
                    <a:pt x="0" y="328"/>
                  </a:lnTo>
                  <a:lnTo>
                    <a:pt x="141" y="328"/>
                  </a:lnTo>
                  <a:lnTo>
                    <a:pt x="141" y="797"/>
                  </a:lnTo>
                  <a:cubicBezTo>
                    <a:pt x="141" y="1000"/>
                    <a:pt x="270" y="1016"/>
                    <a:pt x="427" y="1016"/>
                  </a:cubicBezTo>
                  <a:cubicBezTo>
                    <a:pt x="464" y="1016"/>
                    <a:pt x="505" y="1012"/>
                    <a:pt x="551" y="1004"/>
                  </a:cubicBezTo>
                  <a:lnTo>
                    <a:pt x="564" y="1004"/>
                  </a:lnTo>
                  <a:lnTo>
                    <a:pt x="564" y="909"/>
                  </a:lnTo>
                  <a:lnTo>
                    <a:pt x="547" y="913"/>
                  </a:lnTo>
                  <a:cubicBezTo>
                    <a:pt x="530" y="917"/>
                    <a:pt x="510" y="917"/>
                    <a:pt x="485" y="917"/>
                  </a:cubicBezTo>
                  <a:cubicBezTo>
                    <a:pt x="360" y="917"/>
                    <a:pt x="352" y="880"/>
                    <a:pt x="352" y="772"/>
                  </a:cubicBezTo>
                  <a:lnTo>
                    <a:pt x="352" y="328"/>
                  </a:lnTo>
                  <a:lnTo>
                    <a:pt x="588" y="328"/>
                  </a:lnTo>
                  <a:lnTo>
                    <a:pt x="588" y="237"/>
                  </a:lnTo>
                  <a:lnTo>
                    <a:pt x="352" y="237"/>
                  </a:lnTo>
                  <a:lnTo>
                    <a:pt x="352" y="0"/>
                  </a:lnTo>
                  <a:lnTo>
                    <a:pt x="141" y="0"/>
                  </a:lnTo>
                  <a:lnTo>
                    <a:pt x="141" y="237"/>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65" name="Freeform 19">
              <a:extLst>
                <a:ext uri="{FF2B5EF4-FFF2-40B4-BE49-F238E27FC236}">
                  <a16:creationId xmlns:a16="http://schemas.microsoft.com/office/drawing/2014/main" id="{E31E38F3-CCD4-0D4A-B5AE-0E15DBF0F818}"/>
                </a:ext>
              </a:extLst>
            </p:cNvPr>
            <p:cNvSpPr>
              <a:spLocks noChangeArrowheads="1"/>
            </p:cNvSpPr>
            <p:nvPr/>
          </p:nvSpPr>
          <p:spPr bwMode="auto">
            <a:xfrm>
              <a:off x="6049963" y="4087813"/>
              <a:ext cx="450850" cy="395287"/>
            </a:xfrm>
            <a:custGeom>
              <a:avLst/>
              <a:gdLst>
                <a:gd name="T0" fmla="*/ 1245 w 1254"/>
                <a:gd name="T1" fmla="*/ 0 h 1096"/>
                <a:gd name="T2" fmla="*/ 1033 w 1254"/>
                <a:gd name="T3" fmla="*/ 0 h 1096"/>
                <a:gd name="T4" fmla="*/ 1033 w 1254"/>
                <a:gd name="T5" fmla="*/ 829 h 1096"/>
                <a:gd name="T6" fmla="*/ 485 w 1254"/>
                <a:gd name="T7" fmla="*/ 0 h 1096"/>
                <a:gd name="T8" fmla="*/ 0 w 1254"/>
                <a:gd name="T9" fmla="*/ 0 h 1096"/>
                <a:gd name="T10" fmla="*/ 0 w 1254"/>
                <a:gd name="T11" fmla="*/ 62 h 1096"/>
                <a:gd name="T12" fmla="*/ 42 w 1254"/>
                <a:gd name="T13" fmla="*/ 70 h 1096"/>
                <a:gd name="T14" fmla="*/ 178 w 1254"/>
                <a:gd name="T15" fmla="*/ 220 h 1096"/>
                <a:gd name="T16" fmla="*/ 178 w 1254"/>
                <a:gd name="T17" fmla="*/ 1095 h 1096"/>
                <a:gd name="T18" fmla="*/ 403 w 1254"/>
                <a:gd name="T19" fmla="*/ 1095 h 1096"/>
                <a:gd name="T20" fmla="*/ 403 w 1254"/>
                <a:gd name="T21" fmla="*/ 228 h 1096"/>
                <a:gd name="T22" fmla="*/ 975 w 1254"/>
                <a:gd name="T23" fmla="*/ 1095 h 1096"/>
                <a:gd name="T24" fmla="*/ 1253 w 1254"/>
                <a:gd name="T25" fmla="*/ 1095 h 1096"/>
                <a:gd name="T26" fmla="*/ 1253 w 1254"/>
                <a:gd name="T27" fmla="*/ 0 h 1096"/>
                <a:gd name="T28" fmla="*/ 1245 w 1254"/>
                <a:gd name="T29" fmla="*/ 0 h 10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54" h="1096">
                  <a:moveTo>
                    <a:pt x="1245" y="0"/>
                  </a:moveTo>
                  <a:lnTo>
                    <a:pt x="1033" y="0"/>
                  </a:lnTo>
                  <a:cubicBezTo>
                    <a:pt x="1033" y="0"/>
                    <a:pt x="1033" y="751"/>
                    <a:pt x="1033" y="829"/>
                  </a:cubicBezTo>
                  <a:cubicBezTo>
                    <a:pt x="992" y="763"/>
                    <a:pt x="485" y="0"/>
                    <a:pt x="485" y="0"/>
                  </a:cubicBezTo>
                  <a:lnTo>
                    <a:pt x="0" y="0"/>
                  </a:lnTo>
                  <a:lnTo>
                    <a:pt x="0" y="62"/>
                  </a:lnTo>
                  <a:lnTo>
                    <a:pt x="42" y="70"/>
                  </a:lnTo>
                  <a:cubicBezTo>
                    <a:pt x="170" y="91"/>
                    <a:pt x="178" y="95"/>
                    <a:pt x="178" y="220"/>
                  </a:cubicBezTo>
                  <a:lnTo>
                    <a:pt x="178" y="1095"/>
                  </a:lnTo>
                  <a:lnTo>
                    <a:pt x="403" y="1095"/>
                  </a:lnTo>
                  <a:cubicBezTo>
                    <a:pt x="403" y="1095"/>
                    <a:pt x="403" y="307"/>
                    <a:pt x="403" y="228"/>
                  </a:cubicBezTo>
                  <a:cubicBezTo>
                    <a:pt x="448" y="294"/>
                    <a:pt x="975" y="1095"/>
                    <a:pt x="975" y="1095"/>
                  </a:cubicBezTo>
                  <a:lnTo>
                    <a:pt x="1253" y="1095"/>
                  </a:lnTo>
                  <a:lnTo>
                    <a:pt x="1253" y="0"/>
                  </a:lnTo>
                  <a:lnTo>
                    <a:pt x="1245"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66" name="Freeform 20">
              <a:extLst>
                <a:ext uri="{FF2B5EF4-FFF2-40B4-BE49-F238E27FC236}">
                  <a16:creationId xmlns:a16="http://schemas.microsoft.com/office/drawing/2014/main" id="{EA81CA55-89FF-C642-90AD-A67CE9108AC3}"/>
                </a:ext>
              </a:extLst>
            </p:cNvPr>
            <p:cNvSpPr>
              <a:spLocks noChangeArrowheads="1"/>
            </p:cNvSpPr>
            <p:nvPr/>
          </p:nvSpPr>
          <p:spPr bwMode="auto">
            <a:xfrm>
              <a:off x="6573838" y="4200525"/>
              <a:ext cx="266700" cy="287338"/>
            </a:xfrm>
            <a:custGeom>
              <a:avLst/>
              <a:gdLst>
                <a:gd name="T0" fmla="*/ 390 w 740"/>
                <a:gd name="T1" fmla="*/ 0 h 797"/>
                <a:gd name="T2" fmla="*/ 0 w 740"/>
                <a:gd name="T3" fmla="*/ 373 h 797"/>
                <a:gd name="T4" fmla="*/ 456 w 740"/>
                <a:gd name="T5" fmla="*/ 796 h 797"/>
                <a:gd name="T6" fmla="*/ 714 w 740"/>
                <a:gd name="T7" fmla="*/ 755 h 797"/>
                <a:gd name="T8" fmla="*/ 726 w 740"/>
                <a:gd name="T9" fmla="*/ 751 h 797"/>
                <a:gd name="T10" fmla="*/ 726 w 740"/>
                <a:gd name="T11" fmla="*/ 651 h 797"/>
                <a:gd name="T12" fmla="*/ 705 w 740"/>
                <a:gd name="T13" fmla="*/ 660 h 797"/>
                <a:gd name="T14" fmla="*/ 539 w 740"/>
                <a:gd name="T15" fmla="*/ 684 h 797"/>
                <a:gd name="T16" fmla="*/ 228 w 740"/>
                <a:gd name="T17" fmla="*/ 332 h 797"/>
                <a:gd name="T18" fmla="*/ 739 w 740"/>
                <a:gd name="T19" fmla="*/ 332 h 797"/>
                <a:gd name="T20" fmla="*/ 739 w 740"/>
                <a:gd name="T21" fmla="*/ 315 h 797"/>
                <a:gd name="T22" fmla="*/ 390 w 740"/>
                <a:gd name="T23" fmla="*/ 0 h 797"/>
                <a:gd name="T24" fmla="*/ 386 w 740"/>
                <a:gd name="T25" fmla="*/ 83 h 797"/>
                <a:gd name="T26" fmla="*/ 531 w 740"/>
                <a:gd name="T27" fmla="*/ 236 h 797"/>
                <a:gd name="T28" fmla="*/ 228 w 740"/>
                <a:gd name="T29" fmla="*/ 236 h 797"/>
                <a:gd name="T30" fmla="*/ 386 w 740"/>
                <a:gd name="T31" fmla="*/ 83 h 7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740" h="797">
                  <a:moveTo>
                    <a:pt x="390" y="0"/>
                  </a:moveTo>
                  <a:cubicBezTo>
                    <a:pt x="129" y="0"/>
                    <a:pt x="0" y="124"/>
                    <a:pt x="0" y="373"/>
                  </a:cubicBezTo>
                  <a:cubicBezTo>
                    <a:pt x="0" y="639"/>
                    <a:pt x="170" y="796"/>
                    <a:pt x="456" y="796"/>
                  </a:cubicBezTo>
                  <a:cubicBezTo>
                    <a:pt x="581" y="796"/>
                    <a:pt x="676" y="767"/>
                    <a:pt x="714" y="755"/>
                  </a:cubicBezTo>
                  <a:lnTo>
                    <a:pt x="726" y="751"/>
                  </a:lnTo>
                  <a:lnTo>
                    <a:pt x="726" y="651"/>
                  </a:lnTo>
                  <a:lnTo>
                    <a:pt x="705" y="660"/>
                  </a:lnTo>
                  <a:cubicBezTo>
                    <a:pt x="672" y="672"/>
                    <a:pt x="610" y="684"/>
                    <a:pt x="539" y="684"/>
                  </a:cubicBezTo>
                  <a:cubicBezTo>
                    <a:pt x="315" y="684"/>
                    <a:pt x="232" y="498"/>
                    <a:pt x="228" y="332"/>
                  </a:cubicBezTo>
                  <a:lnTo>
                    <a:pt x="739" y="332"/>
                  </a:lnTo>
                  <a:lnTo>
                    <a:pt x="739" y="315"/>
                  </a:lnTo>
                  <a:cubicBezTo>
                    <a:pt x="739" y="104"/>
                    <a:pt x="622" y="0"/>
                    <a:pt x="390" y="0"/>
                  </a:cubicBezTo>
                  <a:close/>
                  <a:moveTo>
                    <a:pt x="386" y="83"/>
                  </a:moveTo>
                  <a:cubicBezTo>
                    <a:pt x="498" y="83"/>
                    <a:pt x="527" y="162"/>
                    <a:pt x="531" y="236"/>
                  </a:cubicBezTo>
                  <a:lnTo>
                    <a:pt x="228" y="236"/>
                  </a:lnTo>
                  <a:cubicBezTo>
                    <a:pt x="232" y="187"/>
                    <a:pt x="270" y="83"/>
                    <a:pt x="386" y="83"/>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67" name="Freeform 21">
              <a:extLst>
                <a:ext uri="{FF2B5EF4-FFF2-40B4-BE49-F238E27FC236}">
                  <a16:creationId xmlns:a16="http://schemas.microsoft.com/office/drawing/2014/main" id="{B993E30F-1BC1-EE44-BD31-C649CB700CD8}"/>
                </a:ext>
              </a:extLst>
            </p:cNvPr>
            <p:cNvSpPr>
              <a:spLocks noChangeArrowheads="1"/>
            </p:cNvSpPr>
            <p:nvPr/>
          </p:nvSpPr>
          <p:spPr bwMode="auto">
            <a:xfrm>
              <a:off x="7204075" y="4121150"/>
              <a:ext cx="212725" cy="366713"/>
            </a:xfrm>
            <a:custGeom>
              <a:avLst/>
              <a:gdLst>
                <a:gd name="T0" fmla="*/ 141 w 590"/>
                <a:gd name="T1" fmla="*/ 237 h 1017"/>
                <a:gd name="T2" fmla="*/ 0 w 590"/>
                <a:gd name="T3" fmla="*/ 237 h 1017"/>
                <a:gd name="T4" fmla="*/ 0 w 590"/>
                <a:gd name="T5" fmla="*/ 328 h 1017"/>
                <a:gd name="T6" fmla="*/ 141 w 590"/>
                <a:gd name="T7" fmla="*/ 328 h 1017"/>
                <a:gd name="T8" fmla="*/ 141 w 590"/>
                <a:gd name="T9" fmla="*/ 797 h 1017"/>
                <a:gd name="T10" fmla="*/ 427 w 590"/>
                <a:gd name="T11" fmla="*/ 1016 h 1017"/>
                <a:gd name="T12" fmla="*/ 551 w 590"/>
                <a:gd name="T13" fmla="*/ 1004 h 1017"/>
                <a:gd name="T14" fmla="*/ 564 w 590"/>
                <a:gd name="T15" fmla="*/ 1004 h 1017"/>
                <a:gd name="T16" fmla="*/ 564 w 590"/>
                <a:gd name="T17" fmla="*/ 909 h 1017"/>
                <a:gd name="T18" fmla="*/ 547 w 590"/>
                <a:gd name="T19" fmla="*/ 913 h 1017"/>
                <a:gd name="T20" fmla="*/ 485 w 590"/>
                <a:gd name="T21" fmla="*/ 917 h 1017"/>
                <a:gd name="T22" fmla="*/ 352 w 590"/>
                <a:gd name="T23" fmla="*/ 772 h 1017"/>
                <a:gd name="T24" fmla="*/ 352 w 590"/>
                <a:gd name="T25" fmla="*/ 328 h 1017"/>
                <a:gd name="T26" fmla="*/ 589 w 590"/>
                <a:gd name="T27" fmla="*/ 328 h 1017"/>
                <a:gd name="T28" fmla="*/ 589 w 590"/>
                <a:gd name="T29" fmla="*/ 237 h 1017"/>
                <a:gd name="T30" fmla="*/ 352 w 590"/>
                <a:gd name="T31" fmla="*/ 237 h 1017"/>
                <a:gd name="T32" fmla="*/ 352 w 590"/>
                <a:gd name="T33" fmla="*/ 0 h 1017"/>
                <a:gd name="T34" fmla="*/ 141 w 590"/>
                <a:gd name="T35" fmla="*/ 0 h 1017"/>
                <a:gd name="T36" fmla="*/ 141 w 590"/>
                <a:gd name="T37" fmla="*/ 237 h 10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90" h="1017">
                  <a:moveTo>
                    <a:pt x="141" y="237"/>
                  </a:moveTo>
                  <a:lnTo>
                    <a:pt x="0" y="237"/>
                  </a:lnTo>
                  <a:lnTo>
                    <a:pt x="0" y="328"/>
                  </a:lnTo>
                  <a:lnTo>
                    <a:pt x="141" y="328"/>
                  </a:lnTo>
                  <a:lnTo>
                    <a:pt x="141" y="797"/>
                  </a:lnTo>
                  <a:cubicBezTo>
                    <a:pt x="141" y="1000"/>
                    <a:pt x="269" y="1016"/>
                    <a:pt x="427" y="1016"/>
                  </a:cubicBezTo>
                  <a:cubicBezTo>
                    <a:pt x="464" y="1016"/>
                    <a:pt x="506" y="1012"/>
                    <a:pt x="551" y="1004"/>
                  </a:cubicBezTo>
                  <a:lnTo>
                    <a:pt x="564" y="1004"/>
                  </a:lnTo>
                  <a:lnTo>
                    <a:pt x="564" y="909"/>
                  </a:lnTo>
                  <a:lnTo>
                    <a:pt x="547" y="913"/>
                  </a:lnTo>
                  <a:cubicBezTo>
                    <a:pt x="531" y="917"/>
                    <a:pt x="510" y="917"/>
                    <a:pt x="485" y="917"/>
                  </a:cubicBezTo>
                  <a:cubicBezTo>
                    <a:pt x="361" y="917"/>
                    <a:pt x="352" y="880"/>
                    <a:pt x="352" y="772"/>
                  </a:cubicBezTo>
                  <a:lnTo>
                    <a:pt x="352" y="328"/>
                  </a:lnTo>
                  <a:lnTo>
                    <a:pt x="589" y="328"/>
                  </a:lnTo>
                  <a:lnTo>
                    <a:pt x="589" y="237"/>
                  </a:lnTo>
                  <a:lnTo>
                    <a:pt x="352" y="237"/>
                  </a:lnTo>
                  <a:lnTo>
                    <a:pt x="352" y="0"/>
                  </a:lnTo>
                  <a:lnTo>
                    <a:pt x="141" y="0"/>
                  </a:lnTo>
                  <a:lnTo>
                    <a:pt x="141" y="237"/>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91" name="Freeform 22">
              <a:extLst>
                <a:ext uri="{FF2B5EF4-FFF2-40B4-BE49-F238E27FC236}">
                  <a16:creationId xmlns:a16="http://schemas.microsoft.com/office/drawing/2014/main" id="{5220F4C6-9400-5942-B0AF-9C8740ABF281}"/>
                </a:ext>
              </a:extLst>
            </p:cNvPr>
            <p:cNvSpPr>
              <a:spLocks noChangeArrowheads="1"/>
            </p:cNvSpPr>
            <p:nvPr/>
          </p:nvSpPr>
          <p:spPr bwMode="auto">
            <a:xfrm>
              <a:off x="6850063" y="4206875"/>
              <a:ext cx="331787" cy="274638"/>
            </a:xfrm>
            <a:custGeom>
              <a:avLst/>
              <a:gdLst>
                <a:gd name="T0" fmla="*/ 705 w 921"/>
                <a:gd name="T1" fmla="*/ 248 h 764"/>
                <a:gd name="T2" fmla="*/ 920 w 921"/>
                <a:gd name="T3" fmla="*/ 0 h 764"/>
                <a:gd name="T4" fmla="*/ 701 w 921"/>
                <a:gd name="T5" fmla="*/ 0 h 764"/>
                <a:gd name="T6" fmla="*/ 497 w 921"/>
                <a:gd name="T7" fmla="*/ 236 h 764"/>
                <a:gd name="T8" fmla="*/ 319 w 921"/>
                <a:gd name="T9" fmla="*/ 0 h 764"/>
                <a:gd name="T10" fmla="*/ 0 w 921"/>
                <a:gd name="T11" fmla="*/ 0 h 764"/>
                <a:gd name="T12" fmla="*/ 0 w 921"/>
                <a:gd name="T13" fmla="*/ 62 h 764"/>
                <a:gd name="T14" fmla="*/ 12 w 921"/>
                <a:gd name="T15" fmla="*/ 62 h 764"/>
                <a:gd name="T16" fmla="*/ 211 w 921"/>
                <a:gd name="T17" fmla="*/ 178 h 764"/>
                <a:gd name="T18" fmla="*/ 344 w 921"/>
                <a:gd name="T19" fmla="*/ 352 h 764"/>
                <a:gd name="T20" fmla="*/ 128 w 921"/>
                <a:gd name="T21" fmla="*/ 601 h 764"/>
                <a:gd name="T22" fmla="*/ 348 w 921"/>
                <a:gd name="T23" fmla="*/ 601 h 764"/>
                <a:gd name="T24" fmla="*/ 443 w 921"/>
                <a:gd name="T25" fmla="*/ 489 h 764"/>
                <a:gd name="T26" fmla="*/ 651 w 921"/>
                <a:gd name="T27" fmla="*/ 763 h 764"/>
                <a:gd name="T28" fmla="*/ 900 w 921"/>
                <a:gd name="T29" fmla="*/ 763 h 764"/>
                <a:gd name="T30" fmla="*/ 506 w 921"/>
                <a:gd name="T31" fmla="*/ 248 h 764"/>
                <a:gd name="T32" fmla="*/ 705 w 921"/>
                <a:gd name="T33" fmla="*/ 248 h 7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21" h="764">
                  <a:moveTo>
                    <a:pt x="705" y="248"/>
                  </a:moveTo>
                  <a:lnTo>
                    <a:pt x="920" y="0"/>
                  </a:lnTo>
                  <a:lnTo>
                    <a:pt x="701" y="0"/>
                  </a:lnTo>
                  <a:lnTo>
                    <a:pt x="497" y="236"/>
                  </a:lnTo>
                  <a:lnTo>
                    <a:pt x="319" y="0"/>
                  </a:lnTo>
                  <a:lnTo>
                    <a:pt x="0" y="0"/>
                  </a:lnTo>
                  <a:lnTo>
                    <a:pt x="0" y="62"/>
                  </a:lnTo>
                  <a:lnTo>
                    <a:pt x="12" y="62"/>
                  </a:lnTo>
                  <a:cubicBezTo>
                    <a:pt x="120" y="70"/>
                    <a:pt x="145" y="87"/>
                    <a:pt x="211" y="178"/>
                  </a:cubicBezTo>
                  <a:lnTo>
                    <a:pt x="344" y="352"/>
                  </a:lnTo>
                  <a:lnTo>
                    <a:pt x="128" y="601"/>
                  </a:lnTo>
                  <a:lnTo>
                    <a:pt x="348" y="601"/>
                  </a:lnTo>
                  <a:lnTo>
                    <a:pt x="443" y="489"/>
                  </a:lnTo>
                  <a:lnTo>
                    <a:pt x="651" y="763"/>
                  </a:lnTo>
                  <a:lnTo>
                    <a:pt x="900" y="763"/>
                  </a:lnTo>
                  <a:lnTo>
                    <a:pt x="506" y="248"/>
                  </a:lnTo>
                  <a:lnTo>
                    <a:pt x="705" y="248"/>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92" name="Freeform 23">
              <a:extLst>
                <a:ext uri="{FF2B5EF4-FFF2-40B4-BE49-F238E27FC236}">
                  <a16:creationId xmlns:a16="http://schemas.microsoft.com/office/drawing/2014/main" id="{0D77D15C-59D2-2D40-8EFB-AE8D4D645201}"/>
                </a:ext>
              </a:extLst>
            </p:cNvPr>
            <p:cNvSpPr>
              <a:spLocks noChangeArrowheads="1"/>
            </p:cNvSpPr>
            <p:nvPr/>
          </p:nvSpPr>
          <p:spPr bwMode="auto">
            <a:xfrm>
              <a:off x="7175500" y="4010025"/>
              <a:ext cx="176213" cy="111125"/>
            </a:xfrm>
            <a:custGeom>
              <a:avLst/>
              <a:gdLst>
                <a:gd name="T0" fmla="*/ 224 w 490"/>
                <a:gd name="T1" fmla="*/ 307 h 308"/>
                <a:gd name="T2" fmla="*/ 0 w 490"/>
                <a:gd name="T3" fmla="*/ 307 h 308"/>
                <a:gd name="T4" fmla="*/ 269 w 490"/>
                <a:gd name="T5" fmla="*/ 0 h 308"/>
                <a:gd name="T6" fmla="*/ 489 w 490"/>
                <a:gd name="T7" fmla="*/ 0 h 308"/>
                <a:gd name="T8" fmla="*/ 224 w 490"/>
                <a:gd name="T9" fmla="*/ 307 h 308"/>
              </a:gdLst>
              <a:ahLst/>
              <a:cxnLst>
                <a:cxn ang="0">
                  <a:pos x="T0" y="T1"/>
                </a:cxn>
                <a:cxn ang="0">
                  <a:pos x="T2" y="T3"/>
                </a:cxn>
                <a:cxn ang="0">
                  <a:pos x="T4" y="T5"/>
                </a:cxn>
                <a:cxn ang="0">
                  <a:pos x="T6" y="T7"/>
                </a:cxn>
                <a:cxn ang="0">
                  <a:pos x="T8" y="T9"/>
                </a:cxn>
              </a:cxnLst>
              <a:rect l="0" t="0" r="r" b="b"/>
              <a:pathLst>
                <a:path w="490" h="308">
                  <a:moveTo>
                    <a:pt x="224" y="307"/>
                  </a:moveTo>
                  <a:lnTo>
                    <a:pt x="0" y="307"/>
                  </a:lnTo>
                  <a:lnTo>
                    <a:pt x="269" y="0"/>
                  </a:lnTo>
                  <a:lnTo>
                    <a:pt x="489" y="0"/>
                  </a:lnTo>
                  <a:lnTo>
                    <a:pt x="224" y="307"/>
                  </a:lnTo>
                </a:path>
              </a:pathLst>
            </a:custGeom>
            <a:solidFill>
              <a:schemeClr val="accent2"/>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grpSp>
      <p:sp>
        <p:nvSpPr>
          <p:cNvPr id="35" name="TextBox 34"/>
          <p:cNvSpPr txBox="1"/>
          <p:nvPr/>
        </p:nvSpPr>
        <p:spPr>
          <a:xfrm>
            <a:off x="6641794" y="4911221"/>
            <a:ext cx="2462534" cy="215444"/>
          </a:xfrm>
          <a:prstGeom prst="rect">
            <a:avLst/>
          </a:prstGeom>
          <a:noFill/>
        </p:spPr>
        <p:txBody>
          <a:bodyPr wrap="none" rtlCol="0">
            <a:sp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800" kern="1200" dirty="0">
                <a:solidFill>
                  <a:schemeClr val="bg1">
                    <a:alpha val="50000"/>
                  </a:schemeClr>
                </a:solidFill>
                <a:latin typeface="+mn-lt"/>
                <a:ea typeface="+mn-ea"/>
                <a:cs typeface="+mn-cs"/>
              </a:rPr>
              <a:t>© Hitachi Vantara LLC 2020. All Rights Reserved.</a:t>
            </a:r>
          </a:p>
        </p:txBody>
      </p:sp>
      <p:sp>
        <p:nvSpPr>
          <p:cNvPr id="99" name="TextBox 98">
            <a:extLst>
              <a:ext uri="{FF2B5EF4-FFF2-40B4-BE49-F238E27FC236}">
                <a16:creationId xmlns:a16="http://schemas.microsoft.com/office/drawing/2014/main" id="{AFE8C8C8-8C8F-0D45-B230-946FEDADA26C}"/>
              </a:ext>
            </a:extLst>
          </p:cNvPr>
          <p:cNvSpPr txBox="1"/>
          <p:nvPr userDrawn="1"/>
        </p:nvSpPr>
        <p:spPr>
          <a:xfrm>
            <a:off x="6641794" y="4911221"/>
            <a:ext cx="2462534" cy="215444"/>
          </a:xfrm>
          <a:prstGeom prst="rect">
            <a:avLst/>
          </a:prstGeom>
          <a:noFill/>
        </p:spPr>
        <p:txBody>
          <a:bodyPr wrap="none" rtlCol="0">
            <a:sp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800" kern="1200" dirty="0">
                <a:solidFill>
                  <a:schemeClr val="bg1">
                    <a:alpha val="50000"/>
                  </a:schemeClr>
                </a:solidFill>
                <a:latin typeface="+mn-lt"/>
                <a:ea typeface="+mn-ea"/>
                <a:cs typeface="+mn-cs"/>
              </a:rPr>
              <a:t>© Hitachi Vantara LLC 2020. All Rights Reserved.</a:t>
            </a:r>
          </a:p>
        </p:txBody>
      </p:sp>
      <p:sp>
        <p:nvSpPr>
          <p:cNvPr id="41" name="Rectangle 40">
            <a:extLst>
              <a:ext uri="{FF2B5EF4-FFF2-40B4-BE49-F238E27FC236}">
                <a16:creationId xmlns:a16="http://schemas.microsoft.com/office/drawing/2014/main" id="{F3D34347-5503-CF42-98BC-54772FA6C03C}"/>
              </a:ext>
            </a:extLst>
          </p:cNvPr>
          <p:cNvSpPr/>
          <p:nvPr userDrawn="1"/>
        </p:nvSpPr>
        <p:spPr>
          <a:xfrm>
            <a:off x="695091" y="4911122"/>
            <a:ext cx="5425440" cy="215444"/>
          </a:xfrm>
          <a:prstGeom prst="rect">
            <a:avLst/>
          </a:prstGeom>
        </p:spPr>
        <p:txBody>
          <a:bodyPr wrap="square">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800" b="1" kern="1200" dirty="0">
                <a:solidFill>
                  <a:schemeClr val="accent2"/>
                </a:solidFill>
                <a:latin typeface="+mn-lt"/>
                <a:ea typeface="+mn-ea"/>
                <a:cs typeface="+mn-cs"/>
              </a:rPr>
              <a:t>CONFIDENTIAL – For use by Hitachi Vantara employees and other audiences under NDA only.</a:t>
            </a:r>
          </a:p>
        </p:txBody>
      </p:sp>
      <p:pic>
        <p:nvPicPr>
          <p:cNvPr id="70" name="Graphic 69">
            <a:extLst>
              <a:ext uri="{FF2B5EF4-FFF2-40B4-BE49-F238E27FC236}">
                <a16:creationId xmlns:a16="http://schemas.microsoft.com/office/drawing/2014/main" id="{77635230-F3E7-A540-BBEE-66DC1E31C3AC}"/>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8512" y="812800"/>
            <a:ext cx="570117" cy="4330700"/>
          </a:xfrm>
          <a:prstGeom prst="rect">
            <a:avLst/>
          </a:prstGeom>
        </p:spPr>
      </p:pic>
    </p:spTree>
    <p:extLst>
      <p:ext uri="{BB962C8B-B14F-4D97-AF65-F5344CB8AC3E}">
        <p14:creationId xmlns:p14="http://schemas.microsoft.com/office/powerpoint/2010/main" val="38927066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8_Title Slide">
    <p:spTree>
      <p:nvGrpSpPr>
        <p:cNvPr id="1" name=""/>
        <p:cNvGrpSpPr/>
        <p:nvPr/>
      </p:nvGrpSpPr>
      <p:grpSpPr>
        <a:xfrm>
          <a:off x="0" y="0"/>
          <a:ext cx="0" cy="0"/>
          <a:chOff x="0" y="0"/>
          <a:chExt cx="0" cy="0"/>
        </a:xfrm>
      </p:grpSpPr>
      <p:sp>
        <p:nvSpPr>
          <p:cNvPr id="31" name="Rectangle 30">
            <a:extLst>
              <a:ext uri="{FF2B5EF4-FFF2-40B4-BE49-F238E27FC236}">
                <a16:creationId xmlns:a16="http://schemas.microsoft.com/office/drawing/2014/main" id="{CD3F4FD4-345E-5049-91DB-67FCDD2F44B9}"/>
              </a:ext>
            </a:extLst>
          </p:cNvPr>
          <p:cNvSpPr/>
          <p:nvPr userDrawn="1"/>
        </p:nvSpPr>
        <p:spPr>
          <a:xfrm>
            <a:off x="0" y="0"/>
            <a:ext cx="9153144" cy="5157216"/>
          </a:xfrm>
          <a:prstGeom prst="rect">
            <a:avLst/>
          </a:prstGeom>
          <a:gradFill flip="none" rotWithShape="1">
            <a:gsLst>
              <a:gs pos="0">
                <a:schemeClr val="tx2"/>
              </a:gs>
              <a:gs pos="66000">
                <a:srgbClr val="051C2C"/>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j-lt"/>
            </a:endParaRPr>
          </a:p>
        </p:txBody>
      </p:sp>
      <p:pic>
        <p:nvPicPr>
          <p:cNvPr id="32" name="Graphic 31">
            <a:extLst>
              <a:ext uri="{FF2B5EF4-FFF2-40B4-BE49-F238E27FC236}">
                <a16:creationId xmlns:a16="http://schemas.microsoft.com/office/drawing/2014/main" id="{A18BC543-15C4-E34B-8324-961E435C327D}"/>
              </a:ext>
            </a:extLst>
          </p:cNvPr>
          <p:cNvPicPr>
            <a:picLocks noChangeAspect="1"/>
          </p:cNvPicPr>
          <p:nvPr userDrawn="1"/>
        </p:nvPicPr>
        <p:blipFill>
          <a:blip r:embed="rId2" cstate="screen">
            <a:alphaModFix amt="15000"/>
            <a:extLst>
              <a:ext uri="{28A0092B-C50C-407E-A947-70E740481C1C}">
                <a14:useLocalDpi xmlns:a14="http://schemas.microsoft.com/office/drawing/2010/main"/>
              </a:ext>
            </a:extLst>
          </a:blip>
          <a:srcRect/>
          <a:stretch/>
        </p:blipFill>
        <p:spPr>
          <a:xfrm>
            <a:off x="4573" y="0"/>
            <a:ext cx="9143998" cy="5143499"/>
          </a:xfrm>
          <a:prstGeom prst="rect">
            <a:avLst/>
          </a:prstGeom>
        </p:spPr>
      </p:pic>
      <p:sp>
        <p:nvSpPr>
          <p:cNvPr id="57" name="Title 1"/>
          <p:cNvSpPr>
            <a:spLocks noGrp="1"/>
          </p:cNvSpPr>
          <p:nvPr>
            <p:ph type="ctrTitle" hasCustomPrompt="1"/>
          </p:nvPr>
        </p:nvSpPr>
        <p:spPr>
          <a:xfrm>
            <a:off x="725952" y="1571934"/>
            <a:ext cx="6926568" cy="695773"/>
          </a:xfrm>
          <a:prstGeom prst="rect">
            <a:avLst/>
          </a:prstGeom>
          <a:effectLst/>
        </p:spPr>
        <p:txBody>
          <a:bodyPr anchor="t">
            <a:noAutofit/>
          </a:bodyPr>
          <a:lstStyle>
            <a:lvl1pPr>
              <a:lnSpc>
                <a:spcPct val="100000"/>
              </a:lnSpc>
              <a:defRPr sz="4400" b="1" cap="none" baseline="0">
                <a:solidFill>
                  <a:schemeClr val="accent2"/>
                </a:solidFill>
                <a:latin typeface="+mn-lt"/>
              </a:defRPr>
            </a:lvl1pPr>
          </a:lstStyle>
          <a:p>
            <a:r>
              <a:rPr lang="en-US" dirty="0"/>
              <a:t>Divider Slide</a:t>
            </a:r>
          </a:p>
        </p:txBody>
      </p:sp>
      <p:sp>
        <p:nvSpPr>
          <p:cNvPr id="39" name="TextBox 38"/>
          <p:cNvSpPr txBox="1"/>
          <p:nvPr userDrawn="1"/>
        </p:nvSpPr>
        <p:spPr>
          <a:xfrm>
            <a:off x="1611" y="4915450"/>
            <a:ext cx="312906" cy="215444"/>
          </a:xfrm>
          <a:prstGeom prst="rect">
            <a:avLst/>
          </a:prstGeom>
          <a:noFill/>
        </p:spPr>
        <p:txBody>
          <a:bodyPr wrap="none" rtlCol="0">
            <a:spAutoFit/>
          </a:bodyPr>
          <a:lstStyle/>
          <a:p>
            <a:fld id="{111F478C-84AE-4601-9BE4-60468A3A6C06}" type="slidenum">
              <a:rPr lang="en-US" sz="800" smtClean="0">
                <a:solidFill>
                  <a:prstClr val="white">
                    <a:alpha val="50000"/>
                  </a:prstClr>
                </a:solidFill>
                <a:latin typeface="Arial"/>
              </a:rPr>
              <a:pPr/>
              <a:t>‹#›</a:t>
            </a:fld>
            <a:endParaRPr lang="en-US" sz="800" dirty="0">
              <a:solidFill>
                <a:prstClr val="white">
                  <a:alpha val="50000"/>
                </a:prstClr>
              </a:solidFill>
              <a:latin typeface="Arial"/>
            </a:endParaRPr>
          </a:p>
        </p:txBody>
      </p:sp>
      <p:grpSp>
        <p:nvGrpSpPr>
          <p:cNvPr id="38" name="Group 37"/>
          <p:cNvGrpSpPr/>
          <p:nvPr userDrawn="1"/>
        </p:nvGrpSpPr>
        <p:grpSpPr>
          <a:xfrm>
            <a:off x="7684916" y="225821"/>
            <a:ext cx="1247901" cy="356665"/>
            <a:chOff x="2751138" y="3262313"/>
            <a:chExt cx="4665662" cy="1333500"/>
          </a:xfrm>
          <a:solidFill>
            <a:schemeClr val="bg1"/>
          </a:solidFill>
        </p:grpSpPr>
        <p:sp>
          <p:nvSpPr>
            <p:cNvPr id="67" name="Freeform 1"/>
            <p:cNvSpPr>
              <a:spLocks noChangeArrowheads="1"/>
            </p:cNvSpPr>
            <p:nvPr/>
          </p:nvSpPr>
          <p:spPr bwMode="auto">
            <a:xfrm>
              <a:off x="6180138" y="3275013"/>
              <a:ext cx="673100" cy="631825"/>
            </a:xfrm>
            <a:custGeom>
              <a:avLst/>
              <a:gdLst>
                <a:gd name="T0" fmla="*/ 465 w 1868"/>
                <a:gd name="T1" fmla="*/ 0 h 1755"/>
                <a:gd name="T2" fmla="*/ 465 w 1868"/>
                <a:gd name="T3" fmla="*/ 700 h 1755"/>
                <a:gd name="T4" fmla="*/ 1402 w 1868"/>
                <a:gd name="T5" fmla="*/ 700 h 1755"/>
                <a:gd name="T6" fmla="*/ 1402 w 1868"/>
                <a:gd name="T7" fmla="*/ 0 h 1755"/>
                <a:gd name="T8" fmla="*/ 1867 w 1868"/>
                <a:gd name="T9" fmla="*/ 0 h 1755"/>
                <a:gd name="T10" fmla="*/ 1867 w 1868"/>
                <a:gd name="T11" fmla="*/ 1754 h 1755"/>
                <a:gd name="T12" fmla="*/ 1402 w 1868"/>
                <a:gd name="T13" fmla="*/ 1754 h 1755"/>
                <a:gd name="T14" fmla="*/ 1402 w 1868"/>
                <a:gd name="T15" fmla="*/ 983 h 1755"/>
                <a:gd name="T16" fmla="*/ 465 w 1868"/>
                <a:gd name="T17" fmla="*/ 983 h 1755"/>
                <a:gd name="T18" fmla="*/ 465 w 1868"/>
                <a:gd name="T19" fmla="*/ 1754 h 1755"/>
                <a:gd name="T20" fmla="*/ 0 w 1868"/>
                <a:gd name="T21" fmla="*/ 1754 h 1755"/>
                <a:gd name="T22" fmla="*/ 0 w 1868"/>
                <a:gd name="T23" fmla="*/ 0 h 1755"/>
                <a:gd name="T24" fmla="*/ 465 w 1868"/>
                <a:gd name="T25" fmla="*/ 0 h 17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68" h="1755">
                  <a:moveTo>
                    <a:pt x="465" y="0"/>
                  </a:moveTo>
                  <a:cubicBezTo>
                    <a:pt x="465" y="0"/>
                    <a:pt x="465" y="705"/>
                    <a:pt x="465" y="700"/>
                  </a:cubicBezTo>
                  <a:lnTo>
                    <a:pt x="1402" y="700"/>
                  </a:lnTo>
                  <a:cubicBezTo>
                    <a:pt x="1402" y="705"/>
                    <a:pt x="1402" y="0"/>
                    <a:pt x="1402" y="0"/>
                  </a:cubicBezTo>
                  <a:cubicBezTo>
                    <a:pt x="1402" y="0"/>
                    <a:pt x="1863" y="0"/>
                    <a:pt x="1867" y="0"/>
                  </a:cubicBezTo>
                  <a:cubicBezTo>
                    <a:pt x="1867" y="0"/>
                    <a:pt x="1867" y="1750"/>
                    <a:pt x="1867" y="1754"/>
                  </a:cubicBezTo>
                  <a:lnTo>
                    <a:pt x="1402" y="1754"/>
                  </a:lnTo>
                  <a:cubicBezTo>
                    <a:pt x="1402" y="1754"/>
                    <a:pt x="1402" y="987"/>
                    <a:pt x="1402" y="983"/>
                  </a:cubicBezTo>
                  <a:cubicBezTo>
                    <a:pt x="1402" y="987"/>
                    <a:pt x="465" y="983"/>
                    <a:pt x="465" y="983"/>
                  </a:cubicBezTo>
                  <a:cubicBezTo>
                    <a:pt x="465" y="987"/>
                    <a:pt x="465" y="1754"/>
                    <a:pt x="465" y="1754"/>
                  </a:cubicBezTo>
                  <a:lnTo>
                    <a:pt x="0" y="1754"/>
                  </a:lnTo>
                  <a:cubicBezTo>
                    <a:pt x="0" y="1754"/>
                    <a:pt x="4" y="0"/>
                    <a:pt x="0" y="0"/>
                  </a:cubicBezTo>
                  <a:lnTo>
                    <a:pt x="465"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68" name="Freeform 2"/>
            <p:cNvSpPr>
              <a:spLocks noChangeArrowheads="1"/>
            </p:cNvSpPr>
            <p:nvPr/>
          </p:nvSpPr>
          <p:spPr bwMode="auto">
            <a:xfrm>
              <a:off x="4083050" y="3275013"/>
              <a:ext cx="677863" cy="631825"/>
            </a:xfrm>
            <a:custGeom>
              <a:avLst/>
              <a:gdLst>
                <a:gd name="T0" fmla="*/ 1883 w 1884"/>
                <a:gd name="T1" fmla="*/ 0 h 1755"/>
                <a:gd name="T2" fmla="*/ 1883 w 1884"/>
                <a:gd name="T3" fmla="*/ 298 h 1755"/>
                <a:gd name="T4" fmla="*/ 1174 w 1884"/>
                <a:gd name="T5" fmla="*/ 298 h 1755"/>
                <a:gd name="T6" fmla="*/ 1174 w 1884"/>
                <a:gd name="T7" fmla="*/ 1754 h 1755"/>
                <a:gd name="T8" fmla="*/ 709 w 1884"/>
                <a:gd name="T9" fmla="*/ 1754 h 1755"/>
                <a:gd name="T10" fmla="*/ 709 w 1884"/>
                <a:gd name="T11" fmla="*/ 298 h 1755"/>
                <a:gd name="T12" fmla="*/ 0 w 1884"/>
                <a:gd name="T13" fmla="*/ 298 h 1755"/>
                <a:gd name="T14" fmla="*/ 0 w 1884"/>
                <a:gd name="T15" fmla="*/ 0 h 1755"/>
                <a:gd name="T16" fmla="*/ 1883 w 1884"/>
                <a:gd name="T17" fmla="*/ 0 h 17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884" h="1755">
                  <a:moveTo>
                    <a:pt x="1883" y="0"/>
                  </a:moveTo>
                  <a:cubicBezTo>
                    <a:pt x="1883" y="4"/>
                    <a:pt x="1883" y="298"/>
                    <a:pt x="1883" y="298"/>
                  </a:cubicBezTo>
                  <a:lnTo>
                    <a:pt x="1174" y="298"/>
                  </a:lnTo>
                  <a:lnTo>
                    <a:pt x="1174" y="1754"/>
                  </a:lnTo>
                  <a:lnTo>
                    <a:pt x="709" y="1754"/>
                  </a:lnTo>
                  <a:lnTo>
                    <a:pt x="709" y="298"/>
                  </a:lnTo>
                  <a:lnTo>
                    <a:pt x="0" y="298"/>
                  </a:lnTo>
                  <a:lnTo>
                    <a:pt x="0" y="0"/>
                  </a:lnTo>
                  <a:lnTo>
                    <a:pt x="1883"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69" name="Freeform 3"/>
            <p:cNvSpPr>
              <a:spLocks noChangeArrowheads="1"/>
            </p:cNvSpPr>
            <p:nvPr/>
          </p:nvSpPr>
          <p:spPr bwMode="auto">
            <a:xfrm>
              <a:off x="4614863" y="3275013"/>
              <a:ext cx="796925" cy="631825"/>
            </a:xfrm>
            <a:custGeom>
              <a:avLst/>
              <a:gdLst>
                <a:gd name="T0" fmla="*/ 2214 w 2215"/>
                <a:gd name="T1" fmla="*/ 1754 h 1755"/>
                <a:gd name="T2" fmla="*/ 1695 w 2215"/>
                <a:gd name="T3" fmla="*/ 1754 h 1755"/>
                <a:gd name="T4" fmla="*/ 1542 w 2215"/>
                <a:gd name="T5" fmla="*/ 1377 h 1755"/>
                <a:gd name="T6" fmla="*/ 672 w 2215"/>
                <a:gd name="T7" fmla="*/ 1377 h 1755"/>
                <a:gd name="T8" fmla="*/ 518 w 2215"/>
                <a:gd name="T9" fmla="*/ 1754 h 1755"/>
                <a:gd name="T10" fmla="*/ 0 w 2215"/>
                <a:gd name="T11" fmla="*/ 1754 h 1755"/>
                <a:gd name="T12" fmla="*/ 825 w 2215"/>
                <a:gd name="T13" fmla="*/ 0 h 1755"/>
                <a:gd name="T14" fmla="*/ 1392 w 2215"/>
                <a:gd name="T15" fmla="*/ 0 h 1755"/>
                <a:gd name="T16" fmla="*/ 2214 w 2215"/>
                <a:gd name="T17" fmla="*/ 1754 h 1755"/>
                <a:gd name="T18" fmla="*/ 788 w 2215"/>
                <a:gd name="T19" fmla="*/ 1095 h 1755"/>
                <a:gd name="T20" fmla="*/ 1434 w 2215"/>
                <a:gd name="T21" fmla="*/ 1095 h 1755"/>
                <a:gd name="T22" fmla="*/ 1107 w 2215"/>
                <a:gd name="T23" fmla="*/ 298 h 1755"/>
                <a:gd name="T24" fmla="*/ 788 w 2215"/>
                <a:gd name="T25" fmla="*/ 1095 h 17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15" h="1755">
                  <a:moveTo>
                    <a:pt x="2214" y="1754"/>
                  </a:moveTo>
                  <a:cubicBezTo>
                    <a:pt x="2214" y="1754"/>
                    <a:pt x="1691" y="1754"/>
                    <a:pt x="1695" y="1754"/>
                  </a:cubicBezTo>
                  <a:lnTo>
                    <a:pt x="1542" y="1377"/>
                  </a:lnTo>
                  <a:lnTo>
                    <a:pt x="672" y="1377"/>
                  </a:lnTo>
                  <a:cubicBezTo>
                    <a:pt x="672" y="1377"/>
                    <a:pt x="522" y="1754"/>
                    <a:pt x="518" y="1754"/>
                  </a:cubicBezTo>
                  <a:lnTo>
                    <a:pt x="0" y="1754"/>
                  </a:lnTo>
                  <a:lnTo>
                    <a:pt x="825" y="0"/>
                  </a:lnTo>
                  <a:lnTo>
                    <a:pt x="1392" y="0"/>
                  </a:lnTo>
                  <a:lnTo>
                    <a:pt x="2214" y="1754"/>
                  </a:lnTo>
                  <a:close/>
                  <a:moveTo>
                    <a:pt x="788" y="1095"/>
                  </a:moveTo>
                  <a:lnTo>
                    <a:pt x="1434" y="1095"/>
                  </a:lnTo>
                  <a:lnTo>
                    <a:pt x="1107" y="298"/>
                  </a:lnTo>
                  <a:lnTo>
                    <a:pt x="788" y="1095"/>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70" name="Freeform 4"/>
            <p:cNvSpPr>
              <a:spLocks noChangeArrowheads="1"/>
            </p:cNvSpPr>
            <p:nvPr/>
          </p:nvSpPr>
          <p:spPr bwMode="auto">
            <a:xfrm>
              <a:off x="6985000" y="3275013"/>
              <a:ext cx="166688" cy="631825"/>
            </a:xfrm>
            <a:custGeom>
              <a:avLst/>
              <a:gdLst>
                <a:gd name="T0" fmla="*/ 232 w 465"/>
                <a:gd name="T1" fmla="*/ 1754 h 1755"/>
                <a:gd name="T2" fmla="*/ 0 w 465"/>
                <a:gd name="T3" fmla="*/ 1754 h 1755"/>
                <a:gd name="T4" fmla="*/ 0 w 465"/>
                <a:gd name="T5" fmla="*/ 0 h 1755"/>
                <a:gd name="T6" fmla="*/ 464 w 465"/>
                <a:gd name="T7" fmla="*/ 0 h 1755"/>
                <a:gd name="T8" fmla="*/ 464 w 465"/>
                <a:gd name="T9" fmla="*/ 1754 h 1755"/>
                <a:gd name="T10" fmla="*/ 232 w 465"/>
                <a:gd name="T11" fmla="*/ 1754 h 1755"/>
              </a:gdLst>
              <a:ahLst/>
              <a:cxnLst>
                <a:cxn ang="0">
                  <a:pos x="T0" y="T1"/>
                </a:cxn>
                <a:cxn ang="0">
                  <a:pos x="T2" y="T3"/>
                </a:cxn>
                <a:cxn ang="0">
                  <a:pos x="T4" y="T5"/>
                </a:cxn>
                <a:cxn ang="0">
                  <a:pos x="T6" y="T7"/>
                </a:cxn>
                <a:cxn ang="0">
                  <a:pos x="T8" y="T9"/>
                </a:cxn>
                <a:cxn ang="0">
                  <a:pos x="T10" y="T11"/>
                </a:cxn>
              </a:cxnLst>
              <a:rect l="0" t="0" r="r" b="b"/>
              <a:pathLst>
                <a:path w="465" h="1755">
                  <a:moveTo>
                    <a:pt x="232" y="1754"/>
                  </a:moveTo>
                  <a:lnTo>
                    <a:pt x="0" y="1754"/>
                  </a:lnTo>
                  <a:lnTo>
                    <a:pt x="0" y="0"/>
                  </a:lnTo>
                  <a:lnTo>
                    <a:pt x="464" y="0"/>
                  </a:lnTo>
                  <a:lnTo>
                    <a:pt x="464" y="1754"/>
                  </a:lnTo>
                  <a:lnTo>
                    <a:pt x="232" y="1754"/>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71" name="Freeform 5"/>
            <p:cNvSpPr>
              <a:spLocks noChangeArrowheads="1"/>
            </p:cNvSpPr>
            <p:nvPr/>
          </p:nvSpPr>
          <p:spPr bwMode="auto">
            <a:xfrm>
              <a:off x="3049588" y="3275013"/>
              <a:ext cx="673100" cy="631825"/>
            </a:xfrm>
            <a:custGeom>
              <a:avLst/>
              <a:gdLst>
                <a:gd name="T0" fmla="*/ 465 w 1868"/>
                <a:gd name="T1" fmla="*/ 0 h 1755"/>
                <a:gd name="T2" fmla="*/ 465 w 1868"/>
                <a:gd name="T3" fmla="*/ 700 h 1755"/>
                <a:gd name="T4" fmla="*/ 1402 w 1868"/>
                <a:gd name="T5" fmla="*/ 700 h 1755"/>
                <a:gd name="T6" fmla="*/ 1402 w 1868"/>
                <a:gd name="T7" fmla="*/ 0 h 1755"/>
                <a:gd name="T8" fmla="*/ 1867 w 1868"/>
                <a:gd name="T9" fmla="*/ 0 h 1755"/>
                <a:gd name="T10" fmla="*/ 1867 w 1868"/>
                <a:gd name="T11" fmla="*/ 1754 h 1755"/>
                <a:gd name="T12" fmla="*/ 1402 w 1868"/>
                <a:gd name="T13" fmla="*/ 1754 h 1755"/>
                <a:gd name="T14" fmla="*/ 1402 w 1868"/>
                <a:gd name="T15" fmla="*/ 983 h 1755"/>
                <a:gd name="T16" fmla="*/ 465 w 1868"/>
                <a:gd name="T17" fmla="*/ 983 h 1755"/>
                <a:gd name="T18" fmla="*/ 465 w 1868"/>
                <a:gd name="T19" fmla="*/ 1754 h 1755"/>
                <a:gd name="T20" fmla="*/ 0 w 1868"/>
                <a:gd name="T21" fmla="*/ 1754 h 1755"/>
                <a:gd name="T22" fmla="*/ 0 w 1868"/>
                <a:gd name="T23" fmla="*/ 0 h 1755"/>
                <a:gd name="T24" fmla="*/ 465 w 1868"/>
                <a:gd name="T25" fmla="*/ 0 h 17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68" h="1755">
                  <a:moveTo>
                    <a:pt x="465" y="0"/>
                  </a:moveTo>
                  <a:cubicBezTo>
                    <a:pt x="465" y="0"/>
                    <a:pt x="465" y="705"/>
                    <a:pt x="465" y="700"/>
                  </a:cubicBezTo>
                  <a:lnTo>
                    <a:pt x="1402" y="700"/>
                  </a:lnTo>
                  <a:cubicBezTo>
                    <a:pt x="1402" y="705"/>
                    <a:pt x="1402" y="0"/>
                    <a:pt x="1402" y="0"/>
                  </a:cubicBezTo>
                  <a:cubicBezTo>
                    <a:pt x="1402" y="0"/>
                    <a:pt x="1863" y="0"/>
                    <a:pt x="1867" y="0"/>
                  </a:cubicBezTo>
                  <a:cubicBezTo>
                    <a:pt x="1867" y="0"/>
                    <a:pt x="1867" y="1750"/>
                    <a:pt x="1867" y="1754"/>
                  </a:cubicBezTo>
                  <a:lnTo>
                    <a:pt x="1402" y="1754"/>
                  </a:lnTo>
                  <a:cubicBezTo>
                    <a:pt x="1402" y="1754"/>
                    <a:pt x="1402" y="987"/>
                    <a:pt x="1402" y="983"/>
                  </a:cubicBezTo>
                  <a:cubicBezTo>
                    <a:pt x="1402" y="987"/>
                    <a:pt x="465" y="983"/>
                    <a:pt x="465" y="983"/>
                  </a:cubicBezTo>
                  <a:cubicBezTo>
                    <a:pt x="465" y="987"/>
                    <a:pt x="465" y="1754"/>
                    <a:pt x="465" y="1754"/>
                  </a:cubicBezTo>
                  <a:lnTo>
                    <a:pt x="0" y="1754"/>
                  </a:lnTo>
                  <a:cubicBezTo>
                    <a:pt x="0" y="1754"/>
                    <a:pt x="5" y="0"/>
                    <a:pt x="0" y="0"/>
                  </a:cubicBezTo>
                  <a:lnTo>
                    <a:pt x="465"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72" name="Freeform 6"/>
            <p:cNvSpPr>
              <a:spLocks noChangeArrowheads="1"/>
            </p:cNvSpPr>
            <p:nvPr/>
          </p:nvSpPr>
          <p:spPr bwMode="auto">
            <a:xfrm>
              <a:off x="3854450" y="3275013"/>
              <a:ext cx="168275" cy="631825"/>
            </a:xfrm>
            <a:custGeom>
              <a:avLst/>
              <a:gdLst>
                <a:gd name="T0" fmla="*/ 233 w 466"/>
                <a:gd name="T1" fmla="*/ 1754 h 1755"/>
                <a:gd name="T2" fmla="*/ 0 w 466"/>
                <a:gd name="T3" fmla="*/ 1754 h 1755"/>
                <a:gd name="T4" fmla="*/ 0 w 466"/>
                <a:gd name="T5" fmla="*/ 0 h 1755"/>
                <a:gd name="T6" fmla="*/ 465 w 466"/>
                <a:gd name="T7" fmla="*/ 0 h 1755"/>
                <a:gd name="T8" fmla="*/ 465 w 466"/>
                <a:gd name="T9" fmla="*/ 1754 h 1755"/>
                <a:gd name="T10" fmla="*/ 233 w 466"/>
                <a:gd name="T11" fmla="*/ 1754 h 1755"/>
              </a:gdLst>
              <a:ahLst/>
              <a:cxnLst>
                <a:cxn ang="0">
                  <a:pos x="T0" y="T1"/>
                </a:cxn>
                <a:cxn ang="0">
                  <a:pos x="T2" y="T3"/>
                </a:cxn>
                <a:cxn ang="0">
                  <a:pos x="T4" y="T5"/>
                </a:cxn>
                <a:cxn ang="0">
                  <a:pos x="T6" y="T7"/>
                </a:cxn>
                <a:cxn ang="0">
                  <a:pos x="T8" y="T9"/>
                </a:cxn>
                <a:cxn ang="0">
                  <a:pos x="T10" y="T11"/>
                </a:cxn>
              </a:cxnLst>
              <a:rect l="0" t="0" r="r" b="b"/>
              <a:pathLst>
                <a:path w="466" h="1755">
                  <a:moveTo>
                    <a:pt x="233" y="1754"/>
                  </a:moveTo>
                  <a:lnTo>
                    <a:pt x="0" y="1754"/>
                  </a:lnTo>
                  <a:lnTo>
                    <a:pt x="0" y="0"/>
                  </a:lnTo>
                  <a:lnTo>
                    <a:pt x="465" y="0"/>
                  </a:lnTo>
                  <a:lnTo>
                    <a:pt x="465" y="1754"/>
                  </a:lnTo>
                  <a:lnTo>
                    <a:pt x="233" y="1754"/>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73" name="Freeform 7"/>
            <p:cNvSpPr>
              <a:spLocks noChangeArrowheads="1"/>
            </p:cNvSpPr>
            <p:nvPr/>
          </p:nvSpPr>
          <p:spPr bwMode="auto">
            <a:xfrm>
              <a:off x="5383213" y="3262313"/>
              <a:ext cx="715962" cy="663575"/>
            </a:xfrm>
            <a:custGeom>
              <a:avLst/>
              <a:gdLst>
                <a:gd name="T0" fmla="*/ 62 w 1988"/>
                <a:gd name="T1" fmla="*/ 1307 h 1842"/>
                <a:gd name="T2" fmla="*/ 0 w 1988"/>
                <a:gd name="T3" fmla="*/ 933 h 1842"/>
                <a:gd name="T4" fmla="*/ 120 w 1988"/>
                <a:gd name="T5" fmla="*/ 423 h 1842"/>
                <a:gd name="T6" fmla="*/ 518 w 1988"/>
                <a:gd name="T7" fmla="*/ 91 h 1842"/>
                <a:gd name="T8" fmla="*/ 1033 w 1988"/>
                <a:gd name="T9" fmla="*/ 0 h 1842"/>
                <a:gd name="T10" fmla="*/ 1618 w 1988"/>
                <a:gd name="T11" fmla="*/ 125 h 1842"/>
                <a:gd name="T12" fmla="*/ 1950 w 1988"/>
                <a:gd name="T13" fmla="*/ 531 h 1842"/>
                <a:gd name="T14" fmla="*/ 1966 w 1988"/>
                <a:gd name="T15" fmla="*/ 643 h 1842"/>
                <a:gd name="T16" fmla="*/ 1481 w 1988"/>
                <a:gd name="T17" fmla="*/ 643 h 1842"/>
                <a:gd name="T18" fmla="*/ 1456 w 1988"/>
                <a:gd name="T19" fmla="*/ 506 h 1842"/>
                <a:gd name="T20" fmla="*/ 1240 w 1988"/>
                <a:gd name="T21" fmla="*/ 303 h 1842"/>
                <a:gd name="T22" fmla="*/ 1037 w 1988"/>
                <a:gd name="T23" fmla="*/ 274 h 1842"/>
                <a:gd name="T24" fmla="*/ 809 w 1988"/>
                <a:gd name="T25" fmla="*/ 315 h 1842"/>
                <a:gd name="T26" fmla="*/ 556 w 1988"/>
                <a:gd name="T27" fmla="*/ 573 h 1842"/>
                <a:gd name="T28" fmla="*/ 494 w 1988"/>
                <a:gd name="T29" fmla="*/ 942 h 1842"/>
                <a:gd name="T30" fmla="*/ 539 w 1988"/>
                <a:gd name="T31" fmla="*/ 1249 h 1842"/>
                <a:gd name="T32" fmla="*/ 792 w 1988"/>
                <a:gd name="T33" fmla="*/ 1527 h 1842"/>
                <a:gd name="T34" fmla="*/ 1041 w 1988"/>
                <a:gd name="T35" fmla="*/ 1572 h 1842"/>
                <a:gd name="T36" fmla="*/ 1257 w 1988"/>
                <a:gd name="T37" fmla="*/ 1539 h 1842"/>
                <a:gd name="T38" fmla="*/ 1460 w 1988"/>
                <a:gd name="T39" fmla="*/ 1356 h 1842"/>
                <a:gd name="T40" fmla="*/ 1497 w 1988"/>
                <a:gd name="T41" fmla="*/ 1170 h 1842"/>
                <a:gd name="T42" fmla="*/ 1987 w 1988"/>
                <a:gd name="T43" fmla="*/ 1170 h 1842"/>
                <a:gd name="T44" fmla="*/ 1962 w 1988"/>
                <a:gd name="T45" fmla="*/ 1336 h 1842"/>
                <a:gd name="T46" fmla="*/ 1638 w 1988"/>
                <a:gd name="T47" fmla="*/ 1721 h 1842"/>
                <a:gd name="T48" fmla="*/ 1041 w 1988"/>
                <a:gd name="T49" fmla="*/ 1841 h 1842"/>
                <a:gd name="T50" fmla="*/ 568 w 1988"/>
                <a:gd name="T51" fmla="*/ 1771 h 1842"/>
                <a:gd name="T52" fmla="*/ 62 w 1988"/>
                <a:gd name="T53" fmla="*/ 1307 h 18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988" h="1842">
                  <a:moveTo>
                    <a:pt x="62" y="1307"/>
                  </a:moveTo>
                  <a:cubicBezTo>
                    <a:pt x="21" y="1191"/>
                    <a:pt x="0" y="1066"/>
                    <a:pt x="0" y="933"/>
                  </a:cubicBezTo>
                  <a:cubicBezTo>
                    <a:pt x="0" y="751"/>
                    <a:pt x="33" y="573"/>
                    <a:pt x="120" y="423"/>
                  </a:cubicBezTo>
                  <a:cubicBezTo>
                    <a:pt x="211" y="270"/>
                    <a:pt x="348" y="154"/>
                    <a:pt x="518" y="91"/>
                  </a:cubicBezTo>
                  <a:cubicBezTo>
                    <a:pt x="680" y="33"/>
                    <a:pt x="850" y="0"/>
                    <a:pt x="1033" y="0"/>
                  </a:cubicBezTo>
                  <a:cubicBezTo>
                    <a:pt x="1240" y="0"/>
                    <a:pt x="1439" y="46"/>
                    <a:pt x="1618" y="125"/>
                  </a:cubicBezTo>
                  <a:cubicBezTo>
                    <a:pt x="1784" y="195"/>
                    <a:pt x="1912" y="349"/>
                    <a:pt x="1950" y="531"/>
                  </a:cubicBezTo>
                  <a:cubicBezTo>
                    <a:pt x="1958" y="568"/>
                    <a:pt x="1962" y="606"/>
                    <a:pt x="1966" y="643"/>
                  </a:cubicBezTo>
                  <a:lnTo>
                    <a:pt x="1481" y="643"/>
                  </a:lnTo>
                  <a:cubicBezTo>
                    <a:pt x="1481" y="597"/>
                    <a:pt x="1472" y="552"/>
                    <a:pt x="1456" y="506"/>
                  </a:cubicBezTo>
                  <a:cubicBezTo>
                    <a:pt x="1419" y="411"/>
                    <a:pt x="1340" y="332"/>
                    <a:pt x="1240" y="303"/>
                  </a:cubicBezTo>
                  <a:cubicBezTo>
                    <a:pt x="1174" y="282"/>
                    <a:pt x="1107" y="274"/>
                    <a:pt x="1037" y="274"/>
                  </a:cubicBezTo>
                  <a:cubicBezTo>
                    <a:pt x="958" y="274"/>
                    <a:pt x="879" y="286"/>
                    <a:pt x="809" y="315"/>
                  </a:cubicBezTo>
                  <a:cubicBezTo>
                    <a:pt x="688" y="357"/>
                    <a:pt x="597" y="452"/>
                    <a:pt x="556" y="573"/>
                  </a:cubicBezTo>
                  <a:cubicBezTo>
                    <a:pt x="514" y="689"/>
                    <a:pt x="494" y="813"/>
                    <a:pt x="494" y="942"/>
                  </a:cubicBezTo>
                  <a:cubicBezTo>
                    <a:pt x="494" y="1050"/>
                    <a:pt x="510" y="1153"/>
                    <a:pt x="539" y="1249"/>
                  </a:cubicBezTo>
                  <a:cubicBezTo>
                    <a:pt x="572" y="1377"/>
                    <a:pt x="672" y="1481"/>
                    <a:pt x="792" y="1527"/>
                  </a:cubicBezTo>
                  <a:cubicBezTo>
                    <a:pt x="871" y="1556"/>
                    <a:pt x="954" y="1572"/>
                    <a:pt x="1041" y="1572"/>
                  </a:cubicBezTo>
                  <a:cubicBezTo>
                    <a:pt x="1116" y="1572"/>
                    <a:pt x="1186" y="1560"/>
                    <a:pt x="1257" y="1539"/>
                  </a:cubicBezTo>
                  <a:cubicBezTo>
                    <a:pt x="1348" y="1510"/>
                    <a:pt x="1423" y="1444"/>
                    <a:pt x="1460" y="1356"/>
                  </a:cubicBezTo>
                  <a:cubicBezTo>
                    <a:pt x="1485" y="1298"/>
                    <a:pt x="1497" y="1236"/>
                    <a:pt x="1497" y="1170"/>
                  </a:cubicBezTo>
                  <a:lnTo>
                    <a:pt x="1987" y="1170"/>
                  </a:lnTo>
                  <a:cubicBezTo>
                    <a:pt x="1983" y="1228"/>
                    <a:pt x="1974" y="1282"/>
                    <a:pt x="1962" y="1336"/>
                  </a:cubicBezTo>
                  <a:cubicBezTo>
                    <a:pt x="1920" y="1510"/>
                    <a:pt x="1800" y="1655"/>
                    <a:pt x="1638" y="1721"/>
                  </a:cubicBezTo>
                  <a:cubicBezTo>
                    <a:pt x="1456" y="1800"/>
                    <a:pt x="1253" y="1841"/>
                    <a:pt x="1041" y="1841"/>
                  </a:cubicBezTo>
                  <a:cubicBezTo>
                    <a:pt x="875" y="1841"/>
                    <a:pt x="718" y="1817"/>
                    <a:pt x="568" y="1771"/>
                  </a:cubicBezTo>
                  <a:cubicBezTo>
                    <a:pt x="336" y="1692"/>
                    <a:pt x="137" y="1527"/>
                    <a:pt x="62" y="1307"/>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74" name="Freeform 8"/>
            <p:cNvSpPr>
              <a:spLocks noChangeArrowheads="1"/>
            </p:cNvSpPr>
            <p:nvPr/>
          </p:nvSpPr>
          <p:spPr bwMode="auto">
            <a:xfrm>
              <a:off x="2751138" y="4083050"/>
              <a:ext cx="153987" cy="398463"/>
            </a:xfrm>
            <a:custGeom>
              <a:avLst/>
              <a:gdLst>
                <a:gd name="T0" fmla="*/ 415 w 428"/>
                <a:gd name="T1" fmla="*/ 0 h 1109"/>
                <a:gd name="T2" fmla="*/ 0 w 428"/>
                <a:gd name="T3" fmla="*/ 38 h 1109"/>
                <a:gd name="T4" fmla="*/ 0 w 428"/>
                <a:gd name="T5" fmla="*/ 100 h 1109"/>
                <a:gd name="T6" fmla="*/ 12 w 428"/>
                <a:gd name="T7" fmla="*/ 100 h 1109"/>
                <a:gd name="T8" fmla="*/ 178 w 428"/>
                <a:gd name="T9" fmla="*/ 241 h 1109"/>
                <a:gd name="T10" fmla="*/ 178 w 428"/>
                <a:gd name="T11" fmla="*/ 1108 h 1109"/>
                <a:gd name="T12" fmla="*/ 427 w 428"/>
                <a:gd name="T13" fmla="*/ 1108 h 1109"/>
                <a:gd name="T14" fmla="*/ 427 w 428"/>
                <a:gd name="T15" fmla="*/ 0 h 1109"/>
                <a:gd name="T16" fmla="*/ 415 w 428"/>
                <a:gd name="T17" fmla="*/ 0 h 1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28" h="1109">
                  <a:moveTo>
                    <a:pt x="415" y="0"/>
                  </a:moveTo>
                  <a:lnTo>
                    <a:pt x="0" y="38"/>
                  </a:lnTo>
                  <a:lnTo>
                    <a:pt x="0" y="100"/>
                  </a:lnTo>
                  <a:lnTo>
                    <a:pt x="12" y="100"/>
                  </a:lnTo>
                  <a:cubicBezTo>
                    <a:pt x="178" y="121"/>
                    <a:pt x="178" y="121"/>
                    <a:pt x="178" y="241"/>
                  </a:cubicBezTo>
                  <a:lnTo>
                    <a:pt x="178" y="1108"/>
                  </a:lnTo>
                  <a:lnTo>
                    <a:pt x="427" y="1108"/>
                  </a:lnTo>
                  <a:lnTo>
                    <a:pt x="427" y="0"/>
                  </a:lnTo>
                  <a:lnTo>
                    <a:pt x="415"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75" name="Freeform 9"/>
            <p:cNvSpPr>
              <a:spLocks noChangeArrowheads="1"/>
            </p:cNvSpPr>
            <p:nvPr/>
          </p:nvSpPr>
          <p:spPr bwMode="auto">
            <a:xfrm>
              <a:off x="2986088" y="4198938"/>
              <a:ext cx="315912" cy="282575"/>
            </a:xfrm>
            <a:custGeom>
              <a:avLst/>
              <a:gdLst>
                <a:gd name="T0" fmla="*/ 643 w 876"/>
                <a:gd name="T1" fmla="*/ 4 h 785"/>
                <a:gd name="T2" fmla="*/ 353 w 876"/>
                <a:gd name="T3" fmla="*/ 170 h 785"/>
                <a:gd name="T4" fmla="*/ 353 w 876"/>
                <a:gd name="T5" fmla="*/ 0 h 785"/>
                <a:gd name="T6" fmla="*/ 336 w 876"/>
                <a:gd name="T7" fmla="*/ 4 h 785"/>
                <a:gd name="T8" fmla="*/ 0 w 876"/>
                <a:gd name="T9" fmla="*/ 58 h 785"/>
                <a:gd name="T10" fmla="*/ 0 w 876"/>
                <a:gd name="T11" fmla="*/ 116 h 785"/>
                <a:gd name="T12" fmla="*/ 17 w 876"/>
                <a:gd name="T13" fmla="*/ 116 h 785"/>
                <a:gd name="T14" fmla="*/ 145 w 876"/>
                <a:gd name="T15" fmla="*/ 240 h 785"/>
                <a:gd name="T16" fmla="*/ 145 w 876"/>
                <a:gd name="T17" fmla="*/ 784 h 785"/>
                <a:gd name="T18" fmla="*/ 353 w 876"/>
                <a:gd name="T19" fmla="*/ 784 h 785"/>
                <a:gd name="T20" fmla="*/ 353 w 876"/>
                <a:gd name="T21" fmla="*/ 386 h 785"/>
                <a:gd name="T22" fmla="*/ 560 w 876"/>
                <a:gd name="T23" fmla="*/ 141 h 785"/>
                <a:gd name="T24" fmla="*/ 664 w 876"/>
                <a:gd name="T25" fmla="*/ 361 h 785"/>
                <a:gd name="T26" fmla="*/ 664 w 876"/>
                <a:gd name="T27" fmla="*/ 784 h 785"/>
                <a:gd name="T28" fmla="*/ 871 w 876"/>
                <a:gd name="T29" fmla="*/ 784 h 785"/>
                <a:gd name="T30" fmla="*/ 871 w 876"/>
                <a:gd name="T31" fmla="*/ 240 h 785"/>
                <a:gd name="T32" fmla="*/ 643 w 876"/>
                <a:gd name="T33" fmla="*/ 4 h 7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76" h="785">
                  <a:moveTo>
                    <a:pt x="643" y="4"/>
                  </a:moveTo>
                  <a:cubicBezTo>
                    <a:pt x="490" y="4"/>
                    <a:pt x="398" y="108"/>
                    <a:pt x="353" y="170"/>
                  </a:cubicBezTo>
                  <a:cubicBezTo>
                    <a:pt x="353" y="112"/>
                    <a:pt x="353" y="0"/>
                    <a:pt x="353" y="0"/>
                  </a:cubicBezTo>
                  <a:lnTo>
                    <a:pt x="336" y="4"/>
                  </a:lnTo>
                  <a:lnTo>
                    <a:pt x="0" y="58"/>
                  </a:lnTo>
                  <a:lnTo>
                    <a:pt x="0" y="116"/>
                  </a:lnTo>
                  <a:lnTo>
                    <a:pt x="17" y="116"/>
                  </a:lnTo>
                  <a:cubicBezTo>
                    <a:pt x="124" y="120"/>
                    <a:pt x="145" y="141"/>
                    <a:pt x="145" y="240"/>
                  </a:cubicBezTo>
                  <a:lnTo>
                    <a:pt x="145" y="784"/>
                  </a:lnTo>
                  <a:lnTo>
                    <a:pt x="353" y="784"/>
                  </a:lnTo>
                  <a:lnTo>
                    <a:pt x="353" y="386"/>
                  </a:lnTo>
                  <a:cubicBezTo>
                    <a:pt x="353" y="278"/>
                    <a:pt x="452" y="141"/>
                    <a:pt x="560" y="141"/>
                  </a:cubicBezTo>
                  <a:cubicBezTo>
                    <a:pt x="660" y="141"/>
                    <a:pt x="664" y="224"/>
                    <a:pt x="664" y="361"/>
                  </a:cubicBezTo>
                  <a:lnTo>
                    <a:pt x="664" y="784"/>
                  </a:lnTo>
                  <a:lnTo>
                    <a:pt x="871" y="784"/>
                  </a:lnTo>
                  <a:lnTo>
                    <a:pt x="871" y="240"/>
                  </a:lnTo>
                  <a:cubicBezTo>
                    <a:pt x="875" y="87"/>
                    <a:pt x="792" y="4"/>
                    <a:pt x="643" y="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76" name="Freeform 10"/>
            <p:cNvSpPr>
              <a:spLocks noChangeArrowheads="1"/>
            </p:cNvSpPr>
            <p:nvPr/>
          </p:nvSpPr>
          <p:spPr bwMode="auto">
            <a:xfrm>
              <a:off x="3386138" y="4200525"/>
              <a:ext cx="212725" cy="288925"/>
            </a:xfrm>
            <a:custGeom>
              <a:avLst/>
              <a:gdLst>
                <a:gd name="T0" fmla="*/ 348 w 590"/>
                <a:gd name="T1" fmla="*/ 303 h 802"/>
                <a:gd name="T2" fmla="*/ 195 w 590"/>
                <a:gd name="T3" fmla="*/ 170 h 802"/>
                <a:gd name="T4" fmla="*/ 307 w 590"/>
                <a:gd name="T5" fmla="*/ 100 h 802"/>
                <a:gd name="T6" fmla="*/ 502 w 590"/>
                <a:gd name="T7" fmla="*/ 166 h 802"/>
                <a:gd name="T8" fmla="*/ 535 w 590"/>
                <a:gd name="T9" fmla="*/ 187 h 802"/>
                <a:gd name="T10" fmla="*/ 535 w 590"/>
                <a:gd name="T11" fmla="*/ 162 h 802"/>
                <a:gd name="T12" fmla="*/ 535 w 590"/>
                <a:gd name="T13" fmla="*/ 33 h 802"/>
                <a:gd name="T14" fmla="*/ 506 w 590"/>
                <a:gd name="T15" fmla="*/ 25 h 802"/>
                <a:gd name="T16" fmla="*/ 315 w 590"/>
                <a:gd name="T17" fmla="*/ 0 h 802"/>
                <a:gd name="T18" fmla="*/ 0 w 590"/>
                <a:gd name="T19" fmla="*/ 224 h 802"/>
                <a:gd name="T20" fmla="*/ 228 w 590"/>
                <a:gd name="T21" fmla="*/ 465 h 802"/>
                <a:gd name="T22" fmla="*/ 390 w 590"/>
                <a:gd name="T23" fmla="*/ 606 h 802"/>
                <a:gd name="T24" fmla="*/ 249 w 590"/>
                <a:gd name="T25" fmla="*/ 697 h 802"/>
                <a:gd name="T26" fmla="*/ 20 w 590"/>
                <a:gd name="T27" fmla="*/ 618 h 802"/>
                <a:gd name="T28" fmla="*/ 0 w 590"/>
                <a:gd name="T29" fmla="*/ 606 h 802"/>
                <a:gd name="T30" fmla="*/ 0 w 590"/>
                <a:gd name="T31" fmla="*/ 767 h 802"/>
                <a:gd name="T32" fmla="*/ 16 w 590"/>
                <a:gd name="T33" fmla="*/ 771 h 802"/>
                <a:gd name="T34" fmla="*/ 244 w 590"/>
                <a:gd name="T35" fmla="*/ 801 h 802"/>
                <a:gd name="T36" fmla="*/ 580 w 590"/>
                <a:gd name="T37" fmla="*/ 568 h 802"/>
                <a:gd name="T38" fmla="*/ 348 w 590"/>
                <a:gd name="T39" fmla="*/ 303 h 8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590" h="802">
                  <a:moveTo>
                    <a:pt x="348" y="303"/>
                  </a:moveTo>
                  <a:cubicBezTo>
                    <a:pt x="265" y="261"/>
                    <a:pt x="195" y="228"/>
                    <a:pt x="195" y="170"/>
                  </a:cubicBezTo>
                  <a:cubicBezTo>
                    <a:pt x="195" y="104"/>
                    <a:pt x="274" y="100"/>
                    <a:pt x="307" y="100"/>
                  </a:cubicBezTo>
                  <a:cubicBezTo>
                    <a:pt x="394" y="100"/>
                    <a:pt x="468" y="145"/>
                    <a:pt x="502" y="166"/>
                  </a:cubicBezTo>
                  <a:lnTo>
                    <a:pt x="535" y="187"/>
                  </a:lnTo>
                  <a:lnTo>
                    <a:pt x="535" y="162"/>
                  </a:lnTo>
                  <a:lnTo>
                    <a:pt x="535" y="33"/>
                  </a:lnTo>
                  <a:lnTo>
                    <a:pt x="506" y="25"/>
                  </a:lnTo>
                  <a:cubicBezTo>
                    <a:pt x="468" y="17"/>
                    <a:pt x="398" y="0"/>
                    <a:pt x="315" y="0"/>
                  </a:cubicBezTo>
                  <a:cubicBezTo>
                    <a:pt x="120" y="0"/>
                    <a:pt x="0" y="83"/>
                    <a:pt x="0" y="224"/>
                  </a:cubicBezTo>
                  <a:cubicBezTo>
                    <a:pt x="0" y="353"/>
                    <a:pt x="124" y="411"/>
                    <a:pt x="228" y="465"/>
                  </a:cubicBezTo>
                  <a:cubicBezTo>
                    <a:pt x="311" y="506"/>
                    <a:pt x="390" y="543"/>
                    <a:pt x="390" y="606"/>
                  </a:cubicBezTo>
                  <a:cubicBezTo>
                    <a:pt x="390" y="664"/>
                    <a:pt x="340" y="697"/>
                    <a:pt x="249" y="697"/>
                  </a:cubicBezTo>
                  <a:cubicBezTo>
                    <a:pt x="149" y="697"/>
                    <a:pt x="70" y="647"/>
                    <a:pt x="20" y="618"/>
                  </a:cubicBezTo>
                  <a:lnTo>
                    <a:pt x="0" y="606"/>
                  </a:lnTo>
                  <a:lnTo>
                    <a:pt x="0" y="767"/>
                  </a:lnTo>
                  <a:lnTo>
                    <a:pt x="16" y="771"/>
                  </a:lnTo>
                  <a:cubicBezTo>
                    <a:pt x="58" y="780"/>
                    <a:pt x="137" y="801"/>
                    <a:pt x="244" y="801"/>
                  </a:cubicBezTo>
                  <a:cubicBezTo>
                    <a:pt x="456" y="801"/>
                    <a:pt x="580" y="713"/>
                    <a:pt x="580" y="568"/>
                  </a:cubicBezTo>
                  <a:cubicBezTo>
                    <a:pt x="589" y="419"/>
                    <a:pt x="460" y="357"/>
                    <a:pt x="348" y="30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77" name="Freeform 11"/>
            <p:cNvSpPr>
              <a:spLocks noChangeArrowheads="1"/>
            </p:cNvSpPr>
            <p:nvPr/>
          </p:nvSpPr>
          <p:spPr bwMode="auto">
            <a:xfrm>
              <a:off x="3635375" y="4198938"/>
              <a:ext cx="325438" cy="396875"/>
            </a:xfrm>
            <a:custGeom>
              <a:avLst/>
              <a:gdLst>
                <a:gd name="T0" fmla="*/ 577 w 906"/>
                <a:gd name="T1" fmla="*/ 4 h 1104"/>
                <a:gd name="T2" fmla="*/ 357 w 906"/>
                <a:gd name="T3" fmla="*/ 112 h 1104"/>
                <a:gd name="T4" fmla="*/ 357 w 906"/>
                <a:gd name="T5" fmla="*/ 0 h 1104"/>
                <a:gd name="T6" fmla="*/ 336 w 906"/>
                <a:gd name="T7" fmla="*/ 4 h 1104"/>
                <a:gd name="T8" fmla="*/ 0 w 906"/>
                <a:gd name="T9" fmla="*/ 58 h 1104"/>
                <a:gd name="T10" fmla="*/ 0 w 906"/>
                <a:gd name="T11" fmla="*/ 116 h 1104"/>
                <a:gd name="T12" fmla="*/ 13 w 906"/>
                <a:gd name="T13" fmla="*/ 116 h 1104"/>
                <a:gd name="T14" fmla="*/ 137 w 906"/>
                <a:gd name="T15" fmla="*/ 240 h 1104"/>
                <a:gd name="T16" fmla="*/ 137 w 906"/>
                <a:gd name="T17" fmla="*/ 1103 h 1104"/>
                <a:gd name="T18" fmla="*/ 345 w 906"/>
                <a:gd name="T19" fmla="*/ 1103 h 1104"/>
                <a:gd name="T20" fmla="*/ 345 w 906"/>
                <a:gd name="T21" fmla="*/ 709 h 1104"/>
                <a:gd name="T22" fmla="*/ 560 w 906"/>
                <a:gd name="T23" fmla="*/ 800 h 1104"/>
                <a:gd name="T24" fmla="*/ 896 w 906"/>
                <a:gd name="T25" fmla="*/ 390 h 1104"/>
                <a:gd name="T26" fmla="*/ 577 w 906"/>
                <a:gd name="T27" fmla="*/ 4 h 1104"/>
                <a:gd name="T28" fmla="*/ 515 w 906"/>
                <a:gd name="T29" fmla="*/ 120 h 1104"/>
                <a:gd name="T30" fmla="*/ 672 w 906"/>
                <a:gd name="T31" fmla="*/ 394 h 1104"/>
                <a:gd name="T32" fmla="*/ 515 w 906"/>
                <a:gd name="T33" fmla="*/ 688 h 1104"/>
                <a:gd name="T34" fmla="*/ 349 w 906"/>
                <a:gd name="T35" fmla="*/ 456 h 1104"/>
                <a:gd name="T36" fmla="*/ 349 w 906"/>
                <a:gd name="T37" fmla="*/ 390 h 1104"/>
                <a:gd name="T38" fmla="*/ 515 w 906"/>
                <a:gd name="T39" fmla="*/ 120 h 1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906" h="1104">
                  <a:moveTo>
                    <a:pt x="577" y="4"/>
                  </a:moveTo>
                  <a:cubicBezTo>
                    <a:pt x="498" y="4"/>
                    <a:pt x="424" y="41"/>
                    <a:pt x="357" y="112"/>
                  </a:cubicBezTo>
                  <a:cubicBezTo>
                    <a:pt x="357" y="75"/>
                    <a:pt x="357" y="0"/>
                    <a:pt x="357" y="0"/>
                  </a:cubicBezTo>
                  <a:lnTo>
                    <a:pt x="336" y="4"/>
                  </a:lnTo>
                  <a:lnTo>
                    <a:pt x="0" y="58"/>
                  </a:lnTo>
                  <a:lnTo>
                    <a:pt x="0" y="116"/>
                  </a:lnTo>
                  <a:lnTo>
                    <a:pt x="13" y="116"/>
                  </a:lnTo>
                  <a:cubicBezTo>
                    <a:pt x="117" y="120"/>
                    <a:pt x="137" y="141"/>
                    <a:pt x="137" y="240"/>
                  </a:cubicBezTo>
                  <a:lnTo>
                    <a:pt x="137" y="1103"/>
                  </a:lnTo>
                  <a:lnTo>
                    <a:pt x="345" y="1103"/>
                  </a:lnTo>
                  <a:cubicBezTo>
                    <a:pt x="345" y="1103"/>
                    <a:pt x="345" y="775"/>
                    <a:pt x="345" y="709"/>
                  </a:cubicBezTo>
                  <a:cubicBezTo>
                    <a:pt x="382" y="755"/>
                    <a:pt x="444" y="800"/>
                    <a:pt x="560" y="800"/>
                  </a:cubicBezTo>
                  <a:cubicBezTo>
                    <a:pt x="780" y="800"/>
                    <a:pt x="896" y="659"/>
                    <a:pt x="896" y="390"/>
                  </a:cubicBezTo>
                  <a:cubicBezTo>
                    <a:pt x="905" y="145"/>
                    <a:pt x="784" y="4"/>
                    <a:pt x="577" y="4"/>
                  </a:cubicBezTo>
                  <a:close/>
                  <a:moveTo>
                    <a:pt x="515" y="120"/>
                  </a:moveTo>
                  <a:cubicBezTo>
                    <a:pt x="656" y="120"/>
                    <a:pt x="672" y="274"/>
                    <a:pt x="672" y="394"/>
                  </a:cubicBezTo>
                  <a:cubicBezTo>
                    <a:pt x="672" y="593"/>
                    <a:pt x="623" y="688"/>
                    <a:pt x="515" y="688"/>
                  </a:cubicBezTo>
                  <a:cubicBezTo>
                    <a:pt x="378" y="688"/>
                    <a:pt x="349" y="560"/>
                    <a:pt x="349" y="456"/>
                  </a:cubicBezTo>
                  <a:lnTo>
                    <a:pt x="349" y="390"/>
                  </a:lnTo>
                  <a:cubicBezTo>
                    <a:pt x="353" y="307"/>
                    <a:pt x="370" y="120"/>
                    <a:pt x="515" y="120"/>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78" name="Freeform 12"/>
            <p:cNvSpPr>
              <a:spLocks noChangeArrowheads="1"/>
            </p:cNvSpPr>
            <p:nvPr/>
          </p:nvSpPr>
          <p:spPr bwMode="auto">
            <a:xfrm>
              <a:off x="4013200" y="4198938"/>
              <a:ext cx="123825" cy="282575"/>
            </a:xfrm>
            <a:custGeom>
              <a:avLst/>
              <a:gdLst>
                <a:gd name="T0" fmla="*/ 0 w 345"/>
                <a:gd name="T1" fmla="*/ 58 h 785"/>
                <a:gd name="T2" fmla="*/ 0 w 345"/>
                <a:gd name="T3" fmla="*/ 116 h 785"/>
                <a:gd name="T4" fmla="*/ 12 w 345"/>
                <a:gd name="T5" fmla="*/ 116 h 785"/>
                <a:gd name="T6" fmla="*/ 137 w 345"/>
                <a:gd name="T7" fmla="*/ 240 h 785"/>
                <a:gd name="T8" fmla="*/ 137 w 345"/>
                <a:gd name="T9" fmla="*/ 784 h 785"/>
                <a:gd name="T10" fmla="*/ 344 w 345"/>
                <a:gd name="T11" fmla="*/ 784 h 785"/>
                <a:gd name="T12" fmla="*/ 344 w 345"/>
                <a:gd name="T13" fmla="*/ 0 h 785"/>
                <a:gd name="T14" fmla="*/ 328 w 345"/>
                <a:gd name="T15" fmla="*/ 4 h 785"/>
                <a:gd name="T16" fmla="*/ 0 w 345"/>
                <a:gd name="T17" fmla="*/ 58 h 7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45" h="785">
                  <a:moveTo>
                    <a:pt x="0" y="58"/>
                  </a:moveTo>
                  <a:lnTo>
                    <a:pt x="0" y="116"/>
                  </a:lnTo>
                  <a:lnTo>
                    <a:pt x="12" y="116"/>
                  </a:lnTo>
                  <a:cubicBezTo>
                    <a:pt x="116" y="120"/>
                    <a:pt x="137" y="141"/>
                    <a:pt x="137" y="240"/>
                  </a:cubicBezTo>
                  <a:lnTo>
                    <a:pt x="137" y="784"/>
                  </a:lnTo>
                  <a:lnTo>
                    <a:pt x="344" y="784"/>
                  </a:lnTo>
                  <a:lnTo>
                    <a:pt x="344" y="0"/>
                  </a:lnTo>
                  <a:lnTo>
                    <a:pt x="328" y="4"/>
                  </a:lnTo>
                  <a:lnTo>
                    <a:pt x="0" y="58"/>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80" name="Freeform 13"/>
            <p:cNvSpPr>
              <a:spLocks noChangeArrowheads="1"/>
            </p:cNvSpPr>
            <p:nvPr/>
          </p:nvSpPr>
          <p:spPr bwMode="auto">
            <a:xfrm>
              <a:off x="4056063" y="4084638"/>
              <a:ext cx="93662" cy="82550"/>
            </a:xfrm>
            <a:custGeom>
              <a:avLst/>
              <a:gdLst>
                <a:gd name="T0" fmla="*/ 129 w 262"/>
                <a:gd name="T1" fmla="*/ 228 h 229"/>
                <a:gd name="T2" fmla="*/ 261 w 262"/>
                <a:gd name="T3" fmla="*/ 112 h 229"/>
                <a:gd name="T4" fmla="*/ 133 w 262"/>
                <a:gd name="T5" fmla="*/ 0 h 229"/>
                <a:gd name="T6" fmla="*/ 4 w 262"/>
                <a:gd name="T7" fmla="*/ 112 h 229"/>
                <a:gd name="T8" fmla="*/ 129 w 262"/>
                <a:gd name="T9" fmla="*/ 228 h 229"/>
              </a:gdLst>
              <a:ahLst/>
              <a:cxnLst>
                <a:cxn ang="0">
                  <a:pos x="T0" y="T1"/>
                </a:cxn>
                <a:cxn ang="0">
                  <a:pos x="T2" y="T3"/>
                </a:cxn>
                <a:cxn ang="0">
                  <a:pos x="T4" y="T5"/>
                </a:cxn>
                <a:cxn ang="0">
                  <a:pos x="T6" y="T7"/>
                </a:cxn>
                <a:cxn ang="0">
                  <a:pos x="T8" y="T9"/>
                </a:cxn>
              </a:cxnLst>
              <a:rect l="0" t="0" r="r" b="b"/>
              <a:pathLst>
                <a:path w="262" h="229">
                  <a:moveTo>
                    <a:pt x="129" y="228"/>
                  </a:moveTo>
                  <a:cubicBezTo>
                    <a:pt x="199" y="228"/>
                    <a:pt x="261" y="178"/>
                    <a:pt x="261" y="112"/>
                  </a:cubicBezTo>
                  <a:cubicBezTo>
                    <a:pt x="261" y="49"/>
                    <a:pt x="203" y="0"/>
                    <a:pt x="133" y="0"/>
                  </a:cubicBezTo>
                  <a:cubicBezTo>
                    <a:pt x="62" y="0"/>
                    <a:pt x="4" y="49"/>
                    <a:pt x="4" y="112"/>
                  </a:cubicBezTo>
                  <a:cubicBezTo>
                    <a:pt x="0" y="178"/>
                    <a:pt x="58" y="228"/>
                    <a:pt x="129" y="228"/>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81" name="Freeform 14"/>
            <p:cNvSpPr>
              <a:spLocks noChangeArrowheads="1"/>
            </p:cNvSpPr>
            <p:nvPr/>
          </p:nvSpPr>
          <p:spPr bwMode="auto">
            <a:xfrm>
              <a:off x="4211638" y="4200525"/>
              <a:ext cx="244475" cy="280988"/>
            </a:xfrm>
            <a:custGeom>
              <a:avLst/>
              <a:gdLst>
                <a:gd name="T0" fmla="*/ 676 w 677"/>
                <a:gd name="T1" fmla="*/ 174 h 781"/>
                <a:gd name="T2" fmla="*/ 676 w 677"/>
                <a:gd name="T3" fmla="*/ 12 h 781"/>
                <a:gd name="T4" fmla="*/ 663 w 677"/>
                <a:gd name="T5" fmla="*/ 12 h 781"/>
                <a:gd name="T6" fmla="*/ 564 w 677"/>
                <a:gd name="T7" fmla="*/ 4 h 781"/>
                <a:gd name="T8" fmla="*/ 348 w 677"/>
                <a:gd name="T9" fmla="*/ 158 h 781"/>
                <a:gd name="T10" fmla="*/ 348 w 677"/>
                <a:gd name="T11" fmla="*/ 0 h 781"/>
                <a:gd name="T12" fmla="*/ 331 w 677"/>
                <a:gd name="T13" fmla="*/ 0 h 781"/>
                <a:gd name="T14" fmla="*/ 0 w 677"/>
                <a:gd name="T15" fmla="*/ 54 h 781"/>
                <a:gd name="T16" fmla="*/ 0 w 677"/>
                <a:gd name="T17" fmla="*/ 112 h 781"/>
                <a:gd name="T18" fmla="*/ 12 w 677"/>
                <a:gd name="T19" fmla="*/ 112 h 781"/>
                <a:gd name="T20" fmla="*/ 141 w 677"/>
                <a:gd name="T21" fmla="*/ 236 h 781"/>
                <a:gd name="T22" fmla="*/ 141 w 677"/>
                <a:gd name="T23" fmla="*/ 780 h 781"/>
                <a:gd name="T24" fmla="*/ 348 w 677"/>
                <a:gd name="T25" fmla="*/ 780 h 781"/>
                <a:gd name="T26" fmla="*/ 348 w 677"/>
                <a:gd name="T27" fmla="*/ 390 h 781"/>
                <a:gd name="T28" fmla="*/ 568 w 677"/>
                <a:gd name="T29" fmla="*/ 170 h 781"/>
                <a:gd name="T30" fmla="*/ 643 w 677"/>
                <a:gd name="T31" fmla="*/ 183 h 781"/>
                <a:gd name="T32" fmla="*/ 676 w 677"/>
                <a:gd name="T33" fmla="*/ 191 h 781"/>
                <a:gd name="T34" fmla="*/ 676 w 677"/>
                <a:gd name="T35" fmla="*/ 174 h 7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77" h="781">
                  <a:moveTo>
                    <a:pt x="676" y="174"/>
                  </a:moveTo>
                  <a:lnTo>
                    <a:pt x="676" y="12"/>
                  </a:lnTo>
                  <a:lnTo>
                    <a:pt x="663" y="12"/>
                  </a:lnTo>
                  <a:cubicBezTo>
                    <a:pt x="630" y="8"/>
                    <a:pt x="593" y="4"/>
                    <a:pt x="564" y="4"/>
                  </a:cubicBezTo>
                  <a:cubicBezTo>
                    <a:pt x="443" y="4"/>
                    <a:pt x="381" y="91"/>
                    <a:pt x="348" y="158"/>
                  </a:cubicBezTo>
                  <a:cubicBezTo>
                    <a:pt x="348" y="95"/>
                    <a:pt x="348" y="0"/>
                    <a:pt x="348" y="0"/>
                  </a:cubicBezTo>
                  <a:lnTo>
                    <a:pt x="331" y="0"/>
                  </a:lnTo>
                  <a:lnTo>
                    <a:pt x="0" y="54"/>
                  </a:lnTo>
                  <a:lnTo>
                    <a:pt x="0" y="112"/>
                  </a:lnTo>
                  <a:lnTo>
                    <a:pt x="12" y="112"/>
                  </a:lnTo>
                  <a:cubicBezTo>
                    <a:pt x="116" y="116"/>
                    <a:pt x="141" y="137"/>
                    <a:pt x="141" y="236"/>
                  </a:cubicBezTo>
                  <a:lnTo>
                    <a:pt x="141" y="780"/>
                  </a:lnTo>
                  <a:lnTo>
                    <a:pt x="348" y="780"/>
                  </a:lnTo>
                  <a:lnTo>
                    <a:pt x="348" y="390"/>
                  </a:lnTo>
                  <a:cubicBezTo>
                    <a:pt x="348" y="324"/>
                    <a:pt x="369" y="170"/>
                    <a:pt x="568" y="170"/>
                  </a:cubicBezTo>
                  <a:cubicBezTo>
                    <a:pt x="593" y="170"/>
                    <a:pt x="618" y="178"/>
                    <a:pt x="643" y="183"/>
                  </a:cubicBezTo>
                  <a:lnTo>
                    <a:pt x="676" y="191"/>
                  </a:lnTo>
                  <a:lnTo>
                    <a:pt x="676" y="174"/>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82" name="Freeform 15"/>
            <p:cNvSpPr>
              <a:spLocks noChangeArrowheads="1"/>
            </p:cNvSpPr>
            <p:nvPr/>
          </p:nvSpPr>
          <p:spPr bwMode="auto">
            <a:xfrm>
              <a:off x="4486275" y="4200525"/>
              <a:ext cx="266700" cy="287338"/>
            </a:xfrm>
            <a:custGeom>
              <a:avLst/>
              <a:gdLst>
                <a:gd name="T0" fmla="*/ 738 w 743"/>
                <a:gd name="T1" fmla="*/ 315 h 797"/>
                <a:gd name="T2" fmla="*/ 390 w 743"/>
                <a:gd name="T3" fmla="*/ 0 h 797"/>
                <a:gd name="T4" fmla="*/ 0 w 743"/>
                <a:gd name="T5" fmla="*/ 373 h 797"/>
                <a:gd name="T6" fmla="*/ 456 w 743"/>
                <a:gd name="T7" fmla="*/ 796 h 797"/>
                <a:gd name="T8" fmla="*/ 713 w 743"/>
                <a:gd name="T9" fmla="*/ 755 h 797"/>
                <a:gd name="T10" fmla="*/ 726 w 743"/>
                <a:gd name="T11" fmla="*/ 751 h 797"/>
                <a:gd name="T12" fmla="*/ 726 w 743"/>
                <a:gd name="T13" fmla="*/ 651 h 797"/>
                <a:gd name="T14" fmla="*/ 705 w 743"/>
                <a:gd name="T15" fmla="*/ 660 h 797"/>
                <a:gd name="T16" fmla="*/ 543 w 743"/>
                <a:gd name="T17" fmla="*/ 684 h 797"/>
                <a:gd name="T18" fmla="*/ 232 w 743"/>
                <a:gd name="T19" fmla="*/ 332 h 797"/>
                <a:gd name="T20" fmla="*/ 742 w 743"/>
                <a:gd name="T21" fmla="*/ 332 h 797"/>
                <a:gd name="T22" fmla="*/ 742 w 743"/>
                <a:gd name="T23" fmla="*/ 315 h 797"/>
                <a:gd name="T24" fmla="*/ 738 w 743"/>
                <a:gd name="T25" fmla="*/ 315 h 797"/>
                <a:gd name="T26" fmla="*/ 386 w 743"/>
                <a:gd name="T27" fmla="*/ 83 h 797"/>
                <a:gd name="T28" fmla="*/ 531 w 743"/>
                <a:gd name="T29" fmla="*/ 236 h 797"/>
                <a:gd name="T30" fmla="*/ 228 w 743"/>
                <a:gd name="T31" fmla="*/ 236 h 797"/>
                <a:gd name="T32" fmla="*/ 386 w 743"/>
                <a:gd name="T33" fmla="*/ 83 h 7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743" h="797">
                  <a:moveTo>
                    <a:pt x="738" y="315"/>
                  </a:moveTo>
                  <a:cubicBezTo>
                    <a:pt x="738" y="104"/>
                    <a:pt x="622" y="0"/>
                    <a:pt x="390" y="0"/>
                  </a:cubicBezTo>
                  <a:cubicBezTo>
                    <a:pt x="128" y="0"/>
                    <a:pt x="0" y="124"/>
                    <a:pt x="0" y="373"/>
                  </a:cubicBezTo>
                  <a:cubicBezTo>
                    <a:pt x="0" y="639"/>
                    <a:pt x="170" y="796"/>
                    <a:pt x="456" y="796"/>
                  </a:cubicBezTo>
                  <a:cubicBezTo>
                    <a:pt x="581" y="796"/>
                    <a:pt x="676" y="763"/>
                    <a:pt x="713" y="755"/>
                  </a:cubicBezTo>
                  <a:lnTo>
                    <a:pt x="726" y="751"/>
                  </a:lnTo>
                  <a:lnTo>
                    <a:pt x="726" y="651"/>
                  </a:lnTo>
                  <a:lnTo>
                    <a:pt x="705" y="660"/>
                  </a:lnTo>
                  <a:cubicBezTo>
                    <a:pt x="672" y="672"/>
                    <a:pt x="610" y="684"/>
                    <a:pt x="543" y="684"/>
                  </a:cubicBezTo>
                  <a:cubicBezTo>
                    <a:pt x="319" y="684"/>
                    <a:pt x="236" y="498"/>
                    <a:pt x="232" y="332"/>
                  </a:cubicBezTo>
                  <a:cubicBezTo>
                    <a:pt x="261" y="332"/>
                    <a:pt x="742" y="332"/>
                    <a:pt x="742" y="332"/>
                  </a:cubicBezTo>
                  <a:lnTo>
                    <a:pt x="742" y="315"/>
                  </a:lnTo>
                  <a:lnTo>
                    <a:pt x="738" y="315"/>
                  </a:lnTo>
                  <a:close/>
                  <a:moveTo>
                    <a:pt x="386" y="83"/>
                  </a:moveTo>
                  <a:cubicBezTo>
                    <a:pt x="498" y="83"/>
                    <a:pt x="527" y="166"/>
                    <a:pt x="531" y="236"/>
                  </a:cubicBezTo>
                  <a:cubicBezTo>
                    <a:pt x="506" y="236"/>
                    <a:pt x="257" y="236"/>
                    <a:pt x="228" y="236"/>
                  </a:cubicBezTo>
                  <a:cubicBezTo>
                    <a:pt x="232" y="183"/>
                    <a:pt x="269" y="83"/>
                    <a:pt x="386" y="83"/>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83" name="Freeform 16"/>
            <p:cNvSpPr>
              <a:spLocks noChangeArrowheads="1"/>
            </p:cNvSpPr>
            <p:nvPr/>
          </p:nvSpPr>
          <p:spPr bwMode="auto">
            <a:xfrm>
              <a:off x="5210175" y="4071938"/>
              <a:ext cx="314325" cy="409575"/>
            </a:xfrm>
            <a:custGeom>
              <a:avLst/>
              <a:gdLst>
                <a:gd name="T0" fmla="*/ 634 w 872"/>
                <a:gd name="T1" fmla="*/ 357 h 1138"/>
                <a:gd name="T2" fmla="*/ 348 w 872"/>
                <a:gd name="T3" fmla="*/ 523 h 1138"/>
                <a:gd name="T4" fmla="*/ 348 w 872"/>
                <a:gd name="T5" fmla="*/ 0 h 1138"/>
                <a:gd name="T6" fmla="*/ 332 w 872"/>
                <a:gd name="T7" fmla="*/ 4 h 1138"/>
                <a:gd name="T8" fmla="*/ 0 w 872"/>
                <a:gd name="T9" fmla="*/ 46 h 1138"/>
                <a:gd name="T10" fmla="*/ 0 w 872"/>
                <a:gd name="T11" fmla="*/ 104 h 1138"/>
                <a:gd name="T12" fmla="*/ 16 w 872"/>
                <a:gd name="T13" fmla="*/ 104 h 1138"/>
                <a:gd name="T14" fmla="*/ 141 w 872"/>
                <a:gd name="T15" fmla="*/ 233 h 1138"/>
                <a:gd name="T16" fmla="*/ 141 w 872"/>
                <a:gd name="T17" fmla="*/ 1137 h 1138"/>
                <a:gd name="T18" fmla="*/ 348 w 872"/>
                <a:gd name="T19" fmla="*/ 1137 h 1138"/>
                <a:gd name="T20" fmla="*/ 348 w 872"/>
                <a:gd name="T21" fmla="*/ 747 h 1138"/>
                <a:gd name="T22" fmla="*/ 547 w 872"/>
                <a:gd name="T23" fmla="*/ 494 h 1138"/>
                <a:gd name="T24" fmla="*/ 663 w 872"/>
                <a:gd name="T25" fmla="*/ 660 h 1138"/>
                <a:gd name="T26" fmla="*/ 663 w 872"/>
                <a:gd name="T27" fmla="*/ 1137 h 1138"/>
                <a:gd name="T28" fmla="*/ 871 w 872"/>
                <a:gd name="T29" fmla="*/ 1137 h 1138"/>
                <a:gd name="T30" fmla="*/ 871 w 872"/>
                <a:gd name="T31" fmla="*/ 635 h 1138"/>
                <a:gd name="T32" fmla="*/ 634 w 872"/>
                <a:gd name="T33" fmla="*/ 357 h 1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72" h="1138">
                  <a:moveTo>
                    <a:pt x="634" y="357"/>
                  </a:moveTo>
                  <a:cubicBezTo>
                    <a:pt x="481" y="357"/>
                    <a:pt x="394" y="452"/>
                    <a:pt x="348" y="523"/>
                  </a:cubicBezTo>
                  <a:cubicBezTo>
                    <a:pt x="348" y="440"/>
                    <a:pt x="348" y="0"/>
                    <a:pt x="348" y="0"/>
                  </a:cubicBezTo>
                  <a:lnTo>
                    <a:pt x="332" y="4"/>
                  </a:lnTo>
                  <a:lnTo>
                    <a:pt x="0" y="46"/>
                  </a:lnTo>
                  <a:lnTo>
                    <a:pt x="0" y="104"/>
                  </a:lnTo>
                  <a:lnTo>
                    <a:pt x="16" y="104"/>
                  </a:lnTo>
                  <a:cubicBezTo>
                    <a:pt x="120" y="108"/>
                    <a:pt x="141" y="133"/>
                    <a:pt x="141" y="233"/>
                  </a:cubicBezTo>
                  <a:lnTo>
                    <a:pt x="141" y="1137"/>
                  </a:lnTo>
                  <a:lnTo>
                    <a:pt x="348" y="1137"/>
                  </a:lnTo>
                  <a:lnTo>
                    <a:pt x="348" y="747"/>
                  </a:lnTo>
                  <a:cubicBezTo>
                    <a:pt x="348" y="606"/>
                    <a:pt x="456" y="494"/>
                    <a:pt x="547" y="494"/>
                  </a:cubicBezTo>
                  <a:cubicBezTo>
                    <a:pt x="663" y="494"/>
                    <a:pt x="663" y="581"/>
                    <a:pt x="663" y="660"/>
                  </a:cubicBezTo>
                  <a:lnTo>
                    <a:pt x="663" y="1137"/>
                  </a:lnTo>
                  <a:lnTo>
                    <a:pt x="871" y="1137"/>
                  </a:lnTo>
                  <a:lnTo>
                    <a:pt x="871" y="635"/>
                  </a:lnTo>
                  <a:cubicBezTo>
                    <a:pt x="871" y="552"/>
                    <a:pt x="871" y="357"/>
                    <a:pt x="634" y="357"/>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84" name="Freeform 17"/>
            <p:cNvSpPr>
              <a:spLocks noChangeArrowheads="1"/>
            </p:cNvSpPr>
            <p:nvPr/>
          </p:nvSpPr>
          <p:spPr bwMode="auto">
            <a:xfrm>
              <a:off x="5594350" y="4200525"/>
              <a:ext cx="266700" cy="287338"/>
            </a:xfrm>
            <a:custGeom>
              <a:avLst/>
              <a:gdLst>
                <a:gd name="T0" fmla="*/ 742 w 743"/>
                <a:gd name="T1" fmla="*/ 315 h 797"/>
                <a:gd name="T2" fmla="*/ 394 w 743"/>
                <a:gd name="T3" fmla="*/ 0 h 797"/>
                <a:gd name="T4" fmla="*/ 0 w 743"/>
                <a:gd name="T5" fmla="*/ 373 h 797"/>
                <a:gd name="T6" fmla="*/ 456 w 743"/>
                <a:gd name="T7" fmla="*/ 796 h 797"/>
                <a:gd name="T8" fmla="*/ 713 w 743"/>
                <a:gd name="T9" fmla="*/ 755 h 797"/>
                <a:gd name="T10" fmla="*/ 726 w 743"/>
                <a:gd name="T11" fmla="*/ 751 h 797"/>
                <a:gd name="T12" fmla="*/ 726 w 743"/>
                <a:gd name="T13" fmla="*/ 651 h 797"/>
                <a:gd name="T14" fmla="*/ 705 w 743"/>
                <a:gd name="T15" fmla="*/ 660 h 797"/>
                <a:gd name="T16" fmla="*/ 543 w 743"/>
                <a:gd name="T17" fmla="*/ 684 h 797"/>
                <a:gd name="T18" fmla="*/ 232 w 743"/>
                <a:gd name="T19" fmla="*/ 332 h 797"/>
                <a:gd name="T20" fmla="*/ 742 w 743"/>
                <a:gd name="T21" fmla="*/ 332 h 797"/>
                <a:gd name="T22" fmla="*/ 742 w 743"/>
                <a:gd name="T23" fmla="*/ 315 h 797"/>
                <a:gd name="T24" fmla="*/ 386 w 743"/>
                <a:gd name="T25" fmla="*/ 83 h 797"/>
                <a:gd name="T26" fmla="*/ 531 w 743"/>
                <a:gd name="T27" fmla="*/ 236 h 797"/>
                <a:gd name="T28" fmla="*/ 228 w 743"/>
                <a:gd name="T29" fmla="*/ 236 h 797"/>
                <a:gd name="T30" fmla="*/ 386 w 743"/>
                <a:gd name="T31" fmla="*/ 83 h 7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743" h="797">
                  <a:moveTo>
                    <a:pt x="742" y="315"/>
                  </a:moveTo>
                  <a:cubicBezTo>
                    <a:pt x="742" y="104"/>
                    <a:pt x="626" y="0"/>
                    <a:pt x="394" y="0"/>
                  </a:cubicBezTo>
                  <a:cubicBezTo>
                    <a:pt x="133" y="0"/>
                    <a:pt x="0" y="124"/>
                    <a:pt x="0" y="373"/>
                  </a:cubicBezTo>
                  <a:cubicBezTo>
                    <a:pt x="0" y="639"/>
                    <a:pt x="170" y="796"/>
                    <a:pt x="456" y="796"/>
                  </a:cubicBezTo>
                  <a:cubicBezTo>
                    <a:pt x="581" y="796"/>
                    <a:pt x="676" y="763"/>
                    <a:pt x="713" y="755"/>
                  </a:cubicBezTo>
                  <a:lnTo>
                    <a:pt x="726" y="751"/>
                  </a:lnTo>
                  <a:lnTo>
                    <a:pt x="726" y="651"/>
                  </a:lnTo>
                  <a:lnTo>
                    <a:pt x="705" y="660"/>
                  </a:lnTo>
                  <a:cubicBezTo>
                    <a:pt x="672" y="672"/>
                    <a:pt x="610" y="684"/>
                    <a:pt x="543" y="684"/>
                  </a:cubicBezTo>
                  <a:cubicBezTo>
                    <a:pt x="319" y="684"/>
                    <a:pt x="236" y="498"/>
                    <a:pt x="232" y="332"/>
                  </a:cubicBezTo>
                  <a:cubicBezTo>
                    <a:pt x="261" y="332"/>
                    <a:pt x="742" y="332"/>
                    <a:pt x="742" y="332"/>
                  </a:cubicBezTo>
                  <a:lnTo>
                    <a:pt x="742" y="315"/>
                  </a:lnTo>
                  <a:close/>
                  <a:moveTo>
                    <a:pt x="386" y="83"/>
                  </a:moveTo>
                  <a:cubicBezTo>
                    <a:pt x="498" y="83"/>
                    <a:pt x="527" y="166"/>
                    <a:pt x="531" y="236"/>
                  </a:cubicBezTo>
                  <a:cubicBezTo>
                    <a:pt x="506" y="236"/>
                    <a:pt x="257" y="236"/>
                    <a:pt x="228" y="236"/>
                  </a:cubicBezTo>
                  <a:cubicBezTo>
                    <a:pt x="236" y="183"/>
                    <a:pt x="270" y="83"/>
                    <a:pt x="386" y="83"/>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85" name="Freeform 18"/>
            <p:cNvSpPr>
              <a:spLocks noChangeArrowheads="1"/>
            </p:cNvSpPr>
            <p:nvPr/>
          </p:nvSpPr>
          <p:spPr bwMode="auto">
            <a:xfrm>
              <a:off x="4964113" y="4121150"/>
              <a:ext cx="212725" cy="366713"/>
            </a:xfrm>
            <a:custGeom>
              <a:avLst/>
              <a:gdLst>
                <a:gd name="T0" fmla="*/ 141 w 589"/>
                <a:gd name="T1" fmla="*/ 237 h 1017"/>
                <a:gd name="T2" fmla="*/ 0 w 589"/>
                <a:gd name="T3" fmla="*/ 237 h 1017"/>
                <a:gd name="T4" fmla="*/ 0 w 589"/>
                <a:gd name="T5" fmla="*/ 328 h 1017"/>
                <a:gd name="T6" fmla="*/ 141 w 589"/>
                <a:gd name="T7" fmla="*/ 328 h 1017"/>
                <a:gd name="T8" fmla="*/ 141 w 589"/>
                <a:gd name="T9" fmla="*/ 797 h 1017"/>
                <a:gd name="T10" fmla="*/ 427 w 589"/>
                <a:gd name="T11" fmla="*/ 1016 h 1017"/>
                <a:gd name="T12" fmla="*/ 551 w 589"/>
                <a:gd name="T13" fmla="*/ 1004 h 1017"/>
                <a:gd name="T14" fmla="*/ 564 w 589"/>
                <a:gd name="T15" fmla="*/ 1004 h 1017"/>
                <a:gd name="T16" fmla="*/ 564 w 589"/>
                <a:gd name="T17" fmla="*/ 909 h 1017"/>
                <a:gd name="T18" fmla="*/ 547 w 589"/>
                <a:gd name="T19" fmla="*/ 913 h 1017"/>
                <a:gd name="T20" fmla="*/ 485 w 589"/>
                <a:gd name="T21" fmla="*/ 917 h 1017"/>
                <a:gd name="T22" fmla="*/ 352 w 589"/>
                <a:gd name="T23" fmla="*/ 772 h 1017"/>
                <a:gd name="T24" fmla="*/ 352 w 589"/>
                <a:gd name="T25" fmla="*/ 328 h 1017"/>
                <a:gd name="T26" fmla="*/ 588 w 589"/>
                <a:gd name="T27" fmla="*/ 328 h 1017"/>
                <a:gd name="T28" fmla="*/ 588 w 589"/>
                <a:gd name="T29" fmla="*/ 237 h 1017"/>
                <a:gd name="T30" fmla="*/ 352 w 589"/>
                <a:gd name="T31" fmla="*/ 237 h 1017"/>
                <a:gd name="T32" fmla="*/ 352 w 589"/>
                <a:gd name="T33" fmla="*/ 0 h 1017"/>
                <a:gd name="T34" fmla="*/ 141 w 589"/>
                <a:gd name="T35" fmla="*/ 0 h 1017"/>
                <a:gd name="T36" fmla="*/ 141 w 589"/>
                <a:gd name="T37" fmla="*/ 237 h 10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89" h="1017">
                  <a:moveTo>
                    <a:pt x="141" y="237"/>
                  </a:moveTo>
                  <a:lnTo>
                    <a:pt x="0" y="237"/>
                  </a:lnTo>
                  <a:lnTo>
                    <a:pt x="0" y="328"/>
                  </a:lnTo>
                  <a:lnTo>
                    <a:pt x="141" y="328"/>
                  </a:lnTo>
                  <a:lnTo>
                    <a:pt x="141" y="797"/>
                  </a:lnTo>
                  <a:cubicBezTo>
                    <a:pt x="141" y="1000"/>
                    <a:pt x="270" y="1016"/>
                    <a:pt x="427" y="1016"/>
                  </a:cubicBezTo>
                  <a:cubicBezTo>
                    <a:pt x="464" y="1016"/>
                    <a:pt x="505" y="1012"/>
                    <a:pt x="551" y="1004"/>
                  </a:cubicBezTo>
                  <a:lnTo>
                    <a:pt x="564" y="1004"/>
                  </a:lnTo>
                  <a:lnTo>
                    <a:pt x="564" y="909"/>
                  </a:lnTo>
                  <a:lnTo>
                    <a:pt x="547" y="913"/>
                  </a:lnTo>
                  <a:cubicBezTo>
                    <a:pt x="530" y="917"/>
                    <a:pt x="510" y="917"/>
                    <a:pt x="485" y="917"/>
                  </a:cubicBezTo>
                  <a:cubicBezTo>
                    <a:pt x="360" y="917"/>
                    <a:pt x="352" y="880"/>
                    <a:pt x="352" y="772"/>
                  </a:cubicBezTo>
                  <a:lnTo>
                    <a:pt x="352" y="328"/>
                  </a:lnTo>
                  <a:lnTo>
                    <a:pt x="588" y="328"/>
                  </a:lnTo>
                  <a:lnTo>
                    <a:pt x="588" y="237"/>
                  </a:lnTo>
                  <a:lnTo>
                    <a:pt x="352" y="237"/>
                  </a:lnTo>
                  <a:lnTo>
                    <a:pt x="352" y="0"/>
                  </a:lnTo>
                  <a:lnTo>
                    <a:pt x="141" y="0"/>
                  </a:lnTo>
                  <a:lnTo>
                    <a:pt x="141" y="237"/>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86" name="Freeform 19"/>
            <p:cNvSpPr>
              <a:spLocks noChangeArrowheads="1"/>
            </p:cNvSpPr>
            <p:nvPr/>
          </p:nvSpPr>
          <p:spPr bwMode="auto">
            <a:xfrm>
              <a:off x="6049963" y="4087813"/>
              <a:ext cx="450850" cy="395287"/>
            </a:xfrm>
            <a:custGeom>
              <a:avLst/>
              <a:gdLst>
                <a:gd name="T0" fmla="*/ 1245 w 1254"/>
                <a:gd name="T1" fmla="*/ 0 h 1096"/>
                <a:gd name="T2" fmla="*/ 1033 w 1254"/>
                <a:gd name="T3" fmla="*/ 0 h 1096"/>
                <a:gd name="T4" fmla="*/ 1033 w 1254"/>
                <a:gd name="T5" fmla="*/ 829 h 1096"/>
                <a:gd name="T6" fmla="*/ 485 w 1254"/>
                <a:gd name="T7" fmla="*/ 0 h 1096"/>
                <a:gd name="T8" fmla="*/ 0 w 1254"/>
                <a:gd name="T9" fmla="*/ 0 h 1096"/>
                <a:gd name="T10" fmla="*/ 0 w 1254"/>
                <a:gd name="T11" fmla="*/ 62 h 1096"/>
                <a:gd name="T12" fmla="*/ 42 w 1254"/>
                <a:gd name="T13" fmla="*/ 70 h 1096"/>
                <a:gd name="T14" fmla="*/ 178 w 1254"/>
                <a:gd name="T15" fmla="*/ 220 h 1096"/>
                <a:gd name="T16" fmla="*/ 178 w 1254"/>
                <a:gd name="T17" fmla="*/ 1095 h 1096"/>
                <a:gd name="T18" fmla="*/ 403 w 1254"/>
                <a:gd name="T19" fmla="*/ 1095 h 1096"/>
                <a:gd name="T20" fmla="*/ 403 w 1254"/>
                <a:gd name="T21" fmla="*/ 228 h 1096"/>
                <a:gd name="T22" fmla="*/ 975 w 1254"/>
                <a:gd name="T23" fmla="*/ 1095 h 1096"/>
                <a:gd name="T24" fmla="*/ 1253 w 1254"/>
                <a:gd name="T25" fmla="*/ 1095 h 1096"/>
                <a:gd name="T26" fmla="*/ 1253 w 1254"/>
                <a:gd name="T27" fmla="*/ 0 h 1096"/>
                <a:gd name="T28" fmla="*/ 1245 w 1254"/>
                <a:gd name="T29" fmla="*/ 0 h 10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54" h="1096">
                  <a:moveTo>
                    <a:pt x="1245" y="0"/>
                  </a:moveTo>
                  <a:lnTo>
                    <a:pt x="1033" y="0"/>
                  </a:lnTo>
                  <a:cubicBezTo>
                    <a:pt x="1033" y="0"/>
                    <a:pt x="1033" y="751"/>
                    <a:pt x="1033" y="829"/>
                  </a:cubicBezTo>
                  <a:cubicBezTo>
                    <a:pt x="992" y="763"/>
                    <a:pt x="485" y="0"/>
                    <a:pt x="485" y="0"/>
                  </a:cubicBezTo>
                  <a:lnTo>
                    <a:pt x="0" y="0"/>
                  </a:lnTo>
                  <a:lnTo>
                    <a:pt x="0" y="62"/>
                  </a:lnTo>
                  <a:lnTo>
                    <a:pt x="42" y="70"/>
                  </a:lnTo>
                  <a:cubicBezTo>
                    <a:pt x="170" y="91"/>
                    <a:pt x="178" y="95"/>
                    <a:pt x="178" y="220"/>
                  </a:cubicBezTo>
                  <a:lnTo>
                    <a:pt x="178" y="1095"/>
                  </a:lnTo>
                  <a:lnTo>
                    <a:pt x="403" y="1095"/>
                  </a:lnTo>
                  <a:cubicBezTo>
                    <a:pt x="403" y="1095"/>
                    <a:pt x="403" y="307"/>
                    <a:pt x="403" y="228"/>
                  </a:cubicBezTo>
                  <a:cubicBezTo>
                    <a:pt x="448" y="294"/>
                    <a:pt x="975" y="1095"/>
                    <a:pt x="975" y="1095"/>
                  </a:cubicBezTo>
                  <a:lnTo>
                    <a:pt x="1253" y="1095"/>
                  </a:lnTo>
                  <a:lnTo>
                    <a:pt x="1253" y="0"/>
                  </a:lnTo>
                  <a:lnTo>
                    <a:pt x="1245"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87" name="Freeform 20"/>
            <p:cNvSpPr>
              <a:spLocks noChangeArrowheads="1"/>
            </p:cNvSpPr>
            <p:nvPr/>
          </p:nvSpPr>
          <p:spPr bwMode="auto">
            <a:xfrm>
              <a:off x="6573838" y="4200525"/>
              <a:ext cx="266700" cy="287338"/>
            </a:xfrm>
            <a:custGeom>
              <a:avLst/>
              <a:gdLst>
                <a:gd name="T0" fmla="*/ 390 w 740"/>
                <a:gd name="T1" fmla="*/ 0 h 797"/>
                <a:gd name="T2" fmla="*/ 0 w 740"/>
                <a:gd name="T3" fmla="*/ 373 h 797"/>
                <a:gd name="T4" fmla="*/ 456 w 740"/>
                <a:gd name="T5" fmla="*/ 796 h 797"/>
                <a:gd name="T6" fmla="*/ 714 w 740"/>
                <a:gd name="T7" fmla="*/ 755 h 797"/>
                <a:gd name="T8" fmla="*/ 726 w 740"/>
                <a:gd name="T9" fmla="*/ 751 h 797"/>
                <a:gd name="T10" fmla="*/ 726 w 740"/>
                <a:gd name="T11" fmla="*/ 651 h 797"/>
                <a:gd name="T12" fmla="*/ 705 w 740"/>
                <a:gd name="T13" fmla="*/ 660 h 797"/>
                <a:gd name="T14" fmla="*/ 539 w 740"/>
                <a:gd name="T15" fmla="*/ 684 h 797"/>
                <a:gd name="T16" fmla="*/ 228 w 740"/>
                <a:gd name="T17" fmla="*/ 332 h 797"/>
                <a:gd name="T18" fmla="*/ 739 w 740"/>
                <a:gd name="T19" fmla="*/ 332 h 797"/>
                <a:gd name="T20" fmla="*/ 739 w 740"/>
                <a:gd name="T21" fmla="*/ 315 h 797"/>
                <a:gd name="T22" fmla="*/ 390 w 740"/>
                <a:gd name="T23" fmla="*/ 0 h 797"/>
                <a:gd name="T24" fmla="*/ 386 w 740"/>
                <a:gd name="T25" fmla="*/ 83 h 797"/>
                <a:gd name="T26" fmla="*/ 531 w 740"/>
                <a:gd name="T27" fmla="*/ 236 h 797"/>
                <a:gd name="T28" fmla="*/ 228 w 740"/>
                <a:gd name="T29" fmla="*/ 236 h 797"/>
                <a:gd name="T30" fmla="*/ 386 w 740"/>
                <a:gd name="T31" fmla="*/ 83 h 7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740" h="797">
                  <a:moveTo>
                    <a:pt x="390" y="0"/>
                  </a:moveTo>
                  <a:cubicBezTo>
                    <a:pt x="129" y="0"/>
                    <a:pt x="0" y="124"/>
                    <a:pt x="0" y="373"/>
                  </a:cubicBezTo>
                  <a:cubicBezTo>
                    <a:pt x="0" y="639"/>
                    <a:pt x="170" y="796"/>
                    <a:pt x="456" y="796"/>
                  </a:cubicBezTo>
                  <a:cubicBezTo>
                    <a:pt x="581" y="796"/>
                    <a:pt x="676" y="767"/>
                    <a:pt x="714" y="755"/>
                  </a:cubicBezTo>
                  <a:lnTo>
                    <a:pt x="726" y="751"/>
                  </a:lnTo>
                  <a:lnTo>
                    <a:pt x="726" y="651"/>
                  </a:lnTo>
                  <a:lnTo>
                    <a:pt x="705" y="660"/>
                  </a:lnTo>
                  <a:cubicBezTo>
                    <a:pt x="672" y="672"/>
                    <a:pt x="610" y="684"/>
                    <a:pt x="539" y="684"/>
                  </a:cubicBezTo>
                  <a:cubicBezTo>
                    <a:pt x="315" y="684"/>
                    <a:pt x="232" y="498"/>
                    <a:pt x="228" y="332"/>
                  </a:cubicBezTo>
                  <a:lnTo>
                    <a:pt x="739" y="332"/>
                  </a:lnTo>
                  <a:lnTo>
                    <a:pt x="739" y="315"/>
                  </a:lnTo>
                  <a:cubicBezTo>
                    <a:pt x="739" y="104"/>
                    <a:pt x="622" y="0"/>
                    <a:pt x="390" y="0"/>
                  </a:cubicBezTo>
                  <a:close/>
                  <a:moveTo>
                    <a:pt x="386" y="83"/>
                  </a:moveTo>
                  <a:cubicBezTo>
                    <a:pt x="498" y="83"/>
                    <a:pt x="527" y="162"/>
                    <a:pt x="531" y="236"/>
                  </a:cubicBezTo>
                  <a:lnTo>
                    <a:pt x="228" y="236"/>
                  </a:lnTo>
                  <a:cubicBezTo>
                    <a:pt x="232" y="187"/>
                    <a:pt x="270" y="83"/>
                    <a:pt x="386" y="83"/>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88" name="Freeform 21"/>
            <p:cNvSpPr>
              <a:spLocks noChangeArrowheads="1"/>
            </p:cNvSpPr>
            <p:nvPr/>
          </p:nvSpPr>
          <p:spPr bwMode="auto">
            <a:xfrm>
              <a:off x="7204075" y="4121150"/>
              <a:ext cx="212725" cy="366713"/>
            </a:xfrm>
            <a:custGeom>
              <a:avLst/>
              <a:gdLst>
                <a:gd name="T0" fmla="*/ 141 w 590"/>
                <a:gd name="T1" fmla="*/ 237 h 1017"/>
                <a:gd name="T2" fmla="*/ 0 w 590"/>
                <a:gd name="T3" fmla="*/ 237 h 1017"/>
                <a:gd name="T4" fmla="*/ 0 w 590"/>
                <a:gd name="T5" fmla="*/ 328 h 1017"/>
                <a:gd name="T6" fmla="*/ 141 w 590"/>
                <a:gd name="T7" fmla="*/ 328 h 1017"/>
                <a:gd name="T8" fmla="*/ 141 w 590"/>
                <a:gd name="T9" fmla="*/ 797 h 1017"/>
                <a:gd name="T10" fmla="*/ 427 w 590"/>
                <a:gd name="T11" fmla="*/ 1016 h 1017"/>
                <a:gd name="T12" fmla="*/ 551 w 590"/>
                <a:gd name="T13" fmla="*/ 1004 h 1017"/>
                <a:gd name="T14" fmla="*/ 564 w 590"/>
                <a:gd name="T15" fmla="*/ 1004 h 1017"/>
                <a:gd name="T16" fmla="*/ 564 w 590"/>
                <a:gd name="T17" fmla="*/ 909 h 1017"/>
                <a:gd name="T18" fmla="*/ 547 w 590"/>
                <a:gd name="T19" fmla="*/ 913 h 1017"/>
                <a:gd name="T20" fmla="*/ 485 w 590"/>
                <a:gd name="T21" fmla="*/ 917 h 1017"/>
                <a:gd name="T22" fmla="*/ 352 w 590"/>
                <a:gd name="T23" fmla="*/ 772 h 1017"/>
                <a:gd name="T24" fmla="*/ 352 w 590"/>
                <a:gd name="T25" fmla="*/ 328 h 1017"/>
                <a:gd name="T26" fmla="*/ 589 w 590"/>
                <a:gd name="T27" fmla="*/ 328 h 1017"/>
                <a:gd name="T28" fmla="*/ 589 w 590"/>
                <a:gd name="T29" fmla="*/ 237 h 1017"/>
                <a:gd name="T30" fmla="*/ 352 w 590"/>
                <a:gd name="T31" fmla="*/ 237 h 1017"/>
                <a:gd name="T32" fmla="*/ 352 w 590"/>
                <a:gd name="T33" fmla="*/ 0 h 1017"/>
                <a:gd name="T34" fmla="*/ 141 w 590"/>
                <a:gd name="T35" fmla="*/ 0 h 1017"/>
                <a:gd name="T36" fmla="*/ 141 w 590"/>
                <a:gd name="T37" fmla="*/ 237 h 10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90" h="1017">
                  <a:moveTo>
                    <a:pt x="141" y="237"/>
                  </a:moveTo>
                  <a:lnTo>
                    <a:pt x="0" y="237"/>
                  </a:lnTo>
                  <a:lnTo>
                    <a:pt x="0" y="328"/>
                  </a:lnTo>
                  <a:lnTo>
                    <a:pt x="141" y="328"/>
                  </a:lnTo>
                  <a:lnTo>
                    <a:pt x="141" y="797"/>
                  </a:lnTo>
                  <a:cubicBezTo>
                    <a:pt x="141" y="1000"/>
                    <a:pt x="269" y="1016"/>
                    <a:pt x="427" y="1016"/>
                  </a:cubicBezTo>
                  <a:cubicBezTo>
                    <a:pt x="464" y="1016"/>
                    <a:pt x="506" y="1012"/>
                    <a:pt x="551" y="1004"/>
                  </a:cubicBezTo>
                  <a:lnTo>
                    <a:pt x="564" y="1004"/>
                  </a:lnTo>
                  <a:lnTo>
                    <a:pt x="564" y="909"/>
                  </a:lnTo>
                  <a:lnTo>
                    <a:pt x="547" y="913"/>
                  </a:lnTo>
                  <a:cubicBezTo>
                    <a:pt x="531" y="917"/>
                    <a:pt x="510" y="917"/>
                    <a:pt x="485" y="917"/>
                  </a:cubicBezTo>
                  <a:cubicBezTo>
                    <a:pt x="361" y="917"/>
                    <a:pt x="352" y="880"/>
                    <a:pt x="352" y="772"/>
                  </a:cubicBezTo>
                  <a:lnTo>
                    <a:pt x="352" y="328"/>
                  </a:lnTo>
                  <a:lnTo>
                    <a:pt x="589" y="328"/>
                  </a:lnTo>
                  <a:lnTo>
                    <a:pt x="589" y="237"/>
                  </a:lnTo>
                  <a:lnTo>
                    <a:pt x="352" y="237"/>
                  </a:lnTo>
                  <a:lnTo>
                    <a:pt x="352" y="0"/>
                  </a:lnTo>
                  <a:lnTo>
                    <a:pt x="141" y="0"/>
                  </a:lnTo>
                  <a:lnTo>
                    <a:pt x="141" y="237"/>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89" name="Freeform 22"/>
            <p:cNvSpPr>
              <a:spLocks noChangeArrowheads="1"/>
            </p:cNvSpPr>
            <p:nvPr/>
          </p:nvSpPr>
          <p:spPr bwMode="auto">
            <a:xfrm>
              <a:off x="6850063" y="4206875"/>
              <a:ext cx="331787" cy="274638"/>
            </a:xfrm>
            <a:custGeom>
              <a:avLst/>
              <a:gdLst>
                <a:gd name="T0" fmla="*/ 705 w 921"/>
                <a:gd name="T1" fmla="*/ 248 h 764"/>
                <a:gd name="T2" fmla="*/ 920 w 921"/>
                <a:gd name="T3" fmla="*/ 0 h 764"/>
                <a:gd name="T4" fmla="*/ 701 w 921"/>
                <a:gd name="T5" fmla="*/ 0 h 764"/>
                <a:gd name="T6" fmla="*/ 497 w 921"/>
                <a:gd name="T7" fmla="*/ 236 h 764"/>
                <a:gd name="T8" fmla="*/ 319 w 921"/>
                <a:gd name="T9" fmla="*/ 0 h 764"/>
                <a:gd name="T10" fmla="*/ 0 w 921"/>
                <a:gd name="T11" fmla="*/ 0 h 764"/>
                <a:gd name="T12" fmla="*/ 0 w 921"/>
                <a:gd name="T13" fmla="*/ 62 h 764"/>
                <a:gd name="T14" fmla="*/ 12 w 921"/>
                <a:gd name="T15" fmla="*/ 62 h 764"/>
                <a:gd name="T16" fmla="*/ 211 w 921"/>
                <a:gd name="T17" fmla="*/ 178 h 764"/>
                <a:gd name="T18" fmla="*/ 344 w 921"/>
                <a:gd name="T19" fmla="*/ 352 h 764"/>
                <a:gd name="T20" fmla="*/ 128 w 921"/>
                <a:gd name="T21" fmla="*/ 601 h 764"/>
                <a:gd name="T22" fmla="*/ 348 w 921"/>
                <a:gd name="T23" fmla="*/ 601 h 764"/>
                <a:gd name="T24" fmla="*/ 443 w 921"/>
                <a:gd name="T25" fmla="*/ 489 h 764"/>
                <a:gd name="T26" fmla="*/ 651 w 921"/>
                <a:gd name="T27" fmla="*/ 763 h 764"/>
                <a:gd name="T28" fmla="*/ 900 w 921"/>
                <a:gd name="T29" fmla="*/ 763 h 764"/>
                <a:gd name="T30" fmla="*/ 506 w 921"/>
                <a:gd name="T31" fmla="*/ 248 h 764"/>
                <a:gd name="T32" fmla="*/ 705 w 921"/>
                <a:gd name="T33" fmla="*/ 248 h 7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21" h="764">
                  <a:moveTo>
                    <a:pt x="705" y="248"/>
                  </a:moveTo>
                  <a:lnTo>
                    <a:pt x="920" y="0"/>
                  </a:lnTo>
                  <a:lnTo>
                    <a:pt x="701" y="0"/>
                  </a:lnTo>
                  <a:lnTo>
                    <a:pt x="497" y="236"/>
                  </a:lnTo>
                  <a:lnTo>
                    <a:pt x="319" y="0"/>
                  </a:lnTo>
                  <a:lnTo>
                    <a:pt x="0" y="0"/>
                  </a:lnTo>
                  <a:lnTo>
                    <a:pt x="0" y="62"/>
                  </a:lnTo>
                  <a:lnTo>
                    <a:pt x="12" y="62"/>
                  </a:lnTo>
                  <a:cubicBezTo>
                    <a:pt x="120" y="70"/>
                    <a:pt x="145" y="87"/>
                    <a:pt x="211" y="178"/>
                  </a:cubicBezTo>
                  <a:lnTo>
                    <a:pt x="344" y="352"/>
                  </a:lnTo>
                  <a:lnTo>
                    <a:pt x="128" y="601"/>
                  </a:lnTo>
                  <a:lnTo>
                    <a:pt x="348" y="601"/>
                  </a:lnTo>
                  <a:lnTo>
                    <a:pt x="443" y="489"/>
                  </a:lnTo>
                  <a:lnTo>
                    <a:pt x="651" y="763"/>
                  </a:lnTo>
                  <a:lnTo>
                    <a:pt x="900" y="763"/>
                  </a:lnTo>
                  <a:lnTo>
                    <a:pt x="506" y="248"/>
                  </a:lnTo>
                  <a:lnTo>
                    <a:pt x="705" y="248"/>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90" name="Freeform 23"/>
            <p:cNvSpPr>
              <a:spLocks noChangeArrowheads="1"/>
            </p:cNvSpPr>
            <p:nvPr/>
          </p:nvSpPr>
          <p:spPr bwMode="auto">
            <a:xfrm>
              <a:off x="7175500" y="4010025"/>
              <a:ext cx="176213" cy="111125"/>
            </a:xfrm>
            <a:custGeom>
              <a:avLst/>
              <a:gdLst>
                <a:gd name="T0" fmla="*/ 224 w 490"/>
                <a:gd name="T1" fmla="*/ 307 h 308"/>
                <a:gd name="T2" fmla="*/ 0 w 490"/>
                <a:gd name="T3" fmla="*/ 307 h 308"/>
                <a:gd name="T4" fmla="*/ 269 w 490"/>
                <a:gd name="T5" fmla="*/ 0 h 308"/>
                <a:gd name="T6" fmla="*/ 489 w 490"/>
                <a:gd name="T7" fmla="*/ 0 h 308"/>
                <a:gd name="T8" fmla="*/ 224 w 490"/>
                <a:gd name="T9" fmla="*/ 307 h 308"/>
              </a:gdLst>
              <a:ahLst/>
              <a:cxnLst>
                <a:cxn ang="0">
                  <a:pos x="T0" y="T1"/>
                </a:cxn>
                <a:cxn ang="0">
                  <a:pos x="T2" y="T3"/>
                </a:cxn>
                <a:cxn ang="0">
                  <a:pos x="T4" y="T5"/>
                </a:cxn>
                <a:cxn ang="0">
                  <a:pos x="T6" y="T7"/>
                </a:cxn>
                <a:cxn ang="0">
                  <a:pos x="T8" y="T9"/>
                </a:cxn>
              </a:cxnLst>
              <a:rect l="0" t="0" r="r" b="b"/>
              <a:pathLst>
                <a:path w="490" h="308">
                  <a:moveTo>
                    <a:pt x="224" y="307"/>
                  </a:moveTo>
                  <a:lnTo>
                    <a:pt x="0" y="307"/>
                  </a:lnTo>
                  <a:lnTo>
                    <a:pt x="269" y="0"/>
                  </a:lnTo>
                  <a:lnTo>
                    <a:pt x="489" y="0"/>
                  </a:lnTo>
                  <a:lnTo>
                    <a:pt x="224" y="307"/>
                  </a:lnTo>
                </a:path>
              </a:pathLst>
            </a:custGeom>
            <a:solidFill>
              <a:schemeClr val="accent2"/>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grpSp>
      <p:sp>
        <p:nvSpPr>
          <p:cNvPr id="35" name="TextBox 34"/>
          <p:cNvSpPr txBox="1"/>
          <p:nvPr userDrawn="1"/>
        </p:nvSpPr>
        <p:spPr>
          <a:xfrm>
            <a:off x="6641794" y="4911221"/>
            <a:ext cx="2462534" cy="215444"/>
          </a:xfrm>
          <a:prstGeom prst="rect">
            <a:avLst/>
          </a:prstGeom>
          <a:noFill/>
        </p:spPr>
        <p:txBody>
          <a:bodyPr wrap="none" rtlCol="0">
            <a:sp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800" kern="1200" dirty="0">
                <a:solidFill>
                  <a:schemeClr val="bg1">
                    <a:alpha val="50000"/>
                  </a:schemeClr>
                </a:solidFill>
                <a:latin typeface="+mn-lt"/>
                <a:ea typeface="+mn-ea"/>
                <a:cs typeface="+mn-cs"/>
              </a:rPr>
              <a:t>© Hitachi Vantara LLC 2020. All Rights Reserved.</a:t>
            </a:r>
          </a:p>
        </p:txBody>
      </p:sp>
    </p:spTree>
    <p:extLst>
      <p:ext uri="{BB962C8B-B14F-4D97-AF65-F5344CB8AC3E}">
        <p14:creationId xmlns:p14="http://schemas.microsoft.com/office/powerpoint/2010/main" val="19578012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9_Title Slide">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B5380F31-F25E-914E-B4AC-C9B2E2DD44AA}"/>
              </a:ext>
            </a:extLst>
          </p:cNvPr>
          <p:cNvSpPr/>
          <p:nvPr userDrawn="1"/>
        </p:nvSpPr>
        <p:spPr>
          <a:xfrm>
            <a:off x="0" y="0"/>
            <a:ext cx="9153144" cy="5157216"/>
          </a:xfrm>
          <a:prstGeom prst="rect">
            <a:avLst/>
          </a:prstGeom>
          <a:gradFill>
            <a:gsLst>
              <a:gs pos="0">
                <a:schemeClr val="tx1">
                  <a:lumMod val="60000"/>
                  <a:lumOff val="40000"/>
                  <a:alpha val="25000"/>
                </a:schemeClr>
              </a:gs>
              <a:gs pos="98000">
                <a:schemeClr val="bg1"/>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j-lt"/>
            </a:endParaRPr>
          </a:p>
        </p:txBody>
      </p:sp>
      <p:pic>
        <p:nvPicPr>
          <p:cNvPr id="31" name="Graphic 30">
            <a:extLst>
              <a:ext uri="{FF2B5EF4-FFF2-40B4-BE49-F238E27FC236}">
                <a16:creationId xmlns:a16="http://schemas.microsoft.com/office/drawing/2014/main" id="{2A906BF6-7DCE-7747-9B24-C8F153A5222A}"/>
              </a:ext>
            </a:extLst>
          </p:cNvPr>
          <p:cNvPicPr>
            <a:picLocks noChangeAspect="1"/>
          </p:cNvPicPr>
          <p:nvPr userDrawn="1"/>
        </p:nvPicPr>
        <p:blipFill>
          <a:blip r:embed="rId2" cstate="screen">
            <a:alphaModFix amt="20000"/>
            <a:extLst>
              <a:ext uri="{28A0092B-C50C-407E-A947-70E740481C1C}">
                <a14:useLocalDpi xmlns:a14="http://schemas.microsoft.com/office/drawing/2010/main"/>
              </a:ext>
            </a:extLst>
          </a:blip>
          <a:srcRect/>
          <a:stretch/>
        </p:blipFill>
        <p:spPr>
          <a:xfrm>
            <a:off x="4573" y="0"/>
            <a:ext cx="9143998" cy="5143499"/>
          </a:xfrm>
          <a:prstGeom prst="rect">
            <a:avLst/>
          </a:prstGeom>
        </p:spPr>
      </p:pic>
      <p:sp>
        <p:nvSpPr>
          <p:cNvPr id="39" name="TextBox 38"/>
          <p:cNvSpPr txBox="1"/>
          <p:nvPr/>
        </p:nvSpPr>
        <p:spPr>
          <a:xfrm>
            <a:off x="1611" y="4915450"/>
            <a:ext cx="312906" cy="215444"/>
          </a:xfrm>
          <a:prstGeom prst="rect">
            <a:avLst/>
          </a:prstGeom>
          <a:noFill/>
        </p:spPr>
        <p:txBody>
          <a:bodyPr wrap="none" rtlCol="0">
            <a:spAutoFit/>
          </a:bodyPr>
          <a:lstStyle/>
          <a:p>
            <a:fld id="{111F478C-84AE-4601-9BE4-60468A3A6C06}" type="slidenum">
              <a:rPr lang="en-US" sz="800" smtClean="0">
                <a:solidFill>
                  <a:prstClr val="white">
                    <a:alpha val="50000"/>
                  </a:prstClr>
                </a:solidFill>
                <a:latin typeface="Arial"/>
              </a:rPr>
              <a:pPr/>
              <a:t>‹#›</a:t>
            </a:fld>
            <a:endParaRPr lang="en-US" sz="800" dirty="0">
              <a:solidFill>
                <a:prstClr val="white">
                  <a:alpha val="50000"/>
                </a:prstClr>
              </a:solidFill>
              <a:latin typeface="Arial"/>
            </a:endParaRPr>
          </a:p>
        </p:txBody>
      </p:sp>
      <p:grpSp>
        <p:nvGrpSpPr>
          <p:cNvPr id="38" name="Group 37"/>
          <p:cNvGrpSpPr/>
          <p:nvPr userDrawn="1"/>
        </p:nvGrpSpPr>
        <p:grpSpPr>
          <a:xfrm>
            <a:off x="7684916" y="225821"/>
            <a:ext cx="1247901" cy="356665"/>
            <a:chOff x="2751138" y="3262313"/>
            <a:chExt cx="4665662" cy="1333500"/>
          </a:xfrm>
          <a:solidFill>
            <a:schemeClr val="tx2"/>
          </a:solidFill>
        </p:grpSpPr>
        <p:sp>
          <p:nvSpPr>
            <p:cNvPr id="67" name="Freeform 1"/>
            <p:cNvSpPr>
              <a:spLocks noChangeArrowheads="1"/>
            </p:cNvSpPr>
            <p:nvPr/>
          </p:nvSpPr>
          <p:spPr bwMode="auto">
            <a:xfrm>
              <a:off x="6180138" y="3275013"/>
              <a:ext cx="673100" cy="631825"/>
            </a:xfrm>
            <a:custGeom>
              <a:avLst/>
              <a:gdLst>
                <a:gd name="T0" fmla="*/ 465 w 1868"/>
                <a:gd name="T1" fmla="*/ 0 h 1755"/>
                <a:gd name="T2" fmla="*/ 465 w 1868"/>
                <a:gd name="T3" fmla="*/ 700 h 1755"/>
                <a:gd name="T4" fmla="*/ 1402 w 1868"/>
                <a:gd name="T5" fmla="*/ 700 h 1755"/>
                <a:gd name="T6" fmla="*/ 1402 w 1868"/>
                <a:gd name="T7" fmla="*/ 0 h 1755"/>
                <a:gd name="T8" fmla="*/ 1867 w 1868"/>
                <a:gd name="T9" fmla="*/ 0 h 1755"/>
                <a:gd name="T10" fmla="*/ 1867 w 1868"/>
                <a:gd name="T11" fmla="*/ 1754 h 1755"/>
                <a:gd name="T12" fmla="*/ 1402 w 1868"/>
                <a:gd name="T13" fmla="*/ 1754 h 1755"/>
                <a:gd name="T14" fmla="*/ 1402 w 1868"/>
                <a:gd name="T15" fmla="*/ 983 h 1755"/>
                <a:gd name="T16" fmla="*/ 465 w 1868"/>
                <a:gd name="T17" fmla="*/ 983 h 1755"/>
                <a:gd name="T18" fmla="*/ 465 w 1868"/>
                <a:gd name="T19" fmla="*/ 1754 h 1755"/>
                <a:gd name="T20" fmla="*/ 0 w 1868"/>
                <a:gd name="T21" fmla="*/ 1754 h 1755"/>
                <a:gd name="T22" fmla="*/ 0 w 1868"/>
                <a:gd name="T23" fmla="*/ 0 h 1755"/>
                <a:gd name="T24" fmla="*/ 465 w 1868"/>
                <a:gd name="T25" fmla="*/ 0 h 17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68" h="1755">
                  <a:moveTo>
                    <a:pt x="465" y="0"/>
                  </a:moveTo>
                  <a:cubicBezTo>
                    <a:pt x="465" y="0"/>
                    <a:pt x="465" y="705"/>
                    <a:pt x="465" y="700"/>
                  </a:cubicBezTo>
                  <a:lnTo>
                    <a:pt x="1402" y="700"/>
                  </a:lnTo>
                  <a:cubicBezTo>
                    <a:pt x="1402" y="705"/>
                    <a:pt x="1402" y="0"/>
                    <a:pt x="1402" y="0"/>
                  </a:cubicBezTo>
                  <a:cubicBezTo>
                    <a:pt x="1402" y="0"/>
                    <a:pt x="1863" y="0"/>
                    <a:pt x="1867" y="0"/>
                  </a:cubicBezTo>
                  <a:cubicBezTo>
                    <a:pt x="1867" y="0"/>
                    <a:pt x="1867" y="1750"/>
                    <a:pt x="1867" y="1754"/>
                  </a:cubicBezTo>
                  <a:lnTo>
                    <a:pt x="1402" y="1754"/>
                  </a:lnTo>
                  <a:cubicBezTo>
                    <a:pt x="1402" y="1754"/>
                    <a:pt x="1402" y="987"/>
                    <a:pt x="1402" y="983"/>
                  </a:cubicBezTo>
                  <a:cubicBezTo>
                    <a:pt x="1402" y="987"/>
                    <a:pt x="465" y="983"/>
                    <a:pt x="465" y="983"/>
                  </a:cubicBezTo>
                  <a:cubicBezTo>
                    <a:pt x="465" y="987"/>
                    <a:pt x="465" y="1754"/>
                    <a:pt x="465" y="1754"/>
                  </a:cubicBezTo>
                  <a:lnTo>
                    <a:pt x="0" y="1754"/>
                  </a:lnTo>
                  <a:cubicBezTo>
                    <a:pt x="0" y="1754"/>
                    <a:pt x="4" y="0"/>
                    <a:pt x="0" y="0"/>
                  </a:cubicBezTo>
                  <a:lnTo>
                    <a:pt x="465"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68" name="Freeform 2"/>
            <p:cNvSpPr>
              <a:spLocks noChangeArrowheads="1"/>
            </p:cNvSpPr>
            <p:nvPr/>
          </p:nvSpPr>
          <p:spPr bwMode="auto">
            <a:xfrm>
              <a:off x="4083050" y="3275013"/>
              <a:ext cx="677863" cy="631825"/>
            </a:xfrm>
            <a:custGeom>
              <a:avLst/>
              <a:gdLst>
                <a:gd name="T0" fmla="*/ 1883 w 1884"/>
                <a:gd name="T1" fmla="*/ 0 h 1755"/>
                <a:gd name="T2" fmla="*/ 1883 w 1884"/>
                <a:gd name="T3" fmla="*/ 298 h 1755"/>
                <a:gd name="T4" fmla="*/ 1174 w 1884"/>
                <a:gd name="T5" fmla="*/ 298 h 1755"/>
                <a:gd name="T6" fmla="*/ 1174 w 1884"/>
                <a:gd name="T7" fmla="*/ 1754 h 1755"/>
                <a:gd name="T8" fmla="*/ 709 w 1884"/>
                <a:gd name="T9" fmla="*/ 1754 h 1755"/>
                <a:gd name="T10" fmla="*/ 709 w 1884"/>
                <a:gd name="T11" fmla="*/ 298 h 1755"/>
                <a:gd name="T12" fmla="*/ 0 w 1884"/>
                <a:gd name="T13" fmla="*/ 298 h 1755"/>
                <a:gd name="T14" fmla="*/ 0 w 1884"/>
                <a:gd name="T15" fmla="*/ 0 h 1755"/>
                <a:gd name="T16" fmla="*/ 1883 w 1884"/>
                <a:gd name="T17" fmla="*/ 0 h 17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884" h="1755">
                  <a:moveTo>
                    <a:pt x="1883" y="0"/>
                  </a:moveTo>
                  <a:cubicBezTo>
                    <a:pt x="1883" y="4"/>
                    <a:pt x="1883" y="298"/>
                    <a:pt x="1883" y="298"/>
                  </a:cubicBezTo>
                  <a:lnTo>
                    <a:pt x="1174" y="298"/>
                  </a:lnTo>
                  <a:lnTo>
                    <a:pt x="1174" y="1754"/>
                  </a:lnTo>
                  <a:lnTo>
                    <a:pt x="709" y="1754"/>
                  </a:lnTo>
                  <a:lnTo>
                    <a:pt x="709" y="298"/>
                  </a:lnTo>
                  <a:lnTo>
                    <a:pt x="0" y="298"/>
                  </a:lnTo>
                  <a:lnTo>
                    <a:pt x="0" y="0"/>
                  </a:lnTo>
                  <a:lnTo>
                    <a:pt x="1883"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69" name="Freeform 3"/>
            <p:cNvSpPr>
              <a:spLocks noChangeArrowheads="1"/>
            </p:cNvSpPr>
            <p:nvPr/>
          </p:nvSpPr>
          <p:spPr bwMode="auto">
            <a:xfrm>
              <a:off x="4614863" y="3275013"/>
              <a:ext cx="796925" cy="631825"/>
            </a:xfrm>
            <a:custGeom>
              <a:avLst/>
              <a:gdLst>
                <a:gd name="T0" fmla="*/ 2214 w 2215"/>
                <a:gd name="T1" fmla="*/ 1754 h 1755"/>
                <a:gd name="T2" fmla="*/ 1695 w 2215"/>
                <a:gd name="T3" fmla="*/ 1754 h 1755"/>
                <a:gd name="T4" fmla="*/ 1542 w 2215"/>
                <a:gd name="T5" fmla="*/ 1377 h 1755"/>
                <a:gd name="T6" fmla="*/ 672 w 2215"/>
                <a:gd name="T7" fmla="*/ 1377 h 1755"/>
                <a:gd name="T8" fmla="*/ 518 w 2215"/>
                <a:gd name="T9" fmla="*/ 1754 h 1755"/>
                <a:gd name="T10" fmla="*/ 0 w 2215"/>
                <a:gd name="T11" fmla="*/ 1754 h 1755"/>
                <a:gd name="T12" fmla="*/ 825 w 2215"/>
                <a:gd name="T13" fmla="*/ 0 h 1755"/>
                <a:gd name="T14" fmla="*/ 1392 w 2215"/>
                <a:gd name="T15" fmla="*/ 0 h 1755"/>
                <a:gd name="T16" fmla="*/ 2214 w 2215"/>
                <a:gd name="T17" fmla="*/ 1754 h 1755"/>
                <a:gd name="T18" fmla="*/ 788 w 2215"/>
                <a:gd name="T19" fmla="*/ 1095 h 1755"/>
                <a:gd name="T20" fmla="*/ 1434 w 2215"/>
                <a:gd name="T21" fmla="*/ 1095 h 1755"/>
                <a:gd name="T22" fmla="*/ 1107 w 2215"/>
                <a:gd name="T23" fmla="*/ 298 h 1755"/>
                <a:gd name="T24" fmla="*/ 788 w 2215"/>
                <a:gd name="T25" fmla="*/ 1095 h 17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15" h="1755">
                  <a:moveTo>
                    <a:pt x="2214" y="1754"/>
                  </a:moveTo>
                  <a:cubicBezTo>
                    <a:pt x="2214" y="1754"/>
                    <a:pt x="1691" y="1754"/>
                    <a:pt x="1695" y="1754"/>
                  </a:cubicBezTo>
                  <a:lnTo>
                    <a:pt x="1542" y="1377"/>
                  </a:lnTo>
                  <a:lnTo>
                    <a:pt x="672" y="1377"/>
                  </a:lnTo>
                  <a:cubicBezTo>
                    <a:pt x="672" y="1377"/>
                    <a:pt x="522" y="1754"/>
                    <a:pt x="518" y="1754"/>
                  </a:cubicBezTo>
                  <a:lnTo>
                    <a:pt x="0" y="1754"/>
                  </a:lnTo>
                  <a:lnTo>
                    <a:pt x="825" y="0"/>
                  </a:lnTo>
                  <a:lnTo>
                    <a:pt x="1392" y="0"/>
                  </a:lnTo>
                  <a:lnTo>
                    <a:pt x="2214" y="1754"/>
                  </a:lnTo>
                  <a:close/>
                  <a:moveTo>
                    <a:pt x="788" y="1095"/>
                  </a:moveTo>
                  <a:lnTo>
                    <a:pt x="1434" y="1095"/>
                  </a:lnTo>
                  <a:lnTo>
                    <a:pt x="1107" y="298"/>
                  </a:lnTo>
                  <a:lnTo>
                    <a:pt x="788" y="1095"/>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70" name="Freeform 4"/>
            <p:cNvSpPr>
              <a:spLocks noChangeArrowheads="1"/>
            </p:cNvSpPr>
            <p:nvPr/>
          </p:nvSpPr>
          <p:spPr bwMode="auto">
            <a:xfrm>
              <a:off x="6985000" y="3275013"/>
              <a:ext cx="166688" cy="631825"/>
            </a:xfrm>
            <a:custGeom>
              <a:avLst/>
              <a:gdLst>
                <a:gd name="T0" fmla="*/ 232 w 465"/>
                <a:gd name="T1" fmla="*/ 1754 h 1755"/>
                <a:gd name="T2" fmla="*/ 0 w 465"/>
                <a:gd name="T3" fmla="*/ 1754 h 1755"/>
                <a:gd name="T4" fmla="*/ 0 w 465"/>
                <a:gd name="T5" fmla="*/ 0 h 1755"/>
                <a:gd name="T6" fmla="*/ 464 w 465"/>
                <a:gd name="T7" fmla="*/ 0 h 1755"/>
                <a:gd name="T8" fmla="*/ 464 w 465"/>
                <a:gd name="T9" fmla="*/ 1754 h 1755"/>
                <a:gd name="T10" fmla="*/ 232 w 465"/>
                <a:gd name="T11" fmla="*/ 1754 h 1755"/>
              </a:gdLst>
              <a:ahLst/>
              <a:cxnLst>
                <a:cxn ang="0">
                  <a:pos x="T0" y="T1"/>
                </a:cxn>
                <a:cxn ang="0">
                  <a:pos x="T2" y="T3"/>
                </a:cxn>
                <a:cxn ang="0">
                  <a:pos x="T4" y="T5"/>
                </a:cxn>
                <a:cxn ang="0">
                  <a:pos x="T6" y="T7"/>
                </a:cxn>
                <a:cxn ang="0">
                  <a:pos x="T8" y="T9"/>
                </a:cxn>
                <a:cxn ang="0">
                  <a:pos x="T10" y="T11"/>
                </a:cxn>
              </a:cxnLst>
              <a:rect l="0" t="0" r="r" b="b"/>
              <a:pathLst>
                <a:path w="465" h="1755">
                  <a:moveTo>
                    <a:pt x="232" y="1754"/>
                  </a:moveTo>
                  <a:lnTo>
                    <a:pt x="0" y="1754"/>
                  </a:lnTo>
                  <a:lnTo>
                    <a:pt x="0" y="0"/>
                  </a:lnTo>
                  <a:lnTo>
                    <a:pt x="464" y="0"/>
                  </a:lnTo>
                  <a:lnTo>
                    <a:pt x="464" y="1754"/>
                  </a:lnTo>
                  <a:lnTo>
                    <a:pt x="232" y="1754"/>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71" name="Freeform 5"/>
            <p:cNvSpPr>
              <a:spLocks noChangeArrowheads="1"/>
            </p:cNvSpPr>
            <p:nvPr/>
          </p:nvSpPr>
          <p:spPr bwMode="auto">
            <a:xfrm>
              <a:off x="3049588" y="3275013"/>
              <a:ext cx="673100" cy="631825"/>
            </a:xfrm>
            <a:custGeom>
              <a:avLst/>
              <a:gdLst>
                <a:gd name="T0" fmla="*/ 465 w 1868"/>
                <a:gd name="T1" fmla="*/ 0 h 1755"/>
                <a:gd name="T2" fmla="*/ 465 w 1868"/>
                <a:gd name="T3" fmla="*/ 700 h 1755"/>
                <a:gd name="T4" fmla="*/ 1402 w 1868"/>
                <a:gd name="T5" fmla="*/ 700 h 1755"/>
                <a:gd name="T6" fmla="*/ 1402 w 1868"/>
                <a:gd name="T7" fmla="*/ 0 h 1755"/>
                <a:gd name="T8" fmla="*/ 1867 w 1868"/>
                <a:gd name="T9" fmla="*/ 0 h 1755"/>
                <a:gd name="T10" fmla="*/ 1867 w 1868"/>
                <a:gd name="T11" fmla="*/ 1754 h 1755"/>
                <a:gd name="T12" fmla="*/ 1402 w 1868"/>
                <a:gd name="T13" fmla="*/ 1754 h 1755"/>
                <a:gd name="T14" fmla="*/ 1402 w 1868"/>
                <a:gd name="T15" fmla="*/ 983 h 1755"/>
                <a:gd name="T16" fmla="*/ 465 w 1868"/>
                <a:gd name="T17" fmla="*/ 983 h 1755"/>
                <a:gd name="T18" fmla="*/ 465 w 1868"/>
                <a:gd name="T19" fmla="*/ 1754 h 1755"/>
                <a:gd name="T20" fmla="*/ 0 w 1868"/>
                <a:gd name="T21" fmla="*/ 1754 h 1755"/>
                <a:gd name="T22" fmla="*/ 0 w 1868"/>
                <a:gd name="T23" fmla="*/ 0 h 1755"/>
                <a:gd name="T24" fmla="*/ 465 w 1868"/>
                <a:gd name="T25" fmla="*/ 0 h 17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68" h="1755">
                  <a:moveTo>
                    <a:pt x="465" y="0"/>
                  </a:moveTo>
                  <a:cubicBezTo>
                    <a:pt x="465" y="0"/>
                    <a:pt x="465" y="705"/>
                    <a:pt x="465" y="700"/>
                  </a:cubicBezTo>
                  <a:lnTo>
                    <a:pt x="1402" y="700"/>
                  </a:lnTo>
                  <a:cubicBezTo>
                    <a:pt x="1402" y="705"/>
                    <a:pt x="1402" y="0"/>
                    <a:pt x="1402" y="0"/>
                  </a:cubicBezTo>
                  <a:cubicBezTo>
                    <a:pt x="1402" y="0"/>
                    <a:pt x="1863" y="0"/>
                    <a:pt x="1867" y="0"/>
                  </a:cubicBezTo>
                  <a:cubicBezTo>
                    <a:pt x="1867" y="0"/>
                    <a:pt x="1867" y="1750"/>
                    <a:pt x="1867" y="1754"/>
                  </a:cubicBezTo>
                  <a:lnTo>
                    <a:pt x="1402" y="1754"/>
                  </a:lnTo>
                  <a:cubicBezTo>
                    <a:pt x="1402" y="1754"/>
                    <a:pt x="1402" y="987"/>
                    <a:pt x="1402" y="983"/>
                  </a:cubicBezTo>
                  <a:cubicBezTo>
                    <a:pt x="1402" y="987"/>
                    <a:pt x="465" y="983"/>
                    <a:pt x="465" y="983"/>
                  </a:cubicBezTo>
                  <a:cubicBezTo>
                    <a:pt x="465" y="987"/>
                    <a:pt x="465" y="1754"/>
                    <a:pt x="465" y="1754"/>
                  </a:cubicBezTo>
                  <a:lnTo>
                    <a:pt x="0" y="1754"/>
                  </a:lnTo>
                  <a:cubicBezTo>
                    <a:pt x="0" y="1754"/>
                    <a:pt x="5" y="0"/>
                    <a:pt x="0" y="0"/>
                  </a:cubicBezTo>
                  <a:lnTo>
                    <a:pt x="465"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72" name="Freeform 6"/>
            <p:cNvSpPr>
              <a:spLocks noChangeArrowheads="1"/>
            </p:cNvSpPr>
            <p:nvPr/>
          </p:nvSpPr>
          <p:spPr bwMode="auto">
            <a:xfrm>
              <a:off x="3854450" y="3275013"/>
              <a:ext cx="168275" cy="631825"/>
            </a:xfrm>
            <a:custGeom>
              <a:avLst/>
              <a:gdLst>
                <a:gd name="T0" fmla="*/ 233 w 466"/>
                <a:gd name="T1" fmla="*/ 1754 h 1755"/>
                <a:gd name="T2" fmla="*/ 0 w 466"/>
                <a:gd name="T3" fmla="*/ 1754 h 1755"/>
                <a:gd name="T4" fmla="*/ 0 w 466"/>
                <a:gd name="T5" fmla="*/ 0 h 1755"/>
                <a:gd name="T6" fmla="*/ 465 w 466"/>
                <a:gd name="T7" fmla="*/ 0 h 1755"/>
                <a:gd name="T8" fmla="*/ 465 w 466"/>
                <a:gd name="T9" fmla="*/ 1754 h 1755"/>
                <a:gd name="T10" fmla="*/ 233 w 466"/>
                <a:gd name="T11" fmla="*/ 1754 h 1755"/>
              </a:gdLst>
              <a:ahLst/>
              <a:cxnLst>
                <a:cxn ang="0">
                  <a:pos x="T0" y="T1"/>
                </a:cxn>
                <a:cxn ang="0">
                  <a:pos x="T2" y="T3"/>
                </a:cxn>
                <a:cxn ang="0">
                  <a:pos x="T4" y="T5"/>
                </a:cxn>
                <a:cxn ang="0">
                  <a:pos x="T6" y="T7"/>
                </a:cxn>
                <a:cxn ang="0">
                  <a:pos x="T8" y="T9"/>
                </a:cxn>
                <a:cxn ang="0">
                  <a:pos x="T10" y="T11"/>
                </a:cxn>
              </a:cxnLst>
              <a:rect l="0" t="0" r="r" b="b"/>
              <a:pathLst>
                <a:path w="466" h="1755">
                  <a:moveTo>
                    <a:pt x="233" y="1754"/>
                  </a:moveTo>
                  <a:lnTo>
                    <a:pt x="0" y="1754"/>
                  </a:lnTo>
                  <a:lnTo>
                    <a:pt x="0" y="0"/>
                  </a:lnTo>
                  <a:lnTo>
                    <a:pt x="465" y="0"/>
                  </a:lnTo>
                  <a:lnTo>
                    <a:pt x="465" y="1754"/>
                  </a:lnTo>
                  <a:lnTo>
                    <a:pt x="233" y="1754"/>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73" name="Freeform 7"/>
            <p:cNvSpPr>
              <a:spLocks noChangeArrowheads="1"/>
            </p:cNvSpPr>
            <p:nvPr/>
          </p:nvSpPr>
          <p:spPr bwMode="auto">
            <a:xfrm>
              <a:off x="5383213" y="3262313"/>
              <a:ext cx="715962" cy="663575"/>
            </a:xfrm>
            <a:custGeom>
              <a:avLst/>
              <a:gdLst>
                <a:gd name="T0" fmla="*/ 62 w 1988"/>
                <a:gd name="T1" fmla="*/ 1307 h 1842"/>
                <a:gd name="T2" fmla="*/ 0 w 1988"/>
                <a:gd name="T3" fmla="*/ 933 h 1842"/>
                <a:gd name="T4" fmla="*/ 120 w 1988"/>
                <a:gd name="T5" fmla="*/ 423 h 1842"/>
                <a:gd name="T6" fmla="*/ 518 w 1988"/>
                <a:gd name="T7" fmla="*/ 91 h 1842"/>
                <a:gd name="T8" fmla="*/ 1033 w 1988"/>
                <a:gd name="T9" fmla="*/ 0 h 1842"/>
                <a:gd name="T10" fmla="*/ 1618 w 1988"/>
                <a:gd name="T11" fmla="*/ 125 h 1842"/>
                <a:gd name="T12" fmla="*/ 1950 w 1988"/>
                <a:gd name="T13" fmla="*/ 531 h 1842"/>
                <a:gd name="T14" fmla="*/ 1966 w 1988"/>
                <a:gd name="T15" fmla="*/ 643 h 1842"/>
                <a:gd name="T16" fmla="*/ 1481 w 1988"/>
                <a:gd name="T17" fmla="*/ 643 h 1842"/>
                <a:gd name="T18" fmla="*/ 1456 w 1988"/>
                <a:gd name="T19" fmla="*/ 506 h 1842"/>
                <a:gd name="T20" fmla="*/ 1240 w 1988"/>
                <a:gd name="T21" fmla="*/ 303 h 1842"/>
                <a:gd name="T22" fmla="*/ 1037 w 1988"/>
                <a:gd name="T23" fmla="*/ 274 h 1842"/>
                <a:gd name="T24" fmla="*/ 809 w 1988"/>
                <a:gd name="T25" fmla="*/ 315 h 1842"/>
                <a:gd name="T26" fmla="*/ 556 w 1988"/>
                <a:gd name="T27" fmla="*/ 573 h 1842"/>
                <a:gd name="T28" fmla="*/ 494 w 1988"/>
                <a:gd name="T29" fmla="*/ 942 h 1842"/>
                <a:gd name="T30" fmla="*/ 539 w 1988"/>
                <a:gd name="T31" fmla="*/ 1249 h 1842"/>
                <a:gd name="T32" fmla="*/ 792 w 1988"/>
                <a:gd name="T33" fmla="*/ 1527 h 1842"/>
                <a:gd name="T34" fmla="*/ 1041 w 1988"/>
                <a:gd name="T35" fmla="*/ 1572 h 1842"/>
                <a:gd name="T36" fmla="*/ 1257 w 1988"/>
                <a:gd name="T37" fmla="*/ 1539 h 1842"/>
                <a:gd name="T38" fmla="*/ 1460 w 1988"/>
                <a:gd name="T39" fmla="*/ 1356 h 1842"/>
                <a:gd name="T40" fmla="*/ 1497 w 1988"/>
                <a:gd name="T41" fmla="*/ 1170 h 1842"/>
                <a:gd name="T42" fmla="*/ 1987 w 1988"/>
                <a:gd name="T43" fmla="*/ 1170 h 1842"/>
                <a:gd name="T44" fmla="*/ 1962 w 1988"/>
                <a:gd name="T45" fmla="*/ 1336 h 1842"/>
                <a:gd name="T46" fmla="*/ 1638 w 1988"/>
                <a:gd name="T47" fmla="*/ 1721 h 1842"/>
                <a:gd name="T48" fmla="*/ 1041 w 1988"/>
                <a:gd name="T49" fmla="*/ 1841 h 1842"/>
                <a:gd name="T50" fmla="*/ 568 w 1988"/>
                <a:gd name="T51" fmla="*/ 1771 h 1842"/>
                <a:gd name="T52" fmla="*/ 62 w 1988"/>
                <a:gd name="T53" fmla="*/ 1307 h 18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988" h="1842">
                  <a:moveTo>
                    <a:pt x="62" y="1307"/>
                  </a:moveTo>
                  <a:cubicBezTo>
                    <a:pt x="21" y="1191"/>
                    <a:pt x="0" y="1066"/>
                    <a:pt x="0" y="933"/>
                  </a:cubicBezTo>
                  <a:cubicBezTo>
                    <a:pt x="0" y="751"/>
                    <a:pt x="33" y="573"/>
                    <a:pt x="120" y="423"/>
                  </a:cubicBezTo>
                  <a:cubicBezTo>
                    <a:pt x="211" y="270"/>
                    <a:pt x="348" y="154"/>
                    <a:pt x="518" y="91"/>
                  </a:cubicBezTo>
                  <a:cubicBezTo>
                    <a:pt x="680" y="33"/>
                    <a:pt x="850" y="0"/>
                    <a:pt x="1033" y="0"/>
                  </a:cubicBezTo>
                  <a:cubicBezTo>
                    <a:pt x="1240" y="0"/>
                    <a:pt x="1439" y="46"/>
                    <a:pt x="1618" y="125"/>
                  </a:cubicBezTo>
                  <a:cubicBezTo>
                    <a:pt x="1784" y="195"/>
                    <a:pt x="1912" y="349"/>
                    <a:pt x="1950" y="531"/>
                  </a:cubicBezTo>
                  <a:cubicBezTo>
                    <a:pt x="1958" y="568"/>
                    <a:pt x="1962" y="606"/>
                    <a:pt x="1966" y="643"/>
                  </a:cubicBezTo>
                  <a:lnTo>
                    <a:pt x="1481" y="643"/>
                  </a:lnTo>
                  <a:cubicBezTo>
                    <a:pt x="1481" y="597"/>
                    <a:pt x="1472" y="552"/>
                    <a:pt x="1456" y="506"/>
                  </a:cubicBezTo>
                  <a:cubicBezTo>
                    <a:pt x="1419" y="411"/>
                    <a:pt x="1340" y="332"/>
                    <a:pt x="1240" y="303"/>
                  </a:cubicBezTo>
                  <a:cubicBezTo>
                    <a:pt x="1174" y="282"/>
                    <a:pt x="1107" y="274"/>
                    <a:pt x="1037" y="274"/>
                  </a:cubicBezTo>
                  <a:cubicBezTo>
                    <a:pt x="958" y="274"/>
                    <a:pt x="879" y="286"/>
                    <a:pt x="809" y="315"/>
                  </a:cubicBezTo>
                  <a:cubicBezTo>
                    <a:pt x="688" y="357"/>
                    <a:pt x="597" y="452"/>
                    <a:pt x="556" y="573"/>
                  </a:cubicBezTo>
                  <a:cubicBezTo>
                    <a:pt x="514" y="689"/>
                    <a:pt x="494" y="813"/>
                    <a:pt x="494" y="942"/>
                  </a:cubicBezTo>
                  <a:cubicBezTo>
                    <a:pt x="494" y="1050"/>
                    <a:pt x="510" y="1153"/>
                    <a:pt x="539" y="1249"/>
                  </a:cubicBezTo>
                  <a:cubicBezTo>
                    <a:pt x="572" y="1377"/>
                    <a:pt x="672" y="1481"/>
                    <a:pt x="792" y="1527"/>
                  </a:cubicBezTo>
                  <a:cubicBezTo>
                    <a:pt x="871" y="1556"/>
                    <a:pt x="954" y="1572"/>
                    <a:pt x="1041" y="1572"/>
                  </a:cubicBezTo>
                  <a:cubicBezTo>
                    <a:pt x="1116" y="1572"/>
                    <a:pt x="1186" y="1560"/>
                    <a:pt x="1257" y="1539"/>
                  </a:cubicBezTo>
                  <a:cubicBezTo>
                    <a:pt x="1348" y="1510"/>
                    <a:pt x="1423" y="1444"/>
                    <a:pt x="1460" y="1356"/>
                  </a:cubicBezTo>
                  <a:cubicBezTo>
                    <a:pt x="1485" y="1298"/>
                    <a:pt x="1497" y="1236"/>
                    <a:pt x="1497" y="1170"/>
                  </a:cubicBezTo>
                  <a:lnTo>
                    <a:pt x="1987" y="1170"/>
                  </a:lnTo>
                  <a:cubicBezTo>
                    <a:pt x="1983" y="1228"/>
                    <a:pt x="1974" y="1282"/>
                    <a:pt x="1962" y="1336"/>
                  </a:cubicBezTo>
                  <a:cubicBezTo>
                    <a:pt x="1920" y="1510"/>
                    <a:pt x="1800" y="1655"/>
                    <a:pt x="1638" y="1721"/>
                  </a:cubicBezTo>
                  <a:cubicBezTo>
                    <a:pt x="1456" y="1800"/>
                    <a:pt x="1253" y="1841"/>
                    <a:pt x="1041" y="1841"/>
                  </a:cubicBezTo>
                  <a:cubicBezTo>
                    <a:pt x="875" y="1841"/>
                    <a:pt x="718" y="1817"/>
                    <a:pt x="568" y="1771"/>
                  </a:cubicBezTo>
                  <a:cubicBezTo>
                    <a:pt x="336" y="1692"/>
                    <a:pt x="137" y="1527"/>
                    <a:pt x="62" y="1307"/>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74" name="Freeform 8"/>
            <p:cNvSpPr>
              <a:spLocks noChangeArrowheads="1"/>
            </p:cNvSpPr>
            <p:nvPr/>
          </p:nvSpPr>
          <p:spPr bwMode="auto">
            <a:xfrm>
              <a:off x="2751138" y="4083050"/>
              <a:ext cx="153987" cy="398463"/>
            </a:xfrm>
            <a:custGeom>
              <a:avLst/>
              <a:gdLst>
                <a:gd name="T0" fmla="*/ 415 w 428"/>
                <a:gd name="T1" fmla="*/ 0 h 1109"/>
                <a:gd name="T2" fmla="*/ 0 w 428"/>
                <a:gd name="T3" fmla="*/ 38 h 1109"/>
                <a:gd name="T4" fmla="*/ 0 w 428"/>
                <a:gd name="T5" fmla="*/ 100 h 1109"/>
                <a:gd name="T6" fmla="*/ 12 w 428"/>
                <a:gd name="T7" fmla="*/ 100 h 1109"/>
                <a:gd name="T8" fmla="*/ 178 w 428"/>
                <a:gd name="T9" fmla="*/ 241 h 1109"/>
                <a:gd name="T10" fmla="*/ 178 w 428"/>
                <a:gd name="T11" fmla="*/ 1108 h 1109"/>
                <a:gd name="T12" fmla="*/ 427 w 428"/>
                <a:gd name="T13" fmla="*/ 1108 h 1109"/>
                <a:gd name="T14" fmla="*/ 427 w 428"/>
                <a:gd name="T15" fmla="*/ 0 h 1109"/>
                <a:gd name="T16" fmla="*/ 415 w 428"/>
                <a:gd name="T17" fmla="*/ 0 h 1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28" h="1109">
                  <a:moveTo>
                    <a:pt x="415" y="0"/>
                  </a:moveTo>
                  <a:lnTo>
                    <a:pt x="0" y="38"/>
                  </a:lnTo>
                  <a:lnTo>
                    <a:pt x="0" y="100"/>
                  </a:lnTo>
                  <a:lnTo>
                    <a:pt x="12" y="100"/>
                  </a:lnTo>
                  <a:cubicBezTo>
                    <a:pt x="178" y="121"/>
                    <a:pt x="178" y="121"/>
                    <a:pt x="178" y="241"/>
                  </a:cubicBezTo>
                  <a:lnTo>
                    <a:pt x="178" y="1108"/>
                  </a:lnTo>
                  <a:lnTo>
                    <a:pt x="427" y="1108"/>
                  </a:lnTo>
                  <a:lnTo>
                    <a:pt x="427" y="0"/>
                  </a:lnTo>
                  <a:lnTo>
                    <a:pt x="415"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75" name="Freeform 9"/>
            <p:cNvSpPr>
              <a:spLocks noChangeArrowheads="1"/>
            </p:cNvSpPr>
            <p:nvPr/>
          </p:nvSpPr>
          <p:spPr bwMode="auto">
            <a:xfrm>
              <a:off x="2986088" y="4198938"/>
              <a:ext cx="315912" cy="282575"/>
            </a:xfrm>
            <a:custGeom>
              <a:avLst/>
              <a:gdLst>
                <a:gd name="T0" fmla="*/ 643 w 876"/>
                <a:gd name="T1" fmla="*/ 4 h 785"/>
                <a:gd name="T2" fmla="*/ 353 w 876"/>
                <a:gd name="T3" fmla="*/ 170 h 785"/>
                <a:gd name="T4" fmla="*/ 353 w 876"/>
                <a:gd name="T5" fmla="*/ 0 h 785"/>
                <a:gd name="T6" fmla="*/ 336 w 876"/>
                <a:gd name="T7" fmla="*/ 4 h 785"/>
                <a:gd name="T8" fmla="*/ 0 w 876"/>
                <a:gd name="T9" fmla="*/ 58 h 785"/>
                <a:gd name="T10" fmla="*/ 0 w 876"/>
                <a:gd name="T11" fmla="*/ 116 h 785"/>
                <a:gd name="T12" fmla="*/ 17 w 876"/>
                <a:gd name="T13" fmla="*/ 116 h 785"/>
                <a:gd name="T14" fmla="*/ 145 w 876"/>
                <a:gd name="T15" fmla="*/ 240 h 785"/>
                <a:gd name="T16" fmla="*/ 145 w 876"/>
                <a:gd name="T17" fmla="*/ 784 h 785"/>
                <a:gd name="T18" fmla="*/ 353 w 876"/>
                <a:gd name="T19" fmla="*/ 784 h 785"/>
                <a:gd name="T20" fmla="*/ 353 w 876"/>
                <a:gd name="T21" fmla="*/ 386 h 785"/>
                <a:gd name="T22" fmla="*/ 560 w 876"/>
                <a:gd name="T23" fmla="*/ 141 h 785"/>
                <a:gd name="T24" fmla="*/ 664 w 876"/>
                <a:gd name="T25" fmla="*/ 361 h 785"/>
                <a:gd name="T26" fmla="*/ 664 w 876"/>
                <a:gd name="T27" fmla="*/ 784 h 785"/>
                <a:gd name="T28" fmla="*/ 871 w 876"/>
                <a:gd name="T29" fmla="*/ 784 h 785"/>
                <a:gd name="T30" fmla="*/ 871 w 876"/>
                <a:gd name="T31" fmla="*/ 240 h 785"/>
                <a:gd name="T32" fmla="*/ 643 w 876"/>
                <a:gd name="T33" fmla="*/ 4 h 7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76" h="785">
                  <a:moveTo>
                    <a:pt x="643" y="4"/>
                  </a:moveTo>
                  <a:cubicBezTo>
                    <a:pt x="490" y="4"/>
                    <a:pt x="398" y="108"/>
                    <a:pt x="353" y="170"/>
                  </a:cubicBezTo>
                  <a:cubicBezTo>
                    <a:pt x="353" y="112"/>
                    <a:pt x="353" y="0"/>
                    <a:pt x="353" y="0"/>
                  </a:cubicBezTo>
                  <a:lnTo>
                    <a:pt x="336" y="4"/>
                  </a:lnTo>
                  <a:lnTo>
                    <a:pt x="0" y="58"/>
                  </a:lnTo>
                  <a:lnTo>
                    <a:pt x="0" y="116"/>
                  </a:lnTo>
                  <a:lnTo>
                    <a:pt x="17" y="116"/>
                  </a:lnTo>
                  <a:cubicBezTo>
                    <a:pt x="124" y="120"/>
                    <a:pt x="145" y="141"/>
                    <a:pt x="145" y="240"/>
                  </a:cubicBezTo>
                  <a:lnTo>
                    <a:pt x="145" y="784"/>
                  </a:lnTo>
                  <a:lnTo>
                    <a:pt x="353" y="784"/>
                  </a:lnTo>
                  <a:lnTo>
                    <a:pt x="353" y="386"/>
                  </a:lnTo>
                  <a:cubicBezTo>
                    <a:pt x="353" y="278"/>
                    <a:pt x="452" y="141"/>
                    <a:pt x="560" y="141"/>
                  </a:cubicBezTo>
                  <a:cubicBezTo>
                    <a:pt x="660" y="141"/>
                    <a:pt x="664" y="224"/>
                    <a:pt x="664" y="361"/>
                  </a:cubicBezTo>
                  <a:lnTo>
                    <a:pt x="664" y="784"/>
                  </a:lnTo>
                  <a:lnTo>
                    <a:pt x="871" y="784"/>
                  </a:lnTo>
                  <a:lnTo>
                    <a:pt x="871" y="240"/>
                  </a:lnTo>
                  <a:cubicBezTo>
                    <a:pt x="875" y="87"/>
                    <a:pt x="792" y="4"/>
                    <a:pt x="643" y="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76" name="Freeform 10"/>
            <p:cNvSpPr>
              <a:spLocks noChangeArrowheads="1"/>
            </p:cNvSpPr>
            <p:nvPr/>
          </p:nvSpPr>
          <p:spPr bwMode="auto">
            <a:xfrm>
              <a:off x="3386138" y="4200525"/>
              <a:ext cx="212725" cy="288925"/>
            </a:xfrm>
            <a:custGeom>
              <a:avLst/>
              <a:gdLst>
                <a:gd name="T0" fmla="*/ 348 w 590"/>
                <a:gd name="T1" fmla="*/ 303 h 802"/>
                <a:gd name="T2" fmla="*/ 195 w 590"/>
                <a:gd name="T3" fmla="*/ 170 h 802"/>
                <a:gd name="T4" fmla="*/ 307 w 590"/>
                <a:gd name="T5" fmla="*/ 100 h 802"/>
                <a:gd name="T6" fmla="*/ 502 w 590"/>
                <a:gd name="T7" fmla="*/ 166 h 802"/>
                <a:gd name="T8" fmla="*/ 535 w 590"/>
                <a:gd name="T9" fmla="*/ 187 h 802"/>
                <a:gd name="T10" fmla="*/ 535 w 590"/>
                <a:gd name="T11" fmla="*/ 162 h 802"/>
                <a:gd name="T12" fmla="*/ 535 w 590"/>
                <a:gd name="T13" fmla="*/ 33 h 802"/>
                <a:gd name="T14" fmla="*/ 506 w 590"/>
                <a:gd name="T15" fmla="*/ 25 h 802"/>
                <a:gd name="T16" fmla="*/ 315 w 590"/>
                <a:gd name="T17" fmla="*/ 0 h 802"/>
                <a:gd name="T18" fmla="*/ 0 w 590"/>
                <a:gd name="T19" fmla="*/ 224 h 802"/>
                <a:gd name="T20" fmla="*/ 228 w 590"/>
                <a:gd name="T21" fmla="*/ 465 h 802"/>
                <a:gd name="T22" fmla="*/ 390 w 590"/>
                <a:gd name="T23" fmla="*/ 606 h 802"/>
                <a:gd name="T24" fmla="*/ 249 w 590"/>
                <a:gd name="T25" fmla="*/ 697 h 802"/>
                <a:gd name="T26" fmla="*/ 20 w 590"/>
                <a:gd name="T27" fmla="*/ 618 h 802"/>
                <a:gd name="T28" fmla="*/ 0 w 590"/>
                <a:gd name="T29" fmla="*/ 606 h 802"/>
                <a:gd name="T30" fmla="*/ 0 w 590"/>
                <a:gd name="T31" fmla="*/ 767 h 802"/>
                <a:gd name="T32" fmla="*/ 16 w 590"/>
                <a:gd name="T33" fmla="*/ 771 h 802"/>
                <a:gd name="T34" fmla="*/ 244 w 590"/>
                <a:gd name="T35" fmla="*/ 801 h 802"/>
                <a:gd name="T36" fmla="*/ 580 w 590"/>
                <a:gd name="T37" fmla="*/ 568 h 802"/>
                <a:gd name="T38" fmla="*/ 348 w 590"/>
                <a:gd name="T39" fmla="*/ 303 h 8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590" h="802">
                  <a:moveTo>
                    <a:pt x="348" y="303"/>
                  </a:moveTo>
                  <a:cubicBezTo>
                    <a:pt x="265" y="261"/>
                    <a:pt x="195" y="228"/>
                    <a:pt x="195" y="170"/>
                  </a:cubicBezTo>
                  <a:cubicBezTo>
                    <a:pt x="195" y="104"/>
                    <a:pt x="274" y="100"/>
                    <a:pt x="307" y="100"/>
                  </a:cubicBezTo>
                  <a:cubicBezTo>
                    <a:pt x="394" y="100"/>
                    <a:pt x="468" y="145"/>
                    <a:pt x="502" y="166"/>
                  </a:cubicBezTo>
                  <a:lnTo>
                    <a:pt x="535" y="187"/>
                  </a:lnTo>
                  <a:lnTo>
                    <a:pt x="535" y="162"/>
                  </a:lnTo>
                  <a:lnTo>
                    <a:pt x="535" y="33"/>
                  </a:lnTo>
                  <a:lnTo>
                    <a:pt x="506" y="25"/>
                  </a:lnTo>
                  <a:cubicBezTo>
                    <a:pt x="468" y="17"/>
                    <a:pt x="398" y="0"/>
                    <a:pt x="315" y="0"/>
                  </a:cubicBezTo>
                  <a:cubicBezTo>
                    <a:pt x="120" y="0"/>
                    <a:pt x="0" y="83"/>
                    <a:pt x="0" y="224"/>
                  </a:cubicBezTo>
                  <a:cubicBezTo>
                    <a:pt x="0" y="353"/>
                    <a:pt x="124" y="411"/>
                    <a:pt x="228" y="465"/>
                  </a:cubicBezTo>
                  <a:cubicBezTo>
                    <a:pt x="311" y="506"/>
                    <a:pt x="390" y="543"/>
                    <a:pt x="390" y="606"/>
                  </a:cubicBezTo>
                  <a:cubicBezTo>
                    <a:pt x="390" y="664"/>
                    <a:pt x="340" y="697"/>
                    <a:pt x="249" y="697"/>
                  </a:cubicBezTo>
                  <a:cubicBezTo>
                    <a:pt x="149" y="697"/>
                    <a:pt x="70" y="647"/>
                    <a:pt x="20" y="618"/>
                  </a:cubicBezTo>
                  <a:lnTo>
                    <a:pt x="0" y="606"/>
                  </a:lnTo>
                  <a:lnTo>
                    <a:pt x="0" y="767"/>
                  </a:lnTo>
                  <a:lnTo>
                    <a:pt x="16" y="771"/>
                  </a:lnTo>
                  <a:cubicBezTo>
                    <a:pt x="58" y="780"/>
                    <a:pt x="137" y="801"/>
                    <a:pt x="244" y="801"/>
                  </a:cubicBezTo>
                  <a:cubicBezTo>
                    <a:pt x="456" y="801"/>
                    <a:pt x="580" y="713"/>
                    <a:pt x="580" y="568"/>
                  </a:cubicBezTo>
                  <a:cubicBezTo>
                    <a:pt x="589" y="419"/>
                    <a:pt x="460" y="357"/>
                    <a:pt x="348" y="30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77" name="Freeform 11"/>
            <p:cNvSpPr>
              <a:spLocks noChangeArrowheads="1"/>
            </p:cNvSpPr>
            <p:nvPr/>
          </p:nvSpPr>
          <p:spPr bwMode="auto">
            <a:xfrm>
              <a:off x="3635375" y="4198938"/>
              <a:ext cx="325438" cy="396875"/>
            </a:xfrm>
            <a:custGeom>
              <a:avLst/>
              <a:gdLst>
                <a:gd name="T0" fmla="*/ 577 w 906"/>
                <a:gd name="T1" fmla="*/ 4 h 1104"/>
                <a:gd name="T2" fmla="*/ 357 w 906"/>
                <a:gd name="T3" fmla="*/ 112 h 1104"/>
                <a:gd name="T4" fmla="*/ 357 w 906"/>
                <a:gd name="T5" fmla="*/ 0 h 1104"/>
                <a:gd name="T6" fmla="*/ 336 w 906"/>
                <a:gd name="T7" fmla="*/ 4 h 1104"/>
                <a:gd name="T8" fmla="*/ 0 w 906"/>
                <a:gd name="T9" fmla="*/ 58 h 1104"/>
                <a:gd name="T10" fmla="*/ 0 w 906"/>
                <a:gd name="T11" fmla="*/ 116 h 1104"/>
                <a:gd name="T12" fmla="*/ 13 w 906"/>
                <a:gd name="T13" fmla="*/ 116 h 1104"/>
                <a:gd name="T14" fmla="*/ 137 w 906"/>
                <a:gd name="T15" fmla="*/ 240 h 1104"/>
                <a:gd name="T16" fmla="*/ 137 w 906"/>
                <a:gd name="T17" fmla="*/ 1103 h 1104"/>
                <a:gd name="T18" fmla="*/ 345 w 906"/>
                <a:gd name="T19" fmla="*/ 1103 h 1104"/>
                <a:gd name="T20" fmla="*/ 345 w 906"/>
                <a:gd name="T21" fmla="*/ 709 h 1104"/>
                <a:gd name="T22" fmla="*/ 560 w 906"/>
                <a:gd name="T23" fmla="*/ 800 h 1104"/>
                <a:gd name="T24" fmla="*/ 896 w 906"/>
                <a:gd name="T25" fmla="*/ 390 h 1104"/>
                <a:gd name="T26" fmla="*/ 577 w 906"/>
                <a:gd name="T27" fmla="*/ 4 h 1104"/>
                <a:gd name="T28" fmla="*/ 515 w 906"/>
                <a:gd name="T29" fmla="*/ 120 h 1104"/>
                <a:gd name="T30" fmla="*/ 672 w 906"/>
                <a:gd name="T31" fmla="*/ 394 h 1104"/>
                <a:gd name="T32" fmla="*/ 515 w 906"/>
                <a:gd name="T33" fmla="*/ 688 h 1104"/>
                <a:gd name="T34" fmla="*/ 349 w 906"/>
                <a:gd name="T35" fmla="*/ 456 h 1104"/>
                <a:gd name="T36" fmla="*/ 349 w 906"/>
                <a:gd name="T37" fmla="*/ 390 h 1104"/>
                <a:gd name="T38" fmla="*/ 515 w 906"/>
                <a:gd name="T39" fmla="*/ 120 h 1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906" h="1104">
                  <a:moveTo>
                    <a:pt x="577" y="4"/>
                  </a:moveTo>
                  <a:cubicBezTo>
                    <a:pt x="498" y="4"/>
                    <a:pt x="424" y="41"/>
                    <a:pt x="357" y="112"/>
                  </a:cubicBezTo>
                  <a:cubicBezTo>
                    <a:pt x="357" y="75"/>
                    <a:pt x="357" y="0"/>
                    <a:pt x="357" y="0"/>
                  </a:cubicBezTo>
                  <a:lnTo>
                    <a:pt x="336" y="4"/>
                  </a:lnTo>
                  <a:lnTo>
                    <a:pt x="0" y="58"/>
                  </a:lnTo>
                  <a:lnTo>
                    <a:pt x="0" y="116"/>
                  </a:lnTo>
                  <a:lnTo>
                    <a:pt x="13" y="116"/>
                  </a:lnTo>
                  <a:cubicBezTo>
                    <a:pt x="117" y="120"/>
                    <a:pt x="137" y="141"/>
                    <a:pt x="137" y="240"/>
                  </a:cubicBezTo>
                  <a:lnTo>
                    <a:pt x="137" y="1103"/>
                  </a:lnTo>
                  <a:lnTo>
                    <a:pt x="345" y="1103"/>
                  </a:lnTo>
                  <a:cubicBezTo>
                    <a:pt x="345" y="1103"/>
                    <a:pt x="345" y="775"/>
                    <a:pt x="345" y="709"/>
                  </a:cubicBezTo>
                  <a:cubicBezTo>
                    <a:pt x="382" y="755"/>
                    <a:pt x="444" y="800"/>
                    <a:pt x="560" y="800"/>
                  </a:cubicBezTo>
                  <a:cubicBezTo>
                    <a:pt x="780" y="800"/>
                    <a:pt x="896" y="659"/>
                    <a:pt x="896" y="390"/>
                  </a:cubicBezTo>
                  <a:cubicBezTo>
                    <a:pt x="905" y="145"/>
                    <a:pt x="784" y="4"/>
                    <a:pt x="577" y="4"/>
                  </a:cubicBezTo>
                  <a:close/>
                  <a:moveTo>
                    <a:pt x="515" y="120"/>
                  </a:moveTo>
                  <a:cubicBezTo>
                    <a:pt x="656" y="120"/>
                    <a:pt x="672" y="274"/>
                    <a:pt x="672" y="394"/>
                  </a:cubicBezTo>
                  <a:cubicBezTo>
                    <a:pt x="672" y="593"/>
                    <a:pt x="623" y="688"/>
                    <a:pt x="515" y="688"/>
                  </a:cubicBezTo>
                  <a:cubicBezTo>
                    <a:pt x="378" y="688"/>
                    <a:pt x="349" y="560"/>
                    <a:pt x="349" y="456"/>
                  </a:cubicBezTo>
                  <a:lnTo>
                    <a:pt x="349" y="390"/>
                  </a:lnTo>
                  <a:cubicBezTo>
                    <a:pt x="353" y="307"/>
                    <a:pt x="370" y="120"/>
                    <a:pt x="515" y="120"/>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78" name="Freeform 12"/>
            <p:cNvSpPr>
              <a:spLocks noChangeArrowheads="1"/>
            </p:cNvSpPr>
            <p:nvPr/>
          </p:nvSpPr>
          <p:spPr bwMode="auto">
            <a:xfrm>
              <a:off x="4013200" y="4198938"/>
              <a:ext cx="123825" cy="282575"/>
            </a:xfrm>
            <a:custGeom>
              <a:avLst/>
              <a:gdLst>
                <a:gd name="T0" fmla="*/ 0 w 345"/>
                <a:gd name="T1" fmla="*/ 58 h 785"/>
                <a:gd name="T2" fmla="*/ 0 w 345"/>
                <a:gd name="T3" fmla="*/ 116 h 785"/>
                <a:gd name="T4" fmla="*/ 12 w 345"/>
                <a:gd name="T5" fmla="*/ 116 h 785"/>
                <a:gd name="T6" fmla="*/ 137 w 345"/>
                <a:gd name="T7" fmla="*/ 240 h 785"/>
                <a:gd name="T8" fmla="*/ 137 w 345"/>
                <a:gd name="T9" fmla="*/ 784 h 785"/>
                <a:gd name="T10" fmla="*/ 344 w 345"/>
                <a:gd name="T11" fmla="*/ 784 h 785"/>
                <a:gd name="T12" fmla="*/ 344 w 345"/>
                <a:gd name="T13" fmla="*/ 0 h 785"/>
                <a:gd name="T14" fmla="*/ 328 w 345"/>
                <a:gd name="T15" fmla="*/ 4 h 785"/>
                <a:gd name="T16" fmla="*/ 0 w 345"/>
                <a:gd name="T17" fmla="*/ 58 h 7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45" h="785">
                  <a:moveTo>
                    <a:pt x="0" y="58"/>
                  </a:moveTo>
                  <a:lnTo>
                    <a:pt x="0" y="116"/>
                  </a:lnTo>
                  <a:lnTo>
                    <a:pt x="12" y="116"/>
                  </a:lnTo>
                  <a:cubicBezTo>
                    <a:pt x="116" y="120"/>
                    <a:pt x="137" y="141"/>
                    <a:pt x="137" y="240"/>
                  </a:cubicBezTo>
                  <a:lnTo>
                    <a:pt x="137" y="784"/>
                  </a:lnTo>
                  <a:lnTo>
                    <a:pt x="344" y="784"/>
                  </a:lnTo>
                  <a:lnTo>
                    <a:pt x="344" y="0"/>
                  </a:lnTo>
                  <a:lnTo>
                    <a:pt x="328" y="4"/>
                  </a:lnTo>
                  <a:lnTo>
                    <a:pt x="0" y="58"/>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80" name="Freeform 13"/>
            <p:cNvSpPr>
              <a:spLocks noChangeArrowheads="1"/>
            </p:cNvSpPr>
            <p:nvPr/>
          </p:nvSpPr>
          <p:spPr bwMode="auto">
            <a:xfrm>
              <a:off x="4056063" y="4084638"/>
              <a:ext cx="93662" cy="82550"/>
            </a:xfrm>
            <a:custGeom>
              <a:avLst/>
              <a:gdLst>
                <a:gd name="T0" fmla="*/ 129 w 262"/>
                <a:gd name="T1" fmla="*/ 228 h 229"/>
                <a:gd name="T2" fmla="*/ 261 w 262"/>
                <a:gd name="T3" fmla="*/ 112 h 229"/>
                <a:gd name="T4" fmla="*/ 133 w 262"/>
                <a:gd name="T5" fmla="*/ 0 h 229"/>
                <a:gd name="T6" fmla="*/ 4 w 262"/>
                <a:gd name="T7" fmla="*/ 112 h 229"/>
                <a:gd name="T8" fmla="*/ 129 w 262"/>
                <a:gd name="T9" fmla="*/ 228 h 229"/>
              </a:gdLst>
              <a:ahLst/>
              <a:cxnLst>
                <a:cxn ang="0">
                  <a:pos x="T0" y="T1"/>
                </a:cxn>
                <a:cxn ang="0">
                  <a:pos x="T2" y="T3"/>
                </a:cxn>
                <a:cxn ang="0">
                  <a:pos x="T4" y="T5"/>
                </a:cxn>
                <a:cxn ang="0">
                  <a:pos x="T6" y="T7"/>
                </a:cxn>
                <a:cxn ang="0">
                  <a:pos x="T8" y="T9"/>
                </a:cxn>
              </a:cxnLst>
              <a:rect l="0" t="0" r="r" b="b"/>
              <a:pathLst>
                <a:path w="262" h="229">
                  <a:moveTo>
                    <a:pt x="129" y="228"/>
                  </a:moveTo>
                  <a:cubicBezTo>
                    <a:pt x="199" y="228"/>
                    <a:pt x="261" y="178"/>
                    <a:pt x="261" y="112"/>
                  </a:cubicBezTo>
                  <a:cubicBezTo>
                    <a:pt x="261" y="49"/>
                    <a:pt x="203" y="0"/>
                    <a:pt x="133" y="0"/>
                  </a:cubicBezTo>
                  <a:cubicBezTo>
                    <a:pt x="62" y="0"/>
                    <a:pt x="4" y="49"/>
                    <a:pt x="4" y="112"/>
                  </a:cubicBezTo>
                  <a:cubicBezTo>
                    <a:pt x="0" y="178"/>
                    <a:pt x="58" y="228"/>
                    <a:pt x="129" y="228"/>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81" name="Freeform 14"/>
            <p:cNvSpPr>
              <a:spLocks noChangeArrowheads="1"/>
            </p:cNvSpPr>
            <p:nvPr/>
          </p:nvSpPr>
          <p:spPr bwMode="auto">
            <a:xfrm>
              <a:off x="4211638" y="4200525"/>
              <a:ext cx="244475" cy="280988"/>
            </a:xfrm>
            <a:custGeom>
              <a:avLst/>
              <a:gdLst>
                <a:gd name="T0" fmla="*/ 676 w 677"/>
                <a:gd name="T1" fmla="*/ 174 h 781"/>
                <a:gd name="T2" fmla="*/ 676 w 677"/>
                <a:gd name="T3" fmla="*/ 12 h 781"/>
                <a:gd name="T4" fmla="*/ 663 w 677"/>
                <a:gd name="T5" fmla="*/ 12 h 781"/>
                <a:gd name="T6" fmla="*/ 564 w 677"/>
                <a:gd name="T7" fmla="*/ 4 h 781"/>
                <a:gd name="T8" fmla="*/ 348 w 677"/>
                <a:gd name="T9" fmla="*/ 158 h 781"/>
                <a:gd name="T10" fmla="*/ 348 w 677"/>
                <a:gd name="T11" fmla="*/ 0 h 781"/>
                <a:gd name="T12" fmla="*/ 331 w 677"/>
                <a:gd name="T13" fmla="*/ 0 h 781"/>
                <a:gd name="T14" fmla="*/ 0 w 677"/>
                <a:gd name="T15" fmla="*/ 54 h 781"/>
                <a:gd name="T16" fmla="*/ 0 w 677"/>
                <a:gd name="T17" fmla="*/ 112 h 781"/>
                <a:gd name="T18" fmla="*/ 12 w 677"/>
                <a:gd name="T19" fmla="*/ 112 h 781"/>
                <a:gd name="T20" fmla="*/ 141 w 677"/>
                <a:gd name="T21" fmla="*/ 236 h 781"/>
                <a:gd name="T22" fmla="*/ 141 w 677"/>
                <a:gd name="T23" fmla="*/ 780 h 781"/>
                <a:gd name="T24" fmla="*/ 348 w 677"/>
                <a:gd name="T25" fmla="*/ 780 h 781"/>
                <a:gd name="T26" fmla="*/ 348 w 677"/>
                <a:gd name="T27" fmla="*/ 390 h 781"/>
                <a:gd name="T28" fmla="*/ 568 w 677"/>
                <a:gd name="T29" fmla="*/ 170 h 781"/>
                <a:gd name="T30" fmla="*/ 643 w 677"/>
                <a:gd name="T31" fmla="*/ 183 h 781"/>
                <a:gd name="T32" fmla="*/ 676 w 677"/>
                <a:gd name="T33" fmla="*/ 191 h 781"/>
                <a:gd name="T34" fmla="*/ 676 w 677"/>
                <a:gd name="T35" fmla="*/ 174 h 7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77" h="781">
                  <a:moveTo>
                    <a:pt x="676" y="174"/>
                  </a:moveTo>
                  <a:lnTo>
                    <a:pt x="676" y="12"/>
                  </a:lnTo>
                  <a:lnTo>
                    <a:pt x="663" y="12"/>
                  </a:lnTo>
                  <a:cubicBezTo>
                    <a:pt x="630" y="8"/>
                    <a:pt x="593" y="4"/>
                    <a:pt x="564" y="4"/>
                  </a:cubicBezTo>
                  <a:cubicBezTo>
                    <a:pt x="443" y="4"/>
                    <a:pt x="381" y="91"/>
                    <a:pt x="348" y="158"/>
                  </a:cubicBezTo>
                  <a:cubicBezTo>
                    <a:pt x="348" y="95"/>
                    <a:pt x="348" y="0"/>
                    <a:pt x="348" y="0"/>
                  </a:cubicBezTo>
                  <a:lnTo>
                    <a:pt x="331" y="0"/>
                  </a:lnTo>
                  <a:lnTo>
                    <a:pt x="0" y="54"/>
                  </a:lnTo>
                  <a:lnTo>
                    <a:pt x="0" y="112"/>
                  </a:lnTo>
                  <a:lnTo>
                    <a:pt x="12" y="112"/>
                  </a:lnTo>
                  <a:cubicBezTo>
                    <a:pt x="116" y="116"/>
                    <a:pt x="141" y="137"/>
                    <a:pt x="141" y="236"/>
                  </a:cubicBezTo>
                  <a:lnTo>
                    <a:pt x="141" y="780"/>
                  </a:lnTo>
                  <a:lnTo>
                    <a:pt x="348" y="780"/>
                  </a:lnTo>
                  <a:lnTo>
                    <a:pt x="348" y="390"/>
                  </a:lnTo>
                  <a:cubicBezTo>
                    <a:pt x="348" y="324"/>
                    <a:pt x="369" y="170"/>
                    <a:pt x="568" y="170"/>
                  </a:cubicBezTo>
                  <a:cubicBezTo>
                    <a:pt x="593" y="170"/>
                    <a:pt x="618" y="178"/>
                    <a:pt x="643" y="183"/>
                  </a:cubicBezTo>
                  <a:lnTo>
                    <a:pt x="676" y="191"/>
                  </a:lnTo>
                  <a:lnTo>
                    <a:pt x="676" y="174"/>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82" name="Freeform 15"/>
            <p:cNvSpPr>
              <a:spLocks noChangeArrowheads="1"/>
            </p:cNvSpPr>
            <p:nvPr/>
          </p:nvSpPr>
          <p:spPr bwMode="auto">
            <a:xfrm>
              <a:off x="4486275" y="4200525"/>
              <a:ext cx="266700" cy="287338"/>
            </a:xfrm>
            <a:custGeom>
              <a:avLst/>
              <a:gdLst>
                <a:gd name="T0" fmla="*/ 738 w 743"/>
                <a:gd name="T1" fmla="*/ 315 h 797"/>
                <a:gd name="T2" fmla="*/ 390 w 743"/>
                <a:gd name="T3" fmla="*/ 0 h 797"/>
                <a:gd name="T4" fmla="*/ 0 w 743"/>
                <a:gd name="T5" fmla="*/ 373 h 797"/>
                <a:gd name="T6" fmla="*/ 456 w 743"/>
                <a:gd name="T7" fmla="*/ 796 h 797"/>
                <a:gd name="T8" fmla="*/ 713 w 743"/>
                <a:gd name="T9" fmla="*/ 755 h 797"/>
                <a:gd name="T10" fmla="*/ 726 w 743"/>
                <a:gd name="T11" fmla="*/ 751 h 797"/>
                <a:gd name="T12" fmla="*/ 726 w 743"/>
                <a:gd name="T13" fmla="*/ 651 h 797"/>
                <a:gd name="T14" fmla="*/ 705 w 743"/>
                <a:gd name="T15" fmla="*/ 660 h 797"/>
                <a:gd name="T16" fmla="*/ 543 w 743"/>
                <a:gd name="T17" fmla="*/ 684 h 797"/>
                <a:gd name="T18" fmla="*/ 232 w 743"/>
                <a:gd name="T19" fmla="*/ 332 h 797"/>
                <a:gd name="T20" fmla="*/ 742 w 743"/>
                <a:gd name="T21" fmla="*/ 332 h 797"/>
                <a:gd name="T22" fmla="*/ 742 w 743"/>
                <a:gd name="T23" fmla="*/ 315 h 797"/>
                <a:gd name="T24" fmla="*/ 738 w 743"/>
                <a:gd name="T25" fmla="*/ 315 h 797"/>
                <a:gd name="T26" fmla="*/ 386 w 743"/>
                <a:gd name="T27" fmla="*/ 83 h 797"/>
                <a:gd name="T28" fmla="*/ 531 w 743"/>
                <a:gd name="T29" fmla="*/ 236 h 797"/>
                <a:gd name="T30" fmla="*/ 228 w 743"/>
                <a:gd name="T31" fmla="*/ 236 h 797"/>
                <a:gd name="T32" fmla="*/ 386 w 743"/>
                <a:gd name="T33" fmla="*/ 83 h 7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743" h="797">
                  <a:moveTo>
                    <a:pt x="738" y="315"/>
                  </a:moveTo>
                  <a:cubicBezTo>
                    <a:pt x="738" y="104"/>
                    <a:pt x="622" y="0"/>
                    <a:pt x="390" y="0"/>
                  </a:cubicBezTo>
                  <a:cubicBezTo>
                    <a:pt x="128" y="0"/>
                    <a:pt x="0" y="124"/>
                    <a:pt x="0" y="373"/>
                  </a:cubicBezTo>
                  <a:cubicBezTo>
                    <a:pt x="0" y="639"/>
                    <a:pt x="170" y="796"/>
                    <a:pt x="456" y="796"/>
                  </a:cubicBezTo>
                  <a:cubicBezTo>
                    <a:pt x="581" y="796"/>
                    <a:pt x="676" y="763"/>
                    <a:pt x="713" y="755"/>
                  </a:cubicBezTo>
                  <a:lnTo>
                    <a:pt x="726" y="751"/>
                  </a:lnTo>
                  <a:lnTo>
                    <a:pt x="726" y="651"/>
                  </a:lnTo>
                  <a:lnTo>
                    <a:pt x="705" y="660"/>
                  </a:lnTo>
                  <a:cubicBezTo>
                    <a:pt x="672" y="672"/>
                    <a:pt x="610" y="684"/>
                    <a:pt x="543" y="684"/>
                  </a:cubicBezTo>
                  <a:cubicBezTo>
                    <a:pt x="319" y="684"/>
                    <a:pt x="236" y="498"/>
                    <a:pt x="232" y="332"/>
                  </a:cubicBezTo>
                  <a:cubicBezTo>
                    <a:pt x="261" y="332"/>
                    <a:pt x="742" y="332"/>
                    <a:pt x="742" y="332"/>
                  </a:cubicBezTo>
                  <a:lnTo>
                    <a:pt x="742" y="315"/>
                  </a:lnTo>
                  <a:lnTo>
                    <a:pt x="738" y="315"/>
                  </a:lnTo>
                  <a:close/>
                  <a:moveTo>
                    <a:pt x="386" y="83"/>
                  </a:moveTo>
                  <a:cubicBezTo>
                    <a:pt x="498" y="83"/>
                    <a:pt x="527" y="166"/>
                    <a:pt x="531" y="236"/>
                  </a:cubicBezTo>
                  <a:cubicBezTo>
                    <a:pt x="506" y="236"/>
                    <a:pt x="257" y="236"/>
                    <a:pt x="228" y="236"/>
                  </a:cubicBezTo>
                  <a:cubicBezTo>
                    <a:pt x="232" y="183"/>
                    <a:pt x="269" y="83"/>
                    <a:pt x="386" y="83"/>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83" name="Freeform 16"/>
            <p:cNvSpPr>
              <a:spLocks noChangeArrowheads="1"/>
            </p:cNvSpPr>
            <p:nvPr/>
          </p:nvSpPr>
          <p:spPr bwMode="auto">
            <a:xfrm>
              <a:off x="5210175" y="4071938"/>
              <a:ext cx="314325" cy="409575"/>
            </a:xfrm>
            <a:custGeom>
              <a:avLst/>
              <a:gdLst>
                <a:gd name="T0" fmla="*/ 634 w 872"/>
                <a:gd name="T1" fmla="*/ 357 h 1138"/>
                <a:gd name="T2" fmla="*/ 348 w 872"/>
                <a:gd name="T3" fmla="*/ 523 h 1138"/>
                <a:gd name="T4" fmla="*/ 348 w 872"/>
                <a:gd name="T5" fmla="*/ 0 h 1138"/>
                <a:gd name="T6" fmla="*/ 332 w 872"/>
                <a:gd name="T7" fmla="*/ 4 h 1138"/>
                <a:gd name="T8" fmla="*/ 0 w 872"/>
                <a:gd name="T9" fmla="*/ 46 h 1138"/>
                <a:gd name="T10" fmla="*/ 0 w 872"/>
                <a:gd name="T11" fmla="*/ 104 h 1138"/>
                <a:gd name="T12" fmla="*/ 16 w 872"/>
                <a:gd name="T13" fmla="*/ 104 h 1138"/>
                <a:gd name="T14" fmla="*/ 141 w 872"/>
                <a:gd name="T15" fmla="*/ 233 h 1138"/>
                <a:gd name="T16" fmla="*/ 141 w 872"/>
                <a:gd name="T17" fmla="*/ 1137 h 1138"/>
                <a:gd name="T18" fmla="*/ 348 w 872"/>
                <a:gd name="T19" fmla="*/ 1137 h 1138"/>
                <a:gd name="T20" fmla="*/ 348 w 872"/>
                <a:gd name="T21" fmla="*/ 747 h 1138"/>
                <a:gd name="T22" fmla="*/ 547 w 872"/>
                <a:gd name="T23" fmla="*/ 494 h 1138"/>
                <a:gd name="T24" fmla="*/ 663 w 872"/>
                <a:gd name="T25" fmla="*/ 660 h 1138"/>
                <a:gd name="T26" fmla="*/ 663 w 872"/>
                <a:gd name="T27" fmla="*/ 1137 h 1138"/>
                <a:gd name="T28" fmla="*/ 871 w 872"/>
                <a:gd name="T29" fmla="*/ 1137 h 1138"/>
                <a:gd name="T30" fmla="*/ 871 w 872"/>
                <a:gd name="T31" fmla="*/ 635 h 1138"/>
                <a:gd name="T32" fmla="*/ 634 w 872"/>
                <a:gd name="T33" fmla="*/ 357 h 1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72" h="1138">
                  <a:moveTo>
                    <a:pt x="634" y="357"/>
                  </a:moveTo>
                  <a:cubicBezTo>
                    <a:pt x="481" y="357"/>
                    <a:pt x="394" y="452"/>
                    <a:pt x="348" y="523"/>
                  </a:cubicBezTo>
                  <a:cubicBezTo>
                    <a:pt x="348" y="440"/>
                    <a:pt x="348" y="0"/>
                    <a:pt x="348" y="0"/>
                  </a:cubicBezTo>
                  <a:lnTo>
                    <a:pt x="332" y="4"/>
                  </a:lnTo>
                  <a:lnTo>
                    <a:pt x="0" y="46"/>
                  </a:lnTo>
                  <a:lnTo>
                    <a:pt x="0" y="104"/>
                  </a:lnTo>
                  <a:lnTo>
                    <a:pt x="16" y="104"/>
                  </a:lnTo>
                  <a:cubicBezTo>
                    <a:pt x="120" y="108"/>
                    <a:pt x="141" y="133"/>
                    <a:pt x="141" y="233"/>
                  </a:cubicBezTo>
                  <a:lnTo>
                    <a:pt x="141" y="1137"/>
                  </a:lnTo>
                  <a:lnTo>
                    <a:pt x="348" y="1137"/>
                  </a:lnTo>
                  <a:lnTo>
                    <a:pt x="348" y="747"/>
                  </a:lnTo>
                  <a:cubicBezTo>
                    <a:pt x="348" y="606"/>
                    <a:pt x="456" y="494"/>
                    <a:pt x="547" y="494"/>
                  </a:cubicBezTo>
                  <a:cubicBezTo>
                    <a:pt x="663" y="494"/>
                    <a:pt x="663" y="581"/>
                    <a:pt x="663" y="660"/>
                  </a:cubicBezTo>
                  <a:lnTo>
                    <a:pt x="663" y="1137"/>
                  </a:lnTo>
                  <a:lnTo>
                    <a:pt x="871" y="1137"/>
                  </a:lnTo>
                  <a:lnTo>
                    <a:pt x="871" y="635"/>
                  </a:lnTo>
                  <a:cubicBezTo>
                    <a:pt x="871" y="552"/>
                    <a:pt x="871" y="357"/>
                    <a:pt x="634" y="357"/>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84" name="Freeform 17"/>
            <p:cNvSpPr>
              <a:spLocks noChangeArrowheads="1"/>
            </p:cNvSpPr>
            <p:nvPr/>
          </p:nvSpPr>
          <p:spPr bwMode="auto">
            <a:xfrm>
              <a:off x="5594350" y="4200525"/>
              <a:ext cx="266700" cy="287338"/>
            </a:xfrm>
            <a:custGeom>
              <a:avLst/>
              <a:gdLst>
                <a:gd name="T0" fmla="*/ 742 w 743"/>
                <a:gd name="T1" fmla="*/ 315 h 797"/>
                <a:gd name="T2" fmla="*/ 394 w 743"/>
                <a:gd name="T3" fmla="*/ 0 h 797"/>
                <a:gd name="T4" fmla="*/ 0 w 743"/>
                <a:gd name="T5" fmla="*/ 373 h 797"/>
                <a:gd name="T6" fmla="*/ 456 w 743"/>
                <a:gd name="T7" fmla="*/ 796 h 797"/>
                <a:gd name="T8" fmla="*/ 713 w 743"/>
                <a:gd name="T9" fmla="*/ 755 h 797"/>
                <a:gd name="T10" fmla="*/ 726 w 743"/>
                <a:gd name="T11" fmla="*/ 751 h 797"/>
                <a:gd name="T12" fmla="*/ 726 w 743"/>
                <a:gd name="T13" fmla="*/ 651 h 797"/>
                <a:gd name="T14" fmla="*/ 705 w 743"/>
                <a:gd name="T15" fmla="*/ 660 h 797"/>
                <a:gd name="T16" fmla="*/ 543 w 743"/>
                <a:gd name="T17" fmla="*/ 684 h 797"/>
                <a:gd name="T18" fmla="*/ 232 w 743"/>
                <a:gd name="T19" fmla="*/ 332 h 797"/>
                <a:gd name="T20" fmla="*/ 742 w 743"/>
                <a:gd name="T21" fmla="*/ 332 h 797"/>
                <a:gd name="T22" fmla="*/ 742 w 743"/>
                <a:gd name="T23" fmla="*/ 315 h 797"/>
                <a:gd name="T24" fmla="*/ 386 w 743"/>
                <a:gd name="T25" fmla="*/ 83 h 797"/>
                <a:gd name="T26" fmla="*/ 531 w 743"/>
                <a:gd name="T27" fmla="*/ 236 h 797"/>
                <a:gd name="T28" fmla="*/ 228 w 743"/>
                <a:gd name="T29" fmla="*/ 236 h 797"/>
                <a:gd name="T30" fmla="*/ 386 w 743"/>
                <a:gd name="T31" fmla="*/ 83 h 7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743" h="797">
                  <a:moveTo>
                    <a:pt x="742" y="315"/>
                  </a:moveTo>
                  <a:cubicBezTo>
                    <a:pt x="742" y="104"/>
                    <a:pt x="626" y="0"/>
                    <a:pt x="394" y="0"/>
                  </a:cubicBezTo>
                  <a:cubicBezTo>
                    <a:pt x="133" y="0"/>
                    <a:pt x="0" y="124"/>
                    <a:pt x="0" y="373"/>
                  </a:cubicBezTo>
                  <a:cubicBezTo>
                    <a:pt x="0" y="639"/>
                    <a:pt x="170" y="796"/>
                    <a:pt x="456" y="796"/>
                  </a:cubicBezTo>
                  <a:cubicBezTo>
                    <a:pt x="581" y="796"/>
                    <a:pt x="676" y="763"/>
                    <a:pt x="713" y="755"/>
                  </a:cubicBezTo>
                  <a:lnTo>
                    <a:pt x="726" y="751"/>
                  </a:lnTo>
                  <a:lnTo>
                    <a:pt x="726" y="651"/>
                  </a:lnTo>
                  <a:lnTo>
                    <a:pt x="705" y="660"/>
                  </a:lnTo>
                  <a:cubicBezTo>
                    <a:pt x="672" y="672"/>
                    <a:pt x="610" y="684"/>
                    <a:pt x="543" y="684"/>
                  </a:cubicBezTo>
                  <a:cubicBezTo>
                    <a:pt x="319" y="684"/>
                    <a:pt x="236" y="498"/>
                    <a:pt x="232" y="332"/>
                  </a:cubicBezTo>
                  <a:cubicBezTo>
                    <a:pt x="261" y="332"/>
                    <a:pt x="742" y="332"/>
                    <a:pt x="742" y="332"/>
                  </a:cubicBezTo>
                  <a:lnTo>
                    <a:pt x="742" y="315"/>
                  </a:lnTo>
                  <a:close/>
                  <a:moveTo>
                    <a:pt x="386" y="83"/>
                  </a:moveTo>
                  <a:cubicBezTo>
                    <a:pt x="498" y="83"/>
                    <a:pt x="527" y="166"/>
                    <a:pt x="531" y="236"/>
                  </a:cubicBezTo>
                  <a:cubicBezTo>
                    <a:pt x="506" y="236"/>
                    <a:pt x="257" y="236"/>
                    <a:pt x="228" y="236"/>
                  </a:cubicBezTo>
                  <a:cubicBezTo>
                    <a:pt x="236" y="183"/>
                    <a:pt x="270" y="83"/>
                    <a:pt x="386" y="83"/>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85" name="Freeform 18"/>
            <p:cNvSpPr>
              <a:spLocks noChangeArrowheads="1"/>
            </p:cNvSpPr>
            <p:nvPr/>
          </p:nvSpPr>
          <p:spPr bwMode="auto">
            <a:xfrm>
              <a:off x="4964113" y="4121150"/>
              <a:ext cx="212725" cy="366713"/>
            </a:xfrm>
            <a:custGeom>
              <a:avLst/>
              <a:gdLst>
                <a:gd name="T0" fmla="*/ 141 w 589"/>
                <a:gd name="T1" fmla="*/ 237 h 1017"/>
                <a:gd name="T2" fmla="*/ 0 w 589"/>
                <a:gd name="T3" fmla="*/ 237 h 1017"/>
                <a:gd name="T4" fmla="*/ 0 w 589"/>
                <a:gd name="T5" fmla="*/ 328 h 1017"/>
                <a:gd name="T6" fmla="*/ 141 w 589"/>
                <a:gd name="T7" fmla="*/ 328 h 1017"/>
                <a:gd name="T8" fmla="*/ 141 w 589"/>
                <a:gd name="T9" fmla="*/ 797 h 1017"/>
                <a:gd name="T10" fmla="*/ 427 w 589"/>
                <a:gd name="T11" fmla="*/ 1016 h 1017"/>
                <a:gd name="T12" fmla="*/ 551 w 589"/>
                <a:gd name="T13" fmla="*/ 1004 h 1017"/>
                <a:gd name="T14" fmla="*/ 564 w 589"/>
                <a:gd name="T15" fmla="*/ 1004 h 1017"/>
                <a:gd name="T16" fmla="*/ 564 w 589"/>
                <a:gd name="T17" fmla="*/ 909 h 1017"/>
                <a:gd name="T18" fmla="*/ 547 w 589"/>
                <a:gd name="T19" fmla="*/ 913 h 1017"/>
                <a:gd name="T20" fmla="*/ 485 w 589"/>
                <a:gd name="T21" fmla="*/ 917 h 1017"/>
                <a:gd name="T22" fmla="*/ 352 w 589"/>
                <a:gd name="T23" fmla="*/ 772 h 1017"/>
                <a:gd name="T24" fmla="*/ 352 w 589"/>
                <a:gd name="T25" fmla="*/ 328 h 1017"/>
                <a:gd name="T26" fmla="*/ 588 w 589"/>
                <a:gd name="T27" fmla="*/ 328 h 1017"/>
                <a:gd name="T28" fmla="*/ 588 w 589"/>
                <a:gd name="T29" fmla="*/ 237 h 1017"/>
                <a:gd name="T30" fmla="*/ 352 w 589"/>
                <a:gd name="T31" fmla="*/ 237 h 1017"/>
                <a:gd name="T32" fmla="*/ 352 w 589"/>
                <a:gd name="T33" fmla="*/ 0 h 1017"/>
                <a:gd name="T34" fmla="*/ 141 w 589"/>
                <a:gd name="T35" fmla="*/ 0 h 1017"/>
                <a:gd name="T36" fmla="*/ 141 w 589"/>
                <a:gd name="T37" fmla="*/ 237 h 10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89" h="1017">
                  <a:moveTo>
                    <a:pt x="141" y="237"/>
                  </a:moveTo>
                  <a:lnTo>
                    <a:pt x="0" y="237"/>
                  </a:lnTo>
                  <a:lnTo>
                    <a:pt x="0" y="328"/>
                  </a:lnTo>
                  <a:lnTo>
                    <a:pt x="141" y="328"/>
                  </a:lnTo>
                  <a:lnTo>
                    <a:pt x="141" y="797"/>
                  </a:lnTo>
                  <a:cubicBezTo>
                    <a:pt x="141" y="1000"/>
                    <a:pt x="270" y="1016"/>
                    <a:pt x="427" y="1016"/>
                  </a:cubicBezTo>
                  <a:cubicBezTo>
                    <a:pt x="464" y="1016"/>
                    <a:pt x="505" y="1012"/>
                    <a:pt x="551" y="1004"/>
                  </a:cubicBezTo>
                  <a:lnTo>
                    <a:pt x="564" y="1004"/>
                  </a:lnTo>
                  <a:lnTo>
                    <a:pt x="564" y="909"/>
                  </a:lnTo>
                  <a:lnTo>
                    <a:pt x="547" y="913"/>
                  </a:lnTo>
                  <a:cubicBezTo>
                    <a:pt x="530" y="917"/>
                    <a:pt x="510" y="917"/>
                    <a:pt x="485" y="917"/>
                  </a:cubicBezTo>
                  <a:cubicBezTo>
                    <a:pt x="360" y="917"/>
                    <a:pt x="352" y="880"/>
                    <a:pt x="352" y="772"/>
                  </a:cubicBezTo>
                  <a:lnTo>
                    <a:pt x="352" y="328"/>
                  </a:lnTo>
                  <a:lnTo>
                    <a:pt x="588" y="328"/>
                  </a:lnTo>
                  <a:lnTo>
                    <a:pt x="588" y="237"/>
                  </a:lnTo>
                  <a:lnTo>
                    <a:pt x="352" y="237"/>
                  </a:lnTo>
                  <a:lnTo>
                    <a:pt x="352" y="0"/>
                  </a:lnTo>
                  <a:lnTo>
                    <a:pt x="141" y="0"/>
                  </a:lnTo>
                  <a:lnTo>
                    <a:pt x="141" y="237"/>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86" name="Freeform 19"/>
            <p:cNvSpPr>
              <a:spLocks noChangeArrowheads="1"/>
            </p:cNvSpPr>
            <p:nvPr/>
          </p:nvSpPr>
          <p:spPr bwMode="auto">
            <a:xfrm>
              <a:off x="6049963" y="4087813"/>
              <a:ext cx="450850" cy="395287"/>
            </a:xfrm>
            <a:custGeom>
              <a:avLst/>
              <a:gdLst>
                <a:gd name="T0" fmla="*/ 1245 w 1254"/>
                <a:gd name="T1" fmla="*/ 0 h 1096"/>
                <a:gd name="T2" fmla="*/ 1033 w 1254"/>
                <a:gd name="T3" fmla="*/ 0 h 1096"/>
                <a:gd name="T4" fmla="*/ 1033 w 1254"/>
                <a:gd name="T5" fmla="*/ 829 h 1096"/>
                <a:gd name="T6" fmla="*/ 485 w 1254"/>
                <a:gd name="T7" fmla="*/ 0 h 1096"/>
                <a:gd name="T8" fmla="*/ 0 w 1254"/>
                <a:gd name="T9" fmla="*/ 0 h 1096"/>
                <a:gd name="T10" fmla="*/ 0 w 1254"/>
                <a:gd name="T11" fmla="*/ 62 h 1096"/>
                <a:gd name="T12" fmla="*/ 42 w 1254"/>
                <a:gd name="T13" fmla="*/ 70 h 1096"/>
                <a:gd name="T14" fmla="*/ 178 w 1254"/>
                <a:gd name="T15" fmla="*/ 220 h 1096"/>
                <a:gd name="T16" fmla="*/ 178 w 1254"/>
                <a:gd name="T17" fmla="*/ 1095 h 1096"/>
                <a:gd name="T18" fmla="*/ 403 w 1254"/>
                <a:gd name="T19" fmla="*/ 1095 h 1096"/>
                <a:gd name="T20" fmla="*/ 403 w 1254"/>
                <a:gd name="T21" fmla="*/ 228 h 1096"/>
                <a:gd name="T22" fmla="*/ 975 w 1254"/>
                <a:gd name="T23" fmla="*/ 1095 h 1096"/>
                <a:gd name="T24" fmla="*/ 1253 w 1254"/>
                <a:gd name="T25" fmla="*/ 1095 h 1096"/>
                <a:gd name="T26" fmla="*/ 1253 w 1254"/>
                <a:gd name="T27" fmla="*/ 0 h 1096"/>
                <a:gd name="T28" fmla="*/ 1245 w 1254"/>
                <a:gd name="T29" fmla="*/ 0 h 10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54" h="1096">
                  <a:moveTo>
                    <a:pt x="1245" y="0"/>
                  </a:moveTo>
                  <a:lnTo>
                    <a:pt x="1033" y="0"/>
                  </a:lnTo>
                  <a:cubicBezTo>
                    <a:pt x="1033" y="0"/>
                    <a:pt x="1033" y="751"/>
                    <a:pt x="1033" y="829"/>
                  </a:cubicBezTo>
                  <a:cubicBezTo>
                    <a:pt x="992" y="763"/>
                    <a:pt x="485" y="0"/>
                    <a:pt x="485" y="0"/>
                  </a:cubicBezTo>
                  <a:lnTo>
                    <a:pt x="0" y="0"/>
                  </a:lnTo>
                  <a:lnTo>
                    <a:pt x="0" y="62"/>
                  </a:lnTo>
                  <a:lnTo>
                    <a:pt x="42" y="70"/>
                  </a:lnTo>
                  <a:cubicBezTo>
                    <a:pt x="170" y="91"/>
                    <a:pt x="178" y="95"/>
                    <a:pt x="178" y="220"/>
                  </a:cubicBezTo>
                  <a:lnTo>
                    <a:pt x="178" y="1095"/>
                  </a:lnTo>
                  <a:lnTo>
                    <a:pt x="403" y="1095"/>
                  </a:lnTo>
                  <a:cubicBezTo>
                    <a:pt x="403" y="1095"/>
                    <a:pt x="403" y="307"/>
                    <a:pt x="403" y="228"/>
                  </a:cubicBezTo>
                  <a:cubicBezTo>
                    <a:pt x="448" y="294"/>
                    <a:pt x="975" y="1095"/>
                    <a:pt x="975" y="1095"/>
                  </a:cubicBezTo>
                  <a:lnTo>
                    <a:pt x="1253" y="1095"/>
                  </a:lnTo>
                  <a:lnTo>
                    <a:pt x="1253" y="0"/>
                  </a:lnTo>
                  <a:lnTo>
                    <a:pt x="1245"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87" name="Freeform 20"/>
            <p:cNvSpPr>
              <a:spLocks noChangeArrowheads="1"/>
            </p:cNvSpPr>
            <p:nvPr/>
          </p:nvSpPr>
          <p:spPr bwMode="auto">
            <a:xfrm>
              <a:off x="6573838" y="4200525"/>
              <a:ext cx="266700" cy="287338"/>
            </a:xfrm>
            <a:custGeom>
              <a:avLst/>
              <a:gdLst>
                <a:gd name="T0" fmla="*/ 390 w 740"/>
                <a:gd name="T1" fmla="*/ 0 h 797"/>
                <a:gd name="T2" fmla="*/ 0 w 740"/>
                <a:gd name="T3" fmla="*/ 373 h 797"/>
                <a:gd name="T4" fmla="*/ 456 w 740"/>
                <a:gd name="T5" fmla="*/ 796 h 797"/>
                <a:gd name="T6" fmla="*/ 714 w 740"/>
                <a:gd name="T7" fmla="*/ 755 h 797"/>
                <a:gd name="T8" fmla="*/ 726 w 740"/>
                <a:gd name="T9" fmla="*/ 751 h 797"/>
                <a:gd name="T10" fmla="*/ 726 w 740"/>
                <a:gd name="T11" fmla="*/ 651 h 797"/>
                <a:gd name="T12" fmla="*/ 705 w 740"/>
                <a:gd name="T13" fmla="*/ 660 h 797"/>
                <a:gd name="T14" fmla="*/ 539 w 740"/>
                <a:gd name="T15" fmla="*/ 684 h 797"/>
                <a:gd name="T16" fmla="*/ 228 w 740"/>
                <a:gd name="T17" fmla="*/ 332 h 797"/>
                <a:gd name="T18" fmla="*/ 739 w 740"/>
                <a:gd name="T19" fmla="*/ 332 h 797"/>
                <a:gd name="T20" fmla="*/ 739 w 740"/>
                <a:gd name="T21" fmla="*/ 315 h 797"/>
                <a:gd name="T22" fmla="*/ 390 w 740"/>
                <a:gd name="T23" fmla="*/ 0 h 797"/>
                <a:gd name="T24" fmla="*/ 386 w 740"/>
                <a:gd name="T25" fmla="*/ 83 h 797"/>
                <a:gd name="T26" fmla="*/ 531 w 740"/>
                <a:gd name="T27" fmla="*/ 236 h 797"/>
                <a:gd name="T28" fmla="*/ 228 w 740"/>
                <a:gd name="T29" fmla="*/ 236 h 797"/>
                <a:gd name="T30" fmla="*/ 386 w 740"/>
                <a:gd name="T31" fmla="*/ 83 h 7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740" h="797">
                  <a:moveTo>
                    <a:pt x="390" y="0"/>
                  </a:moveTo>
                  <a:cubicBezTo>
                    <a:pt x="129" y="0"/>
                    <a:pt x="0" y="124"/>
                    <a:pt x="0" y="373"/>
                  </a:cubicBezTo>
                  <a:cubicBezTo>
                    <a:pt x="0" y="639"/>
                    <a:pt x="170" y="796"/>
                    <a:pt x="456" y="796"/>
                  </a:cubicBezTo>
                  <a:cubicBezTo>
                    <a:pt x="581" y="796"/>
                    <a:pt x="676" y="767"/>
                    <a:pt x="714" y="755"/>
                  </a:cubicBezTo>
                  <a:lnTo>
                    <a:pt x="726" y="751"/>
                  </a:lnTo>
                  <a:lnTo>
                    <a:pt x="726" y="651"/>
                  </a:lnTo>
                  <a:lnTo>
                    <a:pt x="705" y="660"/>
                  </a:lnTo>
                  <a:cubicBezTo>
                    <a:pt x="672" y="672"/>
                    <a:pt x="610" y="684"/>
                    <a:pt x="539" y="684"/>
                  </a:cubicBezTo>
                  <a:cubicBezTo>
                    <a:pt x="315" y="684"/>
                    <a:pt x="232" y="498"/>
                    <a:pt x="228" y="332"/>
                  </a:cubicBezTo>
                  <a:lnTo>
                    <a:pt x="739" y="332"/>
                  </a:lnTo>
                  <a:lnTo>
                    <a:pt x="739" y="315"/>
                  </a:lnTo>
                  <a:cubicBezTo>
                    <a:pt x="739" y="104"/>
                    <a:pt x="622" y="0"/>
                    <a:pt x="390" y="0"/>
                  </a:cubicBezTo>
                  <a:close/>
                  <a:moveTo>
                    <a:pt x="386" y="83"/>
                  </a:moveTo>
                  <a:cubicBezTo>
                    <a:pt x="498" y="83"/>
                    <a:pt x="527" y="162"/>
                    <a:pt x="531" y="236"/>
                  </a:cubicBezTo>
                  <a:lnTo>
                    <a:pt x="228" y="236"/>
                  </a:lnTo>
                  <a:cubicBezTo>
                    <a:pt x="232" y="187"/>
                    <a:pt x="270" y="83"/>
                    <a:pt x="386" y="83"/>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88" name="Freeform 21"/>
            <p:cNvSpPr>
              <a:spLocks noChangeArrowheads="1"/>
            </p:cNvSpPr>
            <p:nvPr/>
          </p:nvSpPr>
          <p:spPr bwMode="auto">
            <a:xfrm>
              <a:off x="7204075" y="4121150"/>
              <a:ext cx="212725" cy="366713"/>
            </a:xfrm>
            <a:custGeom>
              <a:avLst/>
              <a:gdLst>
                <a:gd name="T0" fmla="*/ 141 w 590"/>
                <a:gd name="T1" fmla="*/ 237 h 1017"/>
                <a:gd name="T2" fmla="*/ 0 w 590"/>
                <a:gd name="T3" fmla="*/ 237 h 1017"/>
                <a:gd name="T4" fmla="*/ 0 w 590"/>
                <a:gd name="T5" fmla="*/ 328 h 1017"/>
                <a:gd name="T6" fmla="*/ 141 w 590"/>
                <a:gd name="T7" fmla="*/ 328 h 1017"/>
                <a:gd name="T8" fmla="*/ 141 w 590"/>
                <a:gd name="T9" fmla="*/ 797 h 1017"/>
                <a:gd name="T10" fmla="*/ 427 w 590"/>
                <a:gd name="T11" fmla="*/ 1016 h 1017"/>
                <a:gd name="T12" fmla="*/ 551 w 590"/>
                <a:gd name="T13" fmla="*/ 1004 h 1017"/>
                <a:gd name="T14" fmla="*/ 564 w 590"/>
                <a:gd name="T15" fmla="*/ 1004 h 1017"/>
                <a:gd name="T16" fmla="*/ 564 w 590"/>
                <a:gd name="T17" fmla="*/ 909 h 1017"/>
                <a:gd name="T18" fmla="*/ 547 w 590"/>
                <a:gd name="T19" fmla="*/ 913 h 1017"/>
                <a:gd name="T20" fmla="*/ 485 w 590"/>
                <a:gd name="T21" fmla="*/ 917 h 1017"/>
                <a:gd name="T22" fmla="*/ 352 w 590"/>
                <a:gd name="T23" fmla="*/ 772 h 1017"/>
                <a:gd name="T24" fmla="*/ 352 w 590"/>
                <a:gd name="T25" fmla="*/ 328 h 1017"/>
                <a:gd name="T26" fmla="*/ 589 w 590"/>
                <a:gd name="T27" fmla="*/ 328 h 1017"/>
                <a:gd name="T28" fmla="*/ 589 w 590"/>
                <a:gd name="T29" fmla="*/ 237 h 1017"/>
                <a:gd name="T30" fmla="*/ 352 w 590"/>
                <a:gd name="T31" fmla="*/ 237 h 1017"/>
                <a:gd name="T32" fmla="*/ 352 w 590"/>
                <a:gd name="T33" fmla="*/ 0 h 1017"/>
                <a:gd name="T34" fmla="*/ 141 w 590"/>
                <a:gd name="T35" fmla="*/ 0 h 1017"/>
                <a:gd name="T36" fmla="*/ 141 w 590"/>
                <a:gd name="T37" fmla="*/ 237 h 10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90" h="1017">
                  <a:moveTo>
                    <a:pt x="141" y="237"/>
                  </a:moveTo>
                  <a:lnTo>
                    <a:pt x="0" y="237"/>
                  </a:lnTo>
                  <a:lnTo>
                    <a:pt x="0" y="328"/>
                  </a:lnTo>
                  <a:lnTo>
                    <a:pt x="141" y="328"/>
                  </a:lnTo>
                  <a:lnTo>
                    <a:pt x="141" y="797"/>
                  </a:lnTo>
                  <a:cubicBezTo>
                    <a:pt x="141" y="1000"/>
                    <a:pt x="269" y="1016"/>
                    <a:pt x="427" y="1016"/>
                  </a:cubicBezTo>
                  <a:cubicBezTo>
                    <a:pt x="464" y="1016"/>
                    <a:pt x="506" y="1012"/>
                    <a:pt x="551" y="1004"/>
                  </a:cubicBezTo>
                  <a:lnTo>
                    <a:pt x="564" y="1004"/>
                  </a:lnTo>
                  <a:lnTo>
                    <a:pt x="564" y="909"/>
                  </a:lnTo>
                  <a:lnTo>
                    <a:pt x="547" y="913"/>
                  </a:lnTo>
                  <a:cubicBezTo>
                    <a:pt x="531" y="917"/>
                    <a:pt x="510" y="917"/>
                    <a:pt x="485" y="917"/>
                  </a:cubicBezTo>
                  <a:cubicBezTo>
                    <a:pt x="361" y="917"/>
                    <a:pt x="352" y="880"/>
                    <a:pt x="352" y="772"/>
                  </a:cubicBezTo>
                  <a:lnTo>
                    <a:pt x="352" y="328"/>
                  </a:lnTo>
                  <a:lnTo>
                    <a:pt x="589" y="328"/>
                  </a:lnTo>
                  <a:lnTo>
                    <a:pt x="589" y="237"/>
                  </a:lnTo>
                  <a:lnTo>
                    <a:pt x="352" y="237"/>
                  </a:lnTo>
                  <a:lnTo>
                    <a:pt x="352" y="0"/>
                  </a:lnTo>
                  <a:lnTo>
                    <a:pt x="141" y="0"/>
                  </a:lnTo>
                  <a:lnTo>
                    <a:pt x="141" y="237"/>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89" name="Freeform 22"/>
            <p:cNvSpPr>
              <a:spLocks noChangeArrowheads="1"/>
            </p:cNvSpPr>
            <p:nvPr/>
          </p:nvSpPr>
          <p:spPr bwMode="auto">
            <a:xfrm>
              <a:off x="6850063" y="4206875"/>
              <a:ext cx="331787" cy="274638"/>
            </a:xfrm>
            <a:custGeom>
              <a:avLst/>
              <a:gdLst>
                <a:gd name="T0" fmla="*/ 705 w 921"/>
                <a:gd name="T1" fmla="*/ 248 h 764"/>
                <a:gd name="T2" fmla="*/ 920 w 921"/>
                <a:gd name="T3" fmla="*/ 0 h 764"/>
                <a:gd name="T4" fmla="*/ 701 w 921"/>
                <a:gd name="T5" fmla="*/ 0 h 764"/>
                <a:gd name="T6" fmla="*/ 497 w 921"/>
                <a:gd name="T7" fmla="*/ 236 h 764"/>
                <a:gd name="T8" fmla="*/ 319 w 921"/>
                <a:gd name="T9" fmla="*/ 0 h 764"/>
                <a:gd name="T10" fmla="*/ 0 w 921"/>
                <a:gd name="T11" fmla="*/ 0 h 764"/>
                <a:gd name="T12" fmla="*/ 0 w 921"/>
                <a:gd name="T13" fmla="*/ 62 h 764"/>
                <a:gd name="T14" fmla="*/ 12 w 921"/>
                <a:gd name="T15" fmla="*/ 62 h 764"/>
                <a:gd name="T16" fmla="*/ 211 w 921"/>
                <a:gd name="T17" fmla="*/ 178 h 764"/>
                <a:gd name="T18" fmla="*/ 344 w 921"/>
                <a:gd name="T19" fmla="*/ 352 h 764"/>
                <a:gd name="T20" fmla="*/ 128 w 921"/>
                <a:gd name="T21" fmla="*/ 601 h 764"/>
                <a:gd name="T22" fmla="*/ 348 w 921"/>
                <a:gd name="T23" fmla="*/ 601 h 764"/>
                <a:gd name="T24" fmla="*/ 443 w 921"/>
                <a:gd name="T25" fmla="*/ 489 h 764"/>
                <a:gd name="T26" fmla="*/ 651 w 921"/>
                <a:gd name="T27" fmla="*/ 763 h 764"/>
                <a:gd name="T28" fmla="*/ 900 w 921"/>
                <a:gd name="T29" fmla="*/ 763 h 764"/>
                <a:gd name="T30" fmla="*/ 506 w 921"/>
                <a:gd name="T31" fmla="*/ 248 h 764"/>
                <a:gd name="T32" fmla="*/ 705 w 921"/>
                <a:gd name="T33" fmla="*/ 248 h 7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21" h="764">
                  <a:moveTo>
                    <a:pt x="705" y="248"/>
                  </a:moveTo>
                  <a:lnTo>
                    <a:pt x="920" y="0"/>
                  </a:lnTo>
                  <a:lnTo>
                    <a:pt x="701" y="0"/>
                  </a:lnTo>
                  <a:lnTo>
                    <a:pt x="497" y="236"/>
                  </a:lnTo>
                  <a:lnTo>
                    <a:pt x="319" y="0"/>
                  </a:lnTo>
                  <a:lnTo>
                    <a:pt x="0" y="0"/>
                  </a:lnTo>
                  <a:lnTo>
                    <a:pt x="0" y="62"/>
                  </a:lnTo>
                  <a:lnTo>
                    <a:pt x="12" y="62"/>
                  </a:lnTo>
                  <a:cubicBezTo>
                    <a:pt x="120" y="70"/>
                    <a:pt x="145" y="87"/>
                    <a:pt x="211" y="178"/>
                  </a:cubicBezTo>
                  <a:lnTo>
                    <a:pt x="344" y="352"/>
                  </a:lnTo>
                  <a:lnTo>
                    <a:pt x="128" y="601"/>
                  </a:lnTo>
                  <a:lnTo>
                    <a:pt x="348" y="601"/>
                  </a:lnTo>
                  <a:lnTo>
                    <a:pt x="443" y="489"/>
                  </a:lnTo>
                  <a:lnTo>
                    <a:pt x="651" y="763"/>
                  </a:lnTo>
                  <a:lnTo>
                    <a:pt x="900" y="763"/>
                  </a:lnTo>
                  <a:lnTo>
                    <a:pt x="506" y="248"/>
                  </a:lnTo>
                  <a:lnTo>
                    <a:pt x="705" y="248"/>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90" name="Freeform 23"/>
            <p:cNvSpPr>
              <a:spLocks noChangeArrowheads="1"/>
            </p:cNvSpPr>
            <p:nvPr/>
          </p:nvSpPr>
          <p:spPr bwMode="auto">
            <a:xfrm>
              <a:off x="7175500" y="4010025"/>
              <a:ext cx="176213" cy="111125"/>
            </a:xfrm>
            <a:custGeom>
              <a:avLst/>
              <a:gdLst>
                <a:gd name="T0" fmla="*/ 224 w 490"/>
                <a:gd name="T1" fmla="*/ 307 h 308"/>
                <a:gd name="T2" fmla="*/ 0 w 490"/>
                <a:gd name="T3" fmla="*/ 307 h 308"/>
                <a:gd name="T4" fmla="*/ 269 w 490"/>
                <a:gd name="T5" fmla="*/ 0 h 308"/>
                <a:gd name="T6" fmla="*/ 489 w 490"/>
                <a:gd name="T7" fmla="*/ 0 h 308"/>
                <a:gd name="T8" fmla="*/ 224 w 490"/>
                <a:gd name="T9" fmla="*/ 307 h 308"/>
              </a:gdLst>
              <a:ahLst/>
              <a:cxnLst>
                <a:cxn ang="0">
                  <a:pos x="T0" y="T1"/>
                </a:cxn>
                <a:cxn ang="0">
                  <a:pos x="T2" y="T3"/>
                </a:cxn>
                <a:cxn ang="0">
                  <a:pos x="T4" y="T5"/>
                </a:cxn>
                <a:cxn ang="0">
                  <a:pos x="T6" y="T7"/>
                </a:cxn>
                <a:cxn ang="0">
                  <a:pos x="T8" y="T9"/>
                </a:cxn>
              </a:cxnLst>
              <a:rect l="0" t="0" r="r" b="b"/>
              <a:pathLst>
                <a:path w="490" h="308">
                  <a:moveTo>
                    <a:pt x="224" y="307"/>
                  </a:moveTo>
                  <a:lnTo>
                    <a:pt x="0" y="307"/>
                  </a:lnTo>
                  <a:lnTo>
                    <a:pt x="269" y="0"/>
                  </a:lnTo>
                  <a:lnTo>
                    <a:pt x="489" y="0"/>
                  </a:lnTo>
                  <a:lnTo>
                    <a:pt x="224" y="307"/>
                  </a:lnTo>
                </a:path>
              </a:pathLst>
            </a:custGeom>
            <a:solidFill>
              <a:schemeClr val="accent2"/>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grpSp>
      <p:sp>
        <p:nvSpPr>
          <p:cNvPr id="32" name="Title 1">
            <a:extLst>
              <a:ext uri="{FF2B5EF4-FFF2-40B4-BE49-F238E27FC236}">
                <a16:creationId xmlns:a16="http://schemas.microsoft.com/office/drawing/2014/main" id="{D3028D0E-040E-FD43-82A3-4BE0AEE69843}"/>
              </a:ext>
            </a:extLst>
          </p:cNvPr>
          <p:cNvSpPr>
            <a:spLocks noGrp="1"/>
          </p:cNvSpPr>
          <p:nvPr>
            <p:ph type="ctrTitle" hasCustomPrompt="1"/>
          </p:nvPr>
        </p:nvSpPr>
        <p:spPr>
          <a:xfrm>
            <a:off x="725952" y="1571934"/>
            <a:ext cx="6926568" cy="695773"/>
          </a:xfrm>
          <a:prstGeom prst="rect">
            <a:avLst/>
          </a:prstGeom>
          <a:effectLst/>
        </p:spPr>
        <p:txBody>
          <a:bodyPr anchor="t">
            <a:noAutofit/>
          </a:bodyPr>
          <a:lstStyle>
            <a:lvl1pPr>
              <a:lnSpc>
                <a:spcPct val="100000"/>
              </a:lnSpc>
              <a:defRPr sz="4400" b="1" cap="none" baseline="0">
                <a:solidFill>
                  <a:schemeClr val="accent2"/>
                </a:solidFill>
                <a:latin typeface="+mn-lt"/>
              </a:defRPr>
            </a:lvl1pPr>
          </a:lstStyle>
          <a:p>
            <a:r>
              <a:rPr lang="en-US" dirty="0"/>
              <a:t>Divider Slide</a:t>
            </a:r>
          </a:p>
        </p:txBody>
      </p:sp>
      <p:sp>
        <p:nvSpPr>
          <p:cNvPr id="35" name="TextBox 34"/>
          <p:cNvSpPr txBox="1"/>
          <p:nvPr/>
        </p:nvSpPr>
        <p:spPr>
          <a:xfrm>
            <a:off x="6641794" y="4911221"/>
            <a:ext cx="2462534" cy="215444"/>
          </a:xfrm>
          <a:prstGeom prst="rect">
            <a:avLst/>
          </a:prstGeom>
          <a:noFill/>
        </p:spPr>
        <p:txBody>
          <a:bodyPr wrap="none" rtlCol="0">
            <a:sp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800" kern="1200" dirty="0">
                <a:solidFill>
                  <a:schemeClr val="tx1">
                    <a:alpha val="50000"/>
                  </a:schemeClr>
                </a:solidFill>
                <a:latin typeface="+mn-lt"/>
                <a:ea typeface="+mn-ea"/>
                <a:cs typeface="+mn-cs"/>
              </a:rPr>
              <a:t>© Hitachi Vantara LLC 2020. All Rights Reserved.</a:t>
            </a:r>
          </a:p>
        </p:txBody>
      </p:sp>
    </p:spTree>
    <p:extLst>
      <p:ext uri="{BB962C8B-B14F-4D97-AF65-F5344CB8AC3E}">
        <p14:creationId xmlns:p14="http://schemas.microsoft.com/office/powerpoint/2010/main" val="20619128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10_Title Slide">
    <p:spTree>
      <p:nvGrpSpPr>
        <p:cNvPr id="1" name=""/>
        <p:cNvGrpSpPr/>
        <p:nvPr/>
      </p:nvGrpSpPr>
      <p:grpSpPr>
        <a:xfrm>
          <a:off x="0" y="0"/>
          <a:ext cx="0" cy="0"/>
          <a:chOff x="0" y="0"/>
          <a:chExt cx="0" cy="0"/>
        </a:xfrm>
      </p:grpSpPr>
      <p:sp>
        <p:nvSpPr>
          <p:cNvPr id="60" name="Rectangle 59">
            <a:extLst>
              <a:ext uri="{FF2B5EF4-FFF2-40B4-BE49-F238E27FC236}">
                <a16:creationId xmlns:a16="http://schemas.microsoft.com/office/drawing/2014/main" id="{3D48F6B7-F509-9947-AB5A-B28BFD0AA113}"/>
              </a:ext>
            </a:extLst>
          </p:cNvPr>
          <p:cNvSpPr/>
          <p:nvPr userDrawn="1"/>
        </p:nvSpPr>
        <p:spPr>
          <a:xfrm>
            <a:off x="0" y="0"/>
            <a:ext cx="9153144" cy="5157216"/>
          </a:xfrm>
          <a:prstGeom prst="rect">
            <a:avLst/>
          </a:prstGeom>
          <a:gradFill>
            <a:gsLst>
              <a:gs pos="0">
                <a:schemeClr val="accent2">
                  <a:lumMod val="42000"/>
                </a:schemeClr>
              </a:gs>
              <a:gs pos="93000">
                <a:schemeClr val="accent2"/>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j-lt"/>
            </a:endParaRPr>
          </a:p>
        </p:txBody>
      </p:sp>
      <p:pic>
        <p:nvPicPr>
          <p:cNvPr id="31" name="Graphic 30">
            <a:extLst>
              <a:ext uri="{FF2B5EF4-FFF2-40B4-BE49-F238E27FC236}">
                <a16:creationId xmlns:a16="http://schemas.microsoft.com/office/drawing/2014/main" id="{5BF50F9F-868D-0740-AABE-D706F668CC97}"/>
              </a:ext>
            </a:extLst>
          </p:cNvPr>
          <p:cNvPicPr>
            <a:picLocks noChangeAspect="1"/>
          </p:cNvPicPr>
          <p:nvPr userDrawn="1"/>
        </p:nvPicPr>
        <p:blipFill>
          <a:blip r:embed="rId2" cstate="screen">
            <a:alphaModFix amt="20000"/>
            <a:extLst>
              <a:ext uri="{28A0092B-C50C-407E-A947-70E740481C1C}">
                <a14:useLocalDpi xmlns:a14="http://schemas.microsoft.com/office/drawing/2010/main"/>
              </a:ext>
            </a:extLst>
          </a:blip>
          <a:srcRect/>
          <a:stretch/>
        </p:blipFill>
        <p:spPr>
          <a:xfrm>
            <a:off x="4573" y="1"/>
            <a:ext cx="9143998" cy="5143499"/>
          </a:xfrm>
          <a:prstGeom prst="rect">
            <a:avLst/>
          </a:prstGeom>
        </p:spPr>
      </p:pic>
      <p:sp>
        <p:nvSpPr>
          <p:cNvPr id="64" name="TextBox 63">
            <a:extLst>
              <a:ext uri="{FF2B5EF4-FFF2-40B4-BE49-F238E27FC236}">
                <a16:creationId xmlns:a16="http://schemas.microsoft.com/office/drawing/2014/main" id="{415AF317-B9FB-444E-8EFF-15B3DE5489E0}"/>
              </a:ext>
            </a:extLst>
          </p:cNvPr>
          <p:cNvSpPr txBox="1"/>
          <p:nvPr userDrawn="1"/>
        </p:nvSpPr>
        <p:spPr>
          <a:xfrm>
            <a:off x="1611" y="4915450"/>
            <a:ext cx="312906" cy="215444"/>
          </a:xfrm>
          <a:prstGeom prst="rect">
            <a:avLst/>
          </a:prstGeom>
          <a:noFill/>
        </p:spPr>
        <p:txBody>
          <a:bodyPr wrap="none" rtlCol="0">
            <a:spAutoFit/>
          </a:bodyPr>
          <a:lstStyle/>
          <a:p>
            <a:fld id="{111F478C-84AE-4601-9BE4-60468A3A6C06}" type="slidenum">
              <a:rPr lang="en-US" sz="800" smtClean="0">
                <a:solidFill>
                  <a:prstClr val="white">
                    <a:alpha val="50000"/>
                  </a:prstClr>
                </a:solidFill>
                <a:latin typeface="Arial"/>
              </a:rPr>
              <a:pPr/>
              <a:t>‹#›</a:t>
            </a:fld>
            <a:endParaRPr lang="en-US" sz="800" dirty="0">
              <a:solidFill>
                <a:prstClr val="white">
                  <a:alpha val="50000"/>
                </a:prstClr>
              </a:solidFill>
              <a:latin typeface="Arial"/>
            </a:endParaRPr>
          </a:p>
        </p:txBody>
      </p:sp>
      <p:grpSp>
        <p:nvGrpSpPr>
          <p:cNvPr id="65" name="Group 64">
            <a:extLst>
              <a:ext uri="{FF2B5EF4-FFF2-40B4-BE49-F238E27FC236}">
                <a16:creationId xmlns:a16="http://schemas.microsoft.com/office/drawing/2014/main" id="{C791E671-E641-6148-87C8-01A72DAE4039}"/>
              </a:ext>
            </a:extLst>
          </p:cNvPr>
          <p:cNvGrpSpPr/>
          <p:nvPr userDrawn="1"/>
        </p:nvGrpSpPr>
        <p:grpSpPr>
          <a:xfrm>
            <a:off x="7684916" y="225821"/>
            <a:ext cx="1247901" cy="356665"/>
            <a:chOff x="2751138" y="3262313"/>
            <a:chExt cx="4665662" cy="1333500"/>
          </a:xfrm>
          <a:solidFill>
            <a:schemeClr val="bg1"/>
          </a:solidFill>
        </p:grpSpPr>
        <p:sp>
          <p:nvSpPr>
            <p:cNvPr id="66" name="Freeform 1">
              <a:extLst>
                <a:ext uri="{FF2B5EF4-FFF2-40B4-BE49-F238E27FC236}">
                  <a16:creationId xmlns:a16="http://schemas.microsoft.com/office/drawing/2014/main" id="{B1F57D1E-C915-9545-85F1-EB87A4715D1F}"/>
                </a:ext>
              </a:extLst>
            </p:cNvPr>
            <p:cNvSpPr>
              <a:spLocks noChangeArrowheads="1"/>
            </p:cNvSpPr>
            <p:nvPr/>
          </p:nvSpPr>
          <p:spPr bwMode="auto">
            <a:xfrm>
              <a:off x="6180138" y="3275013"/>
              <a:ext cx="673100" cy="631825"/>
            </a:xfrm>
            <a:custGeom>
              <a:avLst/>
              <a:gdLst>
                <a:gd name="T0" fmla="*/ 465 w 1868"/>
                <a:gd name="T1" fmla="*/ 0 h 1755"/>
                <a:gd name="T2" fmla="*/ 465 w 1868"/>
                <a:gd name="T3" fmla="*/ 700 h 1755"/>
                <a:gd name="T4" fmla="*/ 1402 w 1868"/>
                <a:gd name="T5" fmla="*/ 700 h 1755"/>
                <a:gd name="T6" fmla="*/ 1402 w 1868"/>
                <a:gd name="T7" fmla="*/ 0 h 1755"/>
                <a:gd name="T8" fmla="*/ 1867 w 1868"/>
                <a:gd name="T9" fmla="*/ 0 h 1755"/>
                <a:gd name="T10" fmla="*/ 1867 w 1868"/>
                <a:gd name="T11" fmla="*/ 1754 h 1755"/>
                <a:gd name="T12" fmla="*/ 1402 w 1868"/>
                <a:gd name="T13" fmla="*/ 1754 h 1755"/>
                <a:gd name="T14" fmla="*/ 1402 w 1868"/>
                <a:gd name="T15" fmla="*/ 983 h 1755"/>
                <a:gd name="T16" fmla="*/ 465 w 1868"/>
                <a:gd name="T17" fmla="*/ 983 h 1755"/>
                <a:gd name="T18" fmla="*/ 465 w 1868"/>
                <a:gd name="T19" fmla="*/ 1754 h 1755"/>
                <a:gd name="T20" fmla="*/ 0 w 1868"/>
                <a:gd name="T21" fmla="*/ 1754 h 1755"/>
                <a:gd name="T22" fmla="*/ 0 w 1868"/>
                <a:gd name="T23" fmla="*/ 0 h 1755"/>
                <a:gd name="T24" fmla="*/ 465 w 1868"/>
                <a:gd name="T25" fmla="*/ 0 h 17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68" h="1755">
                  <a:moveTo>
                    <a:pt x="465" y="0"/>
                  </a:moveTo>
                  <a:cubicBezTo>
                    <a:pt x="465" y="0"/>
                    <a:pt x="465" y="705"/>
                    <a:pt x="465" y="700"/>
                  </a:cubicBezTo>
                  <a:lnTo>
                    <a:pt x="1402" y="700"/>
                  </a:lnTo>
                  <a:cubicBezTo>
                    <a:pt x="1402" y="705"/>
                    <a:pt x="1402" y="0"/>
                    <a:pt x="1402" y="0"/>
                  </a:cubicBezTo>
                  <a:cubicBezTo>
                    <a:pt x="1402" y="0"/>
                    <a:pt x="1863" y="0"/>
                    <a:pt x="1867" y="0"/>
                  </a:cubicBezTo>
                  <a:cubicBezTo>
                    <a:pt x="1867" y="0"/>
                    <a:pt x="1867" y="1750"/>
                    <a:pt x="1867" y="1754"/>
                  </a:cubicBezTo>
                  <a:lnTo>
                    <a:pt x="1402" y="1754"/>
                  </a:lnTo>
                  <a:cubicBezTo>
                    <a:pt x="1402" y="1754"/>
                    <a:pt x="1402" y="987"/>
                    <a:pt x="1402" y="983"/>
                  </a:cubicBezTo>
                  <a:cubicBezTo>
                    <a:pt x="1402" y="987"/>
                    <a:pt x="465" y="983"/>
                    <a:pt x="465" y="983"/>
                  </a:cubicBezTo>
                  <a:cubicBezTo>
                    <a:pt x="465" y="987"/>
                    <a:pt x="465" y="1754"/>
                    <a:pt x="465" y="1754"/>
                  </a:cubicBezTo>
                  <a:lnTo>
                    <a:pt x="0" y="1754"/>
                  </a:lnTo>
                  <a:cubicBezTo>
                    <a:pt x="0" y="1754"/>
                    <a:pt x="4" y="0"/>
                    <a:pt x="0" y="0"/>
                  </a:cubicBezTo>
                  <a:lnTo>
                    <a:pt x="465"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67" name="Freeform 2">
              <a:extLst>
                <a:ext uri="{FF2B5EF4-FFF2-40B4-BE49-F238E27FC236}">
                  <a16:creationId xmlns:a16="http://schemas.microsoft.com/office/drawing/2014/main" id="{3473832E-DBBD-5945-91EA-2E6E7BF121B7}"/>
                </a:ext>
              </a:extLst>
            </p:cNvPr>
            <p:cNvSpPr>
              <a:spLocks noChangeArrowheads="1"/>
            </p:cNvSpPr>
            <p:nvPr/>
          </p:nvSpPr>
          <p:spPr bwMode="auto">
            <a:xfrm>
              <a:off x="4083050" y="3275013"/>
              <a:ext cx="677863" cy="631825"/>
            </a:xfrm>
            <a:custGeom>
              <a:avLst/>
              <a:gdLst>
                <a:gd name="T0" fmla="*/ 1883 w 1884"/>
                <a:gd name="T1" fmla="*/ 0 h 1755"/>
                <a:gd name="T2" fmla="*/ 1883 w 1884"/>
                <a:gd name="T3" fmla="*/ 298 h 1755"/>
                <a:gd name="T4" fmla="*/ 1174 w 1884"/>
                <a:gd name="T5" fmla="*/ 298 h 1755"/>
                <a:gd name="T6" fmla="*/ 1174 w 1884"/>
                <a:gd name="T7" fmla="*/ 1754 h 1755"/>
                <a:gd name="T8" fmla="*/ 709 w 1884"/>
                <a:gd name="T9" fmla="*/ 1754 h 1755"/>
                <a:gd name="T10" fmla="*/ 709 w 1884"/>
                <a:gd name="T11" fmla="*/ 298 h 1755"/>
                <a:gd name="T12" fmla="*/ 0 w 1884"/>
                <a:gd name="T13" fmla="*/ 298 h 1755"/>
                <a:gd name="T14" fmla="*/ 0 w 1884"/>
                <a:gd name="T15" fmla="*/ 0 h 1755"/>
                <a:gd name="T16" fmla="*/ 1883 w 1884"/>
                <a:gd name="T17" fmla="*/ 0 h 17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884" h="1755">
                  <a:moveTo>
                    <a:pt x="1883" y="0"/>
                  </a:moveTo>
                  <a:cubicBezTo>
                    <a:pt x="1883" y="4"/>
                    <a:pt x="1883" y="298"/>
                    <a:pt x="1883" y="298"/>
                  </a:cubicBezTo>
                  <a:lnTo>
                    <a:pt x="1174" y="298"/>
                  </a:lnTo>
                  <a:lnTo>
                    <a:pt x="1174" y="1754"/>
                  </a:lnTo>
                  <a:lnTo>
                    <a:pt x="709" y="1754"/>
                  </a:lnTo>
                  <a:lnTo>
                    <a:pt x="709" y="298"/>
                  </a:lnTo>
                  <a:lnTo>
                    <a:pt x="0" y="298"/>
                  </a:lnTo>
                  <a:lnTo>
                    <a:pt x="0" y="0"/>
                  </a:lnTo>
                  <a:lnTo>
                    <a:pt x="1883"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68" name="Freeform 3">
              <a:extLst>
                <a:ext uri="{FF2B5EF4-FFF2-40B4-BE49-F238E27FC236}">
                  <a16:creationId xmlns:a16="http://schemas.microsoft.com/office/drawing/2014/main" id="{9F63111F-E402-434F-97AF-2720C297D00C}"/>
                </a:ext>
              </a:extLst>
            </p:cNvPr>
            <p:cNvSpPr>
              <a:spLocks noChangeArrowheads="1"/>
            </p:cNvSpPr>
            <p:nvPr/>
          </p:nvSpPr>
          <p:spPr bwMode="auto">
            <a:xfrm>
              <a:off x="4614863" y="3275013"/>
              <a:ext cx="796925" cy="631825"/>
            </a:xfrm>
            <a:custGeom>
              <a:avLst/>
              <a:gdLst>
                <a:gd name="T0" fmla="*/ 2214 w 2215"/>
                <a:gd name="T1" fmla="*/ 1754 h 1755"/>
                <a:gd name="T2" fmla="*/ 1695 w 2215"/>
                <a:gd name="T3" fmla="*/ 1754 h 1755"/>
                <a:gd name="T4" fmla="*/ 1542 w 2215"/>
                <a:gd name="T5" fmla="*/ 1377 h 1755"/>
                <a:gd name="T6" fmla="*/ 672 w 2215"/>
                <a:gd name="T7" fmla="*/ 1377 h 1755"/>
                <a:gd name="T8" fmla="*/ 518 w 2215"/>
                <a:gd name="T9" fmla="*/ 1754 h 1755"/>
                <a:gd name="T10" fmla="*/ 0 w 2215"/>
                <a:gd name="T11" fmla="*/ 1754 h 1755"/>
                <a:gd name="T12" fmla="*/ 825 w 2215"/>
                <a:gd name="T13" fmla="*/ 0 h 1755"/>
                <a:gd name="T14" fmla="*/ 1392 w 2215"/>
                <a:gd name="T15" fmla="*/ 0 h 1755"/>
                <a:gd name="T16" fmla="*/ 2214 w 2215"/>
                <a:gd name="T17" fmla="*/ 1754 h 1755"/>
                <a:gd name="T18" fmla="*/ 788 w 2215"/>
                <a:gd name="T19" fmla="*/ 1095 h 1755"/>
                <a:gd name="T20" fmla="*/ 1434 w 2215"/>
                <a:gd name="T21" fmla="*/ 1095 h 1755"/>
                <a:gd name="T22" fmla="*/ 1107 w 2215"/>
                <a:gd name="T23" fmla="*/ 298 h 1755"/>
                <a:gd name="T24" fmla="*/ 788 w 2215"/>
                <a:gd name="T25" fmla="*/ 1095 h 17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15" h="1755">
                  <a:moveTo>
                    <a:pt x="2214" y="1754"/>
                  </a:moveTo>
                  <a:cubicBezTo>
                    <a:pt x="2214" y="1754"/>
                    <a:pt x="1691" y="1754"/>
                    <a:pt x="1695" y="1754"/>
                  </a:cubicBezTo>
                  <a:lnTo>
                    <a:pt x="1542" y="1377"/>
                  </a:lnTo>
                  <a:lnTo>
                    <a:pt x="672" y="1377"/>
                  </a:lnTo>
                  <a:cubicBezTo>
                    <a:pt x="672" y="1377"/>
                    <a:pt x="522" y="1754"/>
                    <a:pt x="518" y="1754"/>
                  </a:cubicBezTo>
                  <a:lnTo>
                    <a:pt x="0" y="1754"/>
                  </a:lnTo>
                  <a:lnTo>
                    <a:pt x="825" y="0"/>
                  </a:lnTo>
                  <a:lnTo>
                    <a:pt x="1392" y="0"/>
                  </a:lnTo>
                  <a:lnTo>
                    <a:pt x="2214" y="1754"/>
                  </a:lnTo>
                  <a:close/>
                  <a:moveTo>
                    <a:pt x="788" y="1095"/>
                  </a:moveTo>
                  <a:lnTo>
                    <a:pt x="1434" y="1095"/>
                  </a:lnTo>
                  <a:lnTo>
                    <a:pt x="1107" y="298"/>
                  </a:lnTo>
                  <a:lnTo>
                    <a:pt x="788" y="1095"/>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69" name="Freeform 4">
              <a:extLst>
                <a:ext uri="{FF2B5EF4-FFF2-40B4-BE49-F238E27FC236}">
                  <a16:creationId xmlns:a16="http://schemas.microsoft.com/office/drawing/2014/main" id="{851FD346-0D83-1D4D-BE0B-B5E49D216F5E}"/>
                </a:ext>
              </a:extLst>
            </p:cNvPr>
            <p:cNvSpPr>
              <a:spLocks noChangeArrowheads="1"/>
            </p:cNvSpPr>
            <p:nvPr/>
          </p:nvSpPr>
          <p:spPr bwMode="auto">
            <a:xfrm>
              <a:off x="6985000" y="3275013"/>
              <a:ext cx="166688" cy="631825"/>
            </a:xfrm>
            <a:custGeom>
              <a:avLst/>
              <a:gdLst>
                <a:gd name="T0" fmla="*/ 232 w 465"/>
                <a:gd name="T1" fmla="*/ 1754 h 1755"/>
                <a:gd name="T2" fmla="*/ 0 w 465"/>
                <a:gd name="T3" fmla="*/ 1754 h 1755"/>
                <a:gd name="T4" fmla="*/ 0 w 465"/>
                <a:gd name="T5" fmla="*/ 0 h 1755"/>
                <a:gd name="T6" fmla="*/ 464 w 465"/>
                <a:gd name="T7" fmla="*/ 0 h 1755"/>
                <a:gd name="T8" fmla="*/ 464 w 465"/>
                <a:gd name="T9" fmla="*/ 1754 h 1755"/>
                <a:gd name="T10" fmla="*/ 232 w 465"/>
                <a:gd name="T11" fmla="*/ 1754 h 1755"/>
              </a:gdLst>
              <a:ahLst/>
              <a:cxnLst>
                <a:cxn ang="0">
                  <a:pos x="T0" y="T1"/>
                </a:cxn>
                <a:cxn ang="0">
                  <a:pos x="T2" y="T3"/>
                </a:cxn>
                <a:cxn ang="0">
                  <a:pos x="T4" y="T5"/>
                </a:cxn>
                <a:cxn ang="0">
                  <a:pos x="T6" y="T7"/>
                </a:cxn>
                <a:cxn ang="0">
                  <a:pos x="T8" y="T9"/>
                </a:cxn>
                <a:cxn ang="0">
                  <a:pos x="T10" y="T11"/>
                </a:cxn>
              </a:cxnLst>
              <a:rect l="0" t="0" r="r" b="b"/>
              <a:pathLst>
                <a:path w="465" h="1755">
                  <a:moveTo>
                    <a:pt x="232" y="1754"/>
                  </a:moveTo>
                  <a:lnTo>
                    <a:pt x="0" y="1754"/>
                  </a:lnTo>
                  <a:lnTo>
                    <a:pt x="0" y="0"/>
                  </a:lnTo>
                  <a:lnTo>
                    <a:pt x="464" y="0"/>
                  </a:lnTo>
                  <a:lnTo>
                    <a:pt x="464" y="1754"/>
                  </a:lnTo>
                  <a:lnTo>
                    <a:pt x="232" y="1754"/>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70" name="Freeform 5">
              <a:extLst>
                <a:ext uri="{FF2B5EF4-FFF2-40B4-BE49-F238E27FC236}">
                  <a16:creationId xmlns:a16="http://schemas.microsoft.com/office/drawing/2014/main" id="{1B1711E4-71F2-364B-A204-964F9234C2EF}"/>
                </a:ext>
              </a:extLst>
            </p:cNvPr>
            <p:cNvSpPr>
              <a:spLocks noChangeArrowheads="1"/>
            </p:cNvSpPr>
            <p:nvPr/>
          </p:nvSpPr>
          <p:spPr bwMode="auto">
            <a:xfrm>
              <a:off x="3049588" y="3275013"/>
              <a:ext cx="673100" cy="631825"/>
            </a:xfrm>
            <a:custGeom>
              <a:avLst/>
              <a:gdLst>
                <a:gd name="T0" fmla="*/ 465 w 1868"/>
                <a:gd name="T1" fmla="*/ 0 h 1755"/>
                <a:gd name="T2" fmla="*/ 465 w 1868"/>
                <a:gd name="T3" fmla="*/ 700 h 1755"/>
                <a:gd name="T4" fmla="*/ 1402 w 1868"/>
                <a:gd name="T5" fmla="*/ 700 h 1755"/>
                <a:gd name="T6" fmla="*/ 1402 w 1868"/>
                <a:gd name="T7" fmla="*/ 0 h 1755"/>
                <a:gd name="T8" fmla="*/ 1867 w 1868"/>
                <a:gd name="T9" fmla="*/ 0 h 1755"/>
                <a:gd name="T10" fmla="*/ 1867 w 1868"/>
                <a:gd name="T11" fmla="*/ 1754 h 1755"/>
                <a:gd name="T12" fmla="*/ 1402 w 1868"/>
                <a:gd name="T13" fmla="*/ 1754 h 1755"/>
                <a:gd name="T14" fmla="*/ 1402 w 1868"/>
                <a:gd name="T15" fmla="*/ 983 h 1755"/>
                <a:gd name="T16" fmla="*/ 465 w 1868"/>
                <a:gd name="T17" fmla="*/ 983 h 1755"/>
                <a:gd name="T18" fmla="*/ 465 w 1868"/>
                <a:gd name="T19" fmla="*/ 1754 h 1755"/>
                <a:gd name="T20" fmla="*/ 0 w 1868"/>
                <a:gd name="T21" fmla="*/ 1754 h 1755"/>
                <a:gd name="T22" fmla="*/ 0 w 1868"/>
                <a:gd name="T23" fmla="*/ 0 h 1755"/>
                <a:gd name="T24" fmla="*/ 465 w 1868"/>
                <a:gd name="T25" fmla="*/ 0 h 17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68" h="1755">
                  <a:moveTo>
                    <a:pt x="465" y="0"/>
                  </a:moveTo>
                  <a:cubicBezTo>
                    <a:pt x="465" y="0"/>
                    <a:pt x="465" y="705"/>
                    <a:pt x="465" y="700"/>
                  </a:cubicBezTo>
                  <a:lnTo>
                    <a:pt x="1402" y="700"/>
                  </a:lnTo>
                  <a:cubicBezTo>
                    <a:pt x="1402" y="705"/>
                    <a:pt x="1402" y="0"/>
                    <a:pt x="1402" y="0"/>
                  </a:cubicBezTo>
                  <a:cubicBezTo>
                    <a:pt x="1402" y="0"/>
                    <a:pt x="1863" y="0"/>
                    <a:pt x="1867" y="0"/>
                  </a:cubicBezTo>
                  <a:cubicBezTo>
                    <a:pt x="1867" y="0"/>
                    <a:pt x="1867" y="1750"/>
                    <a:pt x="1867" y="1754"/>
                  </a:cubicBezTo>
                  <a:lnTo>
                    <a:pt x="1402" y="1754"/>
                  </a:lnTo>
                  <a:cubicBezTo>
                    <a:pt x="1402" y="1754"/>
                    <a:pt x="1402" y="987"/>
                    <a:pt x="1402" y="983"/>
                  </a:cubicBezTo>
                  <a:cubicBezTo>
                    <a:pt x="1402" y="987"/>
                    <a:pt x="465" y="983"/>
                    <a:pt x="465" y="983"/>
                  </a:cubicBezTo>
                  <a:cubicBezTo>
                    <a:pt x="465" y="987"/>
                    <a:pt x="465" y="1754"/>
                    <a:pt x="465" y="1754"/>
                  </a:cubicBezTo>
                  <a:lnTo>
                    <a:pt x="0" y="1754"/>
                  </a:lnTo>
                  <a:cubicBezTo>
                    <a:pt x="0" y="1754"/>
                    <a:pt x="5" y="0"/>
                    <a:pt x="0" y="0"/>
                  </a:cubicBezTo>
                  <a:lnTo>
                    <a:pt x="465"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71" name="Freeform 6">
              <a:extLst>
                <a:ext uri="{FF2B5EF4-FFF2-40B4-BE49-F238E27FC236}">
                  <a16:creationId xmlns:a16="http://schemas.microsoft.com/office/drawing/2014/main" id="{268AA218-2BB1-C641-9792-6A4F9BE33692}"/>
                </a:ext>
              </a:extLst>
            </p:cNvPr>
            <p:cNvSpPr>
              <a:spLocks noChangeArrowheads="1"/>
            </p:cNvSpPr>
            <p:nvPr/>
          </p:nvSpPr>
          <p:spPr bwMode="auto">
            <a:xfrm>
              <a:off x="3854450" y="3275013"/>
              <a:ext cx="168275" cy="631825"/>
            </a:xfrm>
            <a:custGeom>
              <a:avLst/>
              <a:gdLst>
                <a:gd name="T0" fmla="*/ 233 w 466"/>
                <a:gd name="T1" fmla="*/ 1754 h 1755"/>
                <a:gd name="T2" fmla="*/ 0 w 466"/>
                <a:gd name="T3" fmla="*/ 1754 h 1755"/>
                <a:gd name="T4" fmla="*/ 0 w 466"/>
                <a:gd name="T5" fmla="*/ 0 h 1755"/>
                <a:gd name="T6" fmla="*/ 465 w 466"/>
                <a:gd name="T7" fmla="*/ 0 h 1755"/>
                <a:gd name="T8" fmla="*/ 465 w 466"/>
                <a:gd name="T9" fmla="*/ 1754 h 1755"/>
                <a:gd name="T10" fmla="*/ 233 w 466"/>
                <a:gd name="T11" fmla="*/ 1754 h 1755"/>
              </a:gdLst>
              <a:ahLst/>
              <a:cxnLst>
                <a:cxn ang="0">
                  <a:pos x="T0" y="T1"/>
                </a:cxn>
                <a:cxn ang="0">
                  <a:pos x="T2" y="T3"/>
                </a:cxn>
                <a:cxn ang="0">
                  <a:pos x="T4" y="T5"/>
                </a:cxn>
                <a:cxn ang="0">
                  <a:pos x="T6" y="T7"/>
                </a:cxn>
                <a:cxn ang="0">
                  <a:pos x="T8" y="T9"/>
                </a:cxn>
                <a:cxn ang="0">
                  <a:pos x="T10" y="T11"/>
                </a:cxn>
              </a:cxnLst>
              <a:rect l="0" t="0" r="r" b="b"/>
              <a:pathLst>
                <a:path w="466" h="1755">
                  <a:moveTo>
                    <a:pt x="233" y="1754"/>
                  </a:moveTo>
                  <a:lnTo>
                    <a:pt x="0" y="1754"/>
                  </a:lnTo>
                  <a:lnTo>
                    <a:pt x="0" y="0"/>
                  </a:lnTo>
                  <a:lnTo>
                    <a:pt x="465" y="0"/>
                  </a:lnTo>
                  <a:lnTo>
                    <a:pt x="465" y="1754"/>
                  </a:lnTo>
                  <a:lnTo>
                    <a:pt x="233" y="1754"/>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72" name="Freeform 7">
              <a:extLst>
                <a:ext uri="{FF2B5EF4-FFF2-40B4-BE49-F238E27FC236}">
                  <a16:creationId xmlns:a16="http://schemas.microsoft.com/office/drawing/2014/main" id="{A7052340-2C8D-2F4A-9FB8-02AB4A900DF6}"/>
                </a:ext>
              </a:extLst>
            </p:cNvPr>
            <p:cNvSpPr>
              <a:spLocks noChangeArrowheads="1"/>
            </p:cNvSpPr>
            <p:nvPr/>
          </p:nvSpPr>
          <p:spPr bwMode="auto">
            <a:xfrm>
              <a:off x="5383213" y="3262313"/>
              <a:ext cx="715962" cy="663575"/>
            </a:xfrm>
            <a:custGeom>
              <a:avLst/>
              <a:gdLst>
                <a:gd name="T0" fmla="*/ 62 w 1988"/>
                <a:gd name="T1" fmla="*/ 1307 h 1842"/>
                <a:gd name="T2" fmla="*/ 0 w 1988"/>
                <a:gd name="T3" fmla="*/ 933 h 1842"/>
                <a:gd name="T4" fmla="*/ 120 w 1988"/>
                <a:gd name="T5" fmla="*/ 423 h 1842"/>
                <a:gd name="T6" fmla="*/ 518 w 1988"/>
                <a:gd name="T7" fmla="*/ 91 h 1842"/>
                <a:gd name="T8" fmla="*/ 1033 w 1988"/>
                <a:gd name="T9" fmla="*/ 0 h 1842"/>
                <a:gd name="T10" fmla="*/ 1618 w 1988"/>
                <a:gd name="T11" fmla="*/ 125 h 1842"/>
                <a:gd name="T12" fmla="*/ 1950 w 1988"/>
                <a:gd name="T13" fmla="*/ 531 h 1842"/>
                <a:gd name="T14" fmla="*/ 1966 w 1988"/>
                <a:gd name="T15" fmla="*/ 643 h 1842"/>
                <a:gd name="T16" fmla="*/ 1481 w 1988"/>
                <a:gd name="T17" fmla="*/ 643 h 1842"/>
                <a:gd name="T18" fmla="*/ 1456 w 1988"/>
                <a:gd name="T19" fmla="*/ 506 h 1842"/>
                <a:gd name="T20" fmla="*/ 1240 w 1988"/>
                <a:gd name="T21" fmla="*/ 303 h 1842"/>
                <a:gd name="T22" fmla="*/ 1037 w 1988"/>
                <a:gd name="T23" fmla="*/ 274 h 1842"/>
                <a:gd name="T24" fmla="*/ 809 w 1988"/>
                <a:gd name="T25" fmla="*/ 315 h 1842"/>
                <a:gd name="T26" fmla="*/ 556 w 1988"/>
                <a:gd name="T27" fmla="*/ 573 h 1842"/>
                <a:gd name="T28" fmla="*/ 494 w 1988"/>
                <a:gd name="T29" fmla="*/ 942 h 1842"/>
                <a:gd name="T30" fmla="*/ 539 w 1988"/>
                <a:gd name="T31" fmla="*/ 1249 h 1842"/>
                <a:gd name="T32" fmla="*/ 792 w 1988"/>
                <a:gd name="T33" fmla="*/ 1527 h 1842"/>
                <a:gd name="T34" fmla="*/ 1041 w 1988"/>
                <a:gd name="T35" fmla="*/ 1572 h 1842"/>
                <a:gd name="T36" fmla="*/ 1257 w 1988"/>
                <a:gd name="T37" fmla="*/ 1539 h 1842"/>
                <a:gd name="T38" fmla="*/ 1460 w 1988"/>
                <a:gd name="T39" fmla="*/ 1356 h 1842"/>
                <a:gd name="T40" fmla="*/ 1497 w 1988"/>
                <a:gd name="T41" fmla="*/ 1170 h 1842"/>
                <a:gd name="T42" fmla="*/ 1987 w 1988"/>
                <a:gd name="T43" fmla="*/ 1170 h 1842"/>
                <a:gd name="T44" fmla="*/ 1962 w 1988"/>
                <a:gd name="T45" fmla="*/ 1336 h 1842"/>
                <a:gd name="T46" fmla="*/ 1638 w 1988"/>
                <a:gd name="T47" fmla="*/ 1721 h 1842"/>
                <a:gd name="T48" fmla="*/ 1041 w 1988"/>
                <a:gd name="T49" fmla="*/ 1841 h 1842"/>
                <a:gd name="T50" fmla="*/ 568 w 1988"/>
                <a:gd name="T51" fmla="*/ 1771 h 1842"/>
                <a:gd name="T52" fmla="*/ 62 w 1988"/>
                <a:gd name="T53" fmla="*/ 1307 h 18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988" h="1842">
                  <a:moveTo>
                    <a:pt x="62" y="1307"/>
                  </a:moveTo>
                  <a:cubicBezTo>
                    <a:pt x="21" y="1191"/>
                    <a:pt x="0" y="1066"/>
                    <a:pt x="0" y="933"/>
                  </a:cubicBezTo>
                  <a:cubicBezTo>
                    <a:pt x="0" y="751"/>
                    <a:pt x="33" y="573"/>
                    <a:pt x="120" y="423"/>
                  </a:cubicBezTo>
                  <a:cubicBezTo>
                    <a:pt x="211" y="270"/>
                    <a:pt x="348" y="154"/>
                    <a:pt x="518" y="91"/>
                  </a:cubicBezTo>
                  <a:cubicBezTo>
                    <a:pt x="680" y="33"/>
                    <a:pt x="850" y="0"/>
                    <a:pt x="1033" y="0"/>
                  </a:cubicBezTo>
                  <a:cubicBezTo>
                    <a:pt x="1240" y="0"/>
                    <a:pt x="1439" y="46"/>
                    <a:pt x="1618" y="125"/>
                  </a:cubicBezTo>
                  <a:cubicBezTo>
                    <a:pt x="1784" y="195"/>
                    <a:pt x="1912" y="349"/>
                    <a:pt x="1950" y="531"/>
                  </a:cubicBezTo>
                  <a:cubicBezTo>
                    <a:pt x="1958" y="568"/>
                    <a:pt x="1962" y="606"/>
                    <a:pt x="1966" y="643"/>
                  </a:cubicBezTo>
                  <a:lnTo>
                    <a:pt x="1481" y="643"/>
                  </a:lnTo>
                  <a:cubicBezTo>
                    <a:pt x="1481" y="597"/>
                    <a:pt x="1472" y="552"/>
                    <a:pt x="1456" y="506"/>
                  </a:cubicBezTo>
                  <a:cubicBezTo>
                    <a:pt x="1419" y="411"/>
                    <a:pt x="1340" y="332"/>
                    <a:pt x="1240" y="303"/>
                  </a:cubicBezTo>
                  <a:cubicBezTo>
                    <a:pt x="1174" y="282"/>
                    <a:pt x="1107" y="274"/>
                    <a:pt x="1037" y="274"/>
                  </a:cubicBezTo>
                  <a:cubicBezTo>
                    <a:pt x="958" y="274"/>
                    <a:pt x="879" y="286"/>
                    <a:pt x="809" y="315"/>
                  </a:cubicBezTo>
                  <a:cubicBezTo>
                    <a:pt x="688" y="357"/>
                    <a:pt x="597" y="452"/>
                    <a:pt x="556" y="573"/>
                  </a:cubicBezTo>
                  <a:cubicBezTo>
                    <a:pt x="514" y="689"/>
                    <a:pt x="494" y="813"/>
                    <a:pt x="494" y="942"/>
                  </a:cubicBezTo>
                  <a:cubicBezTo>
                    <a:pt x="494" y="1050"/>
                    <a:pt x="510" y="1153"/>
                    <a:pt x="539" y="1249"/>
                  </a:cubicBezTo>
                  <a:cubicBezTo>
                    <a:pt x="572" y="1377"/>
                    <a:pt x="672" y="1481"/>
                    <a:pt x="792" y="1527"/>
                  </a:cubicBezTo>
                  <a:cubicBezTo>
                    <a:pt x="871" y="1556"/>
                    <a:pt x="954" y="1572"/>
                    <a:pt x="1041" y="1572"/>
                  </a:cubicBezTo>
                  <a:cubicBezTo>
                    <a:pt x="1116" y="1572"/>
                    <a:pt x="1186" y="1560"/>
                    <a:pt x="1257" y="1539"/>
                  </a:cubicBezTo>
                  <a:cubicBezTo>
                    <a:pt x="1348" y="1510"/>
                    <a:pt x="1423" y="1444"/>
                    <a:pt x="1460" y="1356"/>
                  </a:cubicBezTo>
                  <a:cubicBezTo>
                    <a:pt x="1485" y="1298"/>
                    <a:pt x="1497" y="1236"/>
                    <a:pt x="1497" y="1170"/>
                  </a:cubicBezTo>
                  <a:lnTo>
                    <a:pt x="1987" y="1170"/>
                  </a:lnTo>
                  <a:cubicBezTo>
                    <a:pt x="1983" y="1228"/>
                    <a:pt x="1974" y="1282"/>
                    <a:pt x="1962" y="1336"/>
                  </a:cubicBezTo>
                  <a:cubicBezTo>
                    <a:pt x="1920" y="1510"/>
                    <a:pt x="1800" y="1655"/>
                    <a:pt x="1638" y="1721"/>
                  </a:cubicBezTo>
                  <a:cubicBezTo>
                    <a:pt x="1456" y="1800"/>
                    <a:pt x="1253" y="1841"/>
                    <a:pt x="1041" y="1841"/>
                  </a:cubicBezTo>
                  <a:cubicBezTo>
                    <a:pt x="875" y="1841"/>
                    <a:pt x="718" y="1817"/>
                    <a:pt x="568" y="1771"/>
                  </a:cubicBezTo>
                  <a:cubicBezTo>
                    <a:pt x="336" y="1692"/>
                    <a:pt x="137" y="1527"/>
                    <a:pt x="62" y="1307"/>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73" name="Freeform 8">
              <a:extLst>
                <a:ext uri="{FF2B5EF4-FFF2-40B4-BE49-F238E27FC236}">
                  <a16:creationId xmlns:a16="http://schemas.microsoft.com/office/drawing/2014/main" id="{535B44C4-AC43-4342-B156-30FED27CA57B}"/>
                </a:ext>
              </a:extLst>
            </p:cNvPr>
            <p:cNvSpPr>
              <a:spLocks noChangeArrowheads="1"/>
            </p:cNvSpPr>
            <p:nvPr/>
          </p:nvSpPr>
          <p:spPr bwMode="auto">
            <a:xfrm>
              <a:off x="2751138" y="4083050"/>
              <a:ext cx="153987" cy="398463"/>
            </a:xfrm>
            <a:custGeom>
              <a:avLst/>
              <a:gdLst>
                <a:gd name="T0" fmla="*/ 415 w 428"/>
                <a:gd name="T1" fmla="*/ 0 h 1109"/>
                <a:gd name="T2" fmla="*/ 0 w 428"/>
                <a:gd name="T3" fmla="*/ 38 h 1109"/>
                <a:gd name="T4" fmla="*/ 0 w 428"/>
                <a:gd name="T5" fmla="*/ 100 h 1109"/>
                <a:gd name="T6" fmla="*/ 12 w 428"/>
                <a:gd name="T7" fmla="*/ 100 h 1109"/>
                <a:gd name="T8" fmla="*/ 178 w 428"/>
                <a:gd name="T9" fmla="*/ 241 h 1109"/>
                <a:gd name="T10" fmla="*/ 178 w 428"/>
                <a:gd name="T11" fmla="*/ 1108 h 1109"/>
                <a:gd name="T12" fmla="*/ 427 w 428"/>
                <a:gd name="T13" fmla="*/ 1108 h 1109"/>
                <a:gd name="T14" fmla="*/ 427 w 428"/>
                <a:gd name="T15" fmla="*/ 0 h 1109"/>
                <a:gd name="T16" fmla="*/ 415 w 428"/>
                <a:gd name="T17" fmla="*/ 0 h 1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28" h="1109">
                  <a:moveTo>
                    <a:pt x="415" y="0"/>
                  </a:moveTo>
                  <a:lnTo>
                    <a:pt x="0" y="38"/>
                  </a:lnTo>
                  <a:lnTo>
                    <a:pt x="0" y="100"/>
                  </a:lnTo>
                  <a:lnTo>
                    <a:pt x="12" y="100"/>
                  </a:lnTo>
                  <a:cubicBezTo>
                    <a:pt x="178" y="121"/>
                    <a:pt x="178" y="121"/>
                    <a:pt x="178" y="241"/>
                  </a:cubicBezTo>
                  <a:lnTo>
                    <a:pt x="178" y="1108"/>
                  </a:lnTo>
                  <a:lnTo>
                    <a:pt x="427" y="1108"/>
                  </a:lnTo>
                  <a:lnTo>
                    <a:pt x="427" y="0"/>
                  </a:lnTo>
                  <a:lnTo>
                    <a:pt x="415"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74" name="Freeform 9">
              <a:extLst>
                <a:ext uri="{FF2B5EF4-FFF2-40B4-BE49-F238E27FC236}">
                  <a16:creationId xmlns:a16="http://schemas.microsoft.com/office/drawing/2014/main" id="{EBF6795F-0FE2-A443-993E-08FC15E569FC}"/>
                </a:ext>
              </a:extLst>
            </p:cNvPr>
            <p:cNvSpPr>
              <a:spLocks noChangeArrowheads="1"/>
            </p:cNvSpPr>
            <p:nvPr/>
          </p:nvSpPr>
          <p:spPr bwMode="auto">
            <a:xfrm>
              <a:off x="2986088" y="4198938"/>
              <a:ext cx="315912" cy="282575"/>
            </a:xfrm>
            <a:custGeom>
              <a:avLst/>
              <a:gdLst>
                <a:gd name="T0" fmla="*/ 643 w 876"/>
                <a:gd name="T1" fmla="*/ 4 h 785"/>
                <a:gd name="T2" fmla="*/ 353 w 876"/>
                <a:gd name="T3" fmla="*/ 170 h 785"/>
                <a:gd name="T4" fmla="*/ 353 w 876"/>
                <a:gd name="T5" fmla="*/ 0 h 785"/>
                <a:gd name="T6" fmla="*/ 336 w 876"/>
                <a:gd name="T7" fmla="*/ 4 h 785"/>
                <a:gd name="T8" fmla="*/ 0 w 876"/>
                <a:gd name="T9" fmla="*/ 58 h 785"/>
                <a:gd name="T10" fmla="*/ 0 w 876"/>
                <a:gd name="T11" fmla="*/ 116 h 785"/>
                <a:gd name="T12" fmla="*/ 17 w 876"/>
                <a:gd name="T13" fmla="*/ 116 h 785"/>
                <a:gd name="T14" fmla="*/ 145 w 876"/>
                <a:gd name="T15" fmla="*/ 240 h 785"/>
                <a:gd name="T16" fmla="*/ 145 w 876"/>
                <a:gd name="T17" fmla="*/ 784 h 785"/>
                <a:gd name="T18" fmla="*/ 353 w 876"/>
                <a:gd name="T19" fmla="*/ 784 h 785"/>
                <a:gd name="T20" fmla="*/ 353 w 876"/>
                <a:gd name="T21" fmla="*/ 386 h 785"/>
                <a:gd name="T22" fmla="*/ 560 w 876"/>
                <a:gd name="T23" fmla="*/ 141 h 785"/>
                <a:gd name="T24" fmla="*/ 664 w 876"/>
                <a:gd name="T25" fmla="*/ 361 h 785"/>
                <a:gd name="T26" fmla="*/ 664 w 876"/>
                <a:gd name="T27" fmla="*/ 784 h 785"/>
                <a:gd name="T28" fmla="*/ 871 w 876"/>
                <a:gd name="T29" fmla="*/ 784 h 785"/>
                <a:gd name="T30" fmla="*/ 871 w 876"/>
                <a:gd name="T31" fmla="*/ 240 h 785"/>
                <a:gd name="T32" fmla="*/ 643 w 876"/>
                <a:gd name="T33" fmla="*/ 4 h 7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76" h="785">
                  <a:moveTo>
                    <a:pt x="643" y="4"/>
                  </a:moveTo>
                  <a:cubicBezTo>
                    <a:pt x="490" y="4"/>
                    <a:pt x="398" y="108"/>
                    <a:pt x="353" y="170"/>
                  </a:cubicBezTo>
                  <a:cubicBezTo>
                    <a:pt x="353" y="112"/>
                    <a:pt x="353" y="0"/>
                    <a:pt x="353" y="0"/>
                  </a:cubicBezTo>
                  <a:lnTo>
                    <a:pt x="336" y="4"/>
                  </a:lnTo>
                  <a:lnTo>
                    <a:pt x="0" y="58"/>
                  </a:lnTo>
                  <a:lnTo>
                    <a:pt x="0" y="116"/>
                  </a:lnTo>
                  <a:lnTo>
                    <a:pt x="17" y="116"/>
                  </a:lnTo>
                  <a:cubicBezTo>
                    <a:pt x="124" y="120"/>
                    <a:pt x="145" y="141"/>
                    <a:pt x="145" y="240"/>
                  </a:cubicBezTo>
                  <a:lnTo>
                    <a:pt x="145" y="784"/>
                  </a:lnTo>
                  <a:lnTo>
                    <a:pt x="353" y="784"/>
                  </a:lnTo>
                  <a:lnTo>
                    <a:pt x="353" y="386"/>
                  </a:lnTo>
                  <a:cubicBezTo>
                    <a:pt x="353" y="278"/>
                    <a:pt x="452" y="141"/>
                    <a:pt x="560" y="141"/>
                  </a:cubicBezTo>
                  <a:cubicBezTo>
                    <a:pt x="660" y="141"/>
                    <a:pt x="664" y="224"/>
                    <a:pt x="664" y="361"/>
                  </a:cubicBezTo>
                  <a:lnTo>
                    <a:pt x="664" y="784"/>
                  </a:lnTo>
                  <a:lnTo>
                    <a:pt x="871" y="784"/>
                  </a:lnTo>
                  <a:lnTo>
                    <a:pt x="871" y="240"/>
                  </a:lnTo>
                  <a:cubicBezTo>
                    <a:pt x="875" y="87"/>
                    <a:pt x="792" y="4"/>
                    <a:pt x="643" y="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75" name="Freeform 10">
              <a:extLst>
                <a:ext uri="{FF2B5EF4-FFF2-40B4-BE49-F238E27FC236}">
                  <a16:creationId xmlns:a16="http://schemas.microsoft.com/office/drawing/2014/main" id="{C4FF7ED2-5D66-B644-A9BE-201D19A275EA}"/>
                </a:ext>
              </a:extLst>
            </p:cNvPr>
            <p:cNvSpPr>
              <a:spLocks noChangeArrowheads="1"/>
            </p:cNvSpPr>
            <p:nvPr/>
          </p:nvSpPr>
          <p:spPr bwMode="auto">
            <a:xfrm>
              <a:off x="3386138" y="4200525"/>
              <a:ext cx="212725" cy="288925"/>
            </a:xfrm>
            <a:custGeom>
              <a:avLst/>
              <a:gdLst>
                <a:gd name="T0" fmla="*/ 348 w 590"/>
                <a:gd name="T1" fmla="*/ 303 h 802"/>
                <a:gd name="T2" fmla="*/ 195 w 590"/>
                <a:gd name="T3" fmla="*/ 170 h 802"/>
                <a:gd name="T4" fmla="*/ 307 w 590"/>
                <a:gd name="T5" fmla="*/ 100 h 802"/>
                <a:gd name="T6" fmla="*/ 502 w 590"/>
                <a:gd name="T7" fmla="*/ 166 h 802"/>
                <a:gd name="T8" fmla="*/ 535 w 590"/>
                <a:gd name="T9" fmla="*/ 187 h 802"/>
                <a:gd name="T10" fmla="*/ 535 w 590"/>
                <a:gd name="T11" fmla="*/ 162 h 802"/>
                <a:gd name="T12" fmla="*/ 535 w 590"/>
                <a:gd name="T13" fmla="*/ 33 h 802"/>
                <a:gd name="T14" fmla="*/ 506 w 590"/>
                <a:gd name="T15" fmla="*/ 25 h 802"/>
                <a:gd name="T16" fmla="*/ 315 w 590"/>
                <a:gd name="T17" fmla="*/ 0 h 802"/>
                <a:gd name="T18" fmla="*/ 0 w 590"/>
                <a:gd name="T19" fmla="*/ 224 h 802"/>
                <a:gd name="T20" fmla="*/ 228 w 590"/>
                <a:gd name="T21" fmla="*/ 465 h 802"/>
                <a:gd name="T22" fmla="*/ 390 w 590"/>
                <a:gd name="T23" fmla="*/ 606 h 802"/>
                <a:gd name="T24" fmla="*/ 249 w 590"/>
                <a:gd name="T25" fmla="*/ 697 h 802"/>
                <a:gd name="T26" fmla="*/ 20 w 590"/>
                <a:gd name="T27" fmla="*/ 618 h 802"/>
                <a:gd name="T28" fmla="*/ 0 w 590"/>
                <a:gd name="T29" fmla="*/ 606 h 802"/>
                <a:gd name="T30" fmla="*/ 0 w 590"/>
                <a:gd name="T31" fmla="*/ 767 h 802"/>
                <a:gd name="T32" fmla="*/ 16 w 590"/>
                <a:gd name="T33" fmla="*/ 771 h 802"/>
                <a:gd name="T34" fmla="*/ 244 w 590"/>
                <a:gd name="T35" fmla="*/ 801 h 802"/>
                <a:gd name="T36" fmla="*/ 580 w 590"/>
                <a:gd name="T37" fmla="*/ 568 h 802"/>
                <a:gd name="T38" fmla="*/ 348 w 590"/>
                <a:gd name="T39" fmla="*/ 303 h 8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590" h="802">
                  <a:moveTo>
                    <a:pt x="348" y="303"/>
                  </a:moveTo>
                  <a:cubicBezTo>
                    <a:pt x="265" y="261"/>
                    <a:pt x="195" y="228"/>
                    <a:pt x="195" y="170"/>
                  </a:cubicBezTo>
                  <a:cubicBezTo>
                    <a:pt x="195" y="104"/>
                    <a:pt x="274" y="100"/>
                    <a:pt x="307" y="100"/>
                  </a:cubicBezTo>
                  <a:cubicBezTo>
                    <a:pt x="394" y="100"/>
                    <a:pt x="468" y="145"/>
                    <a:pt x="502" y="166"/>
                  </a:cubicBezTo>
                  <a:lnTo>
                    <a:pt x="535" y="187"/>
                  </a:lnTo>
                  <a:lnTo>
                    <a:pt x="535" y="162"/>
                  </a:lnTo>
                  <a:lnTo>
                    <a:pt x="535" y="33"/>
                  </a:lnTo>
                  <a:lnTo>
                    <a:pt x="506" y="25"/>
                  </a:lnTo>
                  <a:cubicBezTo>
                    <a:pt x="468" y="17"/>
                    <a:pt x="398" y="0"/>
                    <a:pt x="315" y="0"/>
                  </a:cubicBezTo>
                  <a:cubicBezTo>
                    <a:pt x="120" y="0"/>
                    <a:pt x="0" y="83"/>
                    <a:pt x="0" y="224"/>
                  </a:cubicBezTo>
                  <a:cubicBezTo>
                    <a:pt x="0" y="353"/>
                    <a:pt x="124" y="411"/>
                    <a:pt x="228" y="465"/>
                  </a:cubicBezTo>
                  <a:cubicBezTo>
                    <a:pt x="311" y="506"/>
                    <a:pt x="390" y="543"/>
                    <a:pt x="390" y="606"/>
                  </a:cubicBezTo>
                  <a:cubicBezTo>
                    <a:pt x="390" y="664"/>
                    <a:pt x="340" y="697"/>
                    <a:pt x="249" y="697"/>
                  </a:cubicBezTo>
                  <a:cubicBezTo>
                    <a:pt x="149" y="697"/>
                    <a:pt x="70" y="647"/>
                    <a:pt x="20" y="618"/>
                  </a:cubicBezTo>
                  <a:lnTo>
                    <a:pt x="0" y="606"/>
                  </a:lnTo>
                  <a:lnTo>
                    <a:pt x="0" y="767"/>
                  </a:lnTo>
                  <a:lnTo>
                    <a:pt x="16" y="771"/>
                  </a:lnTo>
                  <a:cubicBezTo>
                    <a:pt x="58" y="780"/>
                    <a:pt x="137" y="801"/>
                    <a:pt x="244" y="801"/>
                  </a:cubicBezTo>
                  <a:cubicBezTo>
                    <a:pt x="456" y="801"/>
                    <a:pt x="580" y="713"/>
                    <a:pt x="580" y="568"/>
                  </a:cubicBezTo>
                  <a:cubicBezTo>
                    <a:pt x="589" y="419"/>
                    <a:pt x="460" y="357"/>
                    <a:pt x="348" y="30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76" name="Freeform 11">
              <a:extLst>
                <a:ext uri="{FF2B5EF4-FFF2-40B4-BE49-F238E27FC236}">
                  <a16:creationId xmlns:a16="http://schemas.microsoft.com/office/drawing/2014/main" id="{E5445F41-D8A5-5F4E-AC2F-AB20B84745C5}"/>
                </a:ext>
              </a:extLst>
            </p:cNvPr>
            <p:cNvSpPr>
              <a:spLocks noChangeArrowheads="1"/>
            </p:cNvSpPr>
            <p:nvPr/>
          </p:nvSpPr>
          <p:spPr bwMode="auto">
            <a:xfrm>
              <a:off x="3635375" y="4198938"/>
              <a:ext cx="325438" cy="396875"/>
            </a:xfrm>
            <a:custGeom>
              <a:avLst/>
              <a:gdLst>
                <a:gd name="T0" fmla="*/ 577 w 906"/>
                <a:gd name="T1" fmla="*/ 4 h 1104"/>
                <a:gd name="T2" fmla="*/ 357 w 906"/>
                <a:gd name="T3" fmla="*/ 112 h 1104"/>
                <a:gd name="T4" fmla="*/ 357 w 906"/>
                <a:gd name="T5" fmla="*/ 0 h 1104"/>
                <a:gd name="T6" fmla="*/ 336 w 906"/>
                <a:gd name="T7" fmla="*/ 4 h 1104"/>
                <a:gd name="T8" fmla="*/ 0 w 906"/>
                <a:gd name="T9" fmla="*/ 58 h 1104"/>
                <a:gd name="T10" fmla="*/ 0 w 906"/>
                <a:gd name="T11" fmla="*/ 116 h 1104"/>
                <a:gd name="T12" fmla="*/ 13 w 906"/>
                <a:gd name="T13" fmla="*/ 116 h 1104"/>
                <a:gd name="T14" fmla="*/ 137 w 906"/>
                <a:gd name="T15" fmla="*/ 240 h 1104"/>
                <a:gd name="T16" fmla="*/ 137 w 906"/>
                <a:gd name="T17" fmla="*/ 1103 h 1104"/>
                <a:gd name="T18" fmla="*/ 345 w 906"/>
                <a:gd name="T19" fmla="*/ 1103 h 1104"/>
                <a:gd name="T20" fmla="*/ 345 w 906"/>
                <a:gd name="T21" fmla="*/ 709 h 1104"/>
                <a:gd name="T22" fmla="*/ 560 w 906"/>
                <a:gd name="T23" fmla="*/ 800 h 1104"/>
                <a:gd name="T24" fmla="*/ 896 w 906"/>
                <a:gd name="T25" fmla="*/ 390 h 1104"/>
                <a:gd name="T26" fmla="*/ 577 w 906"/>
                <a:gd name="T27" fmla="*/ 4 h 1104"/>
                <a:gd name="T28" fmla="*/ 515 w 906"/>
                <a:gd name="T29" fmla="*/ 120 h 1104"/>
                <a:gd name="T30" fmla="*/ 672 w 906"/>
                <a:gd name="T31" fmla="*/ 394 h 1104"/>
                <a:gd name="T32" fmla="*/ 515 w 906"/>
                <a:gd name="T33" fmla="*/ 688 h 1104"/>
                <a:gd name="T34" fmla="*/ 349 w 906"/>
                <a:gd name="T35" fmla="*/ 456 h 1104"/>
                <a:gd name="T36" fmla="*/ 349 w 906"/>
                <a:gd name="T37" fmla="*/ 390 h 1104"/>
                <a:gd name="T38" fmla="*/ 515 w 906"/>
                <a:gd name="T39" fmla="*/ 120 h 1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906" h="1104">
                  <a:moveTo>
                    <a:pt x="577" y="4"/>
                  </a:moveTo>
                  <a:cubicBezTo>
                    <a:pt x="498" y="4"/>
                    <a:pt x="424" y="41"/>
                    <a:pt x="357" y="112"/>
                  </a:cubicBezTo>
                  <a:cubicBezTo>
                    <a:pt x="357" y="75"/>
                    <a:pt x="357" y="0"/>
                    <a:pt x="357" y="0"/>
                  </a:cubicBezTo>
                  <a:lnTo>
                    <a:pt x="336" y="4"/>
                  </a:lnTo>
                  <a:lnTo>
                    <a:pt x="0" y="58"/>
                  </a:lnTo>
                  <a:lnTo>
                    <a:pt x="0" y="116"/>
                  </a:lnTo>
                  <a:lnTo>
                    <a:pt x="13" y="116"/>
                  </a:lnTo>
                  <a:cubicBezTo>
                    <a:pt x="117" y="120"/>
                    <a:pt x="137" y="141"/>
                    <a:pt x="137" y="240"/>
                  </a:cubicBezTo>
                  <a:lnTo>
                    <a:pt x="137" y="1103"/>
                  </a:lnTo>
                  <a:lnTo>
                    <a:pt x="345" y="1103"/>
                  </a:lnTo>
                  <a:cubicBezTo>
                    <a:pt x="345" y="1103"/>
                    <a:pt x="345" y="775"/>
                    <a:pt x="345" y="709"/>
                  </a:cubicBezTo>
                  <a:cubicBezTo>
                    <a:pt x="382" y="755"/>
                    <a:pt x="444" y="800"/>
                    <a:pt x="560" y="800"/>
                  </a:cubicBezTo>
                  <a:cubicBezTo>
                    <a:pt x="780" y="800"/>
                    <a:pt x="896" y="659"/>
                    <a:pt x="896" y="390"/>
                  </a:cubicBezTo>
                  <a:cubicBezTo>
                    <a:pt x="905" y="145"/>
                    <a:pt x="784" y="4"/>
                    <a:pt x="577" y="4"/>
                  </a:cubicBezTo>
                  <a:close/>
                  <a:moveTo>
                    <a:pt x="515" y="120"/>
                  </a:moveTo>
                  <a:cubicBezTo>
                    <a:pt x="656" y="120"/>
                    <a:pt x="672" y="274"/>
                    <a:pt x="672" y="394"/>
                  </a:cubicBezTo>
                  <a:cubicBezTo>
                    <a:pt x="672" y="593"/>
                    <a:pt x="623" y="688"/>
                    <a:pt x="515" y="688"/>
                  </a:cubicBezTo>
                  <a:cubicBezTo>
                    <a:pt x="378" y="688"/>
                    <a:pt x="349" y="560"/>
                    <a:pt x="349" y="456"/>
                  </a:cubicBezTo>
                  <a:lnTo>
                    <a:pt x="349" y="390"/>
                  </a:lnTo>
                  <a:cubicBezTo>
                    <a:pt x="353" y="307"/>
                    <a:pt x="370" y="120"/>
                    <a:pt x="515" y="120"/>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77" name="Freeform 12">
              <a:extLst>
                <a:ext uri="{FF2B5EF4-FFF2-40B4-BE49-F238E27FC236}">
                  <a16:creationId xmlns:a16="http://schemas.microsoft.com/office/drawing/2014/main" id="{09CD85A5-3359-214F-AE80-90EC078C7D45}"/>
                </a:ext>
              </a:extLst>
            </p:cNvPr>
            <p:cNvSpPr>
              <a:spLocks noChangeArrowheads="1"/>
            </p:cNvSpPr>
            <p:nvPr/>
          </p:nvSpPr>
          <p:spPr bwMode="auto">
            <a:xfrm>
              <a:off x="4013200" y="4198938"/>
              <a:ext cx="123825" cy="282575"/>
            </a:xfrm>
            <a:custGeom>
              <a:avLst/>
              <a:gdLst>
                <a:gd name="T0" fmla="*/ 0 w 345"/>
                <a:gd name="T1" fmla="*/ 58 h 785"/>
                <a:gd name="T2" fmla="*/ 0 w 345"/>
                <a:gd name="T3" fmla="*/ 116 h 785"/>
                <a:gd name="T4" fmla="*/ 12 w 345"/>
                <a:gd name="T5" fmla="*/ 116 h 785"/>
                <a:gd name="T6" fmla="*/ 137 w 345"/>
                <a:gd name="T7" fmla="*/ 240 h 785"/>
                <a:gd name="T8" fmla="*/ 137 w 345"/>
                <a:gd name="T9" fmla="*/ 784 h 785"/>
                <a:gd name="T10" fmla="*/ 344 w 345"/>
                <a:gd name="T11" fmla="*/ 784 h 785"/>
                <a:gd name="T12" fmla="*/ 344 w 345"/>
                <a:gd name="T13" fmla="*/ 0 h 785"/>
                <a:gd name="T14" fmla="*/ 328 w 345"/>
                <a:gd name="T15" fmla="*/ 4 h 785"/>
                <a:gd name="T16" fmla="*/ 0 w 345"/>
                <a:gd name="T17" fmla="*/ 58 h 7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45" h="785">
                  <a:moveTo>
                    <a:pt x="0" y="58"/>
                  </a:moveTo>
                  <a:lnTo>
                    <a:pt x="0" y="116"/>
                  </a:lnTo>
                  <a:lnTo>
                    <a:pt x="12" y="116"/>
                  </a:lnTo>
                  <a:cubicBezTo>
                    <a:pt x="116" y="120"/>
                    <a:pt x="137" y="141"/>
                    <a:pt x="137" y="240"/>
                  </a:cubicBezTo>
                  <a:lnTo>
                    <a:pt x="137" y="784"/>
                  </a:lnTo>
                  <a:lnTo>
                    <a:pt x="344" y="784"/>
                  </a:lnTo>
                  <a:lnTo>
                    <a:pt x="344" y="0"/>
                  </a:lnTo>
                  <a:lnTo>
                    <a:pt x="328" y="4"/>
                  </a:lnTo>
                  <a:lnTo>
                    <a:pt x="0" y="58"/>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78" name="Freeform 13">
              <a:extLst>
                <a:ext uri="{FF2B5EF4-FFF2-40B4-BE49-F238E27FC236}">
                  <a16:creationId xmlns:a16="http://schemas.microsoft.com/office/drawing/2014/main" id="{EB5D1622-3DC0-2842-BA11-B2C56D4E32DE}"/>
                </a:ext>
              </a:extLst>
            </p:cNvPr>
            <p:cNvSpPr>
              <a:spLocks noChangeArrowheads="1"/>
            </p:cNvSpPr>
            <p:nvPr/>
          </p:nvSpPr>
          <p:spPr bwMode="auto">
            <a:xfrm>
              <a:off x="4056063" y="4084638"/>
              <a:ext cx="93662" cy="82550"/>
            </a:xfrm>
            <a:custGeom>
              <a:avLst/>
              <a:gdLst>
                <a:gd name="T0" fmla="*/ 129 w 262"/>
                <a:gd name="T1" fmla="*/ 228 h 229"/>
                <a:gd name="T2" fmla="*/ 261 w 262"/>
                <a:gd name="T3" fmla="*/ 112 h 229"/>
                <a:gd name="T4" fmla="*/ 133 w 262"/>
                <a:gd name="T5" fmla="*/ 0 h 229"/>
                <a:gd name="T6" fmla="*/ 4 w 262"/>
                <a:gd name="T7" fmla="*/ 112 h 229"/>
                <a:gd name="T8" fmla="*/ 129 w 262"/>
                <a:gd name="T9" fmla="*/ 228 h 229"/>
              </a:gdLst>
              <a:ahLst/>
              <a:cxnLst>
                <a:cxn ang="0">
                  <a:pos x="T0" y="T1"/>
                </a:cxn>
                <a:cxn ang="0">
                  <a:pos x="T2" y="T3"/>
                </a:cxn>
                <a:cxn ang="0">
                  <a:pos x="T4" y="T5"/>
                </a:cxn>
                <a:cxn ang="0">
                  <a:pos x="T6" y="T7"/>
                </a:cxn>
                <a:cxn ang="0">
                  <a:pos x="T8" y="T9"/>
                </a:cxn>
              </a:cxnLst>
              <a:rect l="0" t="0" r="r" b="b"/>
              <a:pathLst>
                <a:path w="262" h="229">
                  <a:moveTo>
                    <a:pt x="129" y="228"/>
                  </a:moveTo>
                  <a:cubicBezTo>
                    <a:pt x="199" y="228"/>
                    <a:pt x="261" y="178"/>
                    <a:pt x="261" y="112"/>
                  </a:cubicBezTo>
                  <a:cubicBezTo>
                    <a:pt x="261" y="49"/>
                    <a:pt x="203" y="0"/>
                    <a:pt x="133" y="0"/>
                  </a:cubicBezTo>
                  <a:cubicBezTo>
                    <a:pt x="62" y="0"/>
                    <a:pt x="4" y="49"/>
                    <a:pt x="4" y="112"/>
                  </a:cubicBezTo>
                  <a:cubicBezTo>
                    <a:pt x="0" y="178"/>
                    <a:pt x="58" y="228"/>
                    <a:pt x="129" y="228"/>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79" name="Freeform 14">
              <a:extLst>
                <a:ext uri="{FF2B5EF4-FFF2-40B4-BE49-F238E27FC236}">
                  <a16:creationId xmlns:a16="http://schemas.microsoft.com/office/drawing/2014/main" id="{77A3535A-3810-DD40-AFF4-0C8AF5C21254}"/>
                </a:ext>
              </a:extLst>
            </p:cNvPr>
            <p:cNvSpPr>
              <a:spLocks noChangeArrowheads="1"/>
            </p:cNvSpPr>
            <p:nvPr/>
          </p:nvSpPr>
          <p:spPr bwMode="auto">
            <a:xfrm>
              <a:off x="4211638" y="4200525"/>
              <a:ext cx="244475" cy="280988"/>
            </a:xfrm>
            <a:custGeom>
              <a:avLst/>
              <a:gdLst>
                <a:gd name="T0" fmla="*/ 676 w 677"/>
                <a:gd name="T1" fmla="*/ 174 h 781"/>
                <a:gd name="T2" fmla="*/ 676 w 677"/>
                <a:gd name="T3" fmla="*/ 12 h 781"/>
                <a:gd name="T4" fmla="*/ 663 w 677"/>
                <a:gd name="T5" fmla="*/ 12 h 781"/>
                <a:gd name="T6" fmla="*/ 564 w 677"/>
                <a:gd name="T7" fmla="*/ 4 h 781"/>
                <a:gd name="T8" fmla="*/ 348 w 677"/>
                <a:gd name="T9" fmla="*/ 158 h 781"/>
                <a:gd name="T10" fmla="*/ 348 w 677"/>
                <a:gd name="T11" fmla="*/ 0 h 781"/>
                <a:gd name="T12" fmla="*/ 331 w 677"/>
                <a:gd name="T13" fmla="*/ 0 h 781"/>
                <a:gd name="T14" fmla="*/ 0 w 677"/>
                <a:gd name="T15" fmla="*/ 54 h 781"/>
                <a:gd name="T16" fmla="*/ 0 w 677"/>
                <a:gd name="T17" fmla="*/ 112 h 781"/>
                <a:gd name="T18" fmla="*/ 12 w 677"/>
                <a:gd name="T19" fmla="*/ 112 h 781"/>
                <a:gd name="T20" fmla="*/ 141 w 677"/>
                <a:gd name="T21" fmla="*/ 236 h 781"/>
                <a:gd name="T22" fmla="*/ 141 w 677"/>
                <a:gd name="T23" fmla="*/ 780 h 781"/>
                <a:gd name="T24" fmla="*/ 348 w 677"/>
                <a:gd name="T25" fmla="*/ 780 h 781"/>
                <a:gd name="T26" fmla="*/ 348 w 677"/>
                <a:gd name="T27" fmla="*/ 390 h 781"/>
                <a:gd name="T28" fmla="*/ 568 w 677"/>
                <a:gd name="T29" fmla="*/ 170 h 781"/>
                <a:gd name="T30" fmla="*/ 643 w 677"/>
                <a:gd name="T31" fmla="*/ 183 h 781"/>
                <a:gd name="T32" fmla="*/ 676 w 677"/>
                <a:gd name="T33" fmla="*/ 191 h 781"/>
                <a:gd name="T34" fmla="*/ 676 w 677"/>
                <a:gd name="T35" fmla="*/ 174 h 7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77" h="781">
                  <a:moveTo>
                    <a:pt x="676" y="174"/>
                  </a:moveTo>
                  <a:lnTo>
                    <a:pt x="676" y="12"/>
                  </a:lnTo>
                  <a:lnTo>
                    <a:pt x="663" y="12"/>
                  </a:lnTo>
                  <a:cubicBezTo>
                    <a:pt x="630" y="8"/>
                    <a:pt x="593" y="4"/>
                    <a:pt x="564" y="4"/>
                  </a:cubicBezTo>
                  <a:cubicBezTo>
                    <a:pt x="443" y="4"/>
                    <a:pt x="381" y="91"/>
                    <a:pt x="348" y="158"/>
                  </a:cubicBezTo>
                  <a:cubicBezTo>
                    <a:pt x="348" y="95"/>
                    <a:pt x="348" y="0"/>
                    <a:pt x="348" y="0"/>
                  </a:cubicBezTo>
                  <a:lnTo>
                    <a:pt x="331" y="0"/>
                  </a:lnTo>
                  <a:lnTo>
                    <a:pt x="0" y="54"/>
                  </a:lnTo>
                  <a:lnTo>
                    <a:pt x="0" y="112"/>
                  </a:lnTo>
                  <a:lnTo>
                    <a:pt x="12" y="112"/>
                  </a:lnTo>
                  <a:cubicBezTo>
                    <a:pt x="116" y="116"/>
                    <a:pt x="141" y="137"/>
                    <a:pt x="141" y="236"/>
                  </a:cubicBezTo>
                  <a:lnTo>
                    <a:pt x="141" y="780"/>
                  </a:lnTo>
                  <a:lnTo>
                    <a:pt x="348" y="780"/>
                  </a:lnTo>
                  <a:lnTo>
                    <a:pt x="348" y="390"/>
                  </a:lnTo>
                  <a:cubicBezTo>
                    <a:pt x="348" y="324"/>
                    <a:pt x="369" y="170"/>
                    <a:pt x="568" y="170"/>
                  </a:cubicBezTo>
                  <a:cubicBezTo>
                    <a:pt x="593" y="170"/>
                    <a:pt x="618" y="178"/>
                    <a:pt x="643" y="183"/>
                  </a:cubicBezTo>
                  <a:lnTo>
                    <a:pt x="676" y="191"/>
                  </a:lnTo>
                  <a:lnTo>
                    <a:pt x="676" y="174"/>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80" name="Freeform 15">
              <a:extLst>
                <a:ext uri="{FF2B5EF4-FFF2-40B4-BE49-F238E27FC236}">
                  <a16:creationId xmlns:a16="http://schemas.microsoft.com/office/drawing/2014/main" id="{56FCFE01-EBF4-D840-89E1-57366256DEE9}"/>
                </a:ext>
              </a:extLst>
            </p:cNvPr>
            <p:cNvSpPr>
              <a:spLocks noChangeArrowheads="1"/>
            </p:cNvSpPr>
            <p:nvPr/>
          </p:nvSpPr>
          <p:spPr bwMode="auto">
            <a:xfrm>
              <a:off x="4486275" y="4200525"/>
              <a:ext cx="266700" cy="287338"/>
            </a:xfrm>
            <a:custGeom>
              <a:avLst/>
              <a:gdLst>
                <a:gd name="T0" fmla="*/ 738 w 743"/>
                <a:gd name="T1" fmla="*/ 315 h 797"/>
                <a:gd name="T2" fmla="*/ 390 w 743"/>
                <a:gd name="T3" fmla="*/ 0 h 797"/>
                <a:gd name="T4" fmla="*/ 0 w 743"/>
                <a:gd name="T5" fmla="*/ 373 h 797"/>
                <a:gd name="T6" fmla="*/ 456 w 743"/>
                <a:gd name="T7" fmla="*/ 796 h 797"/>
                <a:gd name="T8" fmla="*/ 713 w 743"/>
                <a:gd name="T9" fmla="*/ 755 h 797"/>
                <a:gd name="T10" fmla="*/ 726 w 743"/>
                <a:gd name="T11" fmla="*/ 751 h 797"/>
                <a:gd name="T12" fmla="*/ 726 w 743"/>
                <a:gd name="T13" fmla="*/ 651 h 797"/>
                <a:gd name="T14" fmla="*/ 705 w 743"/>
                <a:gd name="T15" fmla="*/ 660 h 797"/>
                <a:gd name="T16" fmla="*/ 543 w 743"/>
                <a:gd name="T17" fmla="*/ 684 h 797"/>
                <a:gd name="T18" fmla="*/ 232 w 743"/>
                <a:gd name="T19" fmla="*/ 332 h 797"/>
                <a:gd name="T20" fmla="*/ 742 w 743"/>
                <a:gd name="T21" fmla="*/ 332 h 797"/>
                <a:gd name="T22" fmla="*/ 742 w 743"/>
                <a:gd name="T23" fmla="*/ 315 h 797"/>
                <a:gd name="T24" fmla="*/ 738 w 743"/>
                <a:gd name="T25" fmla="*/ 315 h 797"/>
                <a:gd name="T26" fmla="*/ 386 w 743"/>
                <a:gd name="T27" fmla="*/ 83 h 797"/>
                <a:gd name="T28" fmla="*/ 531 w 743"/>
                <a:gd name="T29" fmla="*/ 236 h 797"/>
                <a:gd name="T30" fmla="*/ 228 w 743"/>
                <a:gd name="T31" fmla="*/ 236 h 797"/>
                <a:gd name="T32" fmla="*/ 386 w 743"/>
                <a:gd name="T33" fmla="*/ 83 h 7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743" h="797">
                  <a:moveTo>
                    <a:pt x="738" y="315"/>
                  </a:moveTo>
                  <a:cubicBezTo>
                    <a:pt x="738" y="104"/>
                    <a:pt x="622" y="0"/>
                    <a:pt x="390" y="0"/>
                  </a:cubicBezTo>
                  <a:cubicBezTo>
                    <a:pt x="128" y="0"/>
                    <a:pt x="0" y="124"/>
                    <a:pt x="0" y="373"/>
                  </a:cubicBezTo>
                  <a:cubicBezTo>
                    <a:pt x="0" y="639"/>
                    <a:pt x="170" y="796"/>
                    <a:pt x="456" y="796"/>
                  </a:cubicBezTo>
                  <a:cubicBezTo>
                    <a:pt x="581" y="796"/>
                    <a:pt x="676" y="763"/>
                    <a:pt x="713" y="755"/>
                  </a:cubicBezTo>
                  <a:lnTo>
                    <a:pt x="726" y="751"/>
                  </a:lnTo>
                  <a:lnTo>
                    <a:pt x="726" y="651"/>
                  </a:lnTo>
                  <a:lnTo>
                    <a:pt x="705" y="660"/>
                  </a:lnTo>
                  <a:cubicBezTo>
                    <a:pt x="672" y="672"/>
                    <a:pt x="610" y="684"/>
                    <a:pt x="543" y="684"/>
                  </a:cubicBezTo>
                  <a:cubicBezTo>
                    <a:pt x="319" y="684"/>
                    <a:pt x="236" y="498"/>
                    <a:pt x="232" y="332"/>
                  </a:cubicBezTo>
                  <a:cubicBezTo>
                    <a:pt x="261" y="332"/>
                    <a:pt x="742" y="332"/>
                    <a:pt x="742" y="332"/>
                  </a:cubicBezTo>
                  <a:lnTo>
                    <a:pt x="742" y="315"/>
                  </a:lnTo>
                  <a:lnTo>
                    <a:pt x="738" y="315"/>
                  </a:lnTo>
                  <a:close/>
                  <a:moveTo>
                    <a:pt x="386" y="83"/>
                  </a:moveTo>
                  <a:cubicBezTo>
                    <a:pt x="498" y="83"/>
                    <a:pt x="527" y="166"/>
                    <a:pt x="531" y="236"/>
                  </a:cubicBezTo>
                  <a:cubicBezTo>
                    <a:pt x="506" y="236"/>
                    <a:pt x="257" y="236"/>
                    <a:pt x="228" y="236"/>
                  </a:cubicBezTo>
                  <a:cubicBezTo>
                    <a:pt x="232" y="183"/>
                    <a:pt x="269" y="83"/>
                    <a:pt x="386" y="83"/>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81" name="Freeform 16">
              <a:extLst>
                <a:ext uri="{FF2B5EF4-FFF2-40B4-BE49-F238E27FC236}">
                  <a16:creationId xmlns:a16="http://schemas.microsoft.com/office/drawing/2014/main" id="{A4320DF2-A912-824E-8068-B3562F9A5DDD}"/>
                </a:ext>
              </a:extLst>
            </p:cNvPr>
            <p:cNvSpPr>
              <a:spLocks noChangeArrowheads="1"/>
            </p:cNvSpPr>
            <p:nvPr/>
          </p:nvSpPr>
          <p:spPr bwMode="auto">
            <a:xfrm>
              <a:off x="5210175" y="4071938"/>
              <a:ext cx="314325" cy="409575"/>
            </a:xfrm>
            <a:custGeom>
              <a:avLst/>
              <a:gdLst>
                <a:gd name="T0" fmla="*/ 634 w 872"/>
                <a:gd name="T1" fmla="*/ 357 h 1138"/>
                <a:gd name="T2" fmla="*/ 348 w 872"/>
                <a:gd name="T3" fmla="*/ 523 h 1138"/>
                <a:gd name="T4" fmla="*/ 348 w 872"/>
                <a:gd name="T5" fmla="*/ 0 h 1138"/>
                <a:gd name="T6" fmla="*/ 332 w 872"/>
                <a:gd name="T7" fmla="*/ 4 h 1138"/>
                <a:gd name="T8" fmla="*/ 0 w 872"/>
                <a:gd name="T9" fmla="*/ 46 h 1138"/>
                <a:gd name="T10" fmla="*/ 0 w 872"/>
                <a:gd name="T11" fmla="*/ 104 h 1138"/>
                <a:gd name="T12" fmla="*/ 16 w 872"/>
                <a:gd name="T13" fmla="*/ 104 h 1138"/>
                <a:gd name="T14" fmla="*/ 141 w 872"/>
                <a:gd name="T15" fmla="*/ 233 h 1138"/>
                <a:gd name="T16" fmla="*/ 141 w 872"/>
                <a:gd name="T17" fmla="*/ 1137 h 1138"/>
                <a:gd name="T18" fmla="*/ 348 w 872"/>
                <a:gd name="T19" fmla="*/ 1137 h 1138"/>
                <a:gd name="T20" fmla="*/ 348 w 872"/>
                <a:gd name="T21" fmla="*/ 747 h 1138"/>
                <a:gd name="T22" fmla="*/ 547 w 872"/>
                <a:gd name="T23" fmla="*/ 494 h 1138"/>
                <a:gd name="T24" fmla="*/ 663 w 872"/>
                <a:gd name="T25" fmla="*/ 660 h 1138"/>
                <a:gd name="T26" fmla="*/ 663 w 872"/>
                <a:gd name="T27" fmla="*/ 1137 h 1138"/>
                <a:gd name="T28" fmla="*/ 871 w 872"/>
                <a:gd name="T29" fmla="*/ 1137 h 1138"/>
                <a:gd name="T30" fmla="*/ 871 w 872"/>
                <a:gd name="T31" fmla="*/ 635 h 1138"/>
                <a:gd name="T32" fmla="*/ 634 w 872"/>
                <a:gd name="T33" fmla="*/ 357 h 1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72" h="1138">
                  <a:moveTo>
                    <a:pt x="634" y="357"/>
                  </a:moveTo>
                  <a:cubicBezTo>
                    <a:pt x="481" y="357"/>
                    <a:pt x="394" y="452"/>
                    <a:pt x="348" y="523"/>
                  </a:cubicBezTo>
                  <a:cubicBezTo>
                    <a:pt x="348" y="440"/>
                    <a:pt x="348" y="0"/>
                    <a:pt x="348" y="0"/>
                  </a:cubicBezTo>
                  <a:lnTo>
                    <a:pt x="332" y="4"/>
                  </a:lnTo>
                  <a:lnTo>
                    <a:pt x="0" y="46"/>
                  </a:lnTo>
                  <a:lnTo>
                    <a:pt x="0" y="104"/>
                  </a:lnTo>
                  <a:lnTo>
                    <a:pt x="16" y="104"/>
                  </a:lnTo>
                  <a:cubicBezTo>
                    <a:pt x="120" y="108"/>
                    <a:pt x="141" y="133"/>
                    <a:pt x="141" y="233"/>
                  </a:cubicBezTo>
                  <a:lnTo>
                    <a:pt x="141" y="1137"/>
                  </a:lnTo>
                  <a:lnTo>
                    <a:pt x="348" y="1137"/>
                  </a:lnTo>
                  <a:lnTo>
                    <a:pt x="348" y="747"/>
                  </a:lnTo>
                  <a:cubicBezTo>
                    <a:pt x="348" y="606"/>
                    <a:pt x="456" y="494"/>
                    <a:pt x="547" y="494"/>
                  </a:cubicBezTo>
                  <a:cubicBezTo>
                    <a:pt x="663" y="494"/>
                    <a:pt x="663" y="581"/>
                    <a:pt x="663" y="660"/>
                  </a:cubicBezTo>
                  <a:lnTo>
                    <a:pt x="663" y="1137"/>
                  </a:lnTo>
                  <a:lnTo>
                    <a:pt x="871" y="1137"/>
                  </a:lnTo>
                  <a:lnTo>
                    <a:pt x="871" y="635"/>
                  </a:lnTo>
                  <a:cubicBezTo>
                    <a:pt x="871" y="552"/>
                    <a:pt x="871" y="357"/>
                    <a:pt x="634" y="357"/>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82" name="Freeform 17">
              <a:extLst>
                <a:ext uri="{FF2B5EF4-FFF2-40B4-BE49-F238E27FC236}">
                  <a16:creationId xmlns:a16="http://schemas.microsoft.com/office/drawing/2014/main" id="{2A9F743A-B320-E546-BB3D-FD68AA902398}"/>
                </a:ext>
              </a:extLst>
            </p:cNvPr>
            <p:cNvSpPr>
              <a:spLocks noChangeArrowheads="1"/>
            </p:cNvSpPr>
            <p:nvPr/>
          </p:nvSpPr>
          <p:spPr bwMode="auto">
            <a:xfrm>
              <a:off x="5594350" y="4200525"/>
              <a:ext cx="266700" cy="287338"/>
            </a:xfrm>
            <a:custGeom>
              <a:avLst/>
              <a:gdLst>
                <a:gd name="T0" fmla="*/ 742 w 743"/>
                <a:gd name="T1" fmla="*/ 315 h 797"/>
                <a:gd name="T2" fmla="*/ 394 w 743"/>
                <a:gd name="T3" fmla="*/ 0 h 797"/>
                <a:gd name="T4" fmla="*/ 0 w 743"/>
                <a:gd name="T5" fmla="*/ 373 h 797"/>
                <a:gd name="T6" fmla="*/ 456 w 743"/>
                <a:gd name="T7" fmla="*/ 796 h 797"/>
                <a:gd name="T8" fmla="*/ 713 w 743"/>
                <a:gd name="T9" fmla="*/ 755 h 797"/>
                <a:gd name="T10" fmla="*/ 726 w 743"/>
                <a:gd name="T11" fmla="*/ 751 h 797"/>
                <a:gd name="T12" fmla="*/ 726 w 743"/>
                <a:gd name="T13" fmla="*/ 651 h 797"/>
                <a:gd name="T14" fmla="*/ 705 w 743"/>
                <a:gd name="T15" fmla="*/ 660 h 797"/>
                <a:gd name="T16" fmla="*/ 543 w 743"/>
                <a:gd name="T17" fmla="*/ 684 h 797"/>
                <a:gd name="T18" fmla="*/ 232 w 743"/>
                <a:gd name="T19" fmla="*/ 332 h 797"/>
                <a:gd name="T20" fmla="*/ 742 w 743"/>
                <a:gd name="T21" fmla="*/ 332 h 797"/>
                <a:gd name="T22" fmla="*/ 742 w 743"/>
                <a:gd name="T23" fmla="*/ 315 h 797"/>
                <a:gd name="T24" fmla="*/ 386 w 743"/>
                <a:gd name="T25" fmla="*/ 83 h 797"/>
                <a:gd name="T26" fmla="*/ 531 w 743"/>
                <a:gd name="T27" fmla="*/ 236 h 797"/>
                <a:gd name="T28" fmla="*/ 228 w 743"/>
                <a:gd name="T29" fmla="*/ 236 h 797"/>
                <a:gd name="T30" fmla="*/ 386 w 743"/>
                <a:gd name="T31" fmla="*/ 83 h 7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743" h="797">
                  <a:moveTo>
                    <a:pt x="742" y="315"/>
                  </a:moveTo>
                  <a:cubicBezTo>
                    <a:pt x="742" y="104"/>
                    <a:pt x="626" y="0"/>
                    <a:pt x="394" y="0"/>
                  </a:cubicBezTo>
                  <a:cubicBezTo>
                    <a:pt x="133" y="0"/>
                    <a:pt x="0" y="124"/>
                    <a:pt x="0" y="373"/>
                  </a:cubicBezTo>
                  <a:cubicBezTo>
                    <a:pt x="0" y="639"/>
                    <a:pt x="170" y="796"/>
                    <a:pt x="456" y="796"/>
                  </a:cubicBezTo>
                  <a:cubicBezTo>
                    <a:pt x="581" y="796"/>
                    <a:pt x="676" y="763"/>
                    <a:pt x="713" y="755"/>
                  </a:cubicBezTo>
                  <a:lnTo>
                    <a:pt x="726" y="751"/>
                  </a:lnTo>
                  <a:lnTo>
                    <a:pt x="726" y="651"/>
                  </a:lnTo>
                  <a:lnTo>
                    <a:pt x="705" y="660"/>
                  </a:lnTo>
                  <a:cubicBezTo>
                    <a:pt x="672" y="672"/>
                    <a:pt x="610" y="684"/>
                    <a:pt x="543" y="684"/>
                  </a:cubicBezTo>
                  <a:cubicBezTo>
                    <a:pt x="319" y="684"/>
                    <a:pt x="236" y="498"/>
                    <a:pt x="232" y="332"/>
                  </a:cubicBezTo>
                  <a:cubicBezTo>
                    <a:pt x="261" y="332"/>
                    <a:pt x="742" y="332"/>
                    <a:pt x="742" y="332"/>
                  </a:cubicBezTo>
                  <a:lnTo>
                    <a:pt x="742" y="315"/>
                  </a:lnTo>
                  <a:close/>
                  <a:moveTo>
                    <a:pt x="386" y="83"/>
                  </a:moveTo>
                  <a:cubicBezTo>
                    <a:pt x="498" y="83"/>
                    <a:pt x="527" y="166"/>
                    <a:pt x="531" y="236"/>
                  </a:cubicBezTo>
                  <a:cubicBezTo>
                    <a:pt x="506" y="236"/>
                    <a:pt x="257" y="236"/>
                    <a:pt x="228" y="236"/>
                  </a:cubicBezTo>
                  <a:cubicBezTo>
                    <a:pt x="236" y="183"/>
                    <a:pt x="270" y="83"/>
                    <a:pt x="386" y="83"/>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83" name="Freeform 18">
              <a:extLst>
                <a:ext uri="{FF2B5EF4-FFF2-40B4-BE49-F238E27FC236}">
                  <a16:creationId xmlns:a16="http://schemas.microsoft.com/office/drawing/2014/main" id="{817C9402-F6C4-F14A-8B05-734CAF955251}"/>
                </a:ext>
              </a:extLst>
            </p:cNvPr>
            <p:cNvSpPr>
              <a:spLocks noChangeArrowheads="1"/>
            </p:cNvSpPr>
            <p:nvPr/>
          </p:nvSpPr>
          <p:spPr bwMode="auto">
            <a:xfrm>
              <a:off x="4964113" y="4121150"/>
              <a:ext cx="212725" cy="366713"/>
            </a:xfrm>
            <a:custGeom>
              <a:avLst/>
              <a:gdLst>
                <a:gd name="T0" fmla="*/ 141 w 589"/>
                <a:gd name="T1" fmla="*/ 237 h 1017"/>
                <a:gd name="T2" fmla="*/ 0 w 589"/>
                <a:gd name="T3" fmla="*/ 237 h 1017"/>
                <a:gd name="T4" fmla="*/ 0 w 589"/>
                <a:gd name="T5" fmla="*/ 328 h 1017"/>
                <a:gd name="T6" fmla="*/ 141 w 589"/>
                <a:gd name="T7" fmla="*/ 328 h 1017"/>
                <a:gd name="T8" fmla="*/ 141 w 589"/>
                <a:gd name="T9" fmla="*/ 797 h 1017"/>
                <a:gd name="T10" fmla="*/ 427 w 589"/>
                <a:gd name="T11" fmla="*/ 1016 h 1017"/>
                <a:gd name="T12" fmla="*/ 551 w 589"/>
                <a:gd name="T13" fmla="*/ 1004 h 1017"/>
                <a:gd name="T14" fmla="*/ 564 w 589"/>
                <a:gd name="T15" fmla="*/ 1004 h 1017"/>
                <a:gd name="T16" fmla="*/ 564 w 589"/>
                <a:gd name="T17" fmla="*/ 909 h 1017"/>
                <a:gd name="T18" fmla="*/ 547 w 589"/>
                <a:gd name="T19" fmla="*/ 913 h 1017"/>
                <a:gd name="T20" fmla="*/ 485 w 589"/>
                <a:gd name="T21" fmla="*/ 917 h 1017"/>
                <a:gd name="T22" fmla="*/ 352 w 589"/>
                <a:gd name="T23" fmla="*/ 772 h 1017"/>
                <a:gd name="T24" fmla="*/ 352 w 589"/>
                <a:gd name="T25" fmla="*/ 328 h 1017"/>
                <a:gd name="T26" fmla="*/ 588 w 589"/>
                <a:gd name="T27" fmla="*/ 328 h 1017"/>
                <a:gd name="T28" fmla="*/ 588 w 589"/>
                <a:gd name="T29" fmla="*/ 237 h 1017"/>
                <a:gd name="T30" fmla="*/ 352 w 589"/>
                <a:gd name="T31" fmla="*/ 237 h 1017"/>
                <a:gd name="T32" fmla="*/ 352 w 589"/>
                <a:gd name="T33" fmla="*/ 0 h 1017"/>
                <a:gd name="T34" fmla="*/ 141 w 589"/>
                <a:gd name="T35" fmla="*/ 0 h 1017"/>
                <a:gd name="T36" fmla="*/ 141 w 589"/>
                <a:gd name="T37" fmla="*/ 237 h 10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89" h="1017">
                  <a:moveTo>
                    <a:pt x="141" y="237"/>
                  </a:moveTo>
                  <a:lnTo>
                    <a:pt x="0" y="237"/>
                  </a:lnTo>
                  <a:lnTo>
                    <a:pt x="0" y="328"/>
                  </a:lnTo>
                  <a:lnTo>
                    <a:pt x="141" y="328"/>
                  </a:lnTo>
                  <a:lnTo>
                    <a:pt x="141" y="797"/>
                  </a:lnTo>
                  <a:cubicBezTo>
                    <a:pt x="141" y="1000"/>
                    <a:pt x="270" y="1016"/>
                    <a:pt x="427" y="1016"/>
                  </a:cubicBezTo>
                  <a:cubicBezTo>
                    <a:pt x="464" y="1016"/>
                    <a:pt x="505" y="1012"/>
                    <a:pt x="551" y="1004"/>
                  </a:cubicBezTo>
                  <a:lnTo>
                    <a:pt x="564" y="1004"/>
                  </a:lnTo>
                  <a:lnTo>
                    <a:pt x="564" y="909"/>
                  </a:lnTo>
                  <a:lnTo>
                    <a:pt x="547" y="913"/>
                  </a:lnTo>
                  <a:cubicBezTo>
                    <a:pt x="530" y="917"/>
                    <a:pt x="510" y="917"/>
                    <a:pt x="485" y="917"/>
                  </a:cubicBezTo>
                  <a:cubicBezTo>
                    <a:pt x="360" y="917"/>
                    <a:pt x="352" y="880"/>
                    <a:pt x="352" y="772"/>
                  </a:cubicBezTo>
                  <a:lnTo>
                    <a:pt x="352" y="328"/>
                  </a:lnTo>
                  <a:lnTo>
                    <a:pt x="588" y="328"/>
                  </a:lnTo>
                  <a:lnTo>
                    <a:pt x="588" y="237"/>
                  </a:lnTo>
                  <a:lnTo>
                    <a:pt x="352" y="237"/>
                  </a:lnTo>
                  <a:lnTo>
                    <a:pt x="352" y="0"/>
                  </a:lnTo>
                  <a:lnTo>
                    <a:pt x="141" y="0"/>
                  </a:lnTo>
                  <a:lnTo>
                    <a:pt x="141" y="237"/>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84" name="Freeform 19">
              <a:extLst>
                <a:ext uri="{FF2B5EF4-FFF2-40B4-BE49-F238E27FC236}">
                  <a16:creationId xmlns:a16="http://schemas.microsoft.com/office/drawing/2014/main" id="{5CA9E9C3-FBD4-664E-8650-DDCA90312A04}"/>
                </a:ext>
              </a:extLst>
            </p:cNvPr>
            <p:cNvSpPr>
              <a:spLocks noChangeArrowheads="1"/>
            </p:cNvSpPr>
            <p:nvPr/>
          </p:nvSpPr>
          <p:spPr bwMode="auto">
            <a:xfrm>
              <a:off x="6049963" y="4087813"/>
              <a:ext cx="450850" cy="395287"/>
            </a:xfrm>
            <a:custGeom>
              <a:avLst/>
              <a:gdLst>
                <a:gd name="T0" fmla="*/ 1245 w 1254"/>
                <a:gd name="T1" fmla="*/ 0 h 1096"/>
                <a:gd name="T2" fmla="*/ 1033 w 1254"/>
                <a:gd name="T3" fmla="*/ 0 h 1096"/>
                <a:gd name="T4" fmla="*/ 1033 w 1254"/>
                <a:gd name="T5" fmla="*/ 829 h 1096"/>
                <a:gd name="T6" fmla="*/ 485 w 1254"/>
                <a:gd name="T7" fmla="*/ 0 h 1096"/>
                <a:gd name="T8" fmla="*/ 0 w 1254"/>
                <a:gd name="T9" fmla="*/ 0 h 1096"/>
                <a:gd name="T10" fmla="*/ 0 w 1254"/>
                <a:gd name="T11" fmla="*/ 62 h 1096"/>
                <a:gd name="T12" fmla="*/ 42 w 1254"/>
                <a:gd name="T13" fmla="*/ 70 h 1096"/>
                <a:gd name="T14" fmla="*/ 178 w 1254"/>
                <a:gd name="T15" fmla="*/ 220 h 1096"/>
                <a:gd name="T16" fmla="*/ 178 w 1254"/>
                <a:gd name="T17" fmla="*/ 1095 h 1096"/>
                <a:gd name="T18" fmla="*/ 403 w 1254"/>
                <a:gd name="T19" fmla="*/ 1095 h 1096"/>
                <a:gd name="T20" fmla="*/ 403 w 1254"/>
                <a:gd name="T21" fmla="*/ 228 h 1096"/>
                <a:gd name="T22" fmla="*/ 975 w 1254"/>
                <a:gd name="T23" fmla="*/ 1095 h 1096"/>
                <a:gd name="T24" fmla="*/ 1253 w 1254"/>
                <a:gd name="T25" fmla="*/ 1095 h 1096"/>
                <a:gd name="T26" fmla="*/ 1253 w 1254"/>
                <a:gd name="T27" fmla="*/ 0 h 1096"/>
                <a:gd name="T28" fmla="*/ 1245 w 1254"/>
                <a:gd name="T29" fmla="*/ 0 h 10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54" h="1096">
                  <a:moveTo>
                    <a:pt x="1245" y="0"/>
                  </a:moveTo>
                  <a:lnTo>
                    <a:pt x="1033" y="0"/>
                  </a:lnTo>
                  <a:cubicBezTo>
                    <a:pt x="1033" y="0"/>
                    <a:pt x="1033" y="751"/>
                    <a:pt x="1033" y="829"/>
                  </a:cubicBezTo>
                  <a:cubicBezTo>
                    <a:pt x="992" y="763"/>
                    <a:pt x="485" y="0"/>
                    <a:pt x="485" y="0"/>
                  </a:cubicBezTo>
                  <a:lnTo>
                    <a:pt x="0" y="0"/>
                  </a:lnTo>
                  <a:lnTo>
                    <a:pt x="0" y="62"/>
                  </a:lnTo>
                  <a:lnTo>
                    <a:pt x="42" y="70"/>
                  </a:lnTo>
                  <a:cubicBezTo>
                    <a:pt x="170" y="91"/>
                    <a:pt x="178" y="95"/>
                    <a:pt x="178" y="220"/>
                  </a:cubicBezTo>
                  <a:lnTo>
                    <a:pt x="178" y="1095"/>
                  </a:lnTo>
                  <a:lnTo>
                    <a:pt x="403" y="1095"/>
                  </a:lnTo>
                  <a:cubicBezTo>
                    <a:pt x="403" y="1095"/>
                    <a:pt x="403" y="307"/>
                    <a:pt x="403" y="228"/>
                  </a:cubicBezTo>
                  <a:cubicBezTo>
                    <a:pt x="448" y="294"/>
                    <a:pt x="975" y="1095"/>
                    <a:pt x="975" y="1095"/>
                  </a:cubicBezTo>
                  <a:lnTo>
                    <a:pt x="1253" y="1095"/>
                  </a:lnTo>
                  <a:lnTo>
                    <a:pt x="1253" y="0"/>
                  </a:lnTo>
                  <a:lnTo>
                    <a:pt x="1245"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85" name="Freeform 20">
              <a:extLst>
                <a:ext uri="{FF2B5EF4-FFF2-40B4-BE49-F238E27FC236}">
                  <a16:creationId xmlns:a16="http://schemas.microsoft.com/office/drawing/2014/main" id="{2D12BD32-2D99-7E48-AE12-6A72C1D4AB6A}"/>
                </a:ext>
              </a:extLst>
            </p:cNvPr>
            <p:cNvSpPr>
              <a:spLocks noChangeArrowheads="1"/>
            </p:cNvSpPr>
            <p:nvPr/>
          </p:nvSpPr>
          <p:spPr bwMode="auto">
            <a:xfrm>
              <a:off x="6573838" y="4200525"/>
              <a:ext cx="266700" cy="287338"/>
            </a:xfrm>
            <a:custGeom>
              <a:avLst/>
              <a:gdLst>
                <a:gd name="T0" fmla="*/ 390 w 740"/>
                <a:gd name="T1" fmla="*/ 0 h 797"/>
                <a:gd name="T2" fmla="*/ 0 w 740"/>
                <a:gd name="T3" fmla="*/ 373 h 797"/>
                <a:gd name="T4" fmla="*/ 456 w 740"/>
                <a:gd name="T5" fmla="*/ 796 h 797"/>
                <a:gd name="T6" fmla="*/ 714 w 740"/>
                <a:gd name="T7" fmla="*/ 755 h 797"/>
                <a:gd name="T8" fmla="*/ 726 w 740"/>
                <a:gd name="T9" fmla="*/ 751 h 797"/>
                <a:gd name="T10" fmla="*/ 726 w 740"/>
                <a:gd name="T11" fmla="*/ 651 h 797"/>
                <a:gd name="T12" fmla="*/ 705 w 740"/>
                <a:gd name="T13" fmla="*/ 660 h 797"/>
                <a:gd name="T14" fmla="*/ 539 w 740"/>
                <a:gd name="T15" fmla="*/ 684 h 797"/>
                <a:gd name="T16" fmla="*/ 228 w 740"/>
                <a:gd name="T17" fmla="*/ 332 h 797"/>
                <a:gd name="T18" fmla="*/ 739 w 740"/>
                <a:gd name="T19" fmla="*/ 332 h 797"/>
                <a:gd name="T20" fmla="*/ 739 w 740"/>
                <a:gd name="T21" fmla="*/ 315 h 797"/>
                <a:gd name="T22" fmla="*/ 390 w 740"/>
                <a:gd name="T23" fmla="*/ 0 h 797"/>
                <a:gd name="T24" fmla="*/ 386 w 740"/>
                <a:gd name="T25" fmla="*/ 83 h 797"/>
                <a:gd name="T26" fmla="*/ 531 w 740"/>
                <a:gd name="T27" fmla="*/ 236 h 797"/>
                <a:gd name="T28" fmla="*/ 228 w 740"/>
                <a:gd name="T29" fmla="*/ 236 h 797"/>
                <a:gd name="T30" fmla="*/ 386 w 740"/>
                <a:gd name="T31" fmla="*/ 83 h 7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740" h="797">
                  <a:moveTo>
                    <a:pt x="390" y="0"/>
                  </a:moveTo>
                  <a:cubicBezTo>
                    <a:pt x="129" y="0"/>
                    <a:pt x="0" y="124"/>
                    <a:pt x="0" y="373"/>
                  </a:cubicBezTo>
                  <a:cubicBezTo>
                    <a:pt x="0" y="639"/>
                    <a:pt x="170" y="796"/>
                    <a:pt x="456" y="796"/>
                  </a:cubicBezTo>
                  <a:cubicBezTo>
                    <a:pt x="581" y="796"/>
                    <a:pt x="676" y="767"/>
                    <a:pt x="714" y="755"/>
                  </a:cubicBezTo>
                  <a:lnTo>
                    <a:pt x="726" y="751"/>
                  </a:lnTo>
                  <a:lnTo>
                    <a:pt x="726" y="651"/>
                  </a:lnTo>
                  <a:lnTo>
                    <a:pt x="705" y="660"/>
                  </a:lnTo>
                  <a:cubicBezTo>
                    <a:pt x="672" y="672"/>
                    <a:pt x="610" y="684"/>
                    <a:pt x="539" y="684"/>
                  </a:cubicBezTo>
                  <a:cubicBezTo>
                    <a:pt x="315" y="684"/>
                    <a:pt x="232" y="498"/>
                    <a:pt x="228" y="332"/>
                  </a:cubicBezTo>
                  <a:lnTo>
                    <a:pt x="739" y="332"/>
                  </a:lnTo>
                  <a:lnTo>
                    <a:pt x="739" y="315"/>
                  </a:lnTo>
                  <a:cubicBezTo>
                    <a:pt x="739" y="104"/>
                    <a:pt x="622" y="0"/>
                    <a:pt x="390" y="0"/>
                  </a:cubicBezTo>
                  <a:close/>
                  <a:moveTo>
                    <a:pt x="386" y="83"/>
                  </a:moveTo>
                  <a:cubicBezTo>
                    <a:pt x="498" y="83"/>
                    <a:pt x="527" y="162"/>
                    <a:pt x="531" y="236"/>
                  </a:cubicBezTo>
                  <a:lnTo>
                    <a:pt x="228" y="236"/>
                  </a:lnTo>
                  <a:cubicBezTo>
                    <a:pt x="232" y="187"/>
                    <a:pt x="270" y="83"/>
                    <a:pt x="386" y="83"/>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86" name="Freeform 21">
              <a:extLst>
                <a:ext uri="{FF2B5EF4-FFF2-40B4-BE49-F238E27FC236}">
                  <a16:creationId xmlns:a16="http://schemas.microsoft.com/office/drawing/2014/main" id="{16B82C85-3CBF-164C-B855-C83FEEE8CA76}"/>
                </a:ext>
              </a:extLst>
            </p:cNvPr>
            <p:cNvSpPr>
              <a:spLocks noChangeArrowheads="1"/>
            </p:cNvSpPr>
            <p:nvPr/>
          </p:nvSpPr>
          <p:spPr bwMode="auto">
            <a:xfrm>
              <a:off x="7204075" y="4121150"/>
              <a:ext cx="212725" cy="366713"/>
            </a:xfrm>
            <a:custGeom>
              <a:avLst/>
              <a:gdLst>
                <a:gd name="T0" fmla="*/ 141 w 590"/>
                <a:gd name="T1" fmla="*/ 237 h 1017"/>
                <a:gd name="T2" fmla="*/ 0 w 590"/>
                <a:gd name="T3" fmla="*/ 237 h 1017"/>
                <a:gd name="T4" fmla="*/ 0 w 590"/>
                <a:gd name="T5" fmla="*/ 328 h 1017"/>
                <a:gd name="T6" fmla="*/ 141 w 590"/>
                <a:gd name="T7" fmla="*/ 328 h 1017"/>
                <a:gd name="T8" fmla="*/ 141 w 590"/>
                <a:gd name="T9" fmla="*/ 797 h 1017"/>
                <a:gd name="T10" fmla="*/ 427 w 590"/>
                <a:gd name="T11" fmla="*/ 1016 h 1017"/>
                <a:gd name="T12" fmla="*/ 551 w 590"/>
                <a:gd name="T13" fmla="*/ 1004 h 1017"/>
                <a:gd name="T14" fmla="*/ 564 w 590"/>
                <a:gd name="T15" fmla="*/ 1004 h 1017"/>
                <a:gd name="T16" fmla="*/ 564 w 590"/>
                <a:gd name="T17" fmla="*/ 909 h 1017"/>
                <a:gd name="T18" fmla="*/ 547 w 590"/>
                <a:gd name="T19" fmla="*/ 913 h 1017"/>
                <a:gd name="T20" fmla="*/ 485 w 590"/>
                <a:gd name="T21" fmla="*/ 917 h 1017"/>
                <a:gd name="T22" fmla="*/ 352 w 590"/>
                <a:gd name="T23" fmla="*/ 772 h 1017"/>
                <a:gd name="T24" fmla="*/ 352 w 590"/>
                <a:gd name="T25" fmla="*/ 328 h 1017"/>
                <a:gd name="T26" fmla="*/ 589 w 590"/>
                <a:gd name="T27" fmla="*/ 328 h 1017"/>
                <a:gd name="T28" fmla="*/ 589 w 590"/>
                <a:gd name="T29" fmla="*/ 237 h 1017"/>
                <a:gd name="T30" fmla="*/ 352 w 590"/>
                <a:gd name="T31" fmla="*/ 237 h 1017"/>
                <a:gd name="T32" fmla="*/ 352 w 590"/>
                <a:gd name="T33" fmla="*/ 0 h 1017"/>
                <a:gd name="T34" fmla="*/ 141 w 590"/>
                <a:gd name="T35" fmla="*/ 0 h 1017"/>
                <a:gd name="T36" fmla="*/ 141 w 590"/>
                <a:gd name="T37" fmla="*/ 237 h 10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90" h="1017">
                  <a:moveTo>
                    <a:pt x="141" y="237"/>
                  </a:moveTo>
                  <a:lnTo>
                    <a:pt x="0" y="237"/>
                  </a:lnTo>
                  <a:lnTo>
                    <a:pt x="0" y="328"/>
                  </a:lnTo>
                  <a:lnTo>
                    <a:pt x="141" y="328"/>
                  </a:lnTo>
                  <a:lnTo>
                    <a:pt x="141" y="797"/>
                  </a:lnTo>
                  <a:cubicBezTo>
                    <a:pt x="141" y="1000"/>
                    <a:pt x="269" y="1016"/>
                    <a:pt x="427" y="1016"/>
                  </a:cubicBezTo>
                  <a:cubicBezTo>
                    <a:pt x="464" y="1016"/>
                    <a:pt x="506" y="1012"/>
                    <a:pt x="551" y="1004"/>
                  </a:cubicBezTo>
                  <a:lnTo>
                    <a:pt x="564" y="1004"/>
                  </a:lnTo>
                  <a:lnTo>
                    <a:pt x="564" y="909"/>
                  </a:lnTo>
                  <a:lnTo>
                    <a:pt x="547" y="913"/>
                  </a:lnTo>
                  <a:cubicBezTo>
                    <a:pt x="531" y="917"/>
                    <a:pt x="510" y="917"/>
                    <a:pt x="485" y="917"/>
                  </a:cubicBezTo>
                  <a:cubicBezTo>
                    <a:pt x="361" y="917"/>
                    <a:pt x="352" y="880"/>
                    <a:pt x="352" y="772"/>
                  </a:cubicBezTo>
                  <a:lnTo>
                    <a:pt x="352" y="328"/>
                  </a:lnTo>
                  <a:lnTo>
                    <a:pt x="589" y="328"/>
                  </a:lnTo>
                  <a:lnTo>
                    <a:pt x="589" y="237"/>
                  </a:lnTo>
                  <a:lnTo>
                    <a:pt x="352" y="237"/>
                  </a:lnTo>
                  <a:lnTo>
                    <a:pt x="352" y="0"/>
                  </a:lnTo>
                  <a:lnTo>
                    <a:pt x="141" y="0"/>
                  </a:lnTo>
                  <a:lnTo>
                    <a:pt x="141" y="237"/>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87" name="Freeform 22">
              <a:extLst>
                <a:ext uri="{FF2B5EF4-FFF2-40B4-BE49-F238E27FC236}">
                  <a16:creationId xmlns:a16="http://schemas.microsoft.com/office/drawing/2014/main" id="{FDA0A882-550D-6040-8A08-9B5B962995C6}"/>
                </a:ext>
              </a:extLst>
            </p:cNvPr>
            <p:cNvSpPr>
              <a:spLocks noChangeArrowheads="1"/>
            </p:cNvSpPr>
            <p:nvPr/>
          </p:nvSpPr>
          <p:spPr bwMode="auto">
            <a:xfrm>
              <a:off x="6850063" y="4206875"/>
              <a:ext cx="331787" cy="274638"/>
            </a:xfrm>
            <a:custGeom>
              <a:avLst/>
              <a:gdLst>
                <a:gd name="T0" fmla="*/ 705 w 921"/>
                <a:gd name="T1" fmla="*/ 248 h 764"/>
                <a:gd name="T2" fmla="*/ 920 w 921"/>
                <a:gd name="T3" fmla="*/ 0 h 764"/>
                <a:gd name="T4" fmla="*/ 701 w 921"/>
                <a:gd name="T5" fmla="*/ 0 h 764"/>
                <a:gd name="T6" fmla="*/ 497 w 921"/>
                <a:gd name="T7" fmla="*/ 236 h 764"/>
                <a:gd name="T8" fmla="*/ 319 w 921"/>
                <a:gd name="T9" fmla="*/ 0 h 764"/>
                <a:gd name="T10" fmla="*/ 0 w 921"/>
                <a:gd name="T11" fmla="*/ 0 h 764"/>
                <a:gd name="T12" fmla="*/ 0 w 921"/>
                <a:gd name="T13" fmla="*/ 62 h 764"/>
                <a:gd name="T14" fmla="*/ 12 w 921"/>
                <a:gd name="T15" fmla="*/ 62 h 764"/>
                <a:gd name="T16" fmla="*/ 211 w 921"/>
                <a:gd name="T17" fmla="*/ 178 h 764"/>
                <a:gd name="T18" fmla="*/ 344 w 921"/>
                <a:gd name="T19" fmla="*/ 352 h 764"/>
                <a:gd name="T20" fmla="*/ 128 w 921"/>
                <a:gd name="T21" fmla="*/ 601 h 764"/>
                <a:gd name="T22" fmla="*/ 348 w 921"/>
                <a:gd name="T23" fmla="*/ 601 h 764"/>
                <a:gd name="T24" fmla="*/ 443 w 921"/>
                <a:gd name="T25" fmla="*/ 489 h 764"/>
                <a:gd name="T26" fmla="*/ 651 w 921"/>
                <a:gd name="T27" fmla="*/ 763 h 764"/>
                <a:gd name="T28" fmla="*/ 900 w 921"/>
                <a:gd name="T29" fmla="*/ 763 h 764"/>
                <a:gd name="T30" fmla="*/ 506 w 921"/>
                <a:gd name="T31" fmla="*/ 248 h 764"/>
                <a:gd name="T32" fmla="*/ 705 w 921"/>
                <a:gd name="T33" fmla="*/ 248 h 7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21" h="764">
                  <a:moveTo>
                    <a:pt x="705" y="248"/>
                  </a:moveTo>
                  <a:lnTo>
                    <a:pt x="920" y="0"/>
                  </a:lnTo>
                  <a:lnTo>
                    <a:pt x="701" y="0"/>
                  </a:lnTo>
                  <a:lnTo>
                    <a:pt x="497" y="236"/>
                  </a:lnTo>
                  <a:lnTo>
                    <a:pt x="319" y="0"/>
                  </a:lnTo>
                  <a:lnTo>
                    <a:pt x="0" y="0"/>
                  </a:lnTo>
                  <a:lnTo>
                    <a:pt x="0" y="62"/>
                  </a:lnTo>
                  <a:lnTo>
                    <a:pt x="12" y="62"/>
                  </a:lnTo>
                  <a:cubicBezTo>
                    <a:pt x="120" y="70"/>
                    <a:pt x="145" y="87"/>
                    <a:pt x="211" y="178"/>
                  </a:cubicBezTo>
                  <a:lnTo>
                    <a:pt x="344" y="352"/>
                  </a:lnTo>
                  <a:lnTo>
                    <a:pt x="128" y="601"/>
                  </a:lnTo>
                  <a:lnTo>
                    <a:pt x="348" y="601"/>
                  </a:lnTo>
                  <a:lnTo>
                    <a:pt x="443" y="489"/>
                  </a:lnTo>
                  <a:lnTo>
                    <a:pt x="651" y="763"/>
                  </a:lnTo>
                  <a:lnTo>
                    <a:pt x="900" y="763"/>
                  </a:lnTo>
                  <a:lnTo>
                    <a:pt x="506" y="248"/>
                  </a:lnTo>
                  <a:lnTo>
                    <a:pt x="705" y="248"/>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88" name="Freeform 23">
              <a:extLst>
                <a:ext uri="{FF2B5EF4-FFF2-40B4-BE49-F238E27FC236}">
                  <a16:creationId xmlns:a16="http://schemas.microsoft.com/office/drawing/2014/main" id="{03561F3B-D659-D44B-988A-6DD515517C19}"/>
                </a:ext>
              </a:extLst>
            </p:cNvPr>
            <p:cNvSpPr>
              <a:spLocks noChangeArrowheads="1"/>
            </p:cNvSpPr>
            <p:nvPr/>
          </p:nvSpPr>
          <p:spPr bwMode="auto">
            <a:xfrm>
              <a:off x="7175500" y="4010025"/>
              <a:ext cx="176213" cy="111125"/>
            </a:xfrm>
            <a:custGeom>
              <a:avLst/>
              <a:gdLst>
                <a:gd name="T0" fmla="*/ 224 w 490"/>
                <a:gd name="T1" fmla="*/ 307 h 308"/>
                <a:gd name="T2" fmla="*/ 0 w 490"/>
                <a:gd name="T3" fmla="*/ 307 h 308"/>
                <a:gd name="T4" fmla="*/ 269 w 490"/>
                <a:gd name="T5" fmla="*/ 0 h 308"/>
                <a:gd name="T6" fmla="*/ 489 w 490"/>
                <a:gd name="T7" fmla="*/ 0 h 308"/>
                <a:gd name="T8" fmla="*/ 224 w 490"/>
                <a:gd name="T9" fmla="*/ 307 h 308"/>
              </a:gdLst>
              <a:ahLst/>
              <a:cxnLst>
                <a:cxn ang="0">
                  <a:pos x="T0" y="T1"/>
                </a:cxn>
                <a:cxn ang="0">
                  <a:pos x="T2" y="T3"/>
                </a:cxn>
                <a:cxn ang="0">
                  <a:pos x="T4" y="T5"/>
                </a:cxn>
                <a:cxn ang="0">
                  <a:pos x="T6" y="T7"/>
                </a:cxn>
                <a:cxn ang="0">
                  <a:pos x="T8" y="T9"/>
                </a:cxn>
              </a:cxnLst>
              <a:rect l="0" t="0" r="r" b="b"/>
              <a:pathLst>
                <a:path w="490" h="308">
                  <a:moveTo>
                    <a:pt x="224" y="307"/>
                  </a:moveTo>
                  <a:lnTo>
                    <a:pt x="0" y="307"/>
                  </a:lnTo>
                  <a:lnTo>
                    <a:pt x="269" y="0"/>
                  </a:lnTo>
                  <a:lnTo>
                    <a:pt x="489" y="0"/>
                  </a:lnTo>
                  <a:lnTo>
                    <a:pt x="224" y="307"/>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grpSp>
      <p:sp>
        <p:nvSpPr>
          <p:cNvPr id="89" name="TextBox 88">
            <a:extLst>
              <a:ext uri="{FF2B5EF4-FFF2-40B4-BE49-F238E27FC236}">
                <a16:creationId xmlns:a16="http://schemas.microsoft.com/office/drawing/2014/main" id="{0608A57A-1441-E64B-A2D0-ABCD90D33359}"/>
              </a:ext>
            </a:extLst>
          </p:cNvPr>
          <p:cNvSpPr txBox="1"/>
          <p:nvPr userDrawn="1"/>
        </p:nvSpPr>
        <p:spPr>
          <a:xfrm>
            <a:off x="6641794" y="4911221"/>
            <a:ext cx="2462534" cy="215444"/>
          </a:xfrm>
          <a:prstGeom prst="rect">
            <a:avLst/>
          </a:prstGeom>
          <a:noFill/>
        </p:spPr>
        <p:txBody>
          <a:bodyPr wrap="none" rtlCol="0">
            <a:sp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800" kern="1200" dirty="0">
                <a:solidFill>
                  <a:schemeClr val="bg1">
                    <a:alpha val="50000"/>
                  </a:schemeClr>
                </a:solidFill>
                <a:latin typeface="+mn-lt"/>
                <a:ea typeface="+mn-ea"/>
                <a:cs typeface="+mn-cs"/>
              </a:rPr>
              <a:t>© Hitachi Vantara LLC 2020. All Rights Reserved.</a:t>
            </a:r>
          </a:p>
        </p:txBody>
      </p:sp>
      <p:sp>
        <p:nvSpPr>
          <p:cNvPr id="32" name="Title 1">
            <a:extLst>
              <a:ext uri="{FF2B5EF4-FFF2-40B4-BE49-F238E27FC236}">
                <a16:creationId xmlns:a16="http://schemas.microsoft.com/office/drawing/2014/main" id="{A7FD0AE6-291C-C840-A0ED-2C91663A90D8}"/>
              </a:ext>
            </a:extLst>
          </p:cNvPr>
          <p:cNvSpPr>
            <a:spLocks noGrp="1"/>
          </p:cNvSpPr>
          <p:nvPr>
            <p:ph type="ctrTitle" hasCustomPrompt="1"/>
          </p:nvPr>
        </p:nvSpPr>
        <p:spPr>
          <a:xfrm>
            <a:off x="725952" y="1571934"/>
            <a:ext cx="6926568" cy="695773"/>
          </a:xfrm>
          <a:prstGeom prst="rect">
            <a:avLst/>
          </a:prstGeom>
          <a:effectLst/>
        </p:spPr>
        <p:txBody>
          <a:bodyPr anchor="t">
            <a:noAutofit/>
          </a:bodyPr>
          <a:lstStyle>
            <a:lvl1pPr>
              <a:lnSpc>
                <a:spcPct val="100000"/>
              </a:lnSpc>
              <a:defRPr sz="4400" b="1" cap="none" baseline="0">
                <a:solidFill>
                  <a:schemeClr val="bg1"/>
                </a:solidFill>
                <a:latin typeface="+mn-lt"/>
              </a:defRPr>
            </a:lvl1pPr>
          </a:lstStyle>
          <a:p>
            <a:r>
              <a:rPr lang="en-US" dirty="0"/>
              <a:t>Divider Slide</a:t>
            </a:r>
          </a:p>
        </p:txBody>
      </p:sp>
    </p:spTree>
    <p:extLst>
      <p:ext uri="{BB962C8B-B14F-4D97-AF65-F5344CB8AC3E}">
        <p14:creationId xmlns:p14="http://schemas.microsoft.com/office/powerpoint/2010/main" val="39732506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3" name="Title Placeholder 1"/>
          <p:cNvSpPr>
            <a:spLocks noGrp="1"/>
          </p:cNvSpPr>
          <p:nvPr>
            <p:ph type="title" hasCustomPrompt="1"/>
          </p:nvPr>
        </p:nvSpPr>
        <p:spPr>
          <a:xfrm>
            <a:off x="264160" y="53113"/>
            <a:ext cx="7051040" cy="732441"/>
          </a:xfrm>
          <a:prstGeom prst="rect">
            <a:avLst/>
          </a:prstGeom>
        </p:spPr>
        <p:txBody>
          <a:bodyPr vert="horz" lIns="91440" tIns="0" rIns="91440" bIns="0" rtlCol="0" anchor="ctr">
            <a:normAutofit/>
          </a:bodyPr>
          <a:lstStyle/>
          <a:p>
            <a:pPr lvl="0"/>
            <a:r>
              <a:rPr lang="en-US" dirty="0"/>
              <a:t>Click to add title</a:t>
            </a:r>
          </a:p>
        </p:txBody>
      </p:sp>
    </p:spTree>
    <p:extLst>
      <p:ext uri="{BB962C8B-B14F-4D97-AF65-F5344CB8AC3E}">
        <p14:creationId xmlns:p14="http://schemas.microsoft.com/office/powerpoint/2010/main" val="6707406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10" name="Text Placeholder 53"/>
          <p:cNvSpPr>
            <a:spLocks noGrp="1"/>
          </p:cNvSpPr>
          <p:nvPr>
            <p:ph idx="1" hasCustomPrompt="1"/>
          </p:nvPr>
        </p:nvSpPr>
        <p:spPr>
          <a:xfrm>
            <a:off x="264160" y="885801"/>
            <a:ext cx="8584006" cy="1775871"/>
          </a:xfrm>
          <a:prstGeom prst="rect">
            <a:avLst/>
          </a:prstGeom>
        </p:spPr>
        <p:txBody>
          <a:bodyPr vert="horz" wrap="square" lIns="91440" tIns="45720" rIns="91440" bIns="45720" rtlCol="0">
            <a:spAutoFit/>
          </a:bodyPr>
          <a:lstStyle>
            <a:lvl5pPr>
              <a:defRPr sz="12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Title Placeholder 1"/>
          <p:cNvSpPr>
            <a:spLocks noGrp="1"/>
          </p:cNvSpPr>
          <p:nvPr>
            <p:ph type="title" hasCustomPrompt="1"/>
          </p:nvPr>
        </p:nvSpPr>
        <p:spPr>
          <a:xfrm>
            <a:off x="264160" y="53113"/>
            <a:ext cx="7051040" cy="732441"/>
          </a:xfrm>
          <a:prstGeom prst="rect">
            <a:avLst/>
          </a:prstGeom>
        </p:spPr>
        <p:txBody>
          <a:bodyPr vert="horz" lIns="91440" tIns="0" rIns="91440" bIns="0" rtlCol="0" anchor="ctr">
            <a:normAutofit/>
          </a:bodyPr>
          <a:lstStyle/>
          <a:p>
            <a:pPr lvl="0"/>
            <a:r>
              <a:rPr lang="en-US" dirty="0"/>
              <a:t>Click to add title</a:t>
            </a:r>
          </a:p>
        </p:txBody>
      </p:sp>
    </p:spTree>
    <p:extLst>
      <p:ext uri="{BB962C8B-B14F-4D97-AF65-F5344CB8AC3E}">
        <p14:creationId xmlns:p14="http://schemas.microsoft.com/office/powerpoint/2010/main" val="32681138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1_Title Slide">
    <p:spTree>
      <p:nvGrpSpPr>
        <p:cNvPr id="1" name=""/>
        <p:cNvGrpSpPr/>
        <p:nvPr/>
      </p:nvGrpSpPr>
      <p:grpSpPr>
        <a:xfrm>
          <a:off x="0" y="0"/>
          <a:ext cx="0" cy="0"/>
          <a:chOff x="0" y="0"/>
          <a:chExt cx="0" cy="0"/>
        </a:xfrm>
      </p:grpSpPr>
      <p:sp>
        <p:nvSpPr>
          <p:cNvPr id="40" name="Rectangle 39">
            <a:extLst>
              <a:ext uri="{FF2B5EF4-FFF2-40B4-BE49-F238E27FC236}">
                <a16:creationId xmlns:a16="http://schemas.microsoft.com/office/drawing/2014/main" id="{AAA4BB55-22A6-9C48-9B94-C2A7131C877F}"/>
              </a:ext>
            </a:extLst>
          </p:cNvPr>
          <p:cNvSpPr/>
          <p:nvPr userDrawn="1"/>
        </p:nvSpPr>
        <p:spPr>
          <a:xfrm>
            <a:off x="5942892" y="0"/>
            <a:ext cx="3201108" cy="5157216"/>
          </a:xfrm>
          <a:prstGeom prst="rect">
            <a:avLst/>
          </a:prstGeom>
          <a:blipFill>
            <a:blip r:embed="rId2" cstate="screen">
              <a:extLst>
                <a:ext uri="{28A0092B-C50C-407E-A947-70E740481C1C}">
                  <a14:useLocalDpi xmlns:a14="http://schemas.microsoft.com/office/drawing/2010/main"/>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j-lt"/>
            </a:endParaRPr>
          </a:p>
        </p:txBody>
      </p:sp>
      <p:sp>
        <p:nvSpPr>
          <p:cNvPr id="41" name="Rectangle 40">
            <a:extLst>
              <a:ext uri="{FF2B5EF4-FFF2-40B4-BE49-F238E27FC236}">
                <a16:creationId xmlns:a16="http://schemas.microsoft.com/office/drawing/2014/main" id="{DC087B14-6753-6F4D-B0BE-B2E45CBD35B4}"/>
              </a:ext>
            </a:extLst>
          </p:cNvPr>
          <p:cNvSpPr/>
          <p:nvPr userDrawn="1"/>
        </p:nvSpPr>
        <p:spPr>
          <a:xfrm>
            <a:off x="-1" y="0"/>
            <a:ext cx="5942893" cy="5157216"/>
          </a:xfrm>
          <a:prstGeom prst="rect">
            <a:avLst/>
          </a:prstGeom>
          <a:gradFill flip="none" rotWithShape="1">
            <a:gsLst>
              <a:gs pos="0">
                <a:schemeClr val="tx2"/>
              </a:gs>
              <a:gs pos="66000">
                <a:srgbClr val="051C2C"/>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j-lt"/>
            </a:endParaRPr>
          </a:p>
        </p:txBody>
      </p:sp>
      <p:sp>
        <p:nvSpPr>
          <p:cNvPr id="57" name="Title 1"/>
          <p:cNvSpPr>
            <a:spLocks noGrp="1"/>
          </p:cNvSpPr>
          <p:nvPr>
            <p:ph type="ctrTitle" hasCustomPrompt="1"/>
          </p:nvPr>
        </p:nvSpPr>
        <p:spPr>
          <a:xfrm>
            <a:off x="681348" y="1407160"/>
            <a:ext cx="5148359" cy="728377"/>
          </a:xfrm>
          <a:prstGeom prst="rect">
            <a:avLst/>
          </a:prstGeom>
          <a:effectLst/>
        </p:spPr>
        <p:txBody>
          <a:bodyPr anchor="t">
            <a:noAutofit/>
          </a:bodyPr>
          <a:lstStyle>
            <a:lvl1pPr>
              <a:lnSpc>
                <a:spcPct val="100000"/>
              </a:lnSpc>
              <a:defRPr sz="4400" b="1" cap="none" baseline="0">
                <a:solidFill>
                  <a:schemeClr val="accent2"/>
                </a:solidFill>
                <a:latin typeface="+mn-lt"/>
              </a:defRPr>
            </a:lvl1pPr>
          </a:lstStyle>
          <a:p>
            <a:r>
              <a:rPr lang="en-US" dirty="0"/>
              <a:t>Thank You</a:t>
            </a:r>
          </a:p>
        </p:txBody>
      </p:sp>
      <p:sp>
        <p:nvSpPr>
          <p:cNvPr id="39" name="TextBox 38"/>
          <p:cNvSpPr txBox="1"/>
          <p:nvPr/>
        </p:nvSpPr>
        <p:spPr>
          <a:xfrm>
            <a:off x="1611" y="4915450"/>
            <a:ext cx="312906" cy="215444"/>
          </a:xfrm>
          <a:prstGeom prst="rect">
            <a:avLst/>
          </a:prstGeom>
          <a:noFill/>
        </p:spPr>
        <p:txBody>
          <a:bodyPr wrap="none" rtlCol="0">
            <a:spAutoFit/>
          </a:bodyPr>
          <a:lstStyle/>
          <a:p>
            <a:fld id="{111F478C-84AE-4601-9BE4-60468A3A6C06}" type="slidenum">
              <a:rPr lang="en-US" sz="800" smtClean="0">
                <a:solidFill>
                  <a:prstClr val="white">
                    <a:alpha val="50000"/>
                  </a:prstClr>
                </a:solidFill>
                <a:latin typeface="Arial"/>
              </a:rPr>
              <a:pPr/>
              <a:t>‹#›</a:t>
            </a:fld>
            <a:endParaRPr lang="en-US" sz="800" dirty="0">
              <a:solidFill>
                <a:prstClr val="white">
                  <a:alpha val="50000"/>
                </a:prstClr>
              </a:solidFill>
              <a:latin typeface="Arial"/>
            </a:endParaRPr>
          </a:p>
        </p:txBody>
      </p:sp>
      <p:sp>
        <p:nvSpPr>
          <p:cNvPr id="47" name="TextBox 46">
            <a:extLst>
              <a:ext uri="{FF2B5EF4-FFF2-40B4-BE49-F238E27FC236}">
                <a16:creationId xmlns:a16="http://schemas.microsoft.com/office/drawing/2014/main" id="{1F6F85EA-1CAA-F34C-8631-AB308554EFA3}"/>
              </a:ext>
            </a:extLst>
          </p:cNvPr>
          <p:cNvSpPr txBox="1"/>
          <p:nvPr userDrawn="1"/>
        </p:nvSpPr>
        <p:spPr>
          <a:xfrm>
            <a:off x="1611" y="4915450"/>
            <a:ext cx="312906" cy="215444"/>
          </a:xfrm>
          <a:prstGeom prst="rect">
            <a:avLst/>
          </a:prstGeom>
          <a:noFill/>
        </p:spPr>
        <p:txBody>
          <a:bodyPr wrap="none" rtlCol="0">
            <a:spAutoFit/>
          </a:bodyPr>
          <a:lstStyle/>
          <a:p>
            <a:fld id="{111F478C-84AE-4601-9BE4-60468A3A6C06}" type="slidenum">
              <a:rPr lang="en-US" sz="800" smtClean="0">
                <a:solidFill>
                  <a:prstClr val="white">
                    <a:alpha val="50000"/>
                  </a:prstClr>
                </a:solidFill>
                <a:latin typeface="Arial"/>
              </a:rPr>
              <a:pPr/>
              <a:t>‹#›</a:t>
            </a:fld>
            <a:endParaRPr lang="en-US" sz="800" dirty="0">
              <a:solidFill>
                <a:prstClr val="white">
                  <a:alpha val="50000"/>
                </a:prstClr>
              </a:solidFill>
              <a:latin typeface="Arial"/>
            </a:endParaRPr>
          </a:p>
        </p:txBody>
      </p:sp>
      <p:sp>
        <p:nvSpPr>
          <p:cNvPr id="38" name="Rectangle 37">
            <a:extLst>
              <a:ext uri="{FF2B5EF4-FFF2-40B4-BE49-F238E27FC236}">
                <a16:creationId xmlns:a16="http://schemas.microsoft.com/office/drawing/2014/main" id="{F4AD3290-648D-D840-B50D-09EEC67C7D28}"/>
              </a:ext>
            </a:extLst>
          </p:cNvPr>
          <p:cNvSpPr/>
          <p:nvPr userDrawn="1"/>
        </p:nvSpPr>
        <p:spPr>
          <a:xfrm>
            <a:off x="5942892" y="0"/>
            <a:ext cx="3201108" cy="5157216"/>
          </a:xfrm>
          <a:prstGeom prst="rect">
            <a:avLst/>
          </a:prstGeom>
          <a:gradFill flip="none" rotWithShape="1">
            <a:gsLst>
              <a:gs pos="53000">
                <a:schemeClr val="bg1">
                  <a:alpha val="0"/>
                </a:schemeClr>
              </a:gs>
              <a:gs pos="0">
                <a:srgbClr val="53E2DD">
                  <a:alpha val="56000"/>
                  <a:lumMod val="29000"/>
                </a:srgbClr>
              </a:gs>
              <a:gs pos="100000">
                <a:schemeClr val="accent2">
                  <a:alpha val="54000"/>
                  <a:lumMod val="38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j-lt"/>
            </a:endParaRPr>
          </a:p>
        </p:txBody>
      </p:sp>
      <p:sp>
        <p:nvSpPr>
          <p:cNvPr id="93" name="Rectangle 92">
            <a:extLst>
              <a:ext uri="{FF2B5EF4-FFF2-40B4-BE49-F238E27FC236}">
                <a16:creationId xmlns:a16="http://schemas.microsoft.com/office/drawing/2014/main" id="{39418557-F9FB-2C49-8652-E9BC5F420543}"/>
              </a:ext>
            </a:extLst>
          </p:cNvPr>
          <p:cNvSpPr/>
          <p:nvPr userDrawn="1"/>
        </p:nvSpPr>
        <p:spPr>
          <a:xfrm>
            <a:off x="5942892" y="0"/>
            <a:ext cx="3201108" cy="5157216"/>
          </a:xfrm>
          <a:prstGeom prst="rect">
            <a:avLst/>
          </a:prstGeom>
          <a:gradFill flip="none" rotWithShape="1">
            <a:gsLst>
              <a:gs pos="71000">
                <a:schemeClr val="tx2">
                  <a:alpha val="0"/>
                </a:schemeClr>
              </a:gs>
              <a:gs pos="100000">
                <a:schemeClr val="tx2">
                  <a:alpha val="65000"/>
                </a:schemeClr>
              </a:gs>
            </a:gsLst>
            <a:lin ang="18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j-lt"/>
            </a:endParaRPr>
          </a:p>
        </p:txBody>
      </p:sp>
      <p:grpSp>
        <p:nvGrpSpPr>
          <p:cNvPr id="42" name="Group 41">
            <a:extLst>
              <a:ext uri="{FF2B5EF4-FFF2-40B4-BE49-F238E27FC236}">
                <a16:creationId xmlns:a16="http://schemas.microsoft.com/office/drawing/2014/main" id="{3EF58E61-59AF-0B40-BD87-B8415DF5B20F}"/>
              </a:ext>
            </a:extLst>
          </p:cNvPr>
          <p:cNvGrpSpPr/>
          <p:nvPr userDrawn="1"/>
        </p:nvGrpSpPr>
        <p:grpSpPr>
          <a:xfrm>
            <a:off x="7684916" y="225821"/>
            <a:ext cx="1247901" cy="356665"/>
            <a:chOff x="2751138" y="3262313"/>
            <a:chExt cx="4665662" cy="1333500"/>
          </a:xfrm>
          <a:solidFill>
            <a:schemeClr val="bg1"/>
          </a:solidFill>
        </p:grpSpPr>
        <p:sp>
          <p:nvSpPr>
            <p:cNvPr id="43" name="Freeform 1">
              <a:extLst>
                <a:ext uri="{FF2B5EF4-FFF2-40B4-BE49-F238E27FC236}">
                  <a16:creationId xmlns:a16="http://schemas.microsoft.com/office/drawing/2014/main" id="{199E89AD-2705-134A-918E-26469FC8CD68}"/>
                </a:ext>
              </a:extLst>
            </p:cNvPr>
            <p:cNvSpPr>
              <a:spLocks noChangeArrowheads="1"/>
            </p:cNvSpPr>
            <p:nvPr/>
          </p:nvSpPr>
          <p:spPr bwMode="auto">
            <a:xfrm>
              <a:off x="6180138" y="3275013"/>
              <a:ext cx="673100" cy="631825"/>
            </a:xfrm>
            <a:custGeom>
              <a:avLst/>
              <a:gdLst>
                <a:gd name="T0" fmla="*/ 465 w 1868"/>
                <a:gd name="T1" fmla="*/ 0 h 1755"/>
                <a:gd name="T2" fmla="*/ 465 w 1868"/>
                <a:gd name="T3" fmla="*/ 700 h 1755"/>
                <a:gd name="T4" fmla="*/ 1402 w 1868"/>
                <a:gd name="T5" fmla="*/ 700 h 1755"/>
                <a:gd name="T6" fmla="*/ 1402 w 1868"/>
                <a:gd name="T7" fmla="*/ 0 h 1755"/>
                <a:gd name="T8" fmla="*/ 1867 w 1868"/>
                <a:gd name="T9" fmla="*/ 0 h 1755"/>
                <a:gd name="T10" fmla="*/ 1867 w 1868"/>
                <a:gd name="T11" fmla="*/ 1754 h 1755"/>
                <a:gd name="T12" fmla="*/ 1402 w 1868"/>
                <a:gd name="T13" fmla="*/ 1754 h 1755"/>
                <a:gd name="T14" fmla="*/ 1402 w 1868"/>
                <a:gd name="T15" fmla="*/ 983 h 1755"/>
                <a:gd name="T16" fmla="*/ 465 w 1868"/>
                <a:gd name="T17" fmla="*/ 983 h 1755"/>
                <a:gd name="T18" fmla="*/ 465 w 1868"/>
                <a:gd name="T19" fmla="*/ 1754 h 1755"/>
                <a:gd name="T20" fmla="*/ 0 w 1868"/>
                <a:gd name="T21" fmla="*/ 1754 h 1755"/>
                <a:gd name="T22" fmla="*/ 0 w 1868"/>
                <a:gd name="T23" fmla="*/ 0 h 1755"/>
                <a:gd name="T24" fmla="*/ 465 w 1868"/>
                <a:gd name="T25" fmla="*/ 0 h 17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68" h="1755">
                  <a:moveTo>
                    <a:pt x="465" y="0"/>
                  </a:moveTo>
                  <a:cubicBezTo>
                    <a:pt x="465" y="0"/>
                    <a:pt x="465" y="705"/>
                    <a:pt x="465" y="700"/>
                  </a:cubicBezTo>
                  <a:lnTo>
                    <a:pt x="1402" y="700"/>
                  </a:lnTo>
                  <a:cubicBezTo>
                    <a:pt x="1402" y="705"/>
                    <a:pt x="1402" y="0"/>
                    <a:pt x="1402" y="0"/>
                  </a:cubicBezTo>
                  <a:cubicBezTo>
                    <a:pt x="1402" y="0"/>
                    <a:pt x="1863" y="0"/>
                    <a:pt x="1867" y="0"/>
                  </a:cubicBezTo>
                  <a:cubicBezTo>
                    <a:pt x="1867" y="0"/>
                    <a:pt x="1867" y="1750"/>
                    <a:pt x="1867" y="1754"/>
                  </a:cubicBezTo>
                  <a:lnTo>
                    <a:pt x="1402" y="1754"/>
                  </a:lnTo>
                  <a:cubicBezTo>
                    <a:pt x="1402" y="1754"/>
                    <a:pt x="1402" y="987"/>
                    <a:pt x="1402" y="983"/>
                  </a:cubicBezTo>
                  <a:cubicBezTo>
                    <a:pt x="1402" y="987"/>
                    <a:pt x="465" y="983"/>
                    <a:pt x="465" y="983"/>
                  </a:cubicBezTo>
                  <a:cubicBezTo>
                    <a:pt x="465" y="987"/>
                    <a:pt x="465" y="1754"/>
                    <a:pt x="465" y="1754"/>
                  </a:cubicBezTo>
                  <a:lnTo>
                    <a:pt x="0" y="1754"/>
                  </a:lnTo>
                  <a:cubicBezTo>
                    <a:pt x="0" y="1754"/>
                    <a:pt x="4" y="0"/>
                    <a:pt x="0" y="0"/>
                  </a:cubicBezTo>
                  <a:lnTo>
                    <a:pt x="465"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44" name="Freeform 2">
              <a:extLst>
                <a:ext uri="{FF2B5EF4-FFF2-40B4-BE49-F238E27FC236}">
                  <a16:creationId xmlns:a16="http://schemas.microsoft.com/office/drawing/2014/main" id="{0494D0CA-794C-0E4B-AA3F-CCDBD582982E}"/>
                </a:ext>
              </a:extLst>
            </p:cNvPr>
            <p:cNvSpPr>
              <a:spLocks noChangeArrowheads="1"/>
            </p:cNvSpPr>
            <p:nvPr/>
          </p:nvSpPr>
          <p:spPr bwMode="auto">
            <a:xfrm>
              <a:off x="4083050" y="3275013"/>
              <a:ext cx="677863" cy="631825"/>
            </a:xfrm>
            <a:custGeom>
              <a:avLst/>
              <a:gdLst>
                <a:gd name="T0" fmla="*/ 1883 w 1884"/>
                <a:gd name="T1" fmla="*/ 0 h 1755"/>
                <a:gd name="T2" fmla="*/ 1883 w 1884"/>
                <a:gd name="T3" fmla="*/ 298 h 1755"/>
                <a:gd name="T4" fmla="*/ 1174 w 1884"/>
                <a:gd name="T5" fmla="*/ 298 h 1755"/>
                <a:gd name="T6" fmla="*/ 1174 w 1884"/>
                <a:gd name="T7" fmla="*/ 1754 h 1755"/>
                <a:gd name="T8" fmla="*/ 709 w 1884"/>
                <a:gd name="T9" fmla="*/ 1754 h 1755"/>
                <a:gd name="T10" fmla="*/ 709 w 1884"/>
                <a:gd name="T11" fmla="*/ 298 h 1755"/>
                <a:gd name="T12" fmla="*/ 0 w 1884"/>
                <a:gd name="T13" fmla="*/ 298 h 1755"/>
                <a:gd name="T14" fmla="*/ 0 w 1884"/>
                <a:gd name="T15" fmla="*/ 0 h 1755"/>
                <a:gd name="T16" fmla="*/ 1883 w 1884"/>
                <a:gd name="T17" fmla="*/ 0 h 17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884" h="1755">
                  <a:moveTo>
                    <a:pt x="1883" y="0"/>
                  </a:moveTo>
                  <a:cubicBezTo>
                    <a:pt x="1883" y="4"/>
                    <a:pt x="1883" y="298"/>
                    <a:pt x="1883" y="298"/>
                  </a:cubicBezTo>
                  <a:lnTo>
                    <a:pt x="1174" y="298"/>
                  </a:lnTo>
                  <a:lnTo>
                    <a:pt x="1174" y="1754"/>
                  </a:lnTo>
                  <a:lnTo>
                    <a:pt x="709" y="1754"/>
                  </a:lnTo>
                  <a:lnTo>
                    <a:pt x="709" y="298"/>
                  </a:lnTo>
                  <a:lnTo>
                    <a:pt x="0" y="298"/>
                  </a:lnTo>
                  <a:lnTo>
                    <a:pt x="0" y="0"/>
                  </a:lnTo>
                  <a:lnTo>
                    <a:pt x="1883"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45" name="Freeform 3">
              <a:extLst>
                <a:ext uri="{FF2B5EF4-FFF2-40B4-BE49-F238E27FC236}">
                  <a16:creationId xmlns:a16="http://schemas.microsoft.com/office/drawing/2014/main" id="{9DCC5901-D10A-FB4A-B33B-ED481418C9B6}"/>
                </a:ext>
              </a:extLst>
            </p:cNvPr>
            <p:cNvSpPr>
              <a:spLocks noChangeArrowheads="1"/>
            </p:cNvSpPr>
            <p:nvPr/>
          </p:nvSpPr>
          <p:spPr bwMode="auto">
            <a:xfrm>
              <a:off x="4614863" y="3275013"/>
              <a:ext cx="796925" cy="631825"/>
            </a:xfrm>
            <a:custGeom>
              <a:avLst/>
              <a:gdLst>
                <a:gd name="T0" fmla="*/ 2214 w 2215"/>
                <a:gd name="T1" fmla="*/ 1754 h 1755"/>
                <a:gd name="T2" fmla="*/ 1695 w 2215"/>
                <a:gd name="T3" fmla="*/ 1754 h 1755"/>
                <a:gd name="T4" fmla="*/ 1542 w 2215"/>
                <a:gd name="T5" fmla="*/ 1377 h 1755"/>
                <a:gd name="T6" fmla="*/ 672 w 2215"/>
                <a:gd name="T7" fmla="*/ 1377 h 1755"/>
                <a:gd name="T8" fmla="*/ 518 w 2215"/>
                <a:gd name="T9" fmla="*/ 1754 h 1755"/>
                <a:gd name="T10" fmla="*/ 0 w 2215"/>
                <a:gd name="T11" fmla="*/ 1754 h 1755"/>
                <a:gd name="T12" fmla="*/ 825 w 2215"/>
                <a:gd name="T13" fmla="*/ 0 h 1755"/>
                <a:gd name="T14" fmla="*/ 1392 w 2215"/>
                <a:gd name="T15" fmla="*/ 0 h 1755"/>
                <a:gd name="T16" fmla="*/ 2214 w 2215"/>
                <a:gd name="T17" fmla="*/ 1754 h 1755"/>
                <a:gd name="T18" fmla="*/ 788 w 2215"/>
                <a:gd name="T19" fmla="*/ 1095 h 1755"/>
                <a:gd name="T20" fmla="*/ 1434 w 2215"/>
                <a:gd name="T21" fmla="*/ 1095 h 1755"/>
                <a:gd name="T22" fmla="*/ 1107 w 2215"/>
                <a:gd name="T23" fmla="*/ 298 h 1755"/>
                <a:gd name="T24" fmla="*/ 788 w 2215"/>
                <a:gd name="T25" fmla="*/ 1095 h 17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15" h="1755">
                  <a:moveTo>
                    <a:pt x="2214" y="1754"/>
                  </a:moveTo>
                  <a:cubicBezTo>
                    <a:pt x="2214" y="1754"/>
                    <a:pt x="1691" y="1754"/>
                    <a:pt x="1695" y="1754"/>
                  </a:cubicBezTo>
                  <a:lnTo>
                    <a:pt x="1542" y="1377"/>
                  </a:lnTo>
                  <a:lnTo>
                    <a:pt x="672" y="1377"/>
                  </a:lnTo>
                  <a:cubicBezTo>
                    <a:pt x="672" y="1377"/>
                    <a:pt x="522" y="1754"/>
                    <a:pt x="518" y="1754"/>
                  </a:cubicBezTo>
                  <a:lnTo>
                    <a:pt x="0" y="1754"/>
                  </a:lnTo>
                  <a:lnTo>
                    <a:pt x="825" y="0"/>
                  </a:lnTo>
                  <a:lnTo>
                    <a:pt x="1392" y="0"/>
                  </a:lnTo>
                  <a:lnTo>
                    <a:pt x="2214" y="1754"/>
                  </a:lnTo>
                  <a:close/>
                  <a:moveTo>
                    <a:pt x="788" y="1095"/>
                  </a:moveTo>
                  <a:lnTo>
                    <a:pt x="1434" y="1095"/>
                  </a:lnTo>
                  <a:lnTo>
                    <a:pt x="1107" y="298"/>
                  </a:lnTo>
                  <a:lnTo>
                    <a:pt x="788" y="1095"/>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46" name="Freeform 4">
              <a:extLst>
                <a:ext uri="{FF2B5EF4-FFF2-40B4-BE49-F238E27FC236}">
                  <a16:creationId xmlns:a16="http://schemas.microsoft.com/office/drawing/2014/main" id="{E89E2B8D-ACF0-2F45-AEFB-BDDCF2F74FCA}"/>
                </a:ext>
              </a:extLst>
            </p:cNvPr>
            <p:cNvSpPr>
              <a:spLocks noChangeArrowheads="1"/>
            </p:cNvSpPr>
            <p:nvPr/>
          </p:nvSpPr>
          <p:spPr bwMode="auto">
            <a:xfrm>
              <a:off x="6985000" y="3275013"/>
              <a:ext cx="166688" cy="631825"/>
            </a:xfrm>
            <a:custGeom>
              <a:avLst/>
              <a:gdLst>
                <a:gd name="T0" fmla="*/ 232 w 465"/>
                <a:gd name="T1" fmla="*/ 1754 h 1755"/>
                <a:gd name="T2" fmla="*/ 0 w 465"/>
                <a:gd name="T3" fmla="*/ 1754 h 1755"/>
                <a:gd name="T4" fmla="*/ 0 w 465"/>
                <a:gd name="T5" fmla="*/ 0 h 1755"/>
                <a:gd name="T6" fmla="*/ 464 w 465"/>
                <a:gd name="T7" fmla="*/ 0 h 1755"/>
                <a:gd name="T8" fmla="*/ 464 w 465"/>
                <a:gd name="T9" fmla="*/ 1754 h 1755"/>
                <a:gd name="T10" fmla="*/ 232 w 465"/>
                <a:gd name="T11" fmla="*/ 1754 h 1755"/>
              </a:gdLst>
              <a:ahLst/>
              <a:cxnLst>
                <a:cxn ang="0">
                  <a:pos x="T0" y="T1"/>
                </a:cxn>
                <a:cxn ang="0">
                  <a:pos x="T2" y="T3"/>
                </a:cxn>
                <a:cxn ang="0">
                  <a:pos x="T4" y="T5"/>
                </a:cxn>
                <a:cxn ang="0">
                  <a:pos x="T6" y="T7"/>
                </a:cxn>
                <a:cxn ang="0">
                  <a:pos x="T8" y="T9"/>
                </a:cxn>
                <a:cxn ang="0">
                  <a:pos x="T10" y="T11"/>
                </a:cxn>
              </a:cxnLst>
              <a:rect l="0" t="0" r="r" b="b"/>
              <a:pathLst>
                <a:path w="465" h="1755">
                  <a:moveTo>
                    <a:pt x="232" y="1754"/>
                  </a:moveTo>
                  <a:lnTo>
                    <a:pt x="0" y="1754"/>
                  </a:lnTo>
                  <a:lnTo>
                    <a:pt x="0" y="0"/>
                  </a:lnTo>
                  <a:lnTo>
                    <a:pt x="464" y="0"/>
                  </a:lnTo>
                  <a:lnTo>
                    <a:pt x="464" y="1754"/>
                  </a:lnTo>
                  <a:lnTo>
                    <a:pt x="232" y="1754"/>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48" name="Freeform 5">
              <a:extLst>
                <a:ext uri="{FF2B5EF4-FFF2-40B4-BE49-F238E27FC236}">
                  <a16:creationId xmlns:a16="http://schemas.microsoft.com/office/drawing/2014/main" id="{22029583-0D66-5343-987C-CF43A574E882}"/>
                </a:ext>
              </a:extLst>
            </p:cNvPr>
            <p:cNvSpPr>
              <a:spLocks noChangeArrowheads="1"/>
            </p:cNvSpPr>
            <p:nvPr/>
          </p:nvSpPr>
          <p:spPr bwMode="auto">
            <a:xfrm>
              <a:off x="3049588" y="3275013"/>
              <a:ext cx="673100" cy="631825"/>
            </a:xfrm>
            <a:custGeom>
              <a:avLst/>
              <a:gdLst>
                <a:gd name="T0" fmla="*/ 465 w 1868"/>
                <a:gd name="T1" fmla="*/ 0 h 1755"/>
                <a:gd name="T2" fmla="*/ 465 w 1868"/>
                <a:gd name="T3" fmla="*/ 700 h 1755"/>
                <a:gd name="T4" fmla="*/ 1402 w 1868"/>
                <a:gd name="T5" fmla="*/ 700 h 1755"/>
                <a:gd name="T6" fmla="*/ 1402 w 1868"/>
                <a:gd name="T7" fmla="*/ 0 h 1755"/>
                <a:gd name="T8" fmla="*/ 1867 w 1868"/>
                <a:gd name="T9" fmla="*/ 0 h 1755"/>
                <a:gd name="T10" fmla="*/ 1867 w 1868"/>
                <a:gd name="T11" fmla="*/ 1754 h 1755"/>
                <a:gd name="T12" fmla="*/ 1402 w 1868"/>
                <a:gd name="T13" fmla="*/ 1754 h 1755"/>
                <a:gd name="T14" fmla="*/ 1402 w 1868"/>
                <a:gd name="T15" fmla="*/ 983 h 1755"/>
                <a:gd name="T16" fmla="*/ 465 w 1868"/>
                <a:gd name="T17" fmla="*/ 983 h 1755"/>
                <a:gd name="T18" fmla="*/ 465 w 1868"/>
                <a:gd name="T19" fmla="*/ 1754 h 1755"/>
                <a:gd name="T20" fmla="*/ 0 w 1868"/>
                <a:gd name="T21" fmla="*/ 1754 h 1755"/>
                <a:gd name="T22" fmla="*/ 0 w 1868"/>
                <a:gd name="T23" fmla="*/ 0 h 1755"/>
                <a:gd name="T24" fmla="*/ 465 w 1868"/>
                <a:gd name="T25" fmla="*/ 0 h 17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68" h="1755">
                  <a:moveTo>
                    <a:pt x="465" y="0"/>
                  </a:moveTo>
                  <a:cubicBezTo>
                    <a:pt x="465" y="0"/>
                    <a:pt x="465" y="705"/>
                    <a:pt x="465" y="700"/>
                  </a:cubicBezTo>
                  <a:lnTo>
                    <a:pt x="1402" y="700"/>
                  </a:lnTo>
                  <a:cubicBezTo>
                    <a:pt x="1402" y="705"/>
                    <a:pt x="1402" y="0"/>
                    <a:pt x="1402" y="0"/>
                  </a:cubicBezTo>
                  <a:cubicBezTo>
                    <a:pt x="1402" y="0"/>
                    <a:pt x="1863" y="0"/>
                    <a:pt x="1867" y="0"/>
                  </a:cubicBezTo>
                  <a:cubicBezTo>
                    <a:pt x="1867" y="0"/>
                    <a:pt x="1867" y="1750"/>
                    <a:pt x="1867" y="1754"/>
                  </a:cubicBezTo>
                  <a:lnTo>
                    <a:pt x="1402" y="1754"/>
                  </a:lnTo>
                  <a:cubicBezTo>
                    <a:pt x="1402" y="1754"/>
                    <a:pt x="1402" y="987"/>
                    <a:pt x="1402" y="983"/>
                  </a:cubicBezTo>
                  <a:cubicBezTo>
                    <a:pt x="1402" y="987"/>
                    <a:pt x="465" y="983"/>
                    <a:pt x="465" y="983"/>
                  </a:cubicBezTo>
                  <a:cubicBezTo>
                    <a:pt x="465" y="987"/>
                    <a:pt x="465" y="1754"/>
                    <a:pt x="465" y="1754"/>
                  </a:cubicBezTo>
                  <a:lnTo>
                    <a:pt x="0" y="1754"/>
                  </a:lnTo>
                  <a:cubicBezTo>
                    <a:pt x="0" y="1754"/>
                    <a:pt x="5" y="0"/>
                    <a:pt x="0" y="0"/>
                  </a:cubicBezTo>
                  <a:lnTo>
                    <a:pt x="465"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49" name="Freeform 6">
              <a:extLst>
                <a:ext uri="{FF2B5EF4-FFF2-40B4-BE49-F238E27FC236}">
                  <a16:creationId xmlns:a16="http://schemas.microsoft.com/office/drawing/2014/main" id="{853178F1-F0AF-6240-8FB2-09BC14B17DBA}"/>
                </a:ext>
              </a:extLst>
            </p:cNvPr>
            <p:cNvSpPr>
              <a:spLocks noChangeArrowheads="1"/>
            </p:cNvSpPr>
            <p:nvPr/>
          </p:nvSpPr>
          <p:spPr bwMode="auto">
            <a:xfrm>
              <a:off x="3854450" y="3275013"/>
              <a:ext cx="168275" cy="631825"/>
            </a:xfrm>
            <a:custGeom>
              <a:avLst/>
              <a:gdLst>
                <a:gd name="T0" fmla="*/ 233 w 466"/>
                <a:gd name="T1" fmla="*/ 1754 h 1755"/>
                <a:gd name="T2" fmla="*/ 0 w 466"/>
                <a:gd name="T3" fmla="*/ 1754 h 1755"/>
                <a:gd name="T4" fmla="*/ 0 w 466"/>
                <a:gd name="T5" fmla="*/ 0 h 1755"/>
                <a:gd name="T6" fmla="*/ 465 w 466"/>
                <a:gd name="T7" fmla="*/ 0 h 1755"/>
                <a:gd name="T8" fmla="*/ 465 w 466"/>
                <a:gd name="T9" fmla="*/ 1754 h 1755"/>
                <a:gd name="T10" fmla="*/ 233 w 466"/>
                <a:gd name="T11" fmla="*/ 1754 h 1755"/>
              </a:gdLst>
              <a:ahLst/>
              <a:cxnLst>
                <a:cxn ang="0">
                  <a:pos x="T0" y="T1"/>
                </a:cxn>
                <a:cxn ang="0">
                  <a:pos x="T2" y="T3"/>
                </a:cxn>
                <a:cxn ang="0">
                  <a:pos x="T4" y="T5"/>
                </a:cxn>
                <a:cxn ang="0">
                  <a:pos x="T6" y="T7"/>
                </a:cxn>
                <a:cxn ang="0">
                  <a:pos x="T8" y="T9"/>
                </a:cxn>
                <a:cxn ang="0">
                  <a:pos x="T10" y="T11"/>
                </a:cxn>
              </a:cxnLst>
              <a:rect l="0" t="0" r="r" b="b"/>
              <a:pathLst>
                <a:path w="466" h="1755">
                  <a:moveTo>
                    <a:pt x="233" y="1754"/>
                  </a:moveTo>
                  <a:lnTo>
                    <a:pt x="0" y="1754"/>
                  </a:lnTo>
                  <a:lnTo>
                    <a:pt x="0" y="0"/>
                  </a:lnTo>
                  <a:lnTo>
                    <a:pt x="465" y="0"/>
                  </a:lnTo>
                  <a:lnTo>
                    <a:pt x="465" y="1754"/>
                  </a:lnTo>
                  <a:lnTo>
                    <a:pt x="233" y="1754"/>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50" name="Freeform 7">
              <a:extLst>
                <a:ext uri="{FF2B5EF4-FFF2-40B4-BE49-F238E27FC236}">
                  <a16:creationId xmlns:a16="http://schemas.microsoft.com/office/drawing/2014/main" id="{587CA836-2BC9-604B-8F93-B6FA817F991A}"/>
                </a:ext>
              </a:extLst>
            </p:cNvPr>
            <p:cNvSpPr>
              <a:spLocks noChangeArrowheads="1"/>
            </p:cNvSpPr>
            <p:nvPr/>
          </p:nvSpPr>
          <p:spPr bwMode="auto">
            <a:xfrm>
              <a:off x="5383213" y="3262313"/>
              <a:ext cx="715962" cy="663575"/>
            </a:xfrm>
            <a:custGeom>
              <a:avLst/>
              <a:gdLst>
                <a:gd name="T0" fmla="*/ 62 w 1988"/>
                <a:gd name="T1" fmla="*/ 1307 h 1842"/>
                <a:gd name="T2" fmla="*/ 0 w 1988"/>
                <a:gd name="T3" fmla="*/ 933 h 1842"/>
                <a:gd name="T4" fmla="*/ 120 w 1988"/>
                <a:gd name="T5" fmla="*/ 423 h 1842"/>
                <a:gd name="T6" fmla="*/ 518 w 1988"/>
                <a:gd name="T7" fmla="*/ 91 h 1842"/>
                <a:gd name="T8" fmla="*/ 1033 w 1988"/>
                <a:gd name="T9" fmla="*/ 0 h 1842"/>
                <a:gd name="T10" fmla="*/ 1618 w 1988"/>
                <a:gd name="T11" fmla="*/ 125 h 1842"/>
                <a:gd name="T12" fmla="*/ 1950 w 1988"/>
                <a:gd name="T13" fmla="*/ 531 h 1842"/>
                <a:gd name="T14" fmla="*/ 1966 w 1988"/>
                <a:gd name="T15" fmla="*/ 643 h 1842"/>
                <a:gd name="T16" fmla="*/ 1481 w 1988"/>
                <a:gd name="T17" fmla="*/ 643 h 1842"/>
                <a:gd name="T18" fmla="*/ 1456 w 1988"/>
                <a:gd name="T19" fmla="*/ 506 h 1842"/>
                <a:gd name="T20" fmla="*/ 1240 w 1988"/>
                <a:gd name="T21" fmla="*/ 303 h 1842"/>
                <a:gd name="T22" fmla="*/ 1037 w 1988"/>
                <a:gd name="T23" fmla="*/ 274 h 1842"/>
                <a:gd name="T24" fmla="*/ 809 w 1988"/>
                <a:gd name="T25" fmla="*/ 315 h 1842"/>
                <a:gd name="T26" fmla="*/ 556 w 1988"/>
                <a:gd name="T27" fmla="*/ 573 h 1842"/>
                <a:gd name="T28" fmla="*/ 494 w 1988"/>
                <a:gd name="T29" fmla="*/ 942 h 1842"/>
                <a:gd name="T30" fmla="*/ 539 w 1988"/>
                <a:gd name="T31" fmla="*/ 1249 h 1842"/>
                <a:gd name="T32" fmla="*/ 792 w 1988"/>
                <a:gd name="T33" fmla="*/ 1527 h 1842"/>
                <a:gd name="T34" fmla="*/ 1041 w 1988"/>
                <a:gd name="T35" fmla="*/ 1572 h 1842"/>
                <a:gd name="T36" fmla="*/ 1257 w 1988"/>
                <a:gd name="T37" fmla="*/ 1539 h 1842"/>
                <a:gd name="T38" fmla="*/ 1460 w 1988"/>
                <a:gd name="T39" fmla="*/ 1356 h 1842"/>
                <a:gd name="T40" fmla="*/ 1497 w 1988"/>
                <a:gd name="T41" fmla="*/ 1170 h 1842"/>
                <a:gd name="T42" fmla="*/ 1987 w 1988"/>
                <a:gd name="T43" fmla="*/ 1170 h 1842"/>
                <a:gd name="T44" fmla="*/ 1962 w 1988"/>
                <a:gd name="T45" fmla="*/ 1336 h 1842"/>
                <a:gd name="T46" fmla="*/ 1638 w 1988"/>
                <a:gd name="T47" fmla="*/ 1721 h 1842"/>
                <a:gd name="T48" fmla="*/ 1041 w 1988"/>
                <a:gd name="T49" fmla="*/ 1841 h 1842"/>
                <a:gd name="T50" fmla="*/ 568 w 1988"/>
                <a:gd name="T51" fmla="*/ 1771 h 1842"/>
                <a:gd name="T52" fmla="*/ 62 w 1988"/>
                <a:gd name="T53" fmla="*/ 1307 h 18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988" h="1842">
                  <a:moveTo>
                    <a:pt x="62" y="1307"/>
                  </a:moveTo>
                  <a:cubicBezTo>
                    <a:pt x="21" y="1191"/>
                    <a:pt x="0" y="1066"/>
                    <a:pt x="0" y="933"/>
                  </a:cubicBezTo>
                  <a:cubicBezTo>
                    <a:pt x="0" y="751"/>
                    <a:pt x="33" y="573"/>
                    <a:pt x="120" y="423"/>
                  </a:cubicBezTo>
                  <a:cubicBezTo>
                    <a:pt x="211" y="270"/>
                    <a:pt x="348" y="154"/>
                    <a:pt x="518" y="91"/>
                  </a:cubicBezTo>
                  <a:cubicBezTo>
                    <a:pt x="680" y="33"/>
                    <a:pt x="850" y="0"/>
                    <a:pt x="1033" y="0"/>
                  </a:cubicBezTo>
                  <a:cubicBezTo>
                    <a:pt x="1240" y="0"/>
                    <a:pt x="1439" y="46"/>
                    <a:pt x="1618" y="125"/>
                  </a:cubicBezTo>
                  <a:cubicBezTo>
                    <a:pt x="1784" y="195"/>
                    <a:pt x="1912" y="349"/>
                    <a:pt x="1950" y="531"/>
                  </a:cubicBezTo>
                  <a:cubicBezTo>
                    <a:pt x="1958" y="568"/>
                    <a:pt x="1962" y="606"/>
                    <a:pt x="1966" y="643"/>
                  </a:cubicBezTo>
                  <a:lnTo>
                    <a:pt x="1481" y="643"/>
                  </a:lnTo>
                  <a:cubicBezTo>
                    <a:pt x="1481" y="597"/>
                    <a:pt x="1472" y="552"/>
                    <a:pt x="1456" y="506"/>
                  </a:cubicBezTo>
                  <a:cubicBezTo>
                    <a:pt x="1419" y="411"/>
                    <a:pt x="1340" y="332"/>
                    <a:pt x="1240" y="303"/>
                  </a:cubicBezTo>
                  <a:cubicBezTo>
                    <a:pt x="1174" y="282"/>
                    <a:pt x="1107" y="274"/>
                    <a:pt x="1037" y="274"/>
                  </a:cubicBezTo>
                  <a:cubicBezTo>
                    <a:pt x="958" y="274"/>
                    <a:pt x="879" y="286"/>
                    <a:pt x="809" y="315"/>
                  </a:cubicBezTo>
                  <a:cubicBezTo>
                    <a:pt x="688" y="357"/>
                    <a:pt x="597" y="452"/>
                    <a:pt x="556" y="573"/>
                  </a:cubicBezTo>
                  <a:cubicBezTo>
                    <a:pt x="514" y="689"/>
                    <a:pt x="494" y="813"/>
                    <a:pt x="494" y="942"/>
                  </a:cubicBezTo>
                  <a:cubicBezTo>
                    <a:pt x="494" y="1050"/>
                    <a:pt x="510" y="1153"/>
                    <a:pt x="539" y="1249"/>
                  </a:cubicBezTo>
                  <a:cubicBezTo>
                    <a:pt x="572" y="1377"/>
                    <a:pt x="672" y="1481"/>
                    <a:pt x="792" y="1527"/>
                  </a:cubicBezTo>
                  <a:cubicBezTo>
                    <a:pt x="871" y="1556"/>
                    <a:pt x="954" y="1572"/>
                    <a:pt x="1041" y="1572"/>
                  </a:cubicBezTo>
                  <a:cubicBezTo>
                    <a:pt x="1116" y="1572"/>
                    <a:pt x="1186" y="1560"/>
                    <a:pt x="1257" y="1539"/>
                  </a:cubicBezTo>
                  <a:cubicBezTo>
                    <a:pt x="1348" y="1510"/>
                    <a:pt x="1423" y="1444"/>
                    <a:pt x="1460" y="1356"/>
                  </a:cubicBezTo>
                  <a:cubicBezTo>
                    <a:pt x="1485" y="1298"/>
                    <a:pt x="1497" y="1236"/>
                    <a:pt x="1497" y="1170"/>
                  </a:cubicBezTo>
                  <a:lnTo>
                    <a:pt x="1987" y="1170"/>
                  </a:lnTo>
                  <a:cubicBezTo>
                    <a:pt x="1983" y="1228"/>
                    <a:pt x="1974" y="1282"/>
                    <a:pt x="1962" y="1336"/>
                  </a:cubicBezTo>
                  <a:cubicBezTo>
                    <a:pt x="1920" y="1510"/>
                    <a:pt x="1800" y="1655"/>
                    <a:pt x="1638" y="1721"/>
                  </a:cubicBezTo>
                  <a:cubicBezTo>
                    <a:pt x="1456" y="1800"/>
                    <a:pt x="1253" y="1841"/>
                    <a:pt x="1041" y="1841"/>
                  </a:cubicBezTo>
                  <a:cubicBezTo>
                    <a:pt x="875" y="1841"/>
                    <a:pt x="718" y="1817"/>
                    <a:pt x="568" y="1771"/>
                  </a:cubicBezTo>
                  <a:cubicBezTo>
                    <a:pt x="336" y="1692"/>
                    <a:pt x="137" y="1527"/>
                    <a:pt x="62" y="1307"/>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51" name="Freeform 8">
              <a:extLst>
                <a:ext uri="{FF2B5EF4-FFF2-40B4-BE49-F238E27FC236}">
                  <a16:creationId xmlns:a16="http://schemas.microsoft.com/office/drawing/2014/main" id="{9BEF782E-D5DE-734F-9C51-AB343EB194F6}"/>
                </a:ext>
              </a:extLst>
            </p:cNvPr>
            <p:cNvSpPr>
              <a:spLocks noChangeArrowheads="1"/>
            </p:cNvSpPr>
            <p:nvPr/>
          </p:nvSpPr>
          <p:spPr bwMode="auto">
            <a:xfrm>
              <a:off x="2751138" y="4083050"/>
              <a:ext cx="153987" cy="398463"/>
            </a:xfrm>
            <a:custGeom>
              <a:avLst/>
              <a:gdLst>
                <a:gd name="T0" fmla="*/ 415 w 428"/>
                <a:gd name="T1" fmla="*/ 0 h 1109"/>
                <a:gd name="T2" fmla="*/ 0 w 428"/>
                <a:gd name="T3" fmla="*/ 38 h 1109"/>
                <a:gd name="T4" fmla="*/ 0 w 428"/>
                <a:gd name="T5" fmla="*/ 100 h 1109"/>
                <a:gd name="T6" fmla="*/ 12 w 428"/>
                <a:gd name="T7" fmla="*/ 100 h 1109"/>
                <a:gd name="T8" fmla="*/ 178 w 428"/>
                <a:gd name="T9" fmla="*/ 241 h 1109"/>
                <a:gd name="T10" fmla="*/ 178 w 428"/>
                <a:gd name="T11" fmla="*/ 1108 h 1109"/>
                <a:gd name="T12" fmla="*/ 427 w 428"/>
                <a:gd name="T13" fmla="*/ 1108 h 1109"/>
                <a:gd name="T14" fmla="*/ 427 w 428"/>
                <a:gd name="T15" fmla="*/ 0 h 1109"/>
                <a:gd name="T16" fmla="*/ 415 w 428"/>
                <a:gd name="T17" fmla="*/ 0 h 1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28" h="1109">
                  <a:moveTo>
                    <a:pt x="415" y="0"/>
                  </a:moveTo>
                  <a:lnTo>
                    <a:pt x="0" y="38"/>
                  </a:lnTo>
                  <a:lnTo>
                    <a:pt x="0" y="100"/>
                  </a:lnTo>
                  <a:lnTo>
                    <a:pt x="12" y="100"/>
                  </a:lnTo>
                  <a:cubicBezTo>
                    <a:pt x="178" y="121"/>
                    <a:pt x="178" y="121"/>
                    <a:pt x="178" y="241"/>
                  </a:cubicBezTo>
                  <a:lnTo>
                    <a:pt x="178" y="1108"/>
                  </a:lnTo>
                  <a:lnTo>
                    <a:pt x="427" y="1108"/>
                  </a:lnTo>
                  <a:lnTo>
                    <a:pt x="427" y="0"/>
                  </a:lnTo>
                  <a:lnTo>
                    <a:pt x="415"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52" name="Freeform 9">
              <a:extLst>
                <a:ext uri="{FF2B5EF4-FFF2-40B4-BE49-F238E27FC236}">
                  <a16:creationId xmlns:a16="http://schemas.microsoft.com/office/drawing/2014/main" id="{0C8F20BF-80B8-AA43-8103-58006CF5B9E1}"/>
                </a:ext>
              </a:extLst>
            </p:cNvPr>
            <p:cNvSpPr>
              <a:spLocks noChangeArrowheads="1"/>
            </p:cNvSpPr>
            <p:nvPr/>
          </p:nvSpPr>
          <p:spPr bwMode="auto">
            <a:xfrm>
              <a:off x="2986088" y="4198938"/>
              <a:ext cx="315912" cy="282575"/>
            </a:xfrm>
            <a:custGeom>
              <a:avLst/>
              <a:gdLst>
                <a:gd name="T0" fmla="*/ 643 w 876"/>
                <a:gd name="T1" fmla="*/ 4 h 785"/>
                <a:gd name="T2" fmla="*/ 353 w 876"/>
                <a:gd name="T3" fmla="*/ 170 h 785"/>
                <a:gd name="T4" fmla="*/ 353 w 876"/>
                <a:gd name="T5" fmla="*/ 0 h 785"/>
                <a:gd name="T6" fmla="*/ 336 w 876"/>
                <a:gd name="T7" fmla="*/ 4 h 785"/>
                <a:gd name="T8" fmla="*/ 0 w 876"/>
                <a:gd name="T9" fmla="*/ 58 h 785"/>
                <a:gd name="T10" fmla="*/ 0 w 876"/>
                <a:gd name="T11" fmla="*/ 116 h 785"/>
                <a:gd name="T12" fmla="*/ 17 w 876"/>
                <a:gd name="T13" fmla="*/ 116 h 785"/>
                <a:gd name="T14" fmla="*/ 145 w 876"/>
                <a:gd name="T15" fmla="*/ 240 h 785"/>
                <a:gd name="T16" fmla="*/ 145 w 876"/>
                <a:gd name="T17" fmla="*/ 784 h 785"/>
                <a:gd name="T18" fmla="*/ 353 w 876"/>
                <a:gd name="T19" fmla="*/ 784 h 785"/>
                <a:gd name="T20" fmla="*/ 353 w 876"/>
                <a:gd name="T21" fmla="*/ 386 h 785"/>
                <a:gd name="T22" fmla="*/ 560 w 876"/>
                <a:gd name="T23" fmla="*/ 141 h 785"/>
                <a:gd name="T24" fmla="*/ 664 w 876"/>
                <a:gd name="T25" fmla="*/ 361 h 785"/>
                <a:gd name="T26" fmla="*/ 664 w 876"/>
                <a:gd name="T27" fmla="*/ 784 h 785"/>
                <a:gd name="T28" fmla="*/ 871 w 876"/>
                <a:gd name="T29" fmla="*/ 784 h 785"/>
                <a:gd name="T30" fmla="*/ 871 w 876"/>
                <a:gd name="T31" fmla="*/ 240 h 785"/>
                <a:gd name="T32" fmla="*/ 643 w 876"/>
                <a:gd name="T33" fmla="*/ 4 h 7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76" h="785">
                  <a:moveTo>
                    <a:pt x="643" y="4"/>
                  </a:moveTo>
                  <a:cubicBezTo>
                    <a:pt x="490" y="4"/>
                    <a:pt x="398" y="108"/>
                    <a:pt x="353" y="170"/>
                  </a:cubicBezTo>
                  <a:cubicBezTo>
                    <a:pt x="353" y="112"/>
                    <a:pt x="353" y="0"/>
                    <a:pt x="353" y="0"/>
                  </a:cubicBezTo>
                  <a:lnTo>
                    <a:pt x="336" y="4"/>
                  </a:lnTo>
                  <a:lnTo>
                    <a:pt x="0" y="58"/>
                  </a:lnTo>
                  <a:lnTo>
                    <a:pt x="0" y="116"/>
                  </a:lnTo>
                  <a:lnTo>
                    <a:pt x="17" y="116"/>
                  </a:lnTo>
                  <a:cubicBezTo>
                    <a:pt x="124" y="120"/>
                    <a:pt x="145" y="141"/>
                    <a:pt x="145" y="240"/>
                  </a:cubicBezTo>
                  <a:lnTo>
                    <a:pt x="145" y="784"/>
                  </a:lnTo>
                  <a:lnTo>
                    <a:pt x="353" y="784"/>
                  </a:lnTo>
                  <a:lnTo>
                    <a:pt x="353" y="386"/>
                  </a:lnTo>
                  <a:cubicBezTo>
                    <a:pt x="353" y="278"/>
                    <a:pt x="452" y="141"/>
                    <a:pt x="560" y="141"/>
                  </a:cubicBezTo>
                  <a:cubicBezTo>
                    <a:pt x="660" y="141"/>
                    <a:pt x="664" y="224"/>
                    <a:pt x="664" y="361"/>
                  </a:cubicBezTo>
                  <a:lnTo>
                    <a:pt x="664" y="784"/>
                  </a:lnTo>
                  <a:lnTo>
                    <a:pt x="871" y="784"/>
                  </a:lnTo>
                  <a:lnTo>
                    <a:pt x="871" y="240"/>
                  </a:lnTo>
                  <a:cubicBezTo>
                    <a:pt x="875" y="87"/>
                    <a:pt x="792" y="4"/>
                    <a:pt x="643" y="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53" name="Freeform 10">
              <a:extLst>
                <a:ext uri="{FF2B5EF4-FFF2-40B4-BE49-F238E27FC236}">
                  <a16:creationId xmlns:a16="http://schemas.microsoft.com/office/drawing/2014/main" id="{5B65AB5A-E732-2349-89E5-B07E524928B0}"/>
                </a:ext>
              </a:extLst>
            </p:cNvPr>
            <p:cNvSpPr>
              <a:spLocks noChangeArrowheads="1"/>
            </p:cNvSpPr>
            <p:nvPr/>
          </p:nvSpPr>
          <p:spPr bwMode="auto">
            <a:xfrm>
              <a:off x="3386138" y="4200525"/>
              <a:ext cx="212725" cy="288925"/>
            </a:xfrm>
            <a:custGeom>
              <a:avLst/>
              <a:gdLst>
                <a:gd name="T0" fmla="*/ 348 w 590"/>
                <a:gd name="T1" fmla="*/ 303 h 802"/>
                <a:gd name="T2" fmla="*/ 195 w 590"/>
                <a:gd name="T3" fmla="*/ 170 h 802"/>
                <a:gd name="T4" fmla="*/ 307 w 590"/>
                <a:gd name="T5" fmla="*/ 100 h 802"/>
                <a:gd name="T6" fmla="*/ 502 w 590"/>
                <a:gd name="T7" fmla="*/ 166 h 802"/>
                <a:gd name="T8" fmla="*/ 535 w 590"/>
                <a:gd name="T9" fmla="*/ 187 h 802"/>
                <a:gd name="T10" fmla="*/ 535 w 590"/>
                <a:gd name="T11" fmla="*/ 162 h 802"/>
                <a:gd name="T12" fmla="*/ 535 w 590"/>
                <a:gd name="T13" fmla="*/ 33 h 802"/>
                <a:gd name="T14" fmla="*/ 506 w 590"/>
                <a:gd name="T15" fmla="*/ 25 h 802"/>
                <a:gd name="T16" fmla="*/ 315 w 590"/>
                <a:gd name="T17" fmla="*/ 0 h 802"/>
                <a:gd name="T18" fmla="*/ 0 w 590"/>
                <a:gd name="T19" fmla="*/ 224 h 802"/>
                <a:gd name="T20" fmla="*/ 228 w 590"/>
                <a:gd name="T21" fmla="*/ 465 h 802"/>
                <a:gd name="T22" fmla="*/ 390 w 590"/>
                <a:gd name="T23" fmla="*/ 606 h 802"/>
                <a:gd name="T24" fmla="*/ 249 w 590"/>
                <a:gd name="T25" fmla="*/ 697 h 802"/>
                <a:gd name="T26" fmla="*/ 20 w 590"/>
                <a:gd name="T27" fmla="*/ 618 h 802"/>
                <a:gd name="T28" fmla="*/ 0 w 590"/>
                <a:gd name="T29" fmla="*/ 606 h 802"/>
                <a:gd name="T30" fmla="*/ 0 w 590"/>
                <a:gd name="T31" fmla="*/ 767 h 802"/>
                <a:gd name="T32" fmla="*/ 16 w 590"/>
                <a:gd name="T33" fmla="*/ 771 h 802"/>
                <a:gd name="T34" fmla="*/ 244 w 590"/>
                <a:gd name="T35" fmla="*/ 801 h 802"/>
                <a:gd name="T36" fmla="*/ 580 w 590"/>
                <a:gd name="T37" fmla="*/ 568 h 802"/>
                <a:gd name="T38" fmla="*/ 348 w 590"/>
                <a:gd name="T39" fmla="*/ 303 h 8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590" h="802">
                  <a:moveTo>
                    <a:pt x="348" y="303"/>
                  </a:moveTo>
                  <a:cubicBezTo>
                    <a:pt x="265" y="261"/>
                    <a:pt x="195" y="228"/>
                    <a:pt x="195" y="170"/>
                  </a:cubicBezTo>
                  <a:cubicBezTo>
                    <a:pt x="195" y="104"/>
                    <a:pt x="274" y="100"/>
                    <a:pt x="307" y="100"/>
                  </a:cubicBezTo>
                  <a:cubicBezTo>
                    <a:pt x="394" y="100"/>
                    <a:pt x="468" y="145"/>
                    <a:pt x="502" y="166"/>
                  </a:cubicBezTo>
                  <a:lnTo>
                    <a:pt x="535" y="187"/>
                  </a:lnTo>
                  <a:lnTo>
                    <a:pt x="535" y="162"/>
                  </a:lnTo>
                  <a:lnTo>
                    <a:pt x="535" y="33"/>
                  </a:lnTo>
                  <a:lnTo>
                    <a:pt x="506" y="25"/>
                  </a:lnTo>
                  <a:cubicBezTo>
                    <a:pt x="468" y="17"/>
                    <a:pt x="398" y="0"/>
                    <a:pt x="315" y="0"/>
                  </a:cubicBezTo>
                  <a:cubicBezTo>
                    <a:pt x="120" y="0"/>
                    <a:pt x="0" y="83"/>
                    <a:pt x="0" y="224"/>
                  </a:cubicBezTo>
                  <a:cubicBezTo>
                    <a:pt x="0" y="353"/>
                    <a:pt x="124" y="411"/>
                    <a:pt x="228" y="465"/>
                  </a:cubicBezTo>
                  <a:cubicBezTo>
                    <a:pt x="311" y="506"/>
                    <a:pt x="390" y="543"/>
                    <a:pt x="390" y="606"/>
                  </a:cubicBezTo>
                  <a:cubicBezTo>
                    <a:pt x="390" y="664"/>
                    <a:pt x="340" y="697"/>
                    <a:pt x="249" y="697"/>
                  </a:cubicBezTo>
                  <a:cubicBezTo>
                    <a:pt x="149" y="697"/>
                    <a:pt x="70" y="647"/>
                    <a:pt x="20" y="618"/>
                  </a:cubicBezTo>
                  <a:lnTo>
                    <a:pt x="0" y="606"/>
                  </a:lnTo>
                  <a:lnTo>
                    <a:pt x="0" y="767"/>
                  </a:lnTo>
                  <a:lnTo>
                    <a:pt x="16" y="771"/>
                  </a:lnTo>
                  <a:cubicBezTo>
                    <a:pt x="58" y="780"/>
                    <a:pt x="137" y="801"/>
                    <a:pt x="244" y="801"/>
                  </a:cubicBezTo>
                  <a:cubicBezTo>
                    <a:pt x="456" y="801"/>
                    <a:pt x="580" y="713"/>
                    <a:pt x="580" y="568"/>
                  </a:cubicBezTo>
                  <a:cubicBezTo>
                    <a:pt x="589" y="419"/>
                    <a:pt x="460" y="357"/>
                    <a:pt x="348" y="30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54" name="Freeform 11">
              <a:extLst>
                <a:ext uri="{FF2B5EF4-FFF2-40B4-BE49-F238E27FC236}">
                  <a16:creationId xmlns:a16="http://schemas.microsoft.com/office/drawing/2014/main" id="{18907CF9-1658-E045-9ADF-2C0EB3806774}"/>
                </a:ext>
              </a:extLst>
            </p:cNvPr>
            <p:cNvSpPr>
              <a:spLocks noChangeArrowheads="1"/>
            </p:cNvSpPr>
            <p:nvPr/>
          </p:nvSpPr>
          <p:spPr bwMode="auto">
            <a:xfrm>
              <a:off x="3635375" y="4198938"/>
              <a:ext cx="325438" cy="396875"/>
            </a:xfrm>
            <a:custGeom>
              <a:avLst/>
              <a:gdLst>
                <a:gd name="T0" fmla="*/ 577 w 906"/>
                <a:gd name="T1" fmla="*/ 4 h 1104"/>
                <a:gd name="T2" fmla="*/ 357 w 906"/>
                <a:gd name="T3" fmla="*/ 112 h 1104"/>
                <a:gd name="T4" fmla="*/ 357 w 906"/>
                <a:gd name="T5" fmla="*/ 0 h 1104"/>
                <a:gd name="T6" fmla="*/ 336 w 906"/>
                <a:gd name="T7" fmla="*/ 4 h 1104"/>
                <a:gd name="T8" fmla="*/ 0 w 906"/>
                <a:gd name="T9" fmla="*/ 58 h 1104"/>
                <a:gd name="T10" fmla="*/ 0 w 906"/>
                <a:gd name="T11" fmla="*/ 116 h 1104"/>
                <a:gd name="T12" fmla="*/ 13 w 906"/>
                <a:gd name="T13" fmla="*/ 116 h 1104"/>
                <a:gd name="T14" fmla="*/ 137 w 906"/>
                <a:gd name="T15" fmla="*/ 240 h 1104"/>
                <a:gd name="T16" fmla="*/ 137 w 906"/>
                <a:gd name="T17" fmla="*/ 1103 h 1104"/>
                <a:gd name="T18" fmla="*/ 345 w 906"/>
                <a:gd name="T19" fmla="*/ 1103 h 1104"/>
                <a:gd name="T20" fmla="*/ 345 w 906"/>
                <a:gd name="T21" fmla="*/ 709 h 1104"/>
                <a:gd name="T22" fmla="*/ 560 w 906"/>
                <a:gd name="T23" fmla="*/ 800 h 1104"/>
                <a:gd name="T24" fmla="*/ 896 w 906"/>
                <a:gd name="T25" fmla="*/ 390 h 1104"/>
                <a:gd name="T26" fmla="*/ 577 w 906"/>
                <a:gd name="T27" fmla="*/ 4 h 1104"/>
                <a:gd name="T28" fmla="*/ 515 w 906"/>
                <a:gd name="T29" fmla="*/ 120 h 1104"/>
                <a:gd name="T30" fmla="*/ 672 w 906"/>
                <a:gd name="T31" fmla="*/ 394 h 1104"/>
                <a:gd name="T32" fmla="*/ 515 w 906"/>
                <a:gd name="T33" fmla="*/ 688 h 1104"/>
                <a:gd name="T34" fmla="*/ 349 w 906"/>
                <a:gd name="T35" fmla="*/ 456 h 1104"/>
                <a:gd name="T36" fmla="*/ 349 w 906"/>
                <a:gd name="T37" fmla="*/ 390 h 1104"/>
                <a:gd name="T38" fmla="*/ 515 w 906"/>
                <a:gd name="T39" fmla="*/ 120 h 1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906" h="1104">
                  <a:moveTo>
                    <a:pt x="577" y="4"/>
                  </a:moveTo>
                  <a:cubicBezTo>
                    <a:pt x="498" y="4"/>
                    <a:pt x="424" y="41"/>
                    <a:pt x="357" y="112"/>
                  </a:cubicBezTo>
                  <a:cubicBezTo>
                    <a:pt x="357" y="75"/>
                    <a:pt x="357" y="0"/>
                    <a:pt x="357" y="0"/>
                  </a:cubicBezTo>
                  <a:lnTo>
                    <a:pt x="336" y="4"/>
                  </a:lnTo>
                  <a:lnTo>
                    <a:pt x="0" y="58"/>
                  </a:lnTo>
                  <a:lnTo>
                    <a:pt x="0" y="116"/>
                  </a:lnTo>
                  <a:lnTo>
                    <a:pt x="13" y="116"/>
                  </a:lnTo>
                  <a:cubicBezTo>
                    <a:pt x="117" y="120"/>
                    <a:pt x="137" y="141"/>
                    <a:pt x="137" y="240"/>
                  </a:cubicBezTo>
                  <a:lnTo>
                    <a:pt x="137" y="1103"/>
                  </a:lnTo>
                  <a:lnTo>
                    <a:pt x="345" y="1103"/>
                  </a:lnTo>
                  <a:cubicBezTo>
                    <a:pt x="345" y="1103"/>
                    <a:pt x="345" y="775"/>
                    <a:pt x="345" y="709"/>
                  </a:cubicBezTo>
                  <a:cubicBezTo>
                    <a:pt x="382" y="755"/>
                    <a:pt x="444" y="800"/>
                    <a:pt x="560" y="800"/>
                  </a:cubicBezTo>
                  <a:cubicBezTo>
                    <a:pt x="780" y="800"/>
                    <a:pt x="896" y="659"/>
                    <a:pt x="896" y="390"/>
                  </a:cubicBezTo>
                  <a:cubicBezTo>
                    <a:pt x="905" y="145"/>
                    <a:pt x="784" y="4"/>
                    <a:pt x="577" y="4"/>
                  </a:cubicBezTo>
                  <a:close/>
                  <a:moveTo>
                    <a:pt x="515" y="120"/>
                  </a:moveTo>
                  <a:cubicBezTo>
                    <a:pt x="656" y="120"/>
                    <a:pt x="672" y="274"/>
                    <a:pt x="672" y="394"/>
                  </a:cubicBezTo>
                  <a:cubicBezTo>
                    <a:pt x="672" y="593"/>
                    <a:pt x="623" y="688"/>
                    <a:pt x="515" y="688"/>
                  </a:cubicBezTo>
                  <a:cubicBezTo>
                    <a:pt x="378" y="688"/>
                    <a:pt x="349" y="560"/>
                    <a:pt x="349" y="456"/>
                  </a:cubicBezTo>
                  <a:lnTo>
                    <a:pt x="349" y="390"/>
                  </a:lnTo>
                  <a:cubicBezTo>
                    <a:pt x="353" y="307"/>
                    <a:pt x="370" y="120"/>
                    <a:pt x="515" y="120"/>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55" name="Freeform 12">
              <a:extLst>
                <a:ext uri="{FF2B5EF4-FFF2-40B4-BE49-F238E27FC236}">
                  <a16:creationId xmlns:a16="http://schemas.microsoft.com/office/drawing/2014/main" id="{6582D328-B23E-7E45-9263-09C953540134}"/>
                </a:ext>
              </a:extLst>
            </p:cNvPr>
            <p:cNvSpPr>
              <a:spLocks noChangeArrowheads="1"/>
            </p:cNvSpPr>
            <p:nvPr/>
          </p:nvSpPr>
          <p:spPr bwMode="auto">
            <a:xfrm>
              <a:off x="4013200" y="4198938"/>
              <a:ext cx="123825" cy="282575"/>
            </a:xfrm>
            <a:custGeom>
              <a:avLst/>
              <a:gdLst>
                <a:gd name="T0" fmla="*/ 0 w 345"/>
                <a:gd name="T1" fmla="*/ 58 h 785"/>
                <a:gd name="T2" fmla="*/ 0 w 345"/>
                <a:gd name="T3" fmla="*/ 116 h 785"/>
                <a:gd name="T4" fmla="*/ 12 w 345"/>
                <a:gd name="T5" fmla="*/ 116 h 785"/>
                <a:gd name="T6" fmla="*/ 137 w 345"/>
                <a:gd name="T7" fmla="*/ 240 h 785"/>
                <a:gd name="T8" fmla="*/ 137 w 345"/>
                <a:gd name="T9" fmla="*/ 784 h 785"/>
                <a:gd name="T10" fmla="*/ 344 w 345"/>
                <a:gd name="T11" fmla="*/ 784 h 785"/>
                <a:gd name="T12" fmla="*/ 344 w 345"/>
                <a:gd name="T13" fmla="*/ 0 h 785"/>
                <a:gd name="T14" fmla="*/ 328 w 345"/>
                <a:gd name="T15" fmla="*/ 4 h 785"/>
                <a:gd name="T16" fmla="*/ 0 w 345"/>
                <a:gd name="T17" fmla="*/ 58 h 7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45" h="785">
                  <a:moveTo>
                    <a:pt x="0" y="58"/>
                  </a:moveTo>
                  <a:lnTo>
                    <a:pt x="0" y="116"/>
                  </a:lnTo>
                  <a:lnTo>
                    <a:pt x="12" y="116"/>
                  </a:lnTo>
                  <a:cubicBezTo>
                    <a:pt x="116" y="120"/>
                    <a:pt x="137" y="141"/>
                    <a:pt x="137" y="240"/>
                  </a:cubicBezTo>
                  <a:lnTo>
                    <a:pt x="137" y="784"/>
                  </a:lnTo>
                  <a:lnTo>
                    <a:pt x="344" y="784"/>
                  </a:lnTo>
                  <a:lnTo>
                    <a:pt x="344" y="0"/>
                  </a:lnTo>
                  <a:lnTo>
                    <a:pt x="328" y="4"/>
                  </a:lnTo>
                  <a:lnTo>
                    <a:pt x="0" y="58"/>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59" name="Freeform 13">
              <a:extLst>
                <a:ext uri="{FF2B5EF4-FFF2-40B4-BE49-F238E27FC236}">
                  <a16:creationId xmlns:a16="http://schemas.microsoft.com/office/drawing/2014/main" id="{1C5D63DB-4DD9-2E40-B566-7E733EBF8861}"/>
                </a:ext>
              </a:extLst>
            </p:cNvPr>
            <p:cNvSpPr>
              <a:spLocks noChangeArrowheads="1"/>
            </p:cNvSpPr>
            <p:nvPr/>
          </p:nvSpPr>
          <p:spPr bwMode="auto">
            <a:xfrm>
              <a:off x="4056063" y="4084638"/>
              <a:ext cx="93662" cy="82550"/>
            </a:xfrm>
            <a:custGeom>
              <a:avLst/>
              <a:gdLst>
                <a:gd name="T0" fmla="*/ 129 w 262"/>
                <a:gd name="T1" fmla="*/ 228 h 229"/>
                <a:gd name="T2" fmla="*/ 261 w 262"/>
                <a:gd name="T3" fmla="*/ 112 h 229"/>
                <a:gd name="T4" fmla="*/ 133 w 262"/>
                <a:gd name="T5" fmla="*/ 0 h 229"/>
                <a:gd name="T6" fmla="*/ 4 w 262"/>
                <a:gd name="T7" fmla="*/ 112 h 229"/>
                <a:gd name="T8" fmla="*/ 129 w 262"/>
                <a:gd name="T9" fmla="*/ 228 h 229"/>
              </a:gdLst>
              <a:ahLst/>
              <a:cxnLst>
                <a:cxn ang="0">
                  <a:pos x="T0" y="T1"/>
                </a:cxn>
                <a:cxn ang="0">
                  <a:pos x="T2" y="T3"/>
                </a:cxn>
                <a:cxn ang="0">
                  <a:pos x="T4" y="T5"/>
                </a:cxn>
                <a:cxn ang="0">
                  <a:pos x="T6" y="T7"/>
                </a:cxn>
                <a:cxn ang="0">
                  <a:pos x="T8" y="T9"/>
                </a:cxn>
              </a:cxnLst>
              <a:rect l="0" t="0" r="r" b="b"/>
              <a:pathLst>
                <a:path w="262" h="229">
                  <a:moveTo>
                    <a:pt x="129" y="228"/>
                  </a:moveTo>
                  <a:cubicBezTo>
                    <a:pt x="199" y="228"/>
                    <a:pt x="261" y="178"/>
                    <a:pt x="261" y="112"/>
                  </a:cubicBezTo>
                  <a:cubicBezTo>
                    <a:pt x="261" y="49"/>
                    <a:pt x="203" y="0"/>
                    <a:pt x="133" y="0"/>
                  </a:cubicBezTo>
                  <a:cubicBezTo>
                    <a:pt x="62" y="0"/>
                    <a:pt x="4" y="49"/>
                    <a:pt x="4" y="112"/>
                  </a:cubicBezTo>
                  <a:cubicBezTo>
                    <a:pt x="0" y="178"/>
                    <a:pt x="58" y="228"/>
                    <a:pt x="129" y="228"/>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60" name="Freeform 14">
              <a:extLst>
                <a:ext uri="{FF2B5EF4-FFF2-40B4-BE49-F238E27FC236}">
                  <a16:creationId xmlns:a16="http://schemas.microsoft.com/office/drawing/2014/main" id="{6CC37E30-3AA8-3A4D-938A-A8B8E7A953F9}"/>
                </a:ext>
              </a:extLst>
            </p:cNvPr>
            <p:cNvSpPr>
              <a:spLocks noChangeArrowheads="1"/>
            </p:cNvSpPr>
            <p:nvPr/>
          </p:nvSpPr>
          <p:spPr bwMode="auto">
            <a:xfrm>
              <a:off x="4211638" y="4200525"/>
              <a:ext cx="244475" cy="280988"/>
            </a:xfrm>
            <a:custGeom>
              <a:avLst/>
              <a:gdLst>
                <a:gd name="T0" fmla="*/ 676 w 677"/>
                <a:gd name="T1" fmla="*/ 174 h 781"/>
                <a:gd name="T2" fmla="*/ 676 w 677"/>
                <a:gd name="T3" fmla="*/ 12 h 781"/>
                <a:gd name="T4" fmla="*/ 663 w 677"/>
                <a:gd name="T5" fmla="*/ 12 h 781"/>
                <a:gd name="T6" fmla="*/ 564 w 677"/>
                <a:gd name="T7" fmla="*/ 4 h 781"/>
                <a:gd name="T8" fmla="*/ 348 w 677"/>
                <a:gd name="T9" fmla="*/ 158 h 781"/>
                <a:gd name="T10" fmla="*/ 348 w 677"/>
                <a:gd name="T11" fmla="*/ 0 h 781"/>
                <a:gd name="T12" fmla="*/ 331 w 677"/>
                <a:gd name="T13" fmla="*/ 0 h 781"/>
                <a:gd name="T14" fmla="*/ 0 w 677"/>
                <a:gd name="T15" fmla="*/ 54 h 781"/>
                <a:gd name="T16" fmla="*/ 0 w 677"/>
                <a:gd name="T17" fmla="*/ 112 h 781"/>
                <a:gd name="T18" fmla="*/ 12 w 677"/>
                <a:gd name="T19" fmla="*/ 112 h 781"/>
                <a:gd name="T20" fmla="*/ 141 w 677"/>
                <a:gd name="T21" fmla="*/ 236 h 781"/>
                <a:gd name="T22" fmla="*/ 141 w 677"/>
                <a:gd name="T23" fmla="*/ 780 h 781"/>
                <a:gd name="T24" fmla="*/ 348 w 677"/>
                <a:gd name="T25" fmla="*/ 780 h 781"/>
                <a:gd name="T26" fmla="*/ 348 w 677"/>
                <a:gd name="T27" fmla="*/ 390 h 781"/>
                <a:gd name="T28" fmla="*/ 568 w 677"/>
                <a:gd name="T29" fmla="*/ 170 h 781"/>
                <a:gd name="T30" fmla="*/ 643 w 677"/>
                <a:gd name="T31" fmla="*/ 183 h 781"/>
                <a:gd name="T32" fmla="*/ 676 w 677"/>
                <a:gd name="T33" fmla="*/ 191 h 781"/>
                <a:gd name="T34" fmla="*/ 676 w 677"/>
                <a:gd name="T35" fmla="*/ 174 h 7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77" h="781">
                  <a:moveTo>
                    <a:pt x="676" y="174"/>
                  </a:moveTo>
                  <a:lnTo>
                    <a:pt x="676" y="12"/>
                  </a:lnTo>
                  <a:lnTo>
                    <a:pt x="663" y="12"/>
                  </a:lnTo>
                  <a:cubicBezTo>
                    <a:pt x="630" y="8"/>
                    <a:pt x="593" y="4"/>
                    <a:pt x="564" y="4"/>
                  </a:cubicBezTo>
                  <a:cubicBezTo>
                    <a:pt x="443" y="4"/>
                    <a:pt x="381" y="91"/>
                    <a:pt x="348" y="158"/>
                  </a:cubicBezTo>
                  <a:cubicBezTo>
                    <a:pt x="348" y="95"/>
                    <a:pt x="348" y="0"/>
                    <a:pt x="348" y="0"/>
                  </a:cubicBezTo>
                  <a:lnTo>
                    <a:pt x="331" y="0"/>
                  </a:lnTo>
                  <a:lnTo>
                    <a:pt x="0" y="54"/>
                  </a:lnTo>
                  <a:lnTo>
                    <a:pt x="0" y="112"/>
                  </a:lnTo>
                  <a:lnTo>
                    <a:pt x="12" y="112"/>
                  </a:lnTo>
                  <a:cubicBezTo>
                    <a:pt x="116" y="116"/>
                    <a:pt x="141" y="137"/>
                    <a:pt x="141" y="236"/>
                  </a:cubicBezTo>
                  <a:lnTo>
                    <a:pt x="141" y="780"/>
                  </a:lnTo>
                  <a:lnTo>
                    <a:pt x="348" y="780"/>
                  </a:lnTo>
                  <a:lnTo>
                    <a:pt x="348" y="390"/>
                  </a:lnTo>
                  <a:cubicBezTo>
                    <a:pt x="348" y="324"/>
                    <a:pt x="369" y="170"/>
                    <a:pt x="568" y="170"/>
                  </a:cubicBezTo>
                  <a:cubicBezTo>
                    <a:pt x="593" y="170"/>
                    <a:pt x="618" y="178"/>
                    <a:pt x="643" y="183"/>
                  </a:cubicBezTo>
                  <a:lnTo>
                    <a:pt x="676" y="191"/>
                  </a:lnTo>
                  <a:lnTo>
                    <a:pt x="676" y="174"/>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61" name="Freeform 15">
              <a:extLst>
                <a:ext uri="{FF2B5EF4-FFF2-40B4-BE49-F238E27FC236}">
                  <a16:creationId xmlns:a16="http://schemas.microsoft.com/office/drawing/2014/main" id="{15F29EA2-8A57-A243-BA94-EEAE6BD449BC}"/>
                </a:ext>
              </a:extLst>
            </p:cNvPr>
            <p:cNvSpPr>
              <a:spLocks noChangeArrowheads="1"/>
            </p:cNvSpPr>
            <p:nvPr/>
          </p:nvSpPr>
          <p:spPr bwMode="auto">
            <a:xfrm>
              <a:off x="4486275" y="4200525"/>
              <a:ext cx="266700" cy="287338"/>
            </a:xfrm>
            <a:custGeom>
              <a:avLst/>
              <a:gdLst>
                <a:gd name="T0" fmla="*/ 738 w 743"/>
                <a:gd name="T1" fmla="*/ 315 h 797"/>
                <a:gd name="T2" fmla="*/ 390 w 743"/>
                <a:gd name="T3" fmla="*/ 0 h 797"/>
                <a:gd name="T4" fmla="*/ 0 w 743"/>
                <a:gd name="T5" fmla="*/ 373 h 797"/>
                <a:gd name="T6" fmla="*/ 456 w 743"/>
                <a:gd name="T7" fmla="*/ 796 h 797"/>
                <a:gd name="T8" fmla="*/ 713 w 743"/>
                <a:gd name="T9" fmla="*/ 755 h 797"/>
                <a:gd name="T10" fmla="*/ 726 w 743"/>
                <a:gd name="T11" fmla="*/ 751 h 797"/>
                <a:gd name="T12" fmla="*/ 726 w 743"/>
                <a:gd name="T13" fmla="*/ 651 h 797"/>
                <a:gd name="T14" fmla="*/ 705 w 743"/>
                <a:gd name="T15" fmla="*/ 660 h 797"/>
                <a:gd name="T16" fmla="*/ 543 w 743"/>
                <a:gd name="T17" fmla="*/ 684 h 797"/>
                <a:gd name="T18" fmla="*/ 232 w 743"/>
                <a:gd name="T19" fmla="*/ 332 h 797"/>
                <a:gd name="T20" fmla="*/ 742 w 743"/>
                <a:gd name="T21" fmla="*/ 332 h 797"/>
                <a:gd name="T22" fmla="*/ 742 w 743"/>
                <a:gd name="T23" fmla="*/ 315 h 797"/>
                <a:gd name="T24" fmla="*/ 738 w 743"/>
                <a:gd name="T25" fmla="*/ 315 h 797"/>
                <a:gd name="T26" fmla="*/ 386 w 743"/>
                <a:gd name="T27" fmla="*/ 83 h 797"/>
                <a:gd name="T28" fmla="*/ 531 w 743"/>
                <a:gd name="T29" fmla="*/ 236 h 797"/>
                <a:gd name="T30" fmla="*/ 228 w 743"/>
                <a:gd name="T31" fmla="*/ 236 h 797"/>
                <a:gd name="T32" fmla="*/ 386 w 743"/>
                <a:gd name="T33" fmla="*/ 83 h 7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743" h="797">
                  <a:moveTo>
                    <a:pt x="738" y="315"/>
                  </a:moveTo>
                  <a:cubicBezTo>
                    <a:pt x="738" y="104"/>
                    <a:pt x="622" y="0"/>
                    <a:pt x="390" y="0"/>
                  </a:cubicBezTo>
                  <a:cubicBezTo>
                    <a:pt x="128" y="0"/>
                    <a:pt x="0" y="124"/>
                    <a:pt x="0" y="373"/>
                  </a:cubicBezTo>
                  <a:cubicBezTo>
                    <a:pt x="0" y="639"/>
                    <a:pt x="170" y="796"/>
                    <a:pt x="456" y="796"/>
                  </a:cubicBezTo>
                  <a:cubicBezTo>
                    <a:pt x="581" y="796"/>
                    <a:pt x="676" y="763"/>
                    <a:pt x="713" y="755"/>
                  </a:cubicBezTo>
                  <a:lnTo>
                    <a:pt x="726" y="751"/>
                  </a:lnTo>
                  <a:lnTo>
                    <a:pt x="726" y="651"/>
                  </a:lnTo>
                  <a:lnTo>
                    <a:pt x="705" y="660"/>
                  </a:lnTo>
                  <a:cubicBezTo>
                    <a:pt x="672" y="672"/>
                    <a:pt x="610" y="684"/>
                    <a:pt x="543" y="684"/>
                  </a:cubicBezTo>
                  <a:cubicBezTo>
                    <a:pt x="319" y="684"/>
                    <a:pt x="236" y="498"/>
                    <a:pt x="232" y="332"/>
                  </a:cubicBezTo>
                  <a:cubicBezTo>
                    <a:pt x="261" y="332"/>
                    <a:pt x="742" y="332"/>
                    <a:pt x="742" y="332"/>
                  </a:cubicBezTo>
                  <a:lnTo>
                    <a:pt x="742" y="315"/>
                  </a:lnTo>
                  <a:lnTo>
                    <a:pt x="738" y="315"/>
                  </a:lnTo>
                  <a:close/>
                  <a:moveTo>
                    <a:pt x="386" y="83"/>
                  </a:moveTo>
                  <a:cubicBezTo>
                    <a:pt x="498" y="83"/>
                    <a:pt x="527" y="166"/>
                    <a:pt x="531" y="236"/>
                  </a:cubicBezTo>
                  <a:cubicBezTo>
                    <a:pt x="506" y="236"/>
                    <a:pt x="257" y="236"/>
                    <a:pt x="228" y="236"/>
                  </a:cubicBezTo>
                  <a:cubicBezTo>
                    <a:pt x="232" y="183"/>
                    <a:pt x="269" y="83"/>
                    <a:pt x="386" y="83"/>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62" name="Freeform 16">
              <a:extLst>
                <a:ext uri="{FF2B5EF4-FFF2-40B4-BE49-F238E27FC236}">
                  <a16:creationId xmlns:a16="http://schemas.microsoft.com/office/drawing/2014/main" id="{8896A965-59FA-E943-96EE-601F7005C896}"/>
                </a:ext>
              </a:extLst>
            </p:cNvPr>
            <p:cNvSpPr>
              <a:spLocks noChangeArrowheads="1"/>
            </p:cNvSpPr>
            <p:nvPr/>
          </p:nvSpPr>
          <p:spPr bwMode="auto">
            <a:xfrm>
              <a:off x="5210175" y="4071938"/>
              <a:ext cx="314325" cy="409575"/>
            </a:xfrm>
            <a:custGeom>
              <a:avLst/>
              <a:gdLst>
                <a:gd name="T0" fmla="*/ 634 w 872"/>
                <a:gd name="T1" fmla="*/ 357 h 1138"/>
                <a:gd name="T2" fmla="*/ 348 w 872"/>
                <a:gd name="T3" fmla="*/ 523 h 1138"/>
                <a:gd name="T4" fmla="*/ 348 w 872"/>
                <a:gd name="T5" fmla="*/ 0 h 1138"/>
                <a:gd name="T6" fmla="*/ 332 w 872"/>
                <a:gd name="T7" fmla="*/ 4 h 1138"/>
                <a:gd name="T8" fmla="*/ 0 w 872"/>
                <a:gd name="T9" fmla="*/ 46 h 1138"/>
                <a:gd name="T10" fmla="*/ 0 w 872"/>
                <a:gd name="T11" fmla="*/ 104 h 1138"/>
                <a:gd name="T12" fmla="*/ 16 w 872"/>
                <a:gd name="T13" fmla="*/ 104 h 1138"/>
                <a:gd name="T14" fmla="*/ 141 w 872"/>
                <a:gd name="T15" fmla="*/ 233 h 1138"/>
                <a:gd name="T16" fmla="*/ 141 w 872"/>
                <a:gd name="T17" fmla="*/ 1137 h 1138"/>
                <a:gd name="T18" fmla="*/ 348 w 872"/>
                <a:gd name="T19" fmla="*/ 1137 h 1138"/>
                <a:gd name="T20" fmla="*/ 348 w 872"/>
                <a:gd name="T21" fmla="*/ 747 h 1138"/>
                <a:gd name="T22" fmla="*/ 547 w 872"/>
                <a:gd name="T23" fmla="*/ 494 h 1138"/>
                <a:gd name="T24" fmla="*/ 663 w 872"/>
                <a:gd name="T25" fmla="*/ 660 h 1138"/>
                <a:gd name="T26" fmla="*/ 663 w 872"/>
                <a:gd name="T27" fmla="*/ 1137 h 1138"/>
                <a:gd name="T28" fmla="*/ 871 w 872"/>
                <a:gd name="T29" fmla="*/ 1137 h 1138"/>
                <a:gd name="T30" fmla="*/ 871 w 872"/>
                <a:gd name="T31" fmla="*/ 635 h 1138"/>
                <a:gd name="T32" fmla="*/ 634 w 872"/>
                <a:gd name="T33" fmla="*/ 357 h 1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72" h="1138">
                  <a:moveTo>
                    <a:pt x="634" y="357"/>
                  </a:moveTo>
                  <a:cubicBezTo>
                    <a:pt x="481" y="357"/>
                    <a:pt x="394" y="452"/>
                    <a:pt x="348" y="523"/>
                  </a:cubicBezTo>
                  <a:cubicBezTo>
                    <a:pt x="348" y="440"/>
                    <a:pt x="348" y="0"/>
                    <a:pt x="348" y="0"/>
                  </a:cubicBezTo>
                  <a:lnTo>
                    <a:pt x="332" y="4"/>
                  </a:lnTo>
                  <a:lnTo>
                    <a:pt x="0" y="46"/>
                  </a:lnTo>
                  <a:lnTo>
                    <a:pt x="0" y="104"/>
                  </a:lnTo>
                  <a:lnTo>
                    <a:pt x="16" y="104"/>
                  </a:lnTo>
                  <a:cubicBezTo>
                    <a:pt x="120" y="108"/>
                    <a:pt x="141" y="133"/>
                    <a:pt x="141" y="233"/>
                  </a:cubicBezTo>
                  <a:lnTo>
                    <a:pt x="141" y="1137"/>
                  </a:lnTo>
                  <a:lnTo>
                    <a:pt x="348" y="1137"/>
                  </a:lnTo>
                  <a:lnTo>
                    <a:pt x="348" y="747"/>
                  </a:lnTo>
                  <a:cubicBezTo>
                    <a:pt x="348" y="606"/>
                    <a:pt x="456" y="494"/>
                    <a:pt x="547" y="494"/>
                  </a:cubicBezTo>
                  <a:cubicBezTo>
                    <a:pt x="663" y="494"/>
                    <a:pt x="663" y="581"/>
                    <a:pt x="663" y="660"/>
                  </a:cubicBezTo>
                  <a:lnTo>
                    <a:pt x="663" y="1137"/>
                  </a:lnTo>
                  <a:lnTo>
                    <a:pt x="871" y="1137"/>
                  </a:lnTo>
                  <a:lnTo>
                    <a:pt x="871" y="635"/>
                  </a:lnTo>
                  <a:cubicBezTo>
                    <a:pt x="871" y="552"/>
                    <a:pt x="871" y="357"/>
                    <a:pt x="634" y="357"/>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63" name="Freeform 17">
              <a:extLst>
                <a:ext uri="{FF2B5EF4-FFF2-40B4-BE49-F238E27FC236}">
                  <a16:creationId xmlns:a16="http://schemas.microsoft.com/office/drawing/2014/main" id="{00A05657-BBA5-E04D-A9B7-BB46AB4158F8}"/>
                </a:ext>
              </a:extLst>
            </p:cNvPr>
            <p:cNvSpPr>
              <a:spLocks noChangeArrowheads="1"/>
            </p:cNvSpPr>
            <p:nvPr/>
          </p:nvSpPr>
          <p:spPr bwMode="auto">
            <a:xfrm>
              <a:off x="5594350" y="4200525"/>
              <a:ext cx="266700" cy="287338"/>
            </a:xfrm>
            <a:custGeom>
              <a:avLst/>
              <a:gdLst>
                <a:gd name="T0" fmla="*/ 742 w 743"/>
                <a:gd name="T1" fmla="*/ 315 h 797"/>
                <a:gd name="T2" fmla="*/ 394 w 743"/>
                <a:gd name="T3" fmla="*/ 0 h 797"/>
                <a:gd name="T4" fmla="*/ 0 w 743"/>
                <a:gd name="T5" fmla="*/ 373 h 797"/>
                <a:gd name="T6" fmla="*/ 456 w 743"/>
                <a:gd name="T7" fmla="*/ 796 h 797"/>
                <a:gd name="T8" fmla="*/ 713 w 743"/>
                <a:gd name="T9" fmla="*/ 755 h 797"/>
                <a:gd name="T10" fmla="*/ 726 w 743"/>
                <a:gd name="T11" fmla="*/ 751 h 797"/>
                <a:gd name="T12" fmla="*/ 726 w 743"/>
                <a:gd name="T13" fmla="*/ 651 h 797"/>
                <a:gd name="T14" fmla="*/ 705 w 743"/>
                <a:gd name="T15" fmla="*/ 660 h 797"/>
                <a:gd name="T16" fmla="*/ 543 w 743"/>
                <a:gd name="T17" fmla="*/ 684 h 797"/>
                <a:gd name="T18" fmla="*/ 232 w 743"/>
                <a:gd name="T19" fmla="*/ 332 h 797"/>
                <a:gd name="T20" fmla="*/ 742 w 743"/>
                <a:gd name="T21" fmla="*/ 332 h 797"/>
                <a:gd name="T22" fmla="*/ 742 w 743"/>
                <a:gd name="T23" fmla="*/ 315 h 797"/>
                <a:gd name="T24" fmla="*/ 386 w 743"/>
                <a:gd name="T25" fmla="*/ 83 h 797"/>
                <a:gd name="T26" fmla="*/ 531 w 743"/>
                <a:gd name="T27" fmla="*/ 236 h 797"/>
                <a:gd name="T28" fmla="*/ 228 w 743"/>
                <a:gd name="T29" fmla="*/ 236 h 797"/>
                <a:gd name="T30" fmla="*/ 386 w 743"/>
                <a:gd name="T31" fmla="*/ 83 h 7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743" h="797">
                  <a:moveTo>
                    <a:pt x="742" y="315"/>
                  </a:moveTo>
                  <a:cubicBezTo>
                    <a:pt x="742" y="104"/>
                    <a:pt x="626" y="0"/>
                    <a:pt x="394" y="0"/>
                  </a:cubicBezTo>
                  <a:cubicBezTo>
                    <a:pt x="133" y="0"/>
                    <a:pt x="0" y="124"/>
                    <a:pt x="0" y="373"/>
                  </a:cubicBezTo>
                  <a:cubicBezTo>
                    <a:pt x="0" y="639"/>
                    <a:pt x="170" y="796"/>
                    <a:pt x="456" y="796"/>
                  </a:cubicBezTo>
                  <a:cubicBezTo>
                    <a:pt x="581" y="796"/>
                    <a:pt x="676" y="763"/>
                    <a:pt x="713" y="755"/>
                  </a:cubicBezTo>
                  <a:lnTo>
                    <a:pt x="726" y="751"/>
                  </a:lnTo>
                  <a:lnTo>
                    <a:pt x="726" y="651"/>
                  </a:lnTo>
                  <a:lnTo>
                    <a:pt x="705" y="660"/>
                  </a:lnTo>
                  <a:cubicBezTo>
                    <a:pt x="672" y="672"/>
                    <a:pt x="610" y="684"/>
                    <a:pt x="543" y="684"/>
                  </a:cubicBezTo>
                  <a:cubicBezTo>
                    <a:pt x="319" y="684"/>
                    <a:pt x="236" y="498"/>
                    <a:pt x="232" y="332"/>
                  </a:cubicBezTo>
                  <a:cubicBezTo>
                    <a:pt x="261" y="332"/>
                    <a:pt x="742" y="332"/>
                    <a:pt x="742" y="332"/>
                  </a:cubicBezTo>
                  <a:lnTo>
                    <a:pt x="742" y="315"/>
                  </a:lnTo>
                  <a:close/>
                  <a:moveTo>
                    <a:pt x="386" y="83"/>
                  </a:moveTo>
                  <a:cubicBezTo>
                    <a:pt x="498" y="83"/>
                    <a:pt x="527" y="166"/>
                    <a:pt x="531" y="236"/>
                  </a:cubicBezTo>
                  <a:cubicBezTo>
                    <a:pt x="506" y="236"/>
                    <a:pt x="257" y="236"/>
                    <a:pt x="228" y="236"/>
                  </a:cubicBezTo>
                  <a:cubicBezTo>
                    <a:pt x="236" y="183"/>
                    <a:pt x="270" y="83"/>
                    <a:pt x="386" y="83"/>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64" name="Freeform 18">
              <a:extLst>
                <a:ext uri="{FF2B5EF4-FFF2-40B4-BE49-F238E27FC236}">
                  <a16:creationId xmlns:a16="http://schemas.microsoft.com/office/drawing/2014/main" id="{75D59710-E8C6-394A-9E64-D4371DD86833}"/>
                </a:ext>
              </a:extLst>
            </p:cNvPr>
            <p:cNvSpPr>
              <a:spLocks noChangeArrowheads="1"/>
            </p:cNvSpPr>
            <p:nvPr/>
          </p:nvSpPr>
          <p:spPr bwMode="auto">
            <a:xfrm>
              <a:off x="4964113" y="4121150"/>
              <a:ext cx="212725" cy="366713"/>
            </a:xfrm>
            <a:custGeom>
              <a:avLst/>
              <a:gdLst>
                <a:gd name="T0" fmla="*/ 141 w 589"/>
                <a:gd name="T1" fmla="*/ 237 h 1017"/>
                <a:gd name="T2" fmla="*/ 0 w 589"/>
                <a:gd name="T3" fmla="*/ 237 h 1017"/>
                <a:gd name="T4" fmla="*/ 0 w 589"/>
                <a:gd name="T5" fmla="*/ 328 h 1017"/>
                <a:gd name="T6" fmla="*/ 141 w 589"/>
                <a:gd name="T7" fmla="*/ 328 h 1017"/>
                <a:gd name="T8" fmla="*/ 141 w 589"/>
                <a:gd name="T9" fmla="*/ 797 h 1017"/>
                <a:gd name="T10" fmla="*/ 427 w 589"/>
                <a:gd name="T11" fmla="*/ 1016 h 1017"/>
                <a:gd name="T12" fmla="*/ 551 w 589"/>
                <a:gd name="T13" fmla="*/ 1004 h 1017"/>
                <a:gd name="T14" fmla="*/ 564 w 589"/>
                <a:gd name="T15" fmla="*/ 1004 h 1017"/>
                <a:gd name="T16" fmla="*/ 564 w 589"/>
                <a:gd name="T17" fmla="*/ 909 h 1017"/>
                <a:gd name="T18" fmla="*/ 547 w 589"/>
                <a:gd name="T19" fmla="*/ 913 h 1017"/>
                <a:gd name="T20" fmla="*/ 485 w 589"/>
                <a:gd name="T21" fmla="*/ 917 h 1017"/>
                <a:gd name="T22" fmla="*/ 352 w 589"/>
                <a:gd name="T23" fmla="*/ 772 h 1017"/>
                <a:gd name="T24" fmla="*/ 352 w 589"/>
                <a:gd name="T25" fmla="*/ 328 h 1017"/>
                <a:gd name="T26" fmla="*/ 588 w 589"/>
                <a:gd name="T27" fmla="*/ 328 h 1017"/>
                <a:gd name="T28" fmla="*/ 588 w 589"/>
                <a:gd name="T29" fmla="*/ 237 h 1017"/>
                <a:gd name="T30" fmla="*/ 352 w 589"/>
                <a:gd name="T31" fmla="*/ 237 h 1017"/>
                <a:gd name="T32" fmla="*/ 352 w 589"/>
                <a:gd name="T33" fmla="*/ 0 h 1017"/>
                <a:gd name="T34" fmla="*/ 141 w 589"/>
                <a:gd name="T35" fmla="*/ 0 h 1017"/>
                <a:gd name="T36" fmla="*/ 141 w 589"/>
                <a:gd name="T37" fmla="*/ 237 h 10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89" h="1017">
                  <a:moveTo>
                    <a:pt x="141" y="237"/>
                  </a:moveTo>
                  <a:lnTo>
                    <a:pt x="0" y="237"/>
                  </a:lnTo>
                  <a:lnTo>
                    <a:pt x="0" y="328"/>
                  </a:lnTo>
                  <a:lnTo>
                    <a:pt x="141" y="328"/>
                  </a:lnTo>
                  <a:lnTo>
                    <a:pt x="141" y="797"/>
                  </a:lnTo>
                  <a:cubicBezTo>
                    <a:pt x="141" y="1000"/>
                    <a:pt x="270" y="1016"/>
                    <a:pt x="427" y="1016"/>
                  </a:cubicBezTo>
                  <a:cubicBezTo>
                    <a:pt x="464" y="1016"/>
                    <a:pt x="505" y="1012"/>
                    <a:pt x="551" y="1004"/>
                  </a:cubicBezTo>
                  <a:lnTo>
                    <a:pt x="564" y="1004"/>
                  </a:lnTo>
                  <a:lnTo>
                    <a:pt x="564" y="909"/>
                  </a:lnTo>
                  <a:lnTo>
                    <a:pt x="547" y="913"/>
                  </a:lnTo>
                  <a:cubicBezTo>
                    <a:pt x="530" y="917"/>
                    <a:pt x="510" y="917"/>
                    <a:pt x="485" y="917"/>
                  </a:cubicBezTo>
                  <a:cubicBezTo>
                    <a:pt x="360" y="917"/>
                    <a:pt x="352" y="880"/>
                    <a:pt x="352" y="772"/>
                  </a:cubicBezTo>
                  <a:lnTo>
                    <a:pt x="352" y="328"/>
                  </a:lnTo>
                  <a:lnTo>
                    <a:pt x="588" y="328"/>
                  </a:lnTo>
                  <a:lnTo>
                    <a:pt x="588" y="237"/>
                  </a:lnTo>
                  <a:lnTo>
                    <a:pt x="352" y="237"/>
                  </a:lnTo>
                  <a:lnTo>
                    <a:pt x="352" y="0"/>
                  </a:lnTo>
                  <a:lnTo>
                    <a:pt x="141" y="0"/>
                  </a:lnTo>
                  <a:lnTo>
                    <a:pt x="141" y="237"/>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65" name="Freeform 19">
              <a:extLst>
                <a:ext uri="{FF2B5EF4-FFF2-40B4-BE49-F238E27FC236}">
                  <a16:creationId xmlns:a16="http://schemas.microsoft.com/office/drawing/2014/main" id="{E31E38F3-CCD4-0D4A-B5AE-0E15DBF0F818}"/>
                </a:ext>
              </a:extLst>
            </p:cNvPr>
            <p:cNvSpPr>
              <a:spLocks noChangeArrowheads="1"/>
            </p:cNvSpPr>
            <p:nvPr/>
          </p:nvSpPr>
          <p:spPr bwMode="auto">
            <a:xfrm>
              <a:off x="6049963" y="4087813"/>
              <a:ext cx="450850" cy="395287"/>
            </a:xfrm>
            <a:custGeom>
              <a:avLst/>
              <a:gdLst>
                <a:gd name="T0" fmla="*/ 1245 w 1254"/>
                <a:gd name="T1" fmla="*/ 0 h 1096"/>
                <a:gd name="T2" fmla="*/ 1033 w 1254"/>
                <a:gd name="T3" fmla="*/ 0 h 1096"/>
                <a:gd name="T4" fmla="*/ 1033 w 1254"/>
                <a:gd name="T5" fmla="*/ 829 h 1096"/>
                <a:gd name="T6" fmla="*/ 485 w 1254"/>
                <a:gd name="T7" fmla="*/ 0 h 1096"/>
                <a:gd name="T8" fmla="*/ 0 w 1254"/>
                <a:gd name="T9" fmla="*/ 0 h 1096"/>
                <a:gd name="T10" fmla="*/ 0 w 1254"/>
                <a:gd name="T11" fmla="*/ 62 h 1096"/>
                <a:gd name="T12" fmla="*/ 42 w 1254"/>
                <a:gd name="T13" fmla="*/ 70 h 1096"/>
                <a:gd name="T14" fmla="*/ 178 w 1254"/>
                <a:gd name="T15" fmla="*/ 220 h 1096"/>
                <a:gd name="T16" fmla="*/ 178 w 1254"/>
                <a:gd name="T17" fmla="*/ 1095 h 1096"/>
                <a:gd name="T18" fmla="*/ 403 w 1254"/>
                <a:gd name="T19" fmla="*/ 1095 h 1096"/>
                <a:gd name="T20" fmla="*/ 403 w 1254"/>
                <a:gd name="T21" fmla="*/ 228 h 1096"/>
                <a:gd name="T22" fmla="*/ 975 w 1254"/>
                <a:gd name="T23" fmla="*/ 1095 h 1096"/>
                <a:gd name="T24" fmla="*/ 1253 w 1254"/>
                <a:gd name="T25" fmla="*/ 1095 h 1096"/>
                <a:gd name="T26" fmla="*/ 1253 w 1254"/>
                <a:gd name="T27" fmla="*/ 0 h 1096"/>
                <a:gd name="T28" fmla="*/ 1245 w 1254"/>
                <a:gd name="T29" fmla="*/ 0 h 10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54" h="1096">
                  <a:moveTo>
                    <a:pt x="1245" y="0"/>
                  </a:moveTo>
                  <a:lnTo>
                    <a:pt x="1033" y="0"/>
                  </a:lnTo>
                  <a:cubicBezTo>
                    <a:pt x="1033" y="0"/>
                    <a:pt x="1033" y="751"/>
                    <a:pt x="1033" y="829"/>
                  </a:cubicBezTo>
                  <a:cubicBezTo>
                    <a:pt x="992" y="763"/>
                    <a:pt x="485" y="0"/>
                    <a:pt x="485" y="0"/>
                  </a:cubicBezTo>
                  <a:lnTo>
                    <a:pt x="0" y="0"/>
                  </a:lnTo>
                  <a:lnTo>
                    <a:pt x="0" y="62"/>
                  </a:lnTo>
                  <a:lnTo>
                    <a:pt x="42" y="70"/>
                  </a:lnTo>
                  <a:cubicBezTo>
                    <a:pt x="170" y="91"/>
                    <a:pt x="178" y="95"/>
                    <a:pt x="178" y="220"/>
                  </a:cubicBezTo>
                  <a:lnTo>
                    <a:pt x="178" y="1095"/>
                  </a:lnTo>
                  <a:lnTo>
                    <a:pt x="403" y="1095"/>
                  </a:lnTo>
                  <a:cubicBezTo>
                    <a:pt x="403" y="1095"/>
                    <a:pt x="403" y="307"/>
                    <a:pt x="403" y="228"/>
                  </a:cubicBezTo>
                  <a:cubicBezTo>
                    <a:pt x="448" y="294"/>
                    <a:pt x="975" y="1095"/>
                    <a:pt x="975" y="1095"/>
                  </a:cubicBezTo>
                  <a:lnTo>
                    <a:pt x="1253" y="1095"/>
                  </a:lnTo>
                  <a:lnTo>
                    <a:pt x="1253" y="0"/>
                  </a:lnTo>
                  <a:lnTo>
                    <a:pt x="1245"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66" name="Freeform 20">
              <a:extLst>
                <a:ext uri="{FF2B5EF4-FFF2-40B4-BE49-F238E27FC236}">
                  <a16:creationId xmlns:a16="http://schemas.microsoft.com/office/drawing/2014/main" id="{EA81CA55-89FF-C642-90AD-A67CE9108AC3}"/>
                </a:ext>
              </a:extLst>
            </p:cNvPr>
            <p:cNvSpPr>
              <a:spLocks noChangeArrowheads="1"/>
            </p:cNvSpPr>
            <p:nvPr/>
          </p:nvSpPr>
          <p:spPr bwMode="auto">
            <a:xfrm>
              <a:off x="6573838" y="4200525"/>
              <a:ext cx="266700" cy="287338"/>
            </a:xfrm>
            <a:custGeom>
              <a:avLst/>
              <a:gdLst>
                <a:gd name="T0" fmla="*/ 390 w 740"/>
                <a:gd name="T1" fmla="*/ 0 h 797"/>
                <a:gd name="T2" fmla="*/ 0 w 740"/>
                <a:gd name="T3" fmla="*/ 373 h 797"/>
                <a:gd name="T4" fmla="*/ 456 w 740"/>
                <a:gd name="T5" fmla="*/ 796 h 797"/>
                <a:gd name="T6" fmla="*/ 714 w 740"/>
                <a:gd name="T7" fmla="*/ 755 h 797"/>
                <a:gd name="T8" fmla="*/ 726 w 740"/>
                <a:gd name="T9" fmla="*/ 751 h 797"/>
                <a:gd name="T10" fmla="*/ 726 w 740"/>
                <a:gd name="T11" fmla="*/ 651 h 797"/>
                <a:gd name="T12" fmla="*/ 705 w 740"/>
                <a:gd name="T13" fmla="*/ 660 h 797"/>
                <a:gd name="T14" fmla="*/ 539 w 740"/>
                <a:gd name="T15" fmla="*/ 684 h 797"/>
                <a:gd name="T16" fmla="*/ 228 w 740"/>
                <a:gd name="T17" fmla="*/ 332 h 797"/>
                <a:gd name="T18" fmla="*/ 739 w 740"/>
                <a:gd name="T19" fmla="*/ 332 h 797"/>
                <a:gd name="T20" fmla="*/ 739 w 740"/>
                <a:gd name="T21" fmla="*/ 315 h 797"/>
                <a:gd name="T22" fmla="*/ 390 w 740"/>
                <a:gd name="T23" fmla="*/ 0 h 797"/>
                <a:gd name="T24" fmla="*/ 386 w 740"/>
                <a:gd name="T25" fmla="*/ 83 h 797"/>
                <a:gd name="T26" fmla="*/ 531 w 740"/>
                <a:gd name="T27" fmla="*/ 236 h 797"/>
                <a:gd name="T28" fmla="*/ 228 w 740"/>
                <a:gd name="T29" fmla="*/ 236 h 797"/>
                <a:gd name="T30" fmla="*/ 386 w 740"/>
                <a:gd name="T31" fmla="*/ 83 h 7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740" h="797">
                  <a:moveTo>
                    <a:pt x="390" y="0"/>
                  </a:moveTo>
                  <a:cubicBezTo>
                    <a:pt x="129" y="0"/>
                    <a:pt x="0" y="124"/>
                    <a:pt x="0" y="373"/>
                  </a:cubicBezTo>
                  <a:cubicBezTo>
                    <a:pt x="0" y="639"/>
                    <a:pt x="170" y="796"/>
                    <a:pt x="456" y="796"/>
                  </a:cubicBezTo>
                  <a:cubicBezTo>
                    <a:pt x="581" y="796"/>
                    <a:pt x="676" y="767"/>
                    <a:pt x="714" y="755"/>
                  </a:cubicBezTo>
                  <a:lnTo>
                    <a:pt x="726" y="751"/>
                  </a:lnTo>
                  <a:lnTo>
                    <a:pt x="726" y="651"/>
                  </a:lnTo>
                  <a:lnTo>
                    <a:pt x="705" y="660"/>
                  </a:lnTo>
                  <a:cubicBezTo>
                    <a:pt x="672" y="672"/>
                    <a:pt x="610" y="684"/>
                    <a:pt x="539" y="684"/>
                  </a:cubicBezTo>
                  <a:cubicBezTo>
                    <a:pt x="315" y="684"/>
                    <a:pt x="232" y="498"/>
                    <a:pt x="228" y="332"/>
                  </a:cubicBezTo>
                  <a:lnTo>
                    <a:pt x="739" y="332"/>
                  </a:lnTo>
                  <a:lnTo>
                    <a:pt x="739" y="315"/>
                  </a:lnTo>
                  <a:cubicBezTo>
                    <a:pt x="739" y="104"/>
                    <a:pt x="622" y="0"/>
                    <a:pt x="390" y="0"/>
                  </a:cubicBezTo>
                  <a:close/>
                  <a:moveTo>
                    <a:pt x="386" y="83"/>
                  </a:moveTo>
                  <a:cubicBezTo>
                    <a:pt x="498" y="83"/>
                    <a:pt x="527" y="162"/>
                    <a:pt x="531" y="236"/>
                  </a:cubicBezTo>
                  <a:lnTo>
                    <a:pt x="228" y="236"/>
                  </a:lnTo>
                  <a:cubicBezTo>
                    <a:pt x="232" y="187"/>
                    <a:pt x="270" y="83"/>
                    <a:pt x="386" y="83"/>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67" name="Freeform 21">
              <a:extLst>
                <a:ext uri="{FF2B5EF4-FFF2-40B4-BE49-F238E27FC236}">
                  <a16:creationId xmlns:a16="http://schemas.microsoft.com/office/drawing/2014/main" id="{B993E30F-1BC1-EE44-BD31-C649CB700CD8}"/>
                </a:ext>
              </a:extLst>
            </p:cNvPr>
            <p:cNvSpPr>
              <a:spLocks noChangeArrowheads="1"/>
            </p:cNvSpPr>
            <p:nvPr/>
          </p:nvSpPr>
          <p:spPr bwMode="auto">
            <a:xfrm>
              <a:off x="7204075" y="4121150"/>
              <a:ext cx="212725" cy="366713"/>
            </a:xfrm>
            <a:custGeom>
              <a:avLst/>
              <a:gdLst>
                <a:gd name="T0" fmla="*/ 141 w 590"/>
                <a:gd name="T1" fmla="*/ 237 h 1017"/>
                <a:gd name="T2" fmla="*/ 0 w 590"/>
                <a:gd name="T3" fmla="*/ 237 h 1017"/>
                <a:gd name="T4" fmla="*/ 0 w 590"/>
                <a:gd name="T5" fmla="*/ 328 h 1017"/>
                <a:gd name="T6" fmla="*/ 141 w 590"/>
                <a:gd name="T7" fmla="*/ 328 h 1017"/>
                <a:gd name="T8" fmla="*/ 141 w 590"/>
                <a:gd name="T9" fmla="*/ 797 h 1017"/>
                <a:gd name="T10" fmla="*/ 427 w 590"/>
                <a:gd name="T11" fmla="*/ 1016 h 1017"/>
                <a:gd name="T12" fmla="*/ 551 w 590"/>
                <a:gd name="T13" fmla="*/ 1004 h 1017"/>
                <a:gd name="T14" fmla="*/ 564 w 590"/>
                <a:gd name="T15" fmla="*/ 1004 h 1017"/>
                <a:gd name="T16" fmla="*/ 564 w 590"/>
                <a:gd name="T17" fmla="*/ 909 h 1017"/>
                <a:gd name="T18" fmla="*/ 547 w 590"/>
                <a:gd name="T19" fmla="*/ 913 h 1017"/>
                <a:gd name="T20" fmla="*/ 485 w 590"/>
                <a:gd name="T21" fmla="*/ 917 h 1017"/>
                <a:gd name="T22" fmla="*/ 352 w 590"/>
                <a:gd name="T23" fmla="*/ 772 h 1017"/>
                <a:gd name="T24" fmla="*/ 352 w 590"/>
                <a:gd name="T25" fmla="*/ 328 h 1017"/>
                <a:gd name="T26" fmla="*/ 589 w 590"/>
                <a:gd name="T27" fmla="*/ 328 h 1017"/>
                <a:gd name="T28" fmla="*/ 589 w 590"/>
                <a:gd name="T29" fmla="*/ 237 h 1017"/>
                <a:gd name="T30" fmla="*/ 352 w 590"/>
                <a:gd name="T31" fmla="*/ 237 h 1017"/>
                <a:gd name="T32" fmla="*/ 352 w 590"/>
                <a:gd name="T33" fmla="*/ 0 h 1017"/>
                <a:gd name="T34" fmla="*/ 141 w 590"/>
                <a:gd name="T35" fmla="*/ 0 h 1017"/>
                <a:gd name="T36" fmla="*/ 141 w 590"/>
                <a:gd name="T37" fmla="*/ 237 h 10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90" h="1017">
                  <a:moveTo>
                    <a:pt x="141" y="237"/>
                  </a:moveTo>
                  <a:lnTo>
                    <a:pt x="0" y="237"/>
                  </a:lnTo>
                  <a:lnTo>
                    <a:pt x="0" y="328"/>
                  </a:lnTo>
                  <a:lnTo>
                    <a:pt x="141" y="328"/>
                  </a:lnTo>
                  <a:lnTo>
                    <a:pt x="141" y="797"/>
                  </a:lnTo>
                  <a:cubicBezTo>
                    <a:pt x="141" y="1000"/>
                    <a:pt x="269" y="1016"/>
                    <a:pt x="427" y="1016"/>
                  </a:cubicBezTo>
                  <a:cubicBezTo>
                    <a:pt x="464" y="1016"/>
                    <a:pt x="506" y="1012"/>
                    <a:pt x="551" y="1004"/>
                  </a:cubicBezTo>
                  <a:lnTo>
                    <a:pt x="564" y="1004"/>
                  </a:lnTo>
                  <a:lnTo>
                    <a:pt x="564" y="909"/>
                  </a:lnTo>
                  <a:lnTo>
                    <a:pt x="547" y="913"/>
                  </a:lnTo>
                  <a:cubicBezTo>
                    <a:pt x="531" y="917"/>
                    <a:pt x="510" y="917"/>
                    <a:pt x="485" y="917"/>
                  </a:cubicBezTo>
                  <a:cubicBezTo>
                    <a:pt x="361" y="917"/>
                    <a:pt x="352" y="880"/>
                    <a:pt x="352" y="772"/>
                  </a:cubicBezTo>
                  <a:lnTo>
                    <a:pt x="352" y="328"/>
                  </a:lnTo>
                  <a:lnTo>
                    <a:pt x="589" y="328"/>
                  </a:lnTo>
                  <a:lnTo>
                    <a:pt x="589" y="237"/>
                  </a:lnTo>
                  <a:lnTo>
                    <a:pt x="352" y="237"/>
                  </a:lnTo>
                  <a:lnTo>
                    <a:pt x="352" y="0"/>
                  </a:lnTo>
                  <a:lnTo>
                    <a:pt x="141" y="0"/>
                  </a:lnTo>
                  <a:lnTo>
                    <a:pt x="141" y="237"/>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91" name="Freeform 22">
              <a:extLst>
                <a:ext uri="{FF2B5EF4-FFF2-40B4-BE49-F238E27FC236}">
                  <a16:creationId xmlns:a16="http://schemas.microsoft.com/office/drawing/2014/main" id="{5220F4C6-9400-5942-B0AF-9C8740ABF281}"/>
                </a:ext>
              </a:extLst>
            </p:cNvPr>
            <p:cNvSpPr>
              <a:spLocks noChangeArrowheads="1"/>
            </p:cNvSpPr>
            <p:nvPr/>
          </p:nvSpPr>
          <p:spPr bwMode="auto">
            <a:xfrm>
              <a:off x="6850063" y="4206875"/>
              <a:ext cx="331787" cy="274638"/>
            </a:xfrm>
            <a:custGeom>
              <a:avLst/>
              <a:gdLst>
                <a:gd name="T0" fmla="*/ 705 w 921"/>
                <a:gd name="T1" fmla="*/ 248 h 764"/>
                <a:gd name="T2" fmla="*/ 920 w 921"/>
                <a:gd name="T3" fmla="*/ 0 h 764"/>
                <a:gd name="T4" fmla="*/ 701 w 921"/>
                <a:gd name="T5" fmla="*/ 0 h 764"/>
                <a:gd name="T6" fmla="*/ 497 w 921"/>
                <a:gd name="T7" fmla="*/ 236 h 764"/>
                <a:gd name="T8" fmla="*/ 319 w 921"/>
                <a:gd name="T9" fmla="*/ 0 h 764"/>
                <a:gd name="T10" fmla="*/ 0 w 921"/>
                <a:gd name="T11" fmla="*/ 0 h 764"/>
                <a:gd name="T12" fmla="*/ 0 w 921"/>
                <a:gd name="T13" fmla="*/ 62 h 764"/>
                <a:gd name="T14" fmla="*/ 12 w 921"/>
                <a:gd name="T15" fmla="*/ 62 h 764"/>
                <a:gd name="T16" fmla="*/ 211 w 921"/>
                <a:gd name="T17" fmla="*/ 178 h 764"/>
                <a:gd name="T18" fmla="*/ 344 w 921"/>
                <a:gd name="T19" fmla="*/ 352 h 764"/>
                <a:gd name="T20" fmla="*/ 128 w 921"/>
                <a:gd name="T21" fmla="*/ 601 h 764"/>
                <a:gd name="T22" fmla="*/ 348 w 921"/>
                <a:gd name="T23" fmla="*/ 601 h 764"/>
                <a:gd name="T24" fmla="*/ 443 w 921"/>
                <a:gd name="T25" fmla="*/ 489 h 764"/>
                <a:gd name="T26" fmla="*/ 651 w 921"/>
                <a:gd name="T27" fmla="*/ 763 h 764"/>
                <a:gd name="T28" fmla="*/ 900 w 921"/>
                <a:gd name="T29" fmla="*/ 763 h 764"/>
                <a:gd name="T30" fmla="*/ 506 w 921"/>
                <a:gd name="T31" fmla="*/ 248 h 764"/>
                <a:gd name="T32" fmla="*/ 705 w 921"/>
                <a:gd name="T33" fmla="*/ 248 h 7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21" h="764">
                  <a:moveTo>
                    <a:pt x="705" y="248"/>
                  </a:moveTo>
                  <a:lnTo>
                    <a:pt x="920" y="0"/>
                  </a:lnTo>
                  <a:lnTo>
                    <a:pt x="701" y="0"/>
                  </a:lnTo>
                  <a:lnTo>
                    <a:pt x="497" y="236"/>
                  </a:lnTo>
                  <a:lnTo>
                    <a:pt x="319" y="0"/>
                  </a:lnTo>
                  <a:lnTo>
                    <a:pt x="0" y="0"/>
                  </a:lnTo>
                  <a:lnTo>
                    <a:pt x="0" y="62"/>
                  </a:lnTo>
                  <a:lnTo>
                    <a:pt x="12" y="62"/>
                  </a:lnTo>
                  <a:cubicBezTo>
                    <a:pt x="120" y="70"/>
                    <a:pt x="145" y="87"/>
                    <a:pt x="211" y="178"/>
                  </a:cubicBezTo>
                  <a:lnTo>
                    <a:pt x="344" y="352"/>
                  </a:lnTo>
                  <a:lnTo>
                    <a:pt x="128" y="601"/>
                  </a:lnTo>
                  <a:lnTo>
                    <a:pt x="348" y="601"/>
                  </a:lnTo>
                  <a:lnTo>
                    <a:pt x="443" y="489"/>
                  </a:lnTo>
                  <a:lnTo>
                    <a:pt x="651" y="763"/>
                  </a:lnTo>
                  <a:lnTo>
                    <a:pt x="900" y="763"/>
                  </a:lnTo>
                  <a:lnTo>
                    <a:pt x="506" y="248"/>
                  </a:lnTo>
                  <a:lnTo>
                    <a:pt x="705" y="248"/>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92" name="Freeform 23">
              <a:extLst>
                <a:ext uri="{FF2B5EF4-FFF2-40B4-BE49-F238E27FC236}">
                  <a16:creationId xmlns:a16="http://schemas.microsoft.com/office/drawing/2014/main" id="{0D77D15C-59D2-2D40-8EFB-AE8D4D645201}"/>
                </a:ext>
              </a:extLst>
            </p:cNvPr>
            <p:cNvSpPr>
              <a:spLocks noChangeArrowheads="1"/>
            </p:cNvSpPr>
            <p:nvPr/>
          </p:nvSpPr>
          <p:spPr bwMode="auto">
            <a:xfrm>
              <a:off x="7175500" y="4010025"/>
              <a:ext cx="176213" cy="111125"/>
            </a:xfrm>
            <a:custGeom>
              <a:avLst/>
              <a:gdLst>
                <a:gd name="T0" fmla="*/ 224 w 490"/>
                <a:gd name="T1" fmla="*/ 307 h 308"/>
                <a:gd name="T2" fmla="*/ 0 w 490"/>
                <a:gd name="T3" fmla="*/ 307 h 308"/>
                <a:gd name="T4" fmla="*/ 269 w 490"/>
                <a:gd name="T5" fmla="*/ 0 h 308"/>
                <a:gd name="T6" fmla="*/ 489 w 490"/>
                <a:gd name="T7" fmla="*/ 0 h 308"/>
                <a:gd name="T8" fmla="*/ 224 w 490"/>
                <a:gd name="T9" fmla="*/ 307 h 308"/>
              </a:gdLst>
              <a:ahLst/>
              <a:cxnLst>
                <a:cxn ang="0">
                  <a:pos x="T0" y="T1"/>
                </a:cxn>
                <a:cxn ang="0">
                  <a:pos x="T2" y="T3"/>
                </a:cxn>
                <a:cxn ang="0">
                  <a:pos x="T4" y="T5"/>
                </a:cxn>
                <a:cxn ang="0">
                  <a:pos x="T6" y="T7"/>
                </a:cxn>
                <a:cxn ang="0">
                  <a:pos x="T8" y="T9"/>
                </a:cxn>
              </a:cxnLst>
              <a:rect l="0" t="0" r="r" b="b"/>
              <a:pathLst>
                <a:path w="490" h="308">
                  <a:moveTo>
                    <a:pt x="224" y="307"/>
                  </a:moveTo>
                  <a:lnTo>
                    <a:pt x="0" y="307"/>
                  </a:lnTo>
                  <a:lnTo>
                    <a:pt x="269" y="0"/>
                  </a:lnTo>
                  <a:lnTo>
                    <a:pt x="489" y="0"/>
                  </a:lnTo>
                  <a:lnTo>
                    <a:pt x="224" y="307"/>
                  </a:lnTo>
                </a:path>
              </a:pathLst>
            </a:custGeom>
            <a:solidFill>
              <a:schemeClr val="accent2"/>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grpSp>
      <p:sp>
        <p:nvSpPr>
          <p:cNvPr id="35" name="TextBox 34"/>
          <p:cNvSpPr txBox="1"/>
          <p:nvPr/>
        </p:nvSpPr>
        <p:spPr>
          <a:xfrm>
            <a:off x="6641794" y="4911221"/>
            <a:ext cx="2462534" cy="215444"/>
          </a:xfrm>
          <a:prstGeom prst="rect">
            <a:avLst/>
          </a:prstGeom>
          <a:noFill/>
        </p:spPr>
        <p:txBody>
          <a:bodyPr wrap="none" rtlCol="0">
            <a:sp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800" kern="1200" dirty="0">
                <a:solidFill>
                  <a:schemeClr val="bg1">
                    <a:alpha val="50000"/>
                  </a:schemeClr>
                </a:solidFill>
                <a:latin typeface="+mn-lt"/>
                <a:ea typeface="+mn-ea"/>
                <a:cs typeface="+mn-cs"/>
              </a:rPr>
              <a:t>© Hitachi Vantara LLC 2020. All Rights Reserved.</a:t>
            </a:r>
          </a:p>
        </p:txBody>
      </p:sp>
      <p:sp>
        <p:nvSpPr>
          <p:cNvPr id="99" name="TextBox 98">
            <a:extLst>
              <a:ext uri="{FF2B5EF4-FFF2-40B4-BE49-F238E27FC236}">
                <a16:creationId xmlns:a16="http://schemas.microsoft.com/office/drawing/2014/main" id="{AFE8C8C8-8C8F-0D45-B230-946FEDADA26C}"/>
              </a:ext>
            </a:extLst>
          </p:cNvPr>
          <p:cNvSpPr txBox="1"/>
          <p:nvPr userDrawn="1"/>
        </p:nvSpPr>
        <p:spPr>
          <a:xfrm>
            <a:off x="6641794" y="4911221"/>
            <a:ext cx="2462534" cy="215444"/>
          </a:xfrm>
          <a:prstGeom prst="rect">
            <a:avLst/>
          </a:prstGeom>
          <a:noFill/>
        </p:spPr>
        <p:txBody>
          <a:bodyPr wrap="none" rtlCol="0">
            <a:sp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800" kern="1200" dirty="0">
                <a:solidFill>
                  <a:schemeClr val="bg1">
                    <a:alpha val="50000"/>
                  </a:schemeClr>
                </a:solidFill>
                <a:latin typeface="+mn-lt"/>
                <a:ea typeface="+mn-ea"/>
                <a:cs typeface="+mn-cs"/>
              </a:rPr>
              <a:t>© Hitachi Vantara LLC 2020. All Rights Reserved.</a:t>
            </a:r>
          </a:p>
        </p:txBody>
      </p:sp>
      <p:pic>
        <p:nvPicPr>
          <p:cNvPr id="69" name="Graphic 68">
            <a:extLst>
              <a:ext uri="{FF2B5EF4-FFF2-40B4-BE49-F238E27FC236}">
                <a16:creationId xmlns:a16="http://schemas.microsoft.com/office/drawing/2014/main" id="{7CBF5BC0-8976-8B43-AA6F-BF4941E8F943}"/>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12316" y="1407160"/>
            <a:ext cx="562508" cy="3750056"/>
          </a:xfrm>
          <a:prstGeom prst="rect">
            <a:avLst/>
          </a:prstGeom>
        </p:spPr>
      </p:pic>
    </p:spTree>
    <p:extLst>
      <p:ext uri="{BB962C8B-B14F-4D97-AF65-F5344CB8AC3E}">
        <p14:creationId xmlns:p14="http://schemas.microsoft.com/office/powerpoint/2010/main" val="30784095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2_Title Slide">
    <p:spTree>
      <p:nvGrpSpPr>
        <p:cNvPr id="1" name=""/>
        <p:cNvGrpSpPr/>
        <p:nvPr/>
      </p:nvGrpSpPr>
      <p:grpSpPr>
        <a:xfrm>
          <a:off x="0" y="0"/>
          <a:ext cx="0" cy="0"/>
          <a:chOff x="0" y="0"/>
          <a:chExt cx="0" cy="0"/>
        </a:xfrm>
      </p:grpSpPr>
      <p:sp>
        <p:nvSpPr>
          <p:cNvPr id="40" name="Rectangle 39">
            <a:extLst>
              <a:ext uri="{FF2B5EF4-FFF2-40B4-BE49-F238E27FC236}">
                <a16:creationId xmlns:a16="http://schemas.microsoft.com/office/drawing/2014/main" id="{AAA4BB55-22A6-9C48-9B94-C2A7131C877F}"/>
              </a:ext>
            </a:extLst>
          </p:cNvPr>
          <p:cNvSpPr/>
          <p:nvPr userDrawn="1"/>
        </p:nvSpPr>
        <p:spPr>
          <a:xfrm>
            <a:off x="5942892" y="0"/>
            <a:ext cx="3201108" cy="5157216"/>
          </a:xfrm>
          <a:prstGeom prst="rect">
            <a:avLst/>
          </a:prstGeom>
          <a:blipFill>
            <a:blip r:embed="rId2" cstate="screen">
              <a:extLst>
                <a:ext uri="{28A0092B-C50C-407E-A947-70E740481C1C}">
                  <a14:useLocalDpi xmlns:a14="http://schemas.microsoft.com/office/drawing/2010/main"/>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j-lt"/>
            </a:endParaRPr>
          </a:p>
        </p:txBody>
      </p:sp>
      <p:sp>
        <p:nvSpPr>
          <p:cNvPr id="38" name="Rectangle 37">
            <a:extLst>
              <a:ext uri="{FF2B5EF4-FFF2-40B4-BE49-F238E27FC236}">
                <a16:creationId xmlns:a16="http://schemas.microsoft.com/office/drawing/2014/main" id="{F4AD3290-648D-D840-B50D-09EEC67C7D28}"/>
              </a:ext>
            </a:extLst>
          </p:cNvPr>
          <p:cNvSpPr/>
          <p:nvPr userDrawn="1"/>
        </p:nvSpPr>
        <p:spPr>
          <a:xfrm>
            <a:off x="5942892" y="0"/>
            <a:ext cx="3201108" cy="5157216"/>
          </a:xfrm>
          <a:prstGeom prst="rect">
            <a:avLst/>
          </a:prstGeom>
          <a:gradFill flip="none" rotWithShape="1">
            <a:gsLst>
              <a:gs pos="53000">
                <a:schemeClr val="bg1">
                  <a:alpha val="0"/>
                </a:schemeClr>
              </a:gs>
              <a:gs pos="0">
                <a:srgbClr val="53E2DD">
                  <a:alpha val="56000"/>
                  <a:lumMod val="29000"/>
                </a:srgbClr>
              </a:gs>
              <a:gs pos="100000">
                <a:schemeClr val="accent2">
                  <a:alpha val="54000"/>
                  <a:lumMod val="38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j-lt"/>
            </a:endParaRPr>
          </a:p>
        </p:txBody>
      </p:sp>
      <p:sp>
        <p:nvSpPr>
          <p:cNvPr id="93" name="Rectangle 92">
            <a:extLst>
              <a:ext uri="{FF2B5EF4-FFF2-40B4-BE49-F238E27FC236}">
                <a16:creationId xmlns:a16="http://schemas.microsoft.com/office/drawing/2014/main" id="{39418557-F9FB-2C49-8652-E9BC5F420543}"/>
              </a:ext>
            </a:extLst>
          </p:cNvPr>
          <p:cNvSpPr/>
          <p:nvPr userDrawn="1"/>
        </p:nvSpPr>
        <p:spPr>
          <a:xfrm>
            <a:off x="5942892" y="0"/>
            <a:ext cx="3201108" cy="5157216"/>
          </a:xfrm>
          <a:prstGeom prst="rect">
            <a:avLst/>
          </a:prstGeom>
          <a:gradFill flip="none" rotWithShape="1">
            <a:gsLst>
              <a:gs pos="71000">
                <a:schemeClr val="tx2">
                  <a:alpha val="0"/>
                </a:schemeClr>
              </a:gs>
              <a:gs pos="100000">
                <a:schemeClr val="tx2">
                  <a:alpha val="65000"/>
                </a:schemeClr>
              </a:gs>
            </a:gsLst>
            <a:lin ang="18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j-lt"/>
            </a:endParaRPr>
          </a:p>
        </p:txBody>
      </p:sp>
      <p:grpSp>
        <p:nvGrpSpPr>
          <p:cNvPr id="42" name="Group 41">
            <a:extLst>
              <a:ext uri="{FF2B5EF4-FFF2-40B4-BE49-F238E27FC236}">
                <a16:creationId xmlns:a16="http://schemas.microsoft.com/office/drawing/2014/main" id="{3EF58E61-59AF-0B40-BD87-B8415DF5B20F}"/>
              </a:ext>
            </a:extLst>
          </p:cNvPr>
          <p:cNvGrpSpPr/>
          <p:nvPr userDrawn="1"/>
        </p:nvGrpSpPr>
        <p:grpSpPr>
          <a:xfrm>
            <a:off x="7684916" y="225821"/>
            <a:ext cx="1247901" cy="356665"/>
            <a:chOff x="2751138" y="3262313"/>
            <a:chExt cx="4665662" cy="1333500"/>
          </a:xfrm>
          <a:solidFill>
            <a:schemeClr val="bg1"/>
          </a:solidFill>
        </p:grpSpPr>
        <p:sp>
          <p:nvSpPr>
            <p:cNvPr id="43" name="Freeform 1">
              <a:extLst>
                <a:ext uri="{FF2B5EF4-FFF2-40B4-BE49-F238E27FC236}">
                  <a16:creationId xmlns:a16="http://schemas.microsoft.com/office/drawing/2014/main" id="{199E89AD-2705-134A-918E-26469FC8CD68}"/>
                </a:ext>
              </a:extLst>
            </p:cNvPr>
            <p:cNvSpPr>
              <a:spLocks noChangeArrowheads="1"/>
            </p:cNvSpPr>
            <p:nvPr/>
          </p:nvSpPr>
          <p:spPr bwMode="auto">
            <a:xfrm>
              <a:off x="6180138" y="3275013"/>
              <a:ext cx="673100" cy="631825"/>
            </a:xfrm>
            <a:custGeom>
              <a:avLst/>
              <a:gdLst>
                <a:gd name="T0" fmla="*/ 465 w 1868"/>
                <a:gd name="T1" fmla="*/ 0 h 1755"/>
                <a:gd name="T2" fmla="*/ 465 w 1868"/>
                <a:gd name="T3" fmla="*/ 700 h 1755"/>
                <a:gd name="T4" fmla="*/ 1402 w 1868"/>
                <a:gd name="T5" fmla="*/ 700 h 1755"/>
                <a:gd name="T6" fmla="*/ 1402 w 1868"/>
                <a:gd name="T7" fmla="*/ 0 h 1755"/>
                <a:gd name="T8" fmla="*/ 1867 w 1868"/>
                <a:gd name="T9" fmla="*/ 0 h 1755"/>
                <a:gd name="T10" fmla="*/ 1867 w 1868"/>
                <a:gd name="T11" fmla="*/ 1754 h 1755"/>
                <a:gd name="T12" fmla="*/ 1402 w 1868"/>
                <a:gd name="T13" fmla="*/ 1754 h 1755"/>
                <a:gd name="T14" fmla="*/ 1402 w 1868"/>
                <a:gd name="T15" fmla="*/ 983 h 1755"/>
                <a:gd name="T16" fmla="*/ 465 w 1868"/>
                <a:gd name="T17" fmla="*/ 983 h 1755"/>
                <a:gd name="T18" fmla="*/ 465 w 1868"/>
                <a:gd name="T19" fmla="*/ 1754 h 1755"/>
                <a:gd name="T20" fmla="*/ 0 w 1868"/>
                <a:gd name="T21" fmla="*/ 1754 h 1755"/>
                <a:gd name="T22" fmla="*/ 0 w 1868"/>
                <a:gd name="T23" fmla="*/ 0 h 1755"/>
                <a:gd name="T24" fmla="*/ 465 w 1868"/>
                <a:gd name="T25" fmla="*/ 0 h 17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68" h="1755">
                  <a:moveTo>
                    <a:pt x="465" y="0"/>
                  </a:moveTo>
                  <a:cubicBezTo>
                    <a:pt x="465" y="0"/>
                    <a:pt x="465" y="705"/>
                    <a:pt x="465" y="700"/>
                  </a:cubicBezTo>
                  <a:lnTo>
                    <a:pt x="1402" y="700"/>
                  </a:lnTo>
                  <a:cubicBezTo>
                    <a:pt x="1402" y="705"/>
                    <a:pt x="1402" y="0"/>
                    <a:pt x="1402" y="0"/>
                  </a:cubicBezTo>
                  <a:cubicBezTo>
                    <a:pt x="1402" y="0"/>
                    <a:pt x="1863" y="0"/>
                    <a:pt x="1867" y="0"/>
                  </a:cubicBezTo>
                  <a:cubicBezTo>
                    <a:pt x="1867" y="0"/>
                    <a:pt x="1867" y="1750"/>
                    <a:pt x="1867" y="1754"/>
                  </a:cubicBezTo>
                  <a:lnTo>
                    <a:pt x="1402" y="1754"/>
                  </a:lnTo>
                  <a:cubicBezTo>
                    <a:pt x="1402" y="1754"/>
                    <a:pt x="1402" y="987"/>
                    <a:pt x="1402" y="983"/>
                  </a:cubicBezTo>
                  <a:cubicBezTo>
                    <a:pt x="1402" y="987"/>
                    <a:pt x="465" y="983"/>
                    <a:pt x="465" y="983"/>
                  </a:cubicBezTo>
                  <a:cubicBezTo>
                    <a:pt x="465" y="987"/>
                    <a:pt x="465" y="1754"/>
                    <a:pt x="465" y="1754"/>
                  </a:cubicBezTo>
                  <a:lnTo>
                    <a:pt x="0" y="1754"/>
                  </a:lnTo>
                  <a:cubicBezTo>
                    <a:pt x="0" y="1754"/>
                    <a:pt x="4" y="0"/>
                    <a:pt x="0" y="0"/>
                  </a:cubicBezTo>
                  <a:lnTo>
                    <a:pt x="465"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44" name="Freeform 2">
              <a:extLst>
                <a:ext uri="{FF2B5EF4-FFF2-40B4-BE49-F238E27FC236}">
                  <a16:creationId xmlns:a16="http://schemas.microsoft.com/office/drawing/2014/main" id="{0494D0CA-794C-0E4B-AA3F-CCDBD582982E}"/>
                </a:ext>
              </a:extLst>
            </p:cNvPr>
            <p:cNvSpPr>
              <a:spLocks noChangeArrowheads="1"/>
            </p:cNvSpPr>
            <p:nvPr/>
          </p:nvSpPr>
          <p:spPr bwMode="auto">
            <a:xfrm>
              <a:off x="4083050" y="3275013"/>
              <a:ext cx="677863" cy="631825"/>
            </a:xfrm>
            <a:custGeom>
              <a:avLst/>
              <a:gdLst>
                <a:gd name="T0" fmla="*/ 1883 w 1884"/>
                <a:gd name="T1" fmla="*/ 0 h 1755"/>
                <a:gd name="T2" fmla="*/ 1883 w 1884"/>
                <a:gd name="T3" fmla="*/ 298 h 1755"/>
                <a:gd name="T4" fmla="*/ 1174 w 1884"/>
                <a:gd name="T5" fmla="*/ 298 h 1755"/>
                <a:gd name="T6" fmla="*/ 1174 w 1884"/>
                <a:gd name="T7" fmla="*/ 1754 h 1755"/>
                <a:gd name="T8" fmla="*/ 709 w 1884"/>
                <a:gd name="T9" fmla="*/ 1754 h 1755"/>
                <a:gd name="T10" fmla="*/ 709 w 1884"/>
                <a:gd name="T11" fmla="*/ 298 h 1755"/>
                <a:gd name="T12" fmla="*/ 0 w 1884"/>
                <a:gd name="T13" fmla="*/ 298 h 1755"/>
                <a:gd name="T14" fmla="*/ 0 w 1884"/>
                <a:gd name="T15" fmla="*/ 0 h 1755"/>
                <a:gd name="T16" fmla="*/ 1883 w 1884"/>
                <a:gd name="T17" fmla="*/ 0 h 17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884" h="1755">
                  <a:moveTo>
                    <a:pt x="1883" y="0"/>
                  </a:moveTo>
                  <a:cubicBezTo>
                    <a:pt x="1883" y="4"/>
                    <a:pt x="1883" y="298"/>
                    <a:pt x="1883" y="298"/>
                  </a:cubicBezTo>
                  <a:lnTo>
                    <a:pt x="1174" y="298"/>
                  </a:lnTo>
                  <a:lnTo>
                    <a:pt x="1174" y="1754"/>
                  </a:lnTo>
                  <a:lnTo>
                    <a:pt x="709" y="1754"/>
                  </a:lnTo>
                  <a:lnTo>
                    <a:pt x="709" y="298"/>
                  </a:lnTo>
                  <a:lnTo>
                    <a:pt x="0" y="298"/>
                  </a:lnTo>
                  <a:lnTo>
                    <a:pt x="0" y="0"/>
                  </a:lnTo>
                  <a:lnTo>
                    <a:pt x="1883"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45" name="Freeform 3">
              <a:extLst>
                <a:ext uri="{FF2B5EF4-FFF2-40B4-BE49-F238E27FC236}">
                  <a16:creationId xmlns:a16="http://schemas.microsoft.com/office/drawing/2014/main" id="{9DCC5901-D10A-FB4A-B33B-ED481418C9B6}"/>
                </a:ext>
              </a:extLst>
            </p:cNvPr>
            <p:cNvSpPr>
              <a:spLocks noChangeArrowheads="1"/>
            </p:cNvSpPr>
            <p:nvPr/>
          </p:nvSpPr>
          <p:spPr bwMode="auto">
            <a:xfrm>
              <a:off x="4614863" y="3275013"/>
              <a:ext cx="796925" cy="631825"/>
            </a:xfrm>
            <a:custGeom>
              <a:avLst/>
              <a:gdLst>
                <a:gd name="T0" fmla="*/ 2214 w 2215"/>
                <a:gd name="T1" fmla="*/ 1754 h 1755"/>
                <a:gd name="T2" fmla="*/ 1695 w 2215"/>
                <a:gd name="T3" fmla="*/ 1754 h 1755"/>
                <a:gd name="T4" fmla="*/ 1542 w 2215"/>
                <a:gd name="T5" fmla="*/ 1377 h 1755"/>
                <a:gd name="T6" fmla="*/ 672 w 2215"/>
                <a:gd name="T7" fmla="*/ 1377 h 1755"/>
                <a:gd name="T8" fmla="*/ 518 w 2215"/>
                <a:gd name="T9" fmla="*/ 1754 h 1755"/>
                <a:gd name="T10" fmla="*/ 0 w 2215"/>
                <a:gd name="T11" fmla="*/ 1754 h 1755"/>
                <a:gd name="T12" fmla="*/ 825 w 2215"/>
                <a:gd name="T13" fmla="*/ 0 h 1755"/>
                <a:gd name="T14" fmla="*/ 1392 w 2215"/>
                <a:gd name="T15" fmla="*/ 0 h 1755"/>
                <a:gd name="T16" fmla="*/ 2214 w 2215"/>
                <a:gd name="T17" fmla="*/ 1754 h 1755"/>
                <a:gd name="T18" fmla="*/ 788 w 2215"/>
                <a:gd name="T19" fmla="*/ 1095 h 1755"/>
                <a:gd name="T20" fmla="*/ 1434 w 2215"/>
                <a:gd name="T21" fmla="*/ 1095 h 1755"/>
                <a:gd name="T22" fmla="*/ 1107 w 2215"/>
                <a:gd name="T23" fmla="*/ 298 h 1755"/>
                <a:gd name="T24" fmla="*/ 788 w 2215"/>
                <a:gd name="T25" fmla="*/ 1095 h 17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15" h="1755">
                  <a:moveTo>
                    <a:pt x="2214" y="1754"/>
                  </a:moveTo>
                  <a:cubicBezTo>
                    <a:pt x="2214" y="1754"/>
                    <a:pt x="1691" y="1754"/>
                    <a:pt x="1695" y="1754"/>
                  </a:cubicBezTo>
                  <a:lnTo>
                    <a:pt x="1542" y="1377"/>
                  </a:lnTo>
                  <a:lnTo>
                    <a:pt x="672" y="1377"/>
                  </a:lnTo>
                  <a:cubicBezTo>
                    <a:pt x="672" y="1377"/>
                    <a:pt x="522" y="1754"/>
                    <a:pt x="518" y="1754"/>
                  </a:cubicBezTo>
                  <a:lnTo>
                    <a:pt x="0" y="1754"/>
                  </a:lnTo>
                  <a:lnTo>
                    <a:pt x="825" y="0"/>
                  </a:lnTo>
                  <a:lnTo>
                    <a:pt x="1392" y="0"/>
                  </a:lnTo>
                  <a:lnTo>
                    <a:pt x="2214" y="1754"/>
                  </a:lnTo>
                  <a:close/>
                  <a:moveTo>
                    <a:pt x="788" y="1095"/>
                  </a:moveTo>
                  <a:lnTo>
                    <a:pt x="1434" y="1095"/>
                  </a:lnTo>
                  <a:lnTo>
                    <a:pt x="1107" y="298"/>
                  </a:lnTo>
                  <a:lnTo>
                    <a:pt x="788" y="1095"/>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46" name="Freeform 4">
              <a:extLst>
                <a:ext uri="{FF2B5EF4-FFF2-40B4-BE49-F238E27FC236}">
                  <a16:creationId xmlns:a16="http://schemas.microsoft.com/office/drawing/2014/main" id="{E89E2B8D-ACF0-2F45-AEFB-BDDCF2F74FCA}"/>
                </a:ext>
              </a:extLst>
            </p:cNvPr>
            <p:cNvSpPr>
              <a:spLocks noChangeArrowheads="1"/>
            </p:cNvSpPr>
            <p:nvPr/>
          </p:nvSpPr>
          <p:spPr bwMode="auto">
            <a:xfrm>
              <a:off x="6985000" y="3275013"/>
              <a:ext cx="166688" cy="631825"/>
            </a:xfrm>
            <a:custGeom>
              <a:avLst/>
              <a:gdLst>
                <a:gd name="T0" fmla="*/ 232 w 465"/>
                <a:gd name="T1" fmla="*/ 1754 h 1755"/>
                <a:gd name="T2" fmla="*/ 0 w 465"/>
                <a:gd name="T3" fmla="*/ 1754 h 1755"/>
                <a:gd name="T4" fmla="*/ 0 w 465"/>
                <a:gd name="T5" fmla="*/ 0 h 1755"/>
                <a:gd name="T6" fmla="*/ 464 w 465"/>
                <a:gd name="T7" fmla="*/ 0 h 1755"/>
                <a:gd name="T8" fmla="*/ 464 w 465"/>
                <a:gd name="T9" fmla="*/ 1754 h 1755"/>
                <a:gd name="T10" fmla="*/ 232 w 465"/>
                <a:gd name="T11" fmla="*/ 1754 h 1755"/>
              </a:gdLst>
              <a:ahLst/>
              <a:cxnLst>
                <a:cxn ang="0">
                  <a:pos x="T0" y="T1"/>
                </a:cxn>
                <a:cxn ang="0">
                  <a:pos x="T2" y="T3"/>
                </a:cxn>
                <a:cxn ang="0">
                  <a:pos x="T4" y="T5"/>
                </a:cxn>
                <a:cxn ang="0">
                  <a:pos x="T6" y="T7"/>
                </a:cxn>
                <a:cxn ang="0">
                  <a:pos x="T8" y="T9"/>
                </a:cxn>
                <a:cxn ang="0">
                  <a:pos x="T10" y="T11"/>
                </a:cxn>
              </a:cxnLst>
              <a:rect l="0" t="0" r="r" b="b"/>
              <a:pathLst>
                <a:path w="465" h="1755">
                  <a:moveTo>
                    <a:pt x="232" y="1754"/>
                  </a:moveTo>
                  <a:lnTo>
                    <a:pt x="0" y="1754"/>
                  </a:lnTo>
                  <a:lnTo>
                    <a:pt x="0" y="0"/>
                  </a:lnTo>
                  <a:lnTo>
                    <a:pt x="464" y="0"/>
                  </a:lnTo>
                  <a:lnTo>
                    <a:pt x="464" y="1754"/>
                  </a:lnTo>
                  <a:lnTo>
                    <a:pt x="232" y="1754"/>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48" name="Freeform 5">
              <a:extLst>
                <a:ext uri="{FF2B5EF4-FFF2-40B4-BE49-F238E27FC236}">
                  <a16:creationId xmlns:a16="http://schemas.microsoft.com/office/drawing/2014/main" id="{22029583-0D66-5343-987C-CF43A574E882}"/>
                </a:ext>
              </a:extLst>
            </p:cNvPr>
            <p:cNvSpPr>
              <a:spLocks noChangeArrowheads="1"/>
            </p:cNvSpPr>
            <p:nvPr/>
          </p:nvSpPr>
          <p:spPr bwMode="auto">
            <a:xfrm>
              <a:off x="3049588" y="3275013"/>
              <a:ext cx="673100" cy="631825"/>
            </a:xfrm>
            <a:custGeom>
              <a:avLst/>
              <a:gdLst>
                <a:gd name="T0" fmla="*/ 465 w 1868"/>
                <a:gd name="T1" fmla="*/ 0 h 1755"/>
                <a:gd name="T2" fmla="*/ 465 w 1868"/>
                <a:gd name="T3" fmla="*/ 700 h 1755"/>
                <a:gd name="T4" fmla="*/ 1402 w 1868"/>
                <a:gd name="T5" fmla="*/ 700 h 1755"/>
                <a:gd name="T6" fmla="*/ 1402 w 1868"/>
                <a:gd name="T7" fmla="*/ 0 h 1755"/>
                <a:gd name="T8" fmla="*/ 1867 w 1868"/>
                <a:gd name="T9" fmla="*/ 0 h 1755"/>
                <a:gd name="T10" fmla="*/ 1867 w 1868"/>
                <a:gd name="T11" fmla="*/ 1754 h 1755"/>
                <a:gd name="T12" fmla="*/ 1402 w 1868"/>
                <a:gd name="T13" fmla="*/ 1754 h 1755"/>
                <a:gd name="T14" fmla="*/ 1402 w 1868"/>
                <a:gd name="T15" fmla="*/ 983 h 1755"/>
                <a:gd name="T16" fmla="*/ 465 w 1868"/>
                <a:gd name="T17" fmla="*/ 983 h 1755"/>
                <a:gd name="T18" fmla="*/ 465 w 1868"/>
                <a:gd name="T19" fmla="*/ 1754 h 1755"/>
                <a:gd name="T20" fmla="*/ 0 w 1868"/>
                <a:gd name="T21" fmla="*/ 1754 h 1755"/>
                <a:gd name="T22" fmla="*/ 0 w 1868"/>
                <a:gd name="T23" fmla="*/ 0 h 1755"/>
                <a:gd name="T24" fmla="*/ 465 w 1868"/>
                <a:gd name="T25" fmla="*/ 0 h 17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68" h="1755">
                  <a:moveTo>
                    <a:pt x="465" y="0"/>
                  </a:moveTo>
                  <a:cubicBezTo>
                    <a:pt x="465" y="0"/>
                    <a:pt x="465" y="705"/>
                    <a:pt x="465" y="700"/>
                  </a:cubicBezTo>
                  <a:lnTo>
                    <a:pt x="1402" y="700"/>
                  </a:lnTo>
                  <a:cubicBezTo>
                    <a:pt x="1402" y="705"/>
                    <a:pt x="1402" y="0"/>
                    <a:pt x="1402" y="0"/>
                  </a:cubicBezTo>
                  <a:cubicBezTo>
                    <a:pt x="1402" y="0"/>
                    <a:pt x="1863" y="0"/>
                    <a:pt x="1867" y="0"/>
                  </a:cubicBezTo>
                  <a:cubicBezTo>
                    <a:pt x="1867" y="0"/>
                    <a:pt x="1867" y="1750"/>
                    <a:pt x="1867" y="1754"/>
                  </a:cubicBezTo>
                  <a:lnTo>
                    <a:pt x="1402" y="1754"/>
                  </a:lnTo>
                  <a:cubicBezTo>
                    <a:pt x="1402" y="1754"/>
                    <a:pt x="1402" y="987"/>
                    <a:pt x="1402" y="983"/>
                  </a:cubicBezTo>
                  <a:cubicBezTo>
                    <a:pt x="1402" y="987"/>
                    <a:pt x="465" y="983"/>
                    <a:pt x="465" y="983"/>
                  </a:cubicBezTo>
                  <a:cubicBezTo>
                    <a:pt x="465" y="987"/>
                    <a:pt x="465" y="1754"/>
                    <a:pt x="465" y="1754"/>
                  </a:cubicBezTo>
                  <a:lnTo>
                    <a:pt x="0" y="1754"/>
                  </a:lnTo>
                  <a:cubicBezTo>
                    <a:pt x="0" y="1754"/>
                    <a:pt x="5" y="0"/>
                    <a:pt x="0" y="0"/>
                  </a:cubicBezTo>
                  <a:lnTo>
                    <a:pt x="465"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49" name="Freeform 6">
              <a:extLst>
                <a:ext uri="{FF2B5EF4-FFF2-40B4-BE49-F238E27FC236}">
                  <a16:creationId xmlns:a16="http://schemas.microsoft.com/office/drawing/2014/main" id="{853178F1-F0AF-6240-8FB2-09BC14B17DBA}"/>
                </a:ext>
              </a:extLst>
            </p:cNvPr>
            <p:cNvSpPr>
              <a:spLocks noChangeArrowheads="1"/>
            </p:cNvSpPr>
            <p:nvPr/>
          </p:nvSpPr>
          <p:spPr bwMode="auto">
            <a:xfrm>
              <a:off x="3854450" y="3275013"/>
              <a:ext cx="168275" cy="631825"/>
            </a:xfrm>
            <a:custGeom>
              <a:avLst/>
              <a:gdLst>
                <a:gd name="T0" fmla="*/ 233 w 466"/>
                <a:gd name="T1" fmla="*/ 1754 h 1755"/>
                <a:gd name="T2" fmla="*/ 0 w 466"/>
                <a:gd name="T3" fmla="*/ 1754 h 1755"/>
                <a:gd name="T4" fmla="*/ 0 w 466"/>
                <a:gd name="T5" fmla="*/ 0 h 1755"/>
                <a:gd name="T6" fmla="*/ 465 w 466"/>
                <a:gd name="T7" fmla="*/ 0 h 1755"/>
                <a:gd name="T8" fmla="*/ 465 w 466"/>
                <a:gd name="T9" fmla="*/ 1754 h 1755"/>
                <a:gd name="T10" fmla="*/ 233 w 466"/>
                <a:gd name="T11" fmla="*/ 1754 h 1755"/>
              </a:gdLst>
              <a:ahLst/>
              <a:cxnLst>
                <a:cxn ang="0">
                  <a:pos x="T0" y="T1"/>
                </a:cxn>
                <a:cxn ang="0">
                  <a:pos x="T2" y="T3"/>
                </a:cxn>
                <a:cxn ang="0">
                  <a:pos x="T4" y="T5"/>
                </a:cxn>
                <a:cxn ang="0">
                  <a:pos x="T6" y="T7"/>
                </a:cxn>
                <a:cxn ang="0">
                  <a:pos x="T8" y="T9"/>
                </a:cxn>
                <a:cxn ang="0">
                  <a:pos x="T10" y="T11"/>
                </a:cxn>
              </a:cxnLst>
              <a:rect l="0" t="0" r="r" b="b"/>
              <a:pathLst>
                <a:path w="466" h="1755">
                  <a:moveTo>
                    <a:pt x="233" y="1754"/>
                  </a:moveTo>
                  <a:lnTo>
                    <a:pt x="0" y="1754"/>
                  </a:lnTo>
                  <a:lnTo>
                    <a:pt x="0" y="0"/>
                  </a:lnTo>
                  <a:lnTo>
                    <a:pt x="465" y="0"/>
                  </a:lnTo>
                  <a:lnTo>
                    <a:pt x="465" y="1754"/>
                  </a:lnTo>
                  <a:lnTo>
                    <a:pt x="233" y="1754"/>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50" name="Freeform 7">
              <a:extLst>
                <a:ext uri="{FF2B5EF4-FFF2-40B4-BE49-F238E27FC236}">
                  <a16:creationId xmlns:a16="http://schemas.microsoft.com/office/drawing/2014/main" id="{587CA836-2BC9-604B-8F93-B6FA817F991A}"/>
                </a:ext>
              </a:extLst>
            </p:cNvPr>
            <p:cNvSpPr>
              <a:spLocks noChangeArrowheads="1"/>
            </p:cNvSpPr>
            <p:nvPr/>
          </p:nvSpPr>
          <p:spPr bwMode="auto">
            <a:xfrm>
              <a:off x="5383213" y="3262313"/>
              <a:ext cx="715962" cy="663575"/>
            </a:xfrm>
            <a:custGeom>
              <a:avLst/>
              <a:gdLst>
                <a:gd name="T0" fmla="*/ 62 w 1988"/>
                <a:gd name="T1" fmla="*/ 1307 h 1842"/>
                <a:gd name="T2" fmla="*/ 0 w 1988"/>
                <a:gd name="T3" fmla="*/ 933 h 1842"/>
                <a:gd name="T4" fmla="*/ 120 w 1988"/>
                <a:gd name="T5" fmla="*/ 423 h 1842"/>
                <a:gd name="T6" fmla="*/ 518 w 1988"/>
                <a:gd name="T7" fmla="*/ 91 h 1842"/>
                <a:gd name="T8" fmla="*/ 1033 w 1988"/>
                <a:gd name="T9" fmla="*/ 0 h 1842"/>
                <a:gd name="T10" fmla="*/ 1618 w 1988"/>
                <a:gd name="T11" fmla="*/ 125 h 1842"/>
                <a:gd name="T12" fmla="*/ 1950 w 1988"/>
                <a:gd name="T13" fmla="*/ 531 h 1842"/>
                <a:gd name="T14" fmla="*/ 1966 w 1988"/>
                <a:gd name="T15" fmla="*/ 643 h 1842"/>
                <a:gd name="T16" fmla="*/ 1481 w 1988"/>
                <a:gd name="T17" fmla="*/ 643 h 1842"/>
                <a:gd name="T18" fmla="*/ 1456 w 1988"/>
                <a:gd name="T19" fmla="*/ 506 h 1842"/>
                <a:gd name="T20" fmla="*/ 1240 w 1988"/>
                <a:gd name="T21" fmla="*/ 303 h 1842"/>
                <a:gd name="T22" fmla="*/ 1037 w 1988"/>
                <a:gd name="T23" fmla="*/ 274 h 1842"/>
                <a:gd name="T24" fmla="*/ 809 w 1988"/>
                <a:gd name="T25" fmla="*/ 315 h 1842"/>
                <a:gd name="T26" fmla="*/ 556 w 1988"/>
                <a:gd name="T27" fmla="*/ 573 h 1842"/>
                <a:gd name="T28" fmla="*/ 494 w 1988"/>
                <a:gd name="T29" fmla="*/ 942 h 1842"/>
                <a:gd name="T30" fmla="*/ 539 w 1988"/>
                <a:gd name="T31" fmla="*/ 1249 h 1842"/>
                <a:gd name="T32" fmla="*/ 792 w 1988"/>
                <a:gd name="T33" fmla="*/ 1527 h 1842"/>
                <a:gd name="T34" fmla="*/ 1041 w 1988"/>
                <a:gd name="T35" fmla="*/ 1572 h 1842"/>
                <a:gd name="T36" fmla="*/ 1257 w 1988"/>
                <a:gd name="T37" fmla="*/ 1539 h 1842"/>
                <a:gd name="T38" fmla="*/ 1460 w 1988"/>
                <a:gd name="T39" fmla="*/ 1356 h 1842"/>
                <a:gd name="T40" fmla="*/ 1497 w 1988"/>
                <a:gd name="T41" fmla="*/ 1170 h 1842"/>
                <a:gd name="T42" fmla="*/ 1987 w 1988"/>
                <a:gd name="T43" fmla="*/ 1170 h 1842"/>
                <a:gd name="T44" fmla="*/ 1962 w 1988"/>
                <a:gd name="T45" fmla="*/ 1336 h 1842"/>
                <a:gd name="T46" fmla="*/ 1638 w 1988"/>
                <a:gd name="T47" fmla="*/ 1721 h 1842"/>
                <a:gd name="T48" fmla="*/ 1041 w 1988"/>
                <a:gd name="T49" fmla="*/ 1841 h 1842"/>
                <a:gd name="T50" fmla="*/ 568 w 1988"/>
                <a:gd name="T51" fmla="*/ 1771 h 1842"/>
                <a:gd name="T52" fmla="*/ 62 w 1988"/>
                <a:gd name="T53" fmla="*/ 1307 h 18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988" h="1842">
                  <a:moveTo>
                    <a:pt x="62" y="1307"/>
                  </a:moveTo>
                  <a:cubicBezTo>
                    <a:pt x="21" y="1191"/>
                    <a:pt x="0" y="1066"/>
                    <a:pt x="0" y="933"/>
                  </a:cubicBezTo>
                  <a:cubicBezTo>
                    <a:pt x="0" y="751"/>
                    <a:pt x="33" y="573"/>
                    <a:pt x="120" y="423"/>
                  </a:cubicBezTo>
                  <a:cubicBezTo>
                    <a:pt x="211" y="270"/>
                    <a:pt x="348" y="154"/>
                    <a:pt x="518" y="91"/>
                  </a:cubicBezTo>
                  <a:cubicBezTo>
                    <a:pt x="680" y="33"/>
                    <a:pt x="850" y="0"/>
                    <a:pt x="1033" y="0"/>
                  </a:cubicBezTo>
                  <a:cubicBezTo>
                    <a:pt x="1240" y="0"/>
                    <a:pt x="1439" y="46"/>
                    <a:pt x="1618" y="125"/>
                  </a:cubicBezTo>
                  <a:cubicBezTo>
                    <a:pt x="1784" y="195"/>
                    <a:pt x="1912" y="349"/>
                    <a:pt x="1950" y="531"/>
                  </a:cubicBezTo>
                  <a:cubicBezTo>
                    <a:pt x="1958" y="568"/>
                    <a:pt x="1962" y="606"/>
                    <a:pt x="1966" y="643"/>
                  </a:cubicBezTo>
                  <a:lnTo>
                    <a:pt x="1481" y="643"/>
                  </a:lnTo>
                  <a:cubicBezTo>
                    <a:pt x="1481" y="597"/>
                    <a:pt x="1472" y="552"/>
                    <a:pt x="1456" y="506"/>
                  </a:cubicBezTo>
                  <a:cubicBezTo>
                    <a:pt x="1419" y="411"/>
                    <a:pt x="1340" y="332"/>
                    <a:pt x="1240" y="303"/>
                  </a:cubicBezTo>
                  <a:cubicBezTo>
                    <a:pt x="1174" y="282"/>
                    <a:pt x="1107" y="274"/>
                    <a:pt x="1037" y="274"/>
                  </a:cubicBezTo>
                  <a:cubicBezTo>
                    <a:pt x="958" y="274"/>
                    <a:pt x="879" y="286"/>
                    <a:pt x="809" y="315"/>
                  </a:cubicBezTo>
                  <a:cubicBezTo>
                    <a:pt x="688" y="357"/>
                    <a:pt x="597" y="452"/>
                    <a:pt x="556" y="573"/>
                  </a:cubicBezTo>
                  <a:cubicBezTo>
                    <a:pt x="514" y="689"/>
                    <a:pt x="494" y="813"/>
                    <a:pt x="494" y="942"/>
                  </a:cubicBezTo>
                  <a:cubicBezTo>
                    <a:pt x="494" y="1050"/>
                    <a:pt x="510" y="1153"/>
                    <a:pt x="539" y="1249"/>
                  </a:cubicBezTo>
                  <a:cubicBezTo>
                    <a:pt x="572" y="1377"/>
                    <a:pt x="672" y="1481"/>
                    <a:pt x="792" y="1527"/>
                  </a:cubicBezTo>
                  <a:cubicBezTo>
                    <a:pt x="871" y="1556"/>
                    <a:pt x="954" y="1572"/>
                    <a:pt x="1041" y="1572"/>
                  </a:cubicBezTo>
                  <a:cubicBezTo>
                    <a:pt x="1116" y="1572"/>
                    <a:pt x="1186" y="1560"/>
                    <a:pt x="1257" y="1539"/>
                  </a:cubicBezTo>
                  <a:cubicBezTo>
                    <a:pt x="1348" y="1510"/>
                    <a:pt x="1423" y="1444"/>
                    <a:pt x="1460" y="1356"/>
                  </a:cubicBezTo>
                  <a:cubicBezTo>
                    <a:pt x="1485" y="1298"/>
                    <a:pt x="1497" y="1236"/>
                    <a:pt x="1497" y="1170"/>
                  </a:cubicBezTo>
                  <a:lnTo>
                    <a:pt x="1987" y="1170"/>
                  </a:lnTo>
                  <a:cubicBezTo>
                    <a:pt x="1983" y="1228"/>
                    <a:pt x="1974" y="1282"/>
                    <a:pt x="1962" y="1336"/>
                  </a:cubicBezTo>
                  <a:cubicBezTo>
                    <a:pt x="1920" y="1510"/>
                    <a:pt x="1800" y="1655"/>
                    <a:pt x="1638" y="1721"/>
                  </a:cubicBezTo>
                  <a:cubicBezTo>
                    <a:pt x="1456" y="1800"/>
                    <a:pt x="1253" y="1841"/>
                    <a:pt x="1041" y="1841"/>
                  </a:cubicBezTo>
                  <a:cubicBezTo>
                    <a:pt x="875" y="1841"/>
                    <a:pt x="718" y="1817"/>
                    <a:pt x="568" y="1771"/>
                  </a:cubicBezTo>
                  <a:cubicBezTo>
                    <a:pt x="336" y="1692"/>
                    <a:pt x="137" y="1527"/>
                    <a:pt x="62" y="1307"/>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51" name="Freeform 8">
              <a:extLst>
                <a:ext uri="{FF2B5EF4-FFF2-40B4-BE49-F238E27FC236}">
                  <a16:creationId xmlns:a16="http://schemas.microsoft.com/office/drawing/2014/main" id="{9BEF782E-D5DE-734F-9C51-AB343EB194F6}"/>
                </a:ext>
              </a:extLst>
            </p:cNvPr>
            <p:cNvSpPr>
              <a:spLocks noChangeArrowheads="1"/>
            </p:cNvSpPr>
            <p:nvPr/>
          </p:nvSpPr>
          <p:spPr bwMode="auto">
            <a:xfrm>
              <a:off x="2751138" y="4083050"/>
              <a:ext cx="153987" cy="398463"/>
            </a:xfrm>
            <a:custGeom>
              <a:avLst/>
              <a:gdLst>
                <a:gd name="T0" fmla="*/ 415 w 428"/>
                <a:gd name="T1" fmla="*/ 0 h 1109"/>
                <a:gd name="T2" fmla="*/ 0 w 428"/>
                <a:gd name="T3" fmla="*/ 38 h 1109"/>
                <a:gd name="T4" fmla="*/ 0 w 428"/>
                <a:gd name="T5" fmla="*/ 100 h 1109"/>
                <a:gd name="T6" fmla="*/ 12 w 428"/>
                <a:gd name="T7" fmla="*/ 100 h 1109"/>
                <a:gd name="T8" fmla="*/ 178 w 428"/>
                <a:gd name="T9" fmla="*/ 241 h 1109"/>
                <a:gd name="T10" fmla="*/ 178 w 428"/>
                <a:gd name="T11" fmla="*/ 1108 h 1109"/>
                <a:gd name="T12" fmla="*/ 427 w 428"/>
                <a:gd name="T13" fmla="*/ 1108 h 1109"/>
                <a:gd name="T14" fmla="*/ 427 w 428"/>
                <a:gd name="T15" fmla="*/ 0 h 1109"/>
                <a:gd name="T16" fmla="*/ 415 w 428"/>
                <a:gd name="T17" fmla="*/ 0 h 1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28" h="1109">
                  <a:moveTo>
                    <a:pt x="415" y="0"/>
                  </a:moveTo>
                  <a:lnTo>
                    <a:pt x="0" y="38"/>
                  </a:lnTo>
                  <a:lnTo>
                    <a:pt x="0" y="100"/>
                  </a:lnTo>
                  <a:lnTo>
                    <a:pt x="12" y="100"/>
                  </a:lnTo>
                  <a:cubicBezTo>
                    <a:pt x="178" y="121"/>
                    <a:pt x="178" y="121"/>
                    <a:pt x="178" y="241"/>
                  </a:cubicBezTo>
                  <a:lnTo>
                    <a:pt x="178" y="1108"/>
                  </a:lnTo>
                  <a:lnTo>
                    <a:pt x="427" y="1108"/>
                  </a:lnTo>
                  <a:lnTo>
                    <a:pt x="427" y="0"/>
                  </a:lnTo>
                  <a:lnTo>
                    <a:pt x="415"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52" name="Freeform 9">
              <a:extLst>
                <a:ext uri="{FF2B5EF4-FFF2-40B4-BE49-F238E27FC236}">
                  <a16:creationId xmlns:a16="http://schemas.microsoft.com/office/drawing/2014/main" id="{0C8F20BF-80B8-AA43-8103-58006CF5B9E1}"/>
                </a:ext>
              </a:extLst>
            </p:cNvPr>
            <p:cNvSpPr>
              <a:spLocks noChangeArrowheads="1"/>
            </p:cNvSpPr>
            <p:nvPr/>
          </p:nvSpPr>
          <p:spPr bwMode="auto">
            <a:xfrm>
              <a:off x="2986088" y="4198938"/>
              <a:ext cx="315912" cy="282575"/>
            </a:xfrm>
            <a:custGeom>
              <a:avLst/>
              <a:gdLst>
                <a:gd name="T0" fmla="*/ 643 w 876"/>
                <a:gd name="T1" fmla="*/ 4 h 785"/>
                <a:gd name="T2" fmla="*/ 353 w 876"/>
                <a:gd name="T3" fmla="*/ 170 h 785"/>
                <a:gd name="T4" fmla="*/ 353 w 876"/>
                <a:gd name="T5" fmla="*/ 0 h 785"/>
                <a:gd name="T6" fmla="*/ 336 w 876"/>
                <a:gd name="T7" fmla="*/ 4 h 785"/>
                <a:gd name="T8" fmla="*/ 0 w 876"/>
                <a:gd name="T9" fmla="*/ 58 h 785"/>
                <a:gd name="T10" fmla="*/ 0 w 876"/>
                <a:gd name="T11" fmla="*/ 116 h 785"/>
                <a:gd name="T12" fmla="*/ 17 w 876"/>
                <a:gd name="T13" fmla="*/ 116 h 785"/>
                <a:gd name="T14" fmla="*/ 145 w 876"/>
                <a:gd name="T15" fmla="*/ 240 h 785"/>
                <a:gd name="T16" fmla="*/ 145 w 876"/>
                <a:gd name="T17" fmla="*/ 784 h 785"/>
                <a:gd name="T18" fmla="*/ 353 w 876"/>
                <a:gd name="T19" fmla="*/ 784 h 785"/>
                <a:gd name="T20" fmla="*/ 353 w 876"/>
                <a:gd name="T21" fmla="*/ 386 h 785"/>
                <a:gd name="T22" fmla="*/ 560 w 876"/>
                <a:gd name="T23" fmla="*/ 141 h 785"/>
                <a:gd name="T24" fmla="*/ 664 w 876"/>
                <a:gd name="T25" fmla="*/ 361 h 785"/>
                <a:gd name="T26" fmla="*/ 664 w 876"/>
                <a:gd name="T27" fmla="*/ 784 h 785"/>
                <a:gd name="T28" fmla="*/ 871 w 876"/>
                <a:gd name="T29" fmla="*/ 784 h 785"/>
                <a:gd name="T30" fmla="*/ 871 w 876"/>
                <a:gd name="T31" fmla="*/ 240 h 785"/>
                <a:gd name="T32" fmla="*/ 643 w 876"/>
                <a:gd name="T33" fmla="*/ 4 h 7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76" h="785">
                  <a:moveTo>
                    <a:pt x="643" y="4"/>
                  </a:moveTo>
                  <a:cubicBezTo>
                    <a:pt x="490" y="4"/>
                    <a:pt x="398" y="108"/>
                    <a:pt x="353" y="170"/>
                  </a:cubicBezTo>
                  <a:cubicBezTo>
                    <a:pt x="353" y="112"/>
                    <a:pt x="353" y="0"/>
                    <a:pt x="353" y="0"/>
                  </a:cubicBezTo>
                  <a:lnTo>
                    <a:pt x="336" y="4"/>
                  </a:lnTo>
                  <a:lnTo>
                    <a:pt x="0" y="58"/>
                  </a:lnTo>
                  <a:lnTo>
                    <a:pt x="0" y="116"/>
                  </a:lnTo>
                  <a:lnTo>
                    <a:pt x="17" y="116"/>
                  </a:lnTo>
                  <a:cubicBezTo>
                    <a:pt x="124" y="120"/>
                    <a:pt x="145" y="141"/>
                    <a:pt x="145" y="240"/>
                  </a:cubicBezTo>
                  <a:lnTo>
                    <a:pt x="145" y="784"/>
                  </a:lnTo>
                  <a:lnTo>
                    <a:pt x="353" y="784"/>
                  </a:lnTo>
                  <a:lnTo>
                    <a:pt x="353" y="386"/>
                  </a:lnTo>
                  <a:cubicBezTo>
                    <a:pt x="353" y="278"/>
                    <a:pt x="452" y="141"/>
                    <a:pt x="560" y="141"/>
                  </a:cubicBezTo>
                  <a:cubicBezTo>
                    <a:pt x="660" y="141"/>
                    <a:pt x="664" y="224"/>
                    <a:pt x="664" y="361"/>
                  </a:cubicBezTo>
                  <a:lnTo>
                    <a:pt x="664" y="784"/>
                  </a:lnTo>
                  <a:lnTo>
                    <a:pt x="871" y="784"/>
                  </a:lnTo>
                  <a:lnTo>
                    <a:pt x="871" y="240"/>
                  </a:lnTo>
                  <a:cubicBezTo>
                    <a:pt x="875" y="87"/>
                    <a:pt x="792" y="4"/>
                    <a:pt x="643" y="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53" name="Freeform 10">
              <a:extLst>
                <a:ext uri="{FF2B5EF4-FFF2-40B4-BE49-F238E27FC236}">
                  <a16:creationId xmlns:a16="http://schemas.microsoft.com/office/drawing/2014/main" id="{5B65AB5A-E732-2349-89E5-B07E524928B0}"/>
                </a:ext>
              </a:extLst>
            </p:cNvPr>
            <p:cNvSpPr>
              <a:spLocks noChangeArrowheads="1"/>
            </p:cNvSpPr>
            <p:nvPr/>
          </p:nvSpPr>
          <p:spPr bwMode="auto">
            <a:xfrm>
              <a:off x="3386138" y="4200525"/>
              <a:ext cx="212725" cy="288925"/>
            </a:xfrm>
            <a:custGeom>
              <a:avLst/>
              <a:gdLst>
                <a:gd name="T0" fmla="*/ 348 w 590"/>
                <a:gd name="T1" fmla="*/ 303 h 802"/>
                <a:gd name="T2" fmla="*/ 195 w 590"/>
                <a:gd name="T3" fmla="*/ 170 h 802"/>
                <a:gd name="T4" fmla="*/ 307 w 590"/>
                <a:gd name="T5" fmla="*/ 100 h 802"/>
                <a:gd name="T6" fmla="*/ 502 w 590"/>
                <a:gd name="T7" fmla="*/ 166 h 802"/>
                <a:gd name="T8" fmla="*/ 535 w 590"/>
                <a:gd name="T9" fmla="*/ 187 h 802"/>
                <a:gd name="T10" fmla="*/ 535 w 590"/>
                <a:gd name="T11" fmla="*/ 162 h 802"/>
                <a:gd name="T12" fmla="*/ 535 w 590"/>
                <a:gd name="T13" fmla="*/ 33 h 802"/>
                <a:gd name="T14" fmla="*/ 506 w 590"/>
                <a:gd name="T15" fmla="*/ 25 h 802"/>
                <a:gd name="T16" fmla="*/ 315 w 590"/>
                <a:gd name="T17" fmla="*/ 0 h 802"/>
                <a:gd name="T18" fmla="*/ 0 w 590"/>
                <a:gd name="T19" fmla="*/ 224 h 802"/>
                <a:gd name="T20" fmla="*/ 228 w 590"/>
                <a:gd name="T21" fmla="*/ 465 h 802"/>
                <a:gd name="T22" fmla="*/ 390 w 590"/>
                <a:gd name="T23" fmla="*/ 606 h 802"/>
                <a:gd name="T24" fmla="*/ 249 w 590"/>
                <a:gd name="T25" fmla="*/ 697 h 802"/>
                <a:gd name="T26" fmla="*/ 20 w 590"/>
                <a:gd name="T27" fmla="*/ 618 h 802"/>
                <a:gd name="T28" fmla="*/ 0 w 590"/>
                <a:gd name="T29" fmla="*/ 606 h 802"/>
                <a:gd name="T30" fmla="*/ 0 w 590"/>
                <a:gd name="T31" fmla="*/ 767 h 802"/>
                <a:gd name="T32" fmla="*/ 16 w 590"/>
                <a:gd name="T33" fmla="*/ 771 h 802"/>
                <a:gd name="T34" fmla="*/ 244 w 590"/>
                <a:gd name="T35" fmla="*/ 801 h 802"/>
                <a:gd name="T36" fmla="*/ 580 w 590"/>
                <a:gd name="T37" fmla="*/ 568 h 802"/>
                <a:gd name="T38" fmla="*/ 348 w 590"/>
                <a:gd name="T39" fmla="*/ 303 h 8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590" h="802">
                  <a:moveTo>
                    <a:pt x="348" y="303"/>
                  </a:moveTo>
                  <a:cubicBezTo>
                    <a:pt x="265" y="261"/>
                    <a:pt x="195" y="228"/>
                    <a:pt x="195" y="170"/>
                  </a:cubicBezTo>
                  <a:cubicBezTo>
                    <a:pt x="195" y="104"/>
                    <a:pt x="274" y="100"/>
                    <a:pt x="307" y="100"/>
                  </a:cubicBezTo>
                  <a:cubicBezTo>
                    <a:pt x="394" y="100"/>
                    <a:pt x="468" y="145"/>
                    <a:pt x="502" y="166"/>
                  </a:cubicBezTo>
                  <a:lnTo>
                    <a:pt x="535" y="187"/>
                  </a:lnTo>
                  <a:lnTo>
                    <a:pt x="535" y="162"/>
                  </a:lnTo>
                  <a:lnTo>
                    <a:pt x="535" y="33"/>
                  </a:lnTo>
                  <a:lnTo>
                    <a:pt x="506" y="25"/>
                  </a:lnTo>
                  <a:cubicBezTo>
                    <a:pt x="468" y="17"/>
                    <a:pt x="398" y="0"/>
                    <a:pt x="315" y="0"/>
                  </a:cubicBezTo>
                  <a:cubicBezTo>
                    <a:pt x="120" y="0"/>
                    <a:pt x="0" y="83"/>
                    <a:pt x="0" y="224"/>
                  </a:cubicBezTo>
                  <a:cubicBezTo>
                    <a:pt x="0" y="353"/>
                    <a:pt x="124" y="411"/>
                    <a:pt x="228" y="465"/>
                  </a:cubicBezTo>
                  <a:cubicBezTo>
                    <a:pt x="311" y="506"/>
                    <a:pt x="390" y="543"/>
                    <a:pt x="390" y="606"/>
                  </a:cubicBezTo>
                  <a:cubicBezTo>
                    <a:pt x="390" y="664"/>
                    <a:pt x="340" y="697"/>
                    <a:pt x="249" y="697"/>
                  </a:cubicBezTo>
                  <a:cubicBezTo>
                    <a:pt x="149" y="697"/>
                    <a:pt x="70" y="647"/>
                    <a:pt x="20" y="618"/>
                  </a:cubicBezTo>
                  <a:lnTo>
                    <a:pt x="0" y="606"/>
                  </a:lnTo>
                  <a:lnTo>
                    <a:pt x="0" y="767"/>
                  </a:lnTo>
                  <a:lnTo>
                    <a:pt x="16" y="771"/>
                  </a:lnTo>
                  <a:cubicBezTo>
                    <a:pt x="58" y="780"/>
                    <a:pt x="137" y="801"/>
                    <a:pt x="244" y="801"/>
                  </a:cubicBezTo>
                  <a:cubicBezTo>
                    <a:pt x="456" y="801"/>
                    <a:pt x="580" y="713"/>
                    <a:pt x="580" y="568"/>
                  </a:cubicBezTo>
                  <a:cubicBezTo>
                    <a:pt x="589" y="419"/>
                    <a:pt x="460" y="357"/>
                    <a:pt x="348" y="30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54" name="Freeform 11">
              <a:extLst>
                <a:ext uri="{FF2B5EF4-FFF2-40B4-BE49-F238E27FC236}">
                  <a16:creationId xmlns:a16="http://schemas.microsoft.com/office/drawing/2014/main" id="{18907CF9-1658-E045-9ADF-2C0EB3806774}"/>
                </a:ext>
              </a:extLst>
            </p:cNvPr>
            <p:cNvSpPr>
              <a:spLocks noChangeArrowheads="1"/>
            </p:cNvSpPr>
            <p:nvPr/>
          </p:nvSpPr>
          <p:spPr bwMode="auto">
            <a:xfrm>
              <a:off x="3635375" y="4198938"/>
              <a:ext cx="325438" cy="396875"/>
            </a:xfrm>
            <a:custGeom>
              <a:avLst/>
              <a:gdLst>
                <a:gd name="T0" fmla="*/ 577 w 906"/>
                <a:gd name="T1" fmla="*/ 4 h 1104"/>
                <a:gd name="T2" fmla="*/ 357 w 906"/>
                <a:gd name="T3" fmla="*/ 112 h 1104"/>
                <a:gd name="T4" fmla="*/ 357 w 906"/>
                <a:gd name="T5" fmla="*/ 0 h 1104"/>
                <a:gd name="T6" fmla="*/ 336 w 906"/>
                <a:gd name="T7" fmla="*/ 4 h 1104"/>
                <a:gd name="T8" fmla="*/ 0 w 906"/>
                <a:gd name="T9" fmla="*/ 58 h 1104"/>
                <a:gd name="T10" fmla="*/ 0 w 906"/>
                <a:gd name="T11" fmla="*/ 116 h 1104"/>
                <a:gd name="T12" fmla="*/ 13 w 906"/>
                <a:gd name="T13" fmla="*/ 116 h 1104"/>
                <a:gd name="T14" fmla="*/ 137 w 906"/>
                <a:gd name="T15" fmla="*/ 240 h 1104"/>
                <a:gd name="T16" fmla="*/ 137 w 906"/>
                <a:gd name="T17" fmla="*/ 1103 h 1104"/>
                <a:gd name="T18" fmla="*/ 345 w 906"/>
                <a:gd name="T19" fmla="*/ 1103 h 1104"/>
                <a:gd name="T20" fmla="*/ 345 w 906"/>
                <a:gd name="T21" fmla="*/ 709 h 1104"/>
                <a:gd name="T22" fmla="*/ 560 w 906"/>
                <a:gd name="T23" fmla="*/ 800 h 1104"/>
                <a:gd name="T24" fmla="*/ 896 w 906"/>
                <a:gd name="T25" fmla="*/ 390 h 1104"/>
                <a:gd name="T26" fmla="*/ 577 w 906"/>
                <a:gd name="T27" fmla="*/ 4 h 1104"/>
                <a:gd name="T28" fmla="*/ 515 w 906"/>
                <a:gd name="T29" fmla="*/ 120 h 1104"/>
                <a:gd name="T30" fmla="*/ 672 w 906"/>
                <a:gd name="T31" fmla="*/ 394 h 1104"/>
                <a:gd name="T32" fmla="*/ 515 w 906"/>
                <a:gd name="T33" fmla="*/ 688 h 1104"/>
                <a:gd name="T34" fmla="*/ 349 w 906"/>
                <a:gd name="T35" fmla="*/ 456 h 1104"/>
                <a:gd name="T36" fmla="*/ 349 w 906"/>
                <a:gd name="T37" fmla="*/ 390 h 1104"/>
                <a:gd name="T38" fmla="*/ 515 w 906"/>
                <a:gd name="T39" fmla="*/ 120 h 1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906" h="1104">
                  <a:moveTo>
                    <a:pt x="577" y="4"/>
                  </a:moveTo>
                  <a:cubicBezTo>
                    <a:pt x="498" y="4"/>
                    <a:pt x="424" y="41"/>
                    <a:pt x="357" y="112"/>
                  </a:cubicBezTo>
                  <a:cubicBezTo>
                    <a:pt x="357" y="75"/>
                    <a:pt x="357" y="0"/>
                    <a:pt x="357" y="0"/>
                  </a:cubicBezTo>
                  <a:lnTo>
                    <a:pt x="336" y="4"/>
                  </a:lnTo>
                  <a:lnTo>
                    <a:pt x="0" y="58"/>
                  </a:lnTo>
                  <a:lnTo>
                    <a:pt x="0" y="116"/>
                  </a:lnTo>
                  <a:lnTo>
                    <a:pt x="13" y="116"/>
                  </a:lnTo>
                  <a:cubicBezTo>
                    <a:pt x="117" y="120"/>
                    <a:pt x="137" y="141"/>
                    <a:pt x="137" y="240"/>
                  </a:cubicBezTo>
                  <a:lnTo>
                    <a:pt x="137" y="1103"/>
                  </a:lnTo>
                  <a:lnTo>
                    <a:pt x="345" y="1103"/>
                  </a:lnTo>
                  <a:cubicBezTo>
                    <a:pt x="345" y="1103"/>
                    <a:pt x="345" y="775"/>
                    <a:pt x="345" y="709"/>
                  </a:cubicBezTo>
                  <a:cubicBezTo>
                    <a:pt x="382" y="755"/>
                    <a:pt x="444" y="800"/>
                    <a:pt x="560" y="800"/>
                  </a:cubicBezTo>
                  <a:cubicBezTo>
                    <a:pt x="780" y="800"/>
                    <a:pt x="896" y="659"/>
                    <a:pt x="896" y="390"/>
                  </a:cubicBezTo>
                  <a:cubicBezTo>
                    <a:pt x="905" y="145"/>
                    <a:pt x="784" y="4"/>
                    <a:pt x="577" y="4"/>
                  </a:cubicBezTo>
                  <a:close/>
                  <a:moveTo>
                    <a:pt x="515" y="120"/>
                  </a:moveTo>
                  <a:cubicBezTo>
                    <a:pt x="656" y="120"/>
                    <a:pt x="672" y="274"/>
                    <a:pt x="672" y="394"/>
                  </a:cubicBezTo>
                  <a:cubicBezTo>
                    <a:pt x="672" y="593"/>
                    <a:pt x="623" y="688"/>
                    <a:pt x="515" y="688"/>
                  </a:cubicBezTo>
                  <a:cubicBezTo>
                    <a:pt x="378" y="688"/>
                    <a:pt x="349" y="560"/>
                    <a:pt x="349" y="456"/>
                  </a:cubicBezTo>
                  <a:lnTo>
                    <a:pt x="349" y="390"/>
                  </a:lnTo>
                  <a:cubicBezTo>
                    <a:pt x="353" y="307"/>
                    <a:pt x="370" y="120"/>
                    <a:pt x="515" y="120"/>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55" name="Freeform 12">
              <a:extLst>
                <a:ext uri="{FF2B5EF4-FFF2-40B4-BE49-F238E27FC236}">
                  <a16:creationId xmlns:a16="http://schemas.microsoft.com/office/drawing/2014/main" id="{6582D328-B23E-7E45-9263-09C953540134}"/>
                </a:ext>
              </a:extLst>
            </p:cNvPr>
            <p:cNvSpPr>
              <a:spLocks noChangeArrowheads="1"/>
            </p:cNvSpPr>
            <p:nvPr/>
          </p:nvSpPr>
          <p:spPr bwMode="auto">
            <a:xfrm>
              <a:off x="4013200" y="4198938"/>
              <a:ext cx="123825" cy="282575"/>
            </a:xfrm>
            <a:custGeom>
              <a:avLst/>
              <a:gdLst>
                <a:gd name="T0" fmla="*/ 0 w 345"/>
                <a:gd name="T1" fmla="*/ 58 h 785"/>
                <a:gd name="T2" fmla="*/ 0 w 345"/>
                <a:gd name="T3" fmla="*/ 116 h 785"/>
                <a:gd name="T4" fmla="*/ 12 w 345"/>
                <a:gd name="T5" fmla="*/ 116 h 785"/>
                <a:gd name="T6" fmla="*/ 137 w 345"/>
                <a:gd name="T7" fmla="*/ 240 h 785"/>
                <a:gd name="T8" fmla="*/ 137 w 345"/>
                <a:gd name="T9" fmla="*/ 784 h 785"/>
                <a:gd name="T10" fmla="*/ 344 w 345"/>
                <a:gd name="T11" fmla="*/ 784 h 785"/>
                <a:gd name="T12" fmla="*/ 344 w 345"/>
                <a:gd name="T13" fmla="*/ 0 h 785"/>
                <a:gd name="T14" fmla="*/ 328 w 345"/>
                <a:gd name="T15" fmla="*/ 4 h 785"/>
                <a:gd name="T16" fmla="*/ 0 w 345"/>
                <a:gd name="T17" fmla="*/ 58 h 7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45" h="785">
                  <a:moveTo>
                    <a:pt x="0" y="58"/>
                  </a:moveTo>
                  <a:lnTo>
                    <a:pt x="0" y="116"/>
                  </a:lnTo>
                  <a:lnTo>
                    <a:pt x="12" y="116"/>
                  </a:lnTo>
                  <a:cubicBezTo>
                    <a:pt x="116" y="120"/>
                    <a:pt x="137" y="141"/>
                    <a:pt x="137" y="240"/>
                  </a:cubicBezTo>
                  <a:lnTo>
                    <a:pt x="137" y="784"/>
                  </a:lnTo>
                  <a:lnTo>
                    <a:pt x="344" y="784"/>
                  </a:lnTo>
                  <a:lnTo>
                    <a:pt x="344" y="0"/>
                  </a:lnTo>
                  <a:lnTo>
                    <a:pt x="328" y="4"/>
                  </a:lnTo>
                  <a:lnTo>
                    <a:pt x="0" y="58"/>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59" name="Freeform 13">
              <a:extLst>
                <a:ext uri="{FF2B5EF4-FFF2-40B4-BE49-F238E27FC236}">
                  <a16:creationId xmlns:a16="http://schemas.microsoft.com/office/drawing/2014/main" id="{1C5D63DB-4DD9-2E40-B566-7E733EBF8861}"/>
                </a:ext>
              </a:extLst>
            </p:cNvPr>
            <p:cNvSpPr>
              <a:spLocks noChangeArrowheads="1"/>
            </p:cNvSpPr>
            <p:nvPr/>
          </p:nvSpPr>
          <p:spPr bwMode="auto">
            <a:xfrm>
              <a:off x="4056063" y="4084638"/>
              <a:ext cx="93662" cy="82550"/>
            </a:xfrm>
            <a:custGeom>
              <a:avLst/>
              <a:gdLst>
                <a:gd name="T0" fmla="*/ 129 w 262"/>
                <a:gd name="T1" fmla="*/ 228 h 229"/>
                <a:gd name="T2" fmla="*/ 261 w 262"/>
                <a:gd name="T3" fmla="*/ 112 h 229"/>
                <a:gd name="T4" fmla="*/ 133 w 262"/>
                <a:gd name="T5" fmla="*/ 0 h 229"/>
                <a:gd name="T6" fmla="*/ 4 w 262"/>
                <a:gd name="T7" fmla="*/ 112 h 229"/>
                <a:gd name="T8" fmla="*/ 129 w 262"/>
                <a:gd name="T9" fmla="*/ 228 h 229"/>
              </a:gdLst>
              <a:ahLst/>
              <a:cxnLst>
                <a:cxn ang="0">
                  <a:pos x="T0" y="T1"/>
                </a:cxn>
                <a:cxn ang="0">
                  <a:pos x="T2" y="T3"/>
                </a:cxn>
                <a:cxn ang="0">
                  <a:pos x="T4" y="T5"/>
                </a:cxn>
                <a:cxn ang="0">
                  <a:pos x="T6" y="T7"/>
                </a:cxn>
                <a:cxn ang="0">
                  <a:pos x="T8" y="T9"/>
                </a:cxn>
              </a:cxnLst>
              <a:rect l="0" t="0" r="r" b="b"/>
              <a:pathLst>
                <a:path w="262" h="229">
                  <a:moveTo>
                    <a:pt x="129" y="228"/>
                  </a:moveTo>
                  <a:cubicBezTo>
                    <a:pt x="199" y="228"/>
                    <a:pt x="261" y="178"/>
                    <a:pt x="261" y="112"/>
                  </a:cubicBezTo>
                  <a:cubicBezTo>
                    <a:pt x="261" y="49"/>
                    <a:pt x="203" y="0"/>
                    <a:pt x="133" y="0"/>
                  </a:cubicBezTo>
                  <a:cubicBezTo>
                    <a:pt x="62" y="0"/>
                    <a:pt x="4" y="49"/>
                    <a:pt x="4" y="112"/>
                  </a:cubicBezTo>
                  <a:cubicBezTo>
                    <a:pt x="0" y="178"/>
                    <a:pt x="58" y="228"/>
                    <a:pt x="129" y="228"/>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60" name="Freeform 14">
              <a:extLst>
                <a:ext uri="{FF2B5EF4-FFF2-40B4-BE49-F238E27FC236}">
                  <a16:creationId xmlns:a16="http://schemas.microsoft.com/office/drawing/2014/main" id="{6CC37E30-3AA8-3A4D-938A-A8B8E7A953F9}"/>
                </a:ext>
              </a:extLst>
            </p:cNvPr>
            <p:cNvSpPr>
              <a:spLocks noChangeArrowheads="1"/>
            </p:cNvSpPr>
            <p:nvPr/>
          </p:nvSpPr>
          <p:spPr bwMode="auto">
            <a:xfrm>
              <a:off x="4211638" y="4200525"/>
              <a:ext cx="244475" cy="280988"/>
            </a:xfrm>
            <a:custGeom>
              <a:avLst/>
              <a:gdLst>
                <a:gd name="T0" fmla="*/ 676 w 677"/>
                <a:gd name="T1" fmla="*/ 174 h 781"/>
                <a:gd name="T2" fmla="*/ 676 w 677"/>
                <a:gd name="T3" fmla="*/ 12 h 781"/>
                <a:gd name="T4" fmla="*/ 663 w 677"/>
                <a:gd name="T5" fmla="*/ 12 h 781"/>
                <a:gd name="T6" fmla="*/ 564 w 677"/>
                <a:gd name="T7" fmla="*/ 4 h 781"/>
                <a:gd name="T8" fmla="*/ 348 w 677"/>
                <a:gd name="T9" fmla="*/ 158 h 781"/>
                <a:gd name="T10" fmla="*/ 348 w 677"/>
                <a:gd name="T11" fmla="*/ 0 h 781"/>
                <a:gd name="T12" fmla="*/ 331 w 677"/>
                <a:gd name="T13" fmla="*/ 0 h 781"/>
                <a:gd name="T14" fmla="*/ 0 w 677"/>
                <a:gd name="T15" fmla="*/ 54 h 781"/>
                <a:gd name="T16" fmla="*/ 0 w 677"/>
                <a:gd name="T17" fmla="*/ 112 h 781"/>
                <a:gd name="T18" fmla="*/ 12 w 677"/>
                <a:gd name="T19" fmla="*/ 112 h 781"/>
                <a:gd name="T20" fmla="*/ 141 w 677"/>
                <a:gd name="T21" fmla="*/ 236 h 781"/>
                <a:gd name="T22" fmla="*/ 141 w 677"/>
                <a:gd name="T23" fmla="*/ 780 h 781"/>
                <a:gd name="T24" fmla="*/ 348 w 677"/>
                <a:gd name="T25" fmla="*/ 780 h 781"/>
                <a:gd name="T26" fmla="*/ 348 w 677"/>
                <a:gd name="T27" fmla="*/ 390 h 781"/>
                <a:gd name="T28" fmla="*/ 568 w 677"/>
                <a:gd name="T29" fmla="*/ 170 h 781"/>
                <a:gd name="T30" fmla="*/ 643 w 677"/>
                <a:gd name="T31" fmla="*/ 183 h 781"/>
                <a:gd name="T32" fmla="*/ 676 w 677"/>
                <a:gd name="T33" fmla="*/ 191 h 781"/>
                <a:gd name="T34" fmla="*/ 676 w 677"/>
                <a:gd name="T35" fmla="*/ 174 h 7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77" h="781">
                  <a:moveTo>
                    <a:pt x="676" y="174"/>
                  </a:moveTo>
                  <a:lnTo>
                    <a:pt x="676" y="12"/>
                  </a:lnTo>
                  <a:lnTo>
                    <a:pt x="663" y="12"/>
                  </a:lnTo>
                  <a:cubicBezTo>
                    <a:pt x="630" y="8"/>
                    <a:pt x="593" y="4"/>
                    <a:pt x="564" y="4"/>
                  </a:cubicBezTo>
                  <a:cubicBezTo>
                    <a:pt x="443" y="4"/>
                    <a:pt x="381" y="91"/>
                    <a:pt x="348" y="158"/>
                  </a:cubicBezTo>
                  <a:cubicBezTo>
                    <a:pt x="348" y="95"/>
                    <a:pt x="348" y="0"/>
                    <a:pt x="348" y="0"/>
                  </a:cubicBezTo>
                  <a:lnTo>
                    <a:pt x="331" y="0"/>
                  </a:lnTo>
                  <a:lnTo>
                    <a:pt x="0" y="54"/>
                  </a:lnTo>
                  <a:lnTo>
                    <a:pt x="0" y="112"/>
                  </a:lnTo>
                  <a:lnTo>
                    <a:pt x="12" y="112"/>
                  </a:lnTo>
                  <a:cubicBezTo>
                    <a:pt x="116" y="116"/>
                    <a:pt x="141" y="137"/>
                    <a:pt x="141" y="236"/>
                  </a:cubicBezTo>
                  <a:lnTo>
                    <a:pt x="141" y="780"/>
                  </a:lnTo>
                  <a:lnTo>
                    <a:pt x="348" y="780"/>
                  </a:lnTo>
                  <a:lnTo>
                    <a:pt x="348" y="390"/>
                  </a:lnTo>
                  <a:cubicBezTo>
                    <a:pt x="348" y="324"/>
                    <a:pt x="369" y="170"/>
                    <a:pt x="568" y="170"/>
                  </a:cubicBezTo>
                  <a:cubicBezTo>
                    <a:pt x="593" y="170"/>
                    <a:pt x="618" y="178"/>
                    <a:pt x="643" y="183"/>
                  </a:cubicBezTo>
                  <a:lnTo>
                    <a:pt x="676" y="191"/>
                  </a:lnTo>
                  <a:lnTo>
                    <a:pt x="676" y="174"/>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61" name="Freeform 15">
              <a:extLst>
                <a:ext uri="{FF2B5EF4-FFF2-40B4-BE49-F238E27FC236}">
                  <a16:creationId xmlns:a16="http://schemas.microsoft.com/office/drawing/2014/main" id="{15F29EA2-8A57-A243-BA94-EEAE6BD449BC}"/>
                </a:ext>
              </a:extLst>
            </p:cNvPr>
            <p:cNvSpPr>
              <a:spLocks noChangeArrowheads="1"/>
            </p:cNvSpPr>
            <p:nvPr/>
          </p:nvSpPr>
          <p:spPr bwMode="auto">
            <a:xfrm>
              <a:off x="4486275" y="4200525"/>
              <a:ext cx="266700" cy="287338"/>
            </a:xfrm>
            <a:custGeom>
              <a:avLst/>
              <a:gdLst>
                <a:gd name="T0" fmla="*/ 738 w 743"/>
                <a:gd name="T1" fmla="*/ 315 h 797"/>
                <a:gd name="T2" fmla="*/ 390 w 743"/>
                <a:gd name="T3" fmla="*/ 0 h 797"/>
                <a:gd name="T4" fmla="*/ 0 w 743"/>
                <a:gd name="T5" fmla="*/ 373 h 797"/>
                <a:gd name="T6" fmla="*/ 456 w 743"/>
                <a:gd name="T7" fmla="*/ 796 h 797"/>
                <a:gd name="T8" fmla="*/ 713 w 743"/>
                <a:gd name="T9" fmla="*/ 755 h 797"/>
                <a:gd name="T10" fmla="*/ 726 w 743"/>
                <a:gd name="T11" fmla="*/ 751 h 797"/>
                <a:gd name="T12" fmla="*/ 726 w 743"/>
                <a:gd name="T13" fmla="*/ 651 h 797"/>
                <a:gd name="T14" fmla="*/ 705 w 743"/>
                <a:gd name="T15" fmla="*/ 660 h 797"/>
                <a:gd name="T16" fmla="*/ 543 w 743"/>
                <a:gd name="T17" fmla="*/ 684 h 797"/>
                <a:gd name="T18" fmla="*/ 232 w 743"/>
                <a:gd name="T19" fmla="*/ 332 h 797"/>
                <a:gd name="T20" fmla="*/ 742 w 743"/>
                <a:gd name="T21" fmla="*/ 332 h 797"/>
                <a:gd name="T22" fmla="*/ 742 w 743"/>
                <a:gd name="T23" fmla="*/ 315 h 797"/>
                <a:gd name="T24" fmla="*/ 738 w 743"/>
                <a:gd name="T25" fmla="*/ 315 h 797"/>
                <a:gd name="T26" fmla="*/ 386 w 743"/>
                <a:gd name="T27" fmla="*/ 83 h 797"/>
                <a:gd name="T28" fmla="*/ 531 w 743"/>
                <a:gd name="T29" fmla="*/ 236 h 797"/>
                <a:gd name="T30" fmla="*/ 228 w 743"/>
                <a:gd name="T31" fmla="*/ 236 h 797"/>
                <a:gd name="T32" fmla="*/ 386 w 743"/>
                <a:gd name="T33" fmla="*/ 83 h 7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743" h="797">
                  <a:moveTo>
                    <a:pt x="738" y="315"/>
                  </a:moveTo>
                  <a:cubicBezTo>
                    <a:pt x="738" y="104"/>
                    <a:pt x="622" y="0"/>
                    <a:pt x="390" y="0"/>
                  </a:cubicBezTo>
                  <a:cubicBezTo>
                    <a:pt x="128" y="0"/>
                    <a:pt x="0" y="124"/>
                    <a:pt x="0" y="373"/>
                  </a:cubicBezTo>
                  <a:cubicBezTo>
                    <a:pt x="0" y="639"/>
                    <a:pt x="170" y="796"/>
                    <a:pt x="456" y="796"/>
                  </a:cubicBezTo>
                  <a:cubicBezTo>
                    <a:pt x="581" y="796"/>
                    <a:pt x="676" y="763"/>
                    <a:pt x="713" y="755"/>
                  </a:cubicBezTo>
                  <a:lnTo>
                    <a:pt x="726" y="751"/>
                  </a:lnTo>
                  <a:lnTo>
                    <a:pt x="726" y="651"/>
                  </a:lnTo>
                  <a:lnTo>
                    <a:pt x="705" y="660"/>
                  </a:lnTo>
                  <a:cubicBezTo>
                    <a:pt x="672" y="672"/>
                    <a:pt x="610" y="684"/>
                    <a:pt x="543" y="684"/>
                  </a:cubicBezTo>
                  <a:cubicBezTo>
                    <a:pt x="319" y="684"/>
                    <a:pt x="236" y="498"/>
                    <a:pt x="232" y="332"/>
                  </a:cubicBezTo>
                  <a:cubicBezTo>
                    <a:pt x="261" y="332"/>
                    <a:pt x="742" y="332"/>
                    <a:pt x="742" y="332"/>
                  </a:cubicBezTo>
                  <a:lnTo>
                    <a:pt x="742" y="315"/>
                  </a:lnTo>
                  <a:lnTo>
                    <a:pt x="738" y="315"/>
                  </a:lnTo>
                  <a:close/>
                  <a:moveTo>
                    <a:pt x="386" y="83"/>
                  </a:moveTo>
                  <a:cubicBezTo>
                    <a:pt x="498" y="83"/>
                    <a:pt x="527" y="166"/>
                    <a:pt x="531" y="236"/>
                  </a:cubicBezTo>
                  <a:cubicBezTo>
                    <a:pt x="506" y="236"/>
                    <a:pt x="257" y="236"/>
                    <a:pt x="228" y="236"/>
                  </a:cubicBezTo>
                  <a:cubicBezTo>
                    <a:pt x="232" y="183"/>
                    <a:pt x="269" y="83"/>
                    <a:pt x="386" y="83"/>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62" name="Freeform 16">
              <a:extLst>
                <a:ext uri="{FF2B5EF4-FFF2-40B4-BE49-F238E27FC236}">
                  <a16:creationId xmlns:a16="http://schemas.microsoft.com/office/drawing/2014/main" id="{8896A965-59FA-E943-96EE-601F7005C896}"/>
                </a:ext>
              </a:extLst>
            </p:cNvPr>
            <p:cNvSpPr>
              <a:spLocks noChangeArrowheads="1"/>
            </p:cNvSpPr>
            <p:nvPr/>
          </p:nvSpPr>
          <p:spPr bwMode="auto">
            <a:xfrm>
              <a:off x="5210175" y="4071938"/>
              <a:ext cx="314325" cy="409575"/>
            </a:xfrm>
            <a:custGeom>
              <a:avLst/>
              <a:gdLst>
                <a:gd name="T0" fmla="*/ 634 w 872"/>
                <a:gd name="T1" fmla="*/ 357 h 1138"/>
                <a:gd name="T2" fmla="*/ 348 w 872"/>
                <a:gd name="T3" fmla="*/ 523 h 1138"/>
                <a:gd name="T4" fmla="*/ 348 w 872"/>
                <a:gd name="T5" fmla="*/ 0 h 1138"/>
                <a:gd name="T6" fmla="*/ 332 w 872"/>
                <a:gd name="T7" fmla="*/ 4 h 1138"/>
                <a:gd name="T8" fmla="*/ 0 w 872"/>
                <a:gd name="T9" fmla="*/ 46 h 1138"/>
                <a:gd name="T10" fmla="*/ 0 w 872"/>
                <a:gd name="T11" fmla="*/ 104 h 1138"/>
                <a:gd name="T12" fmla="*/ 16 w 872"/>
                <a:gd name="T13" fmla="*/ 104 h 1138"/>
                <a:gd name="T14" fmla="*/ 141 w 872"/>
                <a:gd name="T15" fmla="*/ 233 h 1138"/>
                <a:gd name="T16" fmla="*/ 141 w 872"/>
                <a:gd name="T17" fmla="*/ 1137 h 1138"/>
                <a:gd name="T18" fmla="*/ 348 w 872"/>
                <a:gd name="T19" fmla="*/ 1137 h 1138"/>
                <a:gd name="T20" fmla="*/ 348 w 872"/>
                <a:gd name="T21" fmla="*/ 747 h 1138"/>
                <a:gd name="T22" fmla="*/ 547 w 872"/>
                <a:gd name="T23" fmla="*/ 494 h 1138"/>
                <a:gd name="T24" fmla="*/ 663 w 872"/>
                <a:gd name="T25" fmla="*/ 660 h 1138"/>
                <a:gd name="T26" fmla="*/ 663 w 872"/>
                <a:gd name="T27" fmla="*/ 1137 h 1138"/>
                <a:gd name="T28" fmla="*/ 871 w 872"/>
                <a:gd name="T29" fmla="*/ 1137 h 1138"/>
                <a:gd name="T30" fmla="*/ 871 w 872"/>
                <a:gd name="T31" fmla="*/ 635 h 1138"/>
                <a:gd name="T32" fmla="*/ 634 w 872"/>
                <a:gd name="T33" fmla="*/ 357 h 1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72" h="1138">
                  <a:moveTo>
                    <a:pt x="634" y="357"/>
                  </a:moveTo>
                  <a:cubicBezTo>
                    <a:pt x="481" y="357"/>
                    <a:pt x="394" y="452"/>
                    <a:pt x="348" y="523"/>
                  </a:cubicBezTo>
                  <a:cubicBezTo>
                    <a:pt x="348" y="440"/>
                    <a:pt x="348" y="0"/>
                    <a:pt x="348" y="0"/>
                  </a:cubicBezTo>
                  <a:lnTo>
                    <a:pt x="332" y="4"/>
                  </a:lnTo>
                  <a:lnTo>
                    <a:pt x="0" y="46"/>
                  </a:lnTo>
                  <a:lnTo>
                    <a:pt x="0" y="104"/>
                  </a:lnTo>
                  <a:lnTo>
                    <a:pt x="16" y="104"/>
                  </a:lnTo>
                  <a:cubicBezTo>
                    <a:pt x="120" y="108"/>
                    <a:pt x="141" y="133"/>
                    <a:pt x="141" y="233"/>
                  </a:cubicBezTo>
                  <a:lnTo>
                    <a:pt x="141" y="1137"/>
                  </a:lnTo>
                  <a:lnTo>
                    <a:pt x="348" y="1137"/>
                  </a:lnTo>
                  <a:lnTo>
                    <a:pt x="348" y="747"/>
                  </a:lnTo>
                  <a:cubicBezTo>
                    <a:pt x="348" y="606"/>
                    <a:pt x="456" y="494"/>
                    <a:pt x="547" y="494"/>
                  </a:cubicBezTo>
                  <a:cubicBezTo>
                    <a:pt x="663" y="494"/>
                    <a:pt x="663" y="581"/>
                    <a:pt x="663" y="660"/>
                  </a:cubicBezTo>
                  <a:lnTo>
                    <a:pt x="663" y="1137"/>
                  </a:lnTo>
                  <a:lnTo>
                    <a:pt x="871" y="1137"/>
                  </a:lnTo>
                  <a:lnTo>
                    <a:pt x="871" y="635"/>
                  </a:lnTo>
                  <a:cubicBezTo>
                    <a:pt x="871" y="552"/>
                    <a:pt x="871" y="357"/>
                    <a:pt x="634" y="357"/>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63" name="Freeform 17">
              <a:extLst>
                <a:ext uri="{FF2B5EF4-FFF2-40B4-BE49-F238E27FC236}">
                  <a16:creationId xmlns:a16="http://schemas.microsoft.com/office/drawing/2014/main" id="{00A05657-BBA5-E04D-A9B7-BB46AB4158F8}"/>
                </a:ext>
              </a:extLst>
            </p:cNvPr>
            <p:cNvSpPr>
              <a:spLocks noChangeArrowheads="1"/>
            </p:cNvSpPr>
            <p:nvPr/>
          </p:nvSpPr>
          <p:spPr bwMode="auto">
            <a:xfrm>
              <a:off x="5594350" y="4200525"/>
              <a:ext cx="266700" cy="287338"/>
            </a:xfrm>
            <a:custGeom>
              <a:avLst/>
              <a:gdLst>
                <a:gd name="T0" fmla="*/ 742 w 743"/>
                <a:gd name="T1" fmla="*/ 315 h 797"/>
                <a:gd name="T2" fmla="*/ 394 w 743"/>
                <a:gd name="T3" fmla="*/ 0 h 797"/>
                <a:gd name="T4" fmla="*/ 0 w 743"/>
                <a:gd name="T5" fmla="*/ 373 h 797"/>
                <a:gd name="T6" fmla="*/ 456 w 743"/>
                <a:gd name="T7" fmla="*/ 796 h 797"/>
                <a:gd name="T8" fmla="*/ 713 w 743"/>
                <a:gd name="T9" fmla="*/ 755 h 797"/>
                <a:gd name="T10" fmla="*/ 726 w 743"/>
                <a:gd name="T11" fmla="*/ 751 h 797"/>
                <a:gd name="T12" fmla="*/ 726 w 743"/>
                <a:gd name="T13" fmla="*/ 651 h 797"/>
                <a:gd name="T14" fmla="*/ 705 w 743"/>
                <a:gd name="T15" fmla="*/ 660 h 797"/>
                <a:gd name="T16" fmla="*/ 543 w 743"/>
                <a:gd name="T17" fmla="*/ 684 h 797"/>
                <a:gd name="T18" fmla="*/ 232 w 743"/>
                <a:gd name="T19" fmla="*/ 332 h 797"/>
                <a:gd name="T20" fmla="*/ 742 w 743"/>
                <a:gd name="T21" fmla="*/ 332 h 797"/>
                <a:gd name="T22" fmla="*/ 742 w 743"/>
                <a:gd name="T23" fmla="*/ 315 h 797"/>
                <a:gd name="T24" fmla="*/ 386 w 743"/>
                <a:gd name="T25" fmla="*/ 83 h 797"/>
                <a:gd name="T26" fmla="*/ 531 w 743"/>
                <a:gd name="T27" fmla="*/ 236 h 797"/>
                <a:gd name="T28" fmla="*/ 228 w 743"/>
                <a:gd name="T29" fmla="*/ 236 h 797"/>
                <a:gd name="T30" fmla="*/ 386 w 743"/>
                <a:gd name="T31" fmla="*/ 83 h 7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743" h="797">
                  <a:moveTo>
                    <a:pt x="742" y="315"/>
                  </a:moveTo>
                  <a:cubicBezTo>
                    <a:pt x="742" y="104"/>
                    <a:pt x="626" y="0"/>
                    <a:pt x="394" y="0"/>
                  </a:cubicBezTo>
                  <a:cubicBezTo>
                    <a:pt x="133" y="0"/>
                    <a:pt x="0" y="124"/>
                    <a:pt x="0" y="373"/>
                  </a:cubicBezTo>
                  <a:cubicBezTo>
                    <a:pt x="0" y="639"/>
                    <a:pt x="170" y="796"/>
                    <a:pt x="456" y="796"/>
                  </a:cubicBezTo>
                  <a:cubicBezTo>
                    <a:pt x="581" y="796"/>
                    <a:pt x="676" y="763"/>
                    <a:pt x="713" y="755"/>
                  </a:cubicBezTo>
                  <a:lnTo>
                    <a:pt x="726" y="751"/>
                  </a:lnTo>
                  <a:lnTo>
                    <a:pt x="726" y="651"/>
                  </a:lnTo>
                  <a:lnTo>
                    <a:pt x="705" y="660"/>
                  </a:lnTo>
                  <a:cubicBezTo>
                    <a:pt x="672" y="672"/>
                    <a:pt x="610" y="684"/>
                    <a:pt x="543" y="684"/>
                  </a:cubicBezTo>
                  <a:cubicBezTo>
                    <a:pt x="319" y="684"/>
                    <a:pt x="236" y="498"/>
                    <a:pt x="232" y="332"/>
                  </a:cubicBezTo>
                  <a:cubicBezTo>
                    <a:pt x="261" y="332"/>
                    <a:pt x="742" y="332"/>
                    <a:pt x="742" y="332"/>
                  </a:cubicBezTo>
                  <a:lnTo>
                    <a:pt x="742" y="315"/>
                  </a:lnTo>
                  <a:close/>
                  <a:moveTo>
                    <a:pt x="386" y="83"/>
                  </a:moveTo>
                  <a:cubicBezTo>
                    <a:pt x="498" y="83"/>
                    <a:pt x="527" y="166"/>
                    <a:pt x="531" y="236"/>
                  </a:cubicBezTo>
                  <a:cubicBezTo>
                    <a:pt x="506" y="236"/>
                    <a:pt x="257" y="236"/>
                    <a:pt x="228" y="236"/>
                  </a:cubicBezTo>
                  <a:cubicBezTo>
                    <a:pt x="236" y="183"/>
                    <a:pt x="270" y="83"/>
                    <a:pt x="386" y="83"/>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64" name="Freeform 18">
              <a:extLst>
                <a:ext uri="{FF2B5EF4-FFF2-40B4-BE49-F238E27FC236}">
                  <a16:creationId xmlns:a16="http://schemas.microsoft.com/office/drawing/2014/main" id="{75D59710-E8C6-394A-9E64-D4371DD86833}"/>
                </a:ext>
              </a:extLst>
            </p:cNvPr>
            <p:cNvSpPr>
              <a:spLocks noChangeArrowheads="1"/>
            </p:cNvSpPr>
            <p:nvPr/>
          </p:nvSpPr>
          <p:spPr bwMode="auto">
            <a:xfrm>
              <a:off x="4964113" y="4121150"/>
              <a:ext cx="212725" cy="366713"/>
            </a:xfrm>
            <a:custGeom>
              <a:avLst/>
              <a:gdLst>
                <a:gd name="T0" fmla="*/ 141 w 589"/>
                <a:gd name="T1" fmla="*/ 237 h 1017"/>
                <a:gd name="T2" fmla="*/ 0 w 589"/>
                <a:gd name="T3" fmla="*/ 237 h 1017"/>
                <a:gd name="T4" fmla="*/ 0 w 589"/>
                <a:gd name="T5" fmla="*/ 328 h 1017"/>
                <a:gd name="T6" fmla="*/ 141 w 589"/>
                <a:gd name="T7" fmla="*/ 328 h 1017"/>
                <a:gd name="T8" fmla="*/ 141 w 589"/>
                <a:gd name="T9" fmla="*/ 797 h 1017"/>
                <a:gd name="T10" fmla="*/ 427 w 589"/>
                <a:gd name="T11" fmla="*/ 1016 h 1017"/>
                <a:gd name="T12" fmla="*/ 551 w 589"/>
                <a:gd name="T13" fmla="*/ 1004 h 1017"/>
                <a:gd name="T14" fmla="*/ 564 w 589"/>
                <a:gd name="T15" fmla="*/ 1004 h 1017"/>
                <a:gd name="T16" fmla="*/ 564 w 589"/>
                <a:gd name="T17" fmla="*/ 909 h 1017"/>
                <a:gd name="T18" fmla="*/ 547 w 589"/>
                <a:gd name="T19" fmla="*/ 913 h 1017"/>
                <a:gd name="T20" fmla="*/ 485 w 589"/>
                <a:gd name="T21" fmla="*/ 917 h 1017"/>
                <a:gd name="T22" fmla="*/ 352 w 589"/>
                <a:gd name="T23" fmla="*/ 772 h 1017"/>
                <a:gd name="T24" fmla="*/ 352 w 589"/>
                <a:gd name="T25" fmla="*/ 328 h 1017"/>
                <a:gd name="T26" fmla="*/ 588 w 589"/>
                <a:gd name="T27" fmla="*/ 328 h 1017"/>
                <a:gd name="T28" fmla="*/ 588 w 589"/>
                <a:gd name="T29" fmla="*/ 237 h 1017"/>
                <a:gd name="T30" fmla="*/ 352 w 589"/>
                <a:gd name="T31" fmla="*/ 237 h 1017"/>
                <a:gd name="T32" fmla="*/ 352 w 589"/>
                <a:gd name="T33" fmla="*/ 0 h 1017"/>
                <a:gd name="T34" fmla="*/ 141 w 589"/>
                <a:gd name="T35" fmla="*/ 0 h 1017"/>
                <a:gd name="T36" fmla="*/ 141 w 589"/>
                <a:gd name="T37" fmla="*/ 237 h 10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89" h="1017">
                  <a:moveTo>
                    <a:pt x="141" y="237"/>
                  </a:moveTo>
                  <a:lnTo>
                    <a:pt x="0" y="237"/>
                  </a:lnTo>
                  <a:lnTo>
                    <a:pt x="0" y="328"/>
                  </a:lnTo>
                  <a:lnTo>
                    <a:pt x="141" y="328"/>
                  </a:lnTo>
                  <a:lnTo>
                    <a:pt x="141" y="797"/>
                  </a:lnTo>
                  <a:cubicBezTo>
                    <a:pt x="141" y="1000"/>
                    <a:pt x="270" y="1016"/>
                    <a:pt x="427" y="1016"/>
                  </a:cubicBezTo>
                  <a:cubicBezTo>
                    <a:pt x="464" y="1016"/>
                    <a:pt x="505" y="1012"/>
                    <a:pt x="551" y="1004"/>
                  </a:cubicBezTo>
                  <a:lnTo>
                    <a:pt x="564" y="1004"/>
                  </a:lnTo>
                  <a:lnTo>
                    <a:pt x="564" y="909"/>
                  </a:lnTo>
                  <a:lnTo>
                    <a:pt x="547" y="913"/>
                  </a:lnTo>
                  <a:cubicBezTo>
                    <a:pt x="530" y="917"/>
                    <a:pt x="510" y="917"/>
                    <a:pt x="485" y="917"/>
                  </a:cubicBezTo>
                  <a:cubicBezTo>
                    <a:pt x="360" y="917"/>
                    <a:pt x="352" y="880"/>
                    <a:pt x="352" y="772"/>
                  </a:cubicBezTo>
                  <a:lnTo>
                    <a:pt x="352" y="328"/>
                  </a:lnTo>
                  <a:lnTo>
                    <a:pt x="588" y="328"/>
                  </a:lnTo>
                  <a:lnTo>
                    <a:pt x="588" y="237"/>
                  </a:lnTo>
                  <a:lnTo>
                    <a:pt x="352" y="237"/>
                  </a:lnTo>
                  <a:lnTo>
                    <a:pt x="352" y="0"/>
                  </a:lnTo>
                  <a:lnTo>
                    <a:pt x="141" y="0"/>
                  </a:lnTo>
                  <a:lnTo>
                    <a:pt x="141" y="237"/>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65" name="Freeform 19">
              <a:extLst>
                <a:ext uri="{FF2B5EF4-FFF2-40B4-BE49-F238E27FC236}">
                  <a16:creationId xmlns:a16="http://schemas.microsoft.com/office/drawing/2014/main" id="{E31E38F3-CCD4-0D4A-B5AE-0E15DBF0F818}"/>
                </a:ext>
              </a:extLst>
            </p:cNvPr>
            <p:cNvSpPr>
              <a:spLocks noChangeArrowheads="1"/>
            </p:cNvSpPr>
            <p:nvPr/>
          </p:nvSpPr>
          <p:spPr bwMode="auto">
            <a:xfrm>
              <a:off x="6049963" y="4087813"/>
              <a:ext cx="450850" cy="395287"/>
            </a:xfrm>
            <a:custGeom>
              <a:avLst/>
              <a:gdLst>
                <a:gd name="T0" fmla="*/ 1245 w 1254"/>
                <a:gd name="T1" fmla="*/ 0 h 1096"/>
                <a:gd name="T2" fmla="*/ 1033 w 1254"/>
                <a:gd name="T3" fmla="*/ 0 h 1096"/>
                <a:gd name="T4" fmla="*/ 1033 w 1254"/>
                <a:gd name="T5" fmla="*/ 829 h 1096"/>
                <a:gd name="T6" fmla="*/ 485 w 1254"/>
                <a:gd name="T7" fmla="*/ 0 h 1096"/>
                <a:gd name="T8" fmla="*/ 0 w 1254"/>
                <a:gd name="T9" fmla="*/ 0 h 1096"/>
                <a:gd name="T10" fmla="*/ 0 w 1254"/>
                <a:gd name="T11" fmla="*/ 62 h 1096"/>
                <a:gd name="T12" fmla="*/ 42 w 1254"/>
                <a:gd name="T13" fmla="*/ 70 h 1096"/>
                <a:gd name="T14" fmla="*/ 178 w 1254"/>
                <a:gd name="T15" fmla="*/ 220 h 1096"/>
                <a:gd name="T16" fmla="*/ 178 w 1254"/>
                <a:gd name="T17" fmla="*/ 1095 h 1096"/>
                <a:gd name="T18" fmla="*/ 403 w 1254"/>
                <a:gd name="T19" fmla="*/ 1095 h 1096"/>
                <a:gd name="T20" fmla="*/ 403 w 1254"/>
                <a:gd name="T21" fmla="*/ 228 h 1096"/>
                <a:gd name="T22" fmla="*/ 975 w 1254"/>
                <a:gd name="T23" fmla="*/ 1095 h 1096"/>
                <a:gd name="T24" fmla="*/ 1253 w 1254"/>
                <a:gd name="T25" fmla="*/ 1095 h 1096"/>
                <a:gd name="T26" fmla="*/ 1253 w 1254"/>
                <a:gd name="T27" fmla="*/ 0 h 1096"/>
                <a:gd name="T28" fmla="*/ 1245 w 1254"/>
                <a:gd name="T29" fmla="*/ 0 h 10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54" h="1096">
                  <a:moveTo>
                    <a:pt x="1245" y="0"/>
                  </a:moveTo>
                  <a:lnTo>
                    <a:pt x="1033" y="0"/>
                  </a:lnTo>
                  <a:cubicBezTo>
                    <a:pt x="1033" y="0"/>
                    <a:pt x="1033" y="751"/>
                    <a:pt x="1033" y="829"/>
                  </a:cubicBezTo>
                  <a:cubicBezTo>
                    <a:pt x="992" y="763"/>
                    <a:pt x="485" y="0"/>
                    <a:pt x="485" y="0"/>
                  </a:cubicBezTo>
                  <a:lnTo>
                    <a:pt x="0" y="0"/>
                  </a:lnTo>
                  <a:lnTo>
                    <a:pt x="0" y="62"/>
                  </a:lnTo>
                  <a:lnTo>
                    <a:pt x="42" y="70"/>
                  </a:lnTo>
                  <a:cubicBezTo>
                    <a:pt x="170" y="91"/>
                    <a:pt x="178" y="95"/>
                    <a:pt x="178" y="220"/>
                  </a:cubicBezTo>
                  <a:lnTo>
                    <a:pt x="178" y="1095"/>
                  </a:lnTo>
                  <a:lnTo>
                    <a:pt x="403" y="1095"/>
                  </a:lnTo>
                  <a:cubicBezTo>
                    <a:pt x="403" y="1095"/>
                    <a:pt x="403" y="307"/>
                    <a:pt x="403" y="228"/>
                  </a:cubicBezTo>
                  <a:cubicBezTo>
                    <a:pt x="448" y="294"/>
                    <a:pt x="975" y="1095"/>
                    <a:pt x="975" y="1095"/>
                  </a:cubicBezTo>
                  <a:lnTo>
                    <a:pt x="1253" y="1095"/>
                  </a:lnTo>
                  <a:lnTo>
                    <a:pt x="1253" y="0"/>
                  </a:lnTo>
                  <a:lnTo>
                    <a:pt x="1245"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66" name="Freeform 20">
              <a:extLst>
                <a:ext uri="{FF2B5EF4-FFF2-40B4-BE49-F238E27FC236}">
                  <a16:creationId xmlns:a16="http://schemas.microsoft.com/office/drawing/2014/main" id="{EA81CA55-89FF-C642-90AD-A67CE9108AC3}"/>
                </a:ext>
              </a:extLst>
            </p:cNvPr>
            <p:cNvSpPr>
              <a:spLocks noChangeArrowheads="1"/>
            </p:cNvSpPr>
            <p:nvPr/>
          </p:nvSpPr>
          <p:spPr bwMode="auto">
            <a:xfrm>
              <a:off x="6573838" y="4200525"/>
              <a:ext cx="266700" cy="287338"/>
            </a:xfrm>
            <a:custGeom>
              <a:avLst/>
              <a:gdLst>
                <a:gd name="T0" fmla="*/ 390 w 740"/>
                <a:gd name="T1" fmla="*/ 0 h 797"/>
                <a:gd name="T2" fmla="*/ 0 w 740"/>
                <a:gd name="T3" fmla="*/ 373 h 797"/>
                <a:gd name="T4" fmla="*/ 456 w 740"/>
                <a:gd name="T5" fmla="*/ 796 h 797"/>
                <a:gd name="T6" fmla="*/ 714 w 740"/>
                <a:gd name="T7" fmla="*/ 755 h 797"/>
                <a:gd name="T8" fmla="*/ 726 w 740"/>
                <a:gd name="T9" fmla="*/ 751 h 797"/>
                <a:gd name="T10" fmla="*/ 726 w 740"/>
                <a:gd name="T11" fmla="*/ 651 h 797"/>
                <a:gd name="T12" fmla="*/ 705 w 740"/>
                <a:gd name="T13" fmla="*/ 660 h 797"/>
                <a:gd name="T14" fmla="*/ 539 w 740"/>
                <a:gd name="T15" fmla="*/ 684 h 797"/>
                <a:gd name="T16" fmla="*/ 228 w 740"/>
                <a:gd name="T17" fmla="*/ 332 h 797"/>
                <a:gd name="T18" fmla="*/ 739 w 740"/>
                <a:gd name="T19" fmla="*/ 332 h 797"/>
                <a:gd name="T20" fmla="*/ 739 w 740"/>
                <a:gd name="T21" fmla="*/ 315 h 797"/>
                <a:gd name="T22" fmla="*/ 390 w 740"/>
                <a:gd name="T23" fmla="*/ 0 h 797"/>
                <a:gd name="T24" fmla="*/ 386 w 740"/>
                <a:gd name="T25" fmla="*/ 83 h 797"/>
                <a:gd name="T26" fmla="*/ 531 w 740"/>
                <a:gd name="T27" fmla="*/ 236 h 797"/>
                <a:gd name="T28" fmla="*/ 228 w 740"/>
                <a:gd name="T29" fmla="*/ 236 h 797"/>
                <a:gd name="T30" fmla="*/ 386 w 740"/>
                <a:gd name="T31" fmla="*/ 83 h 7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740" h="797">
                  <a:moveTo>
                    <a:pt x="390" y="0"/>
                  </a:moveTo>
                  <a:cubicBezTo>
                    <a:pt x="129" y="0"/>
                    <a:pt x="0" y="124"/>
                    <a:pt x="0" y="373"/>
                  </a:cubicBezTo>
                  <a:cubicBezTo>
                    <a:pt x="0" y="639"/>
                    <a:pt x="170" y="796"/>
                    <a:pt x="456" y="796"/>
                  </a:cubicBezTo>
                  <a:cubicBezTo>
                    <a:pt x="581" y="796"/>
                    <a:pt x="676" y="767"/>
                    <a:pt x="714" y="755"/>
                  </a:cubicBezTo>
                  <a:lnTo>
                    <a:pt x="726" y="751"/>
                  </a:lnTo>
                  <a:lnTo>
                    <a:pt x="726" y="651"/>
                  </a:lnTo>
                  <a:lnTo>
                    <a:pt x="705" y="660"/>
                  </a:lnTo>
                  <a:cubicBezTo>
                    <a:pt x="672" y="672"/>
                    <a:pt x="610" y="684"/>
                    <a:pt x="539" y="684"/>
                  </a:cubicBezTo>
                  <a:cubicBezTo>
                    <a:pt x="315" y="684"/>
                    <a:pt x="232" y="498"/>
                    <a:pt x="228" y="332"/>
                  </a:cubicBezTo>
                  <a:lnTo>
                    <a:pt x="739" y="332"/>
                  </a:lnTo>
                  <a:lnTo>
                    <a:pt x="739" y="315"/>
                  </a:lnTo>
                  <a:cubicBezTo>
                    <a:pt x="739" y="104"/>
                    <a:pt x="622" y="0"/>
                    <a:pt x="390" y="0"/>
                  </a:cubicBezTo>
                  <a:close/>
                  <a:moveTo>
                    <a:pt x="386" y="83"/>
                  </a:moveTo>
                  <a:cubicBezTo>
                    <a:pt x="498" y="83"/>
                    <a:pt x="527" y="162"/>
                    <a:pt x="531" y="236"/>
                  </a:cubicBezTo>
                  <a:lnTo>
                    <a:pt x="228" y="236"/>
                  </a:lnTo>
                  <a:cubicBezTo>
                    <a:pt x="232" y="187"/>
                    <a:pt x="270" y="83"/>
                    <a:pt x="386" y="83"/>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67" name="Freeform 21">
              <a:extLst>
                <a:ext uri="{FF2B5EF4-FFF2-40B4-BE49-F238E27FC236}">
                  <a16:creationId xmlns:a16="http://schemas.microsoft.com/office/drawing/2014/main" id="{B993E30F-1BC1-EE44-BD31-C649CB700CD8}"/>
                </a:ext>
              </a:extLst>
            </p:cNvPr>
            <p:cNvSpPr>
              <a:spLocks noChangeArrowheads="1"/>
            </p:cNvSpPr>
            <p:nvPr/>
          </p:nvSpPr>
          <p:spPr bwMode="auto">
            <a:xfrm>
              <a:off x="7204075" y="4121150"/>
              <a:ext cx="212725" cy="366713"/>
            </a:xfrm>
            <a:custGeom>
              <a:avLst/>
              <a:gdLst>
                <a:gd name="T0" fmla="*/ 141 w 590"/>
                <a:gd name="T1" fmla="*/ 237 h 1017"/>
                <a:gd name="T2" fmla="*/ 0 w 590"/>
                <a:gd name="T3" fmla="*/ 237 h 1017"/>
                <a:gd name="T4" fmla="*/ 0 w 590"/>
                <a:gd name="T5" fmla="*/ 328 h 1017"/>
                <a:gd name="T6" fmla="*/ 141 w 590"/>
                <a:gd name="T7" fmla="*/ 328 h 1017"/>
                <a:gd name="T8" fmla="*/ 141 w 590"/>
                <a:gd name="T9" fmla="*/ 797 h 1017"/>
                <a:gd name="T10" fmla="*/ 427 w 590"/>
                <a:gd name="T11" fmla="*/ 1016 h 1017"/>
                <a:gd name="T12" fmla="*/ 551 w 590"/>
                <a:gd name="T13" fmla="*/ 1004 h 1017"/>
                <a:gd name="T14" fmla="*/ 564 w 590"/>
                <a:gd name="T15" fmla="*/ 1004 h 1017"/>
                <a:gd name="T16" fmla="*/ 564 w 590"/>
                <a:gd name="T17" fmla="*/ 909 h 1017"/>
                <a:gd name="T18" fmla="*/ 547 w 590"/>
                <a:gd name="T19" fmla="*/ 913 h 1017"/>
                <a:gd name="T20" fmla="*/ 485 w 590"/>
                <a:gd name="T21" fmla="*/ 917 h 1017"/>
                <a:gd name="T22" fmla="*/ 352 w 590"/>
                <a:gd name="T23" fmla="*/ 772 h 1017"/>
                <a:gd name="T24" fmla="*/ 352 w 590"/>
                <a:gd name="T25" fmla="*/ 328 h 1017"/>
                <a:gd name="T26" fmla="*/ 589 w 590"/>
                <a:gd name="T27" fmla="*/ 328 h 1017"/>
                <a:gd name="T28" fmla="*/ 589 w 590"/>
                <a:gd name="T29" fmla="*/ 237 h 1017"/>
                <a:gd name="T30" fmla="*/ 352 w 590"/>
                <a:gd name="T31" fmla="*/ 237 h 1017"/>
                <a:gd name="T32" fmla="*/ 352 w 590"/>
                <a:gd name="T33" fmla="*/ 0 h 1017"/>
                <a:gd name="T34" fmla="*/ 141 w 590"/>
                <a:gd name="T35" fmla="*/ 0 h 1017"/>
                <a:gd name="T36" fmla="*/ 141 w 590"/>
                <a:gd name="T37" fmla="*/ 237 h 10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90" h="1017">
                  <a:moveTo>
                    <a:pt x="141" y="237"/>
                  </a:moveTo>
                  <a:lnTo>
                    <a:pt x="0" y="237"/>
                  </a:lnTo>
                  <a:lnTo>
                    <a:pt x="0" y="328"/>
                  </a:lnTo>
                  <a:lnTo>
                    <a:pt x="141" y="328"/>
                  </a:lnTo>
                  <a:lnTo>
                    <a:pt x="141" y="797"/>
                  </a:lnTo>
                  <a:cubicBezTo>
                    <a:pt x="141" y="1000"/>
                    <a:pt x="269" y="1016"/>
                    <a:pt x="427" y="1016"/>
                  </a:cubicBezTo>
                  <a:cubicBezTo>
                    <a:pt x="464" y="1016"/>
                    <a:pt x="506" y="1012"/>
                    <a:pt x="551" y="1004"/>
                  </a:cubicBezTo>
                  <a:lnTo>
                    <a:pt x="564" y="1004"/>
                  </a:lnTo>
                  <a:lnTo>
                    <a:pt x="564" y="909"/>
                  </a:lnTo>
                  <a:lnTo>
                    <a:pt x="547" y="913"/>
                  </a:lnTo>
                  <a:cubicBezTo>
                    <a:pt x="531" y="917"/>
                    <a:pt x="510" y="917"/>
                    <a:pt x="485" y="917"/>
                  </a:cubicBezTo>
                  <a:cubicBezTo>
                    <a:pt x="361" y="917"/>
                    <a:pt x="352" y="880"/>
                    <a:pt x="352" y="772"/>
                  </a:cubicBezTo>
                  <a:lnTo>
                    <a:pt x="352" y="328"/>
                  </a:lnTo>
                  <a:lnTo>
                    <a:pt x="589" y="328"/>
                  </a:lnTo>
                  <a:lnTo>
                    <a:pt x="589" y="237"/>
                  </a:lnTo>
                  <a:lnTo>
                    <a:pt x="352" y="237"/>
                  </a:lnTo>
                  <a:lnTo>
                    <a:pt x="352" y="0"/>
                  </a:lnTo>
                  <a:lnTo>
                    <a:pt x="141" y="0"/>
                  </a:lnTo>
                  <a:lnTo>
                    <a:pt x="141" y="237"/>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91" name="Freeform 22">
              <a:extLst>
                <a:ext uri="{FF2B5EF4-FFF2-40B4-BE49-F238E27FC236}">
                  <a16:creationId xmlns:a16="http://schemas.microsoft.com/office/drawing/2014/main" id="{5220F4C6-9400-5942-B0AF-9C8740ABF281}"/>
                </a:ext>
              </a:extLst>
            </p:cNvPr>
            <p:cNvSpPr>
              <a:spLocks noChangeArrowheads="1"/>
            </p:cNvSpPr>
            <p:nvPr/>
          </p:nvSpPr>
          <p:spPr bwMode="auto">
            <a:xfrm>
              <a:off x="6850063" y="4206875"/>
              <a:ext cx="331787" cy="274638"/>
            </a:xfrm>
            <a:custGeom>
              <a:avLst/>
              <a:gdLst>
                <a:gd name="T0" fmla="*/ 705 w 921"/>
                <a:gd name="T1" fmla="*/ 248 h 764"/>
                <a:gd name="T2" fmla="*/ 920 w 921"/>
                <a:gd name="T3" fmla="*/ 0 h 764"/>
                <a:gd name="T4" fmla="*/ 701 w 921"/>
                <a:gd name="T5" fmla="*/ 0 h 764"/>
                <a:gd name="T6" fmla="*/ 497 w 921"/>
                <a:gd name="T7" fmla="*/ 236 h 764"/>
                <a:gd name="T8" fmla="*/ 319 w 921"/>
                <a:gd name="T9" fmla="*/ 0 h 764"/>
                <a:gd name="T10" fmla="*/ 0 w 921"/>
                <a:gd name="T11" fmla="*/ 0 h 764"/>
                <a:gd name="T12" fmla="*/ 0 w 921"/>
                <a:gd name="T13" fmla="*/ 62 h 764"/>
                <a:gd name="T14" fmla="*/ 12 w 921"/>
                <a:gd name="T15" fmla="*/ 62 h 764"/>
                <a:gd name="T16" fmla="*/ 211 w 921"/>
                <a:gd name="T17" fmla="*/ 178 h 764"/>
                <a:gd name="T18" fmla="*/ 344 w 921"/>
                <a:gd name="T19" fmla="*/ 352 h 764"/>
                <a:gd name="T20" fmla="*/ 128 w 921"/>
                <a:gd name="T21" fmla="*/ 601 h 764"/>
                <a:gd name="T22" fmla="*/ 348 w 921"/>
                <a:gd name="T23" fmla="*/ 601 h 764"/>
                <a:gd name="T24" fmla="*/ 443 w 921"/>
                <a:gd name="T25" fmla="*/ 489 h 764"/>
                <a:gd name="T26" fmla="*/ 651 w 921"/>
                <a:gd name="T27" fmla="*/ 763 h 764"/>
                <a:gd name="T28" fmla="*/ 900 w 921"/>
                <a:gd name="T29" fmla="*/ 763 h 764"/>
                <a:gd name="T30" fmla="*/ 506 w 921"/>
                <a:gd name="T31" fmla="*/ 248 h 764"/>
                <a:gd name="T32" fmla="*/ 705 w 921"/>
                <a:gd name="T33" fmla="*/ 248 h 7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21" h="764">
                  <a:moveTo>
                    <a:pt x="705" y="248"/>
                  </a:moveTo>
                  <a:lnTo>
                    <a:pt x="920" y="0"/>
                  </a:lnTo>
                  <a:lnTo>
                    <a:pt x="701" y="0"/>
                  </a:lnTo>
                  <a:lnTo>
                    <a:pt x="497" y="236"/>
                  </a:lnTo>
                  <a:lnTo>
                    <a:pt x="319" y="0"/>
                  </a:lnTo>
                  <a:lnTo>
                    <a:pt x="0" y="0"/>
                  </a:lnTo>
                  <a:lnTo>
                    <a:pt x="0" y="62"/>
                  </a:lnTo>
                  <a:lnTo>
                    <a:pt x="12" y="62"/>
                  </a:lnTo>
                  <a:cubicBezTo>
                    <a:pt x="120" y="70"/>
                    <a:pt x="145" y="87"/>
                    <a:pt x="211" y="178"/>
                  </a:cubicBezTo>
                  <a:lnTo>
                    <a:pt x="344" y="352"/>
                  </a:lnTo>
                  <a:lnTo>
                    <a:pt x="128" y="601"/>
                  </a:lnTo>
                  <a:lnTo>
                    <a:pt x="348" y="601"/>
                  </a:lnTo>
                  <a:lnTo>
                    <a:pt x="443" y="489"/>
                  </a:lnTo>
                  <a:lnTo>
                    <a:pt x="651" y="763"/>
                  </a:lnTo>
                  <a:lnTo>
                    <a:pt x="900" y="763"/>
                  </a:lnTo>
                  <a:lnTo>
                    <a:pt x="506" y="248"/>
                  </a:lnTo>
                  <a:lnTo>
                    <a:pt x="705" y="248"/>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92" name="Freeform 23">
              <a:extLst>
                <a:ext uri="{FF2B5EF4-FFF2-40B4-BE49-F238E27FC236}">
                  <a16:creationId xmlns:a16="http://schemas.microsoft.com/office/drawing/2014/main" id="{0D77D15C-59D2-2D40-8EFB-AE8D4D645201}"/>
                </a:ext>
              </a:extLst>
            </p:cNvPr>
            <p:cNvSpPr>
              <a:spLocks noChangeArrowheads="1"/>
            </p:cNvSpPr>
            <p:nvPr/>
          </p:nvSpPr>
          <p:spPr bwMode="auto">
            <a:xfrm>
              <a:off x="7175500" y="4010025"/>
              <a:ext cx="176213" cy="111125"/>
            </a:xfrm>
            <a:custGeom>
              <a:avLst/>
              <a:gdLst>
                <a:gd name="T0" fmla="*/ 224 w 490"/>
                <a:gd name="T1" fmla="*/ 307 h 308"/>
                <a:gd name="T2" fmla="*/ 0 w 490"/>
                <a:gd name="T3" fmla="*/ 307 h 308"/>
                <a:gd name="T4" fmla="*/ 269 w 490"/>
                <a:gd name="T5" fmla="*/ 0 h 308"/>
                <a:gd name="T6" fmla="*/ 489 w 490"/>
                <a:gd name="T7" fmla="*/ 0 h 308"/>
                <a:gd name="T8" fmla="*/ 224 w 490"/>
                <a:gd name="T9" fmla="*/ 307 h 308"/>
              </a:gdLst>
              <a:ahLst/>
              <a:cxnLst>
                <a:cxn ang="0">
                  <a:pos x="T0" y="T1"/>
                </a:cxn>
                <a:cxn ang="0">
                  <a:pos x="T2" y="T3"/>
                </a:cxn>
                <a:cxn ang="0">
                  <a:pos x="T4" y="T5"/>
                </a:cxn>
                <a:cxn ang="0">
                  <a:pos x="T6" y="T7"/>
                </a:cxn>
                <a:cxn ang="0">
                  <a:pos x="T8" y="T9"/>
                </a:cxn>
              </a:cxnLst>
              <a:rect l="0" t="0" r="r" b="b"/>
              <a:pathLst>
                <a:path w="490" h="308">
                  <a:moveTo>
                    <a:pt x="224" y="307"/>
                  </a:moveTo>
                  <a:lnTo>
                    <a:pt x="0" y="307"/>
                  </a:lnTo>
                  <a:lnTo>
                    <a:pt x="269" y="0"/>
                  </a:lnTo>
                  <a:lnTo>
                    <a:pt x="489" y="0"/>
                  </a:lnTo>
                  <a:lnTo>
                    <a:pt x="224" y="307"/>
                  </a:lnTo>
                </a:path>
              </a:pathLst>
            </a:custGeom>
            <a:solidFill>
              <a:schemeClr val="accent2"/>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grpSp>
      <p:sp>
        <p:nvSpPr>
          <p:cNvPr id="35" name="TextBox 34"/>
          <p:cNvSpPr txBox="1"/>
          <p:nvPr/>
        </p:nvSpPr>
        <p:spPr>
          <a:xfrm>
            <a:off x="6641794" y="4911221"/>
            <a:ext cx="2462534" cy="215444"/>
          </a:xfrm>
          <a:prstGeom prst="rect">
            <a:avLst/>
          </a:prstGeom>
          <a:noFill/>
        </p:spPr>
        <p:txBody>
          <a:bodyPr wrap="none" rtlCol="0">
            <a:sp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800" kern="1200" dirty="0">
                <a:solidFill>
                  <a:schemeClr val="bg1">
                    <a:alpha val="50000"/>
                  </a:schemeClr>
                </a:solidFill>
                <a:latin typeface="+mn-lt"/>
                <a:ea typeface="+mn-ea"/>
                <a:cs typeface="+mn-cs"/>
              </a:rPr>
              <a:t>© Hitachi Vantara LLC 2020. All Rights Reserved.</a:t>
            </a:r>
          </a:p>
        </p:txBody>
      </p:sp>
      <p:sp>
        <p:nvSpPr>
          <p:cNvPr id="99" name="TextBox 98">
            <a:extLst>
              <a:ext uri="{FF2B5EF4-FFF2-40B4-BE49-F238E27FC236}">
                <a16:creationId xmlns:a16="http://schemas.microsoft.com/office/drawing/2014/main" id="{AFE8C8C8-8C8F-0D45-B230-946FEDADA26C}"/>
              </a:ext>
            </a:extLst>
          </p:cNvPr>
          <p:cNvSpPr txBox="1"/>
          <p:nvPr userDrawn="1"/>
        </p:nvSpPr>
        <p:spPr>
          <a:xfrm>
            <a:off x="6641794" y="4911221"/>
            <a:ext cx="2462534" cy="215444"/>
          </a:xfrm>
          <a:prstGeom prst="rect">
            <a:avLst/>
          </a:prstGeom>
          <a:noFill/>
        </p:spPr>
        <p:txBody>
          <a:bodyPr wrap="none" rtlCol="0">
            <a:sp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800" kern="1200" dirty="0">
                <a:solidFill>
                  <a:schemeClr val="bg1">
                    <a:alpha val="50000"/>
                  </a:schemeClr>
                </a:solidFill>
                <a:latin typeface="+mn-lt"/>
                <a:ea typeface="+mn-ea"/>
                <a:cs typeface="+mn-cs"/>
              </a:rPr>
              <a:t>© Hitachi Vantara LLC 2020. All Rights Reserved.</a:t>
            </a:r>
          </a:p>
        </p:txBody>
      </p:sp>
      <p:sp>
        <p:nvSpPr>
          <p:cNvPr id="36" name="Rectangle 35">
            <a:extLst>
              <a:ext uri="{FF2B5EF4-FFF2-40B4-BE49-F238E27FC236}">
                <a16:creationId xmlns:a16="http://schemas.microsoft.com/office/drawing/2014/main" id="{F4B91763-ADC0-7D44-9870-E4D1DAD3B86E}"/>
              </a:ext>
            </a:extLst>
          </p:cNvPr>
          <p:cNvSpPr/>
          <p:nvPr userDrawn="1"/>
        </p:nvSpPr>
        <p:spPr>
          <a:xfrm>
            <a:off x="0" y="0"/>
            <a:ext cx="5943600" cy="5157216"/>
          </a:xfrm>
          <a:prstGeom prst="rect">
            <a:avLst/>
          </a:prstGeom>
          <a:gradFill>
            <a:gsLst>
              <a:gs pos="0">
                <a:schemeClr val="accent2">
                  <a:lumMod val="42000"/>
                </a:schemeClr>
              </a:gs>
              <a:gs pos="93000">
                <a:schemeClr val="accent2"/>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j-lt"/>
            </a:endParaRPr>
          </a:p>
        </p:txBody>
      </p:sp>
      <p:sp>
        <p:nvSpPr>
          <p:cNvPr id="57" name="Title 1"/>
          <p:cNvSpPr>
            <a:spLocks noGrp="1"/>
          </p:cNvSpPr>
          <p:nvPr>
            <p:ph type="ctrTitle" hasCustomPrompt="1"/>
          </p:nvPr>
        </p:nvSpPr>
        <p:spPr>
          <a:xfrm>
            <a:off x="681348" y="1407160"/>
            <a:ext cx="5148359" cy="728377"/>
          </a:xfrm>
          <a:prstGeom prst="rect">
            <a:avLst/>
          </a:prstGeom>
          <a:effectLst/>
        </p:spPr>
        <p:txBody>
          <a:bodyPr anchor="t">
            <a:noAutofit/>
          </a:bodyPr>
          <a:lstStyle>
            <a:lvl1pPr>
              <a:lnSpc>
                <a:spcPct val="100000"/>
              </a:lnSpc>
              <a:defRPr sz="4400" b="1" cap="none" baseline="0">
                <a:solidFill>
                  <a:schemeClr val="bg1"/>
                </a:solidFill>
                <a:latin typeface="+mn-lt"/>
              </a:defRPr>
            </a:lvl1pPr>
          </a:lstStyle>
          <a:p>
            <a:r>
              <a:rPr lang="en-US" dirty="0"/>
              <a:t>Thank You</a:t>
            </a:r>
          </a:p>
        </p:txBody>
      </p:sp>
      <p:sp>
        <p:nvSpPr>
          <p:cNvPr id="39" name="TextBox 38"/>
          <p:cNvSpPr txBox="1"/>
          <p:nvPr/>
        </p:nvSpPr>
        <p:spPr>
          <a:xfrm>
            <a:off x="1611" y="4915450"/>
            <a:ext cx="312906" cy="215444"/>
          </a:xfrm>
          <a:prstGeom prst="rect">
            <a:avLst/>
          </a:prstGeom>
          <a:noFill/>
        </p:spPr>
        <p:txBody>
          <a:bodyPr wrap="none" rtlCol="0">
            <a:spAutoFit/>
          </a:bodyPr>
          <a:lstStyle/>
          <a:p>
            <a:fld id="{111F478C-84AE-4601-9BE4-60468A3A6C06}" type="slidenum">
              <a:rPr lang="en-US" sz="800" smtClean="0">
                <a:solidFill>
                  <a:prstClr val="white">
                    <a:alpha val="50000"/>
                  </a:prstClr>
                </a:solidFill>
                <a:latin typeface="Arial"/>
              </a:rPr>
              <a:pPr/>
              <a:t>‹#›</a:t>
            </a:fld>
            <a:endParaRPr lang="en-US" sz="800" dirty="0">
              <a:solidFill>
                <a:prstClr val="white">
                  <a:alpha val="50000"/>
                </a:prstClr>
              </a:solidFill>
              <a:latin typeface="Arial"/>
            </a:endParaRPr>
          </a:p>
        </p:txBody>
      </p:sp>
      <p:sp>
        <p:nvSpPr>
          <p:cNvPr id="47" name="TextBox 46">
            <a:extLst>
              <a:ext uri="{FF2B5EF4-FFF2-40B4-BE49-F238E27FC236}">
                <a16:creationId xmlns:a16="http://schemas.microsoft.com/office/drawing/2014/main" id="{1F6F85EA-1CAA-F34C-8631-AB308554EFA3}"/>
              </a:ext>
            </a:extLst>
          </p:cNvPr>
          <p:cNvSpPr txBox="1"/>
          <p:nvPr userDrawn="1"/>
        </p:nvSpPr>
        <p:spPr>
          <a:xfrm>
            <a:off x="1611" y="4915450"/>
            <a:ext cx="312906" cy="215444"/>
          </a:xfrm>
          <a:prstGeom prst="rect">
            <a:avLst/>
          </a:prstGeom>
          <a:noFill/>
        </p:spPr>
        <p:txBody>
          <a:bodyPr wrap="none" rtlCol="0">
            <a:spAutoFit/>
          </a:bodyPr>
          <a:lstStyle/>
          <a:p>
            <a:fld id="{111F478C-84AE-4601-9BE4-60468A3A6C06}" type="slidenum">
              <a:rPr lang="en-US" sz="800" smtClean="0">
                <a:solidFill>
                  <a:prstClr val="white">
                    <a:alpha val="50000"/>
                  </a:prstClr>
                </a:solidFill>
                <a:latin typeface="Arial"/>
              </a:rPr>
              <a:pPr/>
              <a:t>‹#›</a:t>
            </a:fld>
            <a:endParaRPr lang="en-US" sz="800" dirty="0">
              <a:solidFill>
                <a:prstClr val="white">
                  <a:alpha val="50000"/>
                </a:prstClr>
              </a:solidFill>
              <a:latin typeface="Arial"/>
            </a:endParaRPr>
          </a:p>
        </p:txBody>
      </p:sp>
      <p:pic>
        <p:nvPicPr>
          <p:cNvPr id="69" name="Graphic 68">
            <a:extLst>
              <a:ext uri="{FF2B5EF4-FFF2-40B4-BE49-F238E27FC236}">
                <a16:creationId xmlns:a16="http://schemas.microsoft.com/office/drawing/2014/main" id="{7CBF5BC0-8976-8B43-AA6F-BF4941E8F943}"/>
              </a:ext>
            </a:extLst>
          </p:cNvPr>
          <p:cNvPicPr>
            <a:picLocks noChangeAspect="1"/>
          </p:cNvPicPr>
          <p:nvPr userDrawn="1"/>
        </p:nvPicPr>
        <p:blipFill>
          <a:blip r:embed="rId3" cstate="screen">
            <a:alphaModFix amt="50000"/>
            <a:extLst>
              <a:ext uri="{28A0092B-C50C-407E-A947-70E740481C1C}">
                <a14:useLocalDpi xmlns:a14="http://schemas.microsoft.com/office/drawing/2010/main"/>
              </a:ext>
            </a:extLst>
          </a:blip>
          <a:srcRect/>
          <a:stretch/>
        </p:blipFill>
        <p:spPr>
          <a:xfrm>
            <a:off x="12316" y="1422787"/>
            <a:ext cx="562508" cy="3718802"/>
          </a:xfrm>
          <a:prstGeom prst="rect">
            <a:avLst/>
          </a:prstGeom>
        </p:spPr>
      </p:pic>
    </p:spTree>
    <p:extLst>
      <p:ext uri="{BB962C8B-B14F-4D97-AF65-F5344CB8AC3E}">
        <p14:creationId xmlns:p14="http://schemas.microsoft.com/office/powerpoint/2010/main" val="13560309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3_Title Slide">
    <p:spTree>
      <p:nvGrpSpPr>
        <p:cNvPr id="1" name=""/>
        <p:cNvGrpSpPr/>
        <p:nvPr/>
      </p:nvGrpSpPr>
      <p:grpSpPr>
        <a:xfrm>
          <a:off x="0" y="0"/>
          <a:ext cx="0" cy="0"/>
          <a:chOff x="0" y="0"/>
          <a:chExt cx="0" cy="0"/>
        </a:xfrm>
      </p:grpSpPr>
      <p:sp>
        <p:nvSpPr>
          <p:cNvPr id="37" name="Rectangle 36">
            <a:extLst>
              <a:ext uri="{FF2B5EF4-FFF2-40B4-BE49-F238E27FC236}">
                <a16:creationId xmlns:a16="http://schemas.microsoft.com/office/drawing/2014/main" id="{5729740B-1624-B54D-8EBF-465176DD950A}"/>
              </a:ext>
            </a:extLst>
          </p:cNvPr>
          <p:cNvSpPr/>
          <p:nvPr userDrawn="1"/>
        </p:nvSpPr>
        <p:spPr>
          <a:xfrm>
            <a:off x="0" y="0"/>
            <a:ext cx="5943600" cy="5157216"/>
          </a:xfrm>
          <a:prstGeom prst="rect">
            <a:avLst/>
          </a:prstGeom>
          <a:gradFill>
            <a:gsLst>
              <a:gs pos="0">
                <a:schemeClr val="tx1">
                  <a:lumMod val="60000"/>
                  <a:lumOff val="40000"/>
                  <a:alpha val="25000"/>
                </a:schemeClr>
              </a:gs>
              <a:gs pos="98000">
                <a:schemeClr val="bg1"/>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j-lt"/>
            </a:endParaRPr>
          </a:p>
        </p:txBody>
      </p:sp>
      <p:sp>
        <p:nvSpPr>
          <p:cNvPr id="40" name="Rectangle 39">
            <a:extLst>
              <a:ext uri="{FF2B5EF4-FFF2-40B4-BE49-F238E27FC236}">
                <a16:creationId xmlns:a16="http://schemas.microsoft.com/office/drawing/2014/main" id="{AAA4BB55-22A6-9C48-9B94-C2A7131C877F}"/>
              </a:ext>
            </a:extLst>
          </p:cNvPr>
          <p:cNvSpPr/>
          <p:nvPr userDrawn="1"/>
        </p:nvSpPr>
        <p:spPr>
          <a:xfrm>
            <a:off x="5942892" y="0"/>
            <a:ext cx="3201108" cy="5157216"/>
          </a:xfrm>
          <a:prstGeom prst="rect">
            <a:avLst/>
          </a:prstGeom>
          <a:blipFill>
            <a:blip r:embed="rId2" cstate="screen">
              <a:extLst>
                <a:ext uri="{28A0092B-C50C-407E-A947-70E740481C1C}">
                  <a14:useLocalDpi xmlns:a14="http://schemas.microsoft.com/office/drawing/2010/main"/>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j-lt"/>
            </a:endParaRPr>
          </a:p>
        </p:txBody>
      </p:sp>
      <p:sp>
        <p:nvSpPr>
          <p:cNvPr id="38" name="Rectangle 37">
            <a:extLst>
              <a:ext uri="{FF2B5EF4-FFF2-40B4-BE49-F238E27FC236}">
                <a16:creationId xmlns:a16="http://schemas.microsoft.com/office/drawing/2014/main" id="{F4AD3290-648D-D840-B50D-09EEC67C7D28}"/>
              </a:ext>
            </a:extLst>
          </p:cNvPr>
          <p:cNvSpPr/>
          <p:nvPr userDrawn="1"/>
        </p:nvSpPr>
        <p:spPr>
          <a:xfrm>
            <a:off x="5942892" y="0"/>
            <a:ext cx="3201108" cy="5157216"/>
          </a:xfrm>
          <a:prstGeom prst="rect">
            <a:avLst/>
          </a:prstGeom>
          <a:gradFill flip="none" rotWithShape="1">
            <a:gsLst>
              <a:gs pos="53000">
                <a:schemeClr val="bg1">
                  <a:alpha val="0"/>
                </a:schemeClr>
              </a:gs>
              <a:gs pos="0">
                <a:srgbClr val="53E2DD">
                  <a:alpha val="56000"/>
                  <a:lumMod val="29000"/>
                </a:srgbClr>
              </a:gs>
              <a:gs pos="100000">
                <a:schemeClr val="accent2">
                  <a:alpha val="54000"/>
                  <a:lumMod val="38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j-lt"/>
            </a:endParaRPr>
          </a:p>
        </p:txBody>
      </p:sp>
      <p:sp>
        <p:nvSpPr>
          <p:cNvPr id="93" name="Rectangle 92">
            <a:extLst>
              <a:ext uri="{FF2B5EF4-FFF2-40B4-BE49-F238E27FC236}">
                <a16:creationId xmlns:a16="http://schemas.microsoft.com/office/drawing/2014/main" id="{39418557-F9FB-2C49-8652-E9BC5F420543}"/>
              </a:ext>
            </a:extLst>
          </p:cNvPr>
          <p:cNvSpPr/>
          <p:nvPr userDrawn="1"/>
        </p:nvSpPr>
        <p:spPr>
          <a:xfrm>
            <a:off x="5942892" y="0"/>
            <a:ext cx="3201108" cy="5157216"/>
          </a:xfrm>
          <a:prstGeom prst="rect">
            <a:avLst/>
          </a:prstGeom>
          <a:gradFill flip="none" rotWithShape="1">
            <a:gsLst>
              <a:gs pos="71000">
                <a:schemeClr val="tx2">
                  <a:alpha val="0"/>
                </a:schemeClr>
              </a:gs>
              <a:gs pos="100000">
                <a:schemeClr val="tx2">
                  <a:alpha val="65000"/>
                </a:schemeClr>
              </a:gs>
            </a:gsLst>
            <a:lin ang="18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j-lt"/>
            </a:endParaRPr>
          </a:p>
        </p:txBody>
      </p:sp>
      <p:grpSp>
        <p:nvGrpSpPr>
          <p:cNvPr id="42" name="Group 41">
            <a:extLst>
              <a:ext uri="{FF2B5EF4-FFF2-40B4-BE49-F238E27FC236}">
                <a16:creationId xmlns:a16="http://schemas.microsoft.com/office/drawing/2014/main" id="{3EF58E61-59AF-0B40-BD87-B8415DF5B20F}"/>
              </a:ext>
            </a:extLst>
          </p:cNvPr>
          <p:cNvGrpSpPr/>
          <p:nvPr userDrawn="1"/>
        </p:nvGrpSpPr>
        <p:grpSpPr>
          <a:xfrm>
            <a:off x="7684916" y="225821"/>
            <a:ext cx="1247901" cy="356665"/>
            <a:chOff x="2751138" y="3262313"/>
            <a:chExt cx="4665662" cy="1333500"/>
          </a:xfrm>
          <a:solidFill>
            <a:schemeClr val="bg1"/>
          </a:solidFill>
        </p:grpSpPr>
        <p:sp>
          <p:nvSpPr>
            <p:cNvPr id="43" name="Freeform 1">
              <a:extLst>
                <a:ext uri="{FF2B5EF4-FFF2-40B4-BE49-F238E27FC236}">
                  <a16:creationId xmlns:a16="http://schemas.microsoft.com/office/drawing/2014/main" id="{199E89AD-2705-134A-918E-26469FC8CD68}"/>
                </a:ext>
              </a:extLst>
            </p:cNvPr>
            <p:cNvSpPr>
              <a:spLocks noChangeArrowheads="1"/>
            </p:cNvSpPr>
            <p:nvPr/>
          </p:nvSpPr>
          <p:spPr bwMode="auto">
            <a:xfrm>
              <a:off x="6180138" y="3275013"/>
              <a:ext cx="673100" cy="631825"/>
            </a:xfrm>
            <a:custGeom>
              <a:avLst/>
              <a:gdLst>
                <a:gd name="T0" fmla="*/ 465 w 1868"/>
                <a:gd name="T1" fmla="*/ 0 h 1755"/>
                <a:gd name="T2" fmla="*/ 465 w 1868"/>
                <a:gd name="T3" fmla="*/ 700 h 1755"/>
                <a:gd name="T4" fmla="*/ 1402 w 1868"/>
                <a:gd name="T5" fmla="*/ 700 h 1755"/>
                <a:gd name="T6" fmla="*/ 1402 w 1868"/>
                <a:gd name="T7" fmla="*/ 0 h 1755"/>
                <a:gd name="T8" fmla="*/ 1867 w 1868"/>
                <a:gd name="T9" fmla="*/ 0 h 1755"/>
                <a:gd name="T10" fmla="*/ 1867 w 1868"/>
                <a:gd name="T11" fmla="*/ 1754 h 1755"/>
                <a:gd name="T12" fmla="*/ 1402 w 1868"/>
                <a:gd name="T13" fmla="*/ 1754 h 1755"/>
                <a:gd name="T14" fmla="*/ 1402 w 1868"/>
                <a:gd name="T15" fmla="*/ 983 h 1755"/>
                <a:gd name="T16" fmla="*/ 465 w 1868"/>
                <a:gd name="T17" fmla="*/ 983 h 1755"/>
                <a:gd name="T18" fmla="*/ 465 w 1868"/>
                <a:gd name="T19" fmla="*/ 1754 h 1755"/>
                <a:gd name="T20" fmla="*/ 0 w 1868"/>
                <a:gd name="T21" fmla="*/ 1754 h 1755"/>
                <a:gd name="T22" fmla="*/ 0 w 1868"/>
                <a:gd name="T23" fmla="*/ 0 h 1755"/>
                <a:gd name="T24" fmla="*/ 465 w 1868"/>
                <a:gd name="T25" fmla="*/ 0 h 17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68" h="1755">
                  <a:moveTo>
                    <a:pt x="465" y="0"/>
                  </a:moveTo>
                  <a:cubicBezTo>
                    <a:pt x="465" y="0"/>
                    <a:pt x="465" y="705"/>
                    <a:pt x="465" y="700"/>
                  </a:cubicBezTo>
                  <a:lnTo>
                    <a:pt x="1402" y="700"/>
                  </a:lnTo>
                  <a:cubicBezTo>
                    <a:pt x="1402" y="705"/>
                    <a:pt x="1402" y="0"/>
                    <a:pt x="1402" y="0"/>
                  </a:cubicBezTo>
                  <a:cubicBezTo>
                    <a:pt x="1402" y="0"/>
                    <a:pt x="1863" y="0"/>
                    <a:pt x="1867" y="0"/>
                  </a:cubicBezTo>
                  <a:cubicBezTo>
                    <a:pt x="1867" y="0"/>
                    <a:pt x="1867" y="1750"/>
                    <a:pt x="1867" y="1754"/>
                  </a:cubicBezTo>
                  <a:lnTo>
                    <a:pt x="1402" y="1754"/>
                  </a:lnTo>
                  <a:cubicBezTo>
                    <a:pt x="1402" y="1754"/>
                    <a:pt x="1402" y="987"/>
                    <a:pt x="1402" y="983"/>
                  </a:cubicBezTo>
                  <a:cubicBezTo>
                    <a:pt x="1402" y="987"/>
                    <a:pt x="465" y="983"/>
                    <a:pt x="465" y="983"/>
                  </a:cubicBezTo>
                  <a:cubicBezTo>
                    <a:pt x="465" y="987"/>
                    <a:pt x="465" y="1754"/>
                    <a:pt x="465" y="1754"/>
                  </a:cubicBezTo>
                  <a:lnTo>
                    <a:pt x="0" y="1754"/>
                  </a:lnTo>
                  <a:cubicBezTo>
                    <a:pt x="0" y="1754"/>
                    <a:pt x="4" y="0"/>
                    <a:pt x="0" y="0"/>
                  </a:cubicBezTo>
                  <a:lnTo>
                    <a:pt x="465"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44" name="Freeform 2">
              <a:extLst>
                <a:ext uri="{FF2B5EF4-FFF2-40B4-BE49-F238E27FC236}">
                  <a16:creationId xmlns:a16="http://schemas.microsoft.com/office/drawing/2014/main" id="{0494D0CA-794C-0E4B-AA3F-CCDBD582982E}"/>
                </a:ext>
              </a:extLst>
            </p:cNvPr>
            <p:cNvSpPr>
              <a:spLocks noChangeArrowheads="1"/>
            </p:cNvSpPr>
            <p:nvPr/>
          </p:nvSpPr>
          <p:spPr bwMode="auto">
            <a:xfrm>
              <a:off x="4083050" y="3275013"/>
              <a:ext cx="677863" cy="631825"/>
            </a:xfrm>
            <a:custGeom>
              <a:avLst/>
              <a:gdLst>
                <a:gd name="T0" fmla="*/ 1883 w 1884"/>
                <a:gd name="T1" fmla="*/ 0 h 1755"/>
                <a:gd name="T2" fmla="*/ 1883 w 1884"/>
                <a:gd name="T3" fmla="*/ 298 h 1755"/>
                <a:gd name="T4" fmla="*/ 1174 w 1884"/>
                <a:gd name="T5" fmla="*/ 298 h 1755"/>
                <a:gd name="T6" fmla="*/ 1174 w 1884"/>
                <a:gd name="T7" fmla="*/ 1754 h 1755"/>
                <a:gd name="T8" fmla="*/ 709 w 1884"/>
                <a:gd name="T9" fmla="*/ 1754 h 1755"/>
                <a:gd name="T10" fmla="*/ 709 w 1884"/>
                <a:gd name="T11" fmla="*/ 298 h 1755"/>
                <a:gd name="T12" fmla="*/ 0 w 1884"/>
                <a:gd name="T13" fmla="*/ 298 h 1755"/>
                <a:gd name="T14" fmla="*/ 0 w 1884"/>
                <a:gd name="T15" fmla="*/ 0 h 1755"/>
                <a:gd name="T16" fmla="*/ 1883 w 1884"/>
                <a:gd name="T17" fmla="*/ 0 h 17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884" h="1755">
                  <a:moveTo>
                    <a:pt x="1883" y="0"/>
                  </a:moveTo>
                  <a:cubicBezTo>
                    <a:pt x="1883" y="4"/>
                    <a:pt x="1883" y="298"/>
                    <a:pt x="1883" y="298"/>
                  </a:cubicBezTo>
                  <a:lnTo>
                    <a:pt x="1174" y="298"/>
                  </a:lnTo>
                  <a:lnTo>
                    <a:pt x="1174" y="1754"/>
                  </a:lnTo>
                  <a:lnTo>
                    <a:pt x="709" y="1754"/>
                  </a:lnTo>
                  <a:lnTo>
                    <a:pt x="709" y="298"/>
                  </a:lnTo>
                  <a:lnTo>
                    <a:pt x="0" y="298"/>
                  </a:lnTo>
                  <a:lnTo>
                    <a:pt x="0" y="0"/>
                  </a:lnTo>
                  <a:lnTo>
                    <a:pt x="1883"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45" name="Freeform 3">
              <a:extLst>
                <a:ext uri="{FF2B5EF4-FFF2-40B4-BE49-F238E27FC236}">
                  <a16:creationId xmlns:a16="http://schemas.microsoft.com/office/drawing/2014/main" id="{9DCC5901-D10A-FB4A-B33B-ED481418C9B6}"/>
                </a:ext>
              </a:extLst>
            </p:cNvPr>
            <p:cNvSpPr>
              <a:spLocks noChangeArrowheads="1"/>
            </p:cNvSpPr>
            <p:nvPr/>
          </p:nvSpPr>
          <p:spPr bwMode="auto">
            <a:xfrm>
              <a:off x="4614863" y="3275013"/>
              <a:ext cx="796925" cy="631825"/>
            </a:xfrm>
            <a:custGeom>
              <a:avLst/>
              <a:gdLst>
                <a:gd name="T0" fmla="*/ 2214 w 2215"/>
                <a:gd name="T1" fmla="*/ 1754 h 1755"/>
                <a:gd name="T2" fmla="*/ 1695 w 2215"/>
                <a:gd name="T3" fmla="*/ 1754 h 1755"/>
                <a:gd name="T4" fmla="*/ 1542 w 2215"/>
                <a:gd name="T5" fmla="*/ 1377 h 1755"/>
                <a:gd name="T6" fmla="*/ 672 w 2215"/>
                <a:gd name="T7" fmla="*/ 1377 h 1755"/>
                <a:gd name="T8" fmla="*/ 518 w 2215"/>
                <a:gd name="T9" fmla="*/ 1754 h 1755"/>
                <a:gd name="T10" fmla="*/ 0 w 2215"/>
                <a:gd name="T11" fmla="*/ 1754 h 1755"/>
                <a:gd name="T12" fmla="*/ 825 w 2215"/>
                <a:gd name="T13" fmla="*/ 0 h 1755"/>
                <a:gd name="T14" fmla="*/ 1392 w 2215"/>
                <a:gd name="T15" fmla="*/ 0 h 1755"/>
                <a:gd name="T16" fmla="*/ 2214 w 2215"/>
                <a:gd name="T17" fmla="*/ 1754 h 1755"/>
                <a:gd name="T18" fmla="*/ 788 w 2215"/>
                <a:gd name="T19" fmla="*/ 1095 h 1755"/>
                <a:gd name="T20" fmla="*/ 1434 w 2215"/>
                <a:gd name="T21" fmla="*/ 1095 h 1755"/>
                <a:gd name="T22" fmla="*/ 1107 w 2215"/>
                <a:gd name="T23" fmla="*/ 298 h 1755"/>
                <a:gd name="T24" fmla="*/ 788 w 2215"/>
                <a:gd name="T25" fmla="*/ 1095 h 17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15" h="1755">
                  <a:moveTo>
                    <a:pt x="2214" y="1754"/>
                  </a:moveTo>
                  <a:cubicBezTo>
                    <a:pt x="2214" y="1754"/>
                    <a:pt x="1691" y="1754"/>
                    <a:pt x="1695" y="1754"/>
                  </a:cubicBezTo>
                  <a:lnTo>
                    <a:pt x="1542" y="1377"/>
                  </a:lnTo>
                  <a:lnTo>
                    <a:pt x="672" y="1377"/>
                  </a:lnTo>
                  <a:cubicBezTo>
                    <a:pt x="672" y="1377"/>
                    <a:pt x="522" y="1754"/>
                    <a:pt x="518" y="1754"/>
                  </a:cubicBezTo>
                  <a:lnTo>
                    <a:pt x="0" y="1754"/>
                  </a:lnTo>
                  <a:lnTo>
                    <a:pt x="825" y="0"/>
                  </a:lnTo>
                  <a:lnTo>
                    <a:pt x="1392" y="0"/>
                  </a:lnTo>
                  <a:lnTo>
                    <a:pt x="2214" y="1754"/>
                  </a:lnTo>
                  <a:close/>
                  <a:moveTo>
                    <a:pt x="788" y="1095"/>
                  </a:moveTo>
                  <a:lnTo>
                    <a:pt x="1434" y="1095"/>
                  </a:lnTo>
                  <a:lnTo>
                    <a:pt x="1107" y="298"/>
                  </a:lnTo>
                  <a:lnTo>
                    <a:pt x="788" y="1095"/>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46" name="Freeform 4">
              <a:extLst>
                <a:ext uri="{FF2B5EF4-FFF2-40B4-BE49-F238E27FC236}">
                  <a16:creationId xmlns:a16="http://schemas.microsoft.com/office/drawing/2014/main" id="{E89E2B8D-ACF0-2F45-AEFB-BDDCF2F74FCA}"/>
                </a:ext>
              </a:extLst>
            </p:cNvPr>
            <p:cNvSpPr>
              <a:spLocks noChangeArrowheads="1"/>
            </p:cNvSpPr>
            <p:nvPr/>
          </p:nvSpPr>
          <p:spPr bwMode="auto">
            <a:xfrm>
              <a:off x="6985000" y="3275013"/>
              <a:ext cx="166688" cy="631825"/>
            </a:xfrm>
            <a:custGeom>
              <a:avLst/>
              <a:gdLst>
                <a:gd name="T0" fmla="*/ 232 w 465"/>
                <a:gd name="T1" fmla="*/ 1754 h 1755"/>
                <a:gd name="T2" fmla="*/ 0 w 465"/>
                <a:gd name="T3" fmla="*/ 1754 h 1755"/>
                <a:gd name="T4" fmla="*/ 0 w 465"/>
                <a:gd name="T5" fmla="*/ 0 h 1755"/>
                <a:gd name="T6" fmla="*/ 464 w 465"/>
                <a:gd name="T7" fmla="*/ 0 h 1755"/>
                <a:gd name="T8" fmla="*/ 464 w 465"/>
                <a:gd name="T9" fmla="*/ 1754 h 1755"/>
                <a:gd name="T10" fmla="*/ 232 w 465"/>
                <a:gd name="T11" fmla="*/ 1754 h 1755"/>
              </a:gdLst>
              <a:ahLst/>
              <a:cxnLst>
                <a:cxn ang="0">
                  <a:pos x="T0" y="T1"/>
                </a:cxn>
                <a:cxn ang="0">
                  <a:pos x="T2" y="T3"/>
                </a:cxn>
                <a:cxn ang="0">
                  <a:pos x="T4" y="T5"/>
                </a:cxn>
                <a:cxn ang="0">
                  <a:pos x="T6" y="T7"/>
                </a:cxn>
                <a:cxn ang="0">
                  <a:pos x="T8" y="T9"/>
                </a:cxn>
                <a:cxn ang="0">
                  <a:pos x="T10" y="T11"/>
                </a:cxn>
              </a:cxnLst>
              <a:rect l="0" t="0" r="r" b="b"/>
              <a:pathLst>
                <a:path w="465" h="1755">
                  <a:moveTo>
                    <a:pt x="232" y="1754"/>
                  </a:moveTo>
                  <a:lnTo>
                    <a:pt x="0" y="1754"/>
                  </a:lnTo>
                  <a:lnTo>
                    <a:pt x="0" y="0"/>
                  </a:lnTo>
                  <a:lnTo>
                    <a:pt x="464" y="0"/>
                  </a:lnTo>
                  <a:lnTo>
                    <a:pt x="464" y="1754"/>
                  </a:lnTo>
                  <a:lnTo>
                    <a:pt x="232" y="1754"/>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48" name="Freeform 5">
              <a:extLst>
                <a:ext uri="{FF2B5EF4-FFF2-40B4-BE49-F238E27FC236}">
                  <a16:creationId xmlns:a16="http://schemas.microsoft.com/office/drawing/2014/main" id="{22029583-0D66-5343-987C-CF43A574E882}"/>
                </a:ext>
              </a:extLst>
            </p:cNvPr>
            <p:cNvSpPr>
              <a:spLocks noChangeArrowheads="1"/>
            </p:cNvSpPr>
            <p:nvPr/>
          </p:nvSpPr>
          <p:spPr bwMode="auto">
            <a:xfrm>
              <a:off x="3049588" y="3275013"/>
              <a:ext cx="673100" cy="631825"/>
            </a:xfrm>
            <a:custGeom>
              <a:avLst/>
              <a:gdLst>
                <a:gd name="T0" fmla="*/ 465 w 1868"/>
                <a:gd name="T1" fmla="*/ 0 h 1755"/>
                <a:gd name="T2" fmla="*/ 465 w 1868"/>
                <a:gd name="T3" fmla="*/ 700 h 1755"/>
                <a:gd name="T4" fmla="*/ 1402 w 1868"/>
                <a:gd name="T5" fmla="*/ 700 h 1755"/>
                <a:gd name="T6" fmla="*/ 1402 w 1868"/>
                <a:gd name="T7" fmla="*/ 0 h 1755"/>
                <a:gd name="T8" fmla="*/ 1867 w 1868"/>
                <a:gd name="T9" fmla="*/ 0 h 1755"/>
                <a:gd name="T10" fmla="*/ 1867 w 1868"/>
                <a:gd name="T11" fmla="*/ 1754 h 1755"/>
                <a:gd name="T12" fmla="*/ 1402 w 1868"/>
                <a:gd name="T13" fmla="*/ 1754 h 1755"/>
                <a:gd name="T14" fmla="*/ 1402 w 1868"/>
                <a:gd name="T15" fmla="*/ 983 h 1755"/>
                <a:gd name="T16" fmla="*/ 465 w 1868"/>
                <a:gd name="T17" fmla="*/ 983 h 1755"/>
                <a:gd name="T18" fmla="*/ 465 w 1868"/>
                <a:gd name="T19" fmla="*/ 1754 h 1755"/>
                <a:gd name="T20" fmla="*/ 0 w 1868"/>
                <a:gd name="T21" fmla="*/ 1754 h 1755"/>
                <a:gd name="T22" fmla="*/ 0 w 1868"/>
                <a:gd name="T23" fmla="*/ 0 h 1755"/>
                <a:gd name="T24" fmla="*/ 465 w 1868"/>
                <a:gd name="T25" fmla="*/ 0 h 17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68" h="1755">
                  <a:moveTo>
                    <a:pt x="465" y="0"/>
                  </a:moveTo>
                  <a:cubicBezTo>
                    <a:pt x="465" y="0"/>
                    <a:pt x="465" y="705"/>
                    <a:pt x="465" y="700"/>
                  </a:cubicBezTo>
                  <a:lnTo>
                    <a:pt x="1402" y="700"/>
                  </a:lnTo>
                  <a:cubicBezTo>
                    <a:pt x="1402" y="705"/>
                    <a:pt x="1402" y="0"/>
                    <a:pt x="1402" y="0"/>
                  </a:cubicBezTo>
                  <a:cubicBezTo>
                    <a:pt x="1402" y="0"/>
                    <a:pt x="1863" y="0"/>
                    <a:pt x="1867" y="0"/>
                  </a:cubicBezTo>
                  <a:cubicBezTo>
                    <a:pt x="1867" y="0"/>
                    <a:pt x="1867" y="1750"/>
                    <a:pt x="1867" y="1754"/>
                  </a:cubicBezTo>
                  <a:lnTo>
                    <a:pt x="1402" y="1754"/>
                  </a:lnTo>
                  <a:cubicBezTo>
                    <a:pt x="1402" y="1754"/>
                    <a:pt x="1402" y="987"/>
                    <a:pt x="1402" y="983"/>
                  </a:cubicBezTo>
                  <a:cubicBezTo>
                    <a:pt x="1402" y="987"/>
                    <a:pt x="465" y="983"/>
                    <a:pt x="465" y="983"/>
                  </a:cubicBezTo>
                  <a:cubicBezTo>
                    <a:pt x="465" y="987"/>
                    <a:pt x="465" y="1754"/>
                    <a:pt x="465" y="1754"/>
                  </a:cubicBezTo>
                  <a:lnTo>
                    <a:pt x="0" y="1754"/>
                  </a:lnTo>
                  <a:cubicBezTo>
                    <a:pt x="0" y="1754"/>
                    <a:pt x="5" y="0"/>
                    <a:pt x="0" y="0"/>
                  </a:cubicBezTo>
                  <a:lnTo>
                    <a:pt x="465"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49" name="Freeform 6">
              <a:extLst>
                <a:ext uri="{FF2B5EF4-FFF2-40B4-BE49-F238E27FC236}">
                  <a16:creationId xmlns:a16="http://schemas.microsoft.com/office/drawing/2014/main" id="{853178F1-F0AF-6240-8FB2-09BC14B17DBA}"/>
                </a:ext>
              </a:extLst>
            </p:cNvPr>
            <p:cNvSpPr>
              <a:spLocks noChangeArrowheads="1"/>
            </p:cNvSpPr>
            <p:nvPr/>
          </p:nvSpPr>
          <p:spPr bwMode="auto">
            <a:xfrm>
              <a:off x="3854450" y="3275013"/>
              <a:ext cx="168275" cy="631825"/>
            </a:xfrm>
            <a:custGeom>
              <a:avLst/>
              <a:gdLst>
                <a:gd name="T0" fmla="*/ 233 w 466"/>
                <a:gd name="T1" fmla="*/ 1754 h 1755"/>
                <a:gd name="T2" fmla="*/ 0 w 466"/>
                <a:gd name="T3" fmla="*/ 1754 h 1755"/>
                <a:gd name="T4" fmla="*/ 0 w 466"/>
                <a:gd name="T5" fmla="*/ 0 h 1755"/>
                <a:gd name="T6" fmla="*/ 465 w 466"/>
                <a:gd name="T7" fmla="*/ 0 h 1755"/>
                <a:gd name="T8" fmla="*/ 465 w 466"/>
                <a:gd name="T9" fmla="*/ 1754 h 1755"/>
                <a:gd name="T10" fmla="*/ 233 w 466"/>
                <a:gd name="T11" fmla="*/ 1754 h 1755"/>
              </a:gdLst>
              <a:ahLst/>
              <a:cxnLst>
                <a:cxn ang="0">
                  <a:pos x="T0" y="T1"/>
                </a:cxn>
                <a:cxn ang="0">
                  <a:pos x="T2" y="T3"/>
                </a:cxn>
                <a:cxn ang="0">
                  <a:pos x="T4" y="T5"/>
                </a:cxn>
                <a:cxn ang="0">
                  <a:pos x="T6" y="T7"/>
                </a:cxn>
                <a:cxn ang="0">
                  <a:pos x="T8" y="T9"/>
                </a:cxn>
                <a:cxn ang="0">
                  <a:pos x="T10" y="T11"/>
                </a:cxn>
              </a:cxnLst>
              <a:rect l="0" t="0" r="r" b="b"/>
              <a:pathLst>
                <a:path w="466" h="1755">
                  <a:moveTo>
                    <a:pt x="233" y="1754"/>
                  </a:moveTo>
                  <a:lnTo>
                    <a:pt x="0" y="1754"/>
                  </a:lnTo>
                  <a:lnTo>
                    <a:pt x="0" y="0"/>
                  </a:lnTo>
                  <a:lnTo>
                    <a:pt x="465" y="0"/>
                  </a:lnTo>
                  <a:lnTo>
                    <a:pt x="465" y="1754"/>
                  </a:lnTo>
                  <a:lnTo>
                    <a:pt x="233" y="1754"/>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50" name="Freeform 7">
              <a:extLst>
                <a:ext uri="{FF2B5EF4-FFF2-40B4-BE49-F238E27FC236}">
                  <a16:creationId xmlns:a16="http://schemas.microsoft.com/office/drawing/2014/main" id="{587CA836-2BC9-604B-8F93-B6FA817F991A}"/>
                </a:ext>
              </a:extLst>
            </p:cNvPr>
            <p:cNvSpPr>
              <a:spLocks noChangeArrowheads="1"/>
            </p:cNvSpPr>
            <p:nvPr/>
          </p:nvSpPr>
          <p:spPr bwMode="auto">
            <a:xfrm>
              <a:off x="5383213" y="3262313"/>
              <a:ext cx="715962" cy="663575"/>
            </a:xfrm>
            <a:custGeom>
              <a:avLst/>
              <a:gdLst>
                <a:gd name="T0" fmla="*/ 62 w 1988"/>
                <a:gd name="T1" fmla="*/ 1307 h 1842"/>
                <a:gd name="T2" fmla="*/ 0 w 1988"/>
                <a:gd name="T3" fmla="*/ 933 h 1842"/>
                <a:gd name="T4" fmla="*/ 120 w 1988"/>
                <a:gd name="T5" fmla="*/ 423 h 1842"/>
                <a:gd name="T6" fmla="*/ 518 w 1988"/>
                <a:gd name="T7" fmla="*/ 91 h 1842"/>
                <a:gd name="T8" fmla="*/ 1033 w 1988"/>
                <a:gd name="T9" fmla="*/ 0 h 1842"/>
                <a:gd name="T10" fmla="*/ 1618 w 1988"/>
                <a:gd name="T11" fmla="*/ 125 h 1842"/>
                <a:gd name="T12" fmla="*/ 1950 w 1988"/>
                <a:gd name="T13" fmla="*/ 531 h 1842"/>
                <a:gd name="T14" fmla="*/ 1966 w 1988"/>
                <a:gd name="T15" fmla="*/ 643 h 1842"/>
                <a:gd name="T16" fmla="*/ 1481 w 1988"/>
                <a:gd name="T17" fmla="*/ 643 h 1842"/>
                <a:gd name="T18" fmla="*/ 1456 w 1988"/>
                <a:gd name="T19" fmla="*/ 506 h 1842"/>
                <a:gd name="T20" fmla="*/ 1240 w 1988"/>
                <a:gd name="T21" fmla="*/ 303 h 1842"/>
                <a:gd name="T22" fmla="*/ 1037 w 1988"/>
                <a:gd name="T23" fmla="*/ 274 h 1842"/>
                <a:gd name="T24" fmla="*/ 809 w 1988"/>
                <a:gd name="T25" fmla="*/ 315 h 1842"/>
                <a:gd name="T26" fmla="*/ 556 w 1988"/>
                <a:gd name="T27" fmla="*/ 573 h 1842"/>
                <a:gd name="T28" fmla="*/ 494 w 1988"/>
                <a:gd name="T29" fmla="*/ 942 h 1842"/>
                <a:gd name="T30" fmla="*/ 539 w 1988"/>
                <a:gd name="T31" fmla="*/ 1249 h 1842"/>
                <a:gd name="T32" fmla="*/ 792 w 1988"/>
                <a:gd name="T33" fmla="*/ 1527 h 1842"/>
                <a:gd name="T34" fmla="*/ 1041 w 1988"/>
                <a:gd name="T35" fmla="*/ 1572 h 1842"/>
                <a:gd name="T36" fmla="*/ 1257 w 1988"/>
                <a:gd name="T37" fmla="*/ 1539 h 1842"/>
                <a:gd name="T38" fmla="*/ 1460 w 1988"/>
                <a:gd name="T39" fmla="*/ 1356 h 1842"/>
                <a:gd name="T40" fmla="*/ 1497 w 1988"/>
                <a:gd name="T41" fmla="*/ 1170 h 1842"/>
                <a:gd name="T42" fmla="*/ 1987 w 1988"/>
                <a:gd name="T43" fmla="*/ 1170 h 1842"/>
                <a:gd name="T44" fmla="*/ 1962 w 1988"/>
                <a:gd name="T45" fmla="*/ 1336 h 1842"/>
                <a:gd name="T46" fmla="*/ 1638 w 1988"/>
                <a:gd name="T47" fmla="*/ 1721 h 1842"/>
                <a:gd name="T48" fmla="*/ 1041 w 1988"/>
                <a:gd name="T49" fmla="*/ 1841 h 1842"/>
                <a:gd name="T50" fmla="*/ 568 w 1988"/>
                <a:gd name="T51" fmla="*/ 1771 h 1842"/>
                <a:gd name="T52" fmla="*/ 62 w 1988"/>
                <a:gd name="T53" fmla="*/ 1307 h 18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988" h="1842">
                  <a:moveTo>
                    <a:pt x="62" y="1307"/>
                  </a:moveTo>
                  <a:cubicBezTo>
                    <a:pt x="21" y="1191"/>
                    <a:pt x="0" y="1066"/>
                    <a:pt x="0" y="933"/>
                  </a:cubicBezTo>
                  <a:cubicBezTo>
                    <a:pt x="0" y="751"/>
                    <a:pt x="33" y="573"/>
                    <a:pt x="120" y="423"/>
                  </a:cubicBezTo>
                  <a:cubicBezTo>
                    <a:pt x="211" y="270"/>
                    <a:pt x="348" y="154"/>
                    <a:pt x="518" y="91"/>
                  </a:cubicBezTo>
                  <a:cubicBezTo>
                    <a:pt x="680" y="33"/>
                    <a:pt x="850" y="0"/>
                    <a:pt x="1033" y="0"/>
                  </a:cubicBezTo>
                  <a:cubicBezTo>
                    <a:pt x="1240" y="0"/>
                    <a:pt x="1439" y="46"/>
                    <a:pt x="1618" y="125"/>
                  </a:cubicBezTo>
                  <a:cubicBezTo>
                    <a:pt x="1784" y="195"/>
                    <a:pt x="1912" y="349"/>
                    <a:pt x="1950" y="531"/>
                  </a:cubicBezTo>
                  <a:cubicBezTo>
                    <a:pt x="1958" y="568"/>
                    <a:pt x="1962" y="606"/>
                    <a:pt x="1966" y="643"/>
                  </a:cubicBezTo>
                  <a:lnTo>
                    <a:pt x="1481" y="643"/>
                  </a:lnTo>
                  <a:cubicBezTo>
                    <a:pt x="1481" y="597"/>
                    <a:pt x="1472" y="552"/>
                    <a:pt x="1456" y="506"/>
                  </a:cubicBezTo>
                  <a:cubicBezTo>
                    <a:pt x="1419" y="411"/>
                    <a:pt x="1340" y="332"/>
                    <a:pt x="1240" y="303"/>
                  </a:cubicBezTo>
                  <a:cubicBezTo>
                    <a:pt x="1174" y="282"/>
                    <a:pt x="1107" y="274"/>
                    <a:pt x="1037" y="274"/>
                  </a:cubicBezTo>
                  <a:cubicBezTo>
                    <a:pt x="958" y="274"/>
                    <a:pt x="879" y="286"/>
                    <a:pt x="809" y="315"/>
                  </a:cubicBezTo>
                  <a:cubicBezTo>
                    <a:pt x="688" y="357"/>
                    <a:pt x="597" y="452"/>
                    <a:pt x="556" y="573"/>
                  </a:cubicBezTo>
                  <a:cubicBezTo>
                    <a:pt x="514" y="689"/>
                    <a:pt x="494" y="813"/>
                    <a:pt x="494" y="942"/>
                  </a:cubicBezTo>
                  <a:cubicBezTo>
                    <a:pt x="494" y="1050"/>
                    <a:pt x="510" y="1153"/>
                    <a:pt x="539" y="1249"/>
                  </a:cubicBezTo>
                  <a:cubicBezTo>
                    <a:pt x="572" y="1377"/>
                    <a:pt x="672" y="1481"/>
                    <a:pt x="792" y="1527"/>
                  </a:cubicBezTo>
                  <a:cubicBezTo>
                    <a:pt x="871" y="1556"/>
                    <a:pt x="954" y="1572"/>
                    <a:pt x="1041" y="1572"/>
                  </a:cubicBezTo>
                  <a:cubicBezTo>
                    <a:pt x="1116" y="1572"/>
                    <a:pt x="1186" y="1560"/>
                    <a:pt x="1257" y="1539"/>
                  </a:cubicBezTo>
                  <a:cubicBezTo>
                    <a:pt x="1348" y="1510"/>
                    <a:pt x="1423" y="1444"/>
                    <a:pt x="1460" y="1356"/>
                  </a:cubicBezTo>
                  <a:cubicBezTo>
                    <a:pt x="1485" y="1298"/>
                    <a:pt x="1497" y="1236"/>
                    <a:pt x="1497" y="1170"/>
                  </a:cubicBezTo>
                  <a:lnTo>
                    <a:pt x="1987" y="1170"/>
                  </a:lnTo>
                  <a:cubicBezTo>
                    <a:pt x="1983" y="1228"/>
                    <a:pt x="1974" y="1282"/>
                    <a:pt x="1962" y="1336"/>
                  </a:cubicBezTo>
                  <a:cubicBezTo>
                    <a:pt x="1920" y="1510"/>
                    <a:pt x="1800" y="1655"/>
                    <a:pt x="1638" y="1721"/>
                  </a:cubicBezTo>
                  <a:cubicBezTo>
                    <a:pt x="1456" y="1800"/>
                    <a:pt x="1253" y="1841"/>
                    <a:pt x="1041" y="1841"/>
                  </a:cubicBezTo>
                  <a:cubicBezTo>
                    <a:pt x="875" y="1841"/>
                    <a:pt x="718" y="1817"/>
                    <a:pt x="568" y="1771"/>
                  </a:cubicBezTo>
                  <a:cubicBezTo>
                    <a:pt x="336" y="1692"/>
                    <a:pt x="137" y="1527"/>
                    <a:pt x="62" y="1307"/>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51" name="Freeform 8">
              <a:extLst>
                <a:ext uri="{FF2B5EF4-FFF2-40B4-BE49-F238E27FC236}">
                  <a16:creationId xmlns:a16="http://schemas.microsoft.com/office/drawing/2014/main" id="{9BEF782E-D5DE-734F-9C51-AB343EB194F6}"/>
                </a:ext>
              </a:extLst>
            </p:cNvPr>
            <p:cNvSpPr>
              <a:spLocks noChangeArrowheads="1"/>
            </p:cNvSpPr>
            <p:nvPr/>
          </p:nvSpPr>
          <p:spPr bwMode="auto">
            <a:xfrm>
              <a:off x="2751138" y="4083050"/>
              <a:ext cx="153987" cy="398463"/>
            </a:xfrm>
            <a:custGeom>
              <a:avLst/>
              <a:gdLst>
                <a:gd name="T0" fmla="*/ 415 w 428"/>
                <a:gd name="T1" fmla="*/ 0 h 1109"/>
                <a:gd name="T2" fmla="*/ 0 w 428"/>
                <a:gd name="T3" fmla="*/ 38 h 1109"/>
                <a:gd name="T4" fmla="*/ 0 w 428"/>
                <a:gd name="T5" fmla="*/ 100 h 1109"/>
                <a:gd name="T6" fmla="*/ 12 w 428"/>
                <a:gd name="T7" fmla="*/ 100 h 1109"/>
                <a:gd name="T8" fmla="*/ 178 w 428"/>
                <a:gd name="T9" fmla="*/ 241 h 1109"/>
                <a:gd name="T10" fmla="*/ 178 w 428"/>
                <a:gd name="T11" fmla="*/ 1108 h 1109"/>
                <a:gd name="T12" fmla="*/ 427 w 428"/>
                <a:gd name="T13" fmla="*/ 1108 h 1109"/>
                <a:gd name="T14" fmla="*/ 427 w 428"/>
                <a:gd name="T15" fmla="*/ 0 h 1109"/>
                <a:gd name="T16" fmla="*/ 415 w 428"/>
                <a:gd name="T17" fmla="*/ 0 h 1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28" h="1109">
                  <a:moveTo>
                    <a:pt x="415" y="0"/>
                  </a:moveTo>
                  <a:lnTo>
                    <a:pt x="0" y="38"/>
                  </a:lnTo>
                  <a:lnTo>
                    <a:pt x="0" y="100"/>
                  </a:lnTo>
                  <a:lnTo>
                    <a:pt x="12" y="100"/>
                  </a:lnTo>
                  <a:cubicBezTo>
                    <a:pt x="178" y="121"/>
                    <a:pt x="178" y="121"/>
                    <a:pt x="178" y="241"/>
                  </a:cubicBezTo>
                  <a:lnTo>
                    <a:pt x="178" y="1108"/>
                  </a:lnTo>
                  <a:lnTo>
                    <a:pt x="427" y="1108"/>
                  </a:lnTo>
                  <a:lnTo>
                    <a:pt x="427" y="0"/>
                  </a:lnTo>
                  <a:lnTo>
                    <a:pt x="415"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52" name="Freeform 9">
              <a:extLst>
                <a:ext uri="{FF2B5EF4-FFF2-40B4-BE49-F238E27FC236}">
                  <a16:creationId xmlns:a16="http://schemas.microsoft.com/office/drawing/2014/main" id="{0C8F20BF-80B8-AA43-8103-58006CF5B9E1}"/>
                </a:ext>
              </a:extLst>
            </p:cNvPr>
            <p:cNvSpPr>
              <a:spLocks noChangeArrowheads="1"/>
            </p:cNvSpPr>
            <p:nvPr/>
          </p:nvSpPr>
          <p:spPr bwMode="auto">
            <a:xfrm>
              <a:off x="2986088" y="4198938"/>
              <a:ext cx="315912" cy="282575"/>
            </a:xfrm>
            <a:custGeom>
              <a:avLst/>
              <a:gdLst>
                <a:gd name="T0" fmla="*/ 643 w 876"/>
                <a:gd name="T1" fmla="*/ 4 h 785"/>
                <a:gd name="T2" fmla="*/ 353 w 876"/>
                <a:gd name="T3" fmla="*/ 170 h 785"/>
                <a:gd name="T4" fmla="*/ 353 w 876"/>
                <a:gd name="T5" fmla="*/ 0 h 785"/>
                <a:gd name="T6" fmla="*/ 336 w 876"/>
                <a:gd name="T7" fmla="*/ 4 h 785"/>
                <a:gd name="T8" fmla="*/ 0 w 876"/>
                <a:gd name="T9" fmla="*/ 58 h 785"/>
                <a:gd name="T10" fmla="*/ 0 w 876"/>
                <a:gd name="T11" fmla="*/ 116 h 785"/>
                <a:gd name="T12" fmla="*/ 17 w 876"/>
                <a:gd name="T13" fmla="*/ 116 h 785"/>
                <a:gd name="T14" fmla="*/ 145 w 876"/>
                <a:gd name="T15" fmla="*/ 240 h 785"/>
                <a:gd name="T16" fmla="*/ 145 w 876"/>
                <a:gd name="T17" fmla="*/ 784 h 785"/>
                <a:gd name="T18" fmla="*/ 353 w 876"/>
                <a:gd name="T19" fmla="*/ 784 h 785"/>
                <a:gd name="T20" fmla="*/ 353 w 876"/>
                <a:gd name="T21" fmla="*/ 386 h 785"/>
                <a:gd name="T22" fmla="*/ 560 w 876"/>
                <a:gd name="T23" fmla="*/ 141 h 785"/>
                <a:gd name="T24" fmla="*/ 664 w 876"/>
                <a:gd name="T25" fmla="*/ 361 h 785"/>
                <a:gd name="T26" fmla="*/ 664 w 876"/>
                <a:gd name="T27" fmla="*/ 784 h 785"/>
                <a:gd name="T28" fmla="*/ 871 w 876"/>
                <a:gd name="T29" fmla="*/ 784 h 785"/>
                <a:gd name="T30" fmla="*/ 871 w 876"/>
                <a:gd name="T31" fmla="*/ 240 h 785"/>
                <a:gd name="T32" fmla="*/ 643 w 876"/>
                <a:gd name="T33" fmla="*/ 4 h 7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76" h="785">
                  <a:moveTo>
                    <a:pt x="643" y="4"/>
                  </a:moveTo>
                  <a:cubicBezTo>
                    <a:pt x="490" y="4"/>
                    <a:pt x="398" y="108"/>
                    <a:pt x="353" y="170"/>
                  </a:cubicBezTo>
                  <a:cubicBezTo>
                    <a:pt x="353" y="112"/>
                    <a:pt x="353" y="0"/>
                    <a:pt x="353" y="0"/>
                  </a:cubicBezTo>
                  <a:lnTo>
                    <a:pt x="336" y="4"/>
                  </a:lnTo>
                  <a:lnTo>
                    <a:pt x="0" y="58"/>
                  </a:lnTo>
                  <a:lnTo>
                    <a:pt x="0" y="116"/>
                  </a:lnTo>
                  <a:lnTo>
                    <a:pt x="17" y="116"/>
                  </a:lnTo>
                  <a:cubicBezTo>
                    <a:pt x="124" y="120"/>
                    <a:pt x="145" y="141"/>
                    <a:pt x="145" y="240"/>
                  </a:cubicBezTo>
                  <a:lnTo>
                    <a:pt x="145" y="784"/>
                  </a:lnTo>
                  <a:lnTo>
                    <a:pt x="353" y="784"/>
                  </a:lnTo>
                  <a:lnTo>
                    <a:pt x="353" y="386"/>
                  </a:lnTo>
                  <a:cubicBezTo>
                    <a:pt x="353" y="278"/>
                    <a:pt x="452" y="141"/>
                    <a:pt x="560" y="141"/>
                  </a:cubicBezTo>
                  <a:cubicBezTo>
                    <a:pt x="660" y="141"/>
                    <a:pt x="664" y="224"/>
                    <a:pt x="664" y="361"/>
                  </a:cubicBezTo>
                  <a:lnTo>
                    <a:pt x="664" y="784"/>
                  </a:lnTo>
                  <a:lnTo>
                    <a:pt x="871" y="784"/>
                  </a:lnTo>
                  <a:lnTo>
                    <a:pt x="871" y="240"/>
                  </a:lnTo>
                  <a:cubicBezTo>
                    <a:pt x="875" y="87"/>
                    <a:pt x="792" y="4"/>
                    <a:pt x="643" y="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53" name="Freeform 10">
              <a:extLst>
                <a:ext uri="{FF2B5EF4-FFF2-40B4-BE49-F238E27FC236}">
                  <a16:creationId xmlns:a16="http://schemas.microsoft.com/office/drawing/2014/main" id="{5B65AB5A-E732-2349-89E5-B07E524928B0}"/>
                </a:ext>
              </a:extLst>
            </p:cNvPr>
            <p:cNvSpPr>
              <a:spLocks noChangeArrowheads="1"/>
            </p:cNvSpPr>
            <p:nvPr/>
          </p:nvSpPr>
          <p:spPr bwMode="auto">
            <a:xfrm>
              <a:off x="3386138" y="4200525"/>
              <a:ext cx="212725" cy="288925"/>
            </a:xfrm>
            <a:custGeom>
              <a:avLst/>
              <a:gdLst>
                <a:gd name="T0" fmla="*/ 348 w 590"/>
                <a:gd name="T1" fmla="*/ 303 h 802"/>
                <a:gd name="T2" fmla="*/ 195 w 590"/>
                <a:gd name="T3" fmla="*/ 170 h 802"/>
                <a:gd name="T4" fmla="*/ 307 w 590"/>
                <a:gd name="T5" fmla="*/ 100 h 802"/>
                <a:gd name="T6" fmla="*/ 502 w 590"/>
                <a:gd name="T7" fmla="*/ 166 h 802"/>
                <a:gd name="T8" fmla="*/ 535 w 590"/>
                <a:gd name="T9" fmla="*/ 187 h 802"/>
                <a:gd name="T10" fmla="*/ 535 w 590"/>
                <a:gd name="T11" fmla="*/ 162 h 802"/>
                <a:gd name="T12" fmla="*/ 535 w 590"/>
                <a:gd name="T13" fmla="*/ 33 h 802"/>
                <a:gd name="T14" fmla="*/ 506 w 590"/>
                <a:gd name="T15" fmla="*/ 25 h 802"/>
                <a:gd name="T16" fmla="*/ 315 w 590"/>
                <a:gd name="T17" fmla="*/ 0 h 802"/>
                <a:gd name="T18" fmla="*/ 0 w 590"/>
                <a:gd name="T19" fmla="*/ 224 h 802"/>
                <a:gd name="T20" fmla="*/ 228 w 590"/>
                <a:gd name="T21" fmla="*/ 465 h 802"/>
                <a:gd name="T22" fmla="*/ 390 w 590"/>
                <a:gd name="T23" fmla="*/ 606 h 802"/>
                <a:gd name="T24" fmla="*/ 249 w 590"/>
                <a:gd name="T25" fmla="*/ 697 h 802"/>
                <a:gd name="T26" fmla="*/ 20 w 590"/>
                <a:gd name="T27" fmla="*/ 618 h 802"/>
                <a:gd name="T28" fmla="*/ 0 w 590"/>
                <a:gd name="T29" fmla="*/ 606 h 802"/>
                <a:gd name="T30" fmla="*/ 0 w 590"/>
                <a:gd name="T31" fmla="*/ 767 h 802"/>
                <a:gd name="T32" fmla="*/ 16 w 590"/>
                <a:gd name="T33" fmla="*/ 771 h 802"/>
                <a:gd name="T34" fmla="*/ 244 w 590"/>
                <a:gd name="T35" fmla="*/ 801 h 802"/>
                <a:gd name="T36" fmla="*/ 580 w 590"/>
                <a:gd name="T37" fmla="*/ 568 h 802"/>
                <a:gd name="T38" fmla="*/ 348 w 590"/>
                <a:gd name="T39" fmla="*/ 303 h 8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590" h="802">
                  <a:moveTo>
                    <a:pt x="348" y="303"/>
                  </a:moveTo>
                  <a:cubicBezTo>
                    <a:pt x="265" y="261"/>
                    <a:pt x="195" y="228"/>
                    <a:pt x="195" y="170"/>
                  </a:cubicBezTo>
                  <a:cubicBezTo>
                    <a:pt x="195" y="104"/>
                    <a:pt x="274" y="100"/>
                    <a:pt x="307" y="100"/>
                  </a:cubicBezTo>
                  <a:cubicBezTo>
                    <a:pt x="394" y="100"/>
                    <a:pt x="468" y="145"/>
                    <a:pt x="502" y="166"/>
                  </a:cubicBezTo>
                  <a:lnTo>
                    <a:pt x="535" y="187"/>
                  </a:lnTo>
                  <a:lnTo>
                    <a:pt x="535" y="162"/>
                  </a:lnTo>
                  <a:lnTo>
                    <a:pt x="535" y="33"/>
                  </a:lnTo>
                  <a:lnTo>
                    <a:pt x="506" y="25"/>
                  </a:lnTo>
                  <a:cubicBezTo>
                    <a:pt x="468" y="17"/>
                    <a:pt x="398" y="0"/>
                    <a:pt x="315" y="0"/>
                  </a:cubicBezTo>
                  <a:cubicBezTo>
                    <a:pt x="120" y="0"/>
                    <a:pt x="0" y="83"/>
                    <a:pt x="0" y="224"/>
                  </a:cubicBezTo>
                  <a:cubicBezTo>
                    <a:pt x="0" y="353"/>
                    <a:pt x="124" y="411"/>
                    <a:pt x="228" y="465"/>
                  </a:cubicBezTo>
                  <a:cubicBezTo>
                    <a:pt x="311" y="506"/>
                    <a:pt x="390" y="543"/>
                    <a:pt x="390" y="606"/>
                  </a:cubicBezTo>
                  <a:cubicBezTo>
                    <a:pt x="390" y="664"/>
                    <a:pt x="340" y="697"/>
                    <a:pt x="249" y="697"/>
                  </a:cubicBezTo>
                  <a:cubicBezTo>
                    <a:pt x="149" y="697"/>
                    <a:pt x="70" y="647"/>
                    <a:pt x="20" y="618"/>
                  </a:cubicBezTo>
                  <a:lnTo>
                    <a:pt x="0" y="606"/>
                  </a:lnTo>
                  <a:lnTo>
                    <a:pt x="0" y="767"/>
                  </a:lnTo>
                  <a:lnTo>
                    <a:pt x="16" y="771"/>
                  </a:lnTo>
                  <a:cubicBezTo>
                    <a:pt x="58" y="780"/>
                    <a:pt x="137" y="801"/>
                    <a:pt x="244" y="801"/>
                  </a:cubicBezTo>
                  <a:cubicBezTo>
                    <a:pt x="456" y="801"/>
                    <a:pt x="580" y="713"/>
                    <a:pt x="580" y="568"/>
                  </a:cubicBezTo>
                  <a:cubicBezTo>
                    <a:pt x="589" y="419"/>
                    <a:pt x="460" y="357"/>
                    <a:pt x="348" y="30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54" name="Freeform 11">
              <a:extLst>
                <a:ext uri="{FF2B5EF4-FFF2-40B4-BE49-F238E27FC236}">
                  <a16:creationId xmlns:a16="http://schemas.microsoft.com/office/drawing/2014/main" id="{18907CF9-1658-E045-9ADF-2C0EB3806774}"/>
                </a:ext>
              </a:extLst>
            </p:cNvPr>
            <p:cNvSpPr>
              <a:spLocks noChangeArrowheads="1"/>
            </p:cNvSpPr>
            <p:nvPr/>
          </p:nvSpPr>
          <p:spPr bwMode="auto">
            <a:xfrm>
              <a:off x="3635375" y="4198938"/>
              <a:ext cx="325438" cy="396875"/>
            </a:xfrm>
            <a:custGeom>
              <a:avLst/>
              <a:gdLst>
                <a:gd name="T0" fmla="*/ 577 w 906"/>
                <a:gd name="T1" fmla="*/ 4 h 1104"/>
                <a:gd name="T2" fmla="*/ 357 w 906"/>
                <a:gd name="T3" fmla="*/ 112 h 1104"/>
                <a:gd name="T4" fmla="*/ 357 w 906"/>
                <a:gd name="T5" fmla="*/ 0 h 1104"/>
                <a:gd name="T6" fmla="*/ 336 w 906"/>
                <a:gd name="T7" fmla="*/ 4 h 1104"/>
                <a:gd name="T8" fmla="*/ 0 w 906"/>
                <a:gd name="T9" fmla="*/ 58 h 1104"/>
                <a:gd name="T10" fmla="*/ 0 w 906"/>
                <a:gd name="T11" fmla="*/ 116 h 1104"/>
                <a:gd name="T12" fmla="*/ 13 w 906"/>
                <a:gd name="T13" fmla="*/ 116 h 1104"/>
                <a:gd name="T14" fmla="*/ 137 w 906"/>
                <a:gd name="T15" fmla="*/ 240 h 1104"/>
                <a:gd name="T16" fmla="*/ 137 w 906"/>
                <a:gd name="T17" fmla="*/ 1103 h 1104"/>
                <a:gd name="T18" fmla="*/ 345 w 906"/>
                <a:gd name="T19" fmla="*/ 1103 h 1104"/>
                <a:gd name="T20" fmla="*/ 345 w 906"/>
                <a:gd name="T21" fmla="*/ 709 h 1104"/>
                <a:gd name="T22" fmla="*/ 560 w 906"/>
                <a:gd name="T23" fmla="*/ 800 h 1104"/>
                <a:gd name="T24" fmla="*/ 896 w 906"/>
                <a:gd name="T25" fmla="*/ 390 h 1104"/>
                <a:gd name="T26" fmla="*/ 577 w 906"/>
                <a:gd name="T27" fmla="*/ 4 h 1104"/>
                <a:gd name="T28" fmla="*/ 515 w 906"/>
                <a:gd name="T29" fmla="*/ 120 h 1104"/>
                <a:gd name="T30" fmla="*/ 672 w 906"/>
                <a:gd name="T31" fmla="*/ 394 h 1104"/>
                <a:gd name="T32" fmla="*/ 515 w 906"/>
                <a:gd name="T33" fmla="*/ 688 h 1104"/>
                <a:gd name="T34" fmla="*/ 349 w 906"/>
                <a:gd name="T35" fmla="*/ 456 h 1104"/>
                <a:gd name="T36" fmla="*/ 349 w 906"/>
                <a:gd name="T37" fmla="*/ 390 h 1104"/>
                <a:gd name="T38" fmla="*/ 515 w 906"/>
                <a:gd name="T39" fmla="*/ 120 h 1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906" h="1104">
                  <a:moveTo>
                    <a:pt x="577" y="4"/>
                  </a:moveTo>
                  <a:cubicBezTo>
                    <a:pt x="498" y="4"/>
                    <a:pt x="424" y="41"/>
                    <a:pt x="357" y="112"/>
                  </a:cubicBezTo>
                  <a:cubicBezTo>
                    <a:pt x="357" y="75"/>
                    <a:pt x="357" y="0"/>
                    <a:pt x="357" y="0"/>
                  </a:cubicBezTo>
                  <a:lnTo>
                    <a:pt x="336" y="4"/>
                  </a:lnTo>
                  <a:lnTo>
                    <a:pt x="0" y="58"/>
                  </a:lnTo>
                  <a:lnTo>
                    <a:pt x="0" y="116"/>
                  </a:lnTo>
                  <a:lnTo>
                    <a:pt x="13" y="116"/>
                  </a:lnTo>
                  <a:cubicBezTo>
                    <a:pt x="117" y="120"/>
                    <a:pt x="137" y="141"/>
                    <a:pt x="137" y="240"/>
                  </a:cubicBezTo>
                  <a:lnTo>
                    <a:pt x="137" y="1103"/>
                  </a:lnTo>
                  <a:lnTo>
                    <a:pt x="345" y="1103"/>
                  </a:lnTo>
                  <a:cubicBezTo>
                    <a:pt x="345" y="1103"/>
                    <a:pt x="345" y="775"/>
                    <a:pt x="345" y="709"/>
                  </a:cubicBezTo>
                  <a:cubicBezTo>
                    <a:pt x="382" y="755"/>
                    <a:pt x="444" y="800"/>
                    <a:pt x="560" y="800"/>
                  </a:cubicBezTo>
                  <a:cubicBezTo>
                    <a:pt x="780" y="800"/>
                    <a:pt x="896" y="659"/>
                    <a:pt x="896" y="390"/>
                  </a:cubicBezTo>
                  <a:cubicBezTo>
                    <a:pt x="905" y="145"/>
                    <a:pt x="784" y="4"/>
                    <a:pt x="577" y="4"/>
                  </a:cubicBezTo>
                  <a:close/>
                  <a:moveTo>
                    <a:pt x="515" y="120"/>
                  </a:moveTo>
                  <a:cubicBezTo>
                    <a:pt x="656" y="120"/>
                    <a:pt x="672" y="274"/>
                    <a:pt x="672" y="394"/>
                  </a:cubicBezTo>
                  <a:cubicBezTo>
                    <a:pt x="672" y="593"/>
                    <a:pt x="623" y="688"/>
                    <a:pt x="515" y="688"/>
                  </a:cubicBezTo>
                  <a:cubicBezTo>
                    <a:pt x="378" y="688"/>
                    <a:pt x="349" y="560"/>
                    <a:pt x="349" y="456"/>
                  </a:cubicBezTo>
                  <a:lnTo>
                    <a:pt x="349" y="390"/>
                  </a:lnTo>
                  <a:cubicBezTo>
                    <a:pt x="353" y="307"/>
                    <a:pt x="370" y="120"/>
                    <a:pt x="515" y="120"/>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55" name="Freeform 12">
              <a:extLst>
                <a:ext uri="{FF2B5EF4-FFF2-40B4-BE49-F238E27FC236}">
                  <a16:creationId xmlns:a16="http://schemas.microsoft.com/office/drawing/2014/main" id="{6582D328-B23E-7E45-9263-09C953540134}"/>
                </a:ext>
              </a:extLst>
            </p:cNvPr>
            <p:cNvSpPr>
              <a:spLocks noChangeArrowheads="1"/>
            </p:cNvSpPr>
            <p:nvPr/>
          </p:nvSpPr>
          <p:spPr bwMode="auto">
            <a:xfrm>
              <a:off x="4013200" y="4198938"/>
              <a:ext cx="123825" cy="282575"/>
            </a:xfrm>
            <a:custGeom>
              <a:avLst/>
              <a:gdLst>
                <a:gd name="T0" fmla="*/ 0 w 345"/>
                <a:gd name="T1" fmla="*/ 58 h 785"/>
                <a:gd name="T2" fmla="*/ 0 w 345"/>
                <a:gd name="T3" fmla="*/ 116 h 785"/>
                <a:gd name="T4" fmla="*/ 12 w 345"/>
                <a:gd name="T5" fmla="*/ 116 h 785"/>
                <a:gd name="T6" fmla="*/ 137 w 345"/>
                <a:gd name="T7" fmla="*/ 240 h 785"/>
                <a:gd name="T8" fmla="*/ 137 w 345"/>
                <a:gd name="T9" fmla="*/ 784 h 785"/>
                <a:gd name="T10" fmla="*/ 344 w 345"/>
                <a:gd name="T11" fmla="*/ 784 h 785"/>
                <a:gd name="T12" fmla="*/ 344 w 345"/>
                <a:gd name="T13" fmla="*/ 0 h 785"/>
                <a:gd name="T14" fmla="*/ 328 w 345"/>
                <a:gd name="T15" fmla="*/ 4 h 785"/>
                <a:gd name="T16" fmla="*/ 0 w 345"/>
                <a:gd name="T17" fmla="*/ 58 h 7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45" h="785">
                  <a:moveTo>
                    <a:pt x="0" y="58"/>
                  </a:moveTo>
                  <a:lnTo>
                    <a:pt x="0" y="116"/>
                  </a:lnTo>
                  <a:lnTo>
                    <a:pt x="12" y="116"/>
                  </a:lnTo>
                  <a:cubicBezTo>
                    <a:pt x="116" y="120"/>
                    <a:pt x="137" y="141"/>
                    <a:pt x="137" y="240"/>
                  </a:cubicBezTo>
                  <a:lnTo>
                    <a:pt x="137" y="784"/>
                  </a:lnTo>
                  <a:lnTo>
                    <a:pt x="344" y="784"/>
                  </a:lnTo>
                  <a:lnTo>
                    <a:pt x="344" y="0"/>
                  </a:lnTo>
                  <a:lnTo>
                    <a:pt x="328" y="4"/>
                  </a:lnTo>
                  <a:lnTo>
                    <a:pt x="0" y="58"/>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59" name="Freeform 13">
              <a:extLst>
                <a:ext uri="{FF2B5EF4-FFF2-40B4-BE49-F238E27FC236}">
                  <a16:creationId xmlns:a16="http://schemas.microsoft.com/office/drawing/2014/main" id="{1C5D63DB-4DD9-2E40-B566-7E733EBF8861}"/>
                </a:ext>
              </a:extLst>
            </p:cNvPr>
            <p:cNvSpPr>
              <a:spLocks noChangeArrowheads="1"/>
            </p:cNvSpPr>
            <p:nvPr/>
          </p:nvSpPr>
          <p:spPr bwMode="auto">
            <a:xfrm>
              <a:off x="4056063" y="4084638"/>
              <a:ext cx="93662" cy="82550"/>
            </a:xfrm>
            <a:custGeom>
              <a:avLst/>
              <a:gdLst>
                <a:gd name="T0" fmla="*/ 129 w 262"/>
                <a:gd name="T1" fmla="*/ 228 h 229"/>
                <a:gd name="T2" fmla="*/ 261 w 262"/>
                <a:gd name="T3" fmla="*/ 112 h 229"/>
                <a:gd name="T4" fmla="*/ 133 w 262"/>
                <a:gd name="T5" fmla="*/ 0 h 229"/>
                <a:gd name="T6" fmla="*/ 4 w 262"/>
                <a:gd name="T7" fmla="*/ 112 h 229"/>
                <a:gd name="T8" fmla="*/ 129 w 262"/>
                <a:gd name="T9" fmla="*/ 228 h 229"/>
              </a:gdLst>
              <a:ahLst/>
              <a:cxnLst>
                <a:cxn ang="0">
                  <a:pos x="T0" y="T1"/>
                </a:cxn>
                <a:cxn ang="0">
                  <a:pos x="T2" y="T3"/>
                </a:cxn>
                <a:cxn ang="0">
                  <a:pos x="T4" y="T5"/>
                </a:cxn>
                <a:cxn ang="0">
                  <a:pos x="T6" y="T7"/>
                </a:cxn>
                <a:cxn ang="0">
                  <a:pos x="T8" y="T9"/>
                </a:cxn>
              </a:cxnLst>
              <a:rect l="0" t="0" r="r" b="b"/>
              <a:pathLst>
                <a:path w="262" h="229">
                  <a:moveTo>
                    <a:pt x="129" y="228"/>
                  </a:moveTo>
                  <a:cubicBezTo>
                    <a:pt x="199" y="228"/>
                    <a:pt x="261" y="178"/>
                    <a:pt x="261" y="112"/>
                  </a:cubicBezTo>
                  <a:cubicBezTo>
                    <a:pt x="261" y="49"/>
                    <a:pt x="203" y="0"/>
                    <a:pt x="133" y="0"/>
                  </a:cubicBezTo>
                  <a:cubicBezTo>
                    <a:pt x="62" y="0"/>
                    <a:pt x="4" y="49"/>
                    <a:pt x="4" y="112"/>
                  </a:cubicBezTo>
                  <a:cubicBezTo>
                    <a:pt x="0" y="178"/>
                    <a:pt x="58" y="228"/>
                    <a:pt x="129" y="228"/>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60" name="Freeform 14">
              <a:extLst>
                <a:ext uri="{FF2B5EF4-FFF2-40B4-BE49-F238E27FC236}">
                  <a16:creationId xmlns:a16="http://schemas.microsoft.com/office/drawing/2014/main" id="{6CC37E30-3AA8-3A4D-938A-A8B8E7A953F9}"/>
                </a:ext>
              </a:extLst>
            </p:cNvPr>
            <p:cNvSpPr>
              <a:spLocks noChangeArrowheads="1"/>
            </p:cNvSpPr>
            <p:nvPr/>
          </p:nvSpPr>
          <p:spPr bwMode="auto">
            <a:xfrm>
              <a:off x="4211638" y="4200525"/>
              <a:ext cx="244475" cy="280988"/>
            </a:xfrm>
            <a:custGeom>
              <a:avLst/>
              <a:gdLst>
                <a:gd name="T0" fmla="*/ 676 w 677"/>
                <a:gd name="T1" fmla="*/ 174 h 781"/>
                <a:gd name="T2" fmla="*/ 676 w 677"/>
                <a:gd name="T3" fmla="*/ 12 h 781"/>
                <a:gd name="T4" fmla="*/ 663 w 677"/>
                <a:gd name="T5" fmla="*/ 12 h 781"/>
                <a:gd name="T6" fmla="*/ 564 w 677"/>
                <a:gd name="T7" fmla="*/ 4 h 781"/>
                <a:gd name="T8" fmla="*/ 348 w 677"/>
                <a:gd name="T9" fmla="*/ 158 h 781"/>
                <a:gd name="T10" fmla="*/ 348 w 677"/>
                <a:gd name="T11" fmla="*/ 0 h 781"/>
                <a:gd name="T12" fmla="*/ 331 w 677"/>
                <a:gd name="T13" fmla="*/ 0 h 781"/>
                <a:gd name="T14" fmla="*/ 0 w 677"/>
                <a:gd name="T15" fmla="*/ 54 h 781"/>
                <a:gd name="T16" fmla="*/ 0 w 677"/>
                <a:gd name="T17" fmla="*/ 112 h 781"/>
                <a:gd name="T18" fmla="*/ 12 w 677"/>
                <a:gd name="T19" fmla="*/ 112 h 781"/>
                <a:gd name="T20" fmla="*/ 141 w 677"/>
                <a:gd name="T21" fmla="*/ 236 h 781"/>
                <a:gd name="T22" fmla="*/ 141 w 677"/>
                <a:gd name="T23" fmla="*/ 780 h 781"/>
                <a:gd name="T24" fmla="*/ 348 w 677"/>
                <a:gd name="T25" fmla="*/ 780 h 781"/>
                <a:gd name="T26" fmla="*/ 348 w 677"/>
                <a:gd name="T27" fmla="*/ 390 h 781"/>
                <a:gd name="T28" fmla="*/ 568 w 677"/>
                <a:gd name="T29" fmla="*/ 170 h 781"/>
                <a:gd name="T30" fmla="*/ 643 w 677"/>
                <a:gd name="T31" fmla="*/ 183 h 781"/>
                <a:gd name="T32" fmla="*/ 676 w 677"/>
                <a:gd name="T33" fmla="*/ 191 h 781"/>
                <a:gd name="T34" fmla="*/ 676 w 677"/>
                <a:gd name="T35" fmla="*/ 174 h 7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77" h="781">
                  <a:moveTo>
                    <a:pt x="676" y="174"/>
                  </a:moveTo>
                  <a:lnTo>
                    <a:pt x="676" y="12"/>
                  </a:lnTo>
                  <a:lnTo>
                    <a:pt x="663" y="12"/>
                  </a:lnTo>
                  <a:cubicBezTo>
                    <a:pt x="630" y="8"/>
                    <a:pt x="593" y="4"/>
                    <a:pt x="564" y="4"/>
                  </a:cubicBezTo>
                  <a:cubicBezTo>
                    <a:pt x="443" y="4"/>
                    <a:pt x="381" y="91"/>
                    <a:pt x="348" y="158"/>
                  </a:cubicBezTo>
                  <a:cubicBezTo>
                    <a:pt x="348" y="95"/>
                    <a:pt x="348" y="0"/>
                    <a:pt x="348" y="0"/>
                  </a:cubicBezTo>
                  <a:lnTo>
                    <a:pt x="331" y="0"/>
                  </a:lnTo>
                  <a:lnTo>
                    <a:pt x="0" y="54"/>
                  </a:lnTo>
                  <a:lnTo>
                    <a:pt x="0" y="112"/>
                  </a:lnTo>
                  <a:lnTo>
                    <a:pt x="12" y="112"/>
                  </a:lnTo>
                  <a:cubicBezTo>
                    <a:pt x="116" y="116"/>
                    <a:pt x="141" y="137"/>
                    <a:pt x="141" y="236"/>
                  </a:cubicBezTo>
                  <a:lnTo>
                    <a:pt x="141" y="780"/>
                  </a:lnTo>
                  <a:lnTo>
                    <a:pt x="348" y="780"/>
                  </a:lnTo>
                  <a:lnTo>
                    <a:pt x="348" y="390"/>
                  </a:lnTo>
                  <a:cubicBezTo>
                    <a:pt x="348" y="324"/>
                    <a:pt x="369" y="170"/>
                    <a:pt x="568" y="170"/>
                  </a:cubicBezTo>
                  <a:cubicBezTo>
                    <a:pt x="593" y="170"/>
                    <a:pt x="618" y="178"/>
                    <a:pt x="643" y="183"/>
                  </a:cubicBezTo>
                  <a:lnTo>
                    <a:pt x="676" y="191"/>
                  </a:lnTo>
                  <a:lnTo>
                    <a:pt x="676" y="174"/>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61" name="Freeform 15">
              <a:extLst>
                <a:ext uri="{FF2B5EF4-FFF2-40B4-BE49-F238E27FC236}">
                  <a16:creationId xmlns:a16="http://schemas.microsoft.com/office/drawing/2014/main" id="{15F29EA2-8A57-A243-BA94-EEAE6BD449BC}"/>
                </a:ext>
              </a:extLst>
            </p:cNvPr>
            <p:cNvSpPr>
              <a:spLocks noChangeArrowheads="1"/>
            </p:cNvSpPr>
            <p:nvPr/>
          </p:nvSpPr>
          <p:spPr bwMode="auto">
            <a:xfrm>
              <a:off x="4486275" y="4200525"/>
              <a:ext cx="266700" cy="287338"/>
            </a:xfrm>
            <a:custGeom>
              <a:avLst/>
              <a:gdLst>
                <a:gd name="T0" fmla="*/ 738 w 743"/>
                <a:gd name="T1" fmla="*/ 315 h 797"/>
                <a:gd name="T2" fmla="*/ 390 w 743"/>
                <a:gd name="T3" fmla="*/ 0 h 797"/>
                <a:gd name="T4" fmla="*/ 0 w 743"/>
                <a:gd name="T5" fmla="*/ 373 h 797"/>
                <a:gd name="T6" fmla="*/ 456 w 743"/>
                <a:gd name="T7" fmla="*/ 796 h 797"/>
                <a:gd name="T8" fmla="*/ 713 w 743"/>
                <a:gd name="T9" fmla="*/ 755 h 797"/>
                <a:gd name="T10" fmla="*/ 726 w 743"/>
                <a:gd name="T11" fmla="*/ 751 h 797"/>
                <a:gd name="T12" fmla="*/ 726 w 743"/>
                <a:gd name="T13" fmla="*/ 651 h 797"/>
                <a:gd name="T14" fmla="*/ 705 w 743"/>
                <a:gd name="T15" fmla="*/ 660 h 797"/>
                <a:gd name="T16" fmla="*/ 543 w 743"/>
                <a:gd name="T17" fmla="*/ 684 h 797"/>
                <a:gd name="T18" fmla="*/ 232 w 743"/>
                <a:gd name="T19" fmla="*/ 332 h 797"/>
                <a:gd name="T20" fmla="*/ 742 w 743"/>
                <a:gd name="T21" fmla="*/ 332 h 797"/>
                <a:gd name="T22" fmla="*/ 742 w 743"/>
                <a:gd name="T23" fmla="*/ 315 h 797"/>
                <a:gd name="T24" fmla="*/ 738 w 743"/>
                <a:gd name="T25" fmla="*/ 315 h 797"/>
                <a:gd name="T26" fmla="*/ 386 w 743"/>
                <a:gd name="T27" fmla="*/ 83 h 797"/>
                <a:gd name="T28" fmla="*/ 531 w 743"/>
                <a:gd name="T29" fmla="*/ 236 h 797"/>
                <a:gd name="T30" fmla="*/ 228 w 743"/>
                <a:gd name="T31" fmla="*/ 236 h 797"/>
                <a:gd name="T32" fmla="*/ 386 w 743"/>
                <a:gd name="T33" fmla="*/ 83 h 7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743" h="797">
                  <a:moveTo>
                    <a:pt x="738" y="315"/>
                  </a:moveTo>
                  <a:cubicBezTo>
                    <a:pt x="738" y="104"/>
                    <a:pt x="622" y="0"/>
                    <a:pt x="390" y="0"/>
                  </a:cubicBezTo>
                  <a:cubicBezTo>
                    <a:pt x="128" y="0"/>
                    <a:pt x="0" y="124"/>
                    <a:pt x="0" y="373"/>
                  </a:cubicBezTo>
                  <a:cubicBezTo>
                    <a:pt x="0" y="639"/>
                    <a:pt x="170" y="796"/>
                    <a:pt x="456" y="796"/>
                  </a:cubicBezTo>
                  <a:cubicBezTo>
                    <a:pt x="581" y="796"/>
                    <a:pt x="676" y="763"/>
                    <a:pt x="713" y="755"/>
                  </a:cubicBezTo>
                  <a:lnTo>
                    <a:pt x="726" y="751"/>
                  </a:lnTo>
                  <a:lnTo>
                    <a:pt x="726" y="651"/>
                  </a:lnTo>
                  <a:lnTo>
                    <a:pt x="705" y="660"/>
                  </a:lnTo>
                  <a:cubicBezTo>
                    <a:pt x="672" y="672"/>
                    <a:pt x="610" y="684"/>
                    <a:pt x="543" y="684"/>
                  </a:cubicBezTo>
                  <a:cubicBezTo>
                    <a:pt x="319" y="684"/>
                    <a:pt x="236" y="498"/>
                    <a:pt x="232" y="332"/>
                  </a:cubicBezTo>
                  <a:cubicBezTo>
                    <a:pt x="261" y="332"/>
                    <a:pt x="742" y="332"/>
                    <a:pt x="742" y="332"/>
                  </a:cubicBezTo>
                  <a:lnTo>
                    <a:pt x="742" y="315"/>
                  </a:lnTo>
                  <a:lnTo>
                    <a:pt x="738" y="315"/>
                  </a:lnTo>
                  <a:close/>
                  <a:moveTo>
                    <a:pt x="386" y="83"/>
                  </a:moveTo>
                  <a:cubicBezTo>
                    <a:pt x="498" y="83"/>
                    <a:pt x="527" y="166"/>
                    <a:pt x="531" y="236"/>
                  </a:cubicBezTo>
                  <a:cubicBezTo>
                    <a:pt x="506" y="236"/>
                    <a:pt x="257" y="236"/>
                    <a:pt x="228" y="236"/>
                  </a:cubicBezTo>
                  <a:cubicBezTo>
                    <a:pt x="232" y="183"/>
                    <a:pt x="269" y="83"/>
                    <a:pt x="386" y="83"/>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62" name="Freeform 16">
              <a:extLst>
                <a:ext uri="{FF2B5EF4-FFF2-40B4-BE49-F238E27FC236}">
                  <a16:creationId xmlns:a16="http://schemas.microsoft.com/office/drawing/2014/main" id="{8896A965-59FA-E943-96EE-601F7005C896}"/>
                </a:ext>
              </a:extLst>
            </p:cNvPr>
            <p:cNvSpPr>
              <a:spLocks noChangeArrowheads="1"/>
            </p:cNvSpPr>
            <p:nvPr/>
          </p:nvSpPr>
          <p:spPr bwMode="auto">
            <a:xfrm>
              <a:off x="5210175" y="4071938"/>
              <a:ext cx="314325" cy="409575"/>
            </a:xfrm>
            <a:custGeom>
              <a:avLst/>
              <a:gdLst>
                <a:gd name="T0" fmla="*/ 634 w 872"/>
                <a:gd name="T1" fmla="*/ 357 h 1138"/>
                <a:gd name="T2" fmla="*/ 348 w 872"/>
                <a:gd name="T3" fmla="*/ 523 h 1138"/>
                <a:gd name="T4" fmla="*/ 348 w 872"/>
                <a:gd name="T5" fmla="*/ 0 h 1138"/>
                <a:gd name="T6" fmla="*/ 332 w 872"/>
                <a:gd name="T7" fmla="*/ 4 h 1138"/>
                <a:gd name="T8" fmla="*/ 0 w 872"/>
                <a:gd name="T9" fmla="*/ 46 h 1138"/>
                <a:gd name="T10" fmla="*/ 0 w 872"/>
                <a:gd name="T11" fmla="*/ 104 h 1138"/>
                <a:gd name="T12" fmla="*/ 16 w 872"/>
                <a:gd name="T13" fmla="*/ 104 h 1138"/>
                <a:gd name="T14" fmla="*/ 141 w 872"/>
                <a:gd name="T15" fmla="*/ 233 h 1138"/>
                <a:gd name="T16" fmla="*/ 141 w 872"/>
                <a:gd name="T17" fmla="*/ 1137 h 1138"/>
                <a:gd name="T18" fmla="*/ 348 w 872"/>
                <a:gd name="T19" fmla="*/ 1137 h 1138"/>
                <a:gd name="T20" fmla="*/ 348 w 872"/>
                <a:gd name="T21" fmla="*/ 747 h 1138"/>
                <a:gd name="T22" fmla="*/ 547 w 872"/>
                <a:gd name="T23" fmla="*/ 494 h 1138"/>
                <a:gd name="T24" fmla="*/ 663 w 872"/>
                <a:gd name="T25" fmla="*/ 660 h 1138"/>
                <a:gd name="T26" fmla="*/ 663 w 872"/>
                <a:gd name="T27" fmla="*/ 1137 h 1138"/>
                <a:gd name="T28" fmla="*/ 871 w 872"/>
                <a:gd name="T29" fmla="*/ 1137 h 1138"/>
                <a:gd name="T30" fmla="*/ 871 w 872"/>
                <a:gd name="T31" fmla="*/ 635 h 1138"/>
                <a:gd name="T32" fmla="*/ 634 w 872"/>
                <a:gd name="T33" fmla="*/ 357 h 1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72" h="1138">
                  <a:moveTo>
                    <a:pt x="634" y="357"/>
                  </a:moveTo>
                  <a:cubicBezTo>
                    <a:pt x="481" y="357"/>
                    <a:pt x="394" y="452"/>
                    <a:pt x="348" y="523"/>
                  </a:cubicBezTo>
                  <a:cubicBezTo>
                    <a:pt x="348" y="440"/>
                    <a:pt x="348" y="0"/>
                    <a:pt x="348" y="0"/>
                  </a:cubicBezTo>
                  <a:lnTo>
                    <a:pt x="332" y="4"/>
                  </a:lnTo>
                  <a:lnTo>
                    <a:pt x="0" y="46"/>
                  </a:lnTo>
                  <a:lnTo>
                    <a:pt x="0" y="104"/>
                  </a:lnTo>
                  <a:lnTo>
                    <a:pt x="16" y="104"/>
                  </a:lnTo>
                  <a:cubicBezTo>
                    <a:pt x="120" y="108"/>
                    <a:pt x="141" y="133"/>
                    <a:pt x="141" y="233"/>
                  </a:cubicBezTo>
                  <a:lnTo>
                    <a:pt x="141" y="1137"/>
                  </a:lnTo>
                  <a:lnTo>
                    <a:pt x="348" y="1137"/>
                  </a:lnTo>
                  <a:lnTo>
                    <a:pt x="348" y="747"/>
                  </a:lnTo>
                  <a:cubicBezTo>
                    <a:pt x="348" y="606"/>
                    <a:pt x="456" y="494"/>
                    <a:pt x="547" y="494"/>
                  </a:cubicBezTo>
                  <a:cubicBezTo>
                    <a:pt x="663" y="494"/>
                    <a:pt x="663" y="581"/>
                    <a:pt x="663" y="660"/>
                  </a:cubicBezTo>
                  <a:lnTo>
                    <a:pt x="663" y="1137"/>
                  </a:lnTo>
                  <a:lnTo>
                    <a:pt x="871" y="1137"/>
                  </a:lnTo>
                  <a:lnTo>
                    <a:pt x="871" y="635"/>
                  </a:lnTo>
                  <a:cubicBezTo>
                    <a:pt x="871" y="552"/>
                    <a:pt x="871" y="357"/>
                    <a:pt x="634" y="357"/>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63" name="Freeform 17">
              <a:extLst>
                <a:ext uri="{FF2B5EF4-FFF2-40B4-BE49-F238E27FC236}">
                  <a16:creationId xmlns:a16="http://schemas.microsoft.com/office/drawing/2014/main" id="{00A05657-BBA5-E04D-A9B7-BB46AB4158F8}"/>
                </a:ext>
              </a:extLst>
            </p:cNvPr>
            <p:cNvSpPr>
              <a:spLocks noChangeArrowheads="1"/>
            </p:cNvSpPr>
            <p:nvPr/>
          </p:nvSpPr>
          <p:spPr bwMode="auto">
            <a:xfrm>
              <a:off x="5594350" y="4200525"/>
              <a:ext cx="266700" cy="287338"/>
            </a:xfrm>
            <a:custGeom>
              <a:avLst/>
              <a:gdLst>
                <a:gd name="T0" fmla="*/ 742 w 743"/>
                <a:gd name="T1" fmla="*/ 315 h 797"/>
                <a:gd name="T2" fmla="*/ 394 w 743"/>
                <a:gd name="T3" fmla="*/ 0 h 797"/>
                <a:gd name="T4" fmla="*/ 0 w 743"/>
                <a:gd name="T5" fmla="*/ 373 h 797"/>
                <a:gd name="T6" fmla="*/ 456 w 743"/>
                <a:gd name="T7" fmla="*/ 796 h 797"/>
                <a:gd name="T8" fmla="*/ 713 w 743"/>
                <a:gd name="T9" fmla="*/ 755 h 797"/>
                <a:gd name="T10" fmla="*/ 726 w 743"/>
                <a:gd name="T11" fmla="*/ 751 h 797"/>
                <a:gd name="T12" fmla="*/ 726 w 743"/>
                <a:gd name="T13" fmla="*/ 651 h 797"/>
                <a:gd name="T14" fmla="*/ 705 w 743"/>
                <a:gd name="T15" fmla="*/ 660 h 797"/>
                <a:gd name="T16" fmla="*/ 543 w 743"/>
                <a:gd name="T17" fmla="*/ 684 h 797"/>
                <a:gd name="T18" fmla="*/ 232 w 743"/>
                <a:gd name="T19" fmla="*/ 332 h 797"/>
                <a:gd name="T20" fmla="*/ 742 w 743"/>
                <a:gd name="T21" fmla="*/ 332 h 797"/>
                <a:gd name="T22" fmla="*/ 742 w 743"/>
                <a:gd name="T23" fmla="*/ 315 h 797"/>
                <a:gd name="T24" fmla="*/ 386 w 743"/>
                <a:gd name="T25" fmla="*/ 83 h 797"/>
                <a:gd name="T26" fmla="*/ 531 w 743"/>
                <a:gd name="T27" fmla="*/ 236 h 797"/>
                <a:gd name="T28" fmla="*/ 228 w 743"/>
                <a:gd name="T29" fmla="*/ 236 h 797"/>
                <a:gd name="T30" fmla="*/ 386 w 743"/>
                <a:gd name="T31" fmla="*/ 83 h 7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743" h="797">
                  <a:moveTo>
                    <a:pt x="742" y="315"/>
                  </a:moveTo>
                  <a:cubicBezTo>
                    <a:pt x="742" y="104"/>
                    <a:pt x="626" y="0"/>
                    <a:pt x="394" y="0"/>
                  </a:cubicBezTo>
                  <a:cubicBezTo>
                    <a:pt x="133" y="0"/>
                    <a:pt x="0" y="124"/>
                    <a:pt x="0" y="373"/>
                  </a:cubicBezTo>
                  <a:cubicBezTo>
                    <a:pt x="0" y="639"/>
                    <a:pt x="170" y="796"/>
                    <a:pt x="456" y="796"/>
                  </a:cubicBezTo>
                  <a:cubicBezTo>
                    <a:pt x="581" y="796"/>
                    <a:pt x="676" y="763"/>
                    <a:pt x="713" y="755"/>
                  </a:cubicBezTo>
                  <a:lnTo>
                    <a:pt x="726" y="751"/>
                  </a:lnTo>
                  <a:lnTo>
                    <a:pt x="726" y="651"/>
                  </a:lnTo>
                  <a:lnTo>
                    <a:pt x="705" y="660"/>
                  </a:lnTo>
                  <a:cubicBezTo>
                    <a:pt x="672" y="672"/>
                    <a:pt x="610" y="684"/>
                    <a:pt x="543" y="684"/>
                  </a:cubicBezTo>
                  <a:cubicBezTo>
                    <a:pt x="319" y="684"/>
                    <a:pt x="236" y="498"/>
                    <a:pt x="232" y="332"/>
                  </a:cubicBezTo>
                  <a:cubicBezTo>
                    <a:pt x="261" y="332"/>
                    <a:pt x="742" y="332"/>
                    <a:pt x="742" y="332"/>
                  </a:cubicBezTo>
                  <a:lnTo>
                    <a:pt x="742" y="315"/>
                  </a:lnTo>
                  <a:close/>
                  <a:moveTo>
                    <a:pt x="386" y="83"/>
                  </a:moveTo>
                  <a:cubicBezTo>
                    <a:pt x="498" y="83"/>
                    <a:pt x="527" y="166"/>
                    <a:pt x="531" y="236"/>
                  </a:cubicBezTo>
                  <a:cubicBezTo>
                    <a:pt x="506" y="236"/>
                    <a:pt x="257" y="236"/>
                    <a:pt x="228" y="236"/>
                  </a:cubicBezTo>
                  <a:cubicBezTo>
                    <a:pt x="236" y="183"/>
                    <a:pt x="270" y="83"/>
                    <a:pt x="386" y="83"/>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64" name="Freeform 18">
              <a:extLst>
                <a:ext uri="{FF2B5EF4-FFF2-40B4-BE49-F238E27FC236}">
                  <a16:creationId xmlns:a16="http://schemas.microsoft.com/office/drawing/2014/main" id="{75D59710-E8C6-394A-9E64-D4371DD86833}"/>
                </a:ext>
              </a:extLst>
            </p:cNvPr>
            <p:cNvSpPr>
              <a:spLocks noChangeArrowheads="1"/>
            </p:cNvSpPr>
            <p:nvPr/>
          </p:nvSpPr>
          <p:spPr bwMode="auto">
            <a:xfrm>
              <a:off x="4964113" y="4121150"/>
              <a:ext cx="212725" cy="366713"/>
            </a:xfrm>
            <a:custGeom>
              <a:avLst/>
              <a:gdLst>
                <a:gd name="T0" fmla="*/ 141 w 589"/>
                <a:gd name="T1" fmla="*/ 237 h 1017"/>
                <a:gd name="T2" fmla="*/ 0 w 589"/>
                <a:gd name="T3" fmla="*/ 237 h 1017"/>
                <a:gd name="T4" fmla="*/ 0 w 589"/>
                <a:gd name="T5" fmla="*/ 328 h 1017"/>
                <a:gd name="T6" fmla="*/ 141 w 589"/>
                <a:gd name="T7" fmla="*/ 328 h 1017"/>
                <a:gd name="T8" fmla="*/ 141 w 589"/>
                <a:gd name="T9" fmla="*/ 797 h 1017"/>
                <a:gd name="T10" fmla="*/ 427 w 589"/>
                <a:gd name="T11" fmla="*/ 1016 h 1017"/>
                <a:gd name="T12" fmla="*/ 551 w 589"/>
                <a:gd name="T13" fmla="*/ 1004 h 1017"/>
                <a:gd name="T14" fmla="*/ 564 w 589"/>
                <a:gd name="T15" fmla="*/ 1004 h 1017"/>
                <a:gd name="T16" fmla="*/ 564 w 589"/>
                <a:gd name="T17" fmla="*/ 909 h 1017"/>
                <a:gd name="T18" fmla="*/ 547 w 589"/>
                <a:gd name="T19" fmla="*/ 913 h 1017"/>
                <a:gd name="T20" fmla="*/ 485 w 589"/>
                <a:gd name="T21" fmla="*/ 917 h 1017"/>
                <a:gd name="T22" fmla="*/ 352 w 589"/>
                <a:gd name="T23" fmla="*/ 772 h 1017"/>
                <a:gd name="T24" fmla="*/ 352 w 589"/>
                <a:gd name="T25" fmla="*/ 328 h 1017"/>
                <a:gd name="T26" fmla="*/ 588 w 589"/>
                <a:gd name="T27" fmla="*/ 328 h 1017"/>
                <a:gd name="T28" fmla="*/ 588 w 589"/>
                <a:gd name="T29" fmla="*/ 237 h 1017"/>
                <a:gd name="T30" fmla="*/ 352 w 589"/>
                <a:gd name="T31" fmla="*/ 237 h 1017"/>
                <a:gd name="T32" fmla="*/ 352 w 589"/>
                <a:gd name="T33" fmla="*/ 0 h 1017"/>
                <a:gd name="T34" fmla="*/ 141 w 589"/>
                <a:gd name="T35" fmla="*/ 0 h 1017"/>
                <a:gd name="T36" fmla="*/ 141 w 589"/>
                <a:gd name="T37" fmla="*/ 237 h 10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89" h="1017">
                  <a:moveTo>
                    <a:pt x="141" y="237"/>
                  </a:moveTo>
                  <a:lnTo>
                    <a:pt x="0" y="237"/>
                  </a:lnTo>
                  <a:lnTo>
                    <a:pt x="0" y="328"/>
                  </a:lnTo>
                  <a:lnTo>
                    <a:pt x="141" y="328"/>
                  </a:lnTo>
                  <a:lnTo>
                    <a:pt x="141" y="797"/>
                  </a:lnTo>
                  <a:cubicBezTo>
                    <a:pt x="141" y="1000"/>
                    <a:pt x="270" y="1016"/>
                    <a:pt x="427" y="1016"/>
                  </a:cubicBezTo>
                  <a:cubicBezTo>
                    <a:pt x="464" y="1016"/>
                    <a:pt x="505" y="1012"/>
                    <a:pt x="551" y="1004"/>
                  </a:cubicBezTo>
                  <a:lnTo>
                    <a:pt x="564" y="1004"/>
                  </a:lnTo>
                  <a:lnTo>
                    <a:pt x="564" y="909"/>
                  </a:lnTo>
                  <a:lnTo>
                    <a:pt x="547" y="913"/>
                  </a:lnTo>
                  <a:cubicBezTo>
                    <a:pt x="530" y="917"/>
                    <a:pt x="510" y="917"/>
                    <a:pt x="485" y="917"/>
                  </a:cubicBezTo>
                  <a:cubicBezTo>
                    <a:pt x="360" y="917"/>
                    <a:pt x="352" y="880"/>
                    <a:pt x="352" y="772"/>
                  </a:cubicBezTo>
                  <a:lnTo>
                    <a:pt x="352" y="328"/>
                  </a:lnTo>
                  <a:lnTo>
                    <a:pt x="588" y="328"/>
                  </a:lnTo>
                  <a:lnTo>
                    <a:pt x="588" y="237"/>
                  </a:lnTo>
                  <a:lnTo>
                    <a:pt x="352" y="237"/>
                  </a:lnTo>
                  <a:lnTo>
                    <a:pt x="352" y="0"/>
                  </a:lnTo>
                  <a:lnTo>
                    <a:pt x="141" y="0"/>
                  </a:lnTo>
                  <a:lnTo>
                    <a:pt x="141" y="237"/>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65" name="Freeform 19">
              <a:extLst>
                <a:ext uri="{FF2B5EF4-FFF2-40B4-BE49-F238E27FC236}">
                  <a16:creationId xmlns:a16="http://schemas.microsoft.com/office/drawing/2014/main" id="{E31E38F3-CCD4-0D4A-B5AE-0E15DBF0F818}"/>
                </a:ext>
              </a:extLst>
            </p:cNvPr>
            <p:cNvSpPr>
              <a:spLocks noChangeArrowheads="1"/>
            </p:cNvSpPr>
            <p:nvPr/>
          </p:nvSpPr>
          <p:spPr bwMode="auto">
            <a:xfrm>
              <a:off x="6049963" y="4087813"/>
              <a:ext cx="450850" cy="395287"/>
            </a:xfrm>
            <a:custGeom>
              <a:avLst/>
              <a:gdLst>
                <a:gd name="T0" fmla="*/ 1245 w 1254"/>
                <a:gd name="T1" fmla="*/ 0 h 1096"/>
                <a:gd name="T2" fmla="*/ 1033 w 1254"/>
                <a:gd name="T3" fmla="*/ 0 h 1096"/>
                <a:gd name="T4" fmla="*/ 1033 w 1254"/>
                <a:gd name="T5" fmla="*/ 829 h 1096"/>
                <a:gd name="T6" fmla="*/ 485 w 1254"/>
                <a:gd name="T7" fmla="*/ 0 h 1096"/>
                <a:gd name="T8" fmla="*/ 0 w 1254"/>
                <a:gd name="T9" fmla="*/ 0 h 1096"/>
                <a:gd name="T10" fmla="*/ 0 w 1254"/>
                <a:gd name="T11" fmla="*/ 62 h 1096"/>
                <a:gd name="T12" fmla="*/ 42 w 1254"/>
                <a:gd name="T13" fmla="*/ 70 h 1096"/>
                <a:gd name="T14" fmla="*/ 178 w 1254"/>
                <a:gd name="T15" fmla="*/ 220 h 1096"/>
                <a:gd name="T16" fmla="*/ 178 w 1254"/>
                <a:gd name="T17" fmla="*/ 1095 h 1096"/>
                <a:gd name="T18" fmla="*/ 403 w 1254"/>
                <a:gd name="T19" fmla="*/ 1095 h 1096"/>
                <a:gd name="T20" fmla="*/ 403 w 1254"/>
                <a:gd name="T21" fmla="*/ 228 h 1096"/>
                <a:gd name="T22" fmla="*/ 975 w 1254"/>
                <a:gd name="T23" fmla="*/ 1095 h 1096"/>
                <a:gd name="T24" fmla="*/ 1253 w 1254"/>
                <a:gd name="T25" fmla="*/ 1095 h 1096"/>
                <a:gd name="T26" fmla="*/ 1253 w 1254"/>
                <a:gd name="T27" fmla="*/ 0 h 1096"/>
                <a:gd name="T28" fmla="*/ 1245 w 1254"/>
                <a:gd name="T29" fmla="*/ 0 h 10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54" h="1096">
                  <a:moveTo>
                    <a:pt x="1245" y="0"/>
                  </a:moveTo>
                  <a:lnTo>
                    <a:pt x="1033" y="0"/>
                  </a:lnTo>
                  <a:cubicBezTo>
                    <a:pt x="1033" y="0"/>
                    <a:pt x="1033" y="751"/>
                    <a:pt x="1033" y="829"/>
                  </a:cubicBezTo>
                  <a:cubicBezTo>
                    <a:pt x="992" y="763"/>
                    <a:pt x="485" y="0"/>
                    <a:pt x="485" y="0"/>
                  </a:cubicBezTo>
                  <a:lnTo>
                    <a:pt x="0" y="0"/>
                  </a:lnTo>
                  <a:lnTo>
                    <a:pt x="0" y="62"/>
                  </a:lnTo>
                  <a:lnTo>
                    <a:pt x="42" y="70"/>
                  </a:lnTo>
                  <a:cubicBezTo>
                    <a:pt x="170" y="91"/>
                    <a:pt x="178" y="95"/>
                    <a:pt x="178" y="220"/>
                  </a:cubicBezTo>
                  <a:lnTo>
                    <a:pt x="178" y="1095"/>
                  </a:lnTo>
                  <a:lnTo>
                    <a:pt x="403" y="1095"/>
                  </a:lnTo>
                  <a:cubicBezTo>
                    <a:pt x="403" y="1095"/>
                    <a:pt x="403" y="307"/>
                    <a:pt x="403" y="228"/>
                  </a:cubicBezTo>
                  <a:cubicBezTo>
                    <a:pt x="448" y="294"/>
                    <a:pt x="975" y="1095"/>
                    <a:pt x="975" y="1095"/>
                  </a:cubicBezTo>
                  <a:lnTo>
                    <a:pt x="1253" y="1095"/>
                  </a:lnTo>
                  <a:lnTo>
                    <a:pt x="1253" y="0"/>
                  </a:lnTo>
                  <a:lnTo>
                    <a:pt x="1245"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66" name="Freeform 20">
              <a:extLst>
                <a:ext uri="{FF2B5EF4-FFF2-40B4-BE49-F238E27FC236}">
                  <a16:creationId xmlns:a16="http://schemas.microsoft.com/office/drawing/2014/main" id="{EA81CA55-89FF-C642-90AD-A67CE9108AC3}"/>
                </a:ext>
              </a:extLst>
            </p:cNvPr>
            <p:cNvSpPr>
              <a:spLocks noChangeArrowheads="1"/>
            </p:cNvSpPr>
            <p:nvPr/>
          </p:nvSpPr>
          <p:spPr bwMode="auto">
            <a:xfrm>
              <a:off x="6573838" y="4200525"/>
              <a:ext cx="266700" cy="287338"/>
            </a:xfrm>
            <a:custGeom>
              <a:avLst/>
              <a:gdLst>
                <a:gd name="T0" fmla="*/ 390 w 740"/>
                <a:gd name="T1" fmla="*/ 0 h 797"/>
                <a:gd name="T2" fmla="*/ 0 w 740"/>
                <a:gd name="T3" fmla="*/ 373 h 797"/>
                <a:gd name="T4" fmla="*/ 456 w 740"/>
                <a:gd name="T5" fmla="*/ 796 h 797"/>
                <a:gd name="T6" fmla="*/ 714 w 740"/>
                <a:gd name="T7" fmla="*/ 755 h 797"/>
                <a:gd name="T8" fmla="*/ 726 w 740"/>
                <a:gd name="T9" fmla="*/ 751 h 797"/>
                <a:gd name="T10" fmla="*/ 726 w 740"/>
                <a:gd name="T11" fmla="*/ 651 h 797"/>
                <a:gd name="T12" fmla="*/ 705 w 740"/>
                <a:gd name="T13" fmla="*/ 660 h 797"/>
                <a:gd name="T14" fmla="*/ 539 w 740"/>
                <a:gd name="T15" fmla="*/ 684 h 797"/>
                <a:gd name="T16" fmla="*/ 228 w 740"/>
                <a:gd name="T17" fmla="*/ 332 h 797"/>
                <a:gd name="T18" fmla="*/ 739 w 740"/>
                <a:gd name="T19" fmla="*/ 332 h 797"/>
                <a:gd name="T20" fmla="*/ 739 w 740"/>
                <a:gd name="T21" fmla="*/ 315 h 797"/>
                <a:gd name="T22" fmla="*/ 390 w 740"/>
                <a:gd name="T23" fmla="*/ 0 h 797"/>
                <a:gd name="T24" fmla="*/ 386 w 740"/>
                <a:gd name="T25" fmla="*/ 83 h 797"/>
                <a:gd name="T26" fmla="*/ 531 w 740"/>
                <a:gd name="T27" fmla="*/ 236 h 797"/>
                <a:gd name="T28" fmla="*/ 228 w 740"/>
                <a:gd name="T29" fmla="*/ 236 h 797"/>
                <a:gd name="T30" fmla="*/ 386 w 740"/>
                <a:gd name="T31" fmla="*/ 83 h 7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740" h="797">
                  <a:moveTo>
                    <a:pt x="390" y="0"/>
                  </a:moveTo>
                  <a:cubicBezTo>
                    <a:pt x="129" y="0"/>
                    <a:pt x="0" y="124"/>
                    <a:pt x="0" y="373"/>
                  </a:cubicBezTo>
                  <a:cubicBezTo>
                    <a:pt x="0" y="639"/>
                    <a:pt x="170" y="796"/>
                    <a:pt x="456" y="796"/>
                  </a:cubicBezTo>
                  <a:cubicBezTo>
                    <a:pt x="581" y="796"/>
                    <a:pt x="676" y="767"/>
                    <a:pt x="714" y="755"/>
                  </a:cubicBezTo>
                  <a:lnTo>
                    <a:pt x="726" y="751"/>
                  </a:lnTo>
                  <a:lnTo>
                    <a:pt x="726" y="651"/>
                  </a:lnTo>
                  <a:lnTo>
                    <a:pt x="705" y="660"/>
                  </a:lnTo>
                  <a:cubicBezTo>
                    <a:pt x="672" y="672"/>
                    <a:pt x="610" y="684"/>
                    <a:pt x="539" y="684"/>
                  </a:cubicBezTo>
                  <a:cubicBezTo>
                    <a:pt x="315" y="684"/>
                    <a:pt x="232" y="498"/>
                    <a:pt x="228" y="332"/>
                  </a:cubicBezTo>
                  <a:lnTo>
                    <a:pt x="739" y="332"/>
                  </a:lnTo>
                  <a:lnTo>
                    <a:pt x="739" y="315"/>
                  </a:lnTo>
                  <a:cubicBezTo>
                    <a:pt x="739" y="104"/>
                    <a:pt x="622" y="0"/>
                    <a:pt x="390" y="0"/>
                  </a:cubicBezTo>
                  <a:close/>
                  <a:moveTo>
                    <a:pt x="386" y="83"/>
                  </a:moveTo>
                  <a:cubicBezTo>
                    <a:pt x="498" y="83"/>
                    <a:pt x="527" y="162"/>
                    <a:pt x="531" y="236"/>
                  </a:cubicBezTo>
                  <a:lnTo>
                    <a:pt x="228" y="236"/>
                  </a:lnTo>
                  <a:cubicBezTo>
                    <a:pt x="232" y="187"/>
                    <a:pt x="270" y="83"/>
                    <a:pt x="386" y="83"/>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67" name="Freeform 21">
              <a:extLst>
                <a:ext uri="{FF2B5EF4-FFF2-40B4-BE49-F238E27FC236}">
                  <a16:creationId xmlns:a16="http://schemas.microsoft.com/office/drawing/2014/main" id="{B993E30F-1BC1-EE44-BD31-C649CB700CD8}"/>
                </a:ext>
              </a:extLst>
            </p:cNvPr>
            <p:cNvSpPr>
              <a:spLocks noChangeArrowheads="1"/>
            </p:cNvSpPr>
            <p:nvPr/>
          </p:nvSpPr>
          <p:spPr bwMode="auto">
            <a:xfrm>
              <a:off x="7204075" y="4121150"/>
              <a:ext cx="212725" cy="366713"/>
            </a:xfrm>
            <a:custGeom>
              <a:avLst/>
              <a:gdLst>
                <a:gd name="T0" fmla="*/ 141 w 590"/>
                <a:gd name="T1" fmla="*/ 237 h 1017"/>
                <a:gd name="T2" fmla="*/ 0 w 590"/>
                <a:gd name="T3" fmla="*/ 237 h 1017"/>
                <a:gd name="T4" fmla="*/ 0 w 590"/>
                <a:gd name="T5" fmla="*/ 328 h 1017"/>
                <a:gd name="T6" fmla="*/ 141 w 590"/>
                <a:gd name="T7" fmla="*/ 328 h 1017"/>
                <a:gd name="T8" fmla="*/ 141 w 590"/>
                <a:gd name="T9" fmla="*/ 797 h 1017"/>
                <a:gd name="T10" fmla="*/ 427 w 590"/>
                <a:gd name="T11" fmla="*/ 1016 h 1017"/>
                <a:gd name="T12" fmla="*/ 551 w 590"/>
                <a:gd name="T13" fmla="*/ 1004 h 1017"/>
                <a:gd name="T14" fmla="*/ 564 w 590"/>
                <a:gd name="T15" fmla="*/ 1004 h 1017"/>
                <a:gd name="T16" fmla="*/ 564 w 590"/>
                <a:gd name="T17" fmla="*/ 909 h 1017"/>
                <a:gd name="T18" fmla="*/ 547 w 590"/>
                <a:gd name="T19" fmla="*/ 913 h 1017"/>
                <a:gd name="T20" fmla="*/ 485 w 590"/>
                <a:gd name="T21" fmla="*/ 917 h 1017"/>
                <a:gd name="T22" fmla="*/ 352 w 590"/>
                <a:gd name="T23" fmla="*/ 772 h 1017"/>
                <a:gd name="T24" fmla="*/ 352 w 590"/>
                <a:gd name="T25" fmla="*/ 328 h 1017"/>
                <a:gd name="T26" fmla="*/ 589 w 590"/>
                <a:gd name="T27" fmla="*/ 328 h 1017"/>
                <a:gd name="T28" fmla="*/ 589 w 590"/>
                <a:gd name="T29" fmla="*/ 237 h 1017"/>
                <a:gd name="T30" fmla="*/ 352 w 590"/>
                <a:gd name="T31" fmla="*/ 237 h 1017"/>
                <a:gd name="T32" fmla="*/ 352 w 590"/>
                <a:gd name="T33" fmla="*/ 0 h 1017"/>
                <a:gd name="T34" fmla="*/ 141 w 590"/>
                <a:gd name="T35" fmla="*/ 0 h 1017"/>
                <a:gd name="T36" fmla="*/ 141 w 590"/>
                <a:gd name="T37" fmla="*/ 237 h 10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90" h="1017">
                  <a:moveTo>
                    <a:pt x="141" y="237"/>
                  </a:moveTo>
                  <a:lnTo>
                    <a:pt x="0" y="237"/>
                  </a:lnTo>
                  <a:lnTo>
                    <a:pt x="0" y="328"/>
                  </a:lnTo>
                  <a:lnTo>
                    <a:pt x="141" y="328"/>
                  </a:lnTo>
                  <a:lnTo>
                    <a:pt x="141" y="797"/>
                  </a:lnTo>
                  <a:cubicBezTo>
                    <a:pt x="141" y="1000"/>
                    <a:pt x="269" y="1016"/>
                    <a:pt x="427" y="1016"/>
                  </a:cubicBezTo>
                  <a:cubicBezTo>
                    <a:pt x="464" y="1016"/>
                    <a:pt x="506" y="1012"/>
                    <a:pt x="551" y="1004"/>
                  </a:cubicBezTo>
                  <a:lnTo>
                    <a:pt x="564" y="1004"/>
                  </a:lnTo>
                  <a:lnTo>
                    <a:pt x="564" y="909"/>
                  </a:lnTo>
                  <a:lnTo>
                    <a:pt x="547" y="913"/>
                  </a:lnTo>
                  <a:cubicBezTo>
                    <a:pt x="531" y="917"/>
                    <a:pt x="510" y="917"/>
                    <a:pt x="485" y="917"/>
                  </a:cubicBezTo>
                  <a:cubicBezTo>
                    <a:pt x="361" y="917"/>
                    <a:pt x="352" y="880"/>
                    <a:pt x="352" y="772"/>
                  </a:cubicBezTo>
                  <a:lnTo>
                    <a:pt x="352" y="328"/>
                  </a:lnTo>
                  <a:lnTo>
                    <a:pt x="589" y="328"/>
                  </a:lnTo>
                  <a:lnTo>
                    <a:pt x="589" y="237"/>
                  </a:lnTo>
                  <a:lnTo>
                    <a:pt x="352" y="237"/>
                  </a:lnTo>
                  <a:lnTo>
                    <a:pt x="352" y="0"/>
                  </a:lnTo>
                  <a:lnTo>
                    <a:pt x="141" y="0"/>
                  </a:lnTo>
                  <a:lnTo>
                    <a:pt x="141" y="237"/>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91" name="Freeform 22">
              <a:extLst>
                <a:ext uri="{FF2B5EF4-FFF2-40B4-BE49-F238E27FC236}">
                  <a16:creationId xmlns:a16="http://schemas.microsoft.com/office/drawing/2014/main" id="{5220F4C6-9400-5942-B0AF-9C8740ABF281}"/>
                </a:ext>
              </a:extLst>
            </p:cNvPr>
            <p:cNvSpPr>
              <a:spLocks noChangeArrowheads="1"/>
            </p:cNvSpPr>
            <p:nvPr/>
          </p:nvSpPr>
          <p:spPr bwMode="auto">
            <a:xfrm>
              <a:off x="6850063" y="4206875"/>
              <a:ext cx="331787" cy="274638"/>
            </a:xfrm>
            <a:custGeom>
              <a:avLst/>
              <a:gdLst>
                <a:gd name="T0" fmla="*/ 705 w 921"/>
                <a:gd name="T1" fmla="*/ 248 h 764"/>
                <a:gd name="T2" fmla="*/ 920 w 921"/>
                <a:gd name="T3" fmla="*/ 0 h 764"/>
                <a:gd name="T4" fmla="*/ 701 w 921"/>
                <a:gd name="T5" fmla="*/ 0 h 764"/>
                <a:gd name="T6" fmla="*/ 497 w 921"/>
                <a:gd name="T7" fmla="*/ 236 h 764"/>
                <a:gd name="T8" fmla="*/ 319 w 921"/>
                <a:gd name="T9" fmla="*/ 0 h 764"/>
                <a:gd name="T10" fmla="*/ 0 w 921"/>
                <a:gd name="T11" fmla="*/ 0 h 764"/>
                <a:gd name="T12" fmla="*/ 0 w 921"/>
                <a:gd name="T13" fmla="*/ 62 h 764"/>
                <a:gd name="T14" fmla="*/ 12 w 921"/>
                <a:gd name="T15" fmla="*/ 62 h 764"/>
                <a:gd name="T16" fmla="*/ 211 w 921"/>
                <a:gd name="T17" fmla="*/ 178 h 764"/>
                <a:gd name="T18" fmla="*/ 344 w 921"/>
                <a:gd name="T19" fmla="*/ 352 h 764"/>
                <a:gd name="T20" fmla="*/ 128 w 921"/>
                <a:gd name="T21" fmla="*/ 601 h 764"/>
                <a:gd name="T22" fmla="*/ 348 w 921"/>
                <a:gd name="T23" fmla="*/ 601 h 764"/>
                <a:gd name="T24" fmla="*/ 443 w 921"/>
                <a:gd name="T25" fmla="*/ 489 h 764"/>
                <a:gd name="T26" fmla="*/ 651 w 921"/>
                <a:gd name="T27" fmla="*/ 763 h 764"/>
                <a:gd name="T28" fmla="*/ 900 w 921"/>
                <a:gd name="T29" fmla="*/ 763 h 764"/>
                <a:gd name="T30" fmla="*/ 506 w 921"/>
                <a:gd name="T31" fmla="*/ 248 h 764"/>
                <a:gd name="T32" fmla="*/ 705 w 921"/>
                <a:gd name="T33" fmla="*/ 248 h 7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21" h="764">
                  <a:moveTo>
                    <a:pt x="705" y="248"/>
                  </a:moveTo>
                  <a:lnTo>
                    <a:pt x="920" y="0"/>
                  </a:lnTo>
                  <a:lnTo>
                    <a:pt x="701" y="0"/>
                  </a:lnTo>
                  <a:lnTo>
                    <a:pt x="497" y="236"/>
                  </a:lnTo>
                  <a:lnTo>
                    <a:pt x="319" y="0"/>
                  </a:lnTo>
                  <a:lnTo>
                    <a:pt x="0" y="0"/>
                  </a:lnTo>
                  <a:lnTo>
                    <a:pt x="0" y="62"/>
                  </a:lnTo>
                  <a:lnTo>
                    <a:pt x="12" y="62"/>
                  </a:lnTo>
                  <a:cubicBezTo>
                    <a:pt x="120" y="70"/>
                    <a:pt x="145" y="87"/>
                    <a:pt x="211" y="178"/>
                  </a:cubicBezTo>
                  <a:lnTo>
                    <a:pt x="344" y="352"/>
                  </a:lnTo>
                  <a:lnTo>
                    <a:pt x="128" y="601"/>
                  </a:lnTo>
                  <a:lnTo>
                    <a:pt x="348" y="601"/>
                  </a:lnTo>
                  <a:lnTo>
                    <a:pt x="443" y="489"/>
                  </a:lnTo>
                  <a:lnTo>
                    <a:pt x="651" y="763"/>
                  </a:lnTo>
                  <a:lnTo>
                    <a:pt x="900" y="763"/>
                  </a:lnTo>
                  <a:lnTo>
                    <a:pt x="506" y="248"/>
                  </a:lnTo>
                  <a:lnTo>
                    <a:pt x="705" y="248"/>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92" name="Freeform 23">
              <a:extLst>
                <a:ext uri="{FF2B5EF4-FFF2-40B4-BE49-F238E27FC236}">
                  <a16:creationId xmlns:a16="http://schemas.microsoft.com/office/drawing/2014/main" id="{0D77D15C-59D2-2D40-8EFB-AE8D4D645201}"/>
                </a:ext>
              </a:extLst>
            </p:cNvPr>
            <p:cNvSpPr>
              <a:spLocks noChangeArrowheads="1"/>
            </p:cNvSpPr>
            <p:nvPr/>
          </p:nvSpPr>
          <p:spPr bwMode="auto">
            <a:xfrm>
              <a:off x="7175500" y="4010025"/>
              <a:ext cx="176213" cy="111125"/>
            </a:xfrm>
            <a:custGeom>
              <a:avLst/>
              <a:gdLst>
                <a:gd name="T0" fmla="*/ 224 w 490"/>
                <a:gd name="T1" fmla="*/ 307 h 308"/>
                <a:gd name="T2" fmla="*/ 0 w 490"/>
                <a:gd name="T3" fmla="*/ 307 h 308"/>
                <a:gd name="T4" fmla="*/ 269 w 490"/>
                <a:gd name="T5" fmla="*/ 0 h 308"/>
                <a:gd name="T6" fmla="*/ 489 w 490"/>
                <a:gd name="T7" fmla="*/ 0 h 308"/>
                <a:gd name="T8" fmla="*/ 224 w 490"/>
                <a:gd name="T9" fmla="*/ 307 h 308"/>
              </a:gdLst>
              <a:ahLst/>
              <a:cxnLst>
                <a:cxn ang="0">
                  <a:pos x="T0" y="T1"/>
                </a:cxn>
                <a:cxn ang="0">
                  <a:pos x="T2" y="T3"/>
                </a:cxn>
                <a:cxn ang="0">
                  <a:pos x="T4" y="T5"/>
                </a:cxn>
                <a:cxn ang="0">
                  <a:pos x="T6" y="T7"/>
                </a:cxn>
                <a:cxn ang="0">
                  <a:pos x="T8" y="T9"/>
                </a:cxn>
              </a:cxnLst>
              <a:rect l="0" t="0" r="r" b="b"/>
              <a:pathLst>
                <a:path w="490" h="308">
                  <a:moveTo>
                    <a:pt x="224" y="307"/>
                  </a:moveTo>
                  <a:lnTo>
                    <a:pt x="0" y="307"/>
                  </a:lnTo>
                  <a:lnTo>
                    <a:pt x="269" y="0"/>
                  </a:lnTo>
                  <a:lnTo>
                    <a:pt x="489" y="0"/>
                  </a:lnTo>
                  <a:lnTo>
                    <a:pt x="224" y="307"/>
                  </a:lnTo>
                </a:path>
              </a:pathLst>
            </a:custGeom>
            <a:solidFill>
              <a:schemeClr val="accent2"/>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grpSp>
      <p:sp>
        <p:nvSpPr>
          <p:cNvPr id="35" name="TextBox 34"/>
          <p:cNvSpPr txBox="1"/>
          <p:nvPr/>
        </p:nvSpPr>
        <p:spPr>
          <a:xfrm>
            <a:off x="6641794" y="4911221"/>
            <a:ext cx="2462534" cy="215444"/>
          </a:xfrm>
          <a:prstGeom prst="rect">
            <a:avLst/>
          </a:prstGeom>
          <a:noFill/>
        </p:spPr>
        <p:txBody>
          <a:bodyPr wrap="none" rtlCol="0">
            <a:sp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800" kern="1200" dirty="0">
                <a:solidFill>
                  <a:schemeClr val="bg1">
                    <a:alpha val="50000"/>
                  </a:schemeClr>
                </a:solidFill>
                <a:latin typeface="+mn-lt"/>
                <a:ea typeface="+mn-ea"/>
                <a:cs typeface="+mn-cs"/>
              </a:rPr>
              <a:t>© Hitachi Vantara LLC 2020. All Rights Reserved.</a:t>
            </a:r>
          </a:p>
        </p:txBody>
      </p:sp>
      <p:sp>
        <p:nvSpPr>
          <p:cNvPr id="99" name="TextBox 98">
            <a:extLst>
              <a:ext uri="{FF2B5EF4-FFF2-40B4-BE49-F238E27FC236}">
                <a16:creationId xmlns:a16="http://schemas.microsoft.com/office/drawing/2014/main" id="{AFE8C8C8-8C8F-0D45-B230-946FEDADA26C}"/>
              </a:ext>
            </a:extLst>
          </p:cNvPr>
          <p:cNvSpPr txBox="1"/>
          <p:nvPr userDrawn="1"/>
        </p:nvSpPr>
        <p:spPr>
          <a:xfrm>
            <a:off x="6641794" y="4911221"/>
            <a:ext cx="2462534" cy="215444"/>
          </a:xfrm>
          <a:prstGeom prst="rect">
            <a:avLst/>
          </a:prstGeom>
          <a:noFill/>
        </p:spPr>
        <p:txBody>
          <a:bodyPr wrap="none" rtlCol="0">
            <a:sp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800" kern="1200" dirty="0">
                <a:solidFill>
                  <a:schemeClr val="bg1">
                    <a:alpha val="50000"/>
                  </a:schemeClr>
                </a:solidFill>
                <a:latin typeface="+mn-lt"/>
                <a:ea typeface="+mn-ea"/>
                <a:cs typeface="+mn-cs"/>
              </a:rPr>
              <a:t>© Hitachi Vantara LLC 2020. All Rights Reserved.</a:t>
            </a:r>
          </a:p>
        </p:txBody>
      </p:sp>
      <p:sp>
        <p:nvSpPr>
          <p:cNvPr id="57" name="Title 1"/>
          <p:cNvSpPr>
            <a:spLocks noGrp="1"/>
          </p:cNvSpPr>
          <p:nvPr>
            <p:ph type="ctrTitle" hasCustomPrompt="1"/>
          </p:nvPr>
        </p:nvSpPr>
        <p:spPr>
          <a:xfrm>
            <a:off x="681348" y="1407160"/>
            <a:ext cx="5148359" cy="728377"/>
          </a:xfrm>
          <a:prstGeom prst="rect">
            <a:avLst/>
          </a:prstGeom>
          <a:effectLst/>
        </p:spPr>
        <p:txBody>
          <a:bodyPr anchor="t">
            <a:noAutofit/>
          </a:bodyPr>
          <a:lstStyle>
            <a:lvl1pPr>
              <a:lnSpc>
                <a:spcPct val="100000"/>
              </a:lnSpc>
              <a:defRPr sz="4400" b="1" cap="none" baseline="0">
                <a:solidFill>
                  <a:schemeClr val="accent2"/>
                </a:solidFill>
                <a:latin typeface="+mn-lt"/>
              </a:defRPr>
            </a:lvl1pPr>
          </a:lstStyle>
          <a:p>
            <a:r>
              <a:rPr lang="en-US" dirty="0"/>
              <a:t>Thank You</a:t>
            </a:r>
          </a:p>
        </p:txBody>
      </p:sp>
      <p:sp>
        <p:nvSpPr>
          <p:cNvPr id="39" name="TextBox 38"/>
          <p:cNvSpPr txBox="1"/>
          <p:nvPr/>
        </p:nvSpPr>
        <p:spPr>
          <a:xfrm>
            <a:off x="1611" y="4915450"/>
            <a:ext cx="312906" cy="215444"/>
          </a:xfrm>
          <a:prstGeom prst="rect">
            <a:avLst/>
          </a:prstGeom>
          <a:noFill/>
        </p:spPr>
        <p:txBody>
          <a:bodyPr wrap="none" rtlCol="0">
            <a:spAutoFit/>
          </a:bodyPr>
          <a:lstStyle/>
          <a:p>
            <a:fld id="{111F478C-84AE-4601-9BE4-60468A3A6C06}" type="slidenum">
              <a:rPr lang="en-US" sz="800" smtClean="0">
                <a:solidFill>
                  <a:prstClr val="white">
                    <a:alpha val="50000"/>
                  </a:prstClr>
                </a:solidFill>
                <a:latin typeface="Arial"/>
              </a:rPr>
              <a:pPr/>
              <a:t>‹#›</a:t>
            </a:fld>
            <a:endParaRPr lang="en-US" sz="800" dirty="0">
              <a:solidFill>
                <a:prstClr val="white">
                  <a:alpha val="50000"/>
                </a:prstClr>
              </a:solidFill>
              <a:latin typeface="Arial"/>
            </a:endParaRPr>
          </a:p>
        </p:txBody>
      </p:sp>
      <p:sp>
        <p:nvSpPr>
          <p:cNvPr id="47" name="TextBox 46">
            <a:extLst>
              <a:ext uri="{FF2B5EF4-FFF2-40B4-BE49-F238E27FC236}">
                <a16:creationId xmlns:a16="http://schemas.microsoft.com/office/drawing/2014/main" id="{1F6F85EA-1CAA-F34C-8631-AB308554EFA3}"/>
              </a:ext>
            </a:extLst>
          </p:cNvPr>
          <p:cNvSpPr txBox="1"/>
          <p:nvPr userDrawn="1"/>
        </p:nvSpPr>
        <p:spPr>
          <a:xfrm>
            <a:off x="1611" y="4915450"/>
            <a:ext cx="312906" cy="215444"/>
          </a:xfrm>
          <a:prstGeom prst="rect">
            <a:avLst/>
          </a:prstGeom>
          <a:noFill/>
        </p:spPr>
        <p:txBody>
          <a:bodyPr wrap="none" rtlCol="0">
            <a:spAutoFit/>
          </a:bodyPr>
          <a:lstStyle/>
          <a:p>
            <a:fld id="{111F478C-84AE-4601-9BE4-60468A3A6C06}" type="slidenum">
              <a:rPr lang="en-US" sz="800" smtClean="0">
                <a:solidFill>
                  <a:prstClr val="white">
                    <a:alpha val="50000"/>
                  </a:prstClr>
                </a:solidFill>
                <a:latin typeface="Arial"/>
              </a:rPr>
              <a:pPr/>
              <a:t>‹#›</a:t>
            </a:fld>
            <a:endParaRPr lang="en-US" sz="800" dirty="0">
              <a:solidFill>
                <a:prstClr val="white">
                  <a:alpha val="50000"/>
                </a:prstClr>
              </a:solidFill>
              <a:latin typeface="Arial"/>
            </a:endParaRPr>
          </a:p>
        </p:txBody>
      </p:sp>
      <p:pic>
        <p:nvPicPr>
          <p:cNvPr id="69" name="Graphic 68">
            <a:extLst>
              <a:ext uri="{FF2B5EF4-FFF2-40B4-BE49-F238E27FC236}">
                <a16:creationId xmlns:a16="http://schemas.microsoft.com/office/drawing/2014/main" id="{7CBF5BC0-8976-8B43-AA6F-BF4941E8F943}"/>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12316" y="1422787"/>
            <a:ext cx="562507" cy="3718802"/>
          </a:xfrm>
          <a:prstGeom prst="rect">
            <a:avLst/>
          </a:prstGeom>
        </p:spPr>
      </p:pic>
    </p:spTree>
    <p:extLst>
      <p:ext uri="{BB962C8B-B14F-4D97-AF65-F5344CB8AC3E}">
        <p14:creationId xmlns:p14="http://schemas.microsoft.com/office/powerpoint/2010/main" val="33783484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Custom Layout">
    <p:spTree>
      <p:nvGrpSpPr>
        <p:cNvPr id="1" name=""/>
        <p:cNvGrpSpPr/>
        <p:nvPr/>
      </p:nvGrpSpPr>
      <p:grpSpPr>
        <a:xfrm>
          <a:off x="0" y="0"/>
          <a:ext cx="0" cy="0"/>
          <a:chOff x="0" y="0"/>
          <a:chExt cx="0" cy="0"/>
        </a:xfrm>
      </p:grpSpPr>
      <p:sp>
        <p:nvSpPr>
          <p:cNvPr id="5" name="Rectangle 4"/>
          <p:cNvSpPr/>
          <p:nvPr userDrawn="1"/>
        </p:nvSpPr>
        <p:spPr>
          <a:xfrm>
            <a:off x="0" y="0"/>
            <a:ext cx="9144000"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j-lt"/>
            </a:endParaRPr>
          </a:p>
        </p:txBody>
      </p:sp>
      <p:grpSp>
        <p:nvGrpSpPr>
          <p:cNvPr id="4" name="Group 3">
            <a:extLst>
              <a:ext uri="{FF2B5EF4-FFF2-40B4-BE49-F238E27FC236}">
                <a16:creationId xmlns:a16="http://schemas.microsoft.com/office/drawing/2014/main" id="{4FF32021-29D2-9C47-8045-974010C91D87}"/>
              </a:ext>
            </a:extLst>
          </p:cNvPr>
          <p:cNvGrpSpPr/>
          <p:nvPr userDrawn="1"/>
        </p:nvGrpSpPr>
        <p:grpSpPr>
          <a:xfrm>
            <a:off x="3220799" y="2167157"/>
            <a:ext cx="2702403" cy="772379"/>
            <a:chOff x="2751138" y="3262313"/>
            <a:chExt cx="4665662" cy="1333500"/>
          </a:xfrm>
          <a:solidFill>
            <a:schemeClr val="tx2"/>
          </a:solidFill>
        </p:grpSpPr>
        <p:sp>
          <p:nvSpPr>
            <p:cNvPr id="7" name="Freeform 1">
              <a:extLst>
                <a:ext uri="{FF2B5EF4-FFF2-40B4-BE49-F238E27FC236}">
                  <a16:creationId xmlns:a16="http://schemas.microsoft.com/office/drawing/2014/main" id="{83CE6286-25E3-5C4E-A402-875F996A19AF}"/>
                </a:ext>
              </a:extLst>
            </p:cNvPr>
            <p:cNvSpPr>
              <a:spLocks noChangeArrowheads="1"/>
            </p:cNvSpPr>
            <p:nvPr/>
          </p:nvSpPr>
          <p:spPr bwMode="auto">
            <a:xfrm>
              <a:off x="6180138" y="3275013"/>
              <a:ext cx="673100" cy="631825"/>
            </a:xfrm>
            <a:custGeom>
              <a:avLst/>
              <a:gdLst>
                <a:gd name="T0" fmla="*/ 465 w 1868"/>
                <a:gd name="T1" fmla="*/ 0 h 1755"/>
                <a:gd name="T2" fmla="*/ 465 w 1868"/>
                <a:gd name="T3" fmla="*/ 700 h 1755"/>
                <a:gd name="T4" fmla="*/ 1402 w 1868"/>
                <a:gd name="T5" fmla="*/ 700 h 1755"/>
                <a:gd name="T6" fmla="*/ 1402 w 1868"/>
                <a:gd name="T7" fmla="*/ 0 h 1755"/>
                <a:gd name="T8" fmla="*/ 1867 w 1868"/>
                <a:gd name="T9" fmla="*/ 0 h 1755"/>
                <a:gd name="T10" fmla="*/ 1867 w 1868"/>
                <a:gd name="T11" fmla="*/ 1754 h 1755"/>
                <a:gd name="T12" fmla="*/ 1402 w 1868"/>
                <a:gd name="T13" fmla="*/ 1754 h 1755"/>
                <a:gd name="T14" fmla="*/ 1402 w 1868"/>
                <a:gd name="T15" fmla="*/ 983 h 1755"/>
                <a:gd name="T16" fmla="*/ 465 w 1868"/>
                <a:gd name="T17" fmla="*/ 983 h 1755"/>
                <a:gd name="T18" fmla="*/ 465 w 1868"/>
                <a:gd name="T19" fmla="*/ 1754 h 1755"/>
                <a:gd name="T20" fmla="*/ 0 w 1868"/>
                <a:gd name="T21" fmla="*/ 1754 h 1755"/>
                <a:gd name="T22" fmla="*/ 0 w 1868"/>
                <a:gd name="T23" fmla="*/ 0 h 1755"/>
                <a:gd name="T24" fmla="*/ 465 w 1868"/>
                <a:gd name="T25" fmla="*/ 0 h 17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68" h="1755">
                  <a:moveTo>
                    <a:pt x="465" y="0"/>
                  </a:moveTo>
                  <a:cubicBezTo>
                    <a:pt x="465" y="0"/>
                    <a:pt x="465" y="705"/>
                    <a:pt x="465" y="700"/>
                  </a:cubicBezTo>
                  <a:lnTo>
                    <a:pt x="1402" y="700"/>
                  </a:lnTo>
                  <a:cubicBezTo>
                    <a:pt x="1402" y="705"/>
                    <a:pt x="1402" y="0"/>
                    <a:pt x="1402" y="0"/>
                  </a:cubicBezTo>
                  <a:cubicBezTo>
                    <a:pt x="1402" y="0"/>
                    <a:pt x="1863" y="0"/>
                    <a:pt x="1867" y="0"/>
                  </a:cubicBezTo>
                  <a:cubicBezTo>
                    <a:pt x="1867" y="0"/>
                    <a:pt x="1867" y="1750"/>
                    <a:pt x="1867" y="1754"/>
                  </a:cubicBezTo>
                  <a:lnTo>
                    <a:pt x="1402" y="1754"/>
                  </a:lnTo>
                  <a:cubicBezTo>
                    <a:pt x="1402" y="1754"/>
                    <a:pt x="1402" y="987"/>
                    <a:pt x="1402" y="983"/>
                  </a:cubicBezTo>
                  <a:cubicBezTo>
                    <a:pt x="1402" y="987"/>
                    <a:pt x="465" y="983"/>
                    <a:pt x="465" y="983"/>
                  </a:cubicBezTo>
                  <a:cubicBezTo>
                    <a:pt x="465" y="987"/>
                    <a:pt x="465" y="1754"/>
                    <a:pt x="465" y="1754"/>
                  </a:cubicBezTo>
                  <a:lnTo>
                    <a:pt x="0" y="1754"/>
                  </a:lnTo>
                  <a:cubicBezTo>
                    <a:pt x="0" y="1754"/>
                    <a:pt x="4" y="0"/>
                    <a:pt x="0" y="0"/>
                  </a:cubicBezTo>
                  <a:lnTo>
                    <a:pt x="465"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8" name="Freeform 2">
              <a:extLst>
                <a:ext uri="{FF2B5EF4-FFF2-40B4-BE49-F238E27FC236}">
                  <a16:creationId xmlns:a16="http://schemas.microsoft.com/office/drawing/2014/main" id="{2EC2A32F-DAB4-A34C-BECE-3159FE0ED229}"/>
                </a:ext>
              </a:extLst>
            </p:cNvPr>
            <p:cNvSpPr>
              <a:spLocks noChangeArrowheads="1"/>
            </p:cNvSpPr>
            <p:nvPr/>
          </p:nvSpPr>
          <p:spPr bwMode="auto">
            <a:xfrm>
              <a:off x="4083050" y="3275013"/>
              <a:ext cx="677863" cy="631825"/>
            </a:xfrm>
            <a:custGeom>
              <a:avLst/>
              <a:gdLst>
                <a:gd name="T0" fmla="*/ 1883 w 1884"/>
                <a:gd name="T1" fmla="*/ 0 h 1755"/>
                <a:gd name="T2" fmla="*/ 1883 w 1884"/>
                <a:gd name="T3" fmla="*/ 298 h 1755"/>
                <a:gd name="T4" fmla="*/ 1174 w 1884"/>
                <a:gd name="T5" fmla="*/ 298 h 1755"/>
                <a:gd name="T6" fmla="*/ 1174 w 1884"/>
                <a:gd name="T7" fmla="*/ 1754 h 1755"/>
                <a:gd name="T8" fmla="*/ 709 w 1884"/>
                <a:gd name="T9" fmla="*/ 1754 h 1755"/>
                <a:gd name="T10" fmla="*/ 709 w 1884"/>
                <a:gd name="T11" fmla="*/ 298 h 1755"/>
                <a:gd name="T12" fmla="*/ 0 w 1884"/>
                <a:gd name="T13" fmla="*/ 298 h 1755"/>
                <a:gd name="T14" fmla="*/ 0 w 1884"/>
                <a:gd name="T15" fmla="*/ 0 h 1755"/>
                <a:gd name="T16" fmla="*/ 1883 w 1884"/>
                <a:gd name="T17" fmla="*/ 0 h 17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884" h="1755">
                  <a:moveTo>
                    <a:pt x="1883" y="0"/>
                  </a:moveTo>
                  <a:cubicBezTo>
                    <a:pt x="1883" y="4"/>
                    <a:pt x="1883" y="298"/>
                    <a:pt x="1883" y="298"/>
                  </a:cubicBezTo>
                  <a:lnTo>
                    <a:pt x="1174" y="298"/>
                  </a:lnTo>
                  <a:lnTo>
                    <a:pt x="1174" y="1754"/>
                  </a:lnTo>
                  <a:lnTo>
                    <a:pt x="709" y="1754"/>
                  </a:lnTo>
                  <a:lnTo>
                    <a:pt x="709" y="298"/>
                  </a:lnTo>
                  <a:lnTo>
                    <a:pt x="0" y="298"/>
                  </a:lnTo>
                  <a:lnTo>
                    <a:pt x="0" y="0"/>
                  </a:lnTo>
                  <a:lnTo>
                    <a:pt x="1883"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9" name="Freeform 3">
              <a:extLst>
                <a:ext uri="{FF2B5EF4-FFF2-40B4-BE49-F238E27FC236}">
                  <a16:creationId xmlns:a16="http://schemas.microsoft.com/office/drawing/2014/main" id="{CFABE890-91A1-A04E-9227-E7CB6243BC7F}"/>
                </a:ext>
              </a:extLst>
            </p:cNvPr>
            <p:cNvSpPr>
              <a:spLocks noChangeArrowheads="1"/>
            </p:cNvSpPr>
            <p:nvPr/>
          </p:nvSpPr>
          <p:spPr bwMode="auto">
            <a:xfrm>
              <a:off x="4614863" y="3275013"/>
              <a:ext cx="796925" cy="631825"/>
            </a:xfrm>
            <a:custGeom>
              <a:avLst/>
              <a:gdLst>
                <a:gd name="T0" fmla="*/ 2214 w 2215"/>
                <a:gd name="T1" fmla="*/ 1754 h 1755"/>
                <a:gd name="T2" fmla="*/ 1695 w 2215"/>
                <a:gd name="T3" fmla="*/ 1754 h 1755"/>
                <a:gd name="T4" fmla="*/ 1542 w 2215"/>
                <a:gd name="T5" fmla="*/ 1377 h 1755"/>
                <a:gd name="T6" fmla="*/ 672 w 2215"/>
                <a:gd name="T7" fmla="*/ 1377 h 1755"/>
                <a:gd name="T8" fmla="*/ 518 w 2215"/>
                <a:gd name="T9" fmla="*/ 1754 h 1755"/>
                <a:gd name="T10" fmla="*/ 0 w 2215"/>
                <a:gd name="T11" fmla="*/ 1754 h 1755"/>
                <a:gd name="T12" fmla="*/ 825 w 2215"/>
                <a:gd name="T13" fmla="*/ 0 h 1755"/>
                <a:gd name="T14" fmla="*/ 1392 w 2215"/>
                <a:gd name="T15" fmla="*/ 0 h 1755"/>
                <a:gd name="T16" fmla="*/ 2214 w 2215"/>
                <a:gd name="T17" fmla="*/ 1754 h 1755"/>
                <a:gd name="T18" fmla="*/ 788 w 2215"/>
                <a:gd name="T19" fmla="*/ 1095 h 1755"/>
                <a:gd name="T20" fmla="*/ 1434 w 2215"/>
                <a:gd name="T21" fmla="*/ 1095 h 1755"/>
                <a:gd name="T22" fmla="*/ 1107 w 2215"/>
                <a:gd name="T23" fmla="*/ 298 h 1755"/>
                <a:gd name="T24" fmla="*/ 788 w 2215"/>
                <a:gd name="T25" fmla="*/ 1095 h 17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15" h="1755">
                  <a:moveTo>
                    <a:pt x="2214" y="1754"/>
                  </a:moveTo>
                  <a:cubicBezTo>
                    <a:pt x="2214" y="1754"/>
                    <a:pt x="1691" y="1754"/>
                    <a:pt x="1695" y="1754"/>
                  </a:cubicBezTo>
                  <a:lnTo>
                    <a:pt x="1542" y="1377"/>
                  </a:lnTo>
                  <a:lnTo>
                    <a:pt x="672" y="1377"/>
                  </a:lnTo>
                  <a:cubicBezTo>
                    <a:pt x="672" y="1377"/>
                    <a:pt x="522" y="1754"/>
                    <a:pt x="518" y="1754"/>
                  </a:cubicBezTo>
                  <a:lnTo>
                    <a:pt x="0" y="1754"/>
                  </a:lnTo>
                  <a:lnTo>
                    <a:pt x="825" y="0"/>
                  </a:lnTo>
                  <a:lnTo>
                    <a:pt x="1392" y="0"/>
                  </a:lnTo>
                  <a:lnTo>
                    <a:pt x="2214" y="1754"/>
                  </a:lnTo>
                  <a:close/>
                  <a:moveTo>
                    <a:pt x="788" y="1095"/>
                  </a:moveTo>
                  <a:lnTo>
                    <a:pt x="1434" y="1095"/>
                  </a:lnTo>
                  <a:lnTo>
                    <a:pt x="1107" y="298"/>
                  </a:lnTo>
                  <a:lnTo>
                    <a:pt x="788" y="1095"/>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10" name="Freeform 4">
              <a:extLst>
                <a:ext uri="{FF2B5EF4-FFF2-40B4-BE49-F238E27FC236}">
                  <a16:creationId xmlns:a16="http://schemas.microsoft.com/office/drawing/2014/main" id="{8E064252-4A22-6A4E-8BBD-75A62A08BA78}"/>
                </a:ext>
              </a:extLst>
            </p:cNvPr>
            <p:cNvSpPr>
              <a:spLocks noChangeArrowheads="1"/>
            </p:cNvSpPr>
            <p:nvPr/>
          </p:nvSpPr>
          <p:spPr bwMode="auto">
            <a:xfrm>
              <a:off x="6985000" y="3275013"/>
              <a:ext cx="166688" cy="631825"/>
            </a:xfrm>
            <a:custGeom>
              <a:avLst/>
              <a:gdLst>
                <a:gd name="T0" fmla="*/ 232 w 465"/>
                <a:gd name="T1" fmla="*/ 1754 h 1755"/>
                <a:gd name="T2" fmla="*/ 0 w 465"/>
                <a:gd name="T3" fmla="*/ 1754 h 1755"/>
                <a:gd name="T4" fmla="*/ 0 w 465"/>
                <a:gd name="T5" fmla="*/ 0 h 1755"/>
                <a:gd name="T6" fmla="*/ 464 w 465"/>
                <a:gd name="T7" fmla="*/ 0 h 1755"/>
                <a:gd name="T8" fmla="*/ 464 w 465"/>
                <a:gd name="T9" fmla="*/ 1754 h 1755"/>
                <a:gd name="T10" fmla="*/ 232 w 465"/>
                <a:gd name="T11" fmla="*/ 1754 h 1755"/>
              </a:gdLst>
              <a:ahLst/>
              <a:cxnLst>
                <a:cxn ang="0">
                  <a:pos x="T0" y="T1"/>
                </a:cxn>
                <a:cxn ang="0">
                  <a:pos x="T2" y="T3"/>
                </a:cxn>
                <a:cxn ang="0">
                  <a:pos x="T4" y="T5"/>
                </a:cxn>
                <a:cxn ang="0">
                  <a:pos x="T6" y="T7"/>
                </a:cxn>
                <a:cxn ang="0">
                  <a:pos x="T8" y="T9"/>
                </a:cxn>
                <a:cxn ang="0">
                  <a:pos x="T10" y="T11"/>
                </a:cxn>
              </a:cxnLst>
              <a:rect l="0" t="0" r="r" b="b"/>
              <a:pathLst>
                <a:path w="465" h="1755">
                  <a:moveTo>
                    <a:pt x="232" y="1754"/>
                  </a:moveTo>
                  <a:lnTo>
                    <a:pt x="0" y="1754"/>
                  </a:lnTo>
                  <a:lnTo>
                    <a:pt x="0" y="0"/>
                  </a:lnTo>
                  <a:lnTo>
                    <a:pt x="464" y="0"/>
                  </a:lnTo>
                  <a:lnTo>
                    <a:pt x="464" y="1754"/>
                  </a:lnTo>
                  <a:lnTo>
                    <a:pt x="232" y="1754"/>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11" name="Freeform 5">
              <a:extLst>
                <a:ext uri="{FF2B5EF4-FFF2-40B4-BE49-F238E27FC236}">
                  <a16:creationId xmlns:a16="http://schemas.microsoft.com/office/drawing/2014/main" id="{7108F8D7-9972-EC43-941C-8F985F4440C8}"/>
                </a:ext>
              </a:extLst>
            </p:cNvPr>
            <p:cNvSpPr>
              <a:spLocks noChangeArrowheads="1"/>
            </p:cNvSpPr>
            <p:nvPr/>
          </p:nvSpPr>
          <p:spPr bwMode="auto">
            <a:xfrm>
              <a:off x="3049588" y="3275013"/>
              <a:ext cx="673100" cy="631825"/>
            </a:xfrm>
            <a:custGeom>
              <a:avLst/>
              <a:gdLst>
                <a:gd name="T0" fmla="*/ 465 w 1868"/>
                <a:gd name="T1" fmla="*/ 0 h 1755"/>
                <a:gd name="T2" fmla="*/ 465 w 1868"/>
                <a:gd name="T3" fmla="*/ 700 h 1755"/>
                <a:gd name="T4" fmla="*/ 1402 w 1868"/>
                <a:gd name="T5" fmla="*/ 700 h 1755"/>
                <a:gd name="T6" fmla="*/ 1402 w 1868"/>
                <a:gd name="T7" fmla="*/ 0 h 1755"/>
                <a:gd name="T8" fmla="*/ 1867 w 1868"/>
                <a:gd name="T9" fmla="*/ 0 h 1755"/>
                <a:gd name="T10" fmla="*/ 1867 w 1868"/>
                <a:gd name="T11" fmla="*/ 1754 h 1755"/>
                <a:gd name="T12" fmla="*/ 1402 w 1868"/>
                <a:gd name="T13" fmla="*/ 1754 h 1755"/>
                <a:gd name="T14" fmla="*/ 1402 w 1868"/>
                <a:gd name="T15" fmla="*/ 983 h 1755"/>
                <a:gd name="T16" fmla="*/ 465 w 1868"/>
                <a:gd name="T17" fmla="*/ 983 h 1755"/>
                <a:gd name="T18" fmla="*/ 465 w 1868"/>
                <a:gd name="T19" fmla="*/ 1754 h 1755"/>
                <a:gd name="T20" fmla="*/ 0 w 1868"/>
                <a:gd name="T21" fmla="*/ 1754 h 1755"/>
                <a:gd name="T22" fmla="*/ 0 w 1868"/>
                <a:gd name="T23" fmla="*/ 0 h 1755"/>
                <a:gd name="T24" fmla="*/ 465 w 1868"/>
                <a:gd name="T25" fmla="*/ 0 h 17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68" h="1755">
                  <a:moveTo>
                    <a:pt x="465" y="0"/>
                  </a:moveTo>
                  <a:cubicBezTo>
                    <a:pt x="465" y="0"/>
                    <a:pt x="465" y="705"/>
                    <a:pt x="465" y="700"/>
                  </a:cubicBezTo>
                  <a:lnTo>
                    <a:pt x="1402" y="700"/>
                  </a:lnTo>
                  <a:cubicBezTo>
                    <a:pt x="1402" y="705"/>
                    <a:pt x="1402" y="0"/>
                    <a:pt x="1402" y="0"/>
                  </a:cubicBezTo>
                  <a:cubicBezTo>
                    <a:pt x="1402" y="0"/>
                    <a:pt x="1863" y="0"/>
                    <a:pt x="1867" y="0"/>
                  </a:cubicBezTo>
                  <a:cubicBezTo>
                    <a:pt x="1867" y="0"/>
                    <a:pt x="1867" y="1750"/>
                    <a:pt x="1867" y="1754"/>
                  </a:cubicBezTo>
                  <a:lnTo>
                    <a:pt x="1402" y="1754"/>
                  </a:lnTo>
                  <a:cubicBezTo>
                    <a:pt x="1402" y="1754"/>
                    <a:pt x="1402" y="987"/>
                    <a:pt x="1402" y="983"/>
                  </a:cubicBezTo>
                  <a:cubicBezTo>
                    <a:pt x="1402" y="987"/>
                    <a:pt x="465" y="983"/>
                    <a:pt x="465" y="983"/>
                  </a:cubicBezTo>
                  <a:cubicBezTo>
                    <a:pt x="465" y="987"/>
                    <a:pt x="465" y="1754"/>
                    <a:pt x="465" y="1754"/>
                  </a:cubicBezTo>
                  <a:lnTo>
                    <a:pt x="0" y="1754"/>
                  </a:lnTo>
                  <a:cubicBezTo>
                    <a:pt x="0" y="1754"/>
                    <a:pt x="5" y="0"/>
                    <a:pt x="0" y="0"/>
                  </a:cubicBezTo>
                  <a:lnTo>
                    <a:pt x="465"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12" name="Freeform 6">
              <a:extLst>
                <a:ext uri="{FF2B5EF4-FFF2-40B4-BE49-F238E27FC236}">
                  <a16:creationId xmlns:a16="http://schemas.microsoft.com/office/drawing/2014/main" id="{10D7BD6F-B44E-EF4C-83B8-E49C990AC56B}"/>
                </a:ext>
              </a:extLst>
            </p:cNvPr>
            <p:cNvSpPr>
              <a:spLocks noChangeArrowheads="1"/>
            </p:cNvSpPr>
            <p:nvPr/>
          </p:nvSpPr>
          <p:spPr bwMode="auto">
            <a:xfrm>
              <a:off x="3854450" y="3275013"/>
              <a:ext cx="168275" cy="631825"/>
            </a:xfrm>
            <a:custGeom>
              <a:avLst/>
              <a:gdLst>
                <a:gd name="T0" fmla="*/ 233 w 466"/>
                <a:gd name="T1" fmla="*/ 1754 h 1755"/>
                <a:gd name="T2" fmla="*/ 0 w 466"/>
                <a:gd name="T3" fmla="*/ 1754 h 1755"/>
                <a:gd name="T4" fmla="*/ 0 w 466"/>
                <a:gd name="T5" fmla="*/ 0 h 1755"/>
                <a:gd name="T6" fmla="*/ 465 w 466"/>
                <a:gd name="T7" fmla="*/ 0 h 1755"/>
                <a:gd name="T8" fmla="*/ 465 w 466"/>
                <a:gd name="T9" fmla="*/ 1754 h 1755"/>
                <a:gd name="T10" fmla="*/ 233 w 466"/>
                <a:gd name="T11" fmla="*/ 1754 h 1755"/>
              </a:gdLst>
              <a:ahLst/>
              <a:cxnLst>
                <a:cxn ang="0">
                  <a:pos x="T0" y="T1"/>
                </a:cxn>
                <a:cxn ang="0">
                  <a:pos x="T2" y="T3"/>
                </a:cxn>
                <a:cxn ang="0">
                  <a:pos x="T4" y="T5"/>
                </a:cxn>
                <a:cxn ang="0">
                  <a:pos x="T6" y="T7"/>
                </a:cxn>
                <a:cxn ang="0">
                  <a:pos x="T8" y="T9"/>
                </a:cxn>
                <a:cxn ang="0">
                  <a:pos x="T10" y="T11"/>
                </a:cxn>
              </a:cxnLst>
              <a:rect l="0" t="0" r="r" b="b"/>
              <a:pathLst>
                <a:path w="466" h="1755">
                  <a:moveTo>
                    <a:pt x="233" y="1754"/>
                  </a:moveTo>
                  <a:lnTo>
                    <a:pt x="0" y="1754"/>
                  </a:lnTo>
                  <a:lnTo>
                    <a:pt x="0" y="0"/>
                  </a:lnTo>
                  <a:lnTo>
                    <a:pt x="465" y="0"/>
                  </a:lnTo>
                  <a:lnTo>
                    <a:pt x="465" y="1754"/>
                  </a:lnTo>
                  <a:lnTo>
                    <a:pt x="233" y="1754"/>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13" name="Freeform 7">
              <a:extLst>
                <a:ext uri="{FF2B5EF4-FFF2-40B4-BE49-F238E27FC236}">
                  <a16:creationId xmlns:a16="http://schemas.microsoft.com/office/drawing/2014/main" id="{E06C8074-B6A4-D343-A411-79AE8E570DA9}"/>
                </a:ext>
              </a:extLst>
            </p:cNvPr>
            <p:cNvSpPr>
              <a:spLocks noChangeArrowheads="1"/>
            </p:cNvSpPr>
            <p:nvPr/>
          </p:nvSpPr>
          <p:spPr bwMode="auto">
            <a:xfrm>
              <a:off x="5383213" y="3262313"/>
              <a:ext cx="715962" cy="663575"/>
            </a:xfrm>
            <a:custGeom>
              <a:avLst/>
              <a:gdLst>
                <a:gd name="T0" fmla="*/ 62 w 1988"/>
                <a:gd name="T1" fmla="*/ 1307 h 1842"/>
                <a:gd name="T2" fmla="*/ 0 w 1988"/>
                <a:gd name="T3" fmla="*/ 933 h 1842"/>
                <a:gd name="T4" fmla="*/ 120 w 1988"/>
                <a:gd name="T5" fmla="*/ 423 h 1842"/>
                <a:gd name="T6" fmla="*/ 518 w 1988"/>
                <a:gd name="T7" fmla="*/ 91 h 1842"/>
                <a:gd name="T8" fmla="*/ 1033 w 1988"/>
                <a:gd name="T9" fmla="*/ 0 h 1842"/>
                <a:gd name="T10" fmla="*/ 1618 w 1988"/>
                <a:gd name="T11" fmla="*/ 125 h 1842"/>
                <a:gd name="T12" fmla="*/ 1950 w 1988"/>
                <a:gd name="T13" fmla="*/ 531 h 1842"/>
                <a:gd name="T14" fmla="*/ 1966 w 1988"/>
                <a:gd name="T15" fmla="*/ 643 h 1842"/>
                <a:gd name="T16" fmla="*/ 1481 w 1988"/>
                <a:gd name="T17" fmla="*/ 643 h 1842"/>
                <a:gd name="T18" fmla="*/ 1456 w 1988"/>
                <a:gd name="T19" fmla="*/ 506 h 1842"/>
                <a:gd name="T20" fmla="*/ 1240 w 1988"/>
                <a:gd name="T21" fmla="*/ 303 h 1842"/>
                <a:gd name="T22" fmla="*/ 1037 w 1988"/>
                <a:gd name="T23" fmla="*/ 274 h 1842"/>
                <a:gd name="T24" fmla="*/ 809 w 1988"/>
                <a:gd name="T25" fmla="*/ 315 h 1842"/>
                <a:gd name="T26" fmla="*/ 556 w 1988"/>
                <a:gd name="T27" fmla="*/ 573 h 1842"/>
                <a:gd name="T28" fmla="*/ 494 w 1988"/>
                <a:gd name="T29" fmla="*/ 942 h 1842"/>
                <a:gd name="T30" fmla="*/ 539 w 1988"/>
                <a:gd name="T31" fmla="*/ 1249 h 1842"/>
                <a:gd name="T32" fmla="*/ 792 w 1988"/>
                <a:gd name="T33" fmla="*/ 1527 h 1842"/>
                <a:gd name="T34" fmla="*/ 1041 w 1988"/>
                <a:gd name="T35" fmla="*/ 1572 h 1842"/>
                <a:gd name="T36" fmla="*/ 1257 w 1988"/>
                <a:gd name="T37" fmla="*/ 1539 h 1842"/>
                <a:gd name="T38" fmla="*/ 1460 w 1988"/>
                <a:gd name="T39" fmla="*/ 1356 h 1842"/>
                <a:gd name="T40" fmla="*/ 1497 w 1988"/>
                <a:gd name="T41" fmla="*/ 1170 h 1842"/>
                <a:gd name="T42" fmla="*/ 1987 w 1988"/>
                <a:gd name="T43" fmla="*/ 1170 h 1842"/>
                <a:gd name="T44" fmla="*/ 1962 w 1988"/>
                <a:gd name="T45" fmla="*/ 1336 h 1842"/>
                <a:gd name="T46" fmla="*/ 1638 w 1988"/>
                <a:gd name="T47" fmla="*/ 1721 h 1842"/>
                <a:gd name="T48" fmla="*/ 1041 w 1988"/>
                <a:gd name="T49" fmla="*/ 1841 h 1842"/>
                <a:gd name="T50" fmla="*/ 568 w 1988"/>
                <a:gd name="T51" fmla="*/ 1771 h 1842"/>
                <a:gd name="T52" fmla="*/ 62 w 1988"/>
                <a:gd name="T53" fmla="*/ 1307 h 18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988" h="1842">
                  <a:moveTo>
                    <a:pt x="62" y="1307"/>
                  </a:moveTo>
                  <a:cubicBezTo>
                    <a:pt x="21" y="1191"/>
                    <a:pt x="0" y="1066"/>
                    <a:pt x="0" y="933"/>
                  </a:cubicBezTo>
                  <a:cubicBezTo>
                    <a:pt x="0" y="751"/>
                    <a:pt x="33" y="573"/>
                    <a:pt x="120" y="423"/>
                  </a:cubicBezTo>
                  <a:cubicBezTo>
                    <a:pt x="211" y="270"/>
                    <a:pt x="348" y="154"/>
                    <a:pt x="518" y="91"/>
                  </a:cubicBezTo>
                  <a:cubicBezTo>
                    <a:pt x="680" y="33"/>
                    <a:pt x="850" y="0"/>
                    <a:pt x="1033" y="0"/>
                  </a:cubicBezTo>
                  <a:cubicBezTo>
                    <a:pt x="1240" y="0"/>
                    <a:pt x="1439" y="46"/>
                    <a:pt x="1618" y="125"/>
                  </a:cubicBezTo>
                  <a:cubicBezTo>
                    <a:pt x="1784" y="195"/>
                    <a:pt x="1912" y="349"/>
                    <a:pt x="1950" y="531"/>
                  </a:cubicBezTo>
                  <a:cubicBezTo>
                    <a:pt x="1958" y="568"/>
                    <a:pt x="1962" y="606"/>
                    <a:pt x="1966" y="643"/>
                  </a:cubicBezTo>
                  <a:lnTo>
                    <a:pt x="1481" y="643"/>
                  </a:lnTo>
                  <a:cubicBezTo>
                    <a:pt x="1481" y="597"/>
                    <a:pt x="1472" y="552"/>
                    <a:pt x="1456" y="506"/>
                  </a:cubicBezTo>
                  <a:cubicBezTo>
                    <a:pt x="1419" y="411"/>
                    <a:pt x="1340" y="332"/>
                    <a:pt x="1240" y="303"/>
                  </a:cubicBezTo>
                  <a:cubicBezTo>
                    <a:pt x="1174" y="282"/>
                    <a:pt x="1107" y="274"/>
                    <a:pt x="1037" y="274"/>
                  </a:cubicBezTo>
                  <a:cubicBezTo>
                    <a:pt x="958" y="274"/>
                    <a:pt x="879" y="286"/>
                    <a:pt x="809" y="315"/>
                  </a:cubicBezTo>
                  <a:cubicBezTo>
                    <a:pt x="688" y="357"/>
                    <a:pt x="597" y="452"/>
                    <a:pt x="556" y="573"/>
                  </a:cubicBezTo>
                  <a:cubicBezTo>
                    <a:pt x="514" y="689"/>
                    <a:pt x="494" y="813"/>
                    <a:pt x="494" y="942"/>
                  </a:cubicBezTo>
                  <a:cubicBezTo>
                    <a:pt x="494" y="1050"/>
                    <a:pt x="510" y="1153"/>
                    <a:pt x="539" y="1249"/>
                  </a:cubicBezTo>
                  <a:cubicBezTo>
                    <a:pt x="572" y="1377"/>
                    <a:pt x="672" y="1481"/>
                    <a:pt x="792" y="1527"/>
                  </a:cubicBezTo>
                  <a:cubicBezTo>
                    <a:pt x="871" y="1556"/>
                    <a:pt x="954" y="1572"/>
                    <a:pt x="1041" y="1572"/>
                  </a:cubicBezTo>
                  <a:cubicBezTo>
                    <a:pt x="1116" y="1572"/>
                    <a:pt x="1186" y="1560"/>
                    <a:pt x="1257" y="1539"/>
                  </a:cubicBezTo>
                  <a:cubicBezTo>
                    <a:pt x="1348" y="1510"/>
                    <a:pt x="1423" y="1444"/>
                    <a:pt x="1460" y="1356"/>
                  </a:cubicBezTo>
                  <a:cubicBezTo>
                    <a:pt x="1485" y="1298"/>
                    <a:pt x="1497" y="1236"/>
                    <a:pt x="1497" y="1170"/>
                  </a:cubicBezTo>
                  <a:lnTo>
                    <a:pt x="1987" y="1170"/>
                  </a:lnTo>
                  <a:cubicBezTo>
                    <a:pt x="1983" y="1228"/>
                    <a:pt x="1974" y="1282"/>
                    <a:pt x="1962" y="1336"/>
                  </a:cubicBezTo>
                  <a:cubicBezTo>
                    <a:pt x="1920" y="1510"/>
                    <a:pt x="1800" y="1655"/>
                    <a:pt x="1638" y="1721"/>
                  </a:cubicBezTo>
                  <a:cubicBezTo>
                    <a:pt x="1456" y="1800"/>
                    <a:pt x="1253" y="1841"/>
                    <a:pt x="1041" y="1841"/>
                  </a:cubicBezTo>
                  <a:cubicBezTo>
                    <a:pt x="875" y="1841"/>
                    <a:pt x="718" y="1817"/>
                    <a:pt x="568" y="1771"/>
                  </a:cubicBezTo>
                  <a:cubicBezTo>
                    <a:pt x="336" y="1692"/>
                    <a:pt x="137" y="1527"/>
                    <a:pt x="62" y="1307"/>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14" name="Freeform 8">
              <a:extLst>
                <a:ext uri="{FF2B5EF4-FFF2-40B4-BE49-F238E27FC236}">
                  <a16:creationId xmlns:a16="http://schemas.microsoft.com/office/drawing/2014/main" id="{1E4F36FC-5229-474D-A767-FDC5532A65F1}"/>
                </a:ext>
              </a:extLst>
            </p:cNvPr>
            <p:cNvSpPr>
              <a:spLocks noChangeArrowheads="1"/>
            </p:cNvSpPr>
            <p:nvPr/>
          </p:nvSpPr>
          <p:spPr bwMode="auto">
            <a:xfrm>
              <a:off x="2751138" y="4083050"/>
              <a:ext cx="153987" cy="398463"/>
            </a:xfrm>
            <a:custGeom>
              <a:avLst/>
              <a:gdLst>
                <a:gd name="T0" fmla="*/ 415 w 428"/>
                <a:gd name="T1" fmla="*/ 0 h 1109"/>
                <a:gd name="T2" fmla="*/ 0 w 428"/>
                <a:gd name="T3" fmla="*/ 38 h 1109"/>
                <a:gd name="T4" fmla="*/ 0 w 428"/>
                <a:gd name="T5" fmla="*/ 100 h 1109"/>
                <a:gd name="T6" fmla="*/ 12 w 428"/>
                <a:gd name="T7" fmla="*/ 100 h 1109"/>
                <a:gd name="T8" fmla="*/ 178 w 428"/>
                <a:gd name="T9" fmla="*/ 241 h 1109"/>
                <a:gd name="T10" fmla="*/ 178 w 428"/>
                <a:gd name="T11" fmla="*/ 1108 h 1109"/>
                <a:gd name="T12" fmla="*/ 427 w 428"/>
                <a:gd name="T13" fmla="*/ 1108 h 1109"/>
                <a:gd name="T14" fmla="*/ 427 w 428"/>
                <a:gd name="T15" fmla="*/ 0 h 1109"/>
                <a:gd name="T16" fmla="*/ 415 w 428"/>
                <a:gd name="T17" fmla="*/ 0 h 1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28" h="1109">
                  <a:moveTo>
                    <a:pt x="415" y="0"/>
                  </a:moveTo>
                  <a:lnTo>
                    <a:pt x="0" y="38"/>
                  </a:lnTo>
                  <a:lnTo>
                    <a:pt x="0" y="100"/>
                  </a:lnTo>
                  <a:lnTo>
                    <a:pt x="12" y="100"/>
                  </a:lnTo>
                  <a:cubicBezTo>
                    <a:pt x="178" y="121"/>
                    <a:pt x="178" y="121"/>
                    <a:pt x="178" y="241"/>
                  </a:cubicBezTo>
                  <a:lnTo>
                    <a:pt x="178" y="1108"/>
                  </a:lnTo>
                  <a:lnTo>
                    <a:pt x="427" y="1108"/>
                  </a:lnTo>
                  <a:lnTo>
                    <a:pt x="427" y="0"/>
                  </a:lnTo>
                  <a:lnTo>
                    <a:pt x="415"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15" name="Freeform 9">
              <a:extLst>
                <a:ext uri="{FF2B5EF4-FFF2-40B4-BE49-F238E27FC236}">
                  <a16:creationId xmlns:a16="http://schemas.microsoft.com/office/drawing/2014/main" id="{BA860B57-E95B-4342-A506-9A42E1803EDF}"/>
                </a:ext>
              </a:extLst>
            </p:cNvPr>
            <p:cNvSpPr>
              <a:spLocks noChangeArrowheads="1"/>
            </p:cNvSpPr>
            <p:nvPr/>
          </p:nvSpPr>
          <p:spPr bwMode="auto">
            <a:xfrm>
              <a:off x="2986088" y="4198938"/>
              <a:ext cx="315912" cy="282575"/>
            </a:xfrm>
            <a:custGeom>
              <a:avLst/>
              <a:gdLst>
                <a:gd name="T0" fmla="*/ 643 w 876"/>
                <a:gd name="T1" fmla="*/ 4 h 785"/>
                <a:gd name="T2" fmla="*/ 353 w 876"/>
                <a:gd name="T3" fmla="*/ 170 h 785"/>
                <a:gd name="T4" fmla="*/ 353 w 876"/>
                <a:gd name="T5" fmla="*/ 0 h 785"/>
                <a:gd name="T6" fmla="*/ 336 w 876"/>
                <a:gd name="T7" fmla="*/ 4 h 785"/>
                <a:gd name="T8" fmla="*/ 0 w 876"/>
                <a:gd name="T9" fmla="*/ 58 h 785"/>
                <a:gd name="T10" fmla="*/ 0 w 876"/>
                <a:gd name="T11" fmla="*/ 116 h 785"/>
                <a:gd name="T12" fmla="*/ 17 w 876"/>
                <a:gd name="T13" fmla="*/ 116 h 785"/>
                <a:gd name="T14" fmla="*/ 145 w 876"/>
                <a:gd name="T15" fmla="*/ 240 h 785"/>
                <a:gd name="T16" fmla="*/ 145 w 876"/>
                <a:gd name="T17" fmla="*/ 784 h 785"/>
                <a:gd name="T18" fmla="*/ 353 w 876"/>
                <a:gd name="T19" fmla="*/ 784 h 785"/>
                <a:gd name="T20" fmla="*/ 353 w 876"/>
                <a:gd name="T21" fmla="*/ 386 h 785"/>
                <a:gd name="T22" fmla="*/ 560 w 876"/>
                <a:gd name="T23" fmla="*/ 141 h 785"/>
                <a:gd name="T24" fmla="*/ 664 w 876"/>
                <a:gd name="T25" fmla="*/ 361 h 785"/>
                <a:gd name="T26" fmla="*/ 664 w 876"/>
                <a:gd name="T27" fmla="*/ 784 h 785"/>
                <a:gd name="T28" fmla="*/ 871 w 876"/>
                <a:gd name="T29" fmla="*/ 784 h 785"/>
                <a:gd name="T30" fmla="*/ 871 w 876"/>
                <a:gd name="T31" fmla="*/ 240 h 785"/>
                <a:gd name="T32" fmla="*/ 643 w 876"/>
                <a:gd name="T33" fmla="*/ 4 h 7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76" h="785">
                  <a:moveTo>
                    <a:pt x="643" y="4"/>
                  </a:moveTo>
                  <a:cubicBezTo>
                    <a:pt x="490" y="4"/>
                    <a:pt x="398" y="108"/>
                    <a:pt x="353" y="170"/>
                  </a:cubicBezTo>
                  <a:cubicBezTo>
                    <a:pt x="353" y="112"/>
                    <a:pt x="353" y="0"/>
                    <a:pt x="353" y="0"/>
                  </a:cubicBezTo>
                  <a:lnTo>
                    <a:pt x="336" y="4"/>
                  </a:lnTo>
                  <a:lnTo>
                    <a:pt x="0" y="58"/>
                  </a:lnTo>
                  <a:lnTo>
                    <a:pt x="0" y="116"/>
                  </a:lnTo>
                  <a:lnTo>
                    <a:pt x="17" y="116"/>
                  </a:lnTo>
                  <a:cubicBezTo>
                    <a:pt x="124" y="120"/>
                    <a:pt x="145" y="141"/>
                    <a:pt x="145" y="240"/>
                  </a:cubicBezTo>
                  <a:lnTo>
                    <a:pt x="145" y="784"/>
                  </a:lnTo>
                  <a:lnTo>
                    <a:pt x="353" y="784"/>
                  </a:lnTo>
                  <a:lnTo>
                    <a:pt x="353" y="386"/>
                  </a:lnTo>
                  <a:cubicBezTo>
                    <a:pt x="353" y="278"/>
                    <a:pt x="452" y="141"/>
                    <a:pt x="560" y="141"/>
                  </a:cubicBezTo>
                  <a:cubicBezTo>
                    <a:pt x="660" y="141"/>
                    <a:pt x="664" y="224"/>
                    <a:pt x="664" y="361"/>
                  </a:cubicBezTo>
                  <a:lnTo>
                    <a:pt x="664" y="784"/>
                  </a:lnTo>
                  <a:lnTo>
                    <a:pt x="871" y="784"/>
                  </a:lnTo>
                  <a:lnTo>
                    <a:pt x="871" y="240"/>
                  </a:lnTo>
                  <a:cubicBezTo>
                    <a:pt x="875" y="87"/>
                    <a:pt x="792" y="4"/>
                    <a:pt x="643" y="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16" name="Freeform 10">
              <a:extLst>
                <a:ext uri="{FF2B5EF4-FFF2-40B4-BE49-F238E27FC236}">
                  <a16:creationId xmlns:a16="http://schemas.microsoft.com/office/drawing/2014/main" id="{897D6BB8-A7EC-C84A-8F10-580F991CADE1}"/>
                </a:ext>
              </a:extLst>
            </p:cNvPr>
            <p:cNvSpPr>
              <a:spLocks noChangeArrowheads="1"/>
            </p:cNvSpPr>
            <p:nvPr/>
          </p:nvSpPr>
          <p:spPr bwMode="auto">
            <a:xfrm>
              <a:off x="3386138" y="4200525"/>
              <a:ext cx="212725" cy="288925"/>
            </a:xfrm>
            <a:custGeom>
              <a:avLst/>
              <a:gdLst>
                <a:gd name="T0" fmla="*/ 348 w 590"/>
                <a:gd name="T1" fmla="*/ 303 h 802"/>
                <a:gd name="T2" fmla="*/ 195 w 590"/>
                <a:gd name="T3" fmla="*/ 170 h 802"/>
                <a:gd name="T4" fmla="*/ 307 w 590"/>
                <a:gd name="T5" fmla="*/ 100 h 802"/>
                <a:gd name="T6" fmla="*/ 502 w 590"/>
                <a:gd name="T7" fmla="*/ 166 h 802"/>
                <a:gd name="T8" fmla="*/ 535 w 590"/>
                <a:gd name="T9" fmla="*/ 187 h 802"/>
                <a:gd name="T10" fmla="*/ 535 w 590"/>
                <a:gd name="T11" fmla="*/ 162 h 802"/>
                <a:gd name="T12" fmla="*/ 535 w 590"/>
                <a:gd name="T13" fmla="*/ 33 h 802"/>
                <a:gd name="T14" fmla="*/ 506 w 590"/>
                <a:gd name="T15" fmla="*/ 25 h 802"/>
                <a:gd name="T16" fmla="*/ 315 w 590"/>
                <a:gd name="T17" fmla="*/ 0 h 802"/>
                <a:gd name="T18" fmla="*/ 0 w 590"/>
                <a:gd name="T19" fmla="*/ 224 h 802"/>
                <a:gd name="T20" fmla="*/ 228 w 590"/>
                <a:gd name="T21" fmla="*/ 465 h 802"/>
                <a:gd name="T22" fmla="*/ 390 w 590"/>
                <a:gd name="T23" fmla="*/ 606 h 802"/>
                <a:gd name="T24" fmla="*/ 249 w 590"/>
                <a:gd name="T25" fmla="*/ 697 h 802"/>
                <a:gd name="T26" fmla="*/ 20 w 590"/>
                <a:gd name="T27" fmla="*/ 618 h 802"/>
                <a:gd name="T28" fmla="*/ 0 w 590"/>
                <a:gd name="T29" fmla="*/ 606 h 802"/>
                <a:gd name="T30" fmla="*/ 0 w 590"/>
                <a:gd name="T31" fmla="*/ 767 h 802"/>
                <a:gd name="T32" fmla="*/ 16 w 590"/>
                <a:gd name="T33" fmla="*/ 771 h 802"/>
                <a:gd name="T34" fmla="*/ 244 w 590"/>
                <a:gd name="T35" fmla="*/ 801 h 802"/>
                <a:gd name="T36" fmla="*/ 580 w 590"/>
                <a:gd name="T37" fmla="*/ 568 h 802"/>
                <a:gd name="T38" fmla="*/ 348 w 590"/>
                <a:gd name="T39" fmla="*/ 303 h 8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590" h="802">
                  <a:moveTo>
                    <a:pt x="348" y="303"/>
                  </a:moveTo>
                  <a:cubicBezTo>
                    <a:pt x="265" y="261"/>
                    <a:pt x="195" y="228"/>
                    <a:pt x="195" y="170"/>
                  </a:cubicBezTo>
                  <a:cubicBezTo>
                    <a:pt x="195" y="104"/>
                    <a:pt x="274" y="100"/>
                    <a:pt x="307" y="100"/>
                  </a:cubicBezTo>
                  <a:cubicBezTo>
                    <a:pt x="394" y="100"/>
                    <a:pt x="468" y="145"/>
                    <a:pt x="502" y="166"/>
                  </a:cubicBezTo>
                  <a:lnTo>
                    <a:pt x="535" y="187"/>
                  </a:lnTo>
                  <a:lnTo>
                    <a:pt x="535" y="162"/>
                  </a:lnTo>
                  <a:lnTo>
                    <a:pt x="535" y="33"/>
                  </a:lnTo>
                  <a:lnTo>
                    <a:pt x="506" y="25"/>
                  </a:lnTo>
                  <a:cubicBezTo>
                    <a:pt x="468" y="17"/>
                    <a:pt x="398" y="0"/>
                    <a:pt x="315" y="0"/>
                  </a:cubicBezTo>
                  <a:cubicBezTo>
                    <a:pt x="120" y="0"/>
                    <a:pt x="0" y="83"/>
                    <a:pt x="0" y="224"/>
                  </a:cubicBezTo>
                  <a:cubicBezTo>
                    <a:pt x="0" y="353"/>
                    <a:pt x="124" y="411"/>
                    <a:pt x="228" y="465"/>
                  </a:cubicBezTo>
                  <a:cubicBezTo>
                    <a:pt x="311" y="506"/>
                    <a:pt x="390" y="543"/>
                    <a:pt x="390" y="606"/>
                  </a:cubicBezTo>
                  <a:cubicBezTo>
                    <a:pt x="390" y="664"/>
                    <a:pt x="340" y="697"/>
                    <a:pt x="249" y="697"/>
                  </a:cubicBezTo>
                  <a:cubicBezTo>
                    <a:pt x="149" y="697"/>
                    <a:pt x="70" y="647"/>
                    <a:pt x="20" y="618"/>
                  </a:cubicBezTo>
                  <a:lnTo>
                    <a:pt x="0" y="606"/>
                  </a:lnTo>
                  <a:lnTo>
                    <a:pt x="0" y="767"/>
                  </a:lnTo>
                  <a:lnTo>
                    <a:pt x="16" y="771"/>
                  </a:lnTo>
                  <a:cubicBezTo>
                    <a:pt x="58" y="780"/>
                    <a:pt x="137" y="801"/>
                    <a:pt x="244" y="801"/>
                  </a:cubicBezTo>
                  <a:cubicBezTo>
                    <a:pt x="456" y="801"/>
                    <a:pt x="580" y="713"/>
                    <a:pt x="580" y="568"/>
                  </a:cubicBezTo>
                  <a:cubicBezTo>
                    <a:pt x="589" y="419"/>
                    <a:pt x="460" y="357"/>
                    <a:pt x="348" y="30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17" name="Freeform 11">
              <a:extLst>
                <a:ext uri="{FF2B5EF4-FFF2-40B4-BE49-F238E27FC236}">
                  <a16:creationId xmlns:a16="http://schemas.microsoft.com/office/drawing/2014/main" id="{3253D0BF-D0CA-294A-87A8-6172CE8128A6}"/>
                </a:ext>
              </a:extLst>
            </p:cNvPr>
            <p:cNvSpPr>
              <a:spLocks noChangeArrowheads="1"/>
            </p:cNvSpPr>
            <p:nvPr/>
          </p:nvSpPr>
          <p:spPr bwMode="auto">
            <a:xfrm>
              <a:off x="3635375" y="4198938"/>
              <a:ext cx="325438" cy="396875"/>
            </a:xfrm>
            <a:custGeom>
              <a:avLst/>
              <a:gdLst>
                <a:gd name="T0" fmla="*/ 577 w 906"/>
                <a:gd name="T1" fmla="*/ 4 h 1104"/>
                <a:gd name="T2" fmla="*/ 357 w 906"/>
                <a:gd name="T3" fmla="*/ 112 h 1104"/>
                <a:gd name="T4" fmla="*/ 357 w 906"/>
                <a:gd name="T5" fmla="*/ 0 h 1104"/>
                <a:gd name="T6" fmla="*/ 336 w 906"/>
                <a:gd name="T7" fmla="*/ 4 h 1104"/>
                <a:gd name="T8" fmla="*/ 0 w 906"/>
                <a:gd name="T9" fmla="*/ 58 h 1104"/>
                <a:gd name="T10" fmla="*/ 0 w 906"/>
                <a:gd name="T11" fmla="*/ 116 h 1104"/>
                <a:gd name="T12" fmla="*/ 13 w 906"/>
                <a:gd name="T13" fmla="*/ 116 h 1104"/>
                <a:gd name="T14" fmla="*/ 137 w 906"/>
                <a:gd name="T15" fmla="*/ 240 h 1104"/>
                <a:gd name="T16" fmla="*/ 137 w 906"/>
                <a:gd name="T17" fmla="*/ 1103 h 1104"/>
                <a:gd name="T18" fmla="*/ 345 w 906"/>
                <a:gd name="T19" fmla="*/ 1103 h 1104"/>
                <a:gd name="T20" fmla="*/ 345 w 906"/>
                <a:gd name="T21" fmla="*/ 709 h 1104"/>
                <a:gd name="T22" fmla="*/ 560 w 906"/>
                <a:gd name="T23" fmla="*/ 800 h 1104"/>
                <a:gd name="T24" fmla="*/ 896 w 906"/>
                <a:gd name="T25" fmla="*/ 390 h 1104"/>
                <a:gd name="T26" fmla="*/ 577 w 906"/>
                <a:gd name="T27" fmla="*/ 4 h 1104"/>
                <a:gd name="T28" fmla="*/ 515 w 906"/>
                <a:gd name="T29" fmla="*/ 120 h 1104"/>
                <a:gd name="T30" fmla="*/ 672 w 906"/>
                <a:gd name="T31" fmla="*/ 394 h 1104"/>
                <a:gd name="T32" fmla="*/ 515 w 906"/>
                <a:gd name="T33" fmla="*/ 688 h 1104"/>
                <a:gd name="T34" fmla="*/ 349 w 906"/>
                <a:gd name="T35" fmla="*/ 456 h 1104"/>
                <a:gd name="T36" fmla="*/ 349 w 906"/>
                <a:gd name="T37" fmla="*/ 390 h 1104"/>
                <a:gd name="T38" fmla="*/ 515 w 906"/>
                <a:gd name="T39" fmla="*/ 120 h 1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906" h="1104">
                  <a:moveTo>
                    <a:pt x="577" y="4"/>
                  </a:moveTo>
                  <a:cubicBezTo>
                    <a:pt x="498" y="4"/>
                    <a:pt x="424" y="41"/>
                    <a:pt x="357" y="112"/>
                  </a:cubicBezTo>
                  <a:cubicBezTo>
                    <a:pt x="357" y="75"/>
                    <a:pt x="357" y="0"/>
                    <a:pt x="357" y="0"/>
                  </a:cubicBezTo>
                  <a:lnTo>
                    <a:pt x="336" y="4"/>
                  </a:lnTo>
                  <a:lnTo>
                    <a:pt x="0" y="58"/>
                  </a:lnTo>
                  <a:lnTo>
                    <a:pt x="0" y="116"/>
                  </a:lnTo>
                  <a:lnTo>
                    <a:pt x="13" y="116"/>
                  </a:lnTo>
                  <a:cubicBezTo>
                    <a:pt x="117" y="120"/>
                    <a:pt x="137" y="141"/>
                    <a:pt x="137" y="240"/>
                  </a:cubicBezTo>
                  <a:lnTo>
                    <a:pt x="137" y="1103"/>
                  </a:lnTo>
                  <a:lnTo>
                    <a:pt x="345" y="1103"/>
                  </a:lnTo>
                  <a:cubicBezTo>
                    <a:pt x="345" y="1103"/>
                    <a:pt x="345" y="775"/>
                    <a:pt x="345" y="709"/>
                  </a:cubicBezTo>
                  <a:cubicBezTo>
                    <a:pt x="382" y="755"/>
                    <a:pt x="444" y="800"/>
                    <a:pt x="560" y="800"/>
                  </a:cubicBezTo>
                  <a:cubicBezTo>
                    <a:pt x="780" y="800"/>
                    <a:pt x="896" y="659"/>
                    <a:pt x="896" y="390"/>
                  </a:cubicBezTo>
                  <a:cubicBezTo>
                    <a:pt x="905" y="145"/>
                    <a:pt x="784" y="4"/>
                    <a:pt x="577" y="4"/>
                  </a:cubicBezTo>
                  <a:close/>
                  <a:moveTo>
                    <a:pt x="515" y="120"/>
                  </a:moveTo>
                  <a:cubicBezTo>
                    <a:pt x="656" y="120"/>
                    <a:pt x="672" y="274"/>
                    <a:pt x="672" y="394"/>
                  </a:cubicBezTo>
                  <a:cubicBezTo>
                    <a:pt x="672" y="593"/>
                    <a:pt x="623" y="688"/>
                    <a:pt x="515" y="688"/>
                  </a:cubicBezTo>
                  <a:cubicBezTo>
                    <a:pt x="378" y="688"/>
                    <a:pt x="349" y="560"/>
                    <a:pt x="349" y="456"/>
                  </a:cubicBezTo>
                  <a:lnTo>
                    <a:pt x="349" y="390"/>
                  </a:lnTo>
                  <a:cubicBezTo>
                    <a:pt x="353" y="307"/>
                    <a:pt x="370" y="120"/>
                    <a:pt x="515" y="120"/>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18" name="Freeform 12">
              <a:extLst>
                <a:ext uri="{FF2B5EF4-FFF2-40B4-BE49-F238E27FC236}">
                  <a16:creationId xmlns:a16="http://schemas.microsoft.com/office/drawing/2014/main" id="{F9D6BD53-2FE1-CE44-92D5-50802875B26C}"/>
                </a:ext>
              </a:extLst>
            </p:cNvPr>
            <p:cNvSpPr>
              <a:spLocks noChangeArrowheads="1"/>
            </p:cNvSpPr>
            <p:nvPr/>
          </p:nvSpPr>
          <p:spPr bwMode="auto">
            <a:xfrm>
              <a:off x="4013200" y="4198938"/>
              <a:ext cx="123825" cy="282575"/>
            </a:xfrm>
            <a:custGeom>
              <a:avLst/>
              <a:gdLst>
                <a:gd name="T0" fmla="*/ 0 w 345"/>
                <a:gd name="T1" fmla="*/ 58 h 785"/>
                <a:gd name="T2" fmla="*/ 0 w 345"/>
                <a:gd name="T3" fmla="*/ 116 h 785"/>
                <a:gd name="T4" fmla="*/ 12 w 345"/>
                <a:gd name="T5" fmla="*/ 116 h 785"/>
                <a:gd name="T6" fmla="*/ 137 w 345"/>
                <a:gd name="T7" fmla="*/ 240 h 785"/>
                <a:gd name="T8" fmla="*/ 137 w 345"/>
                <a:gd name="T9" fmla="*/ 784 h 785"/>
                <a:gd name="T10" fmla="*/ 344 w 345"/>
                <a:gd name="T11" fmla="*/ 784 h 785"/>
                <a:gd name="T12" fmla="*/ 344 w 345"/>
                <a:gd name="T13" fmla="*/ 0 h 785"/>
                <a:gd name="T14" fmla="*/ 328 w 345"/>
                <a:gd name="T15" fmla="*/ 4 h 785"/>
                <a:gd name="T16" fmla="*/ 0 w 345"/>
                <a:gd name="T17" fmla="*/ 58 h 7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45" h="785">
                  <a:moveTo>
                    <a:pt x="0" y="58"/>
                  </a:moveTo>
                  <a:lnTo>
                    <a:pt x="0" y="116"/>
                  </a:lnTo>
                  <a:lnTo>
                    <a:pt x="12" y="116"/>
                  </a:lnTo>
                  <a:cubicBezTo>
                    <a:pt x="116" y="120"/>
                    <a:pt x="137" y="141"/>
                    <a:pt x="137" y="240"/>
                  </a:cubicBezTo>
                  <a:lnTo>
                    <a:pt x="137" y="784"/>
                  </a:lnTo>
                  <a:lnTo>
                    <a:pt x="344" y="784"/>
                  </a:lnTo>
                  <a:lnTo>
                    <a:pt x="344" y="0"/>
                  </a:lnTo>
                  <a:lnTo>
                    <a:pt x="328" y="4"/>
                  </a:lnTo>
                  <a:lnTo>
                    <a:pt x="0" y="58"/>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19" name="Freeform 13">
              <a:extLst>
                <a:ext uri="{FF2B5EF4-FFF2-40B4-BE49-F238E27FC236}">
                  <a16:creationId xmlns:a16="http://schemas.microsoft.com/office/drawing/2014/main" id="{432EA4C5-D602-4148-99B5-0BF331DA5DED}"/>
                </a:ext>
              </a:extLst>
            </p:cNvPr>
            <p:cNvSpPr>
              <a:spLocks noChangeArrowheads="1"/>
            </p:cNvSpPr>
            <p:nvPr/>
          </p:nvSpPr>
          <p:spPr bwMode="auto">
            <a:xfrm>
              <a:off x="4056063" y="4084638"/>
              <a:ext cx="93662" cy="82550"/>
            </a:xfrm>
            <a:custGeom>
              <a:avLst/>
              <a:gdLst>
                <a:gd name="T0" fmla="*/ 129 w 262"/>
                <a:gd name="T1" fmla="*/ 228 h 229"/>
                <a:gd name="T2" fmla="*/ 261 w 262"/>
                <a:gd name="T3" fmla="*/ 112 h 229"/>
                <a:gd name="T4" fmla="*/ 133 w 262"/>
                <a:gd name="T5" fmla="*/ 0 h 229"/>
                <a:gd name="T6" fmla="*/ 4 w 262"/>
                <a:gd name="T7" fmla="*/ 112 h 229"/>
                <a:gd name="T8" fmla="*/ 129 w 262"/>
                <a:gd name="T9" fmla="*/ 228 h 229"/>
              </a:gdLst>
              <a:ahLst/>
              <a:cxnLst>
                <a:cxn ang="0">
                  <a:pos x="T0" y="T1"/>
                </a:cxn>
                <a:cxn ang="0">
                  <a:pos x="T2" y="T3"/>
                </a:cxn>
                <a:cxn ang="0">
                  <a:pos x="T4" y="T5"/>
                </a:cxn>
                <a:cxn ang="0">
                  <a:pos x="T6" y="T7"/>
                </a:cxn>
                <a:cxn ang="0">
                  <a:pos x="T8" y="T9"/>
                </a:cxn>
              </a:cxnLst>
              <a:rect l="0" t="0" r="r" b="b"/>
              <a:pathLst>
                <a:path w="262" h="229">
                  <a:moveTo>
                    <a:pt x="129" y="228"/>
                  </a:moveTo>
                  <a:cubicBezTo>
                    <a:pt x="199" y="228"/>
                    <a:pt x="261" y="178"/>
                    <a:pt x="261" y="112"/>
                  </a:cubicBezTo>
                  <a:cubicBezTo>
                    <a:pt x="261" y="49"/>
                    <a:pt x="203" y="0"/>
                    <a:pt x="133" y="0"/>
                  </a:cubicBezTo>
                  <a:cubicBezTo>
                    <a:pt x="62" y="0"/>
                    <a:pt x="4" y="49"/>
                    <a:pt x="4" y="112"/>
                  </a:cubicBezTo>
                  <a:cubicBezTo>
                    <a:pt x="0" y="178"/>
                    <a:pt x="58" y="228"/>
                    <a:pt x="129" y="228"/>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20" name="Freeform 14">
              <a:extLst>
                <a:ext uri="{FF2B5EF4-FFF2-40B4-BE49-F238E27FC236}">
                  <a16:creationId xmlns:a16="http://schemas.microsoft.com/office/drawing/2014/main" id="{4FD60C1F-71C0-A243-9C31-2968452914EA}"/>
                </a:ext>
              </a:extLst>
            </p:cNvPr>
            <p:cNvSpPr>
              <a:spLocks noChangeArrowheads="1"/>
            </p:cNvSpPr>
            <p:nvPr/>
          </p:nvSpPr>
          <p:spPr bwMode="auto">
            <a:xfrm>
              <a:off x="4211638" y="4200525"/>
              <a:ext cx="244475" cy="280988"/>
            </a:xfrm>
            <a:custGeom>
              <a:avLst/>
              <a:gdLst>
                <a:gd name="T0" fmla="*/ 676 w 677"/>
                <a:gd name="T1" fmla="*/ 174 h 781"/>
                <a:gd name="T2" fmla="*/ 676 w 677"/>
                <a:gd name="T3" fmla="*/ 12 h 781"/>
                <a:gd name="T4" fmla="*/ 663 w 677"/>
                <a:gd name="T5" fmla="*/ 12 h 781"/>
                <a:gd name="T6" fmla="*/ 564 w 677"/>
                <a:gd name="T7" fmla="*/ 4 h 781"/>
                <a:gd name="T8" fmla="*/ 348 w 677"/>
                <a:gd name="T9" fmla="*/ 158 h 781"/>
                <a:gd name="T10" fmla="*/ 348 w 677"/>
                <a:gd name="T11" fmla="*/ 0 h 781"/>
                <a:gd name="T12" fmla="*/ 331 w 677"/>
                <a:gd name="T13" fmla="*/ 0 h 781"/>
                <a:gd name="T14" fmla="*/ 0 w 677"/>
                <a:gd name="T15" fmla="*/ 54 h 781"/>
                <a:gd name="T16" fmla="*/ 0 w 677"/>
                <a:gd name="T17" fmla="*/ 112 h 781"/>
                <a:gd name="T18" fmla="*/ 12 w 677"/>
                <a:gd name="T19" fmla="*/ 112 h 781"/>
                <a:gd name="T20" fmla="*/ 141 w 677"/>
                <a:gd name="T21" fmla="*/ 236 h 781"/>
                <a:gd name="T22" fmla="*/ 141 w 677"/>
                <a:gd name="T23" fmla="*/ 780 h 781"/>
                <a:gd name="T24" fmla="*/ 348 w 677"/>
                <a:gd name="T25" fmla="*/ 780 h 781"/>
                <a:gd name="T26" fmla="*/ 348 w 677"/>
                <a:gd name="T27" fmla="*/ 390 h 781"/>
                <a:gd name="T28" fmla="*/ 568 w 677"/>
                <a:gd name="T29" fmla="*/ 170 h 781"/>
                <a:gd name="T30" fmla="*/ 643 w 677"/>
                <a:gd name="T31" fmla="*/ 183 h 781"/>
                <a:gd name="T32" fmla="*/ 676 w 677"/>
                <a:gd name="T33" fmla="*/ 191 h 781"/>
                <a:gd name="T34" fmla="*/ 676 w 677"/>
                <a:gd name="T35" fmla="*/ 174 h 7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77" h="781">
                  <a:moveTo>
                    <a:pt x="676" y="174"/>
                  </a:moveTo>
                  <a:lnTo>
                    <a:pt x="676" y="12"/>
                  </a:lnTo>
                  <a:lnTo>
                    <a:pt x="663" y="12"/>
                  </a:lnTo>
                  <a:cubicBezTo>
                    <a:pt x="630" y="8"/>
                    <a:pt x="593" y="4"/>
                    <a:pt x="564" y="4"/>
                  </a:cubicBezTo>
                  <a:cubicBezTo>
                    <a:pt x="443" y="4"/>
                    <a:pt x="381" y="91"/>
                    <a:pt x="348" y="158"/>
                  </a:cubicBezTo>
                  <a:cubicBezTo>
                    <a:pt x="348" y="95"/>
                    <a:pt x="348" y="0"/>
                    <a:pt x="348" y="0"/>
                  </a:cubicBezTo>
                  <a:lnTo>
                    <a:pt x="331" y="0"/>
                  </a:lnTo>
                  <a:lnTo>
                    <a:pt x="0" y="54"/>
                  </a:lnTo>
                  <a:lnTo>
                    <a:pt x="0" y="112"/>
                  </a:lnTo>
                  <a:lnTo>
                    <a:pt x="12" y="112"/>
                  </a:lnTo>
                  <a:cubicBezTo>
                    <a:pt x="116" y="116"/>
                    <a:pt x="141" y="137"/>
                    <a:pt x="141" y="236"/>
                  </a:cubicBezTo>
                  <a:lnTo>
                    <a:pt x="141" y="780"/>
                  </a:lnTo>
                  <a:lnTo>
                    <a:pt x="348" y="780"/>
                  </a:lnTo>
                  <a:lnTo>
                    <a:pt x="348" y="390"/>
                  </a:lnTo>
                  <a:cubicBezTo>
                    <a:pt x="348" y="324"/>
                    <a:pt x="369" y="170"/>
                    <a:pt x="568" y="170"/>
                  </a:cubicBezTo>
                  <a:cubicBezTo>
                    <a:pt x="593" y="170"/>
                    <a:pt x="618" y="178"/>
                    <a:pt x="643" y="183"/>
                  </a:cubicBezTo>
                  <a:lnTo>
                    <a:pt x="676" y="191"/>
                  </a:lnTo>
                  <a:lnTo>
                    <a:pt x="676" y="174"/>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21" name="Freeform 15">
              <a:extLst>
                <a:ext uri="{FF2B5EF4-FFF2-40B4-BE49-F238E27FC236}">
                  <a16:creationId xmlns:a16="http://schemas.microsoft.com/office/drawing/2014/main" id="{EB650860-5485-BF4E-9DAE-9C0BE14B4915}"/>
                </a:ext>
              </a:extLst>
            </p:cNvPr>
            <p:cNvSpPr>
              <a:spLocks noChangeArrowheads="1"/>
            </p:cNvSpPr>
            <p:nvPr/>
          </p:nvSpPr>
          <p:spPr bwMode="auto">
            <a:xfrm>
              <a:off x="4486275" y="4200525"/>
              <a:ext cx="266700" cy="287338"/>
            </a:xfrm>
            <a:custGeom>
              <a:avLst/>
              <a:gdLst>
                <a:gd name="T0" fmla="*/ 738 w 743"/>
                <a:gd name="T1" fmla="*/ 315 h 797"/>
                <a:gd name="T2" fmla="*/ 390 w 743"/>
                <a:gd name="T3" fmla="*/ 0 h 797"/>
                <a:gd name="T4" fmla="*/ 0 w 743"/>
                <a:gd name="T5" fmla="*/ 373 h 797"/>
                <a:gd name="T6" fmla="*/ 456 w 743"/>
                <a:gd name="T7" fmla="*/ 796 h 797"/>
                <a:gd name="T8" fmla="*/ 713 w 743"/>
                <a:gd name="T9" fmla="*/ 755 h 797"/>
                <a:gd name="T10" fmla="*/ 726 w 743"/>
                <a:gd name="T11" fmla="*/ 751 h 797"/>
                <a:gd name="T12" fmla="*/ 726 w 743"/>
                <a:gd name="T13" fmla="*/ 651 h 797"/>
                <a:gd name="T14" fmla="*/ 705 w 743"/>
                <a:gd name="T15" fmla="*/ 660 h 797"/>
                <a:gd name="T16" fmla="*/ 543 w 743"/>
                <a:gd name="T17" fmla="*/ 684 h 797"/>
                <a:gd name="T18" fmla="*/ 232 w 743"/>
                <a:gd name="T19" fmla="*/ 332 h 797"/>
                <a:gd name="T20" fmla="*/ 742 w 743"/>
                <a:gd name="T21" fmla="*/ 332 h 797"/>
                <a:gd name="T22" fmla="*/ 742 w 743"/>
                <a:gd name="T23" fmla="*/ 315 h 797"/>
                <a:gd name="T24" fmla="*/ 738 w 743"/>
                <a:gd name="T25" fmla="*/ 315 h 797"/>
                <a:gd name="T26" fmla="*/ 386 w 743"/>
                <a:gd name="T27" fmla="*/ 83 h 797"/>
                <a:gd name="T28" fmla="*/ 531 w 743"/>
                <a:gd name="T29" fmla="*/ 236 h 797"/>
                <a:gd name="T30" fmla="*/ 228 w 743"/>
                <a:gd name="T31" fmla="*/ 236 h 797"/>
                <a:gd name="T32" fmla="*/ 386 w 743"/>
                <a:gd name="T33" fmla="*/ 83 h 7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743" h="797">
                  <a:moveTo>
                    <a:pt x="738" y="315"/>
                  </a:moveTo>
                  <a:cubicBezTo>
                    <a:pt x="738" y="104"/>
                    <a:pt x="622" y="0"/>
                    <a:pt x="390" y="0"/>
                  </a:cubicBezTo>
                  <a:cubicBezTo>
                    <a:pt x="128" y="0"/>
                    <a:pt x="0" y="124"/>
                    <a:pt x="0" y="373"/>
                  </a:cubicBezTo>
                  <a:cubicBezTo>
                    <a:pt x="0" y="639"/>
                    <a:pt x="170" y="796"/>
                    <a:pt x="456" y="796"/>
                  </a:cubicBezTo>
                  <a:cubicBezTo>
                    <a:pt x="581" y="796"/>
                    <a:pt x="676" y="763"/>
                    <a:pt x="713" y="755"/>
                  </a:cubicBezTo>
                  <a:lnTo>
                    <a:pt x="726" y="751"/>
                  </a:lnTo>
                  <a:lnTo>
                    <a:pt x="726" y="651"/>
                  </a:lnTo>
                  <a:lnTo>
                    <a:pt x="705" y="660"/>
                  </a:lnTo>
                  <a:cubicBezTo>
                    <a:pt x="672" y="672"/>
                    <a:pt x="610" y="684"/>
                    <a:pt x="543" y="684"/>
                  </a:cubicBezTo>
                  <a:cubicBezTo>
                    <a:pt x="319" y="684"/>
                    <a:pt x="236" y="498"/>
                    <a:pt x="232" y="332"/>
                  </a:cubicBezTo>
                  <a:cubicBezTo>
                    <a:pt x="261" y="332"/>
                    <a:pt x="742" y="332"/>
                    <a:pt x="742" y="332"/>
                  </a:cubicBezTo>
                  <a:lnTo>
                    <a:pt x="742" y="315"/>
                  </a:lnTo>
                  <a:lnTo>
                    <a:pt x="738" y="315"/>
                  </a:lnTo>
                  <a:close/>
                  <a:moveTo>
                    <a:pt x="386" y="83"/>
                  </a:moveTo>
                  <a:cubicBezTo>
                    <a:pt x="498" y="83"/>
                    <a:pt x="527" y="166"/>
                    <a:pt x="531" y="236"/>
                  </a:cubicBezTo>
                  <a:cubicBezTo>
                    <a:pt x="506" y="236"/>
                    <a:pt x="257" y="236"/>
                    <a:pt x="228" y="236"/>
                  </a:cubicBezTo>
                  <a:cubicBezTo>
                    <a:pt x="232" y="183"/>
                    <a:pt x="269" y="83"/>
                    <a:pt x="386" y="83"/>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22" name="Freeform 16">
              <a:extLst>
                <a:ext uri="{FF2B5EF4-FFF2-40B4-BE49-F238E27FC236}">
                  <a16:creationId xmlns:a16="http://schemas.microsoft.com/office/drawing/2014/main" id="{3639B162-E315-9944-9634-88539E445D85}"/>
                </a:ext>
              </a:extLst>
            </p:cNvPr>
            <p:cNvSpPr>
              <a:spLocks noChangeArrowheads="1"/>
            </p:cNvSpPr>
            <p:nvPr/>
          </p:nvSpPr>
          <p:spPr bwMode="auto">
            <a:xfrm>
              <a:off x="5210175" y="4071938"/>
              <a:ext cx="314325" cy="409575"/>
            </a:xfrm>
            <a:custGeom>
              <a:avLst/>
              <a:gdLst>
                <a:gd name="T0" fmla="*/ 634 w 872"/>
                <a:gd name="T1" fmla="*/ 357 h 1138"/>
                <a:gd name="T2" fmla="*/ 348 w 872"/>
                <a:gd name="T3" fmla="*/ 523 h 1138"/>
                <a:gd name="T4" fmla="*/ 348 w 872"/>
                <a:gd name="T5" fmla="*/ 0 h 1138"/>
                <a:gd name="T6" fmla="*/ 332 w 872"/>
                <a:gd name="T7" fmla="*/ 4 h 1138"/>
                <a:gd name="T8" fmla="*/ 0 w 872"/>
                <a:gd name="T9" fmla="*/ 46 h 1138"/>
                <a:gd name="T10" fmla="*/ 0 w 872"/>
                <a:gd name="T11" fmla="*/ 104 h 1138"/>
                <a:gd name="T12" fmla="*/ 16 w 872"/>
                <a:gd name="T13" fmla="*/ 104 h 1138"/>
                <a:gd name="T14" fmla="*/ 141 w 872"/>
                <a:gd name="T15" fmla="*/ 233 h 1138"/>
                <a:gd name="T16" fmla="*/ 141 w 872"/>
                <a:gd name="T17" fmla="*/ 1137 h 1138"/>
                <a:gd name="T18" fmla="*/ 348 w 872"/>
                <a:gd name="T19" fmla="*/ 1137 h 1138"/>
                <a:gd name="T20" fmla="*/ 348 w 872"/>
                <a:gd name="T21" fmla="*/ 747 h 1138"/>
                <a:gd name="T22" fmla="*/ 547 w 872"/>
                <a:gd name="T23" fmla="*/ 494 h 1138"/>
                <a:gd name="T24" fmla="*/ 663 w 872"/>
                <a:gd name="T25" fmla="*/ 660 h 1138"/>
                <a:gd name="T26" fmla="*/ 663 w 872"/>
                <a:gd name="T27" fmla="*/ 1137 h 1138"/>
                <a:gd name="T28" fmla="*/ 871 w 872"/>
                <a:gd name="T29" fmla="*/ 1137 h 1138"/>
                <a:gd name="T30" fmla="*/ 871 w 872"/>
                <a:gd name="T31" fmla="*/ 635 h 1138"/>
                <a:gd name="T32" fmla="*/ 634 w 872"/>
                <a:gd name="T33" fmla="*/ 357 h 1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72" h="1138">
                  <a:moveTo>
                    <a:pt x="634" y="357"/>
                  </a:moveTo>
                  <a:cubicBezTo>
                    <a:pt x="481" y="357"/>
                    <a:pt x="394" y="452"/>
                    <a:pt x="348" y="523"/>
                  </a:cubicBezTo>
                  <a:cubicBezTo>
                    <a:pt x="348" y="440"/>
                    <a:pt x="348" y="0"/>
                    <a:pt x="348" y="0"/>
                  </a:cubicBezTo>
                  <a:lnTo>
                    <a:pt x="332" y="4"/>
                  </a:lnTo>
                  <a:lnTo>
                    <a:pt x="0" y="46"/>
                  </a:lnTo>
                  <a:lnTo>
                    <a:pt x="0" y="104"/>
                  </a:lnTo>
                  <a:lnTo>
                    <a:pt x="16" y="104"/>
                  </a:lnTo>
                  <a:cubicBezTo>
                    <a:pt x="120" y="108"/>
                    <a:pt x="141" y="133"/>
                    <a:pt x="141" y="233"/>
                  </a:cubicBezTo>
                  <a:lnTo>
                    <a:pt x="141" y="1137"/>
                  </a:lnTo>
                  <a:lnTo>
                    <a:pt x="348" y="1137"/>
                  </a:lnTo>
                  <a:lnTo>
                    <a:pt x="348" y="747"/>
                  </a:lnTo>
                  <a:cubicBezTo>
                    <a:pt x="348" y="606"/>
                    <a:pt x="456" y="494"/>
                    <a:pt x="547" y="494"/>
                  </a:cubicBezTo>
                  <a:cubicBezTo>
                    <a:pt x="663" y="494"/>
                    <a:pt x="663" y="581"/>
                    <a:pt x="663" y="660"/>
                  </a:cubicBezTo>
                  <a:lnTo>
                    <a:pt x="663" y="1137"/>
                  </a:lnTo>
                  <a:lnTo>
                    <a:pt x="871" y="1137"/>
                  </a:lnTo>
                  <a:lnTo>
                    <a:pt x="871" y="635"/>
                  </a:lnTo>
                  <a:cubicBezTo>
                    <a:pt x="871" y="552"/>
                    <a:pt x="871" y="357"/>
                    <a:pt x="634" y="357"/>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23" name="Freeform 17">
              <a:extLst>
                <a:ext uri="{FF2B5EF4-FFF2-40B4-BE49-F238E27FC236}">
                  <a16:creationId xmlns:a16="http://schemas.microsoft.com/office/drawing/2014/main" id="{A01E662E-D4C5-DB43-8567-E5D9253BE793}"/>
                </a:ext>
              </a:extLst>
            </p:cNvPr>
            <p:cNvSpPr>
              <a:spLocks noChangeArrowheads="1"/>
            </p:cNvSpPr>
            <p:nvPr/>
          </p:nvSpPr>
          <p:spPr bwMode="auto">
            <a:xfrm>
              <a:off x="5594350" y="4200525"/>
              <a:ext cx="266700" cy="287338"/>
            </a:xfrm>
            <a:custGeom>
              <a:avLst/>
              <a:gdLst>
                <a:gd name="T0" fmla="*/ 742 w 743"/>
                <a:gd name="T1" fmla="*/ 315 h 797"/>
                <a:gd name="T2" fmla="*/ 394 w 743"/>
                <a:gd name="T3" fmla="*/ 0 h 797"/>
                <a:gd name="T4" fmla="*/ 0 w 743"/>
                <a:gd name="T5" fmla="*/ 373 h 797"/>
                <a:gd name="T6" fmla="*/ 456 w 743"/>
                <a:gd name="T7" fmla="*/ 796 h 797"/>
                <a:gd name="T8" fmla="*/ 713 w 743"/>
                <a:gd name="T9" fmla="*/ 755 h 797"/>
                <a:gd name="T10" fmla="*/ 726 w 743"/>
                <a:gd name="T11" fmla="*/ 751 h 797"/>
                <a:gd name="T12" fmla="*/ 726 w 743"/>
                <a:gd name="T13" fmla="*/ 651 h 797"/>
                <a:gd name="T14" fmla="*/ 705 w 743"/>
                <a:gd name="T15" fmla="*/ 660 h 797"/>
                <a:gd name="T16" fmla="*/ 543 w 743"/>
                <a:gd name="T17" fmla="*/ 684 h 797"/>
                <a:gd name="T18" fmla="*/ 232 w 743"/>
                <a:gd name="T19" fmla="*/ 332 h 797"/>
                <a:gd name="T20" fmla="*/ 742 w 743"/>
                <a:gd name="T21" fmla="*/ 332 h 797"/>
                <a:gd name="T22" fmla="*/ 742 w 743"/>
                <a:gd name="T23" fmla="*/ 315 h 797"/>
                <a:gd name="T24" fmla="*/ 386 w 743"/>
                <a:gd name="T25" fmla="*/ 83 h 797"/>
                <a:gd name="T26" fmla="*/ 531 w 743"/>
                <a:gd name="T27" fmla="*/ 236 h 797"/>
                <a:gd name="T28" fmla="*/ 228 w 743"/>
                <a:gd name="T29" fmla="*/ 236 h 797"/>
                <a:gd name="T30" fmla="*/ 386 w 743"/>
                <a:gd name="T31" fmla="*/ 83 h 7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743" h="797">
                  <a:moveTo>
                    <a:pt x="742" y="315"/>
                  </a:moveTo>
                  <a:cubicBezTo>
                    <a:pt x="742" y="104"/>
                    <a:pt x="626" y="0"/>
                    <a:pt x="394" y="0"/>
                  </a:cubicBezTo>
                  <a:cubicBezTo>
                    <a:pt x="133" y="0"/>
                    <a:pt x="0" y="124"/>
                    <a:pt x="0" y="373"/>
                  </a:cubicBezTo>
                  <a:cubicBezTo>
                    <a:pt x="0" y="639"/>
                    <a:pt x="170" y="796"/>
                    <a:pt x="456" y="796"/>
                  </a:cubicBezTo>
                  <a:cubicBezTo>
                    <a:pt x="581" y="796"/>
                    <a:pt x="676" y="763"/>
                    <a:pt x="713" y="755"/>
                  </a:cubicBezTo>
                  <a:lnTo>
                    <a:pt x="726" y="751"/>
                  </a:lnTo>
                  <a:lnTo>
                    <a:pt x="726" y="651"/>
                  </a:lnTo>
                  <a:lnTo>
                    <a:pt x="705" y="660"/>
                  </a:lnTo>
                  <a:cubicBezTo>
                    <a:pt x="672" y="672"/>
                    <a:pt x="610" y="684"/>
                    <a:pt x="543" y="684"/>
                  </a:cubicBezTo>
                  <a:cubicBezTo>
                    <a:pt x="319" y="684"/>
                    <a:pt x="236" y="498"/>
                    <a:pt x="232" y="332"/>
                  </a:cubicBezTo>
                  <a:cubicBezTo>
                    <a:pt x="261" y="332"/>
                    <a:pt x="742" y="332"/>
                    <a:pt x="742" y="332"/>
                  </a:cubicBezTo>
                  <a:lnTo>
                    <a:pt x="742" y="315"/>
                  </a:lnTo>
                  <a:close/>
                  <a:moveTo>
                    <a:pt x="386" y="83"/>
                  </a:moveTo>
                  <a:cubicBezTo>
                    <a:pt x="498" y="83"/>
                    <a:pt x="527" y="166"/>
                    <a:pt x="531" y="236"/>
                  </a:cubicBezTo>
                  <a:cubicBezTo>
                    <a:pt x="506" y="236"/>
                    <a:pt x="257" y="236"/>
                    <a:pt x="228" y="236"/>
                  </a:cubicBezTo>
                  <a:cubicBezTo>
                    <a:pt x="236" y="183"/>
                    <a:pt x="270" y="83"/>
                    <a:pt x="386" y="83"/>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24" name="Freeform 18">
              <a:extLst>
                <a:ext uri="{FF2B5EF4-FFF2-40B4-BE49-F238E27FC236}">
                  <a16:creationId xmlns:a16="http://schemas.microsoft.com/office/drawing/2014/main" id="{7679E9D1-6292-4845-9FEC-1DFBC6D8B049}"/>
                </a:ext>
              </a:extLst>
            </p:cNvPr>
            <p:cNvSpPr>
              <a:spLocks noChangeArrowheads="1"/>
            </p:cNvSpPr>
            <p:nvPr/>
          </p:nvSpPr>
          <p:spPr bwMode="auto">
            <a:xfrm>
              <a:off x="4964113" y="4121150"/>
              <a:ext cx="212725" cy="366713"/>
            </a:xfrm>
            <a:custGeom>
              <a:avLst/>
              <a:gdLst>
                <a:gd name="T0" fmla="*/ 141 w 589"/>
                <a:gd name="T1" fmla="*/ 237 h 1017"/>
                <a:gd name="T2" fmla="*/ 0 w 589"/>
                <a:gd name="T3" fmla="*/ 237 h 1017"/>
                <a:gd name="T4" fmla="*/ 0 w 589"/>
                <a:gd name="T5" fmla="*/ 328 h 1017"/>
                <a:gd name="T6" fmla="*/ 141 w 589"/>
                <a:gd name="T7" fmla="*/ 328 h 1017"/>
                <a:gd name="T8" fmla="*/ 141 w 589"/>
                <a:gd name="T9" fmla="*/ 797 h 1017"/>
                <a:gd name="T10" fmla="*/ 427 w 589"/>
                <a:gd name="T11" fmla="*/ 1016 h 1017"/>
                <a:gd name="T12" fmla="*/ 551 w 589"/>
                <a:gd name="T13" fmla="*/ 1004 h 1017"/>
                <a:gd name="T14" fmla="*/ 564 w 589"/>
                <a:gd name="T15" fmla="*/ 1004 h 1017"/>
                <a:gd name="T16" fmla="*/ 564 w 589"/>
                <a:gd name="T17" fmla="*/ 909 h 1017"/>
                <a:gd name="T18" fmla="*/ 547 w 589"/>
                <a:gd name="T19" fmla="*/ 913 h 1017"/>
                <a:gd name="T20" fmla="*/ 485 w 589"/>
                <a:gd name="T21" fmla="*/ 917 h 1017"/>
                <a:gd name="T22" fmla="*/ 352 w 589"/>
                <a:gd name="T23" fmla="*/ 772 h 1017"/>
                <a:gd name="T24" fmla="*/ 352 w 589"/>
                <a:gd name="T25" fmla="*/ 328 h 1017"/>
                <a:gd name="T26" fmla="*/ 588 w 589"/>
                <a:gd name="T27" fmla="*/ 328 h 1017"/>
                <a:gd name="T28" fmla="*/ 588 w 589"/>
                <a:gd name="T29" fmla="*/ 237 h 1017"/>
                <a:gd name="T30" fmla="*/ 352 w 589"/>
                <a:gd name="T31" fmla="*/ 237 h 1017"/>
                <a:gd name="T32" fmla="*/ 352 w 589"/>
                <a:gd name="T33" fmla="*/ 0 h 1017"/>
                <a:gd name="T34" fmla="*/ 141 w 589"/>
                <a:gd name="T35" fmla="*/ 0 h 1017"/>
                <a:gd name="T36" fmla="*/ 141 w 589"/>
                <a:gd name="T37" fmla="*/ 237 h 10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89" h="1017">
                  <a:moveTo>
                    <a:pt x="141" y="237"/>
                  </a:moveTo>
                  <a:lnTo>
                    <a:pt x="0" y="237"/>
                  </a:lnTo>
                  <a:lnTo>
                    <a:pt x="0" y="328"/>
                  </a:lnTo>
                  <a:lnTo>
                    <a:pt x="141" y="328"/>
                  </a:lnTo>
                  <a:lnTo>
                    <a:pt x="141" y="797"/>
                  </a:lnTo>
                  <a:cubicBezTo>
                    <a:pt x="141" y="1000"/>
                    <a:pt x="270" y="1016"/>
                    <a:pt x="427" y="1016"/>
                  </a:cubicBezTo>
                  <a:cubicBezTo>
                    <a:pt x="464" y="1016"/>
                    <a:pt x="505" y="1012"/>
                    <a:pt x="551" y="1004"/>
                  </a:cubicBezTo>
                  <a:lnTo>
                    <a:pt x="564" y="1004"/>
                  </a:lnTo>
                  <a:lnTo>
                    <a:pt x="564" y="909"/>
                  </a:lnTo>
                  <a:lnTo>
                    <a:pt x="547" y="913"/>
                  </a:lnTo>
                  <a:cubicBezTo>
                    <a:pt x="530" y="917"/>
                    <a:pt x="510" y="917"/>
                    <a:pt x="485" y="917"/>
                  </a:cubicBezTo>
                  <a:cubicBezTo>
                    <a:pt x="360" y="917"/>
                    <a:pt x="352" y="880"/>
                    <a:pt x="352" y="772"/>
                  </a:cubicBezTo>
                  <a:lnTo>
                    <a:pt x="352" y="328"/>
                  </a:lnTo>
                  <a:lnTo>
                    <a:pt x="588" y="328"/>
                  </a:lnTo>
                  <a:lnTo>
                    <a:pt x="588" y="237"/>
                  </a:lnTo>
                  <a:lnTo>
                    <a:pt x="352" y="237"/>
                  </a:lnTo>
                  <a:lnTo>
                    <a:pt x="352" y="0"/>
                  </a:lnTo>
                  <a:lnTo>
                    <a:pt x="141" y="0"/>
                  </a:lnTo>
                  <a:lnTo>
                    <a:pt x="141" y="237"/>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25" name="Freeform 19">
              <a:extLst>
                <a:ext uri="{FF2B5EF4-FFF2-40B4-BE49-F238E27FC236}">
                  <a16:creationId xmlns:a16="http://schemas.microsoft.com/office/drawing/2014/main" id="{FECDD6A7-9B36-3B40-8AF1-FD48E9C80639}"/>
                </a:ext>
              </a:extLst>
            </p:cNvPr>
            <p:cNvSpPr>
              <a:spLocks noChangeArrowheads="1"/>
            </p:cNvSpPr>
            <p:nvPr/>
          </p:nvSpPr>
          <p:spPr bwMode="auto">
            <a:xfrm>
              <a:off x="6049963" y="4087813"/>
              <a:ext cx="450850" cy="395287"/>
            </a:xfrm>
            <a:custGeom>
              <a:avLst/>
              <a:gdLst>
                <a:gd name="T0" fmla="*/ 1245 w 1254"/>
                <a:gd name="T1" fmla="*/ 0 h 1096"/>
                <a:gd name="T2" fmla="*/ 1033 w 1254"/>
                <a:gd name="T3" fmla="*/ 0 h 1096"/>
                <a:gd name="T4" fmla="*/ 1033 w 1254"/>
                <a:gd name="T5" fmla="*/ 829 h 1096"/>
                <a:gd name="T6" fmla="*/ 485 w 1254"/>
                <a:gd name="T7" fmla="*/ 0 h 1096"/>
                <a:gd name="T8" fmla="*/ 0 w 1254"/>
                <a:gd name="T9" fmla="*/ 0 h 1096"/>
                <a:gd name="T10" fmla="*/ 0 w 1254"/>
                <a:gd name="T11" fmla="*/ 62 h 1096"/>
                <a:gd name="T12" fmla="*/ 42 w 1254"/>
                <a:gd name="T13" fmla="*/ 70 h 1096"/>
                <a:gd name="T14" fmla="*/ 178 w 1254"/>
                <a:gd name="T15" fmla="*/ 220 h 1096"/>
                <a:gd name="T16" fmla="*/ 178 w 1254"/>
                <a:gd name="T17" fmla="*/ 1095 h 1096"/>
                <a:gd name="T18" fmla="*/ 403 w 1254"/>
                <a:gd name="T19" fmla="*/ 1095 h 1096"/>
                <a:gd name="T20" fmla="*/ 403 w 1254"/>
                <a:gd name="T21" fmla="*/ 228 h 1096"/>
                <a:gd name="T22" fmla="*/ 975 w 1254"/>
                <a:gd name="T23" fmla="*/ 1095 h 1096"/>
                <a:gd name="T24" fmla="*/ 1253 w 1254"/>
                <a:gd name="T25" fmla="*/ 1095 h 1096"/>
                <a:gd name="T26" fmla="*/ 1253 w 1254"/>
                <a:gd name="T27" fmla="*/ 0 h 1096"/>
                <a:gd name="T28" fmla="*/ 1245 w 1254"/>
                <a:gd name="T29" fmla="*/ 0 h 10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54" h="1096">
                  <a:moveTo>
                    <a:pt x="1245" y="0"/>
                  </a:moveTo>
                  <a:lnTo>
                    <a:pt x="1033" y="0"/>
                  </a:lnTo>
                  <a:cubicBezTo>
                    <a:pt x="1033" y="0"/>
                    <a:pt x="1033" y="751"/>
                    <a:pt x="1033" y="829"/>
                  </a:cubicBezTo>
                  <a:cubicBezTo>
                    <a:pt x="992" y="763"/>
                    <a:pt x="485" y="0"/>
                    <a:pt x="485" y="0"/>
                  </a:cubicBezTo>
                  <a:lnTo>
                    <a:pt x="0" y="0"/>
                  </a:lnTo>
                  <a:lnTo>
                    <a:pt x="0" y="62"/>
                  </a:lnTo>
                  <a:lnTo>
                    <a:pt x="42" y="70"/>
                  </a:lnTo>
                  <a:cubicBezTo>
                    <a:pt x="170" y="91"/>
                    <a:pt x="178" y="95"/>
                    <a:pt x="178" y="220"/>
                  </a:cubicBezTo>
                  <a:lnTo>
                    <a:pt x="178" y="1095"/>
                  </a:lnTo>
                  <a:lnTo>
                    <a:pt x="403" y="1095"/>
                  </a:lnTo>
                  <a:cubicBezTo>
                    <a:pt x="403" y="1095"/>
                    <a:pt x="403" y="307"/>
                    <a:pt x="403" y="228"/>
                  </a:cubicBezTo>
                  <a:cubicBezTo>
                    <a:pt x="448" y="294"/>
                    <a:pt x="975" y="1095"/>
                    <a:pt x="975" y="1095"/>
                  </a:cubicBezTo>
                  <a:lnTo>
                    <a:pt x="1253" y="1095"/>
                  </a:lnTo>
                  <a:lnTo>
                    <a:pt x="1253" y="0"/>
                  </a:lnTo>
                  <a:lnTo>
                    <a:pt x="1245"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26" name="Freeform 20">
              <a:extLst>
                <a:ext uri="{FF2B5EF4-FFF2-40B4-BE49-F238E27FC236}">
                  <a16:creationId xmlns:a16="http://schemas.microsoft.com/office/drawing/2014/main" id="{B3C96E36-B987-2349-8F1E-998EBC61601B}"/>
                </a:ext>
              </a:extLst>
            </p:cNvPr>
            <p:cNvSpPr>
              <a:spLocks noChangeArrowheads="1"/>
            </p:cNvSpPr>
            <p:nvPr/>
          </p:nvSpPr>
          <p:spPr bwMode="auto">
            <a:xfrm>
              <a:off x="6573838" y="4200525"/>
              <a:ext cx="266700" cy="287338"/>
            </a:xfrm>
            <a:custGeom>
              <a:avLst/>
              <a:gdLst>
                <a:gd name="T0" fmla="*/ 390 w 740"/>
                <a:gd name="T1" fmla="*/ 0 h 797"/>
                <a:gd name="T2" fmla="*/ 0 w 740"/>
                <a:gd name="T3" fmla="*/ 373 h 797"/>
                <a:gd name="T4" fmla="*/ 456 w 740"/>
                <a:gd name="T5" fmla="*/ 796 h 797"/>
                <a:gd name="T6" fmla="*/ 714 w 740"/>
                <a:gd name="T7" fmla="*/ 755 h 797"/>
                <a:gd name="T8" fmla="*/ 726 w 740"/>
                <a:gd name="T9" fmla="*/ 751 h 797"/>
                <a:gd name="T10" fmla="*/ 726 w 740"/>
                <a:gd name="T11" fmla="*/ 651 h 797"/>
                <a:gd name="T12" fmla="*/ 705 w 740"/>
                <a:gd name="T13" fmla="*/ 660 h 797"/>
                <a:gd name="T14" fmla="*/ 539 w 740"/>
                <a:gd name="T15" fmla="*/ 684 h 797"/>
                <a:gd name="T16" fmla="*/ 228 w 740"/>
                <a:gd name="T17" fmla="*/ 332 h 797"/>
                <a:gd name="T18" fmla="*/ 739 w 740"/>
                <a:gd name="T19" fmla="*/ 332 h 797"/>
                <a:gd name="T20" fmla="*/ 739 w 740"/>
                <a:gd name="T21" fmla="*/ 315 h 797"/>
                <a:gd name="T22" fmla="*/ 390 w 740"/>
                <a:gd name="T23" fmla="*/ 0 h 797"/>
                <a:gd name="T24" fmla="*/ 386 w 740"/>
                <a:gd name="T25" fmla="*/ 83 h 797"/>
                <a:gd name="T26" fmla="*/ 531 w 740"/>
                <a:gd name="T27" fmla="*/ 236 h 797"/>
                <a:gd name="T28" fmla="*/ 228 w 740"/>
                <a:gd name="T29" fmla="*/ 236 h 797"/>
                <a:gd name="T30" fmla="*/ 386 w 740"/>
                <a:gd name="T31" fmla="*/ 83 h 7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740" h="797">
                  <a:moveTo>
                    <a:pt x="390" y="0"/>
                  </a:moveTo>
                  <a:cubicBezTo>
                    <a:pt x="129" y="0"/>
                    <a:pt x="0" y="124"/>
                    <a:pt x="0" y="373"/>
                  </a:cubicBezTo>
                  <a:cubicBezTo>
                    <a:pt x="0" y="639"/>
                    <a:pt x="170" y="796"/>
                    <a:pt x="456" y="796"/>
                  </a:cubicBezTo>
                  <a:cubicBezTo>
                    <a:pt x="581" y="796"/>
                    <a:pt x="676" y="767"/>
                    <a:pt x="714" y="755"/>
                  </a:cubicBezTo>
                  <a:lnTo>
                    <a:pt x="726" y="751"/>
                  </a:lnTo>
                  <a:lnTo>
                    <a:pt x="726" y="651"/>
                  </a:lnTo>
                  <a:lnTo>
                    <a:pt x="705" y="660"/>
                  </a:lnTo>
                  <a:cubicBezTo>
                    <a:pt x="672" y="672"/>
                    <a:pt x="610" y="684"/>
                    <a:pt x="539" y="684"/>
                  </a:cubicBezTo>
                  <a:cubicBezTo>
                    <a:pt x="315" y="684"/>
                    <a:pt x="232" y="498"/>
                    <a:pt x="228" y="332"/>
                  </a:cubicBezTo>
                  <a:lnTo>
                    <a:pt x="739" y="332"/>
                  </a:lnTo>
                  <a:lnTo>
                    <a:pt x="739" y="315"/>
                  </a:lnTo>
                  <a:cubicBezTo>
                    <a:pt x="739" y="104"/>
                    <a:pt x="622" y="0"/>
                    <a:pt x="390" y="0"/>
                  </a:cubicBezTo>
                  <a:close/>
                  <a:moveTo>
                    <a:pt x="386" y="83"/>
                  </a:moveTo>
                  <a:cubicBezTo>
                    <a:pt x="498" y="83"/>
                    <a:pt x="527" y="162"/>
                    <a:pt x="531" y="236"/>
                  </a:cubicBezTo>
                  <a:lnTo>
                    <a:pt x="228" y="236"/>
                  </a:lnTo>
                  <a:cubicBezTo>
                    <a:pt x="232" y="187"/>
                    <a:pt x="270" y="83"/>
                    <a:pt x="386" y="83"/>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27" name="Freeform 21">
              <a:extLst>
                <a:ext uri="{FF2B5EF4-FFF2-40B4-BE49-F238E27FC236}">
                  <a16:creationId xmlns:a16="http://schemas.microsoft.com/office/drawing/2014/main" id="{FF7B3013-28D9-A64B-A060-6708D5DA4F84}"/>
                </a:ext>
              </a:extLst>
            </p:cNvPr>
            <p:cNvSpPr>
              <a:spLocks noChangeArrowheads="1"/>
            </p:cNvSpPr>
            <p:nvPr/>
          </p:nvSpPr>
          <p:spPr bwMode="auto">
            <a:xfrm>
              <a:off x="7204075" y="4121150"/>
              <a:ext cx="212725" cy="366713"/>
            </a:xfrm>
            <a:custGeom>
              <a:avLst/>
              <a:gdLst>
                <a:gd name="T0" fmla="*/ 141 w 590"/>
                <a:gd name="T1" fmla="*/ 237 h 1017"/>
                <a:gd name="T2" fmla="*/ 0 w 590"/>
                <a:gd name="T3" fmla="*/ 237 h 1017"/>
                <a:gd name="T4" fmla="*/ 0 w 590"/>
                <a:gd name="T5" fmla="*/ 328 h 1017"/>
                <a:gd name="T6" fmla="*/ 141 w 590"/>
                <a:gd name="T7" fmla="*/ 328 h 1017"/>
                <a:gd name="T8" fmla="*/ 141 w 590"/>
                <a:gd name="T9" fmla="*/ 797 h 1017"/>
                <a:gd name="T10" fmla="*/ 427 w 590"/>
                <a:gd name="T11" fmla="*/ 1016 h 1017"/>
                <a:gd name="T12" fmla="*/ 551 w 590"/>
                <a:gd name="T13" fmla="*/ 1004 h 1017"/>
                <a:gd name="T14" fmla="*/ 564 w 590"/>
                <a:gd name="T15" fmla="*/ 1004 h 1017"/>
                <a:gd name="T16" fmla="*/ 564 w 590"/>
                <a:gd name="T17" fmla="*/ 909 h 1017"/>
                <a:gd name="T18" fmla="*/ 547 w 590"/>
                <a:gd name="T19" fmla="*/ 913 h 1017"/>
                <a:gd name="T20" fmla="*/ 485 w 590"/>
                <a:gd name="T21" fmla="*/ 917 h 1017"/>
                <a:gd name="T22" fmla="*/ 352 w 590"/>
                <a:gd name="T23" fmla="*/ 772 h 1017"/>
                <a:gd name="T24" fmla="*/ 352 w 590"/>
                <a:gd name="T25" fmla="*/ 328 h 1017"/>
                <a:gd name="T26" fmla="*/ 589 w 590"/>
                <a:gd name="T27" fmla="*/ 328 h 1017"/>
                <a:gd name="T28" fmla="*/ 589 w 590"/>
                <a:gd name="T29" fmla="*/ 237 h 1017"/>
                <a:gd name="T30" fmla="*/ 352 w 590"/>
                <a:gd name="T31" fmla="*/ 237 h 1017"/>
                <a:gd name="T32" fmla="*/ 352 w 590"/>
                <a:gd name="T33" fmla="*/ 0 h 1017"/>
                <a:gd name="T34" fmla="*/ 141 w 590"/>
                <a:gd name="T35" fmla="*/ 0 h 1017"/>
                <a:gd name="T36" fmla="*/ 141 w 590"/>
                <a:gd name="T37" fmla="*/ 237 h 10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90" h="1017">
                  <a:moveTo>
                    <a:pt x="141" y="237"/>
                  </a:moveTo>
                  <a:lnTo>
                    <a:pt x="0" y="237"/>
                  </a:lnTo>
                  <a:lnTo>
                    <a:pt x="0" y="328"/>
                  </a:lnTo>
                  <a:lnTo>
                    <a:pt x="141" y="328"/>
                  </a:lnTo>
                  <a:lnTo>
                    <a:pt x="141" y="797"/>
                  </a:lnTo>
                  <a:cubicBezTo>
                    <a:pt x="141" y="1000"/>
                    <a:pt x="269" y="1016"/>
                    <a:pt x="427" y="1016"/>
                  </a:cubicBezTo>
                  <a:cubicBezTo>
                    <a:pt x="464" y="1016"/>
                    <a:pt x="506" y="1012"/>
                    <a:pt x="551" y="1004"/>
                  </a:cubicBezTo>
                  <a:lnTo>
                    <a:pt x="564" y="1004"/>
                  </a:lnTo>
                  <a:lnTo>
                    <a:pt x="564" y="909"/>
                  </a:lnTo>
                  <a:lnTo>
                    <a:pt x="547" y="913"/>
                  </a:lnTo>
                  <a:cubicBezTo>
                    <a:pt x="531" y="917"/>
                    <a:pt x="510" y="917"/>
                    <a:pt x="485" y="917"/>
                  </a:cubicBezTo>
                  <a:cubicBezTo>
                    <a:pt x="361" y="917"/>
                    <a:pt x="352" y="880"/>
                    <a:pt x="352" y="772"/>
                  </a:cubicBezTo>
                  <a:lnTo>
                    <a:pt x="352" y="328"/>
                  </a:lnTo>
                  <a:lnTo>
                    <a:pt x="589" y="328"/>
                  </a:lnTo>
                  <a:lnTo>
                    <a:pt x="589" y="237"/>
                  </a:lnTo>
                  <a:lnTo>
                    <a:pt x="352" y="237"/>
                  </a:lnTo>
                  <a:lnTo>
                    <a:pt x="352" y="0"/>
                  </a:lnTo>
                  <a:lnTo>
                    <a:pt x="141" y="0"/>
                  </a:lnTo>
                  <a:lnTo>
                    <a:pt x="141" y="237"/>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28" name="Freeform 22">
              <a:extLst>
                <a:ext uri="{FF2B5EF4-FFF2-40B4-BE49-F238E27FC236}">
                  <a16:creationId xmlns:a16="http://schemas.microsoft.com/office/drawing/2014/main" id="{FC0A6B0C-2650-EE46-903A-3A00341DB0E4}"/>
                </a:ext>
              </a:extLst>
            </p:cNvPr>
            <p:cNvSpPr>
              <a:spLocks noChangeArrowheads="1"/>
            </p:cNvSpPr>
            <p:nvPr/>
          </p:nvSpPr>
          <p:spPr bwMode="auto">
            <a:xfrm>
              <a:off x="6850063" y="4206875"/>
              <a:ext cx="331787" cy="274638"/>
            </a:xfrm>
            <a:custGeom>
              <a:avLst/>
              <a:gdLst>
                <a:gd name="T0" fmla="*/ 705 w 921"/>
                <a:gd name="T1" fmla="*/ 248 h 764"/>
                <a:gd name="T2" fmla="*/ 920 w 921"/>
                <a:gd name="T3" fmla="*/ 0 h 764"/>
                <a:gd name="T4" fmla="*/ 701 w 921"/>
                <a:gd name="T5" fmla="*/ 0 h 764"/>
                <a:gd name="T6" fmla="*/ 497 w 921"/>
                <a:gd name="T7" fmla="*/ 236 h 764"/>
                <a:gd name="T8" fmla="*/ 319 w 921"/>
                <a:gd name="T9" fmla="*/ 0 h 764"/>
                <a:gd name="T10" fmla="*/ 0 w 921"/>
                <a:gd name="T11" fmla="*/ 0 h 764"/>
                <a:gd name="T12" fmla="*/ 0 w 921"/>
                <a:gd name="T13" fmla="*/ 62 h 764"/>
                <a:gd name="T14" fmla="*/ 12 w 921"/>
                <a:gd name="T15" fmla="*/ 62 h 764"/>
                <a:gd name="T16" fmla="*/ 211 w 921"/>
                <a:gd name="T17" fmla="*/ 178 h 764"/>
                <a:gd name="T18" fmla="*/ 344 w 921"/>
                <a:gd name="T19" fmla="*/ 352 h 764"/>
                <a:gd name="T20" fmla="*/ 128 w 921"/>
                <a:gd name="T21" fmla="*/ 601 h 764"/>
                <a:gd name="T22" fmla="*/ 348 w 921"/>
                <a:gd name="T23" fmla="*/ 601 h 764"/>
                <a:gd name="T24" fmla="*/ 443 w 921"/>
                <a:gd name="T25" fmla="*/ 489 h 764"/>
                <a:gd name="T26" fmla="*/ 651 w 921"/>
                <a:gd name="T27" fmla="*/ 763 h 764"/>
                <a:gd name="T28" fmla="*/ 900 w 921"/>
                <a:gd name="T29" fmla="*/ 763 h 764"/>
                <a:gd name="T30" fmla="*/ 506 w 921"/>
                <a:gd name="T31" fmla="*/ 248 h 764"/>
                <a:gd name="T32" fmla="*/ 705 w 921"/>
                <a:gd name="T33" fmla="*/ 248 h 7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21" h="764">
                  <a:moveTo>
                    <a:pt x="705" y="248"/>
                  </a:moveTo>
                  <a:lnTo>
                    <a:pt x="920" y="0"/>
                  </a:lnTo>
                  <a:lnTo>
                    <a:pt x="701" y="0"/>
                  </a:lnTo>
                  <a:lnTo>
                    <a:pt x="497" y="236"/>
                  </a:lnTo>
                  <a:lnTo>
                    <a:pt x="319" y="0"/>
                  </a:lnTo>
                  <a:lnTo>
                    <a:pt x="0" y="0"/>
                  </a:lnTo>
                  <a:lnTo>
                    <a:pt x="0" y="62"/>
                  </a:lnTo>
                  <a:lnTo>
                    <a:pt x="12" y="62"/>
                  </a:lnTo>
                  <a:cubicBezTo>
                    <a:pt x="120" y="70"/>
                    <a:pt x="145" y="87"/>
                    <a:pt x="211" y="178"/>
                  </a:cubicBezTo>
                  <a:lnTo>
                    <a:pt x="344" y="352"/>
                  </a:lnTo>
                  <a:lnTo>
                    <a:pt x="128" y="601"/>
                  </a:lnTo>
                  <a:lnTo>
                    <a:pt x="348" y="601"/>
                  </a:lnTo>
                  <a:lnTo>
                    <a:pt x="443" y="489"/>
                  </a:lnTo>
                  <a:lnTo>
                    <a:pt x="651" y="763"/>
                  </a:lnTo>
                  <a:lnTo>
                    <a:pt x="900" y="763"/>
                  </a:lnTo>
                  <a:lnTo>
                    <a:pt x="506" y="248"/>
                  </a:lnTo>
                  <a:lnTo>
                    <a:pt x="705" y="248"/>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29" name="Freeform 23">
              <a:extLst>
                <a:ext uri="{FF2B5EF4-FFF2-40B4-BE49-F238E27FC236}">
                  <a16:creationId xmlns:a16="http://schemas.microsoft.com/office/drawing/2014/main" id="{B20E0327-FDB7-B64E-AC54-0011F59D99EA}"/>
                </a:ext>
              </a:extLst>
            </p:cNvPr>
            <p:cNvSpPr>
              <a:spLocks noChangeArrowheads="1"/>
            </p:cNvSpPr>
            <p:nvPr/>
          </p:nvSpPr>
          <p:spPr bwMode="auto">
            <a:xfrm>
              <a:off x="7175500" y="4010025"/>
              <a:ext cx="176213" cy="111125"/>
            </a:xfrm>
            <a:custGeom>
              <a:avLst/>
              <a:gdLst>
                <a:gd name="T0" fmla="*/ 224 w 490"/>
                <a:gd name="T1" fmla="*/ 307 h 308"/>
                <a:gd name="T2" fmla="*/ 0 w 490"/>
                <a:gd name="T3" fmla="*/ 307 h 308"/>
                <a:gd name="T4" fmla="*/ 269 w 490"/>
                <a:gd name="T5" fmla="*/ 0 h 308"/>
                <a:gd name="T6" fmla="*/ 489 w 490"/>
                <a:gd name="T7" fmla="*/ 0 h 308"/>
                <a:gd name="T8" fmla="*/ 224 w 490"/>
                <a:gd name="T9" fmla="*/ 307 h 308"/>
              </a:gdLst>
              <a:ahLst/>
              <a:cxnLst>
                <a:cxn ang="0">
                  <a:pos x="T0" y="T1"/>
                </a:cxn>
                <a:cxn ang="0">
                  <a:pos x="T2" y="T3"/>
                </a:cxn>
                <a:cxn ang="0">
                  <a:pos x="T4" y="T5"/>
                </a:cxn>
                <a:cxn ang="0">
                  <a:pos x="T6" y="T7"/>
                </a:cxn>
                <a:cxn ang="0">
                  <a:pos x="T8" y="T9"/>
                </a:cxn>
              </a:cxnLst>
              <a:rect l="0" t="0" r="r" b="b"/>
              <a:pathLst>
                <a:path w="490" h="308">
                  <a:moveTo>
                    <a:pt x="224" y="307"/>
                  </a:moveTo>
                  <a:lnTo>
                    <a:pt x="0" y="307"/>
                  </a:lnTo>
                  <a:lnTo>
                    <a:pt x="269" y="0"/>
                  </a:lnTo>
                  <a:lnTo>
                    <a:pt x="489" y="0"/>
                  </a:lnTo>
                  <a:lnTo>
                    <a:pt x="224" y="307"/>
                  </a:lnTo>
                </a:path>
              </a:pathLst>
            </a:custGeom>
            <a:solidFill>
              <a:schemeClr val="accent2"/>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grpSp>
    </p:spTree>
    <p:extLst>
      <p:ext uri="{BB962C8B-B14F-4D97-AF65-F5344CB8AC3E}">
        <p14:creationId xmlns:p14="http://schemas.microsoft.com/office/powerpoint/2010/main" val="19907095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264160" y="967575"/>
            <a:ext cx="8584006" cy="180511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7508077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052752"/>
            <a:ext cx="8229600" cy="1958998"/>
          </a:xfrm>
          <a:prstGeom prst="rect">
            <a:avLst/>
          </a:prstGeo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2"/>
          <p:cNvSpPr>
            <a:spLocks noGrp="1"/>
          </p:cNvSpPr>
          <p:nvPr>
            <p:ph type="body" idx="13" hasCustomPrompt="1"/>
          </p:nvPr>
        </p:nvSpPr>
        <p:spPr>
          <a:xfrm>
            <a:off x="457200" y="734476"/>
            <a:ext cx="8229600" cy="369332"/>
          </a:xfrm>
          <a:prstGeom prst="rect">
            <a:avLst/>
          </a:prstGeom>
        </p:spPr>
        <p:txBody>
          <a:bodyPr anchor="t"/>
          <a:lstStyle>
            <a:lvl1pPr marL="0" indent="0">
              <a:buNone/>
              <a:defRPr sz="1800" b="0" cap="all" baseline="0">
                <a:solidFill>
                  <a:srgbClr val="6D6E7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 placeholder</a:t>
            </a:r>
          </a:p>
        </p:txBody>
      </p:sp>
      <p:sp>
        <p:nvSpPr>
          <p:cNvPr id="37" name="Title Placeholder 1"/>
          <p:cNvSpPr>
            <a:spLocks noGrp="1"/>
          </p:cNvSpPr>
          <p:nvPr>
            <p:ph type="title"/>
          </p:nvPr>
        </p:nvSpPr>
        <p:spPr>
          <a:xfrm>
            <a:off x="457200" y="21600"/>
            <a:ext cx="6858000" cy="567675"/>
          </a:xfrm>
          <a:prstGeom prst="rect">
            <a:avLst/>
          </a:prstGeom>
        </p:spPr>
        <p:txBody>
          <a:bodyPr vert="horz" lIns="91440" tIns="0" rIns="91440" bIns="0" rtlCol="0" anchor="ctr">
            <a:normAutofit/>
          </a:bodyPr>
          <a:lstStyle>
            <a:lvl1pPr>
              <a:defRPr sz="2400"/>
            </a:lvl1pPr>
          </a:lstStyle>
          <a:p>
            <a:pPr lvl="0"/>
            <a:r>
              <a:rPr lang="en-US"/>
              <a:t>Click to edit Master title style</a:t>
            </a:r>
            <a:endParaRPr lang="en-US" dirty="0"/>
          </a:p>
        </p:txBody>
      </p:sp>
    </p:spTree>
    <p:extLst>
      <p:ext uri="{BB962C8B-B14F-4D97-AF65-F5344CB8AC3E}">
        <p14:creationId xmlns:p14="http://schemas.microsoft.com/office/powerpoint/2010/main" val="38996223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3" name="グループ化 59"/>
          <p:cNvGrpSpPr/>
          <p:nvPr/>
        </p:nvGrpSpPr>
        <p:grpSpPr>
          <a:xfrm>
            <a:off x="-4" y="818837"/>
            <a:ext cx="9145616" cy="57656"/>
            <a:chOff x="-4" y="739775"/>
            <a:chExt cx="9145616" cy="76874"/>
          </a:xfrm>
        </p:grpSpPr>
        <p:sp>
          <p:nvSpPr>
            <p:cNvPr id="44" name="正方形/長方形 11"/>
            <p:cNvSpPr>
              <a:spLocks noChangeArrowheads="1"/>
            </p:cNvSpPr>
            <p:nvPr/>
          </p:nvSpPr>
          <p:spPr bwMode="auto">
            <a:xfrm>
              <a:off x="1481331" y="739775"/>
              <a:ext cx="7664281" cy="76874"/>
            </a:xfrm>
            <a:prstGeom prst="rect">
              <a:avLst/>
            </a:prstGeom>
            <a:solidFill>
              <a:srgbClr val="73737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ja-JP" altLang="en-US"/>
            </a:p>
          </p:txBody>
        </p:sp>
        <p:grpSp>
          <p:nvGrpSpPr>
            <p:cNvPr id="60" name="グループ化 62"/>
            <p:cNvGrpSpPr/>
            <p:nvPr/>
          </p:nvGrpSpPr>
          <p:grpSpPr>
            <a:xfrm>
              <a:off x="-4" y="740968"/>
              <a:ext cx="1481335" cy="74492"/>
              <a:chOff x="312738" y="2749710"/>
              <a:chExt cx="1970086" cy="109547"/>
            </a:xfrm>
          </p:grpSpPr>
          <p:sp>
            <p:nvSpPr>
              <p:cNvPr id="61" name="正方形/長方形 62"/>
              <p:cNvSpPr/>
              <p:nvPr/>
            </p:nvSpPr>
            <p:spPr bwMode="auto">
              <a:xfrm>
                <a:off x="1298574" y="2749710"/>
                <a:ext cx="984250" cy="109537"/>
              </a:xfrm>
              <a:prstGeom prst="rect">
                <a:avLst/>
              </a:prstGeom>
              <a:solidFill>
                <a:srgbClr val="CC0000"/>
              </a:solidFill>
              <a:ln w="9525">
                <a:noFill/>
                <a:miter lim="800000"/>
                <a:headEnd/>
                <a:tailEnd/>
              </a:ln>
              <a:effectLst/>
            </p:spPr>
            <p:txBody>
              <a:bodyPr wrap="none" anchor="ctr"/>
              <a:lstStyle/>
              <a:p>
                <a:pPr fontAlgn="auto">
                  <a:spcBef>
                    <a:spcPts val="0"/>
                  </a:spcBef>
                  <a:spcAft>
                    <a:spcPts val="0"/>
                  </a:spcAft>
                  <a:defRPr/>
                </a:pPr>
                <a:endParaRPr kumimoji="0" lang="ja-JP" altLang="en-US" sz="1800" kern="0">
                  <a:solidFill>
                    <a:sysClr val="windowText" lastClr="000000"/>
                  </a:solidFill>
                </a:endParaRPr>
              </a:p>
            </p:txBody>
          </p:sp>
          <p:sp>
            <p:nvSpPr>
              <p:cNvPr id="62" name="正方形/長方形 63"/>
              <p:cNvSpPr/>
              <p:nvPr/>
            </p:nvSpPr>
            <p:spPr bwMode="auto">
              <a:xfrm>
                <a:off x="312738" y="2749720"/>
                <a:ext cx="985838" cy="109537"/>
              </a:xfrm>
              <a:prstGeom prst="rect">
                <a:avLst/>
              </a:prstGeom>
              <a:solidFill>
                <a:srgbClr val="B3B3B3"/>
              </a:solidFill>
              <a:ln w="9525">
                <a:noFill/>
                <a:miter lim="800000"/>
                <a:headEnd/>
                <a:tailEnd/>
              </a:ln>
              <a:effectLst/>
            </p:spPr>
            <p:txBody>
              <a:bodyPr wrap="none" anchor="ctr"/>
              <a:lstStyle/>
              <a:p>
                <a:pPr algn="l" fontAlgn="auto">
                  <a:spcBef>
                    <a:spcPts val="0"/>
                  </a:spcBef>
                  <a:spcAft>
                    <a:spcPts val="0"/>
                  </a:spcAft>
                  <a:defRPr/>
                </a:pPr>
                <a:endParaRPr kumimoji="0" lang="ja-JP" altLang="en-US" sz="1800" kern="0">
                  <a:solidFill>
                    <a:sysClr val="windowText" lastClr="000000"/>
                  </a:solidFill>
                </a:endParaRPr>
              </a:p>
            </p:txBody>
          </p:sp>
        </p:grpSp>
      </p:grpSp>
      <p:sp>
        <p:nvSpPr>
          <p:cNvPr id="37" name="TextBox 36"/>
          <p:cNvSpPr txBox="1"/>
          <p:nvPr/>
        </p:nvSpPr>
        <p:spPr>
          <a:xfrm>
            <a:off x="1611" y="4915450"/>
            <a:ext cx="312906" cy="215444"/>
          </a:xfrm>
          <a:prstGeom prst="rect">
            <a:avLst/>
          </a:prstGeom>
          <a:noFill/>
        </p:spPr>
        <p:txBody>
          <a:bodyPr wrap="none" rtlCol="0">
            <a:spAutoFit/>
          </a:bodyPr>
          <a:lstStyle/>
          <a:p>
            <a:pPr algn="l"/>
            <a:fld id="{111F478C-84AE-4601-9BE4-60468A3A6C06}" type="slidenum">
              <a:rPr lang="en-US" sz="800" smtClean="0">
                <a:solidFill>
                  <a:schemeClr val="tx1">
                    <a:alpha val="50000"/>
                  </a:schemeClr>
                </a:solidFill>
                <a:latin typeface="+mj-lt"/>
              </a:rPr>
              <a:pPr algn="l"/>
              <a:t>‹#›</a:t>
            </a:fld>
            <a:endParaRPr lang="en-US" sz="800" dirty="0">
              <a:solidFill>
                <a:schemeClr val="tx1">
                  <a:alpha val="50000"/>
                </a:schemeClr>
              </a:solidFill>
              <a:latin typeface="+mj-lt"/>
            </a:endParaRPr>
          </a:p>
        </p:txBody>
      </p:sp>
      <p:sp>
        <p:nvSpPr>
          <p:cNvPr id="36" name="TextBox 35"/>
          <p:cNvSpPr txBox="1"/>
          <p:nvPr/>
        </p:nvSpPr>
        <p:spPr>
          <a:xfrm>
            <a:off x="6641794" y="4911221"/>
            <a:ext cx="2462534" cy="215444"/>
          </a:xfrm>
          <a:prstGeom prst="rect">
            <a:avLst/>
          </a:prstGeom>
          <a:noFill/>
        </p:spPr>
        <p:txBody>
          <a:bodyPr wrap="none" rtlCol="0">
            <a:sp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800" kern="1200" dirty="0">
                <a:solidFill>
                  <a:schemeClr val="tx1">
                    <a:lumMod val="40000"/>
                    <a:lumOff val="60000"/>
                  </a:schemeClr>
                </a:solidFill>
                <a:latin typeface="+mn-lt"/>
                <a:ea typeface="+mn-ea"/>
                <a:cs typeface="+mn-cs"/>
              </a:rPr>
              <a:t>© Hitachi Vantara LLC 2020. All Rights Reserved.</a:t>
            </a:r>
          </a:p>
        </p:txBody>
      </p:sp>
      <p:sp>
        <p:nvSpPr>
          <p:cNvPr id="2" name="Rectangle 1">
            <a:extLst>
              <a:ext uri="{FF2B5EF4-FFF2-40B4-BE49-F238E27FC236}">
                <a16:creationId xmlns:a16="http://schemas.microsoft.com/office/drawing/2014/main" id="{0E3120D6-2EB7-784D-9A43-8B08507CE207}"/>
              </a:ext>
            </a:extLst>
          </p:cNvPr>
          <p:cNvSpPr/>
          <p:nvPr/>
        </p:nvSpPr>
        <p:spPr>
          <a:xfrm>
            <a:off x="0" y="793050"/>
            <a:ext cx="9144004" cy="16899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j-lt"/>
            </a:endParaRPr>
          </a:p>
        </p:txBody>
      </p:sp>
      <p:sp>
        <p:nvSpPr>
          <p:cNvPr id="13" name="Text Placeholder 53"/>
          <p:cNvSpPr>
            <a:spLocks noGrp="1"/>
          </p:cNvSpPr>
          <p:nvPr>
            <p:ph type="body" idx="1"/>
          </p:nvPr>
        </p:nvSpPr>
        <p:spPr>
          <a:xfrm>
            <a:off x="264160" y="893235"/>
            <a:ext cx="8584006" cy="1439368"/>
          </a:xfrm>
          <a:prstGeom prst="rect">
            <a:avLst/>
          </a:prstGeom>
        </p:spPr>
        <p:txBody>
          <a:bodyPr vert="horz" wrap="square" lIns="91440" tIns="45720" rIns="91440" bIns="45720" rtlCol="0">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6" name="Title Placeholder 1"/>
          <p:cNvSpPr>
            <a:spLocks noGrp="1"/>
          </p:cNvSpPr>
          <p:nvPr>
            <p:ph type="title"/>
          </p:nvPr>
        </p:nvSpPr>
        <p:spPr>
          <a:xfrm>
            <a:off x="264160" y="53113"/>
            <a:ext cx="7051040" cy="732441"/>
          </a:xfrm>
          <a:prstGeom prst="rect">
            <a:avLst/>
          </a:prstGeom>
        </p:spPr>
        <p:txBody>
          <a:bodyPr vert="horz" lIns="91440" tIns="0" rIns="91440" bIns="0" rtlCol="0" anchor="ctr">
            <a:normAutofit/>
          </a:bodyPr>
          <a:lstStyle/>
          <a:p>
            <a:pPr lvl="0"/>
            <a:r>
              <a:rPr lang="en-US"/>
              <a:t>Click to edit Master title style</a:t>
            </a:r>
            <a:endParaRPr lang="en-US" dirty="0"/>
          </a:p>
        </p:txBody>
      </p:sp>
      <p:grpSp>
        <p:nvGrpSpPr>
          <p:cNvPr id="39" name="Group 38">
            <a:extLst>
              <a:ext uri="{FF2B5EF4-FFF2-40B4-BE49-F238E27FC236}">
                <a16:creationId xmlns:a16="http://schemas.microsoft.com/office/drawing/2014/main" id="{F1FC9FE6-7211-2D4D-BBC5-2CA2AED63B97}"/>
              </a:ext>
            </a:extLst>
          </p:cNvPr>
          <p:cNvGrpSpPr/>
          <p:nvPr userDrawn="1"/>
        </p:nvGrpSpPr>
        <p:grpSpPr>
          <a:xfrm>
            <a:off x="7684916" y="225821"/>
            <a:ext cx="1247901" cy="356665"/>
            <a:chOff x="2751138" y="3262313"/>
            <a:chExt cx="4665662" cy="1333500"/>
          </a:xfrm>
          <a:solidFill>
            <a:schemeClr val="tx2"/>
          </a:solidFill>
        </p:grpSpPr>
        <p:sp>
          <p:nvSpPr>
            <p:cNvPr id="40" name="Freeform 1">
              <a:extLst>
                <a:ext uri="{FF2B5EF4-FFF2-40B4-BE49-F238E27FC236}">
                  <a16:creationId xmlns:a16="http://schemas.microsoft.com/office/drawing/2014/main" id="{2202F2C4-E626-9C44-8BD5-A0A142984A97}"/>
                </a:ext>
              </a:extLst>
            </p:cNvPr>
            <p:cNvSpPr>
              <a:spLocks noChangeArrowheads="1"/>
            </p:cNvSpPr>
            <p:nvPr/>
          </p:nvSpPr>
          <p:spPr bwMode="auto">
            <a:xfrm>
              <a:off x="6180138" y="3275013"/>
              <a:ext cx="673100" cy="631825"/>
            </a:xfrm>
            <a:custGeom>
              <a:avLst/>
              <a:gdLst>
                <a:gd name="T0" fmla="*/ 465 w 1868"/>
                <a:gd name="T1" fmla="*/ 0 h 1755"/>
                <a:gd name="T2" fmla="*/ 465 w 1868"/>
                <a:gd name="T3" fmla="*/ 700 h 1755"/>
                <a:gd name="T4" fmla="*/ 1402 w 1868"/>
                <a:gd name="T5" fmla="*/ 700 h 1755"/>
                <a:gd name="T6" fmla="*/ 1402 w 1868"/>
                <a:gd name="T7" fmla="*/ 0 h 1755"/>
                <a:gd name="T8" fmla="*/ 1867 w 1868"/>
                <a:gd name="T9" fmla="*/ 0 h 1755"/>
                <a:gd name="T10" fmla="*/ 1867 w 1868"/>
                <a:gd name="T11" fmla="*/ 1754 h 1755"/>
                <a:gd name="T12" fmla="*/ 1402 w 1868"/>
                <a:gd name="T13" fmla="*/ 1754 h 1755"/>
                <a:gd name="T14" fmla="*/ 1402 w 1868"/>
                <a:gd name="T15" fmla="*/ 983 h 1755"/>
                <a:gd name="T16" fmla="*/ 465 w 1868"/>
                <a:gd name="T17" fmla="*/ 983 h 1755"/>
                <a:gd name="T18" fmla="*/ 465 w 1868"/>
                <a:gd name="T19" fmla="*/ 1754 h 1755"/>
                <a:gd name="T20" fmla="*/ 0 w 1868"/>
                <a:gd name="T21" fmla="*/ 1754 h 1755"/>
                <a:gd name="T22" fmla="*/ 0 w 1868"/>
                <a:gd name="T23" fmla="*/ 0 h 1755"/>
                <a:gd name="T24" fmla="*/ 465 w 1868"/>
                <a:gd name="T25" fmla="*/ 0 h 17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68" h="1755">
                  <a:moveTo>
                    <a:pt x="465" y="0"/>
                  </a:moveTo>
                  <a:cubicBezTo>
                    <a:pt x="465" y="0"/>
                    <a:pt x="465" y="705"/>
                    <a:pt x="465" y="700"/>
                  </a:cubicBezTo>
                  <a:lnTo>
                    <a:pt x="1402" y="700"/>
                  </a:lnTo>
                  <a:cubicBezTo>
                    <a:pt x="1402" y="705"/>
                    <a:pt x="1402" y="0"/>
                    <a:pt x="1402" y="0"/>
                  </a:cubicBezTo>
                  <a:cubicBezTo>
                    <a:pt x="1402" y="0"/>
                    <a:pt x="1863" y="0"/>
                    <a:pt x="1867" y="0"/>
                  </a:cubicBezTo>
                  <a:cubicBezTo>
                    <a:pt x="1867" y="0"/>
                    <a:pt x="1867" y="1750"/>
                    <a:pt x="1867" y="1754"/>
                  </a:cubicBezTo>
                  <a:lnTo>
                    <a:pt x="1402" y="1754"/>
                  </a:lnTo>
                  <a:cubicBezTo>
                    <a:pt x="1402" y="1754"/>
                    <a:pt x="1402" y="987"/>
                    <a:pt x="1402" y="983"/>
                  </a:cubicBezTo>
                  <a:cubicBezTo>
                    <a:pt x="1402" y="987"/>
                    <a:pt x="465" y="983"/>
                    <a:pt x="465" y="983"/>
                  </a:cubicBezTo>
                  <a:cubicBezTo>
                    <a:pt x="465" y="987"/>
                    <a:pt x="465" y="1754"/>
                    <a:pt x="465" y="1754"/>
                  </a:cubicBezTo>
                  <a:lnTo>
                    <a:pt x="0" y="1754"/>
                  </a:lnTo>
                  <a:cubicBezTo>
                    <a:pt x="0" y="1754"/>
                    <a:pt x="4" y="0"/>
                    <a:pt x="0" y="0"/>
                  </a:cubicBezTo>
                  <a:lnTo>
                    <a:pt x="465"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41" name="Freeform 2">
              <a:extLst>
                <a:ext uri="{FF2B5EF4-FFF2-40B4-BE49-F238E27FC236}">
                  <a16:creationId xmlns:a16="http://schemas.microsoft.com/office/drawing/2014/main" id="{48E235B8-0EFE-1D4E-B536-D584422BD2BF}"/>
                </a:ext>
              </a:extLst>
            </p:cNvPr>
            <p:cNvSpPr>
              <a:spLocks noChangeArrowheads="1"/>
            </p:cNvSpPr>
            <p:nvPr/>
          </p:nvSpPr>
          <p:spPr bwMode="auto">
            <a:xfrm>
              <a:off x="4083050" y="3275013"/>
              <a:ext cx="677863" cy="631825"/>
            </a:xfrm>
            <a:custGeom>
              <a:avLst/>
              <a:gdLst>
                <a:gd name="T0" fmla="*/ 1883 w 1884"/>
                <a:gd name="T1" fmla="*/ 0 h 1755"/>
                <a:gd name="T2" fmla="*/ 1883 w 1884"/>
                <a:gd name="T3" fmla="*/ 298 h 1755"/>
                <a:gd name="T4" fmla="*/ 1174 w 1884"/>
                <a:gd name="T5" fmla="*/ 298 h 1755"/>
                <a:gd name="T6" fmla="*/ 1174 w 1884"/>
                <a:gd name="T7" fmla="*/ 1754 h 1755"/>
                <a:gd name="T8" fmla="*/ 709 w 1884"/>
                <a:gd name="T9" fmla="*/ 1754 h 1755"/>
                <a:gd name="T10" fmla="*/ 709 w 1884"/>
                <a:gd name="T11" fmla="*/ 298 h 1755"/>
                <a:gd name="T12" fmla="*/ 0 w 1884"/>
                <a:gd name="T13" fmla="*/ 298 h 1755"/>
                <a:gd name="T14" fmla="*/ 0 w 1884"/>
                <a:gd name="T15" fmla="*/ 0 h 1755"/>
                <a:gd name="T16" fmla="*/ 1883 w 1884"/>
                <a:gd name="T17" fmla="*/ 0 h 17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884" h="1755">
                  <a:moveTo>
                    <a:pt x="1883" y="0"/>
                  </a:moveTo>
                  <a:cubicBezTo>
                    <a:pt x="1883" y="4"/>
                    <a:pt x="1883" y="298"/>
                    <a:pt x="1883" y="298"/>
                  </a:cubicBezTo>
                  <a:lnTo>
                    <a:pt x="1174" y="298"/>
                  </a:lnTo>
                  <a:lnTo>
                    <a:pt x="1174" y="1754"/>
                  </a:lnTo>
                  <a:lnTo>
                    <a:pt x="709" y="1754"/>
                  </a:lnTo>
                  <a:lnTo>
                    <a:pt x="709" y="298"/>
                  </a:lnTo>
                  <a:lnTo>
                    <a:pt x="0" y="298"/>
                  </a:lnTo>
                  <a:lnTo>
                    <a:pt x="0" y="0"/>
                  </a:lnTo>
                  <a:lnTo>
                    <a:pt x="1883"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42" name="Freeform 3">
              <a:extLst>
                <a:ext uri="{FF2B5EF4-FFF2-40B4-BE49-F238E27FC236}">
                  <a16:creationId xmlns:a16="http://schemas.microsoft.com/office/drawing/2014/main" id="{59CBC9C9-352E-C44D-898B-B56EA1F51B84}"/>
                </a:ext>
              </a:extLst>
            </p:cNvPr>
            <p:cNvSpPr>
              <a:spLocks noChangeArrowheads="1"/>
            </p:cNvSpPr>
            <p:nvPr/>
          </p:nvSpPr>
          <p:spPr bwMode="auto">
            <a:xfrm>
              <a:off x="4614863" y="3275013"/>
              <a:ext cx="796925" cy="631825"/>
            </a:xfrm>
            <a:custGeom>
              <a:avLst/>
              <a:gdLst>
                <a:gd name="T0" fmla="*/ 2214 w 2215"/>
                <a:gd name="T1" fmla="*/ 1754 h 1755"/>
                <a:gd name="T2" fmla="*/ 1695 w 2215"/>
                <a:gd name="T3" fmla="*/ 1754 h 1755"/>
                <a:gd name="T4" fmla="*/ 1542 w 2215"/>
                <a:gd name="T5" fmla="*/ 1377 h 1755"/>
                <a:gd name="T6" fmla="*/ 672 w 2215"/>
                <a:gd name="T7" fmla="*/ 1377 h 1755"/>
                <a:gd name="T8" fmla="*/ 518 w 2215"/>
                <a:gd name="T9" fmla="*/ 1754 h 1755"/>
                <a:gd name="T10" fmla="*/ 0 w 2215"/>
                <a:gd name="T11" fmla="*/ 1754 h 1755"/>
                <a:gd name="T12" fmla="*/ 825 w 2215"/>
                <a:gd name="T13" fmla="*/ 0 h 1755"/>
                <a:gd name="T14" fmla="*/ 1392 w 2215"/>
                <a:gd name="T15" fmla="*/ 0 h 1755"/>
                <a:gd name="T16" fmla="*/ 2214 w 2215"/>
                <a:gd name="T17" fmla="*/ 1754 h 1755"/>
                <a:gd name="T18" fmla="*/ 788 w 2215"/>
                <a:gd name="T19" fmla="*/ 1095 h 1755"/>
                <a:gd name="T20" fmla="*/ 1434 w 2215"/>
                <a:gd name="T21" fmla="*/ 1095 h 1755"/>
                <a:gd name="T22" fmla="*/ 1107 w 2215"/>
                <a:gd name="T23" fmla="*/ 298 h 1755"/>
                <a:gd name="T24" fmla="*/ 788 w 2215"/>
                <a:gd name="T25" fmla="*/ 1095 h 17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15" h="1755">
                  <a:moveTo>
                    <a:pt x="2214" y="1754"/>
                  </a:moveTo>
                  <a:cubicBezTo>
                    <a:pt x="2214" y="1754"/>
                    <a:pt x="1691" y="1754"/>
                    <a:pt x="1695" y="1754"/>
                  </a:cubicBezTo>
                  <a:lnTo>
                    <a:pt x="1542" y="1377"/>
                  </a:lnTo>
                  <a:lnTo>
                    <a:pt x="672" y="1377"/>
                  </a:lnTo>
                  <a:cubicBezTo>
                    <a:pt x="672" y="1377"/>
                    <a:pt x="522" y="1754"/>
                    <a:pt x="518" y="1754"/>
                  </a:cubicBezTo>
                  <a:lnTo>
                    <a:pt x="0" y="1754"/>
                  </a:lnTo>
                  <a:lnTo>
                    <a:pt x="825" y="0"/>
                  </a:lnTo>
                  <a:lnTo>
                    <a:pt x="1392" y="0"/>
                  </a:lnTo>
                  <a:lnTo>
                    <a:pt x="2214" y="1754"/>
                  </a:lnTo>
                  <a:close/>
                  <a:moveTo>
                    <a:pt x="788" y="1095"/>
                  </a:moveTo>
                  <a:lnTo>
                    <a:pt x="1434" y="1095"/>
                  </a:lnTo>
                  <a:lnTo>
                    <a:pt x="1107" y="298"/>
                  </a:lnTo>
                  <a:lnTo>
                    <a:pt x="788" y="1095"/>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45" name="Freeform 4">
              <a:extLst>
                <a:ext uri="{FF2B5EF4-FFF2-40B4-BE49-F238E27FC236}">
                  <a16:creationId xmlns:a16="http://schemas.microsoft.com/office/drawing/2014/main" id="{489722E2-4F5C-474B-BE14-489471BD068F}"/>
                </a:ext>
              </a:extLst>
            </p:cNvPr>
            <p:cNvSpPr>
              <a:spLocks noChangeArrowheads="1"/>
            </p:cNvSpPr>
            <p:nvPr/>
          </p:nvSpPr>
          <p:spPr bwMode="auto">
            <a:xfrm>
              <a:off x="6985000" y="3275013"/>
              <a:ext cx="166688" cy="631825"/>
            </a:xfrm>
            <a:custGeom>
              <a:avLst/>
              <a:gdLst>
                <a:gd name="T0" fmla="*/ 232 w 465"/>
                <a:gd name="T1" fmla="*/ 1754 h 1755"/>
                <a:gd name="T2" fmla="*/ 0 w 465"/>
                <a:gd name="T3" fmla="*/ 1754 h 1755"/>
                <a:gd name="T4" fmla="*/ 0 w 465"/>
                <a:gd name="T5" fmla="*/ 0 h 1755"/>
                <a:gd name="T6" fmla="*/ 464 w 465"/>
                <a:gd name="T7" fmla="*/ 0 h 1755"/>
                <a:gd name="T8" fmla="*/ 464 w 465"/>
                <a:gd name="T9" fmla="*/ 1754 h 1755"/>
                <a:gd name="T10" fmla="*/ 232 w 465"/>
                <a:gd name="T11" fmla="*/ 1754 h 1755"/>
              </a:gdLst>
              <a:ahLst/>
              <a:cxnLst>
                <a:cxn ang="0">
                  <a:pos x="T0" y="T1"/>
                </a:cxn>
                <a:cxn ang="0">
                  <a:pos x="T2" y="T3"/>
                </a:cxn>
                <a:cxn ang="0">
                  <a:pos x="T4" y="T5"/>
                </a:cxn>
                <a:cxn ang="0">
                  <a:pos x="T6" y="T7"/>
                </a:cxn>
                <a:cxn ang="0">
                  <a:pos x="T8" y="T9"/>
                </a:cxn>
                <a:cxn ang="0">
                  <a:pos x="T10" y="T11"/>
                </a:cxn>
              </a:cxnLst>
              <a:rect l="0" t="0" r="r" b="b"/>
              <a:pathLst>
                <a:path w="465" h="1755">
                  <a:moveTo>
                    <a:pt x="232" y="1754"/>
                  </a:moveTo>
                  <a:lnTo>
                    <a:pt x="0" y="1754"/>
                  </a:lnTo>
                  <a:lnTo>
                    <a:pt x="0" y="0"/>
                  </a:lnTo>
                  <a:lnTo>
                    <a:pt x="464" y="0"/>
                  </a:lnTo>
                  <a:lnTo>
                    <a:pt x="464" y="1754"/>
                  </a:lnTo>
                  <a:lnTo>
                    <a:pt x="232" y="1754"/>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46" name="Freeform 5">
              <a:extLst>
                <a:ext uri="{FF2B5EF4-FFF2-40B4-BE49-F238E27FC236}">
                  <a16:creationId xmlns:a16="http://schemas.microsoft.com/office/drawing/2014/main" id="{AAA478F0-93B4-D947-BED8-D23BF131CBCF}"/>
                </a:ext>
              </a:extLst>
            </p:cNvPr>
            <p:cNvSpPr>
              <a:spLocks noChangeArrowheads="1"/>
            </p:cNvSpPr>
            <p:nvPr/>
          </p:nvSpPr>
          <p:spPr bwMode="auto">
            <a:xfrm>
              <a:off x="3049588" y="3275013"/>
              <a:ext cx="673100" cy="631825"/>
            </a:xfrm>
            <a:custGeom>
              <a:avLst/>
              <a:gdLst>
                <a:gd name="T0" fmla="*/ 465 w 1868"/>
                <a:gd name="T1" fmla="*/ 0 h 1755"/>
                <a:gd name="T2" fmla="*/ 465 w 1868"/>
                <a:gd name="T3" fmla="*/ 700 h 1755"/>
                <a:gd name="T4" fmla="*/ 1402 w 1868"/>
                <a:gd name="T5" fmla="*/ 700 h 1755"/>
                <a:gd name="T6" fmla="*/ 1402 w 1868"/>
                <a:gd name="T7" fmla="*/ 0 h 1755"/>
                <a:gd name="T8" fmla="*/ 1867 w 1868"/>
                <a:gd name="T9" fmla="*/ 0 h 1755"/>
                <a:gd name="T10" fmla="*/ 1867 w 1868"/>
                <a:gd name="T11" fmla="*/ 1754 h 1755"/>
                <a:gd name="T12" fmla="*/ 1402 w 1868"/>
                <a:gd name="T13" fmla="*/ 1754 h 1755"/>
                <a:gd name="T14" fmla="*/ 1402 w 1868"/>
                <a:gd name="T15" fmla="*/ 983 h 1755"/>
                <a:gd name="T16" fmla="*/ 465 w 1868"/>
                <a:gd name="T17" fmla="*/ 983 h 1755"/>
                <a:gd name="T18" fmla="*/ 465 w 1868"/>
                <a:gd name="T19" fmla="*/ 1754 h 1755"/>
                <a:gd name="T20" fmla="*/ 0 w 1868"/>
                <a:gd name="T21" fmla="*/ 1754 h 1755"/>
                <a:gd name="T22" fmla="*/ 0 w 1868"/>
                <a:gd name="T23" fmla="*/ 0 h 1755"/>
                <a:gd name="T24" fmla="*/ 465 w 1868"/>
                <a:gd name="T25" fmla="*/ 0 h 17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68" h="1755">
                  <a:moveTo>
                    <a:pt x="465" y="0"/>
                  </a:moveTo>
                  <a:cubicBezTo>
                    <a:pt x="465" y="0"/>
                    <a:pt x="465" y="705"/>
                    <a:pt x="465" y="700"/>
                  </a:cubicBezTo>
                  <a:lnTo>
                    <a:pt x="1402" y="700"/>
                  </a:lnTo>
                  <a:cubicBezTo>
                    <a:pt x="1402" y="705"/>
                    <a:pt x="1402" y="0"/>
                    <a:pt x="1402" y="0"/>
                  </a:cubicBezTo>
                  <a:cubicBezTo>
                    <a:pt x="1402" y="0"/>
                    <a:pt x="1863" y="0"/>
                    <a:pt x="1867" y="0"/>
                  </a:cubicBezTo>
                  <a:cubicBezTo>
                    <a:pt x="1867" y="0"/>
                    <a:pt x="1867" y="1750"/>
                    <a:pt x="1867" y="1754"/>
                  </a:cubicBezTo>
                  <a:lnTo>
                    <a:pt x="1402" y="1754"/>
                  </a:lnTo>
                  <a:cubicBezTo>
                    <a:pt x="1402" y="1754"/>
                    <a:pt x="1402" y="987"/>
                    <a:pt x="1402" y="983"/>
                  </a:cubicBezTo>
                  <a:cubicBezTo>
                    <a:pt x="1402" y="987"/>
                    <a:pt x="465" y="983"/>
                    <a:pt x="465" y="983"/>
                  </a:cubicBezTo>
                  <a:cubicBezTo>
                    <a:pt x="465" y="987"/>
                    <a:pt x="465" y="1754"/>
                    <a:pt x="465" y="1754"/>
                  </a:cubicBezTo>
                  <a:lnTo>
                    <a:pt x="0" y="1754"/>
                  </a:lnTo>
                  <a:cubicBezTo>
                    <a:pt x="0" y="1754"/>
                    <a:pt x="5" y="0"/>
                    <a:pt x="0" y="0"/>
                  </a:cubicBezTo>
                  <a:lnTo>
                    <a:pt x="465"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47" name="Freeform 6">
              <a:extLst>
                <a:ext uri="{FF2B5EF4-FFF2-40B4-BE49-F238E27FC236}">
                  <a16:creationId xmlns:a16="http://schemas.microsoft.com/office/drawing/2014/main" id="{A57E6D6C-A5DC-FD42-8986-EE47E599526F}"/>
                </a:ext>
              </a:extLst>
            </p:cNvPr>
            <p:cNvSpPr>
              <a:spLocks noChangeArrowheads="1"/>
            </p:cNvSpPr>
            <p:nvPr/>
          </p:nvSpPr>
          <p:spPr bwMode="auto">
            <a:xfrm>
              <a:off x="3854450" y="3275013"/>
              <a:ext cx="168275" cy="631825"/>
            </a:xfrm>
            <a:custGeom>
              <a:avLst/>
              <a:gdLst>
                <a:gd name="T0" fmla="*/ 233 w 466"/>
                <a:gd name="T1" fmla="*/ 1754 h 1755"/>
                <a:gd name="T2" fmla="*/ 0 w 466"/>
                <a:gd name="T3" fmla="*/ 1754 h 1755"/>
                <a:gd name="T4" fmla="*/ 0 w 466"/>
                <a:gd name="T5" fmla="*/ 0 h 1755"/>
                <a:gd name="T6" fmla="*/ 465 w 466"/>
                <a:gd name="T7" fmla="*/ 0 h 1755"/>
                <a:gd name="T8" fmla="*/ 465 w 466"/>
                <a:gd name="T9" fmla="*/ 1754 h 1755"/>
                <a:gd name="T10" fmla="*/ 233 w 466"/>
                <a:gd name="T11" fmla="*/ 1754 h 1755"/>
              </a:gdLst>
              <a:ahLst/>
              <a:cxnLst>
                <a:cxn ang="0">
                  <a:pos x="T0" y="T1"/>
                </a:cxn>
                <a:cxn ang="0">
                  <a:pos x="T2" y="T3"/>
                </a:cxn>
                <a:cxn ang="0">
                  <a:pos x="T4" y="T5"/>
                </a:cxn>
                <a:cxn ang="0">
                  <a:pos x="T6" y="T7"/>
                </a:cxn>
                <a:cxn ang="0">
                  <a:pos x="T8" y="T9"/>
                </a:cxn>
                <a:cxn ang="0">
                  <a:pos x="T10" y="T11"/>
                </a:cxn>
              </a:cxnLst>
              <a:rect l="0" t="0" r="r" b="b"/>
              <a:pathLst>
                <a:path w="466" h="1755">
                  <a:moveTo>
                    <a:pt x="233" y="1754"/>
                  </a:moveTo>
                  <a:lnTo>
                    <a:pt x="0" y="1754"/>
                  </a:lnTo>
                  <a:lnTo>
                    <a:pt x="0" y="0"/>
                  </a:lnTo>
                  <a:lnTo>
                    <a:pt x="465" y="0"/>
                  </a:lnTo>
                  <a:lnTo>
                    <a:pt x="465" y="1754"/>
                  </a:lnTo>
                  <a:lnTo>
                    <a:pt x="233" y="1754"/>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48" name="Freeform 7">
              <a:extLst>
                <a:ext uri="{FF2B5EF4-FFF2-40B4-BE49-F238E27FC236}">
                  <a16:creationId xmlns:a16="http://schemas.microsoft.com/office/drawing/2014/main" id="{AE32BA5C-C3A9-184E-AFD3-4E15B09FF3F6}"/>
                </a:ext>
              </a:extLst>
            </p:cNvPr>
            <p:cNvSpPr>
              <a:spLocks noChangeArrowheads="1"/>
            </p:cNvSpPr>
            <p:nvPr/>
          </p:nvSpPr>
          <p:spPr bwMode="auto">
            <a:xfrm>
              <a:off x="5383213" y="3262313"/>
              <a:ext cx="715962" cy="663575"/>
            </a:xfrm>
            <a:custGeom>
              <a:avLst/>
              <a:gdLst>
                <a:gd name="T0" fmla="*/ 62 w 1988"/>
                <a:gd name="T1" fmla="*/ 1307 h 1842"/>
                <a:gd name="T2" fmla="*/ 0 w 1988"/>
                <a:gd name="T3" fmla="*/ 933 h 1842"/>
                <a:gd name="T4" fmla="*/ 120 w 1988"/>
                <a:gd name="T5" fmla="*/ 423 h 1842"/>
                <a:gd name="T6" fmla="*/ 518 w 1988"/>
                <a:gd name="T7" fmla="*/ 91 h 1842"/>
                <a:gd name="T8" fmla="*/ 1033 w 1988"/>
                <a:gd name="T9" fmla="*/ 0 h 1842"/>
                <a:gd name="T10" fmla="*/ 1618 w 1988"/>
                <a:gd name="T11" fmla="*/ 125 h 1842"/>
                <a:gd name="T12" fmla="*/ 1950 w 1988"/>
                <a:gd name="T13" fmla="*/ 531 h 1842"/>
                <a:gd name="T14" fmla="*/ 1966 w 1988"/>
                <a:gd name="T15" fmla="*/ 643 h 1842"/>
                <a:gd name="T16" fmla="*/ 1481 w 1988"/>
                <a:gd name="T17" fmla="*/ 643 h 1842"/>
                <a:gd name="T18" fmla="*/ 1456 w 1988"/>
                <a:gd name="T19" fmla="*/ 506 h 1842"/>
                <a:gd name="T20" fmla="*/ 1240 w 1988"/>
                <a:gd name="T21" fmla="*/ 303 h 1842"/>
                <a:gd name="T22" fmla="*/ 1037 w 1988"/>
                <a:gd name="T23" fmla="*/ 274 h 1842"/>
                <a:gd name="T24" fmla="*/ 809 w 1988"/>
                <a:gd name="T25" fmla="*/ 315 h 1842"/>
                <a:gd name="T26" fmla="*/ 556 w 1988"/>
                <a:gd name="T27" fmla="*/ 573 h 1842"/>
                <a:gd name="T28" fmla="*/ 494 w 1988"/>
                <a:gd name="T29" fmla="*/ 942 h 1842"/>
                <a:gd name="T30" fmla="*/ 539 w 1988"/>
                <a:gd name="T31" fmla="*/ 1249 h 1842"/>
                <a:gd name="T32" fmla="*/ 792 w 1988"/>
                <a:gd name="T33" fmla="*/ 1527 h 1842"/>
                <a:gd name="T34" fmla="*/ 1041 w 1988"/>
                <a:gd name="T35" fmla="*/ 1572 h 1842"/>
                <a:gd name="T36" fmla="*/ 1257 w 1988"/>
                <a:gd name="T37" fmla="*/ 1539 h 1842"/>
                <a:gd name="T38" fmla="*/ 1460 w 1988"/>
                <a:gd name="T39" fmla="*/ 1356 h 1842"/>
                <a:gd name="T40" fmla="*/ 1497 w 1988"/>
                <a:gd name="T41" fmla="*/ 1170 h 1842"/>
                <a:gd name="T42" fmla="*/ 1987 w 1988"/>
                <a:gd name="T43" fmla="*/ 1170 h 1842"/>
                <a:gd name="T44" fmla="*/ 1962 w 1988"/>
                <a:gd name="T45" fmla="*/ 1336 h 1842"/>
                <a:gd name="T46" fmla="*/ 1638 w 1988"/>
                <a:gd name="T47" fmla="*/ 1721 h 1842"/>
                <a:gd name="T48" fmla="*/ 1041 w 1988"/>
                <a:gd name="T49" fmla="*/ 1841 h 1842"/>
                <a:gd name="T50" fmla="*/ 568 w 1988"/>
                <a:gd name="T51" fmla="*/ 1771 h 1842"/>
                <a:gd name="T52" fmla="*/ 62 w 1988"/>
                <a:gd name="T53" fmla="*/ 1307 h 18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988" h="1842">
                  <a:moveTo>
                    <a:pt x="62" y="1307"/>
                  </a:moveTo>
                  <a:cubicBezTo>
                    <a:pt x="21" y="1191"/>
                    <a:pt x="0" y="1066"/>
                    <a:pt x="0" y="933"/>
                  </a:cubicBezTo>
                  <a:cubicBezTo>
                    <a:pt x="0" y="751"/>
                    <a:pt x="33" y="573"/>
                    <a:pt x="120" y="423"/>
                  </a:cubicBezTo>
                  <a:cubicBezTo>
                    <a:pt x="211" y="270"/>
                    <a:pt x="348" y="154"/>
                    <a:pt x="518" y="91"/>
                  </a:cubicBezTo>
                  <a:cubicBezTo>
                    <a:pt x="680" y="33"/>
                    <a:pt x="850" y="0"/>
                    <a:pt x="1033" y="0"/>
                  </a:cubicBezTo>
                  <a:cubicBezTo>
                    <a:pt x="1240" y="0"/>
                    <a:pt x="1439" y="46"/>
                    <a:pt x="1618" y="125"/>
                  </a:cubicBezTo>
                  <a:cubicBezTo>
                    <a:pt x="1784" y="195"/>
                    <a:pt x="1912" y="349"/>
                    <a:pt x="1950" y="531"/>
                  </a:cubicBezTo>
                  <a:cubicBezTo>
                    <a:pt x="1958" y="568"/>
                    <a:pt x="1962" y="606"/>
                    <a:pt x="1966" y="643"/>
                  </a:cubicBezTo>
                  <a:lnTo>
                    <a:pt x="1481" y="643"/>
                  </a:lnTo>
                  <a:cubicBezTo>
                    <a:pt x="1481" y="597"/>
                    <a:pt x="1472" y="552"/>
                    <a:pt x="1456" y="506"/>
                  </a:cubicBezTo>
                  <a:cubicBezTo>
                    <a:pt x="1419" y="411"/>
                    <a:pt x="1340" y="332"/>
                    <a:pt x="1240" y="303"/>
                  </a:cubicBezTo>
                  <a:cubicBezTo>
                    <a:pt x="1174" y="282"/>
                    <a:pt x="1107" y="274"/>
                    <a:pt x="1037" y="274"/>
                  </a:cubicBezTo>
                  <a:cubicBezTo>
                    <a:pt x="958" y="274"/>
                    <a:pt x="879" y="286"/>
                    <a:pt x="809" y="315"/>
                  </a:cubicBezTo>
                  <a:cubicBezTo>
                    <a:pt x="688" y="357"/>
                    <a:pt x="597" y="452"/>
                    <a:pt x="556" y="573"/>
                  </a:cubicBezTo>
                  <a:cubicBezTo>
                    <a:pt x="514" y="689"/>
                    <a:pt x="494" y="813"/>
                    <a:pt x="494" y="942"/>
                  </a:cubicBezTo>
                  <a:cubicBezTo>
                    <a:pt x="494" y="1050"/>
                    <a:pt x="510" y="1153"/>
                    <a:pt x="539" y="1249"/>
                  </a:cubicBezTo>
                  <a:cubicBezTo>
                    <a:pt x="572" y="1377"/>
                    <a:pt x="672" y="1481"/>
                    <a:pt x="792" y="1527"/>
                  </a:cubicBezTo>
                  <a:cubicBezTo>
                    <a:pt x="871" y="1556"/>
                    <a:pt x="954" y="1572"/>
                    <a:pt x="1041" y="1572"/>
                  </a:cubicBezTo>
                  <a:cubicBezTo>
                    <a:pt x="1116" y="1572"/>
                    <a:pt x="1186" y="1560"/>
                    <a:pt x="1257" y="1539"/>
                  </a:cubicBezTo>
                  <a:cubicBezTo>
                    <a:pt x="1348" y="1510"/>
                    <a:pt x="1423" y="1444"/>
                    <a:pt x="1460" y="1356"/>
                  </a:cubicBezTo>
                  <a:cubicBezTo>
                    <a:pt x="1485" y="1298"/>
                    <a:pt x="1497" y="1236"/>
                    <a:pt x="1497" y="1170"/>
                  </a:cubicBezTo>
                  <a:lnTo>
                    <a:pt x="1987" y="1170"/>
                  </a:lnTo>
                  <a:cubicBezTo>
                    <a:pt x="1983" y="1228"/>
                    <a:pt x="1974" y="1282"/>
                    <a:pt x="1962" y="1336"/>
                  </a:cubicBezTo>
                  <a:cubicBezTo>
                    <a:pt x="1920" y="1510"/>
                    <a:pt x="1800" y="1655"/>
                    <a:pt x="1638" y="1721"/>
                  </a:cubicBezTo>
                  <a:cubicBezTo>
                    <a:pt x="1456" y="1800"/>
                    <a:pt x="1253" y="1841"/>
                    <a:pt x="1041" y="1841"/>
                  </a:cubicBezTo>
                  <a:cubicBezTo>
                    <a:pt x="875" y="1841"/>
                    <a:pt x="718" y="1817"/>
                    <a:pt x="568" y="1771"/>
                  </a:cubicBezTo>
                  <a:cubicBezTo>
                    <a:pt x="336" y="1692"/>
                    <a:pt x="137" y="1527"/>
                    <a:pt x="62" y="1307"/>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49" name="Freeform 8">
              <a:extLst>
                <a:ext uri="{FF2B5EF4-FFF2-40B4-BE49-F238E27FC236}">
                  <a16:creationId xmlns:a16="http://schemas.microsoft.com/office/drawing/2014/main" id="{8A0DB868-FC5A-BD44-9EA8-45E6496045ED}"/>
                </a:ext>
              </a:extLst>
            </p:cNvPr>
            <p:cNvSpPr>
              <a:spLocks noChangeArrowheads="1"/>
            </p:cNvSpPr>
            <p:nvPr/>
          </p:nvSpPr>
          <p:spPr bwMode="auto">
            <a:xfrm>
              <a:off x="2751138" y="4083050"/>
              <a:ext cx="153987" cy="398463"/>
            </a:xfrm>
            <a:custGeom>
              <a:avLst/>
              <a:gdLst>
                <a:gd name="T0" fmla="*/ 415 w 428"/>
                <a:gd name="T1" fmla="*/ 0 h 1109"/>
                <a:gd name="T2" fmla="*/ 0 w 428"/>
                <a:gd name="T3" fmla="*/ 38 h 1109"/>
                <a:gd name="T4" fmla="*/ 0 w 428"/>
                <a:gd name="T5" fmla="*/ 100 h 1109"/>
                <a:gd name="T6" fmla="*/ 12 w 428"/>
                <a:gd name="T7" fmla="*/ 100 h 1109"/>
                <a:gd name="T8" fmla="*/ 178 w 428"/>
                <a:gd name="T9" fmla="*/ 241 h 1109"/>
                <a:gd name="T10" fmla="*/ 178 w 428"/>
                <a:gd name="T11" fmla="*/ 1108 h 1109"/>
                <a:gd name="T12" fmla="*/ 427 w 428"/>
                <a:gd name="T13" fmla="*/ 1108 h 1109"/>
                <a:gd name="T14" fmla="*/ 427 w 428"/>
                <a:gd name="T15" fmla="*/ 0 h 1109"/>
                <a:gd name="T16" fmla="*/ 415 w 428"/>
                <a:gd name="T17" fmla="*/ 0 h 1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28" h="1109">
                  <a:moveTo>
                    <a:pt x="415" y="0"/>
                  </a:moveTo>
                  <a:lnTo>
                    <a:pt x="0" y="38"/>
                  </a:lnTo>
                  <a:lnTo>
                    <a:pt x="0" y="100"/>
                  </a:lnTo>
                  <a:lnTo>
                    <a:pt x="12" y="100"/>
                  </a:lnTo>
                  <a:cubicBezTo>
                    <a:pt x="178" y="121"/>
                    <a:pt x="178" y="121"/>
                    <a:pt x="178" y="241"/>
                  </a:cubicBezTo>
                  <a:lnTo>
                    <a:pt x="178" y="1108"/>
                  </a:lnTo>
                  <a:lnTo>
                    <a:pt x="427" y="1108"/>
                  </a:lnTo>
                  <a:lnTo>
                    <a:pt x="427" y="0"/>
                  </a:lnTo>
                  <a:lnTo>
                    <a:pt x="415"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50" name="Freeform 9">
              <a:extLst>
                <a:ext uri="{FF2B5EF4-FFF2-40B4-BE49-F238E27FC236}">
                  <a16:creationId xmlns:a16="http://schemas.microsoft.com/office/drawing/2014/main" id="{BFCB2AFF-A2AD-624A-8B85-9A1C9FB5DAD0}"/>
                </a:ext>
              </a:extLst>
            </p:cNvPr>
            <p:cNvSpPr>
              <a:spLocks noChangeArrowheads="1"/>
            </p:cNvSpPr>
            <p:nvPr/>
          </p:nvSpPr>
          <p:spPr bwMode="auto">
            <a:xfrm>
              <a:off x="2986088" y="4198938"/>
              <a:ext cx="315912" cy="282575"/>
            </a:xfrm>
            <a:custGeom>
              <a:avLst/>
              <a:gdLst>
                <a:gd name="T0" fmla="*/ 643 w 876"/>
                <a:gd name="T1" fmla="*/ 4 h 785"/>
                <a:gd name="T2" fmla="*/ 353 w 876"/>
                <a:gd name="T3" fmla="*/ 170 h 785"/>
                <a:gd name="T4" fmla="*/ 353 w 876"/>
                <a:gd name="T5" fmla="*/ 0 h 785"/>
                <a:gd name="T6" fmla="*/ 336 w 876"/>
                <a:gd name="T7" fmla="*/ 4 h 785"/>
                <a:gd name="T8" fmla="*/ 0 w 876"/>
                <a:gd name="T9" fmla="*/ 58 h 785"/>
                <a:gd name="T10" fmla="*/ 0 w 876"/>
                <a:gd name="T11" fmla="*/ 116 h 785"/>
                <a:gd name="T12" fmla="*/ 17 w 876"/>
                <a:gd name="T13" fmla="*/ 116 h 785"/>
                <a:gd name="T14" fmla="*/ 145 w 876"/>
                <a:gd name="T15" fmla="*/ 240 h 785"/>
                <a:gd name="T16" fmla="*/ 145 w 876"/>
                <a:gd name="T17" fmla="*/ 784 h 785"/>
                <a:gd name="T18" fmla="*/ 353 w 876"/>
                <a:gd name="T19" fmla="*/ 784 h 785"/>
                <a:gd name="T20" fmla="*/ 353 w 876"/>
                <a:gd name="T21" fmla="*/ 386 h 785"/>
                <a:gd name="T22" fmla="*/ 560 w 876"/>
                <a:gd name="T23" fmla="*/ 141 h 785"/>
                <a:gd name="T24" fmla="*/ 664 w 876"/>
                <a:gd name="T25" fmla="*/ 361 h 785"/>
                <a:gd name="T26" fmla="*/ 664 w 876"/>
                <a:gd name="T27" fmla="*/ 784 h 785"/>
                <a:gd name="T28" fmla="*/ 871 w 876"/>
                <a:gd name="T29" fmla="*/ 784 h 785"/>
                <a:gd name="T30" fmla="*/ 871 w 876"/>
                <a:gd name="T31" fmla="*/ 240 h 785"/>
                <a:gd name="T32" fmla="*/ 643 w 876"/>
                <a:gd name="T33" fmla="*/ 4 h 7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76" h="785">
                  <a:moveTo>
                    <a:pt x="643" y="4"/>
                  </a:moveTo>
                  <a:cubicBezTo>
                    <a:pt x="490" y="4"/>
                    <a:pt x="398" y="108"/>
                    <a:pt x="353" y="170"/>
                  </a:cubicBezTo>
                  <a:cubicBezTo>
                    <a:pt x="353" y="112"/>
                    <a:pt x="353" y="0"/>
                    <a:pt x="353" y="0"/>
                  </a:cubicBezTo>
                  <a:lnTo>
                    <a:pt x="336" y="4"/>
                  </a:lnTo>
                  <a:lnTo>
                    <a:pt x="0" y="58"/>
                  </a:lnTo>
                  <a:lnTo>
                    <a:pt x="0" y="116"/>
                  </a:lnTo>
                  <a:lnTo>
                    <a:pt x="17" y="116"/>
                  </a:lnTo>
                  <a:cubicBezTo>
                    <a:pt x="124" y="120"/>
                    <a:pt x="145" y="141"/>
                    <a:pt x="145" y="240"/>
                  </a:cubicBezTo>
                  <a:lnTo>
                    <a:pt x="145" y="784"/>
                  </a:lnTo>
                  <a:lnTo>
                    <a:pt x="353" y="784"/>
                  </a:lnTo>
                  <a:lnTo>
                    <a:pt x="353" y="386"/>
                  </a:lnTo>
                  <a:cubicBezTo>
                    <a:pt x="353" y="278"/>
                    <a:pt x="452" y="141"/>
                    <a:pt x="560" y="141"/>
                  </a:cubicBezTo>
                  <a:cubicBezTo>
                    <a:pt x="660" y="141"/>
                    <a:pt x="664" y="224"/>
                    <a:pt x="664" y="361"/>
                  </a:cubicBezTo>
                  <a:lnTo>
                    <a:pt x="664" y="784"/>
                  </a:lnTo>
                  <a:lnTo>
                    <a:pt x="871" y="784"/>
                  </a:lnTo>
                  <a:lnTo>
                    <a:pt x="871" y="240"/>
                  </a:lnTo>
                  <a:cubicBezTo>
                    <a:pt x="875" y="87"/>
                    <a:pt x="792" y="4"/>
                    <a:pt x="643" y="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51" name="Freeform 10">
              <a:extLst>
                <a:ext uri="{FF2B5EF4-FFF2-40B4-BE49-F238E27FC236}">
                  <a16:creationId xmlns:a16="http://schemas.microsoft.com/office/drawing/2014/main" id="{01095FC3-BDC5-A549-A563-41D39503D14D}"/>
                </a:ext>
              </a:extLst>
            </p:cNvPr>
            <p:cNvSpPr>
              <a:spLocks noChangeArrowheads="1"/>
            </p:cNvSpPr>
            <p:nvPr/>
          </p:nvSpPr>
          <p:spPr bwMode="auto">
            <a:xfrm>
              <a:off x="3386138" y="4200525"/>
              <a:ext cx="212725" cy="288925"/>
            </a:xfrm>
            <a:custGeom>
              <a:avLst/>
              <a:gdLst>
                <a:gd name="T0" fmla="*/ 348 w 590"/>
                <a:gd name="T1" fmla="*/ 303 h 802"/>
                <a:gd name="T2" fmla="*/ 195 w 590"/>
                <a:gd name="T3" fmla="*/ 170 h 802"/>
                <a:gd name="T4" fmla="*/ 307 w 590"/>
                <a:gd name="T5" fmla="*/ 100 h 802"/>
                <a:gd name="T6" fmla="*/ 502 w 590"/>
                <a:gd name="T7" fmla="*/ 166 h 802"/>
                <a:gd name="T8" fmla="*/ 535 w 590"/>
                <a:gd name="T9" fmla="*/ 187 h 802"/>
                <a:gd name="T10" fmla="*/ 535 w 590"/>
                <a:gd name="T11" fmla="*/ 162 h 802"/>
                <a:gd name="T12" fmla="*/ 535 w 590"/>
                <a:gd name="T13" fmla="*/ 33 h 802"/>
                <a:gd name="T14" fmla="*/ 506 w 590"/>
                <a:gd name="T15" fmla="*/ 25 h 802"/>
                <a:gd name="T16" fmla="*/ 315 w 590"/>
                <a:gd name="T17" fmla="*/ 0 h 802"/>
                <a:gd name="T18" fmla="*/ 0 w 590"/>
                <a:gd name="T19" fmla="*/ 224 h 802"/>
                <a:gd name="T20" fmla="*/ 228 w 590"/>
                <a:gd name="T21" fmla="*/ 465 h 802"/>
                <a:gd name="T22" fmla="*/ 390 w 590"/>
                <a:gd name="T23" fmla="*/ 606 h 802"/>
                <a:gd name="T24" fmla="*/ 249 w 590"/>
                <a:gd name="T25" fmla="*/ 697 h 802"/>
                <a:gd name="T26" fmla="*/ 20 w 590"/>
                <a:gd name="T27" fmla="*/ 618 h 802"/>
                <a:gd name="T28" fmla="*/ 0 w 590"/>
                <a:gd name="T29" fmla="*/ 606 h 802"/>
                <a:gd name="T30" fmla="*/ 0 w 590"/>
                <a:gd name="T31" fmla="*/ 767 h 802"/>
                <a:gd name="T32" fmla="*/ 16 w 590"/>
                <a:gd name="T33" fmla="*/ 771 h 802"/>
                <a:gd name="T34" fmla="*/ 244 w 590"/>
                <a:gd name="T35" fmla="*/ 801 h 802"/>
                <a:gd name="T36" fmla="*/ 580 w 590"/>
                <a:gd name="T37" fmla="*/ 568 h 802"/>
                <a:gd name="T38" fmla="*/ 348 w 590"/>
                <a:gd name="T39" fmla="*/ 303 h 8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590" h="802">
                  <a:moveTo>
                    <a:pt x="348" y="303"/>
                  </a:moveTo>
                  <a:cubicBezTo>
                    <a:pt x="265" y="261"/>
                    <a:pt x="195" y="228"/>
                    <a:pt x="195" y="170"/>
                  </a:cubicBezTo>
                  <a:cubicBezTo>
                    <a:pt x="195" y="104"/>
                    <a:pt x="274" y="100"/>
                    <a:pt x="307" y="100"/>
                  </a:cubicBezTo>
                  <a:cubicBezTo>
                    <a:pt x="394" y="100"/>
                    <a:pt x="468" y="145"/>
                    <a:pt x="502" y="166"/>
                  </a:cubicBezTo>
                  <a:lnTo>
                    <a:pt x="535" y="187"/>
                  </a:lnTo>
                  <a:lnTo>
                    <a:pt x="535" y="162"/>
                  </a:lnTo>
                  <a:lnTo>
                    <a:pt x="535" y="33"/>
                  </a:lnTo>
                  <a:lnTo>
                    <a:pt x="506" y="25"/>
                  </a:lnTo>
                  <a:cubicBezTo>
                    <a:pt x="468" y="17"/>
                    <a:pt x="398" y="0"/>
                    <a:pt x="315" y="0"/>
                  </a:cubicBezTo>
                  <a:cubicBezTo>
                    <a:pt x="120" y="0"/>
                    <a:pt x="0" y="83"/>
                    <a:pt x="0" y="224"/>
                  </a:cubicBezTo>
                  <a:cubicBezTo>
                    <a:pt x="0" y="353"/>
                    <a:pt x="124" y="411"/>
                    <a:pt x="228" y="465"/>
                  </a:cubicBezTo>
                  <a:cubicBezTo>
                    <a:pt x="311" y="506"/>
                    <a:pt x="390" y="543"/>
                    <a:pt x="390" y="606"/>
                  </a:cubicBezTo>
                  <a:cubicBezTo>
                    <a:pt x="390" y="664"/>
                    <a:pt x="340" y="697"/>
                    <a:pt x="249" y="697"/>
                  </a:cubicBezTo>
                  <a:cubicBezTo>
                    <a:pt x="149" y="697"/>
                    <a:pt x="70" y="647"/>
                    <a:pt x="20" y="618"/>
                  </a:cubicBezTo>
                  <a:lnTo>
                    <a:pt x="0" y="606"/>
                  </a:lnTo>
                  <a:lnTo>
                    <a:pt x="0" y="767"/>
                  </a:lnTo>
                  <a:lnTo>
                    <a:pt x="16" y="771"/>
                  </a:lnTo>
                  <a:cubicBezTo>
                    <a:pt x="58" y="780"/>
                    <a:pt x="137" y="801"/>
                    <a:pt x="244" y="801"/>
                  </a:cubicBezTo>
                  <a:cubicBezTo>
                    <a:pt x="456" y="801"/>
                    <a:pt x="580" y="713"/>
                    <a:pt x="580" y="568"/>
                  </a:cubicBezTo>
                  <a:cubicBezTo>
                    <a:pt x="589" y="419"/>
                    <a:pt x="460" y="357"/>
                    <a:pt x="348" y="30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52" name="Freeform 11">
              <a:extLst>
                <a:ext uri="{FF2B5EF4-FFF2-40B4-BE49-F238E27FC236}">
                  <a16:creationId xmlns:a16="http://schemas.microsoft.com/office/drawing/2014/main" id="{67332802-95F1-BD4E-A57B-E2DBDF38E3DC}"/>
                </a:ext>
              </a:extLst>
            </p:cNvPr>
            <p:cNvSpPr>
              <a:spLocks noChangeArrowheads="1"/>
            </p:cNvSpPr>
            <p:nvPr/>
          </p:nvSpPr>
          <p:spPr bwMode="auto">
            <a:xfrm>
              <a:off x="3635375" y="4198938"/>
              <a:ext cx="325438" cy="396875"/>
            </a:xfrm>
            <a:custGeom>
              <a:avLst/>
              <a:gdLst>
                <a:gd name="T0" fmla="*/ 577 w 906"/>
                <a:gd name="T1" fmla="*/ 4 h 1104"/>
                <a:gd name="T2" fmla="*/ 357 w 906"/>
                <a:gd name="T3" fmla="*/ 112 h 1104"/>
                <a:gd name="T4" fmla="*/ 357 w 906"/>
                <a:gd name="T5" fmla="*/ 0 h 1104"/>
                <a:gd name="T6" fmla="*/ 336 w 906"/>
                <a:gd name="T7" fmla="*/ 4 h 1104"/>
                <a:gd name="T8" fmla="*/ 0 w 906"/>
                <a:gd name="T9" fmla="*/ 58 h 1104"/>
                <a:gd name="T10" fmla="*/ 0 w 906"/>
                <a:gd name="T11" fmla="*/ 116 h 1104"/>
                <a:gd name="T12" fmla="*/ 13 w 906"/>
                <a:gd name="T13" fmla="*/ 116 h 1104"/>
                <a:gd name="T14" fmla="*/ 137 w 906"/>
                <a:gd name="T15" fmla="*/ 240 h 1104"/>
                <a:gd name="T16" fmla="*/ 137 w 906"/>
                <a:gd name="T17" fmla="*/ 1103 h 1104"/>
                <a:gd name="T18" fmla="*/ 345 w 906"/>
                <a:gd name="T19" fmla="*/ 1103 h 1104"/>
                <a:gd name="T20" fmla="*/ 345 w 906"/>
                <a:gd name="T21" fmla="*/ 709 h 1104"/>
                <a:gd name="T22" fmla="*/ 560 w 906"/>
                <a:gd name="T23" fmla="*/ 800 h 1104"/>
                <a:gd name="T24" fmla="*/ 896 w 906"/>
                <a:gd name="T25" fmla="*/ 390 h 1104"/>
                <a:gd name="T26" fmla="*/ 577 w 906"/>
                <a:gd name="T27" fmla="*/ 4 h 1104"/>
                <a:gd name="T28" fmla="*/ 515 w 906"/>
                <a:gd name="T29" fmla="*/ 120 h 1104"/>
                <a:gd name="T30" fmla="*/ 672 w 906"/>
                <a:gd name="T31" fmla="*/ 394 h 1104"/>
                <a:gd name="T32" fmla="*/ 515 w 906"/>
                <a:gd name="T33" fmla="*/ 688 h 1104"/>
                <a:gd name="T34" fmla="*/ 349 w 906"/>
                <a:gd name="T35" fmla="*/ 456 h 1104"/>
                <a:gd name="T36" fmla="*/ 349 w 906"/>
                <a:gd name="T37" fmla="*/ 390 h 1104"/>
                <a:gd name="T38" fmla="*/ 515 w 906"/>
                <a:gd name="T39" fmla="*/ 120 h 1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906" h="1104">
                  <a:moveTo>
                    <a:pt x="577" y="4"/>
                  </a:moveTo>
                  <a:cubicBezTo>
                    <a:pt x="498" y="4"/>
                    <a:pt x="424" y="41"/>
                    <a:pt x="357" y="112"/>
                  </a:cubicBezTo>
                  <a:cubicBezTo>
                    <a:pt x="357" y="75"/>
                    <a:pt x="357" y="0"/>
                    <a:pt x="357" y="0"/>
                  </a:cubicBezTo>
                  <a:lnTo>
                    <a:pt x="336" y="4"/>
                  </a:lnTo>
                  <a:lnTo>
                    <a:pt x="0" y="58"/>
                  </a:lnTo>
                  <a:lnTo>
                    <a:pt x="0" y="116"/>
                  </a:lnTo>
                  <a:lnTo>
                    <a:pt x="13" y="116"/>
                  </a:lnTo>
                  <a:cubicBezTo>
                    <a:pt x="117" y="120"/>
                    <a:pt x="137" y="141"/>
                    <a:pt x="137" y="240"/>
                  </a:cubicBezTo>
                  <a:lnTo>
                    <a:pt x="137" y="1103"/>
                  </a:lnTo>
                  <a:lnTo>
                    <a:pt x="345" y="1103"/>
                  </a:lnTo>
                  <a:cubicBezTo>
                    <a:pt x="345" y="1103"/>
                    <a:pt x="345" y="775"/>
                    <a:pt x="345" y="709"/>
                  </a:cubicBezTo>
                  <a:cubicBezTo>
                    <a:pt x="382" y="755"/>
                    <a:pt x="444" y="800"/>
                    <a:pt x="560" y="800"/>
                  </a:cubicBezTo>
                  <a:cubicBezTo>
                    <a:pt x="780" y="800"/>
                    <a:pt x="896" y="659"/>
                    <a:pt x="896" y="390"/>
                  </a:cubicBezTo>
                  <a:cubicBezTo>
                    <a:pt x="905" y="145"/>
                    <a:pt x="784" y="4"/>
                    <a:pt x="577" y="4"/>
                  </a:cubicBezTo>
                  <a:close/>
                  <a:moveTo>
                    <a:pt x="515" y="120"/>
                  </a:moveTo>
                  <a:cubicBezTo>
                    <a:pt x="656" y="120"/>
                    <a:pt x="672" y="274"/>
                    <a:pt x="672" y="394"/>
                  </a:cubicBezTo>
                  <a:cubicBezTo>
                    <a:pt x="672" y="593"/>
                    <a:pt x="623" y="688"/>
                    <a:pt x="515" y="688"/>
                  </a:cubicBezTo>
                  <a:cubicBezTo>
                    <a:pt x="378" y="688"/>
                    <a:pt x="349" y="560"/>
                    <a:pt x="349" y="456"/>
                  </a:cubicBezTo>
                  <a:lnTo>
                    <a:pt x="349" y="390"/>
                  </a:lnTo>
                  <a:cubicBezTo>
                    <a:pt x="353" y="307"/>
                    <a:pt x="370" y="120"/>
                    <a:pt x="515" y="120"/>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53" name="Freeform 12">
              <a:extLst>
                <a:ext uri="{FF2B5EF4-FFF2-40B4-BE49-F238E27FC236}">
                  <a16:creationId xmlns:a16="http://schemas.microsoft.com/office/drawing/2014/main" id="{1620EBC1-91A3-0747-8FF2-60CECD898087}"/>
                </a:ext>
              </a:extLst>
            </p:cNvPr>
            <p:cNvSpPr>
              <a:spLocks noChangeArrowheads="1"/>
            </p:cNvSpPr>
            <p:nvPr/>
          </p:nvSpPr>
          <p:spPr bwMode="auto">
            <a:xfrm>
              <a:off x="4013200" y="4198938"/>
              <a:ext cx="123825" cy="282575"/>
            </a:xfrm>
            <a:custGeom>
              <a:avLst/>
              <a:gdLst>
                <a:gd name="T0" fmla="*/ 0 w 345"/>
                <a:gd name="T1" fmla="*/ 58 h 785"/>
                <a:gd name="T2" fmla="*/ 0 w 345"/>
                <a:gd name="T3" fmla="*/ 116 h 785"/>
                <a:gd name="T4" fmla="*/ 12 w 345"/>
                <a:gd name="T5" fmla="*/ 116 h 785"/>
                <a:gd name="T6" fmla="*/ 137 w 345"/>
                <a:gd name="T7" fmla="*/ 240 h 785"/>
                <a:gd name="T8" fmla="*/ 137 w 345"/>
                <a:gd name="T9" fmla="*/ 784 h 785"/>
                <a:gd name="T10" fmla="*/ 344 w 345"/>
                <a:gd name="T11" fmla="*/ 784 h 785"/>
                <a:gd name="T12" fmla="*/ 344 w 345"/>
                <a:gd name="T13" fmla="*/ 0 h 785"/>
                <a:gd name="T14" fmla="*/ 328 w 345"/>
                <a:gd name="T15" fmla="*/ 4 h 785"/>
                <a:gd name="T16" fmla="*/ 0 w 345"/>
                <a:gd name="T17" fmla="*/ 58 h 7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45" h="785">
                  <a:moveTo>
                    <a:pt x="0" y="58"/>
                  </a:moveTo>
                  <a:lnTo>
                    <a:pt x="0" y="116"/>
                  </a:lnTo>
                  <a:lnTo>
                    <a:pt x="12" y="116"/>
                  </a:lnTo>
                  <a:cubicBezTo>
                    <a:pt x="116" y="120"/>
                    <a:pt x="137" y="141"/>
                    <a:pt x="137" y="240"/>
                  </a:cubicBezTo>
                  <a:lnTo>
                    <a:pt x="137" y="784"/>
                  </a:lnTo>
                  <a:lnTo>
                    <a:pt x="344" y="784"/>
                  </a:lnTo>
                  <a:lnTo>
                    <a:pt x="344" y="0"/>
                  </a:lnTo>
                  <a:lnTo>
                    <a:pt x="328" y="4"/>
                  </a:lnTo>
                  <a:lnTo>
                    <a:pt x="0" y="58"/>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54" name="Freeform 13">
              <a:extLst>
                <a:ext uri="{FF2B5EF4-FFF2-40B4-BE49-F238E27FC236}">
                  <a16:creationId xmlns:a16="http://schemas.microsoft.com/office/drawing/2014/main" id="{9AE043B0-CB1B-9E46-BB0B-62488F1C0173}"/>
                </a:ext>
              </a:extLst>
            </p:cNvPr>
            <p:cNvSpPr>
              <a:spLocks noChangeArrowheads="1"/>
            </p:cNvSpPr>
            <p:nvPr/>
          </p:nvSpPr>
          <p:spPr bwMode="auto">
            <a:xfrm>
              <a:off x="4056063" y="4084638"/>
              <a:ext cx="93662" cy="82550"/>
            </a:xfrm>
            <a:custGeom>
              <a:avLst/>
              <a:gdLst>
                <a:gd name="T0" fmla="*/ 129 w 262"/>
                <a:gd name="T1" fmla="*/ 228 h 229"/>
                <a:gd name="T2" fmla="*/ 261 w 262"/>
                <a:gd name="T3" fmla="*/ 112 h 229"/>
                <a:gd name="T4" fmla="*/ 133 w 262"/>
                <a:gd name="T5" fmla="*/ 0 h 229"/>
                <a:gd name="T6" fmla="*/ 4 w 262"/>
                <a:gd name="T7" fmla="*/ 112 h 229"/>
                <a:gd name="T8" fmla="*/ 129 w 262"/>
                <a:gd name="T9" fmla="*/ 228 h 229"/>
              </a:gdLst>
              <a:ahLst/>
              <a:cxnLst>
                <a:cxn ang="0">
                  <a:pos x="T0" y="T1"/>
                </a:cxn>
                <a:cxn ang="0">
                  <a:pos x="T2" y="T3"/>
                </a:cxn>
                <a:cxn ang="0">
                  <a:pos x="T4" y="T5"/>
                </a:cxn>
                <a:cxn ang="0">
                  <a:pos x="T6" y="T7"/>
                </a:cxn>
                <a:cxn ang="0">
                  <a:pos x="T8" y="T9"/>
                </a:cxn>
              </a:cxnLst>
              <a:rect l="0" t="0" r="r" b="b"/>
              <a:pathLst>
                <a:path w="262" h="229">
                  <a:moveTo>
                    <a:pt x="129" y="228"/>
                  </a:moveTo>
                  <a:cubicBezTo>
                    <a:pt x="199" y="228"/>
                    <a:pt x="261" y="178"/>
                    <a:pt x="261" y="112"/>
                  </a:cubicBezTo>
                  <a:cubicBezTo>
                    <a:pt x="261" y="49"/>
                    <a:pt x="203" y="0"/>
                    <a:pt x="133" y="0"/>
                  </a:cubicBezTo>
                  <a:cubicBezTo>
                    <a:pt x="62" y="0"/>
                    <a:pt x="4" y="49"/>
                    <a:pt x="4" y="112"/>
                  </a:cubicBezTo>
                  <a:cubicBezTo>
                    <a:pt x="0" y="178"/>
                    <a:pt x="58" y="228"/>
                    <a:pt x="129" y="228"/>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55" name="Freeform 14">
              <a:extLst>
                <a:ext uri="{FF2B5EF4-FFF2-40B4-BE49-F238E27FC236}">
                  <a16:creationId xmlns:a16="http://schemas.microsoft.com/office/drawing/2014/main" id="{BC547CDB-3E2C-4B44-A4C8-090E4FE2F825}"/>
                </a:ext>
              </a:extLst>
            </p:cNvPr>
            <p:cNvSpPr>
              <a:spLocks noChangeArrowheads="1"/>
            </p:cNvSpPr>
            <p:nvPr/>
          </p:nvSpPr>
          <p:spPr bwMode="auto">
            <a:xfrm>
              <a:off x="4211638" y="4200525"/>
              <a:ext cx="244475" cy="280988"/>
            </a:xfrm>
            <a:custGeom>
              <a:avLst/>
              <a:gdLst>
                <a:gd name="T0" fmla="*/ 676 w 677"/>
                <a:gd name="T1" fmla="*/ 174 h 781"/>
                <a:gd name="T2" fmla="*/ 676 w 677"/>
                <a:gd name="T3" fmla="*/ 12 h 781"/>
                <a:gd name="T4" fmla="*/ 663 w 677"/>
                <a:gd name="T5" fmla="*/ 12 h 781"/>
                <a:gd name="T6" fmla="*/ 564 w 677"/>
                <a:gd name="T7" fmla="*/ 4 h 781"/>
                <a:gd name="T8" fmla="*/ 348 w 677"/>
                <a:gd name="T9" fmla="*/ 158 h 781"/>
                <a:gd name="T10" fmla="*/ 348 w 677"/>
                <a:gd name="T11" fmla="*/ 0 h 781"/>
                <a:gd name="T12" fmla="*/ 331 w 677"/>
                <a:gd name="T13" fmla="*/ 0 h 781"/>
                <a:gd name="T14" fmla="*/ 0 w 677"/>
                <a:gd name="T15" fmla="*/ 54 h 781"/>
                <a:gd name="T16" fmla="*/ 0 w 677"/>
                <a:gd name="T17" fmla="*/ 112 h 781"/>
                <a:gd name="T18" fmla="*/ 12 w 677"/>
                <a:gd name="T19" fmla="*/ 112 h 781"/>
                <a:gd name="T20" fmla="*/ 141 w 677"/>
                <a:gd name="T21" fmla="*/ 236 h 781"/>
                <a:gd name="T22" fmla="*/ 141 w 677"/>
                <a:gd name="T23" fmla="*/ 780 h 781"/>
                <a:gd name="T24" fmla="*/ 348 w 677"/>
                <a:gd name="T25" fmla="*/ 780 h 781"/>
                <a:gd name="T26" fmla="*/ 348 w 677"/>
                <a:gd name="T27" fmla="*/ 390 h 781"/>
                <a:gd name="T28" fmla="*/ 568 w 677"/>
                <a:gd name="T29" fmla="*/ 170 h 781"/>
                <a:gd name="T30" fmla="*/ 643 w 677"/>
                <a:gd name="T31" fmla="*/ 183 h 781"/>
                <a:gd name="T32" fmla="*/ 676 w 677"/>
                <a:gd name="T33" fmla="*/ 191 h 781"/>
                <a:gd name="T34" fmla="*/ 676 w 677"/>
                <a:gd name="T35" fmla="*/ 174 h 7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77" h="781">
                  <a:moveTo>
                    <a:pt x="676" y="174"/>
                  </a:moveTo>
                  <a:lnTo>
                    <a:pt x="676" y="12"/>
                  </a:lnTo>
                  <a:lnTo>
                    <a:pt x="663" y="12"/>
                  </a:lnTo>
                  <a:cubicBezTo>
                    <a:pt x="630" y="8"/>
                    <a:pt x="593" y="4"/>
                    <a:pt x="564" y="4"/>
                  </a:cubicBezTo>
                  <a:cubicBezTo>
                    <a:pt x="443" y="4"/>
                    <a:pt x="381" y="91"/>
                    <a:pt x="348" y="158"/>
                  </a:cubicBezTo>
                  <a:cubicBezTo>
                    <a:pt x="348" y="95"/>
                    <a:pt x="348" y="0"/>
                    <a:pt x="348" y="0"/>
                  </a:cubicBezTo>
                  <a:lnTo>
                    <a:pt x="331" y="0"/>
                  </a:lnTo>
                  <a:lnTo>
                    <a:pt x="0" y="54"/>
                  </a:lnTo>
                  <a:lnTo>
                    <a:pt x="0" y="112"/>
                  </a:lnTo>
                  <a:lnTo>
                    <a:pt x="12" y="112"/>
                  </a:lnTo>
                  <a:cubicBezTo>
                    <a:pt x="116" y="116"/>
                    <a:pt x="141" y="137"/>
                    <a:pt x="141" y="236"/>
                  </a:cubicBezTo>
                  <a:lnTo>
                    <a:pt x="141" y="780"/>
                  </a:lnTo>
                  <a:lnTo>
                    <a:pt x="348" y="780"/>
                  </a:lnTo>
                  <a:lnTo>
                    <a:pt x="348" y="390"/>
                  </a:lnTo>
                  <a:cubicBezTo>
                    <a:pt x="348" y="324"/>
                    <a:pt x="369" y="170"/>
                    <a:pt x="568" y="170"/>
                  </a:cubicBezTo>
                  <a:cubicBezTo>
                    <a:pt x="593" y="170"/>
                    <a:pt x="618" y="178"/>
                    <a:pt x="643" y="183"/>
                  </a:cubicBezTo>
                  <a:lnTo>
                    <a:pt x="676" y="191"/>
                  </a:lnTo>
                  <a:lnTo>
                    <a:pt x="676" y="174"/>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56" name="Freeform 15">
              <a:extLst>
                <a:ext uri="{FF2B5EF4-FFF2-40B4-BE49-F238E27FC236}">
                  <a16:creationId xmlns:a16="http://schemas.microsoft.com/office/drawing/2014/main" id="{75E6D7FF-FE3E-1940-9EDE-F48BB8E26788}"/>
                </a:ext>
              </a:extLst>
            </p:cNvPr>
            <p:cNvSpPr>
              <a:spLocks noChangeArrowheads="1"/>
            </p:cNvSpPr>
            <p:nvPr/>
          </p:nvSpPr>
          <p:spPr bwMode="auto">
            <a:xfrm>
              <a:off x="4486275" y="4200525"/>
              <a:ext cx="266700" cy="287338"/>
            </a:xfrm>
            <a:custGeom>
              <a:avLst/>
              <a:gdLst>
                <a:gd name="T0" fmla="*/ 738 w 743"/>
                <a:gd name="T1" fmla="*/ 315 h 797"/>
                <a:gd name="T2" fmla="*/ 390 w 743"/>
                <a:gd name="T3" fmla="*/ 0 h 797"/>
                <a:gd name="T4" fmla="*/ 0 w 743"/>
                <a:gd name="T5" fmla="*/ 373 h 797"/>
                <a:gd name="T6" fmla="*/ 456 w 743"/>
                <a:gd name="T7" fmla="*/ 796 h 797"/>
                <a:gd name="T8" fmla="*/ 713 w 743"/>
                <a:gd name="T9" fmla="*/ 755 h 797"/>
                <a:gd name="T10" fmla="*/ 726 w 743"/>
                <a:gd name="T11" fmla="*/ 751 h 797"/>
                <a:gd name="T12" fmla="*/ 726 w 743"/>
                <a:gd name="T13" fmla="*/ 651 h 797"/>
                <a:gd name="T14" fmla="*/ 705 w 743"/>
                <a:gd name="T15" fmla="*/ 660 h 797"/>
                <a:gd name="T16" fmla="*/ 543 w 743"/>
                <a:gd name="T17" fmla="*/ 684 h 797"/>
                <a:gd name="T18" fmla="*/ 232 w 743"/>
                <a:gd name="T19" fmla="*/ 332 h 797"/>
                <a:gd name="T20" fmla="*/ 742 w 743"/>
                <a:gd name="T21" fmla="*/ 332 h 797"/>
                <a:gd name="T22" fmla="*/ 742 w 743"/>
                <a:gd name="T23" fmla="*/ 315 h 797"/>
                <a:gd name="T24" fmla="*/ 738 w 743"/>
                <a:gd name="T25" fmla="*/ 315 h 797"/>
                <a:gd name="T26" fmla="*/ 386 w 743"/>
                <a:gd name="T27" fmla="*/ 83 h 797"/>
                <a:gd name="T28" fmla="*/ 531 w 743"/>
                <a:gd name="T29" fmla="*/ 236 h 797"/>
                <a:gd name="T30" fmla="*/ 228 w 743"/>
                <a:gd name="T31" fmla="*/ 236 h 797"/>
                <a:gd name="T32" fmla="*/ 386 w 743"/>
                <a:gd name="T33" fmla="*/ 83 h 7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743" h="797">
                  <a:moveTo>
                    <a:pt x="738" y="315"/>
                  </a:moveTo>
                  <a:cubicBezTo>
                    <a:pt x="738" y="104"/>
                    <a:pt x="622" y="0"/>
                    <a:pt x="390" y="0"/>
                  </a:cubicBezTo>
                  <a:cubicBezTo>
                    <a:pt x="128" y="0"/>
                    <a:pt x="0" y="124"/>
                    <a:pt x="0" y="373"/>
                  </a:cubicBezTo>
                  <a:cubicBezTo>
                    <a:pt x="0" y="639"/>
                    <a:pt x="170" y="796"/>
                    <a:pt x="456" y="796"/>
                  </a:cubicBezTo>
                  <a:cubicBezTo>
                    <a:pt x="581" y="796"/>
                    <a:pt x="676" y="763"/>
                    <a:pt x="713" y="755"/>
                  </a:cubicBezTo>
                  <a:lnTo>
                    <a:pt x="726" y="751"/>
                  </a:lnTo>
                  <a:lnTo>
                    <a:pt x="726" y="651"/>
                  </a:lnTo>
                  <a:lnTo>
                    <a:pt x="705" y="660"/>
                  </a:lnTo>
                  <a:cubicBezTo>
                    <a:pt x="672" y="672"/>
                    <a:pt x="610" y="684"/>
                    <a:pt x="543" y="684"/>
                  </a:cubicBezTo>
                  <a:cubicBezTo>
                    <a:pt x="319" y="684"/>
                    <a:pt x="236" y="498"/>
                    <a:pt x="232" y="332"/>
                  </a:cubicBezTo>
                  <a:cubicBezTo>
                    <a:pt x="261" y="332"/>
                    <a:pt x="742" y="332"/>
                    <a:pt x="742" y="332"/>
                  </a:cubicBezTo>
                  <a:lnTo>
                    <a:pt x="742" y="315"/>
                  </a:lnTo>
                  <a:lnTo>
                    <a:pt x="738" y="315"/>
                  </a:lnTo>
                  <a:close/>
                  <a:moveTo>
                    <a:pt x="386" y="83"/>
                  </a:moveTo>
                  <a:cubicBezTo>
                    <a:pt x="498" y="83"/>
                    <a:pt x="527" y="166"/>
                    <a:pt x="531" y="236"/>
                  </a:cubicBezTo>
                  <a:cubicBezTo>
                    <a:pt x="506" y="236"/>
                    <a:pt x="257" y="236"/>
                    <a:pt x="228" y="236"/>
                  </a:cubicBezTo>
                  <a:cubicBezTo>
                    <a:pt x="232" y="183"/>
                    <a:pt x="269" y="83"/>
                    <a:pt x="386" y="83"/>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57" name="Freeform 16">
              <a:extLst>
                <a:ext uri="{FF2B5EF4-FFF2-40B4-BE49-F238E27FC236}">
                  <a16:creationId xmlns:a16="http://schemas.microsoft.com/office/drawing/2014/main" id="{722805C6-4484-1C44-87E2-ECE83F45E61D}"/>
                </a:ext>
              </a:extLst>
            </p:cNvPr>
            <p:cNvSpPr>
              <a:spLocks noChangeArrowheads="1"/>
            </p:cNvSpPr>
            <p:nvPr/>
          </p:nvSpPr>
          <p:spPr bwMode="auto">
            <a:xfrm>
              <a:off x="5210175" y="4071938"/>
              <a:ext cx="314325" cy="409575"/>
            </a:xfrm>
            <a:custGeom>
              <a:avLst/>
              <a:gdLst>
                <a:gd name="T0" fmla="*/ 634 w 872"/>
                <a:gd name="T1" fmla="*/ 357 h 1138"/>
                <a:gd name="T2" fmla="*/ 348 w 872"/>
                <a:gd name="T3" fmla="*/ 523 h 1138"/>
                <a:gd name="T4" fmla="*/ 348 w 872"/>
                <a:gd name="T5" fmla="*/ 0 h 1138"/>
                <a:gd name="T6" fmla="*/ 332 w 872"/>
                <a:gd name="T7" fmla="*/ 4 h 1138"/>
                <a:gd name="T8" fmla="*/ 0 w 872"/>
                <a:gd name="T9" fmla="*/ 46 h 1138"/>
                <a:gd name="T10" fmla="*/ 0 w 872"/>
                <a:gd name="T11" fmla="*/ 104 h 1138"/>
                <a:gd name="T12" fmla="*/ 16 w 872"/>
                <a:gd name="T13" fmla="*/ 104 h 1138"/>
                <a:gd name="T14" fmla="*/ 141 w 872"/>
                <a:gd name="T15" fmla="*/ 233 h 1138"/>
                <a:gd name="T16" fmla="*/ 141 w 872"/>
                <a:gd name="T17" fmla="*/ 1137 h 1138"/>
                <a:gd name="T18" fmla="*/ 348 w 872"/>
                <a:gd name="T19" fmla="*/ 1137 h 1138"/>
                <a:gd name="T20" fmla="*/ 348 w 872"/>
                <a:gd name="T21" fmla="*/ 747 h 1138"/>
                <a:gd name="T22" fmla="*/ 547 w 872"/>
                <a:gd name="T23" fmla="*/ 494 h 1138"/>
                <a:gd name="T24" fmla="*/ 663 w 872"/>
                <a:gd name="T25" fmla="*/ 660 h 1138"/>
                <a:gd name="T26" fmla="*/ 663 w 872"/>
                <a:gd name="T27" fmla="*/ 1137 h 1138"/>
                <a:gd name="T28" fmla="*/ 871 w 872"/>
                <a:gd name="T29" fmla="*/ 1137 h 1138"/>
                <a:gd name="T30" fmla="*/ 871 w 872"/>
                <a:gd name="T31" fmla="*/ 635 h 1138"/>
                <a:gd name="T32" fmla="*/ 634 w 872"/>
                <a:gd name="T33" fmla="*/ 357 h 1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72" h="1138">
                  <a:moveTo>
                    <a:pt x="634" y="357"/>
                  </a:moveTo>
                  <a:cubicBezTo>
                    <a:pt x="481" y="357"/>
                    <a:pt x="394" y="452"/>
                    <a:pt x="348" y="523"/>
                  </a:cubicBezTo>
                  <a:cubicBezTo>
                    <a:pt x="348" y="440"/>
                    <a:pt x="348" y="0"/>
                    <a:pt x="348" y="0"/>
                  </a:cubicBezTo>
                  <a:lnTo>
                    <a:pt x="332" y="4"/>
                  </a:lnTo>
                  <a:lnTo>
                    <a:pt x="0" y="46"/>
                  </a:lnTo>
                  <a:lnTo>
                    <a:pt x="0" y="104"/>
                  </a:lnTo>
                  <a:lnTo>
                    <a:pt x="16" y="104"/>
                  </a:lnTo>
                  <a:cubicBezTo>
                    <a:pt x="120" y="108"/>
                    <a:pt x="141" y="133"/>
                    <a:pt x="141" y="233"/>
                  </a:cubicBezTo>
                  <a:lnTo>
                    <a:pt x="141" y="1137"/>
                  </a:lnTo>
                  <a:lnTo>
                    <a:pt x="348" y="1137"/>
                  </a:lnTo>
                  <a:lnTo>
                    <a:pt x="348" y="747"/>
                  </a:lnTo>
                  <a:cubicBezTo>
                    <a:pt x="348" y="606"/>
                    <a:pt x="456" y="494"/>
                    <a:pt x="547" y="494"/>
                  </a:cubicBezTo>
                  <a:cubicBezTo>
                    <a:pt x="663" y="494"/>
                    <a:pt x="663" y="581"/>
                    <a:pt x="663" y="660"/>
                  </a:cubicBezTo>
                  <a:lnTo>
                    <a:pt x="663" y="1137"/>
                  </a:lnTo>
                  <a:lnTo>
                    <a:pt x="871" y="1137"/>
                  </a:lnTo>
                  <a:lnTo>
                    <a:pt x="871" y="635"/>
                  </a:lnTo>
                  <a:cubicBezTo>
                    <a:pt x="871" y="552"/>
                    <a:pt x="871" y="357"/>
                    <a:pt x="634" y="357"/>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58" name="Freeform 17">
              <a:extLst>
                <a:ext uri="{FF2B5EF4-FFF2-40B4-BE49-F238E27FC236}">
                  <a16:creationId xmlns:a16="http://schemas.microsoft.com/office/drawing/2014/main" id="{C77A8482-89B5-A34E-AA34-7608500CD9CD}"/>
                </a:ext>
              </a:extLst>
            </p:cNvPr>
            <p:cNvSpPr>
              <a:spLocks noChangeArrowheads="1"/>
            </p:cNvSpPr>
            <p:nvPr/>
          </p:nvSpPr>
          <p:spPr bwMode="auto">
            <a:xfrm>
              <a:off x="5594350" y="4200525"/>
              <a:ext cx="266700" cy="287338"/>
            </a:xfrm>
            <a:custGeom>
              <a:avLst/>
              <a:gdLst>
                <a:gd name="T0" fmla="*/ 742 w 743"/>
                <a:gd name="T1" fmla="*/ 315 h 797"/>
                <a:gd name="T2" fmla="*/ 394 w 743"/>
                <a:gd name="T3" fmla="*/ 0 h 797"/>
                <a:gd name="T4" fmla="*/ 0 w 743"/>
                <a:gd name="T5" fmla="*/ 373 h 797"/>
                <a:gd name="T6" fmla="*/ 456 w 743"/>
                <a:gd name="T7" fmla="*/ 796 h 797"/>
                <a:gd name="T8" fmla="*/ 713 w 743"/>
                <a:gd name="T9" fmla="*/ 755 h 797"/>
                <a:gd name="T10" fmla="*/ 726 w 743"/>
                <a:gd name="T11" fmla="*/ 751 h 797"/>
                <a:gd name="T12" fmla="*/ 726 w 743"/>
                <a:gd name="T13" fmla="*/ 651 h 797"/>
                <a:gd name="T14" fmla="*/ 705 w 743"/>
                <a:gd name="T15" fmla="*/ 660 h 797"/>
                <a:gd name="T16" fmla="*/ 543 w 743"/>
                <a:gd name="T17" fmla="*/ 684 h 797"/>
                <a:gd name="T18" fmla="*/ 232 w 743"/>
                <a:gd name="T19" fmla="*/ 332 h 797"/>
                <a:gd name="T20" fmla="*/ 742 w 743"/>
                <a:gd name="T21" fmla="*/ 332 h 797"/>
                <a:gd name="T22" fmla="*/ 742 w 743"/>
                <a:gd name="T23" fmla="*/ 315 h 797"/>
                <a:gd name="T24" fmla="*/ 386 w 743"/>
                <a:gd name="T25" fmla="*/ 83 h 797"/>
                <a:gd name="T26" fmla="*/ 531 w 743"/>
                <a:gd name="T27" fmla="*/ 236 h 797"/>
                <a:gd name="T28" fmla="*/ 228 w 743"/>
                <a:gd name="T29" fmla="*/ 236 h 797"/>
                <a:gd name="T30" fmla="*/ 386 w 743"/>
                <a:gd name="T31" fmla="*/ 83 h 7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743" h="797">
                  <a:moveTo>
                    <a:pt x="742" y="315"/>
                  </a:moveTo>
                  <a:cubicBezTo>
                    <a:pt x="742" y="104"/>
                    <a:pt x="626" y="0"/>
                    <a:pt x="394" y="0"/>
                  </a:cubicBezTo>
                  <a:cubicBezTo>
                    <a:pt x="133" y="0"/>
                    <a:pt x="0" y="124"/>
                    <a:pt x="0" y="373"/>
                  </a:cubicBezTo>
                  <a:cubicBezTo>
                    <a:pt x="0" y="639"/>
                    <a:pt x="170" y="796"/>
                    <a:pt x="456" y="796"/>
                  </a:cubicBezTo>
                  <a:cubicBezTo>
                    <a:pt x="581" y="796"/>
                    <a:pt x="676" y="763"/>
                    <a:pt x="713" y="755"/>
                  </a:cubicBezTo>
                  <a:lnTo>
                    <a:pt x="726" y="751"/>
                  </a:lnTo>
                  <a:lnTo>
                    <a:pt x="726" y="651"/>
                  </a:lnTo>
                  <a:lnTo>
                    <a:pt x="705" y="660"/>
                  </a:lnTo>
                  <a:cubicBezTo>
                    <a:pt x="672" y="672"/>
                    <a:pt x="610" y="684"/>
                    <a:pt x="543" y="684"/>
                  </a:cubicBezTo>
                  <a:cubicBezTo>
                    <a:pt x="319" y="684"/>
                    <a:pt x="236" y="498"/>
                    <a:pt x="232" y="332"/>
                  </a:cubicBezTo>
                  <a:cubicBezTo>
                    <a:pt x="261" y="332"/>
                    <a:pt x="742" y="332"/>
                    <a:pt x="742" y="332"/>
                  </a:cubicBezTo>
                  <a:lnTo>
                    <a:pt x="742" y="315"/>
                  </a:lnTo>
                  <a:close/>
                  <a:moveTo>
                    <a:pt x="386" y="83"/>
                  </a:moveTo>
                  <a:cubicBezTo>
                    <a:pt x="498" y="83"/>
                    <a:pt x="527" y="166"/>
                    <a:pt x="531" y="236"/>
                  </a:cubicBezTo>
                  <a:cubicBezTo>
                    <a:pt x="506" y="236"/>
                    <a:pt x="257" y="236"/>
                    <a:pt x="228" y="236"/>
                  </a:cubicBezTo>
                  <a:cubicBezTo>
                    <a:pt x="236" y="183"/>
                    <a:pt x="270" y="83"/>
                    <a:pt x="386" y="83"/>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59" name="Freeform 18">
              <a:extLst>
                <a:ext uri="{FF2B5EF4-FFF2-40B4-BE49-F238E27FC236}">
                  <a16:creationId xmlns:a16="http://schemas.microsoft.com/office/drawing/2014/main" id="{A5C8F1E5-0B3B-3D41-AA0C-BEDAF6EAB750}"/>
                </a:ext>
              </a:extLst>
            </p:cNvPr>
            <p:cNvSpPr>
              <a:spLocks noChangeArrowheads="1"/>
            </p:cNvSpPr>
            <p:nvPr/>
          </p:nvSpPr>
          <p:spPr bwMode="auto">
            <a:xfrm>
              <a:off x="4964113" y="4121150"/>
              <a:ext cx="212725" cy="366713"/>
            </a:xfrm>
            <a:custGeom>
              <a:avLst/>
              <a:gdLst>
                <a:gd name="T0" fmla="*/ 141 w 589"/>
                <a:gd name="T1" fmla="*/ 237 h 1017"/>
                <a:gd name="T2" fmla="*/ 0 w 589"/>
                <a:gd name="T3" fmla="*/ 237 h 1017"/>
                <a:gd name="T4" fmla="*/ 0 w 589"/>
                <a:gd name="T5" fmla="*/ 328 h 1017"/>
                <a:gd name="T6" fmla="*/ 141 w 589"/>
                <a:gd name="T7" fmla="*/ 328 h 1017"/>
                <a:gd name="T8" fmla="*/ 141 w 589"/>
                <a:gd name="T9" fmla="*/ 797 h 1017"/>
                <a:gd name="T10" fmla="*/ 427 w 589"/>
                <a:gd name="T11" fmla="*/ 1016 h 1017"/>
                <a:gd name="T12" fmla="*/ 551 w 589"/>
                <a:gd name="T13" fmla="*/ 1004 h 1017"/>
                <a:gd name="T14" fmla="*/ 564 w 589"/>
                <a:gd name="T15" fmla="*/ 1004 h 1017"/>
                <a:gd name="T16" fmla="*/ 564 w 589"/>
                <a:gd name="T17" fmla="*/ 909 h 1017"/>
                <a:gd name="T18" fmla="*/ 547 w 589"/>
                <a:gd name="T19" fmla="*/ 913 h 1017"/>
                <a:gd name="T20" fmla="*/ 485 w 589"/>
                <a:gd name="T21" fmla="*/ 917 h 1017"/>
                <a:gd name="T22" fmla="*/ 352 w 589"/>
                <a:gd name="T23" fmla="*/ 772 h 1017"/>
                <a:gd name="T24" fmla="*/ 352 w 589"/>
                <a:gd name="T25" fmla="*/ 328 h 1017"/>
                <a:gd name="T26" fmla="*/ 588 w 589"/>
                <a:gd name="T27" fmla="*/ 328 h 1017"/>
                <a:gd name="T28" fmla="*/ 588 w 589"/>
                <a:gd name="T29" fmla="*/ 237 h 1017"/>
                <a:gd name="T30" fmla="*/ 352 w 589"/>
                <a:gd name="T31" fmla="*/ 237 h 1017"/>
                <a:gd name="T32" fmla="*/ 352 w 589"/>
                <a:gd name="T33" fmla="*/ 0 h 1017"/>
                <a:gd name="T34" fmla="*/ 141 w 589"/>
                <a:gd name="T35" fmla="*/ 0 h 1017"/>
                <a:gd name="T36" fmla="*/ 141 w 589"/>
                <a:gd name="T37" fmla="*/ 237 h 10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89" h="1017">
                  <a:moveTo>
                    <a:pt x="141" y="237"/>
                  </a:moveTo>
                  <a:lnTo>
                    <a:pt x="0" y="237"/>
                  </a:lnTo>
                  <a:lnTo>
                    <a:pt x="0" y="328"/>
                  </a:lnTo>
                  <a:lnTo>
                    <a:pt x="141" y="328"/>
                  </a:lnTo>
                  <a:lnTo>
                    <a:pt x="141" y="797"/>
                  </a:lnTo>
                  <a:cubicBezTo>
                    <a:pt x="141" y="1000"/>
                    <a:pt x="270" y="1016"/>
                    <a:pt x="427" y="1016"/>
                  </a:cubicBezTo>
                  <a:cubicBezTo>
                    <a:pt x="464" y="1016"/>
                    <a:pt x="505" y="1012"/>
                    <a:pt x="551" y="1004"/>
                  </a:cubicBezTo>
                  <a:lnTo>
                    <a:pt x="564" y="1004"/>
                  </a:lnTo>
                  <a:lnTo>
                    <a:pt x="564" y="909"/>
                  </a:lnTo>
                  <a:lnTo>
                    <a:pt x="547" y="913"/>
                  </a:lnTo>
                  <a:cubicBezTo>
                    <a:pt x="530" y="917"/>
                    <a:pt x="510" y="917"/>
                    <a:pt x="485" y="917"/>
                  </a:cubicBezTo>
                  <a:cubicBezTo>
                    <a:pt x="360" y="917"/>
                    <a:pt x="352" y="880"/>
                    <a:pt x="352" y="772"/>
                  </a:cubicBezTo>
                  <a:lnTo>
                    <a:pt x="352" y="328"/>
                  </a:lnTo>
                  <a:lnTo>
                    <a:pt x="588" y="328"/>
                  </a:lnTo>
                  <a:lnTo>
                    <a:pt x="588" y="237"/>
                  </a:lnTo>
                  <a:lnTo>
                    <a:pt x="352" y="237"/>
                  </a:lnTo>
                  <a:lnTo>
                    <a:pt x="352" y="0"/>
                  </a:lnTo>
                  <a:lnTo>
                    <a:pt x="141" y="0"/>
                  </a:lnTo>
                  <a:lnTo>
                    <a:pt x="141" y="237"/>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63" name="Freeform 19">
              <a:extLst>
                <a:ext uri="{FF2B5EF4-FFF2-40B4-BE49-F238E27FC236}">
                  <a16:creationId xmlns:a16="http://schemas.microsoft.com/office/drawing/2014/main" id="{384F3AF3-9A9D-6749-BA1F-3C4CDBAF59F0}"/>
                </a:ext>
              </a:extLst>
            </p:cNvPr>
            <p:cNvSpPr>
              <a:spLocks noChangeArrowheads="1"/>
            </p:cNvSpPr>
            <p:nvPr/>
          </p:nvSpPr>
          <p:spPr bwMode="auto">
            <a:xfrm>
              <a:off x="6049963" y="4087813"/>
              <a:ext cx="450850" cy="395287"/>
            </a:xfrm>
            <a:custGeom>
              <a:avLst/>
              <a:gdLst>
                <a:gd name="T0" fmla="*/ 1245 w 1254"/>
                <a:gd name="T1" fmla="*/ 0 h 1096"/>
                <a:gd name="T2" fmla="*/ 1033 w 1254"/>
                <a:gd name="T3" fmla="*/ 0 h 1096"/>
                <a:gd name="T4" fmla="*/ 1033 w 1254"/>
                <a:gd name="T5" fmla="*/ 829 h 1096"/>
                <a:gd name="T6" fmla="*/ 485 w 1254"/>
                <a:gd name="T7" fmla="*/ 0 h 1096"/>
                <a:gd name="T8" fmla="*/ 0 w 1254"/>
                <a:gd name="T9" fmla="*/ 0 h 1096"/>
                <a:gd name="T10" fmla="*/ 0 w 1254"/>
                <a:gd name="T11" fmla="*/ 62 h 1096"/>
                <a:gd name="T12" fmla="*/ 42 w 1254"/>
                <a:gd name="T13" fmla="*/ 70 h 1096"/>
                <a:gd name="T14" fmla="*/ 178 w 1254"/>
                <a:gd name="T15" fmla="*/ 220 h 1096"/>
                <a:gd name="T16" fmla="*/ 178 w 1254"/>
                <a:gd name="T17" fmla="*/ 1095 h 1096"/>
                <a:gd name="T18" fmla="*/ 403 w 1254"/>
                <a:gd name="T19" fmla="*/ 1095 h 1096"/>
                <a:gd name="T20" fmla="*/ 403 w 1254"/>
                <a:gd name="T21" fmla="*/ 228 h 1096"/>
                <a:gd name="T22" fmla="*/ 975 w 1254"/>
                <a:gd name="T23" fmla="*/ 1095 h 1096"/>
                <a:gd name="T24" fmla="*/ 1253 w 1254"/>
                <a:gd name="T25" fmla="*/ 1095 h 1096"/>
                <a:gd name="T26" fmla="*/ 1253 w 1254"/>
                <a:gd name="T27" fmla="*/ 0 h 1096"/>
                <a:gd name="T28" fmla="*/ 1245 w 1254"/>
                <a:gd name="T29" fmla="*/ 0 h 10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54" h="1096">
                  <a:moveTo>
                    <a:pt x="1245" y="0"/>
                  </a:moveTo>
                  <a:lnTo>
                    <a:pt x="1033" y="0"/>
                  </a:lnTo>
                  <a:cubicBezTo>
                    <a:pt x="1033" y="0"/>
                    <a:pt x="1033" y="751"/>
                    <a:pt x="1033" y="829"/>
                  </a:cubicBezTo>
                  <a:cubicBezTo>
                    <a:pt x="992" y="763"/>
                    <a:pt x="485" y="0"/>
                    <a:pt x="485" y="0"/>
                  </a:cubicBezTo>
                  <a:lnTo>
                    <a:pt x="0" y="0"/>
                  </a:lnTo>
                  <a:lnTo>
                    <a:pt x="0" y="62"/>
                  </a:lnTo>
                  <a:lnTo>
                    <a:pt x="42" y="70"/>
                  </a:lnTo>
                  <a:cubicBezTo>
                    <a:pt x="170" y="91"/>
                    <a:pt x="178" y="95"/>
                    <a:pt x="178" y="220"/>
                  </a:cubicBezTo>
                  <a:lnTo>
                    <a:pt x="178" y="1095"/>
                  </a:lnTo>
                  <a:lnTo>
                    <a:pt x="403" y="1095"/>
                  </a:lnTo>
                  <a:cubicBezTo>
                    <a:pt x="403" y="1095"/>
                    <a:pt x="403" y="307"/>
                    <a:pt x="403" y="228"/>
                  </a:cubicBezTo>
                  <a:cubicBezTo>
                    <a:pt x="448" y="294"/>
                    <a:pt x="975" y="1095"/>
                    <a:pt x="975" y="1095"/>
                  </a:cubicBezTo>
                  <a:lnTo>
                    <a:pt x="1253" y="1095"/>
                  </a:lnTo>
                  <a:lnTo>
                    <a:pt x="1253" y="0"/>
                  </a:lnTo>
                  <a:lnTo>
                    <a:pt x="1245"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64" name="Freeform 20">
              <a:extLst>
                <a:ext uri="{FF2B5EF4-FFF2-40B4-BE49-F238E27FC236}">
                  <a16:creationId xmlns:a16="http://schemas.microsoft.com/office/drawing/2014/main" id="{F99D0FF1-431B-6C43-A98F-D450EE81DD44}"/>
                </a:ext>
              </a:extLst>
            </p:cNvPr>
            <p:cNvSpPr>
              <a:spLocks noChangeArrowheads="1"/>
            </p:cNvSpPr>
            <p:nvPr/>
          </p:nvSpPr>
          <p:spPr bwMode="auto">
            <a:xfrm>
              <a:off x="6573838" y="4200525"/>
              <a:ext cx="266700" cy="287338"/>
            </a:xfrm>
            <a:custGeom>
              <a:avLst/>
              <a:gdLst>
                <a:gd name="T0" fmla="*/ 390 w 740"/>
                <a:gd name="T1" fmla="*/ 0 h 797"/>
                <a:gd name="T2" fmla="*/ 0 w 740"/>
                <a:gd name="T3" fmla="*/ 373 h 797"/>
                <a:gd name="T4" fmla="*/ 456 w 740"/>
                <a:gd name="T5" fmla="*/ 796 h 797"/>
                <a:gd name="T6" fmla="*/ 714 w 740"/>
                <a:gd name="T7" fmla="*/ 755 h 797"/>
                <a:gd name="T8" fmla="*/ 726 w 740"/>
                <a:gd name="T9" fmla="*/ 751 h 797"/>
                <a:gd name="T10" fmla="*/ 726 w 740"/>
                <a:gd name="T11" fmla="*/ 651 h 797"/>
                <a:gd name="T12" fmla="*/ 705 w 740"/>
                <a:gd name="T13" fmla="*/ 660 h 797"/>
                <a:gd name="T14" fmla="*/ 539 w 740"/>
                <a:gd name="T15" fmla="*/ 684 h 797"/>
                <a:gd name="T16" fmla="*/ 228 w 740"/>
                <a:gd name="T17" fmla="*/ 332 h 797"/>
                <a:gd name="T18" fmla="*/ 739 w 740"/>
                <a:gd name="T19" fmla="*/ 332 h 797"/>
                <a:gd name="T20" fmla="*/ 739 w 740"/>
                <a:gd name="T21" fmla="*/ 315 h 797"/>
                <a:gd name="T22" fmla="*/ 390 w 740"/>
                <a:gd name="T23" fmla="*/ 0 h 797"/>
                <a:gd name="T24" fmla="*/ 386 w 740"/>
                <a:gd name="T25" fmla="*/ 83 h 797"/>
                <a:gd name="T26" fmla="*/ 531 w 740"/>
                <a:gd name="T27" fmla="*/ 236 h 797"/>
                <a:gd name="T28" fmla="*/ 228 w 740"/>
                <a:gd name="T29" fmla="*/ 236 h 797"/>
                <a:gd name="T30" fmla="*/ 386 w 740"/>
                <a:gd name="T31" fmla="*/ 83 h 7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740" h="797">
                  <a:moveTo>
                    <a:pt x="390" y="0"/>
                  </a:moveTo>
                  <a:cubicBezTo>
                    <a:pt x="129" y="0"/>
                    <a:pt x="0" y="124"/>
                    <a:pt x="0" y="373"/>
                  </a:cubicBezTo>
                  <a:cubicBezTo>
                    <a:pt x="0" y="639"/>
                    <a:pt x="170" y="796"/>
                    <a:pt x="456" y="796"/>
                  </a:cubicBezTo>
                  <a:cubicBezTo>
                    <a:pt x="581" y="796"/>
                    <a:pt x="676" y="767"/>
                    <a:pt x="714" y="755"/>
                  </a:cubicBezTo>
                  <a:lnTo>
                    <a:pt x="726" y="751"/>
                  </a:lnTo>
                  <a:lnTo>
                    <a:pt x="726" y="651"/>
                  </a:lnTo>
                  <a:lnTo>
                    <a:pt x="705" y="660"/>
                  </a:lnTo>
                  <a:cubicBezTo>
                    <a:pt x="672" y="672"/>
                    <a:pt x="610" y="684"/>
                    <a:pt x="539" y="684"/>
                  </a:cubicBezTo>
                  <a:cubicBezTo>
                    <a:pt x="315" y="684"/>
                    <a:pt x="232" y="498"/>
                    <a:pt x="228" y="332"/>
                  </a:cubicBezTo>
                  <a:lnTo>
                    <a:pt x="739" y="332"/>
                  </a:lnTo>
                  <a:lnTo>
                    <a:pt x="739" y="315"/>
                  </a:lnTo>
                  <a:cubicBezTo>
                    <a:pt x="739" y="104"/>
                    <a:pt x="622" y="0"/>
                    <a:pt x="390" y="0"/>
                  </a:cubicBezTo>
                  <a:close/>
                  <a:moveTo>
                    <a:pt x="386" y="83"/>
                  </a:moveTo>
                  <a:cubicBezTo>
                    <a:pt x="498" y="83"/>
                    <a:pt x="527" y="162"/>
                    <a:pt x="531" y="236"/>
                  </a:cubicBezTo>
                  <a:lnTo>
                    <a:pt x="228" y="236"/>
                  </a:lnTo>
                  <a:cubicBezTo>
                    <a:pt x="232" y="187"/>
                    <a:pt x="270" y="83"/>
                    <a:pt x="386" y="83"/>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65" name="Freeform 21">
              <a:extLst>
                <a:ext uri="{FF2B5EF4-FFF2-40B4-BE49-F238E27FC236}">
                  <a16:creationId xmlns:a16="http://schemas.microsoft.com/office/drawing/2014/main" id="{DFFDE76A-9014-3145-B23E-7C6216603528}"/>
                </a:ext>
              </a:extLst>
            </p:cNvPr>
            <p:cNvSpPr>
              <a:spLocks noChangeArrowheads="1"/>
            </p:cNvSpPr>
            <p:nvPr/>
          </p:nvSpPr>
          <p:spPr bwMode="auto">
            <a:xfrm>
              <a:off x="7204075" y="4121150"/>
              <a:ext cx="212725" cy="366713"/>
            </a:xfrm>
            <a:custGeom>
              <a:avLst/>
              <a:gdLst>
                <a:gd name="T0" fmla="*/ 141 w 590"/>
                <a:gd name="T1" fmla="*/ 237 h 1017"/>
                <a:gd name="T2" fmla="*/ 0 w 590"/>
                <a:gd name="T3" fmla="*/ 237 h 1017"/>
                <a:gd name="T4" fmla="*/ 0 w 590"/>
                <a:gd name="T5" fmla="*/ 328 h 1017"/>
                <a:gd name="T6" fmla="*/ 141 w 590"/>
                <a:gd name="T7" fmla="*/ 328 h 1017"/>
                <a:gd name="T8" fmla="*/ 141 w 590"/>
                <a:gd name="T9" fmla="*/ 797 h 1017"/>
                <a:gd name="T10" fmla="*/ 427 w 590"/>
                <a:gd name="T11" fmla="*/ 1016 h 1017"/>
                <a:gd name="T12" fmla="*/ 551 w 590"/>
                <a:gd name="T13" fmla="*/ 1004 h 1017"/>
                <a:gd name="T14" fmla="*/ 564 w 590"/>
                <a:gd name="T15" fmla="*/ 1004 h 1017"/>
                <a:gd name="T16" fmla="*/ 564 w 590"/>
                <a:gd name="T17" fmla="*/ 909 h 1017"/>
                <a:gd name="T18" fmla="*/ 547 w 590"/>
                <a:gd name="T19" fmla="*/ 913 h 1017"/>
                <a:gd name="T20" fmla="*/ 485 w 590"/>
                <a:gd name="T21" fmla="*/ 917 h 1017"/>
                <a:gd name="T22" fmla="*/ 352 w 590"/>
                <a:gd name="T23" fmla="*/ 772 h 1017"/>
                <a:gd name="T24" fmla="*/ 352 w 590"/>
                <a:gd name="T25" fmla="*/ 328 h 1017"/>
                <a:gd name="T26" fmla="*/ 589 w 590"/>
                <a:gd name="T27" fmla="*/ 328 h 1017"/>
                <a:gd name="T28" fmla="*/ 589 w 590"/>
                <a:gd name="T29" fmla="*/ 237 h 1017"/>
                <a:gd name="T30" fmla="*/ 352 w 590"/>
                <a:gd name="T31" fmla="*/ 237 h 1017"/>
                <a:gd name="T32" fmla="*/ 352 w 590"/>
                <a:gd name="T33" fmla="*/ 0 h 1017"/>
                <a:gd name="T34" fmla="*/ 141 w 590"/>
                <a:gd name="T35" fmla="*/ 0 h 1017"/>
                <a:gd name="T36" fmla="*/ 141 w 590"/>
                <a:gd name="T37" fmla="*/ 237 h 10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90" h="1017">
                  <a:moveTo>
                    <a:pt x="141" y="237"/>
                  </a:moveTo>
                  <a:lnTo>
                    <a:pt x="0" y="237"/>
                  </a:lnTo>
                  <a:lnTo>
                    <a:pt x="0" y="328"/>
                  </a:lnTo>
                  <a:lnTo>
                    <a:pt x="141" y="328"/>
                  </a:lnTo>
                  <a:lnTo>
                    <a:pt x="141" y="797"/>
                  </a:lnTo>
                  <a:cubicBezTo>
                    <a:pt x="141" y="1000"/>
                    <a:pt x="269" y="1016"/>
                    <a:pt x="427" y="1016"/>
                  </a:cubicBezTo>
                  <a:cubicBezTo>
                    <a:pt x="464" y="1016"/>
                    <a:pt x="506" y="1012"/>
                    <a:pt x="551" y="1004"/>
                  </a:cubicBezTo>
                  <a:lnTo>
                    <a:pt x="564" y="1004"/>
                  </a:lnTo>
                  <a:lnTo>
                    <a:pt x="564" y="909"/>
                  </a:lnTo>
                  <a:lnTo>
                    <a:pt x="547" y="913"/>
                  </a:lnTo>
                  <a:cubicBezTo>
                    <a:pt x="531" y="917"/>
                    <a:pt x="510" y="917"/>
                    <a:pt x="485" y="917"/>
                  </a:cubicBezTo>
                  <a:cubicBezTo>
                    <a:pt x="361" y="917"/>
                    <a:pt x="352" y="880"/>
                    <a:pt x="352" y="772"/>
                  </a:cubicBezTo>
                  <a:lnTo>
                    <a:pt x="352" y="328"/>
                  </a:lnTo>
                  <a:lnTo>
                    <a:pt x="589" y="328"/>
                  </a:lnTo>
                  <a:lnTo>
                    <a:pt x="589" y="237"/>
                  </a:lnTo>
                  <a:lnTo>
                    <a:pt x="352" y="237"/>
                  </a:lnTo>
                  <a:lnTo>
                    <a:pt x="352" y="0"/>
                  </a:lnTo>
                  <a:lnTo>
                    <a:pt x="141" y="0"/>
                  </a:lnTo>
                  <a:lnTo>
                    <a:pt x="141" y="237"/>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66" name="Freeform 22">
              <a:extLst>
                <a:ext uri="{FF2B5EF4-FFF2-40B4-BE49-F238E27FC236}">
                  <a16:creationId xmlns:a16="http://schemas.microsoft.com/office/drawing/2014/main" id="{87DC48FF-3F70-F940-9EB2-8196B0F9EF48}"/>
                </a:ext>
              </a:extLst>
            </p:cNvPr>
            <p:cNvSpPr>
              <a:spLocks noChangeArrowheads="1"/>
            </p:cNvSpPr>
            <p:nvPr/>
          </p:nvSpPr>
          <p:spPr bwMode="auto">
            <a:xfrm>
              <a:off x="6850063" y="4206875"/>
              <a:ext cx="331787" cy="274638"/>
            </a:xfrm>
            <a:custGeom>
              <a:avLst/>
              <a:gdLst>
                <a:gd name="T0" fmla="*/ 705 w 921"/>
                <a:gd name="T1" fmla="*/ 248 h 764"/>
                <a:gd name="T2" fmla="*/ 920 w 921"/>
                <a:gd name="T3" fmla="*/ 0 h 764"/>
                <a:gd name="T4" fmla="*/ 701 w 921"/>
                <a:gd name="T5" fmla="*/ 0 h 764"/>
                <a:gd name="T6" fmla="*/ 497 w 921"/>
                <a:gd name="T7" fmla="*/ 236 h 764"/>
                <a:gd name="T8" fmla="*/ 319 w 921"/>
                <a:gd name="T9" fmla="*/ 0 h 764"/>
                <a:gd name="T10" fmla="*/ 0 w 921"/>
                <a:gd name="T11" fmla="*/ 0 h 764"/>
                <a:gd name="T12" fmla="*/ 0 w 921"/>
                <a:gd name="T13" fmla="*/ 62 h 764"/>
                <a:gd name="T14" fmla="*/ 12 w 921"/>
                <a:gd name="T15" fmla="*/ 62 h 764"/>
                <a:gd name="T16" fmla="*/ 211 w 921"/>
                <a:gd name="T17" fmla="*/ 178 h 764"/>
                <a:gd name="T18" fmla="*/ 344 w 921"/>
                <a:gd name="T19" fmla="*/ 352 h 764"/>
                <a:gd name="T20" fmla="*/ 128 w 921"/>
                <a:gd name="T21" fmla="*/ 601 h 764"/>
                <a:gd name="T22" fmla="*/ 348 w 921"/>
                <a:gd name="T23" fmla="*/ 601 h 764"/>
                <a:gd name="T24" fmla="*/ 443 w 921"/>
                <a:gd name="T25" fmla="*/ 489 h 764"/>
                <a:gd name="T26" fmla="*/ 651 w 921"/>
                <a:gd name="T27" fmla="*/ 763 h 764"/>
                <a:gd name="T28" fmla="*/ 900 w 921"/>
                <a:gd name="T29" fmla="*/ 763 h 764"/>
                <a:gd name="T30" fmla="*/ 506 w 921"/>
                <a:gd name="T31" fmla="*/ 248 h 764"/>
                <a:gd name="T32" fmla="*/ 705 w 921"/>
                <a:gd name="T33" fmla="*/ 248 h 7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21" h="764">
                  <a:moveTo>
                    <a:pt x="705" y="248"/>
                  </a:moveTo>
                  <a:lnTo>
                    <a:pt x="920" y="0"/>
                  </a:lnTo>
                  <a:lnTo>
                    <a:pt x="701" y="0"/>
                  </a:lnTo>
                  <a:lnTo>
                    <a:pt x="497" y="236"/>
                  </a:lnTo>
                  <a:lnTo>
                    <a:pt x="319" y="0"/>
                  </a:lnTo>
                  <a:lnTo>
                    <a:pt x="0" y="0"/>
                  </a:lnTo>
                  <a:lnTo>
                    <a:pt x="0" y="62"/>
                  </a:lnTo>
                  <a:lnTo>
                    <a:pt x="12" y="62"/>
                  </a:lnTo>
                  <a:cubicBezTo>
                    <a:pt x="120" y="70"/>
                    <a:pt x="145" y="87"/>
                    <a:pt x="211" y="178"/>
                  </a:cubicBezTo>
                  <a:lnTo>
                    <a:pt x="344" y="352"/>
                  </a:lnTo>
                  <a:lnTo>
                    <a:pt x="128" y="601"/>
                  </a:lnTo>
                  <a:lnTo>
                    <a:pt x="348" y="601"/>
                  </a:lnTo>
                  <a:lnTo>
                    <a:pt x="443" y="489"/>
                  </a:lnTo>
                  <a:lnTo>
                    <a:pt x="651" y="763"/>
                  </a:lnTo>
                  <a:lnTo>
                    <a:pt x="900" y="763"/>
                  </a:lnTo>
                  <a:lnTo>
                    <a:pt x="506" y="248"/>
                  </a:lnTo>
                  <a:lnTo>
                    <a:pt x="705" y="248"/>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sp>
          <p:nvSpPr>
            <p:cNvPr id="67" name="Freeform 23">
              <a:extLst>
                <a:ext uri="{FF2B5EF4-FFF2-40B4-BE49-F238E27FC236}">
                  <a16:creationId xmlns:a16="http://schemas.microsoft.com/office/drawing/2014/main" id="{D419EB28-F506-EA4B-9DF6-C19B40710402}"/>
                </a:ext>
              </a:extLst>
            </p:cNvPr>
            <p:cNvSpPr>
              <a:spLocks noChangeArrowheads="1"/>
            </p:cNvSpPr>
            <p:nvPr/>
          </p:nvSpPr>
          <p:spPr bwMode="auto">
            <a:xfrm>
              <a:off x="7175500" y="4010025"/>
              <a:ext cx="176213" cy="111125"/>
            </a:xfrm>
            <a:custGeom>
              <a:avLst/>
              <a:gdLst>
                <a:gd name="T0" fmla="*/ 224 w 490"/>
                <a:gd name="T1" fmla="*/ 307 h 308"/>
                <a:gd name="T2" fmla="*/ 0 w 490"/>
                <a:gd name="T3" fmla="*/ 307 h 308"/>
                <a:gd name="T4" fmla="*/ 269 w 490"/>
                <a:gd name="T5" fmla="*/ 0 h 308"/>
                <a:gd name="T6" fmla="*/ 489 w 490"/>
                <a:gd name="T7" fmla="*/ 0 h 308"/>
                <a:gd name="T8" fmla="*/ 224 w 490"/>
                <a:gd name="T9" fmla="*/ 307 h 308"/>
              </a:gdLst>
              <a:ahLst/>
              <a:cxnLst>
                <a:cxn ang="0">
                  <a:pos x="T0" y="T1"/>
                </a:cxn>
                <a:cxn ang="0">
                  <a:pos x="T2" y="T3"/>
                </a:cxn>
                <a:cxn ang="0">
                  <a:pos x="T4" y="T5"/>
                </a:cxn>
                <a:cxn ang="0">
                  <a:pos x="T6" y="T7"/>
                </a:cxn>
                <a:cxn ang="0">
                  <a:pos x="T8" y="T9"/>
                </a:cxn>
              </a:cxnLst>
              <a:rect l="0" t="0" r="r" b="b"/>
              <a:pathLst>
                <a:path w="490" h="308">
                  <a:moveTo>
                    <a:pt x="224" y="307"/>
                  </a:moveTo>
                  <a:lnTo>
                    <a:pt x="0" y="307"/>
                  </a:lnTo>
                  <a:lnTo>
                    <a:pt x="269" y="0"/>
                  </a:lnTo>
                  <a:lnTo>
                    <a:pt x="489" y="0"/>
                  </a:lnTo>
                  <a:lnTo>
                    <a:pt x="224" y="307"/>
                  </a:lnTo>
                </a:path>
              </a:pathLst>
            </a:custGeom>
            <a:solidFill>
              <a:schemeClr val="accent2"/>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414141"/>
                </a:solidFill>
                <a:latin typeface="Arial"/>
              </a:endParaRPr>
            </a:p>
          </p:txBody>
        </p:sp>
      </p:grpSp>
    </p:spTree>
    <p:extLst>
      <p:ext uri="{BB962C8B-B14F-4D97-AF65-F5344CB8AC3E}">
        <p14:creationId xmlns:p14="http://schemas.microsoft.com/office/powerpoint/2010/main" val="3961590733"/>
      </p:ext>
    </p:extLst>
  </p:cSld>
  <p:clrMap bg1="lt1" tx1="dk1" bg2="lt2" tx2="dk2" accent1="accent1" accent2="accent2" accent3="accent3" accent4="accent4" accent5="accent5" accent6="accent6" hlink="hlink" folHlink="folHlink"/>
  <p:sldLayoutIdLst>
    <p:sldLayoutId id="2147483874" r:id="rId1"/>
    <p:sldLayoutId id="2147483861" r:id="rId2"/>
    <p:sldLayoutId id="2147483869" r:id="rId3"/>
    <p:sldLayoutId id="2147483839" r:id="rId4"/>
    <p:sldLayoutId id="2147483840" r:id="rId5"/>
    <p:sldLayoutId id="2147483844" r:id="rId6"/>
    <p:sldLayoutId id="2147483833" r:id="rId7"/>
    <p:sldLayoutId id="2147483863" r:id="rId8"/>
    <p:sldLayoutId id="2147483871" r:id="rId9"/>
    <p:sldLayoutId id="2147483875" r:id="rId10"/>
    <p:sldLayoutId id="2147483876" r:id="rId11"/>
    <p:sldLayoutId id="2147483867" r:id="rId12"/>
    <p:sldLayoutId id="2147483877" r:id="rId13"/>
    <p:sldLayoutId id="2147483878" r:id="rId14"/>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txStyles>
    <p:titleStyle>
      <a:lvl1pPr algn="l" defTabSz="914400" rtl="0" eaLnBrk="1" latinLnBrk="0" hangingPunct="1">
        <a:lnSpc>
          <a:spcPct val="85000"/>
        </a:lnSpc>
        <a:spcBef>
          <a:spcPct val="0"/>
        </a:spcBef>
        <a:buNone/>
        <a:defRPr lang="en-US" sz="2400" b="1" kern="1200" cap="none" dirty="0" smtClean="0">
          <a:solidFill>
            <a:schemeClr val="tx1"/>
          </a:solidFill>
          <a:latin typeface="+mj-lt"/>
          <a:ea typeface="+mj-ea"/>
          <a:cs typeface="+mj-cs"/>
        </a:defRPr>
      </a:lvl1pPr>
    </p:titleStyle>
    <p:bodyStyle>
      <a:lvl1pPr marL="280988" indent="-280988" algn="l" defTabSz="914400" rtl="0" eaLnBrk="1" latinLnBrk="0" hangingPunct="1">
        <a:lnSpc>
          <a:spcPct val="100000"/>
        </a:lnSpc>
        <a:spcBef>
          <a:spcPts val="1200"/>
        </a:spcBef>
        <a:spcAft>
          <a:spcPts val="600"/>
        </a:spcAft>
        <a:buClr>
          <a:schemeClr val="accent2"/>
        </a:buClr>
        <a:buFont typeface="Arial" panose="020B0604020202020204" pitchFamily="34" charset="0"/>
        <a:buChar char="•"/>
        <a:defRPr lang="en-US" sz="2000" kern="1200" dirty="0" smtClean="0">
          <a:solidFill>
            <a:schemeClr val="tx1"/>
          </a:solidFill>
          <a:latin typeface="+mn-lt"/>
          <a:ea typeface="+mn-ea"/>
          <a:cs typeface="+mn-cs"/>
        </a:defRPr>
      </a:lvl1pPr>
      <a:lvl2pPr marL="574675" indent="-293688" algn="l" defTabSz="914400" rtl="0" eaLnBrk="1" latinLnBrk="0" hangingPunct="1">
        <a:lnSpc>
          <a:spcPct val="95000"/>
        </a:lnSpc>
        <a:spcBef>
          <a:spcPct val="20000"/>
        </a:spcBef>
        <a:spcAft>
          <a:spcPts val="800"/>
        </a:spcAft>
        <a:buFontTx/>
        <a:buChar char="‒"/>
        <a:defRPr lang="en-US" sz="1800" kern="1200" dirty="0" smtClean="0">
          <a:solidFill>
            <a:schemeClr val="tx1"/>
          </a:solidFill>
          <a:latin typeface="+mn-lt"/>
          <a:ea typeface="+mn-ea"/>
          <a:cs typeface="+mn-cs"/>
        </a:defRPr>
      </a:lvl2pPr>
      <a:lvl3pPr marL="855663" indent="-280988" algn="l" defTabSz="914400" rtl="0" eaLnBrk="1" latinLnBrk="0" hangingPunct="1">
        <a:lnSpc>
          <a:spcPct val="95000"/>
        </a:lnSpc>
        <a:spcBef>
          <a:spcPts val="0"/>
        </a:spcBef>
        <a:spcAft>
          <a:spcPts val="800"/>
        </a:spcAft>
        <a:buFontTx/>
        <a:buChar char="‒"/>
        <a:defRPr lang="en-US" sz="1600" kern="1200" dirty="0" smtClean="0">
          <a:solidFill>
            <a:schemeClr val="tx1"/>
          </a:solidFill>
          <a:latin typeface="+mn-lt"/>
          <a:ea typeface="+mn-ea"/>
          <a:cs typeface="+mn-cs"/>
        </a:defRPr>
      </a:lvl3pPr>
      <a:lvl4pPr marL="1090613" indent="-234950" algn="l" defTabSz="914400" rtl="0" eaLnBrk="1" latinLnBrk="0" hangingPunct="1">
        <a:lnSpc>
          <a:spcPct val="95000"/>
        </a:lnSpc>
        <a:spcBef>
          <a:spcPts val="0"/>
        </a:spcBef>
        <a:spcAft>
          <a:spcPts val="800"/>
        </a:spcAft>
        <a:buFontTx/>
        <a:buChar char="‒"/>
        <a:defRPr lang="en-US" sz="1400" kern="1200" dirty="0" smtClean="0">
          <a:solidFill>
            <a:schemeClr val="tx1"/>
          </a:solidFill>
          <a:latin typeface="+mn-lt"/>
          <a:ea typeface="+mn-ea"/>
          <a:cs typeface="+mn-cs"/>
        </a:defRPr>
      </a:lvl4pPr>
      <a:lvl5pPr marL="1312863" indent="-222250" algn="l" defTabSz="914400" rtl="0" eaLnBrk="1" latinLnBrk="0" hangingPunct="1">
        <a:lnSpc>
          <a:spcPct val="95000"/>
        </a:lnSpc>
        <a:spcBef>
          <a:spcPts val="0"/>
        </a:spcBef>
        <a:spcAft>
          <a:spcPts val="800"/>
        </a:spcAft>
        <a:buFontTx/>
        <a:buChar char="‒"/>
        <a:defRPr lang="en-US" sz="1800" kern="1200" dirty="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512">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13.xml"/><Relationship Id="rId6" Type="http://schemas.openxmlformats.org/officeDocument/2006/relationships/image" Target="../media/image13.tiff"/><Relationship Id="rId5" Type="http://schemas.openxmlformats.org/officeDocument/2006/relationships/image" Target="../media/image12.tiff"/><Relationship Id="rId4" Type="http://schemas.openxmlformats.org/officeDocument/2006/relationships/image" Target="../media/image11.tiff"/></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14.tiff"/><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8.xml"/><Relationship Id="rId4" Type="http://schemas.openxmlformats.org/officeDocument/2006/relationships/image" Target="../media/image16.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3" Type="http://schemas.openxmlformats.org/officeDocument/2006/relationships/image" Target="../media/image17.tiff"/><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8.xml"/><Relationship Id="rId1" Type="http://schemas.openxmlformats.org/officeDocument/2006/relationships/tags" Target="../tags/tag2.xml"/><Relationship Id="rId4" Type="http://schemas.openxmlformats.org/officeDocument/2006/relationships/image" Target="../media/image19.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8.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8.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8.xml"/></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8.xml"/><Relationship Id="rId1" Type="http://schemas.openxmlformats.org/officeDocument/2006/relationships/tags" Target="../tags/tag3.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8.xml"/><Relationship Id="rId1" Type="http://schemas.openxmlformats.org/officeDocument/2006/relationships/tags" Target="../tags/tag4.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8.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8.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8.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8.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8.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8.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8.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8.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8.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8.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8.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8.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8.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8.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8.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8.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8.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9.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ubtitle 7"/>
          <p:cNvSpPr>
            <a:spLocks noGrp="1"/>
          </p:cNvSpPr>
          <p:nvPr>
            <p:ph type="subTitle" idx="1"/>
          </p:nvPr>
        </p:nvSpPr>
        <p:spPr>
          <a:xfrm>
            <a:off x="681348" y="2219487"/>
            <a:ext cx="4286425" cy="1200329"/>
          </a:xfrm>
        </p:spPr>
        <p:txBody>
          <a:bodyPr/>
          <a:lstStyle/>
          <a:p>
            <a:r>
              <a:rPr lang="en-US" dirty="0"/>
              <a:t>Storage Architecture and Best Practices</a:t>
            </a:r>
          </a:p>
          <a:p>
            <a:endParaRPr lang="en-US" dirty="0"/>
          </a:p>
        </p:txBody>
      </p:sp>
      <p:sp>
        <p:nvSpPr>
          <p:cNvPr id="7" name="Title 6"/>
          <p:cNvSpPr>
            <a:spLocks noGrp="1"/>
          </p:cNvSpPr>
          <p:nvPr>
            <p:ph type="ctrTitle"/>
          </p:nvPr>
        </p:nvSpPr>
        <p:spPr/>
        <p:txBody>
          <a:bodyPr/>
          <a:lstStyle/>
          <a:p>
            <a:r>
              <a:rPr lang="en-US" dirty="0"/>
              <a:t>Hitachi NAS5000</a:t>
            </a:r>
          </a:p>
        </p:txBody>
      </p:sp>
    </p:spTree>
    <p:extLst>
      <p:ext uri="{BB962C8B-B14F-4D97-AF65-F5344CB8AC3E}">
        <p14:creationId xmlns:p14="http://schemas.microsoft.com/office/powerpoint/2010/main" val="13727234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578" name="Rectangle 3"/>
          <p:cNvSpPr>
            <a:spLocks noGrp="1" noChangeArrowheads="1"/>
          </p:cNvSpPr>
          <p:nvPr>
            <p:ph type="title"/>
          </p:nvPr>
        </p:nvSpPr>
        <p:spPr>
          <a:xfrm>
            <a:off x="70597" y="58452"/>
            <a:ext cx="7051040" cy="732441"/>
          </a:xfrm>
        </p:spPr>
        <p:txBody>
          <a:bodyPr/>
          <a:lstStyle/>
          <a:p>
            <a:pPr eaLnBrk="1" hangingPunct="1"/>
            <a:r>
              <a:rPr lang="en-US" dirty="0">
                <a:ea typeface="HGP創英角ｺﾞｼｯｸUB"/>
              </a:rPr>
              <a:t>Storage Framework</a:t>
            </a:r>
            <a:endParaRPr lang="en-US" dirty="0">
              <a:solidFill>
                <a:schemeClr val="tx1"/>
              </a:solidFill>
              <a:ea typeface="HGP創英角ｺﾞｼｯｸUB"/>
            </a:endParaRPr>
          </a:p>
        </p:txBody>
      </p:sp>
      <p:sp>
        <p:nvSpPr>
          <p:cNvPr id="24579" name="Rectangle 4"/>
          <p:cNvSpPr>
            <a:spLocks noGrp="1" noChangeArrowheads="1"/>
          </p:cNvSpPr>
          <p:nvPr>
            <p:ph type="body" idx="1"/>
          </p:nvPr>
        </p:nvSpPr>
        <p:spPr>
          <a:xfrm>
            <a:off x="5949191" y="694551"/>
            <a:ext cx="3075232" cy="4247317"/>
          </a:xfrm>
        </p:spPr>
        <p:txBody>
          <a:bodyPr/>
          <a:lstStyle/>
          <a:p>
            <a:pPr marL="230188" indent="-230188">
              <a:tabLst/>
            </a:pPr>
            <a:r>
              <a:rPr lang="en-US" sz="1400" dirty="0">
                <a:solidFill>
                  <a:schemeClr val="tx1"/>
                </a:solidFill>
              </a:rPr>
              <a:t>Shares and Exports are assigned to an EVS and each point to a File System Path</a:t>
            </a:r>
          </a:p>
          <a:p>
            <a:pPr marL="230188" indent="-230188">
              <a:tabLst/>
            </a:pPr>
            <a:r>
              <a:rPr lang="en-US" sz="1400" dirty="0">
                <a:solidFill>
                  <a:schemeClr val="tx1"/>
                </a:solidFill>
              </a:rPr>
              <a:t>Virtual Servers </a:t>
            </a:r>
            <a:r>
              <a:rPr lang="en-US" sz="1400" dirty="0"/>
              <a:t>reside on a cluster node and each have one or more file systems. </a:t>
            </a:r>
          </a:p>
          <a:p>
            <a:pPr marL="230188" indent="-230188">
              <a:tabLst/>
            </a:pPr>
            <a:r>
              <a:rPr lang="en-US" sz="1400" dirty="0">
                <a:solidFill>
                  <a:schemeClr val="tx1"/>
                </a:solidFill>
              </a:rPr>
              <a:t>File System capacity is allocated from a Span (NAS Storage Pool)</a:t>
            </a:r>
          </a:p>
          <a:p>
            <a:pPr marL="230188" indent="-230188">
              <a:tabLst/>
            </a:pPr>
            <a:r>
              <a:rPr lang="en-US" sz="1400" dirty="0"/>
              <a:t>Virtual Volumes are quota trees carved from File System Capacity (Shares/Export typically point to </a:t>
            </a:r>
            <a:r>
              <a:rPr lang="en-US" sz="1400" dirty="0" err="1"/>
              <a:t>ViVols</a:t>
            </a:r>
            <a:r>
              <a:rPr lang="en-US" sz="1400" dirty="0"/>
              <a:t>)</a:t>
            </a:r>
          </a:p>
          <a:p>
            <a:pPr marL="230188" indent="-230188">
              <a:tabLst/>
            </a:pPr>
            <a:r>
              <a:rPr lang="en-US" sz="1400" dirty="0">
                <a:solidFill>
                  <a:schemeClr val="tx1"/>
                </a:solidFill>
              </a:rPr>
              <a:t>Spans are composed of System Drives /DP Volumes that are drawn from an HDP Pool</a:t>
            </a:r>
          </a:p>
        </p:txBody>
      </p:sp>
      <p:sp>
        <p:nvSpPr>
          <p:cNvPr id="24581" name="Text Box 155"/>
          <p:cNvSpPr txBox="1">
            <a:spLocks noChangeAspect="1" noChangeArrowheads="1"/>
          </p:cNvSpPr>
          <p:nvPr/>
        </p:nvSpPr>
        <p:spPr bwMode="auto">
          <a:xfrm>
            <a:off x="119577" y="2042398"/>
            <a:ext cx="1131888" cy="523220"/>
          </a:xfrm>
          <a:prstGeom prst="rect">
            <a:avLst/>
          </a:prstGeom>
          <a:noFill/>
          <a:ln w="9525">
            <a:noFill/>
            <a:miter lim="800000"/>
            <a:headEnd/>
            <a:tailEnd/>
          </a:ln>
        </p:spPr>
        <p:txBody>
          <a:bodyPr>
            <a:spAutoFit/>
          </a:bodyPr>
          <a:lstStyle/>
          <a:p>
            <a:pPr>
              <a:buNone/>
            </a:pPr>
            <a:r>
              <a:rPr lang="en-US" sz="1400" b="1" dirty="0">
                <a:latin typeface="Helvetica"/>
              </a:rPr>
              <a:t>Multiple EVS </a:t>
            </a:r>
            <a:endParaRPr kumimoji="0" lang="en-US" sz="1400" b="1" dirty="0">
              <a:solidFill>
                <a:schemeClr val="tx1"/>
              </a:solidFill>
              <a:latin typeface="Helvetica"/>
            </a:endParaRPr>
          </a:p>
        </p:txBody>
      </p:sp>
      <p:sp>
        <p:nvSpPr>
          <p:cNvPr id="24582" name="Text Box 156"/>
          <p:cNvSpPr txBox="1">
            <a:spLocks noChangeAspect="1" noChangeArrowheads="1"/>
          </p:cNvSpPr>
          <p:nvPr/>
        </p:nvSpPr>
        <p:spPr bwMode="auto">
          <a:xfrm>
            <a:off x="39488" y="2968229"/>
            <a:ext cx="1371599" cy="738664"/>
          </a:xfrm>
          <a:prstGeom prst="rect">
            <a:avLst/>
          </a:prstGeom>
          <a:noFill/>
          <a:ln w="9525">
            <a:noFill/>
            <a:miter lim="800000"/>
            <a:headEnd/>
            <a:tailEnd/>
          </a:ln>
        </p:spPr>
        <p:txBody>
          <a:bodyPr wrap="square">
            <a:spAutoFit/>
          </a:bodyPr>
          <a:lstStyle/>
          <a:p>
            <a:pPr>
              <a:buNone/>
            </a:pPr>
            <a:r>
              <a:rPr kumimoji="0" lang="en-US" sz="1400" b="1" dirty="0" err="1">
                <a:solidFill>
                  <a:schemeClr val="tx1"/>
                </a:solidFill>
                <a:latin typeface="Helvetica"/>
              </a:rPr>
              <a:t>ViVol</a:t>
            </a:r>
            <a:r>
              <a:rPr lang="en-US" sz="1400" b="1" dirty="0" err="1">
                <a:latin typeface="Helvetica"/>
              </a:rPr>
              <a:t>s</a:t>
            </a:r>
            <a:endParaRPr lang="en-US" sz="1400" b="1" dirty="0">
              <a:latin typeface="Helvetica"/>
            </a:endParaRPr>
          </a:p>
          <a:p>
            <a:pPr>
              <a:buNone/>
            </a:pPr>
            <a:r>
              <a:rPr lang="en-US" sz="1400" b="1" dirty="0">
                <a:latin typeface="Helvetica"/>
              </a:rPr>
              <a:t>File Systems</a:t>
            </a:r>
          </a:p>
          <a:p>
            <a:pPr>
              <a:buNone/>
            </a:pPr>
            <a:r>
              <a:rPr kumimoji="0" lang="en-US" sz="1400" b="1" dirty="0">
                <a:solidFill>
                  <a:schemeClr val="tx1"/>
                </a:solidFill>
                <a:latin typeface="Helvetica"/>
              </a:rPr>
              <a:t>Storage Pool</a:t>
            </a:r>
          </a:p>
        </p:txBody>
      </p:sp>
      <p:sp>
        <p:nvSpPr>
          <p:cNvPr id="24584" name="Rectangle 158"/>
          <p:cNvSpPr>
            <a:spLocks noChangeArrowheads="1"/>
          </p:cNvSpPr>
          <p:nvPr/>
        </p:nvSpPr>
        <p:spPr bwMode="auto">
          <a:xfrm>
            <a:off x="119577" y="1082372"/>
            <a:ext cx="1506537" cy="523220"/>
          </a:xfrm>
          <a:prstGeom prst="rect">
            <a:avLst/>
          </a:prstGeom>
          <a:noFill/>
          <a:ln w="9525">
            <a:noFill/>
            <a:miter lim="800000"/>
            <a:headEnd/>
            <a:tailEnd/>
          </a:ln>
        </p:spPr>
        <p:txBody>
          <a:bodyPr>
            <a:spAutoFit/>
          </a:bodyPr>
          <a:lstStyle/>
          <a:p>
            <a:pPr>
              <a:buNone/>
            </a:pPr>
            <a:r>
              <a:rPr kumimoji="0" lang="en-US" sz="1400" b="1" dirty="0">
                <a:solidFill>
                  <a:schemeClr val="tx1"/>
                </a:solidFill>
                <a:latin typeface="Helvetica"/>
              </a:rPr>
              <a:t>Shares</a:t>
            </a:r>
          </a:p>
          <a:p>
            <a:pPr>
              <a:buNone/>
            </a:pPr>
            <a:r>
              <a:rPr kumimoji="0" lang="en-US" sz="1400" b="1" dirty="0">
                <a:solidFill>
                  <a:schemeClr val="tx1"/>
                </a:solidFill>
                <a:latin typeface="Helvetica"/>
              </a:rPr>
              <a:t>Exports</a:t>
            </a:r>
          </a:p>
        </p:txBody>
      </p:sp>
      <p:sp>
        <p:nvSpPr>
          <p:cNvPr id="24585" name="Line 159"/>
          <p:cNvSpPr>
            <a:spLocks noChangeShapeType="1"/>
          </p:cNvSpPr>
          <p:nvPr/>
        </p:nvSpPr>
        <p:spPr bwMode="auto">
          <a:xfrm>
            <a:off x="161926" y="2818210"/>
            <a:ext cx="5640998" cy="4121"/>
          </a:xfrm>
          <a:prstGeom prst="line">
            <a:avLst/>
          </a:prstGeom>
          <a:noFill/>
          <a:ln w="9525">
            <a:solidFill>
              <a:schemeClr val="folHlink"/>
            </a:solidFill>
            <a:round/>
            <a:headEnd/>
            <a:tailEnd/>
          </a:ln>
        </p:spPr>
        <p:txBody>
          <a:bodyPr/>
          <a:lstStyle/>
          <a:p>
            <a:endParaRPr lang="en-US"/>
          </a:p>
        </p:txBody>
      </p:sp>
      <p:sp>
        <p:nvSpPr>
          <p:cNvPr id="24586" name="Line 160"/>
          <p:cNvSpPr>
            <a:spLocks noChangeShapeType="1"/>
          </p:cNvSpPr>
          <p:nvPr/>
        </p:nvSpPr>
        <p:spPr bwMode="auto">
          <a:xfrm flipV="1">
            <a:off x="161926" y="3824654"/>
            <a:ext cx="5640998" cy="12731"/>
          </a:xfrm>
          <a:prstGeom prst="line">
            <a:avLst/>
          </a:prstGeom>
          <a:noFill/>
          <a:ln w="9525">
            <a:solidFill>
              <a:schemeClr val="folHlink"/>
            </a:solidFill>
            <a:round/>
            <a:headEnd/>
            <a:tailEnd/>
          </a:ln>
        </p:spPr>
        <p:txBody>
          <a:bodyPr/>
          <a:lstStyle/>
          <a:p>
            <a:endParaRPr lang="en-US"/>
          </a:p>
        </p:txBody>
      </p:sp>
      <p:sp>
        <p:nvSpPr>
          <p:cNvPr id="24587" name="Line 161"/>
          <p:cNvSpPr>
            <a:spLocks noChangeShapeType="1"/>
          </p:cNvSpPr>
          <p:nvPr/>
        </p:nvSpPr>
        <p:spPr bwMode="auto">
          <a:xfrm>
            <a:off x="161925" y="1903810"/>
            <a:ext cx="5652721" cy="4121"/>
          </a:xfrm>
          <a:prstGeom prst="line">
            <a:avLst/>
          </a:prstGeom>
          <a:noFill/>
          <a:ln w="9525">
            <a:solidFill>
              <a:schemeClr val="folHlink"/>
            </a:solidFill>
            <a:round/>
            <a:headEnd/>
            <a:tailEnd/>
          </a:ln>
        </p:spPr>
        <p:txBody>
          <a:bodyPr/>
          <a:lstStyle/>
          <a:p>
            <a:endParaRPr lang="en-US"/>
          </a:p>
        </p:txBody>
      </p:sp>
      <p:grpSp>
        <p:nvGrpSpPr>
          <p:cNvPr id="3" name="Group 35"/>
          <p:cNvGrpSpPr>
            <a:grpSpLocks/>
          </p:cNvGrpSpPr>
          <p:nvPr/>
        </p:nvGrpSpPr>
        <p:grpSpPr bwMode="auto">
          <a:xfrm>
            <a:off x="2188457" y="1136762"/>
            <a:ext cx="401638" cy="386953"/>
            <a:chOff x="1593" y="1253"/>
            <a:chExt cx="253" cy="325"/>
          </a:xfrm>
        </p:grpSpPr>
        <p:sp>
          <p:nvSpPr>
            <p:cNvPr id="24716" name="Line 164"/>
            <p:cNvSpPr>
              <a:spLocks noChangeAspect="1" noChangeShapeType="1"/>
            </p:cNvSpPr>
            <p:nvPr/>
          </p:nvSpPr>
          <p:spPr bwMode="auto">
            <a:xfrm>
              <a:off x="1741" y="1315"/>
              <a:ext cx="0" cy="47"/>
            </a:xfrm>
            <a:prstGeom prst="line">
              <a:avLst/>
            </a:prstGeom>
            <a:noFill/>
            <a:ln w="9525">
              <a:solidFill>
                <a:schemeClr val="tx1"/>
              </a:solidFill>
              <a:round/>
              <a:headEnd/>
              <a:tailEnd/>
            </a:ln>
          </p:spPr>
          <p:txBody>
            <a:bodyPr/>
            <a:lstStyle/>
            <a:p>
              <a:endParaRPr lang="en-US"/>
            </a:p>
          </p:txBody>
        </p:sp>
        <p:sp>
          <p:nvSpPr>
            <p:cNvPr id="24717" name="Line 165"/>
            <p:cNvSpPr>
              <a:spLocks noChangeAspect="1" noChangeShapeType="1"/>
            </p:cNvSpPr>
            <p:nvPr/>
          </p:nvSpPr>
          <p:spPr bwMode="auto">
            <a:xfrm flipH="1">
              <a:off x="1698" y="1359"/>
              <a:ext cx="44" cy="58"/>
            </a:xfrm>
            <a:prstGeom prst="line">
              <a:avLst/>
            </a:prstGeom>
            <a:noFill/>
            <a:ln w="9525">
              <a:solidFill>
                <a:schemeClr val="tx1"/>
              </a:solidFill>
              <a:round/>
              <a:headEnd/>
              <a:tailEnd/>
            </a:ln>
          </p:spPr>
          <p:txBody>
            <a:bodyPr/>
            <a:lstStyle/>
            <a:p>
              <a:endParaRPr lang="en-US"/>
            </a:p>
          </p:txBody>
        </p:sp>
        <p:sp>
          <p:nvSpPr>
            <p:cNvPr id="24718" name="Line 166"/>
            <p:cNvSpPr>
              <a:spLocks noChangeAspect="1" noChangeShapeType="1"/>
            </p:cNvSpPr>
            <p:nvPr/>
          </p:nvSpPr>
          <p:spPr bwMode="auto">
            <a:xfrm>
              <a:off x="1739" y="1359"/>
              <a:ext cx="44" cy="58"/>
            </a:xfrm>
            <a:prstGeom prst="line">
              <a:avLst/>
            </a:prstGeom>
            <a:noFill/>
            <a:ln w="9525">
              <a:solidFill>
                <a:schemeClr val="tx1"/>
              </a:solidFill>
              <a:round/>
              <a:headEnd/>
              <a:tailEnd/>
            </a:ln>
          </p:spPr>
          <p:txBody>
            <a:bodyPr/>
            <a:lstStyle/>
            <a:p>
              <a:endParaRPr lang="en-US"/>
            </a:p>
          </p:txBody>
        </p:sp>
        <p:grpSp>
          <p:nvGrpSpPr>
            <p:cNvPr id="4" name="Group 167"/>
            <p:cNvGrpSpPr>
              <a:grpSpLocks noChangeAspect="1"/>
            </p:cNvGrpSpPr>
            <p:nvPr/>
          </p:nvGrpSpPr>
          <p:grpSpPr bwMode="auto">
            <a:xfrm>
              <a:off x="1655" y="1417"/>
              <a:ext cx="85" cy="102"/>
              <a:chOff x="4547" y="1438"/>
              <a:chExt cx="148" cy="178"/>
            </a:xfrm>
          </p:grpSpPr>
          <p:sp>
            <p:nvSpPr>
              <p:cNvPr id="24724" name="Line 168"/>
              <p:cNvSpPr>
                <a:spLocks noChangeAspect="1" noChangeShapeType="1"/>
              </p:cNvSpPr>
              <p:nvPr/>
            </p:nvSpPr>
            <p:spPr bwMode="auto">
              <a:xfrm>
                <a:off x="4622" y="1438"/>
                <a:ext cx="0" cy="82"/>
              </a:xfrm>
              <a:prstGeom prst="line">
                <a:avLst/>
              </a:prstGeom>
              <a:noFill/>
              <a:ln w="9525">
                <a:solidFill>
                  <a:schemeClr val="tx1"/>
                </a:solidFill>
                <a:round/>
                <a:headEnd/>
                <a:tailEnd/>
              </a:ln>
            </p:spPr>
            <p:txBody>
              <a:bodyPr/>
              <a:lstStyle/>
              <a:p>
                <a:endParaRPr lang="en-US"/>
              </a:p>
            </p:txBody>
          </p:sp>
          <p:sp>
            <p:nvSpPr>
              <p:cNvPr id="24725" name="Line 169"/>
              <p:cNvSpPr>
                <a:spLocks noChangeAspect="1" noChangeShapeType="1"/>
              </p:cNvSpPr>
              <p:nvPr/>
            </p:nvSpPr>
            <p:spPr bwMode="auto">
              <a:xfrm flipH="1">
                <a:off x="4547" y="1515"/>
                <a:ext cx="76" cy="101"/>
              </a:xfrm>
              <a:prstGeom prst="line">
                <a:avLst/>
              </a:prstGeom>
              <a:noFill/>
              <a:ln w="9525">
                <a:solidFill>
                  <a:schemeClr val="tx1"/>
                </a:solidFill>
                <a:round/>
                <a:headEnd/>
                <a:tailEnd/>
              </a:ln>
            </p:spPr>
            <p:txBody>
              <a:bodyPr/>
              <a:lstStyle/>
              <a:p>
                <a:endParaRPr lang="en-US"/>
              </a:p>
            </p:txBody>
          </p:sp>
          <p:sp>
            <p:nvSpPr>
              <p:cNvPr id="24726" name="Line 170"/>
              <p:cNvSpPr>
                <a:spLocks noChangeAspect="1" noChangeShapeType="1"/>
              </p:cNvSpPr>
              <p:nvPr/>
            </p:nvSpPr>
            <p:spPr bwMode="auto">
              <a:xfrm>
                <a:off x="4619" y="1515"/>
                <a:ext cx="76" cy="101"/>
              </a:xfrm>
              <a:prstGeom prst="line">
                <a:avLst/>
              </a:prstGeom>
              <a:noFill/>
              <a:ln w="9525">
                <a:solidFill>
                  <a:schemeClr val="tx1"/>
                </a:solidFill>
                <a:round/>
                <a:headEnd/>
                <a:tailEnd/>
              </a:ln>
            </p:spPr>
            <p:txBody>
              <a:bodyPr/>
              <a:lstStyle/>
              <a:p>
                <a:endParaRPr lang="en-US"/>
              </a:p>
            </p:txBody>
          </p:sp>
        </p:grpSp>
        <p:pic>
          <p:nvPicPr>
            <p:cNvPr id="24720" name="Picture 43" descr="npo000098"/>
            <p:cNvPicPr>
              <a:picLocks noChangeAspect="1" noChangeArrowheads="1"/>
            </p:cNvPicPr>
            <p:nvPr/>
          </p:nvPicPr>
          <p:blipFill>
            <a:blip r:embed="rId3" cstate="print"/>
            <a:srcRect/>
            <a:stretch>
              <a:fillRect/>
            </a:stretch>
          </p:blipFill>
          <p:spPr bwMode="auto">
            <a:xfrm>
              <a:off x="1783" y="1416"/>
              <a:ext cx="63" cy="65"/>
            </a:xfrm>
            <a:prstGeom prst="rect">
              <a:avLst/>
            </a:prstGeom>
            <a:noFill/>
            <a:ln w="9525">
              <a:noFill/>
              <a:miter lim="800000"/>
              <a:headEnd/>
              <a:tailEnd/>
            </a:ln>
          </p:spPr>
        </p:pic>
        <p:pic>
          <p:nvPicPr>
            <p:cNvPr id="24721" name="Picture 44" descr="npo000099"/>
            <p:cNvPicPr>
              <a:picLocks noChangeAspect="1" noChangeArrowheads="1"/>
            </p:cNvPicPr>
            <p:nvPr/>
          </p:nvPicPr>
          <p:blipFill>
            <a:blip r:embed="rId3" cstate="print"/>
            <a:srcRect/>
            <a:stretch>
              <a:fillRect/>
            </a:stretch>
          </p:blipFill>
          <p:spPr bwMode="auto">
            <a:xfrm>
              <a:off x="1593" y="1514"/>
              <a:ext cx="63" cy="64"/>
            </a:xfrm>
            <a:prstGeom prst="rect">
              <a:avLst/>
            </a:prstGeom>
            <a:noFill/>
            <a:ln w="9525">
              <a:noFill/>
              <a:miter lim="800000"/>
              <a:headEnd/>
              <a:tailEnd/>
            </a:ln>
          </p:spPr>
        </p:pic>
        <p:pic>
          <p:nvPicPr>
            <p:cNvPr id="24722" name="Picture 45" descr="npo00009a"/>
            <p:cNvPicPr>
              <a:picLocks noChangeAspect="1" noChangeArrowheads="1"/>
            </p:cNvPicPr>
            <p:nvPr/>
          </p:nvPicPr>
          <p:blipFill>
            <a:blip r:embed="rId3" cstate="print"/>
            <a:srcRect/>
            <a:stretch>
              <a:fillRect/>
            </a:stretch>
          </p:blipFill>
          <p:spPr bwMode="auto">
            <a:xfrm>
              <a:off x="1728" y="1514"/>
              <a:ext cx="63" cy="64"/>
            </a:xfrm>
            <a:prstGeom prst="rect">
              <a:avLst/>
            </a:prstGeom>
            <a:noFill/>
            <a:ln w="9525">
              <a:noFill/>
              <a:miter lim="800000"/>
              <a:headEnd/>
              <a:tailEnd/>
            </a:ln>
          </p:spPr>
        </p:pic>
        <p:pic>
          <p:nvPicPr>
            <p:cNvPr id="24723" name="Picture 46" descr="npo00009b"/>
            <p:cNvPicPr>
              <a:picLocks noChangeAspect="1" noChangeArrowheads="1"/>
            </p:cNvPicPr>
            <p:nvPr/>
          </p:nvPicPr>
          <p:blipFill>
            <a:blip r:embed="rId3" cstate="print"/>
            <a:srcRect/>
            <a:stretch>
              <a:fillRect/>
            </a:stretch>
          </p:blipFill>
          <p:spPr bwMode="auto">
            <a:xfrm>
              <a:off x="1707" y="1253"/>
              <a:ext cx="63" cy="64"/>
            </a:xfrm>
            <a:prstGeom prst="rect">
              <a:avLst/>
            </a:prstGeom>
            <a:noFill/>
            <a:ln w="9525">
              <a:noFill/>
              <a:miter lim="800000"/>
              <a:headEnd/>
              <a:tailEnd/>
            </a:ln>
          </p:spPr>
        </p:pic>
      </p:grpSp>
      <p:grpSp>
        <p:nvGrpSpPr>
          <p:cNvPr id="5" name="Group 47"/>
          <p:cNvGrpSpPr>
            <a:grpSpLocks/>
          </p:cNvGrpSpPr>
          <p:nvPr/>
        </p:nvGrpSpPr>
        <p:grpSpPr bwMode="auto">
          <a:xfrm>
            <a:off x="2657677" y="1136762"/>
            <a:ext cx="401638" cy="386953"/>
            <a:chOff x="1930" y="1254"/>
            <a:chExt cx="253" cy="325"/>
          </a:xfrm>
        </p:grpSpPr>
        <p:sp>
          <p:nvSpPr>
            <p:cNvPr id="24705" name="Line 176"/>
            <p:cNvSpPr>
              <a:spLocks noChangeAspect="1" noChangeShapeType="1"/>
            </p:cNvSpPr>
            <p:nvPr/>
          </p:nvSpPr>
          <p:spPr bwMode="auto">
            <a:xfrm>
              <a:off x="2078" y="1316"/>
              <a:ext cx="0" cy="47"/>
            </a:xfrm>
            <a:prstGeom prst="line">
              <a:avLst/>
            </a:prstGeom>
            <a:noFill/>
            <a:ln w="9525">
              <a:solidFill>
                <a:schemeClr val="tx1"/>
              </a:solidFill>
              <a:round/>
              <a:headEnd/>
              <a:tailEnd/>
            </a:ln>
          </p:spPr>
          <p:txBody>
            <a:bodyPr/>
            <a:lstStyle/>
            <a:p>
              <a:endParaRPr lang="en-US"/>
            </a:p>
          </p:txBody>
        </p:sp>
        <p:sp>
          <p:nvSpPr>
            <p:cNvPr id="24706" name="Line 177"/>
            <p:cNvSpPr>
              <a:spLocks noChangeAspect="1" noChangeShapeType="1"/>
            </p:cNvSpPr>
            <p:nvPr/>
          </p:nvSpPr>
          <p:spPr bwMode="auto">
            <a:xfrm flipH="1">
              <a:off x="2035" y="1360"/>
              <a:ext cx="44" cy="58"/>
            </a:xfrm>
            <a:prstGeom prst="line">
              <a:avLst/>
            </a:prstGeom>
            <a:noFill/>
            <a:ln w="9525">
              <a:solidFill>
                <a:schemeClr val="tx1"/>
              </a:solidFill>
              <a:round/>
              <a:headEnd/>
              <a:tailEnd/>
            </a:ln>
          </p:spPr>
          <p:txBody>
            <a:bodyPr/>
            <a:lstStyle/>
            <a:p>
              <a:endParaRPr lang="en-US"/>
            </a:p>
          </p:txBody>
        </p:sp>
        <p:sp>
          <p:nvSpPr>
            <p:cNvPr id="24707" name="Line 178"/>
            <p:cNvSpPr>
              <a:spLocks noChangeAspect="1" noChangeShapeType="1"/>
            </p:cNvSpPr>
            <p:nvPr/>
          </p:nvSpPr>
          <p:spPr bwMode="auto">
            <a:xfrm>
              <a:off x="2076" y="1360"/>
              <a:ext cx="44" cy="58"/>
            </a:xfrm>
            <a:prstGeom prst="line">
              <a:avLst/>
            </a:prstGeom>
            <a:noFill/>
            <a:ln w="9525">
              <a:solidFill>
                <a:schemeClr val="tx1"/>
              </a:solidFill>
              <a:round/>
              <a:headEnd/>
              <a:tailEnd/>
            </a:ln>
          </p:spPr>
          <p:txBody>
            <a:bodyPr/>
            <a:lstStyle/>
            <a:p>
              <a:endParaRPr lang="en-US"/>
            </a:p>
          </p:txBody>
        </p:sp>
        <p:grpSp>
          <p:nvGrpSpPr>
            <p:cNvPr id="6" name="Group 179"/>
            <p:cNvGrpSpPr>
              <a:grpSpLocks noChangeAspect="1"/>
            </p:cNvGrpSpPr>
            <p:nvPr/>
          </p:nvGrpSpPr>
          <p:grpSpPr bwMode="auto">
            <a:xfrm>
              <a:off x="1992" y="1418"/>
              <a:ext cx="85" cy="102"/>
              <a:chOff x="4547" y="1438"/>
              <a:chExt cx="148" cy="178"/>
            </a:xfrm>
          </p:grpSpPr>
          <p:sp>
            <p:nvSpPr>
              <p:cNvPr id="24713" name="Line 180"/>
              <p:cNvSpPr>
                <a:spLocks noChangeAspect="1" noChangeShapeType="1"/>
              </p:cNvSpPr>
              <p:nvPr/>
            </p:nvSpPr>
            <p:spPr bwMode="auto">
              <a:xfrm>
                <a:off x="4622" y="1438"/>
                <a:ext cx="0" cy="82"/>
              </a:xfrm>
              <a:prstGeom prst="line">
                <a:avLst/>
              </a:prstGeom>
              <a:noFill/>
              <a:ln w="9525">
                <a:solidFill>
                  <a:schemeClr val="tx1"/>
                </a:solidFill>
                <a:round/>
                <a:headEnd/>
                <a:tailEnd/>
              </a:ln>
            </p:spPr>
            <p:txBody>
              <a:bodyPr/>
              <a:lstStyle/>
              <a:p>
                <a:endParaRPr lang="en-US"/>
              </a:p>
            </p:txBody>
          </p:sp>
          <p:sp>
            <p:nvSpPr>
              <p:cNvPr id="24714" name="Line 181"/>
              <p:cNvSpPr>
                <a:spLocks noChangeAspect="1" noChangeShapeType="1"/>
              </p:cNvSpPr>
              <p:nvPr/>
            </p:nvSpPr>
            <p:spPr bwMode="auto">
              <a:xfrm flipH="1">
                <a:off x="4547" y="1515"/>
                <a:ext cx="76" cy="101"/>
              </a:xfrm>
              <a:prstGeom prst="line">
                <a:avLst/>
              </a:prstGeom>
              <a:noFill/>
              <a:ln w="9525">
                <a:solidFill>
                  <a:schemeClr val="tx1"/>
                </a:solidFill>
                <a:round/>
                <a:headEnd/>
                <a:tailEnd/>
              </a:ln>
            </p:spPr>
            <p:txBody>
              <a:bodyPr/>
              <a:lstStyle/>
              <a:p>
                <a:endParaRPr lang="en-US"/>
              </a:p>
            </p:txBody>
          </p:sp>
          <p:sp>
            <p:nvSpPr>
              <p:cNvPr id="24715" name="Line 182"/>
              <p:cNvSpPr>
                <a:spLocks noChangeAspect="1" noChangeShapeType="1"/>
              </p:cNvSpPr>
              <p:nvPr/>
            </p:nvSpPr>
            <p:spPr bwMode="auto">
              <a:xfrm>
                <a:off x="4619" y="1515"/>
                <a:ext cx="76" cy="101"/>
              </a:xfrm>
              <a:prstGeom prst="line">
                <a:avLst/>
              </a:prstGeom>
              <a:noFill/>
              <a:ln w="9525">
                <a:solidFill>
                  <a:schemeClr val="tx1"/>
                </a:solidFill>
                <a:round/>
                <a:headEnd/>
                <a:tailEnd/>
              </a:ln>
            </p:spPr>
            <p:txBody>
              <a:bodyPr/>
              <a:lstStyle/>
              <a:p>
                <a:endParaRPr lang="en-US"/>
              </a:p>
            </p:txBody>
          </p:sp>
        </p:grpSp>
        <p:pic>
          <p:nvPicPr>
            <p:cNvPr id="24709" name="Picture 55" descr="npo00009c"/>
            <p:cNvPicPr>
              <a:picLocks noChangeAspect="1" noChangeArrowheads="1"/>
            </p:cNvPicPr>
            <p:nvPr/>
          </p:nvPicPr>
          <p:blipFill>
            <a:blip r:embed="rId3" cstate="print"/>
            <a:srcRect/>
            <a:stretch>
              <a:fillRect/>
            </a:stretch>
          </p:blipFill>
          <p:spPr bwMode="auto">
            <a:xfrm>
              <a:off x="2120" y="1417"/>
              <a:ext cx="63" cy="65"/>
            </a:xfrm>
            <a:prstGeom prst="rect">
              <a:avLst/>
            </a:prstGeom>
            <a:noFill/>
            <a:ln w="9525">
              <a:noFill/>
              <a:miter lim="800000"/>
              <a:headEnd/>
              <a:tailEnd/>
            </a:ln>
          </p:spPr>
        </p:pic>
        <p:pic>
          <p:nvPicPr>
            <p:cNvPr id="24710" name="Picture 56" descr="npo00009d"/>
            <p:cNvPicPr>
              <a:picLocks noChangeAspect="1" noChangeArrowheads="1"/>
            </p:cNvPicPr>
            <p:nvPr/>
          </p:nvPicPr>
          <p:blipFill>
            <a:blip r:embed="rId3" cstate="print"/>
            <a:srcRect/>
            <a:stretch>
              <a:fillRect/>
            </a:stretch>
          </p:blipFill>
          <p:spPr bwMode="auto">
            <a:xfrm>
              <a:off x="1930" y="1515"/>
              <a:ext cx="63" cy="64"/>
            </a:xfrm>
            <a:prstGeom prst="rect">
              <a:avLst/>
            </a:prstGeom>
            <a:noFill/>
            <a:ln w="9525">
              <a:noFill/>
              <a:miter lim="800000"/>
              <a:headEnd/>
              <a:tailEnd/>
            </a:ln>
          </p:spPr>
        </p:pic>
        <p:pic>
          <p:nvPicPr>
            <p:cNvPr id="24711" name="Picture 57" descr="npo00009e"/>
            <p:cNvPicPr>
              <a:picLocks noChangeAspect="1" noChangeArrowheads="1"/>
            </p:cNvPicPr>
            <p:nvPr/>
          </p:nvPicPr>
          <p:blipFill>
            <a:blip r:embed="rId3" cstate="print"/>
            <a:srcRect/>
            <a:stretch>
              <a:fillRect/>
            </a:stretch>
          </p:blipFill>
          <p:spPr bwMode="auto">
            <a:xfrm>
              <a:off x="2065" y="1515"/>
              <a:ext cx="63" cy="64"/>
            </a:xfrm>
            <a:prstGeom prst="rect">
              <a:avLst/>
            </a:prstGeom>
            <a:noFill/>
            <a:ln w="9525">
              <a:noFill/>
              <a:miter lim="800000"/>
              <a:headEnd/>
              <a:tailEnd/>
            </a:ln>
          </p:spPr>
        </p:pic>
        <p:pic>
          <p:nvPicPr>
            <p:cNvPr id="24712" name="Picture 58" descr="npo00009f"/>
            <p:cNvPicPr>
              <a:picLocks noChangeAspect="1" noChangeArrowheads="1"/>
            </p:cNvPicPr>
            <p:nvPr/>
          </p:nvPicPr>
          <p:blipFill>
            <a:blip r:embed="rId3" cstate="print"/>
            <a:srcRect/>
            <a:stretch>
              <a:fillRect/>
            </a:stretch>
          </p:blipFill>
          <p:spPr bwMode="auto">
            <a:xfrm>
              <a:off x="2044" y="1254"/>
              <a:ext cx="63" cy="64"/>
            </a:xfrm>
            <a:prstGeom prst="rect">
              <a:avLst/>
            </a:prstGeom>
            <a:noFill/>
            <a:ln w="9525">
              <a:noFill/>
              <a:miter lim="800000"/>
              <a:headEnd/>
              <a:tailEnd/>
            </a:ln>
          </p:spPr>
        </p:pic>
      </p:grpSp>
      <p:sp>
        <p:nvSpPr>
          <p:cNvPr id="24608" name="AutoShape 221"/>
          <p:cNvSpPr>
            <a:spLocks noChangeAspect="1" noChangeArrowheads="1"/>
          </p:cNvSpPr>
          <p:nvPr/>
        </p:nvSpPr>
        <p:spPr bwMode="auto">
          <a:xfrm>
            <a:off x="4232050" y="2901554"/>
            <a:ext cx="1341437" cy="831056"/>
          </a:xfrm>
          <a:prstGeom prst="can">
            <a:avLst>
              <a:gd name="adj" fmla="val 10194"/>
            </a:avLst>
          </a:prstGeom>
          <a:solidFill>
            <a:schemeClr val="accent4"/>
          </a:solidFill>
          <a:ln w="9525">
            <a:solidFill>
              <a:schemeClr val="tx1"/>
            </a:solidFill>
            <a:round/>
            <a:headEnd/>
            <a:tailEnd/>
          </a:ln>
        </p:spPr>
        <p:txBody>
          <a:bodyPr wrap="none" anchor="ctr"/>
          <a:lstStyle/>
          <a:p>
            <a:pPr algn="ctr"/>
            <a:endParaRPr kumimoji="0" lang="en-US">
              <a:solidFill>
                <a:schemeClr val="bg1"/>
              </a:solidFill>
              <a:latin typeface="Helvetica"/>
            </a:endParaRPr>
          </a:p>
        </p:txBody>
      </p:sp>
      <p:sp>
        <p:nvSpPr>
          <p:cNvPr id="24612" name="Rectangle 225"/>
          <p:cNvSpPr>
            <a:spLocks noChangeArrowheads="1"/>
          </p:cNvSpPr>
          <p:nvPr/>
        </p:nvSpPr>
        <p:spPr bwMode="auto">
          <a:xfrm>
            <a:off x="4432075" y="2968229"/>
            <a:ext cx="973343" cy="246221"/>
          </a:xfrm>
          <a:prstGeom prst="rect">
            <a:avLst/>
          </a:prstGeom>
          <a:noFill/>
          <a:ln w="9525">
            <a:noFill/>
            <a:miter lim="800000"/>
            <a:headEnd/>
            <a:tailEnd/>
          </a:ln>
        </p:spPr>
        <p:txBody>
          <a:bodyPr wrap="none">
            <a:spAutoFit/>
          </a:bodyPr>
          <a:lstStyle/>
          <a:p>
            <a:pPr>
              <a:buNone/>
            </a:pPr>
            <a:r>
              <a:rPr kumimoji="0" lang="en-US" sz="1000" b="1" dirty="0">
                <a:solidFill>
                  <a:schemeClr val="tx1"/>
                </a:solidFill>
                <a:latin typeface="Helvetica"/>
              </a:rPr>
              <a:t>Storage Pool</a:t>
            </a:r>
          </a:p>
        </p:txBody>
      </p:sp>
      <p:grpSp>
        <p:nvGrpSpPr>
          <p:cNvPr id="9" name="Group 226"/>
          <p:cNvGrpSpPr>
            <a:grpSpLocks/>
          </p:cNvGrpSpPr>
          <p:nvPr/>
        </p:nvGrpSpPr>
        <p:grpSpPr bwMode="auto">
          <a:xfrm>
            <a:off x="4266976" y="3139679"/>
            <a:ext cx="1290637" cy="601266"/>
            <a:chOff x="-791" y="2717"/>
            <a:chExt cx="813" cy="505"/>
          </a:xfrm>
        </p:grpSpPr>
        <p:sp>
          <p:nvSpPr>
            <p:cNvPr id="24673" name="Rectangle 227"/>
            <p:cNvSpPr>
              <a:spLocks noChangeArrowheads="1"/>
            </p:cNvSpPr>
            <p:nvPr/>
          </p:nvSpPr>
          <p:spPr bwMode="auto">
            <a:xfrm>
              <a:off x="-791" y="2740"/>
              <a:ext cx="791" cy="420"/>
            </a:xfrm>
            <a:prstGeom prst="rect">
              <a:avLst/>
            </a:prstGeom>
            <a:solidFill>
              <a:schemeClr val="bg1"/>
            </a:solidFill>
            <a:ln w="9525">
              <a:solidFill>
                <a:schemeClr val="accent2"/>
              </a:solidFill>
              <a:miter lim="800000"/>
              <a:headEnd/>
              <a:tailEnd/>
            </a:ln>
          </p:spPr>
          <p:txBody>
            <a:bodyPr wrap="none" anchor="ctr"/>
            <a:lstStyle/>
            <a:p>
              <a:pPr>
                <a:spcBef>
                  <a:spcPct val="20000"/>
                </a:spcBef>
                <a:buFontTx/>
                <a:buChar char="•"/>
              </a:pPr>
              <a:endParaRPr lang="en-US"/>
            </a:p>
          </p:txBody>
        </p:sp>
        <p:sp>
          <p:nvSpPr>
            <p:cNvPr id="24674" name="AutoShape 228"/>
            <p:cNvSpPr>
              <a:spLocks noChangeArrowheads="1"/>
            </p:cNvSpPr>
            <p:nvPr/>
          </p:nvSpPr>
          <p:spPr bwMode="auto">
            <a:xfrm>
              <a:off x="-746" y="2873"/>
              <a:ext cx="96" cy="67"/>
            </a:xfrm>
            <a:prstGeom prst="can">
              <a:avLst>
                <a:gd name="adj" fmla="val 25000"/>
              </a:avLst>
            </a:prstGeom>
            <a:solidFill>
              <a:srgbClr val="AFEAFF"/>
            </a:solidFill>
            <a:ln w="9525">
              <a:solidFill>
                <a:schemeClr val="tx1"/>
              </a:solidFill>
              <a:round/>
              <a:headEnd/>
              <a:tailEnd/>
            </a:ln>
          </p:spPr>
          <p:txBody>
            <a:bodyPr wrap="none" anchor="ctr"/>
            <a:lstStyle/>
            <a:p>
              <a:pPr>
                <a:spcBef>
                  <a:spcPct val="20000"/>
                </a:spcBef>
                <a:buFontTx/>
                <a:buChar char="•"/>
              </a:pPr>
              <a:endParaRPr lang="en-US"/>
            </a:p>
          </p:txBody>
        </p:sp>
        <p:sp>
          <p:nvSpPr>
            <p:cNvPr id="24675" name="AutoShape 229"/>
            <p:cNvSpPr>
              <a:spLocks noChangeArrowheads="1"/>
            </p:cNvSpPr>
            <p:nvPr/>
          </p:nvSpPr>
          <p:spPr bwMode="auto">
            <a:xfrm>
              <a:off x="-613" y="2872"/>
              <a:ext cx="96" cy="67"/>
            </a:xfrm>
            <a:prstGeom prst="can">
              <a:avLst>
                <a:gd name="adj" fmla="val 25000"/>
              </a:avLst>
            </a:prstGeom>
            <a:solidFill>
              <a:srgbClr val="AFEAFF"/>
            </a:solidFill>
            <a:ln w="9525">
              <a:solidFill>
                <a:schemeClr val="tx1"/>
              </a:solidFill>
              <a:round/>
              <a:headEnd/>
              <a:tailEnd/>
            </a:ln>
          </p:spPr>
          <p:txBody>
            <a:bodyPr wrap="none" anchor="ctr"/>
            <a:lstStyle/>
            <a:p>
              <a:pPr>
                <a:spcBef>
                  <a:spcPct val="20000"/>
                </a:spcBef>
                <a:buFontTx/>
                <a:buChar char="•"/>
              </a:pPr>
              <a:endParaRPr lang="en-US"/>
            </a:p>
          </p:txBody>
        </p:sp>
        <p:sp>
          <p:nvSpPr>
            <p:cNvPr id="24676" name="AutoShape 230"/>
            <p:cNvSpPr>
              <a:spLocks noChangeArrowheads="1"/>
            </p:cNvSpPr>
            <p:nvPr/>
          </p:nvSpPr>
          <p:spPr bwMode="auto">
            <a:xfrm>
              <a:off x="-745" y="2970"/>
              <a:ext cx="96" cy="67"/>
            </a:xfrm>
            <a:prstGeom prst="can">
              <a:avLst>
                <a:gd name="adj" fmla="val 25000"/>
              </a:avLst>
            </a:prstGeom>
            <a:solidFill>
              <a:srgbClr val="AFEAFF"/>
            </a:solidFill>
            <a:ln w="9525">
              <a:solidFill>
                <a:schemeClr val="tx1"/>
              </a:solidFill>
              <a:round/>
              <a:headEnd/>
              <a:tailEnd/>
            </a:ln>
          </p:spPr>
          <p:txBody>
            <a:bodyPr wrap="none" anchor="ctr"/>
            <a:lstStyle/>
            <a:p>
              <a:pPr>
                <a:spcBef>
                  <a:spcPct val="20000"/>
                </a:spcBef>
                <a:buFontTx/>
                <a:buChar char="•"/>
              </a:pPr>
              <a:endParaRPr lang="en-US"/>
            </a:p>
          </p:txBody>
        </p:sp>
        <p:sp>
          <p:nvSpPr>
            <p:cNvPr id="24677" name="AutoShape 231"/>
            <p:cNvSpPr>
              <a:spLocks noChangeArrowheads="1"/>
            </p:cNvSpPr>
            <p:nvPr/>
          </p:nvSpPr>
          <p:spPr bwMode="auto">
            <a:xfrm>
              <a:off x="-612" y="2969"/>
              <a:ext cx="96" cy="67"/>
            </a:xfrm>
            <a:prstGeom prst="can">
              <a:avLst>
                <a:gd name="adj" fmla="val 25000"/>
              </a:avLst>
            </a:prstGeom>
            <a:solidFill>
              <a:srgbClr val="AFEAFF"/>
            </a:solidFill>
            <a:ln w="9525">
              <a:solidFill>
                <a:schemeClr val="tx1"/>
              </a:solidFill>
              <a:round/>
              <a:headEnd/>
              <a:tailEnd/>
            </a:ln>
          </p:spPr>
          <p:txBody>
            <a:bodyPr wrap="none" anchor="ctr"/>
            <a:lstStyle/>
            <a:p>
              <a:pPr>
                <a:spcBef>
                  <a:spcPct val="20000"/>
                </a:spcBef>
                <a:buFontTx/>
                <a:buChar char="•"/>
              </a:pPr>
              <a:endParaRPr lang="en-US"/>
            </a:p>
          </p:txBody>
        </p:sp>
        <p:sp>
          <p:nvSpPr>
            <p:cNvPr id="24678" name="AutoShape 232"/>
            <p:cNvSpPr>
              <a:spLocks noChangeArrowheads="1"/>
            </p:cNvSpPr>
            <p:nvPr/>
          </p:nvSpPr>
          <p:spPr bwMode="auto">
            <a:xfrm>
              <a:off x="-746" y="3060"/>
              <a:ext cx="96" cy="67"/>
            </a:xfrm>
            <a:prstGeom prst="can">
              <a:avLst>
                <a:gd name="adj" fmla="val 25000"/>
              </a:avLst>
            </a:prstGeom>
            <a:solidFill>
              <a:srgbClr val="AFEAFF"/>
            </a:solidFill>
            <a:ln w="9525">
              <a:solidFill>
                <a:schemeClr val="tx1"/>
              </a:solidFill>
              <a:round/>
              <a:headEnd/>
              <a:tailEnd/>
            </a:ln>
          </p:spPr>
          <p:txBody>
            <a:bodyPr wrap="none" anchor="ctr"/>
            <a:lstStyle/>
            <a:p>
              <a:pPr>
                <a:spcBef>
                  <a:spcPct val="20000"/>
                </a:spcBef>
                <a:buFontTx/>
                <a:buChar char="•"/>
              </a:pPr>
              <a:endParaRPr lang="en-US"/>
            </a:p>
          </p:txBody>
        </p:sp>
        <p:sp>
          <p:nvSpPr>
            <p:cNvPr id="24679" name="AutoShape 233"/>
            <p:cNvSpPr>
              <a:spLocks noChangeArrowheads="1"/>
            </p:cNvSpPr>
            <p:nvPr/>
          </p:nvSpPr>
          <p:spPr bwMode="auto">
            <a:xfrm>
              <a:off x="-613" y="3059"/>
              <a:ext cx="96" cy="67"/>
            </a:xfrm>
            <a:prstGeom prst="can">
              <a:avLst>
                <a:gd name="adj" fmla="val 25000"/>
              </a:avLst>
            </a:prstGeom>
            <a:solidFill>
              <a:srgbClr val="AFEAFF"/>
            </a:solidFill>
            <a:ln w="9525">
              <a:solidFill>
                <a:schemeClr val="tx1"/>
              </a:solidFill>
              <a:round/>
              <a:headEnd/>
              <a:tailEnd/>
            </a:ln>
          </p:spPr>
          <p:txBody>
            <a:bodyPr wrap="none" anchor="ctr"/>
            <a:lstStyle/>
            <a:p>
              <a:pPr>
                <a:spcBef>
                  <a:spcPct val="20000"/>
                </a:spcBef>
                <a:buFontTx/>
                <a:buChar char="•"/>
              </a:pPr>
              <a:endParaRPr lang="en-US"/>
            </a:p>
          </p:txBody>
        </p:sp>
        <p:sp>
          <p:nvSpPr>
            <p:cNvPr id="24680" name="Rectangle 234"/>
            <p:cNvSpPr>
              <a:spLocks noChangeArrowheads="1"/>
            </p:cNvSpPr>
            <p:nvPr/>
          </p:nvSpPr>
          <p:spPr bwMode="auto">
            <a:xfrm>
              <a:off x="-670" y="2717"/>
              <a:ext cx="563" cy="207"/>
            </a:xfrm>
            <a:prstGeom prst="rect">
              <a:avLst/>
            </a:prstGeom>
            <a:noFill/>
            <a:ln w="9525">
              <a:noFill/>
              <a:miter lim="800000"/>
              <a:headEnd/>
              <a:tailEnd/>
            </a:ln>
          </p:spPr>
          <p:txBody>
            <a:bodyPr wrap="none">
              <a:spAutoFit/>
            </a:bodyPr>
            <a:lstStyle/>
            <a:p>
              <a:pPr>
                <a:buNone/>
              </a:pPr>
              <a:r>
                <a:rPr kumimoji="0" lang="en-US" sz="1000" b="1" dirty="0">
                  <a:solidFill>
                    <a:schemeClr val="tx1"/>
                  </a:solidFill>
                  <a:latin typeface="Helvetica"/>
                </a:rPr>
                <a:t>File System</a:t>
              </a:r>
            </a:p>
          </p:txBody>
        </p:sp>
        <p:sp>
          <p:nvSpPr>
            <p:cNvPr id="24681" name="Rectangle 235"/>
            <p:cNvSpPr>
              <a:spLocks noChangeArrowheads="1"/>
            </p:cNvSpPr>
            <p:nvPr/>
          </p:nvSpPr>
          <p:spPr bwMode="auto">
            <a:xfrm>
              <a:off x="-430" y="2886"/>
              <a:ext cx="452" cy="336"/>
            </a:xfrm>
            <a:prstGeom prst="rect">
              <a:avLst/>
            </a:prstGeom>
            <a:noFill/>
            <a:ln w="9525">
              <a:noFill/>
              <a:miter lim="800000"/>
              <a:headEnd/>
              <a:tailEnd/>
            </a:ln>
          </p:spPr>
          <p:txBody>
            <a:bodyPr wrap="none">
              <a:spAutoFit/>
            </a:bodyPr>
            <a:lstStyle/>
            <a:p>
              <a:pPr>
                <a:buNone/>
              </a:pPr>
              <a:r>
                <a:rPr kumimoji="0" lang="en-US" sz="1000" b="1" dirty="0">
                  <a:solidFill>
                    <a:srgbClr val="003399"/>
                  </a:solidFill>
                  <a:latin typeface="Helvetica"/>
                </a:rPr>
                <a:t>Virtual </a:t>
              </a:r>
            </a:p>
            <a:p>
              <a:pPr>
                <a:buNone/>
              </a:pPr>
              <a:r>
                <a:rPr kumimoji="0" lang="en-US" sz="1000" b="1" dirty="0">
                  <a:solidFill>
                    <a:srgbClr val="003399"/>
                  </a:solidFill>
                  <a:latin typeface="Helvetica"/>
                </a:rPr>
                <a:t>Volumes</a:t>
              </a:r>
            </a:p>
          </p:txBody>
        </p:sp>
        <p:grpSp>
          <p:nvGrpSpPr>
            <p:cNvPr id="10" name="Group 236"/>
            <p:cNvGrpSpPr>
              <a:grpSpLocks/>
            </p:cNvGrpSpPr>
            <p:nvPr/>
          </p:nvGrpSpPr>
          <p:grpSpPr bwMode="auto">
            <a:xfrm>
              <a:off x="-497" y="2910"/>
              <a:ext cx="97" cy="188"/>
              <a:chOff x="-485" y="3462"/>
              <a:chExt cx="97" cy="188"/>
            </a:xfrm>
          </p:grpSpPr>
          <p:grpSp>
            <p:nvGrpSpPr>
              <p:cNvPr id="11" name="Group 237"/>
              <p:cNvGrpSpPr>
                <a:grpSpLocks/>
              </p:cNvGrpSpPr>
              <p:nvPr/>
            </p:nvGrpSpPr>
            <p:grpSpPr bwMode="auto">
              <a:xfrm>
                <a:off x="-485" y="3462"/>
                <a:ext cx="67" cy="188"/>
                <a:chOff x="-485" y="3462"/>
                <a:chExt cx="67" cy="188"/>
              </a:xfrm>
            </p:grpSpPr>
            <p:sp>
              <p:nvSpPr>
                <p:cNvPr id="24685" name="Line 238"/>
                <p:cNvSpPr>
                  <a:spLocks noChangeShapeType="1"/>
                </p:cNvSpPr>
                <p:nvPr/>
              </p:nvSpPr>
              <p:spPr bwMode="auto">
                <a:xfrm>
                  <a:off x="-485" y="3462"/>
                  <a:ext cx="61" cy="0"/>
                </a:xfrm>
                <a:prstGeom prst="line">
                  <a:avLst/>
                </a:prstGeom>
                <a:noFill/>
                <a:ln w="9525">
                  <a:solidFill>
                    <a:srgbClr val="003399"/>
                  </a:solidFill>
                  <a:round/>
                  <a:headEnd/>
                  <a:tailEnd/>
                </a:ln>
              </p:spPr>
              <p:txBody>
                <a:bodyPr/>
                <a:lstStyle/>
                <a:p>
                  <a:endParaRPr lang="en-US"/>
                </a:p>
              </p:txBody>
            </p:sp>
            <p:sp>
              <p:nvSpPr>
                <p:cNvPr id="24686" name="Line 239"/>
                <p:cNvSpPr>
                  <a:spLocks noChangeShapeType="1"/>
                </p:cNvSpPr>
                <p:nvPr/>
              </p:nvSpPr>
              <p:spPr bwMode="auto">
                <a:xfrm>
                  <a:off x="-480" y="3649"/>
                  <a:ext cx="61" cy="0"/>
                </a:xfrm>
                <a:prstGeom prst="line">
                  <a:avLst/>
                </a:prstGeom>
                <a:noFill/>
                <a:ln w="9525">
                  <a:solidFill>
                    <a:srgbClr val="003399"/>
                  </a:solidFill>
                  <a:round/>
                  <a:headEnd/>
                  <a:tailEnd/>
                </a:ln>
              </p:spPr>
              <p:txBody>
                <a:bodyPr/>
                <a:lstStyle/>
                <a:p>
                  <a:endParaRPr lang="en-US"/>
                </a:p>
              </p:txBody>
            </p:sp>
            <p:sp>
              <p:nvSpPr>
                <p:cNvPr id="24687" name="Line 240"/>
                <p:cNvSpPr>
                  <a:spLocks noChangeShapeType="1"/>
                </p:cNvSpPr>
                <p:nvPr/>
              </p:nvSpPr>
              <p:spPr bwMode="auto">
                <a:xfrm>
                  <a:off x="-418" y="3462"/>
                  <a:ext cx="0" cy="188"/>
                </a:xfrm>
                <a:prstGeom prst="line">
                  <a:avLst/>
                </a:prstGeom>
                <a:noFill/>
                <a:ln w="9525">
                  <a:solidFill>
                    <a:srgbClr val="003399"/>
                  </a:solidFill>
                  <a:round/>
                  <a:headEnd/>
                  <a:tailEnd/>
                </a:ln>
              </p:spPr>
              <p:txBody>
                <a:bodyPr/>
                <a:lstStyle/>
                <a:p>
                  <a:endParaRPr lang="en-US"/>
                </a:p>
              </p:txBody>
            </p:sp>
          </p:grpSp>
          <p:sp>
            <p:nvSpPr>
              <p:cNvPr id="24684" name="Line 241"/>
              <p:cNvSpPr>
                <a:spLocks noChangeShapeType="1"/>
              </p:cNvSpPr>
              <p:nvPr/>
            </p:nvSpPr>
            <p:spPr bwMode="auto">
              <a:xfrm>
                <a:off x="-418" y="3547"/>
                <a:ext cx="30" cy="0"/>
              </a:xfrm>
              <a:prstGeom prst="line">
                <a:avLst/>
              </a:prstGeom>
              <a:noFill/>
              <a:ln w="9525">
                <a:solidFill>
                  <a:srgbClr val="003399"/>
                </a:solidFill>
                <a:round/>
                <a:headEnd/>
                <a:tailEnd/>
              </a:ln>
            </p:spPr>
            <p:txBody>
              <a:bodyPr/>
              <a:lstStyle/>
              <a:p>
                <a:endParaRPr lang="en-US"/>
              </a:p>
            </p:txBody>
          </p:sp>
        </p:grpSp>
      </p:grpSp>
      <p:sp>
        <p:nvSpPr>
          <p:cNvPr id="24625" name="Rectangle 275"/>
          <p:cNvSpPr>
            <a:spLocks noChangeArrowheads="1"/>
          </p:cNvSpPr>
          <p:nvPr/>
        </p:nvSpPr>
        <p:spPr bwMode="auto">
          <a:xfrm>
            <a:off x="1518427" y="1947580"/>
            <a:ext cx="4055059" cy="810815"/>
          </a:xfrm>
          <a:prstGeom prst="rect">
            <a:avLst/>
          </a:prstGeom>
          <a:noFill/>
          <a:ln w="9525">
            <a:solidFill>
              <a:schemeClr val="tx1"/>
            </a:solidFill>
            <a:prstDash val="dash"/>
            <a:miter lim="800000"/>
            <a:headEnd/>
            <a:tailEnd/>
          </a:ln>
        </p:spPr>
        <p:txBody>
          <a:bodyPr wrap="none" anchor="ctr"/>
          <a:lstStyle/>
          <a:p>
            <a:pPr>
              <a:spcBef>
                <a:spcPct val="20000"/>
              </a:spcBef>
              <a:buFontTx/>
              <a:buChar char="•"/>
            </a:pPr>
            <a:endParaRPr lang="en-US"/>
          </a:p>
        </p:txBody>
      </p:sp>
      <p:sp>
        <p:nvSpPr>
          <p:cNvPr id="152" name="AutoShape 221"/>
          <p:cNvSpPr>
            <a:spLocks noChangeAspect="1" noChangeArrowheads="1"/>
          </p:cNvSpPr>
          <p:nvPr/>
        </p:nvSpPr>
        <p:spPr bwMode="auto">
          <a:xfrm>
            <a:off x="2834696" y="2906317"/>
            <a:ext cx="1341437" cy="831056"/>
          </a:xfrm>
          <a:prstGeom prst="can">
            <a:avLst>
              <a:gd name="adj" fmla="val 10194"/>
            </a:avLst>
          </a:prstGeom>
          <a:solidFill>
            <a:schemeClr val="accent4"/>
          </a:solidFill>
          <a:ln w="9525">
            <a:solidFill>
              <a:schemeClr val="tx1"/>
            </a:solidFill>
            <a:round/>
            <a:headEnd/>
            <a:tailEnd/>
          </a:ln>
        </p:spPr>
        <p:txBody>
          <a:bodyPr wrap="none" anchor="ctr"/>
          <a:lstStyle/>
          <a:p>
            <a:pPr algn="ctr"/>
            <a:endParaRPr kumimoji="0" lang="en-US">
              <a:solidFill>
                <a:schemeClr val="bg1"/>
              </a:solidFill>
              <a:latin typeface="Helvetica"/>
            </a:endParaRPr>
          </a:p>
        </p:txBody>
      </p:sp>
      <p:sp>
        <p:nvSpPr>
          <p:cNvPr id="153" name="Rectangle 225"/>
          <p:cNvSpPr>
            <a:spLocks noChangeArrowheads="1"/>
          </p:cNvSpPr>
          <p:nvPr/>
        </p:nvSpPr>
        <p:spPr bwMode="auto">
          <a:xfrm>
            <a:off x="3034721" y="2972992"/>
            <a:ext cx="973343" cy="246221"/>
          </a:xfrm>
          <a:prstGeom prst="rect">
            <a:avLst/>
          </a:prstGeom>
          <a:noFill/>
          <a:ln w="9525">
            <a:noFill/>
            <a:miter lim="800000"/>
            <a:headEnd/>
            <a:tailEnd/>
          </a:ln>
        </p:spPr>
        <p:txBody>
          <a:bodyPr wrap="none">
            <a:spAutoFit/>
          </a:bodyPr>
          <a:lstStyle/>
          <a:p>
            <a:pPr>
              <a:buNone/>
            </a:pPr>
            <a:r>
              <a:rPr kumimoji="0" lang="en-US" sz="1000" b="1" dirty="0">
                <a:solidFill>
                  <a:schemeClr val="tx1"/>
                </a:solidFill>
                <a:latin typeface="Helvetica"/>
              </a:rPr>
              <a:t>Storage Pool</a:t>
            </a:r>
          </a:p>
        </p:txBody>
      </p:sp>
      <p:grpSp>
        <p:nvGrpSpPr>
          <p:cNvPr id="154" name="Group 226"/>
          <p:cNvGrpSpPr>
            <a:grpSpLocks/>
          </p:cNvGrpSpPr>
          <p:nvPr/>
        </p:nvGrpSpPr>
        <p:grpSpPr bwMode="auto">
          <a:xfrm>
            <a:off x="2869622" y="3144442"/>
            <a:ext cx="1290637" cy="601266"/>
            <a:chOff x="-791" y="2717"/>
            <a:chExt cx="813" cy="505"/>
          </a:xfrm>
        </p:grpSpPr>
        <p:sp>
          <p:nvSpPr>
            <p:cNvPr id="155" name="Rectangle 227"/>
            <p:cNvSpPr>
              <a:spLocks noChangeArrowheads="1"/>
            </p:cNvSpPr>
            <p:nvPr/>
          </p:nvSpPr>
          <p:spPr bwMode="auto">
            <a:xfrm>
              <a:off x="-791" y="2740"/>
              <a:ext cx="791" cy="420"/>
            </a:xfrm>
            <a:prstGeom prst="rect">
              <a:avLst/>
            </a:prstGeom>
            <a:solidFill>
              <a:schemeClr val="bg1"/>
            </a:solidFill>
            <a:ln w="9525">
              <a:solidFill>
                <a:schemeClr val="accent2"/>
              </a:solidFill>
              <a:miter lim="800000"/>
              <a:headEnd/>
              <a:tailEnd/>
            </a:ln>
          </p:spPr>
          <p:txBody>
            <a:bodyPr wrap="none" anchor="ctr"/>
            <a:lstStyle/>
            <a:p>
              <a:pPr>
                <a:spcBef>
                  <a:spcPct val="20000"/>
                </a:spcBef>
                <a:buFontTx/>
                <a:buChar char="•"/>
              </a:pPr>
              <a:endParaRPr lang="en-US"/>
            </a:p>
          </p:txBody>
        </p:sp>
        <p:sp>
          <p:nvSpPr>
            <p:cNvPr id="156" name="AutoShape 228"/>
            <p:cNvSpPr>
              <a:spLocks noChangeArrowheads="1"/>
            </p:cNvSpPr>
            <p:nvPr/>
          </p:nvSpPr>
          <p:spPr bwMode="auto">
            <a:xfrm>
              <a:off x="-746" y="2873"/>
              <a:ext cx="96" cy="67"/>
            </a:xfrm>
            <a:prstGeom prst="can">
              <a:avLst>
                <a:gd name="adj" fmla="val 25000"/>
              </a:avLst>
            </a:prstGeom>
            <a:solidFill>
              <a:srgbClr val="AFEAFF"/>
            </a:solidFill>
            <a:ln w="9525">
              <a:solidFill>
                <a:schemeClr val="tx1"/>
              </a:solidFill>
              <a:round/>
              <a:headEnd/>
              <a:tailEnd/>
            </a:ln>
          </p:spPr>
          <p:txBody>
            <a:bodyPr wrap="none" anchor="ctr"/>
            <a:lstStyle/>
            <a:p>
              <a:pPr>
                <a:spcBef>
                  <a:spcPct val="20000"/>
                </a:spcBef>
                <a:buFontTx/>
                <a:buChar char="•"/>
              </a:pPr>
              <a:endParaRPr lang="en-US"/>
            </a:p>
          </p:txBody>
        </p:sp>
        <p:sp>
          <p:nvSpPr>
            <p:cNvPr id="157" name="AutoShape 229"/>
            <p:cNvSpPr>
              <a:spLocks noChangeArrowheads="1"/>
            </p:cNvSpPr>
            <p:nvPr/>
          </p:nvSpPr>
          <p:spPr bwMode="auto">
            <a:xfrm>
              <a:off x="-613" y="2872"/>
              <a:ext cx="96" cy="67"/>
            </a:xfrm>
            <a:prstGeom prst="can">
              <a:avLst>
                <a:gd name="adj" fmla="val 25000"/>
              </a:avLst>
            </a:prstGeom>
            <a:solidFill>
              <a:srgbClr val="AFEAFF"/>
            </a:solidFill>
            <a:ln w="9525">
              <a:solidFill>
                <a:schemeClr val="tx1"/>
              </a:solidFill>
              <a:round/>
              <a:headEnd/>
              <a:tailEnd/>
            </a:ln>
          </p:spPr>
          <p:txBody>
            <a:bodyPr wrap="none" anchor="ctr"/>
            <a:lstStyle/>
            <a:p>
              <a:pPr>
                <a:spcBef>
                  <a:spcPct val="20000"/>
                </a:spcBef>
                <a:buFontTx/>
                <a:buChar char="•"/>
              </a:pPr>
              <a:endParaRPr lang="en-US"/>
            </a:p>
          </p:txBody>
        </p:sp>
        <p:sp>
          <p:nvSpPr>
            <p:cNvPr id="158" name="AutoShape 230"/>
            <p:cNvSpPr>
              <a:spLocks noChangeArrowheads="1"/>
            </p:cNvSpPr>
            <p:nvPr/>
          </p:nvSpPr>
          <p:spPr bwMode="auto">
            <a:xfrm>
              <a:off x="-745" y="2970"/>
              <a:ext cx="96" cy="67"/>
            </a:xfrm>
            <a:prstGeom prst="can">
              <a:avLst>
                <a:gd name="adj" fmla="val 25000"/>
              </a:avLst>
            </a:prstGeom>
            <a:solidFill>
              <a:srgbClr val="AFEAFF"/>
            </a:solidFill>
            <a:ln w="9525">
              <a:solidFill>
                <a:schemeClr val="tx1"/>
              </a:solidFill>
              <a:round/>
              <a:headEnd/>
              <a:tailEnd/>
            </a:ln>
          </p:spPr>
          <p:txBody>
            <a:bodyPr wrap="none" anchor="ctr"/>
            <a:lstStyle/>
            <a:p>
              <a:pPr>
                <a:spcBef>
                  <a:spcPct val="20000"/>
                </a:spcBef>
                <a:buFontTx/>
                <a:buChar char="•"/>
              </a:pPr>
              <a:endParaRPr lang="en-US"/>
            </a:p>
          </p:txBody>
        </p:sp>
        <p:sp>
          <p:nvSpPr>
            <p:cNvPr id="159" name="AutoShape 231"/>
            <p:cNvSpPr>
              <a:spLocks noChangeArrowheads="1"/>
            </p:cNvSpPr>
            <p:nvPr/>
          </p:nvSpPr>
          <p:spPr bwMode="auto">
            <a:xfrm>
              <a:off x="-612" y="2969"/>
              <a:ext cx="96" cy="67"/>
            </a:xfrm>
            <a:prstGeom prst="can">
              <a:avLst>
                <a:gd name="adj" fmla="val 25000"/>
              </a:avLst>
            </a:prstGeom>
            <a:solidFill>
              <a:srgbClr val="AFEAFF"/>
            </a:solidFill>
            <a:ln w="9525">
              <a:solidFill>
                <a:schemeClr val="tx1"/>
              </a:solidFill>
              <a:round/>
              <a:headEnd/>
              <a:tailEnd/>
            </a:ln>
          </p:spPr>
          <p:txBody>
            <a:bodyPr wrap="none" anchor="ctr"/>
            <a:lstStyle/>
            <a:p>
              <a:pPr>
                <a:spcBef>
                  <a:spcPct val="20000"/>
                </a:spcBef>
                <a:buFontTx/>
                <a:buChar char="•"/>
              </a:pPr>
              <a:endParaRPr lang="en-US"/>
            </a:p>
          </p:txBody>
        </p:sp>
        <p:sp>
          <p:nvSpPr>
            <p:cNvPr id="160" name="AutoShape 232"/>
            <p:cNvSpPr>
              <a:spLocks noChangeArrowheads="1"/>
            </p:cNvSpPr>
            <p:nvPr/>
          </p:nvSpPr>
          <p:spPr bwMode="auto">
            <a:xfrm>
              <a:off x="-746" y="3060"/>
              <a:ext cx="96" cy="67"/>
            </a:xfrm>
            <a:prstGeom prst="can">
              <a:avLst>
                <a:gd name="adj" fmla="val 25000"/>
              </a:avLst>
            </a:prstGeom>
            <a:solidFill>
              <a:srgbClr val="AFEAFF"/>
            </a:solidFill>
            <a:ln w="9525">
              <a:solidFill>
                <a:schemeClr val="tx1"/>
              </a:solidFill>
              <a:round/>
              <a:headEnd/>
              <a:tailEnd/>
            </a:ln>
          </p:spPr>
          <p:txBody>
            <a:bodyPr wrap="none" anchor="ctr"/>
            <a:lstStyle/>
            <a:p>
              <a:pPr>
                <a:spcBef>
                  <a:spcPct val="20000"/>
                </a:spcBef>
                <a:buFontTx/>
                <a:buChar char="•"/>
              </a:pPr>
              <a:endParaRPr lang="en-US"/>
            </a:p>
          </p:txBody>
        </p:sp>
        <p:sp>
          <p:nvSpPr>
            <p:cNvPr id="161" name="AutoShape 233"/>
            <p:cNvSpPr>
              <a:spLocks noChangeArrowheads="1"/>
            </p:cNvSpPr>
            <p:nvPr/>
          </p:nvSpPr>
          <p:spPr bwMode="auto">
            <a:xfrm>
              <a:off x="-613" y="3059"/>
              <a:ext cx="96" cy="67"/>
            </a:xfrm>
            <a:prstGeom prst="can">
              <a:avLst>
                <a:gd name="adj" fmla="val 25000"/>
              </a:avLst>
            </a:prstGeom>
            <a:solidFill>
              <a:srgbClr val="AFEAFF"/>
            </a:solidFill>
            <a:ln w="9525">
              <a:solidFill>
                <a:schemeClr val="tx1"/>
              </a:solidFill>
              <a:round/>
              <a:headEnd/>
              <a:tailEnd/>
            </a:ln>
          </p:spPr>
          <p:txBody>
            <a:bodyPr wrap="none" anchor="ctr"/>
            <a:lstStyle/>
            <a:p>
              <a:pPr>
                <a:spcBef>
                  <a:spcPct val="20000"/>
                </a:spcBef>
                <a:buFontTx/>
                <a:buChar char="•"/>
              </a:pPr>
              <a:endParaRPr lang="en-US"/>
            </a:p>
          </p:txBody>
        </p:sp>
        <p:sp>
          <p:nvSpPr>
            <p:cNvPr id="162" name="Rectangle 234"/>
            <p:cNvSpPr>
              <a:spLocks noChangeArrowheads="1"/>
            </p:cNvSpPr>
            <p:nvPr/>
          </p:nvSpPr>
          <p:spPr bwMode="auto">
            <a:xfrm>
              <a:off x="-670" y="2717"/>
              <a:ext cx="563" cy="207"/>
            </a:xfrm>
            <a:prstGeom prst="rect">
              <a:avLst/>
            </a:prstGeom>
            <a:noFill/>
            <a:ln w="9525">
              <a:noFill/>
              <a:miter lim="800000"/>
              <a:headEnd/>
              <a:tailEnd/>
            </a:ln>
          </p:spPr>
          <p:txBody>
            <a:bodyPr wrap="none">
              <a:spAutoFit/>
            </a:bodyPr>
            <a:lstStyle/>
            <a:p>
              <a:pPr>
                <a:buNone/>
              </a:pPr>
              <a:r>
                <a:rPr kumimoji="0" lang="en-US" sz="1000" b="1" dirty="0">
                  <a:solidFill>
                    <a:schemeClr val="tx1"/>
                  </a:solidFill>
                  <a:latin typeface="Helvetica"/>
                </a:rPr>
                <a:t>File System</a:t>
              </a:r>
            </a:p>
          </p:txBody>
        </p:sp>
        <p:sp>
          <p:nvSpPr>
            <p:cNvPr id="163" name="Rectangle 235"/>
            <p:cNvSpPr>
              <a:spLocks noChangeArrowheads="1"/>
            </p:cNvSpPr>
            <p:nvPr/>
          </p:nvSpPr>
          <p:spPr bwMode="auto">
            <a:xfrm>
              <a:off x="-430" y="2886"/>
              <a:ext cx="452" cy="336"/>
            </a:xfrm>
            <a:prstGeom prst="rect">
              <a:avLst/>
            </a:prstGeom>
            <a:noFill/>
            <a:ln w="9525">
              <a:noFill/>
              <a:miter lim="800000"/>
              <a:headEnd/>
              <a:tailEnd/>
            </a:ln>
          </p:spPr>
          <p:txBody>
            <a:bodyPr wrap="none">
              <a:spAutoFit/>
            </a:bodyPr>
            <a:lstStyle/>
            <a:p>
              <a:pPr>
                <a:buNone/>
              </a:pPr>
              <a:r>
                <a:rPr kumimoji="0" lang="en-US" sz="1000" b="1" dirty="0">
                  <a:solidFill>
                    <a:srgbClr val="003399"/>
                  </a:solidFill>
                  <a:latin typeface="Helvetica"/>
                </a:rPr>
                <a:t>Virtual </a:t>
              </a:r>
            </a:p>
            <a:p>
              <a:pPr>
                <a:buNone/>
              </a:pPr>
              <a:r>
                <a:rPr kumimoji="0" lang="en-US" sz="1000" b="1" dirty="0">
                  <a:solidFill>
                    <a:srgbClr val="003399"/>
                  </a:solidFill>
                  <a:latin typeface="Helvetica"/>
                </a:rPr>
                <a:t>Volumes</a:t>
              </a:r>
            </a:p>
          </p:txBody>
        </p:sp>
        <p:grpSp>
          <p:nvGrpSpPr>
            <p:cNvPr id="164" name="Group 236"/>
            <p:cNvGrpSpPr>
              <a:grpSpLocks/>
            </p:cNvGrpSpPr>
            <p:nvPr/>
          </p:nvGrpSpPr>
          <p:grpSpPr bwMode="auto">
            <a:xfrm>
              <a:off x="-497" y="2910"/>
              <a:ext cx="97" cy="188"/>
              <a:chOff x="-485" y="3462"/>
              <a:chExt cx="97" cy="188"/>
            </a:xfrm>
          </p:grpSpPr>
          <p:grpSp>
            <p:nvGrpSpPr>
              <p:cNvPr id="165" name="Group 237"/>
              <p:cNvGrpSpPr>
                <a:grpSpLocks/>
              </p:cNvGrpSpPr>
              <p:nvPr/>
            </p:nvGrpSpPr>
            <p:grpSpPr bwMode="auto">
              <a:xfrm>
                <a:off x="-485" y="3462"/>
                <a:ext cx="67" cy="188"/>
                <a:chOff x="-485" y="3462"/>
                <a:chExt cx="67" cy="188"/>
              </a:xfrm>
            </p:grpSpPr>
            <p:sp>
              <p:nvSpPr>
                <p:cNvPr id="167" name="Line 238"/>
                <p:cNvSpPr>
                  <a:spLocks noChangeShapeType="1"/>
                </p:cNvSpPr>
                <p:nvPr/>
              </p:nvSpPr>
              <p:spPr bwMode="auto">
                <a:xfrm>
                  <a:off x="-485" y="3462"/>
                  <a:ext cx="61" cy="0"/>
                </a:xfrm>
                <a:prstGeom prst="line">
                  <a:avLst/>
                </a:prstGeom>
                <a:noFill/>
                <a:ln w="9525">
                  <a:solidFill>
                    <a:srgbClr val="003399"/>
                  </a:solidFill>
                  <a:round/>
                  <a:headEnd/>
                  <a:tailEnd/>
                </a:ln>
              </p:spPr>
              <p:txBody>
                <a:bodyPr/>
                <a:lstStyle/>
                <a:p>
                  <a:endParaRPr lang="en-US"/>
                </a:p>
              </p:txBody>
            </p:sp>
            <p:sp>
              <p:nvSpPr>
                <p:cNvPr id="168" name="Line 239"/>
                <p:cNvSpPr>
                  <a:spLocks noChangeShapeType="1"/>
                </p:cNvSpPr>
                <p:nvPr/>
              </p:nvSpPr>
              <p:spPr bwMode="auto">
                <a:xfrm>
                  <a:off x="-480" y="3649"/>
                  <a:ext cx="61" cy="0"/>
                </a:xfrm>
                <a:prstGeom prst="line">
                  <a:avLst/>
                </a:prstGeom>
                <a:noFill/>
                <a:ln w="9525">
                  <a:solidFill>
                    <a:srgbClr val="003399"/>
                  </a:solidFill>
                  <a:round/>
                  <a:headEnd/>
                  <a:tailEnd/>
                </a:ln>
              </p:spPr>
              <p:txBody>
                <a:bodyPr/>
                <a:lstStyle/>
                <a:p>
                  <a:endParaRPr lang="en-US"/>
                </a:p>
              </p:txBody>
            </p:sp>
            <p:sp>
              <p:nvSpPr>
                <p:cNvPr id="169" name="Line 240"/>
                <p:cNvSpPr>
                  <a:spLocks noChangeShapeType="1"/>
                </p:cNvSpPr>
                <p:nvPr/>
              </p:nvSpPr>
              <p:spPr bwMode="auto">
                <a:xfrm>
                  <a:off x="-418" y="3462"/>
                  <a:ext cx="0" cy="188"/>
                </a:xfrm>
                <a:prstGeom prst="line">
                  <a:avLst/>
                </a:prstGeom>
                <a:noFill/>
                <a:ln w="9525">
                  <a:solidFill>
                    <a:srgbClr val="003399"/>
                  </a:solidFill>
                  <a:round/>
                  <a:headEnd/>
                  <a:tailEnd/>
                </a:ln>
              </p:spPr>
              <p:txBody>
                <a:bodyPr/>
                <a:lstStyle/>
                <a:p>
                  <a:endParaRPr lang="en-US"/>
                </a:p>
              </p:txBody>
            </p:sp>
          </p:grpSp>
          <p:sp>
            <p:nvSpPr>
              <p:cNvPr id="166" name="Line 241"/>
              <p:cNvSpPr>
                <a:spLocks noChangeShapeType="1"/>
              </p:cNvSpPr>
              <p:nvPr/>
            </p:nvSpPr>
            <p:spPr bwMode="auto">
              <a:xfrm>
                <a:off x="-418" y="3547"/>
                <a:ext cx="30" cy="0"/>
              </a:xfrm>
              <a:prstGeom prst="line">
                <a:avLst/>
              </a:prstGeom>
              <a:noFill/>
              <a:ln w="9525">
                <a:solidFill>
                  <a:srgbClr val="003399"/>
                </a:solidFill>
                <a:round/>
                <a:headEnd/>
                <a:tailEnd/>
              </a:ln>
            </p:spPr>
            <p:txBody>
              <a:bodyPr/>
              <a:lstStyle/>
              <a:p>
                <a:endParaRPr lang="en-US"/>
              </a:p>
            </p:txBody>
          </p:sp>
        </p:grpSp>
      </p:grpSp>
      <p:sp>
        <p:nvSpPr>
          <p:cNvPr id="171" name="AutoShape 221"/>
          <p:cNvSpPr>
            <a:spLocks noChangeAspect="1" noChangeArrowheads="1"/>
          </p:cNvSpPr>
          <p:nvPr/>
        </p:nvSpPr>
        <p:spPr bwMode="auto">
          <a:xfrm>
            <a:off x="1448369" y="2901554"/>
            <a:ext cx="1341437" cy="831056"/>
          </a:xfrm>
          <a:prstGeom prst="can">
            <a:avLst>
              <a:gd name="adj" fmla="val 10194"/>
            </a:avLst>
          </a:prstGeom>
          <a:solidFill>
            <a:schemeClr val="accent4"/>
          </a:solidFill>
          <a:ln w="9525">
            <a:solidFill>
              <a:schemeClr val="tx1"/>
            </a:solidFill>
            <a:round/>
            <a:headEnd/>
            <a:tailEnd/>
          </a:ln>
        </p:spPr>
        <p:txBody>
          <a:bodyPr wrap="none" anchor="ctr"/>
          <a:lstStyle/>
          <a:p>
            <a:pPr algn="ctr"/>
            <a:endParaRPr kumimoji="0" lang="en-US">
              <a:solidFill>
                <a:schemeClr val="bg1"/>
              </a:solidFill>
              <a:latin typeface="Helvetica"/>
            </a:endParaRPr>
          </a:p>
        </p:txBody>
      </p:sp>
      <p:sp>
        <p:nvSpPr>
          <p:cNvPr id="172" name="Rectangle 225"/>
          <p:cNvSpPr>
            <a:spLocks noChangeArrowheads="1"/>
          </p:cNvSpPr>
          <p:nvPr/>
        </p:nvSpPr>
        <p:spPr bwMode="auto">
          <a:xfrm>
            <a:off x="1648394" y="2968229"/>
            <a:ext cx="973343" cy="246221"/>
          </a:xfrm>
          <a:prstGeom prst="rect">
            <a:avLst/>
          </a:prstGeom>
          <a:noFill/>
          <a:ln w="9525">
            <a:noFill/>
            <a:miter lim="800000"/>
            <a:headEnd/>
            <a:tailEnd/>
          </a:ln>
        </p:spPr>
        <p:txBody>
          <a:bodyPr wrap="none">
            <a:spAutoFit/>
          </a:bodyPr>
          <a:lstStyle/>
          <a:p>
            <a:pPr>
              <a:buNone/>
            </a:pPr>
            <a:r>
              <a:rPr kumimoji="0" lang="en-US" sz="1000" b="1" dirty="0">
                <a:solidFill>
                  <a:schemeClr val="tx1"/>
                </a:solidFill>
                <a:latin typeface="Helvetica"/>
              </a:rPr>
              <a:t>Storage Pool</a:t>
            </a:r>
          </a:p>
        </p:txBody>
      </p:sp>
      <p:grpSp>
        <p:nvGrpSpPr>
          <p:cNvPr id="173" name="Group 226"/>
          <p:cNvGrpSpPr>
            <a:grpSpLocks/>
          </p:cNvGrpSpPr>
          <p:nvPr/>
        </p:nvGrpSpPr>
        <p:grpSpPr bwMode="auto">
          <a:xfrm>
            <a:off x="1483295" y="3139679"/>
            <a:ext cx="1290637" cy="601266"/>
            <a:chOff x="-791" y="2717"/>
            <a:chExt cx="813" cy="505"/>
          </a:xfrm>
        </p:grpSpPr>
        <p:sp>
          <p:nvSpPr>
            <p:cNvPr id="174" name="Rectangle 227"/>
            <p:cNvSpPr>
              <a:spLocks noChangeArrowheads="1"/>
            </p:cNvSpPr>
            <p:nvPr/>
          </p:nvSpPr>
          <p:spPr bwMode="auto">
            <a:xfrm>
              <a:off x="-791" y="2740"/>
              <a:ext cx="791" cy="420"/>
            </a:xfrm>
            <a:prstGeom prst="rect">
              <a:avLst/>
            </a:prstGeom>
            <a:solidFill>
              <a:schemeClr val="bg1"/>
            </a:solidFill>
            <a:ln w="9525">
              <a:solidFill>
                <a:schemeClr val="accent2"/>
              </a:solidFill>
              <a:miter lim="800000"/>
              <a:headEnd/>
              <a:tailEnd/>
            </a:ln>
          </p:spPr>
          <p:txBody>
            <a:bodyPr wrap="none" anchor="ctr"/>
            <a:lstStyle/>
            <a:p>
              <a:pPr>
                <a:spcBef>
                  <a:spcPct val="20000"/>
                </a:spcBef>
                <a:buFontTx/>
                <a:buChar char="•"/>
              </a:pPr>
              <a:endParaRPr lang="en-US"/>
            </a:p>
          </p:txBody>
        </p:sp>
        <p:sp>
          <p:nvSpPr>
            <p:cNvPr id="175" name="AutoShape 228"/>
            <p:cNvSpPr>
              <a:spLocks noChangeArrowheads="1"/>
            </p:cNvSpPr>
            <p:nvPr/>
          </p:nvSpPr>
          <p:spPr bwMode="auto">
            <a:xfrm>
              <a:off x="-746" y="2873"/>
              <a:ext cx="96" cy="67"/>
            </a:xfrm>
            <a:prstGeom prst="can">
              <a:avLst>
                <a:gd name="adj" fmla="val 25000"/>
              </a:avLst>
            </a:prstGeom>
            <a:solidFill>
              <a:srgbClr val="AFEAFF"/>
            </a:solidFill>
            <a:ln w="9525">
              <a:solidFill>
                <a:schemeClr val="tx1"/>
              </a:solidFill>
              <a:round/>
              <a:headEnd/>
              <a:tailEnd/>
            </a:ln>
          </p:spPr>
          <p:txBody>
            <a:bodyPr wrap="none" anchor="ctr"/>
            <a:lstStyle/>
            <a:p>
              <a:pPr>
                <a:spcBef>
                  <a:spcPct val="20000"/>
                </a:spcBef>
                <a:buFontTx/>
                <a:buChar char="•"/>
              </a:pPr>
              <a:endParaRPr lang="en-US"/>
            </a:p>
          </p:txBody>
        </p:sp>
        <p:sp>
          <p:nvSpPr>
            <p:cNvPr id="176" name="AutoShape 229"/>
            <p:cNvSpPr>
              <a:spLocks noChangeArrowheads="1"/>
            </p:cNvSpPr>
            <p:nvPr/>
          </p:nvSpPr>
          <p:spPr bwMode="auto">
            <a:xfrm>
              <a:off x="-613" y="2872"/>
              <a:ext cx="96" cy="67"/>
            </a:xfrm>
            <a:prstGeom prst="can">
              <a:avLst>
                <a:gd name="adj" fmla="val 25000"/>
              </a:avLst>
            </a:prstGeom>
            <a:solidFill>
              <a:srgbClr val="AFEAFF"/>
            </a:solidFill>
            <a:ln w="9525">
              <a:solidFill>
                <a:schemeClr val="tx1"/>
              </a:solidFill>
              <a:round/>
              <a:headEnd/>
              <a:tailEnd/>
            </a:ln>
          </p:spPr>
          <p:txBody>
            <a:bodyPr wrap="none" anchor="ctr"/>
            <a:lstStyle/>
            <a:p>
              <a:pPr>
                <a:spcBef>
                  <a:spcPct val="20000"/>
                </a:spcBef>
                <a:buFontTx/>
                <a:buChar char="•"/>
              </a:pPr>
              <a:endParaRPr lang="en-US"/>
            </a:p>
          </p:txBody>
        </p:sp>
        <p:sp>
          <p:nvSpPr>
            <p:cNvPr id="177" name="AutoShape 230"/>
            <p:cNvSpPr>
              <a:spLocks noChangeArrowheads="1"/>
            </p:cNvSpPr>
            <p:nvPr/>
          </p:nvSpPr>
          <p:spPr bwMode="auto">
            <a:xfrm>
              <a:off x="-745" y="2970"/>
              <a:ext cx="96" cy="67"/>
            </a:xfrm>
            <a:prstGeom prst="can">
              <a:avLst>
                <a:gd name="adj" fmla="val 25000"/>
              </a:avLst>
            </a:prstGeom>
            <a:solidFill>
              <a:srgbClr val="AFEAFF"/>
            </a:solidFill>
            <a:ln w="9525">
              <a:solidFill>
                <a:schemeClr val="tx1"/>
              </a:solidFill>
              <a:round/>
              <a:headEnd/>
              <a:tailEnd/>
            </a:ln>
          </p:spPr>
          <p:txBody>
            <a:bodyPr wrap="none" anchor="ctr"/>
            <a:lstStyle/>
            <a:p>
              <a:pPr>
                <a:spcBef>
                  <a:spcPct val="20000"/>
                </a:spcBef>
                <a:buFontTx/>
                <a:buChar char="•"/>
              </a:pPr>
              <a:endParaRPr lang="en-US"/>
            </a:p>
          </p:txBody>
        </p:sp>
        <p:sp>
          <p:nvSpPr>
            <p:cNvPr id="178" name="AutoShape 231"/>
            <p:cNvSpPr>
              <a:spLocks noChangeArrowheads="1"/>
            </p:cNvSpPr>
            <p:nvPr/>
          </p:nvSpPr>
          <p:spPr bwMode="auto">
            <a:xfrm>
              <a:off x="-612" y="2969"/>
              <a:ext cx="96" cy="67"/>
            </a:xfrm>
            <a:prstGeom prst="can">
              <a:avLst>
                <a:gd name="adj" fmla="val 25000"/>
              </a:avLst>
            </a:prstGeom>
            <a:solidFill>
              <a:srgbClr val="AFEAFF"/>
            </a:solidFill>
            <a:ln w="9525">
              <a:solidFill>
                <a:schemeClr val="tx1"/>
              </a:solidFill>
              <a:round/>
              <a:headEnd/>
              <a:tailEnd/>
            </a:ln>
          </p:spPr>
          <p:txBody>
            <a:bodyPr wrap="none" anchor="ctr"/>
            <a:lstStyle/>
            <a:p>
              <a:pPr>
                <a:spcBef>
                  <a:spcPct val="20000"/>
                </a:spcBef>
                <a:buFontTx/>
                <a:buChar char="•"/>
              </a:pPr>
              <a:endParaRPr lang="en-US"/>
            </a:p>
          </p:txBody>
        </p:sp>
        <p:sp>
          <p:nvSpPr>
            <p:cNvPr id="179" name="AutoShape 232"/>
            <p:cNvSpPr>
              <a:spLocks noChangeArrowheads="1"/>
            </p:cNvSpPr>
            <p:nvPr/>
          </p:nvSpPr>
          <p:spPr bwMode="auto">
            <a:xfrm>
              <a:off x="-746" y="3060"/>
              <a:ext cx="96" cy="67"/>
            </a:xfrm>
            <a:prstGeom prst="can">
              <a:avLst>
                <a:gd name="adj" fmla="val 25000"/>
              </a:avLst>
            </a:prstGeom>
            <a:solidFill>
              <a:srgbClr val="AFEAFF"/>
            </a:solidFill>
            <a:ln w="9525">
              <a:solidFill>
                <a:schemeClr val="tx1"/>
              </a:solidFill>
              <a:round/>
              <a:headEnd/>
              <a:tailEnd/>
            </a:ln>
          </p:spPr>
          <p:txBody>
            <a:bodyPr wrap="none" anchor="ctr"/>
            <a:lstStyle/>
            <a:p>
              <a:pPr>
                <a:spcBef>
                  <a:spcPct val="20000"/>
                </a:spcBef>
                <a:buFontTx/>
                <a:buChar char="•"/>
              </a:pPr>
              <a:endParaRPr lang="en-US"/>
            </a:p>
          </p:txBody>
        </p:sp>
        <p:sp>
          <p:nvSpPr>
            <p:cNvPr id="180" name="AutoShape 233"/>
            <p:cNvSpPr>
              <a:spLocks noChangeArrowheads="1"/>
            </p:cNvSpPr>
            <p:nvPr/>
          </p:nvSpPr>
          <p:spPr bwMode="auto">
            <a:xfrm>
              <a:off x="-613" y="3059"/>
              <a:ext cx="96" cy="67"/>
            </a:xfrm>
            <a:prstGeom prst="can">
              <a:avLst>
                <a:gd name="adj" fmla="val 25000"/>
              </a:avLst>
            </a:prstGeom>
            <a:solidFill>
              <a:srgbClr val="AFEAFF"/>
            </a:solidFill>
            <a:ln w="9525">
              <a:solidFill>
                <a:schemeClr val="tx1"/>
              </a:solidFill>
              <a:round/>
              <a:headEnd/>
              <a:tailEnd/>
            </a:ln>
          </p:spPr>
          <p:txBody>
            <a:bodyPr wrap="none" anchor="ctr"/>
            <a:lstStyle/>
            <a:p>
              <a:pPr>
                <a:spcBef>
                  <a:spcPct val="20000"/>
                </a:spcBef>
                <a:buFontTx/>
                <a:buChar char="•"/>
              </a:pPr>
              <a:endParaRPr lang="en-US"/>
            </a:p>
          </p:txBody>
        </p:sp>
        <p:sp>
          <p:nvSpPr>
            <p:cNvPr id="181" name="Rectangle 234"/>
            <p:cNvSpPr>
              <a:spLocks noChangeArrowheads="1"/>
            </p:cNvSpPr>
            <p:nvPr/>
          </p:nvSpPr>
          <p:spPr bwMode="auto">
            <a:xfrm>
              <a:off x="-670" y="2717"/>
              <a:ext cx="563" cy="207"/>
            </a:xfrm>
            <a:prstGeom prst="rect">
              <a:avLst/>
            </a:prstGeom>
            <a:noFill/>
            <a:ln w="9525">
              <a:noFill/>
              <a:miter lim="800000"/>
              <a:headEnd/>
              <a:tailEnd/>
            </a:ln>
          </p:spPr>
          <p:txBody>
            <a:bodyPr wrap="none">
              <a:spAutoFit/>
            </a:bodyPr>
            <a:lstStyle/>
            <a:p>
              <a:pPr>
                <a:buNone/>
              </a:pPr>
              <a:r>
                <a:rPr kumimoji="0" lang="en-US" sz="1000" b="1" dirty="0">
                  <a:solidFill>
                    <a:schemeClr val="tx1"/>
                  </a:solidFill>
                  <a:latin typeface="Helvetica"/>
                </a:rPr>
                <a:t>File System</a:t>
              </a:r>
            </a:p>
          </p:txBody>
        </p:sp>
        <p:sp>
          <p:nvSpPr>
            <p:cNvPr id="182" name="Rectangle 235"/>
            <p:cNvSpPr>
              <a:spLocks noChangeArrowheads="1"/>
            </p:cNvSpPr>
            <p:nvPr/>
          </p:nvSpPr>
          <p:spPr bwMode="auto">
            <a:xfrm>
              <a:off x="-430" y="2886"/>
              <a:ext cx="452" cy="336"/>
            </a:xfrm>
            <a:prstGeom prst="rect">
              <a:avLst/>
            </a:prstGeom>
            <a:noFill/>
            <a:ln w="9525">
              <a:noFill/>
              <a:miter lim="800000"/>
              <a:headEnd/>
              <a:tailEnd/>
            </a:ln>
          </p:spPr>
          <p:txBody>
            <a:bodyPr wrap="none">
              <a:spAutoFit/>
            </a:bodyPr>
            <a:lstStyle/>
            <a:p>
              <a:pPr>
                <a:buNone/>
              </a:pPr>
              <a:r>
                <a:rPr kumimoji="0" lang="en-US" sz="1000" b="1" dirty="0">
                  <a:solidFill>
                    <a:srgbClr val="003399"/>
                  </a:solidFill>
                  <a:latin typeface="Helvetica"/>
                </a:rPr>
                <a:t>Virtual </a:t>
              </a:r>
            </a:p>
            <a:p>
              <a:pPr>
                <a:buNone/>
              </a:pPr>
              <a:r>
                <a:rPr kumimoji="0" lang="en-US" sz="1000" b="1" dirty="0">
                  <a:solidFill>
                    <a:srgbClr val="003399"/>
                  </a:solidFill>
                  <a:latin typeface="Helvetica"/>
                </a:rPr>
                <a:t>Volumes</a:t>
              </a:r>
            </a:p>
          </p:txBody>
        </p:sp>
        <p:grpSp>
          <p:nvGrpSpPr>
            <p:cNvPr id="183" name="Group 236"/>
            <p:cNvGrpSpPr>
              <a:grpSpLocks/>
            </p:cNvGrpSpPr>
            <p:nvPr/>
          </p:nvGrpSpPr>
          <p:grpSpPr bwMode="auto">
            <a:xfrm>
              <a:off x="-497" y="2910"/>
              <a:ext cx="97" cy="188"/>
              <a:chOff x="-485" y="3462"/>
              <a:chExt cx="97" cy="188"/>
            </a:xfrm>
          </p:grpSpPr>
          <p:grpSp>
            <p:nvGrpSpPr>
              <p:cNvPr id="184" name="Group 237"/>
              <p:cNvGrpSpPr>
                <a:grpSpLocks/>
              </p:cNvGrpSpPr>
              <p:nvPr/>
            </p:nvGrpSpPr>
            <p:grpSpPr bwMode="auto">
              <a:xfrm>
                <a:off x="-485" y="3462"/>
                <a:ext cx="67" cy="188"/>
                <a:chOff x="-485" y="3462"/>
                <a:chExt cx="67" cy="188"/>
              </a:xfrm>
            </p:grpSpPr>
            <p:sp>
              <p:nvSpPr>
                <p:cNvPr id="186" name="Line 238"/>
                <p:cNvSpPr>
                  <a:spLocks noChangeShapeType="1"/>
                </p:cNvSpPr>
                <p:nvPr/>
              </p:nvSpPr>
              <p:spPr bwMode="auto">
                <a:xfrm>
                  <a:off x="-485" y="3462"/>
                  <a:ext cx="61" cy="0"/>
                </a:xfrm>
                <a:prstGeom prst="line">
                  <a:avLst/>
                </a:prstGeom>
                <a:noFill/>
                <a:ln w="9525">
                  <a:solidFill>
                    <a:srgbClr val="003399"/>
                  </a:solidFill>
                  <a:round/>
                  <a:headEnd/>
                  <a:tailEnd/>
                </a:ln>
              </p:spPr>
              <p:txBody>
                <a:bodyPr/>
                <a:lstStyle/>
                <a:p>
                  <a:endParaRPr lang="en-US"/>
                </a:p>
              </p:txBody>
            </p:sp>
            <p:sp>
              <p:nvSpPr>
                <p:cNvPr id="187" name="Line 239"/>
                <p:cNvSpPr>
                  <a:spLocks noChangeShapeType="1"/>
                </p:cNvSpPr>
                <p:nvPr/>
              </p:nvSpPr>
              <p:spPr bwMode="auto">
                <a:xfrm>
                  <a:off x="-480" y="3649"/>
                  <a:ext cx="61" cy="0"/>
                </a:xfrm>
                <a:prstGeom prst="line">
                  <a:avLst/>
                </a:prstGeom>
                <a:noFill/>
                <a:ln w="9525">
                  <a:solidFill>
                    <a:srgbClr val="003399"/>
                  </a:solidFill>
                  <a:round/>
                  <a:headEnd/>
                  <a:tailEnd/>
                </a:ln>
              </p:spPr>
              <p:txBody>
                <a:bodyPr/>
                <a:lstStyle/>
                <a:p>
                  <a:endParaRPr lang="en-US"/>
                </a:p>
              </p:txBody>
            </p:sp>
            <p:sp>
              <p:nvSpPr>
                <p:cNvPr id="188" name="Line 240"/>
                <p:cNvSpPr>
                  <a:spLocks noChangeShapeType="1"/>
                </p:cNvSpPr>
                <p:nvPr/>
              </p:nvSpPr>
              <p:spPr bwMode="auto">
                <a:xfrm>
                  <a:off x="-418" y="3462"/>
                  <a:ext cx="0" cy="188"/>
                </a:xfrm>
                <a:prstGeom prst="line">
                  <a:avLst/>
                </a:prstGeom>
                <a:noFill/>
                <a:ln w="9525">
                  <a:solidFill>
                    <a:srgbClr val="003399"/>
                  </a:solidFill>
                  <a:round/>
                  <a:headEnd/>
                  <a:tailEnd/>
                </a:ln>
              </p:spPr>
              <p:txBody>
                <a:bodyPr/>
                <a:lstStyle/>
                <a:p>
                  <a:endParaRPr lang="en-US"/>
                </a:p>
              </p:txBody>
            </p:sp>
          </p:grpSp>
          <p:sp>
            <p:nvSpPr>
              <p:cNvPr id="185" name="Line 241"/>
              <p:cNvSpPr>
                <a:spLocks noChangeShapeType="1"/>
              </p:cNvSpPr>
              <p:nvPr/>
            </p:nvSpPr>
            <p:spPr bwMode="auto">
              <a:xfrm>
                <a:off x="-418" y="3547"/>
                <a:ext cx="30" cy="0"/>
              </a:xfrm>
              <a:prstGeom prst="line">
                <a:avLst/>
              </a:prstGeom>
              <a:noFill/>
              <a:ln w="9525">
                <a:solidFill>
                  <a:srgbClr val="003399"/>
                </a:solidFill>
                <a:round/>
                <a:headEnd/>
                <a:tailEnd/>
              </a:ln>
            </p:spPr>
            <p:txBody>
              <a:bodyPr/>
              <a:lstStyle/>
              <a:p>
                <a:endParaRPr lang="en-US"/>
              </a:p>
            </p:txBody>
          </p:sp>
        </p:grpSp>
      </p:grpSp>
      <p:grpSp>
        <p:nvGrpSpPr>
          <p:cNvPr id="8" name="Group 7">
            <a:extLst>
              <a:ext uri="{FF2B5EF4-FFF2-40B4-BE49-F238E27FC236}">
                <a16:creationId xmlns:a16="http://schemas.microsoft.com/office/drawing/2014/main" id="{42673623-D65F-D045-B108-41C67EC77E0C}"/>
              </a:ext>
            </a:extLst>
          </p:cNvPr>
          <p:cNvGrpSpPr/>
          <p:nvPr/>
        </p:nvGrpSpPr>
        <p:grpSpPr>
          <a:xfrm>
            <a:off x="1702210" y="2060176"/>
            <a:ext cx="722672" cy="138499"/>
            <a:chOff x="1702210" y="2060176"/>
            <a:chExt cx="722672" cy="138499"/>
          </a:xfrm>
        </p:grpSpPr>
        <p:sp>
          <p:nvSpPr>
            <p:cNvPr id="14" name="Isosceles Triangle 13"/>
            <p:cNvSpPr/>
            <p:nvPr/>
          </p:nvSpPr>
          <p:spPr>
            <a:xfrm>
              <a:off x="1702210" y="2060176"/>
              <a:ext cx="149810" cy="138499"/>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j-lt"/>
              </a:endParaRPr>
            </a:p>
          </p:txBody>
        </p:sp>
        <p:sp>
          <p:nvSpPr>
            <p:cNvPr id="189" name="Isosceles Triangle 188"/>
            <p:cNvSpPr/>
            <p:nvPr/>
          </p:nvSpPr>
          <p:spPr>
            <a:xfrm>
              <a:off x="1887980" y="2060176"/>
              <a:ext cx="149810" cy="138499"/>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j-lt"/>
              </a:endParaRPr>
            </a:p>
          </p:txBody>
        </p:sp>
        <p:sp>
          <p:nvSpPr>
            <p:cNvPr id="190" name="Isosceles Triangle 189"/>
            <p:cNvSpPr/>
            <p:nvPr/>
          </p:nvSpPr>
          <p:spPr>
            <a:xfrm>
              <a:off x="2074852" y="2060176"/>
              <a:ext cx="149810" cy="138499"/>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j-lt"/>
              </a:endParaRPr>
            </a:p>
          </p:txBody>
        </p:sp>
        <p:sp>
          <p:nvSpPr>
            <p:cNvPr id="191" name="Isosceles Triangle 190"/>
            <p:cNvSpPr/>
            <p:nvPr/>
          </p:nvSpPr>
          <p:spPr>
            <a:xfrm>
              <a:off x="2275072" y="2060176"/>
              <a:ext cx="149810" cy="138499"/>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j-lt"/>
              </a:endParaRPr>
            </a:p>
          </p:txBody>
        </p:sp>
      </p:grpSp>
      <p:grpSp>
        <p:nvGrpSpPr>
          <p:cNvPr id="196" name="Group 47"/>
          <p:cNvGrpSpPr>
            <a:grpSpLocks/>
          </p:cNvGrpSpPr>
          <p:nvPr/>
        </p:nvGrpSpPr>
        <p:grpSpPr bwMode="auto">
          <a:xfrm>
            <a:off x="3126897" y="1136762"/>
            <a:ext cx="401638" cy="386953"/>
            <a:chOff x="1930" y="1254"/>
            <a:chExt cx="253" cy="325"/>
          </a:xfrm>
        </p:grpSpPr>
        <p:sp>
          <p:nvSpPr>
            <p:cNvPr id="197" name="Line 176"/>
            <p:cNvSpPr>
              <a:spLocks noChangeAspect="1" noChangeShapeType="1"/>
            </p:cNvSpPr>
            <p:nvPr/>
          </p:nvSpPr>
          <p:spPr bwMode="auto">
            <a:xfrm>
              <a:off x="2078" y="1316"/>
              <a:ext cx="0" cy="47"/>
            </a:xfrm>
            <a:prstGeom prst="line">
              <a:avLst/>
            </a:prstGeom>
            <a:noFill/>
            <a:ln w="9525">
              <a:solidFill>
                <a:schemeClr val="tx1"/>
              </a:solidFill>
              <a:round/>
              <a:headEnd/>
              <a:tailEnd/>
            </a:ln>
          </p:spPr>
          <p:txBody>
            <a:bodyPr/>
            <a:lstStyle/>
            <a:p>
              <a:endParaRPr lang="en-US"/>
            </a:p>
          </p:txBody>
        </p:sp>
        <p:sp>
          <p:nvSpPr>
            <p:cNvPr id="198" name="Line 177"/>
            <p:cNvSpPr>
              <a:spLocks noChangeAspect="1" noChangeShapeType="1"/>
            </p:cNvSpPr>
            <p:nvPr/>
          </p:nvSpPr>
          <p:spPr bwMode="auto">
            <a:xfrm flipH="1">
              <a:off x="2035" y="1360"/>
              <a:ext cx="44" cy="58"/>
            </a:xfrm>
            <a:prstGeom prst="line">
              <a:avLst/>
            </a:prstGeom>
            <a:noFill/>
            <a:ln w="9525">
              <a:solidFill>
                <a:schemeClr val="tx1"/>
              </a:solidFill>
              <a:round/>
              <a:headEnd/>
              <a:tailEnd/>
            </a:ln>
          </p:spPr>
          <p:txBody>
            <a:bodyPr/>
            <a:lstStyle/>
            <a:p>
              <a:endParaRPr lang="en-US"/>
            </a:p>
          </p:txBody>
        </p:sp>
        <p:sp>
          <p:nvSpPr>
            <p:cNvPr id="199" name="Line 178"/>
            <p:cNvSpPr>
              <a:spLocks noChangeAspect="1" noChangeShapeType="1"/>
            </p:cNvSpPr>
            <p:nvPr/>
          </p:nvSpPr>
          <p:spPr bwMode="auto">
            <a:xfrm>
              <a:off x="2076" y="1360"/>
              <a:ext cx="44" cy="58"/>
            </a:xfrm>
            <a:prstGeom prst="line">
              <a:avLst/>
            </a:prstGeom>
            <a:noFill/>
            <a:ln w="9525">
              <a:solidFill>
                <a:schemeClr val="tx1"/>
              </a:solidFill>
              <a:round/>
              <a:headEnd/>
              <a:tailEnd/>
            </a:ln>
          </p:spPr>
          <p:txBody>
            <a:bodyPr/>
            <a:lstStyle/>
            <a:p>
              <a:endParaRPr lang="en-US"/>
            </a:p>
          </p:txBody>
        </p:sp>
        <p:grpSp>
          <p:nvGrpSpPr>
            <p:cNvPr id="200" name="Group 179"/>
            <p:cNvGrpSpPr>
              <a:grpSpLocks noChangeAspect="1"/>
            </p:cNvGrpSpPr>
            <p:nvPr/>
          </p:nvGrpSpPr>
          <p:grpSpPr bwMode="auto">
            <a:xfrm>
              <a:off x="1992" y="1418"/>
              <a:ext cx="85" cy="102"/>
              <a:chOff x="4547" y="1438"/>
              <a:chExt cx="148" cy="178"/>
            </a:xfrm>
          </p:grpSpPr>
          <p:sp>
            <p:nvSpPr>
              <p:cNvPr id="205" name="Line 180"/>
              <p:cNvSpPr>
                <a:spLocks noChangeAspect="1" noChangeShapeType="1"/>
              </p:cNvSpPr>
              <p:nvPr/>
            </p:nvSpPr>
            <p:spPr bwMode="auto">
              <a:xfrm>
                <a:off x="4622" y="1438"/>
                <a:ext cx="0" cy="82"/>
              </a:xfrm>
              <a:prstGeom prst="line">
                <a:avLst/>
              </a:prstGeom>
              <a:noFill/>
              <a:ln w="9525">
                <a:solidFill>
                  <a:schemeClr val="tx1"/>
                </a:solidFill>
                <a:round/>
                <a:headEnd/>
                <a:tailEnd/>
              </a:ln>
            </p:spPr>
            <p:txBody>
              <a:bodyPr/>
              <a:lstStyle/>
              <a:p>
                <a:endParaRPr lang="en-US"/>
              </a:p>
            </p:txBody>
          </p:sp>
          <p:sp>
            <p:nvSpPr>
              <p:cNvPr id="206" name="Line 181"/>
              <p:cNvSpPr>
                <a:spLocks noChangeAspect="1" noChangeShapeType="1"/>
              </p:cNvSpPr>
              <p:nvPr/>
            </p:nvSpPr>
            <p:spPr bwMode="auto">
              <a:xfrm flipH="1">
                <a:off x="4547" y="1515"/>
                <a:ext cx="76" cy="101"/>
              </a:xfrm>
              <a:prstGeom prst="line">
                <a:avLst/>
              </a:prstGeom>
              <a:noFill/>
              <a:ln w="9525">
                <a:solidFill>
                  <a:schemeClr val="tx1"/>
                </a:solidFill>
                <a:round/>
                <a:headEnd/>
                <a:tailEnd/>
              </a:ln>
            </p:spPr>
            <p:txBody>
              <a:bodyPr/>
              <a:lstStyle/>
              <a:p>
                <a:endParaRPr lang="en-US"/>
              </a:p>
            </p:txBody>
          </p:sp>
          <p:sp>
            <p:nvSpPr>
              <p:cNvPr id="207" name="Line 182"/>
              <p:cNvSpPr>
                <a:spLocks noChangeAspect="1" noChangeShapeType="1"/>
              </p:cNvSpPr>
              <p:nvPr/>
            </p:nvSpPr>
            <p:spPr bwMode="auto">
              <a:xfrm>
                <a:off x="4619" y="1515"/>
                <a:ext cx="76" cy="101"/>
              </a:xfrm>
              <a:prstGeom prst="line">
                <a:avLst/>
              </a:prstGeom>
              <a:noFill/>
              <a:ln w="9525">
                <a:solidFill>
                  <a:schemeClr val="tx1"/>
                </a:solidFill>
                <a:round/>
                <a:headEnd/>
                <a:tailEnd/>
              </a:ln>
            </p:spPr>
            <p:txBody>
              <a:bodyPr/>
              <a:lstStyle/>
              <a:p>
                <a:endParaRPr lang="en-US"/>
              </a:p>
            </p:txBody>
          </p:sp>
        </p:grpSp>
        <p:pic>
          <p:nvPicPr>
            <p:cNvPr id="201" name="Picture 55" descr="npo00009c"/>
            <p:cNvPicPr>
              <a:picLocks noChangeAspect="1" noChangeArrowheads="1"/>
            </p:cNvPicPr>
            <p:nvPr/>
          </p:nvPicPr>
          <p:blipFill>
            <a:blip r:embed="rId3" cstate="print"/>
            <a:srcRect/>
            <a:stretch>
              <a:fillRect/>
            </a:stretch>
          </p:blipFill>
          <p:spPr bwMode="auto">
            <a:xfrm>
              <a:off x="2120" y="1417"/>
              <a:ext cx="63" cy="65"/>
            </a:xfrm>
            <a:prstGeom prst="rect">
              <a:avLst/>
            </a:prstGeom>
            <a:noFill/>
            <a:ln w="9525">
              <a:noFill/>
              <a:miter lim="800000"/>
              <a:headEnd/>
              <a:tailEnd/>
            </a:ln>
          </p:spPr>
        </p:pic>
        <p:pic>
          <p:nvPicPr>
            <p:cNvPr id="202" name="Picture 56" descr="npo00009d"/>
            <p:cNvPicPr>
              <a:picLocks noChangeAspect="1" noChangeArrowheads="1"/>
            </p:cNvPicPr>
            <p:nvPr/>
          </p:nvPicPr>
          <p:blipFill>
            <a:blip r:embed="rId3" cstate="print"/>
            <a:srcRect/>
            <a:stretch>
              <a:fillRect/>
            </a:stretch>
          </p:blipFill>
          <p:spPr bwMode="auto">
            <a:xfrm>
              <a:off x="1930" y="1515"/>
              <a:ext cx="63" cy="64"/>
            </a:xfrm>
            <a:prstGeom prst="rect">
              <a:avLst/>
            </a:prstGeom>
            <a:noFill/>
            <a:ln w="9525">
              <a:noFill/>
              <a:miter lim="800000"/>
              <a:headEnd/>
              <a:tailEnd/>
            </a:ln>
          </p:spPr>
        </p:pic>
        <p:pic>
          <p:nvPicPr>
            <p:cNvPr id="203" name="Picture 57" descr="npo00009e"/>
            <p:cNvPicPr>
              <a:picLocks noChangeAspect="1" noChangeArrowheads="1"/>
            </p:cNvPicPr>
            <p:nvPr/>
          </p:nvPicPr>
          <p:blipFill>
            <a:blip r:embed="rId3" cstate="print"/>
            <a:srcRect/>
            <a:stretch>
              <a:fillRect/>
            </a:stretch>
          </p:blipFill>
          <p:spPr bwMode="auto">
            <a:xfrm>
              <a:off x="2065" y="1515"/>
              <a:ext cx="63" cy="64"/>
            </a:xfrm>
            <a:prstGeom prst="rect">
              <a:avLst/>
            </a:prstGeom>
            <a:noFill/>
            <a:ln w="9525">
              <a:noFill/>
              <a:miter lim="800000"/>
              <a:headEnd/>
              <a:tailEnd/>
            </a:ln>
          </p:spPr>
        </p:pic>
        <p:pic>
          <p:nvPicPr>
            <p:cNvPr id="204" name="Picture 58" descr="npo00009f"/>
            <p:cNvPicPr>
              <a:picLocks noChangeAspect="1" noChangeArrowheads="1"/>
            </p:cNvPicPr>
            <p:nvPr/>
          </p:nvPicPr>
          <p:blipFill>
            <a:blip r:embed="rId3" cstate="print"/>
            <a:srcRect/>
            <a:stretch>
              <a:fillRect/>
            </a:stretch>
          </p:blipFill>
          <p:spPr bwMode="auto">
            <a:xfrm>
              <a:off x="2044" y="1254"/>
              <a:ext cx="63" cy="64"/>
            </a:xfrm>
            <a:prstGeom prst="rect">
              <a:avLst/>
            </a:prstGeom>
            <a:noFill/>
            <a:ln w="9525">
              <a:noFill/>
              <a:miter lim="800000"/>
              <a:headEnd/>
              <a:tailEnd/>
            </a:ln>
          </p:spPr>
        </p:pic>
      </p:grpSp>
      <p:grpSp>
        <p:nvGrpSpPr>
          <p:cNvPr id="208" name="Group 47"/>
          <p:cNvGrpSpPr>
            <a:grpSpLocks/>
          </p:cNvGrpSpPr>
          <p:nvPr/>
        </p:nvGrpSpPr>
        <p:grpSpPr bwMode="auto">
          <a:xfrm>
            <a:off x="1719237" y="1136762"/>
            <a:ext cx="401638" cy="386953"/>
            <a:chOff x="1930" y="1254"/>
            <a:chExt cx="253" cy="325"/>
          </a:xfrm>
        </p:grpSpPr>
        <p:sp>
          <p:nvSpPr>
            <p:cNvPr id="209" name="Line 176"/>
            <p:cNvSpPr>
              <a:spLocks noChangeAspect="1" noChangeShapeType="1"/>
            </p:cNvSpPr>
            <p:nvPr/>
          </p:nvSpPr>
          <p:spPr bwMode="auto">
            <a:xfrm>
              <a:off x="2078" y="1316"/>
              <a:ext cx="0" cy="47"/>
            </a:xfrm>
            <a:prstGeom prst="line">
              <a:avLst/>
            </a:prstGeom>
            <a:noFill/>
            <a:ln w="9525">
              <a:solidFill>
                <a:schemeClr val="tx1"/>
              </a:solidFill>
              <a:round/>
              <a:headEnd/>
              <a:tailEnd/>
            </a:ln>
          </p:spPr>
          <p:txBody>
            <a:bodyPr/>
            <a:lstStyle/>
            <a:p>
              <a:endParaRPr lang="en-US"/>
            </a:p>
          </p:txBody>
        </p:sp>
        <p:sp>
          <p:nvSpPr>
            <p:cNvPr id="210" name="Line 177"/>
            <p:cNvSpPr>
              <a:spLocks noChangeAspect="1" noChangeShapeType="1"/>
            </p:cNvSpPr>
            <p:nvPr/>
          </p:nvSpPr>
          <p:spPr bwMode="auto">
            <a:xfrm flipH="1">
              <a:off x="2035" y="1360"/>
              <a:ext cx="44" cy="58"/>
            </a:xfrm>
            <a:prstGeom prst="line">
              <a:avLst/>
            </a:prstGeom>
            <a:noFill/>
            <a:ln w="9525">
              <a:solidFill>
                <a:schemeClr val="tx1"/>
              </a:solidFill>
              <a:round/>
              <a:headEnd/>
              <a:tailEnd/>
            </a:ln>
          </p:spPr>
          <p:txBody>
            <a:bodyPr/>
            <a:lstStyle/>
            <a:p>
              <a:endParaRPr lang="en-US"/>
            </a:p>
          </p:txBody>
        </p:sp>
        <p:sp>
          <p:nvSpPr>
            <p:cNvPr id="211" name="Line 178"/>
            <p:cNvSpPr>
              <a:spLocks noChangeAspect="1" noChangeShapeType="1"/>
            </p:cNvSpPr>
            <p:nvPr/>
          </p:nvSpPr>
          <p:spPr bwMode="auto">
            <a:xfrm>
              <a:off x="2076" y="1360"/>
              <a:ext cx="44" cy="58"/>
            </a:xfrm>
            <a:prstGeom prst="line">
              <a:avLst/>
            </a:prstGeom>
            <a:noFill/>
            <a:ln w="9525">
              <a:solidFill>
                <a:schemeClr val="tx1"/>
              </a:solidFill>
              <a:round/>
              <a:headEnd/>
              <a:tailEnd/>
            </a:ln>
          </p:spPr>
          <p:txBody>
            <a:bodyPr/>
            <a:lstStyle/>
            <a:p>
              <a:endParaRPr lang="en-US"/>
            </a:p>
          </p:txBody>
        </p:sp>
        <p:grpSp>
          <p:nvGrpSpPr>
            <p:cNvPr id="212" name="Group 179"/>
            <p:cNvGrpSpPr>
              <a:grpSpLocks noChangeAspect="1"/>
            </p:cNvGrpSpPr>
            <p:nvPr/>
          </p:nvGrpSpPr>
          <p:grpSpPr bwMode="auto">
            <a:xfrm>
              <a:off x="1992" y="1418"/>
              <a:ext cx="85" cy="102"/>
              <a:chOff x="4547" y="1438"/>
              <a:chExt cx="148" cy="178"/>
            </a:xfrm>
          </p:grpSpPr>
          <p:sp>
            <p:nvSpPr>
              <p:cNvPr id="217" name="Line 180"/>
              <p:cNvSpPr>
                <a:spLocks noChangeAspect="1" noChangeShapeType="1"/>
              </p:cNvSpPr>
              <p:nvPr/>
            </p:nvSpPr>
            <p:spPr bwMode="auto">
              <a:xfrm>
                <a:off x="4622" y="1438"/>
                <a:ext cx="0" cy="82"/>
              </a:xfrm>
              <a:prstGeom prst="line">
                <a:avLst/>
              </a:prstGeom>
              <a:noFill/>
              <a:ln w="9525">
                <a:solidFill>
                  <a:schemeClr val="tx1"/>
                </a:solidFill>
                <a:round/>
                <a:headEnd/>
                <a:tailEnd/>
              </a:ln>
            </p:spPr>
            <p:txBody>
              <a:bodyPr/>
              <a:lstStyle/>
              <a:p>
                <a:endParaRPr lang="en-US"/>
              </a:p>
            </p:txBody>
          </p:sp>
          <p:sp>
            <p:nvSpPr>
              <p:cNvPr id="218" name="Line 181"/>
              <p:cNvSpPr>
                <a:spLocks noChangeAspect="1" noChangeShapeType="1"/>
              </p:cNvSpPr>
              <p:nvPr/>
            </p:nvSpPr>
            <p:spPr bwMode="auto">
              <a:xfrm flipH="1">
                <a:off x="4547" y="1515"/>
                <a:ext cx="76" cy="101"/>
              </a:xfrm>
              <a:prstGeom prst="line">
                <a:avLst/>
              </a:prstGeom>
              <a:noFill/>
              <a:ln w="9525">
                <a:solidFill>
                  <a:schemeClr val="tx1"/>
                </a:solidFill>
                <a:round/>
                <a:headEnd/>
                <a:tailEnd/>
              </a:ln>
            </p:spPr>
            <p:txBody>
              <a:bodyPr/>
              <a:lstStyle/>
              <a:p>
                <a:endParaRPr lang="en-US"/>
              </a:p>
            </p:txBody>
          </p:sp>
          <p:sp>
            <p:nvSpPr>
              <p:cNvPr id="219" name="Line 182"/>
              <p:cNvSpPr>
                <a:spLocks noChangeAspect="1" noChangeShapeType="1"/>
              </p:cNvSpPr>
              <p:nvPr/>
            </p:nvSpPr>
            <p:spPr bwMode="auto">
              <a:xfrm>
                <a:off x="4619" y="1515"/>
                <a:ext cx="76" cy="101"/>
              </a:xfrm>
              <a:prstGeom prst="line">
                <a:avLst/>
              </a:prstGeom>
              <a:noFill/>
              <a:ln w="9525">
                <a:solidFill>
                  <a:schemeClr val="tx1"/>
                </a:solidFill>
                <a:round/>
                <a:headEnd/>
                <a:tailEnd/>
              </a:ln>
            </p:spPr>
            <p:txBody>
              <a:bodyPr/>
              <a:lstStyle/>
              <a:p>
                <a:endParaRPr lang="en-US"/>
              </a:p>
            </p:txBody>
          </p:sp>
        </p:grpSp>
        <p:pic>
          <p:nvPicPr>
            <p:cNvPr id="213" name="Picture 55" descr="npo00009c"/>
            <p:cNvPicPr>
              <a:picLocks noChangeAspect="1" noChangeArrowheads="1"/>
            </p:cNvPicPr>
            <p:nvPr/>
          </p:nvPicPr>
          <p:blipFill>
            <a:blip r:embed="rId3" cstate="print"/>
            <a:srcRect/>
            <a:stretch>
              <a:fillRect/>
            </a:stretch>
          </p:blipFill>
          <p:spPr bwMode="auto">
            <a:xfrm>
              <a:off x="2120" y="1417"/>
              <a:ext cx="63" cy="65"/>
            </a:xfrm>
            <a:prstGeom prst="rect">
              <a:avLst/>
            </a:prstGeom>
            <a:noFill/>
            <a:ln w="9525">
              <a:noFill/>
              <a:miter lim="800000"/>
              <a:headEnd/>
              <a:tailEnd/>
            </a:ln>
          </p:spPr>
        </p:pic>
        <p:pic>
          <p:nvPicPr>
            <p:cNvPr id="214" name="Picture 56" descr="npo00009d"/>
            <p:cNvPicPr>
              <a:picLocks noChangeAspect="1" noChangeArrowheads="1"/>
            </p:cNvPicPr>
            <p:nvPr/>
          </p:nvPicPr>
          <p:blipFill>
            <a:blip r:embed="rId3" cstate="print"/>
            <a:srcRect/>
            <a:stretch>
              <a:fillRect/>
            </a:stretch>
          </p:blipFill>
          <p:spPr bwMode="auto">
            <a:xfrm>
              <a:off x="1930" y="1515"/>
              <a:ext cx="63" cy="64"/>
            </a:xfrm>
            <a:prstGeom prst="rect">
              <a:avLst/>
            </a:prstGeom>
            <a:noFill/>
            <a:ln w="9525">
              <a:noFill/>
              <a:miter lim="800000"/>
              <a:headEnd/>
              <a:tailEnd/>
            </a:ln>
          </p:spPr>
        </p:pic>
        <p:pic>
          <p:nvPicPr>
            <p:cNvPr id="215" name="Picture 57" descr="npo00009e"/>
            <p:cNvPicPr>
              <a:picLocks noChangeAspect="1" noChangeArrowheads="1"/>
            </p:cNvPicPr>
            <p:nvPr/>
          </p:nvPicPr>
          <p:blipFill>
            <a:blip r:embed="rId3" cstate="print"/>
            <a:srcRect/>
            <a:stretch>
              <a:fillRect/>
            </a:stretch>
          </p:blipFill>
          <p:spPr bwMode="auto">
            <a:xfrm>
              <a:off x="2065" y="1515"/>
              <a:ext cx="63" cy="64"/>
            </a:xfrm>
            <a:prstGeom prst="rect">
              <a:avLst/>
            </a:prstGeom>
            <a:noFill/>
            <a:ln w="9525">
              <a:noFill/>
              <a:miter lim="800000"/>
              <a:headEnd/>
              <a:tailEnd/>
            </a:ln>
          </p:spPr>
        </p:pic>
        <p:pic>
          <p:nvPicPr>
            <p:cNvPr id="216" name="Picture 58" descr="npo00009f"/>
            <p:cNvPicPr>
              <a:picLocks noChangeAspect="1" noChangeArrowheads="1"/>
            </p:cNvPicPr>
            <p:nvPr/>
          </p:nvPicPr>
          <p:blipFill>
            <a:blip r:embed="rId3" cstate="print"/>
            <a:srcRect/>
            <a:stretch>
              <a:fillRect/>
            </a:stretch>
          </p:blipFill>
          <p:spPr bwMode="auto">
            <a:xfrm>
              <a:off x="2044" y="1254"/>
              <a:ext cx="63" cy="64"/>
            </a:xfrm>
            <a:prstGeom prst="rect">
              <a:avLst/>
            </a:prstGeom>
            <a:noFill/>
            <a:ln w="9525">
              <a:noFill/>
              <a:miter lim="800000"/>
              <a:headEnd/>
              <a:tailEnd/>
            </a:ln>
          </p:spPr>
        </p:pic>
      </p:grpSp>
      <p:grpSp>
        <p:nvGrpSpPr>
          <p:cNvPr id="220" name="Group 35"/>
          <p:cNvGrpSpPr>
            <a:grpSpLocks/>
          </p:cNvGrpSpPr>
          <p:nvPr/>
        </p:nvGrpSpPr>
        <p:grpSpPr bwMode="auto">
          <a:xfrm>
            <a:off x="4065337" y="1136762"/>
            <a:ext cx="401638" cy="386953"/>
            <a:chOff x="1593" y="1253"/>
            <a:chExt cx="253" cy="325"/>
          </a:xfrm>
        </p:grpSpPr>
        <p:sp>
          <p:nvSpPr>
            <p:cNvPr id="221" name="Line 164"/>
            <p:cNvSpPr>
              <a:spLocks noChangeAspect="1" noChangeShapeType="1"/>
            </p:cNvSpPr>
            <p:nvPr/>
          </p:nvSpPr>
          <p:spPr bwMode="auto">
            <a:xfrm>
              <a:off x="1741" y="1315"/>
              <a:ext cx="0" cy="47"/>
            </a:xfrm>
            <a:prstGeom prst="line">
              <a:avLst/>
            </a:prstGeom>
            <a:noFill/>
            <a:ln w="9525">
              <a:solidFill>
                <a:schemeClr val="tx1"/>
              </a:solidFill>
              <a:round/>
              <a:headEnd/>
              <a:tailEnd/>
            </a:ln>
          </p:spPr>
          <p:txBody>
            <a:bodyPr/>
            <a:lstStyle/>
            <a:p>
              <a:endParaRPr lang="en-US"/>
            </a:p>
          </p:txBody>
        </p:sp>
        <p:sp>
          <p:nvSpPr>
            <p:cNvPr id="222" name="Line 165"/>
            <p:cNvSpPr>
              <a:spLocks noChangeAspect="1" noChangeShapeType="1"/>
            </p:cNvSpPr>
            <p:nvPr/>
          </p:nvSpPr>
          <p:spPr bwMode="auto">
            <a:xfrm flipH="1">
              <a:off x="1698" y="1359"/>
              <a:ext cx="44" cy="58"/>
            </a:xfrm>
            <a:prstGeom prst="line">
              <a:avLst/>
            </a:prstGeom>
            <a:noFill/>
            <a:ln w="9525">
              <a:solidFill>
                <a:schemeClr val="tx1"/>
              </a:solidFill>
              <a:round/>
              <a:headEnd/>
              <a:tailEnd/>
            </a:ln>
          </p:spPr>
          <p:txBody>
            <a:bodyPr/>
            <a:lstStyle/>
            <a:p>
              <a:endParaRPr lang="en-US"/>
            </a:p>
          </p:txBody>
        </p:sp>
        <p:sp>
          <p:nvSpPr>
            <p:cNvPr id="223" name="Line 166"/>
            <p:cNvSpPr>
              <a:spLocks noChangeAspect="1" noChangeShapeType="1"/>
            </p:cNvSpPr>
            <p:nvPr/>
          </p:nvSpPr>
          <p:spPr bwMode="auto">
            <a:xfrm>
              <a:off x="1739" y="1359"/>
              <a:ext cx="44" cy="58"/>
            </a:xfrm>
            <a:prstGeom prst="line">
              <a:avLst/>
            </a:prstGeom>
            <a:noFill/>
            <a:ln w="9525">
              <a:solidFill>
                <a:schemeClr val="tx1"/>
              </a:solidFill>
              <a:round/>
              <a:headEnd/>
              <a:tailEnd/>
            </a:ln>
          </p:spPr>
          <p:txBody>
            <a:bodyPr/>
            <a:lstStyle/>
            <a:p>
              <a:endParaRPr lang="en-US"/>
            </a:p>
          </p:txBody>
        </p:sp>
        <p:grpSp>
          <p:nvGrpSpPr>
            <p:cNvPr id="224" name="Group 167"/>
            <p:cNvGrpSpPr>
              <a:grpSpLocks noChangeAspect="1"/>
            </p:cNvGrpSpPr>
            <p:nvPr/>
          </p:nvGrpSpPr>
          <p:grpSpPr bwMode="auto">
            <a:xfrm>
              <a:off x="1655" y="1417"/>
              <a:ext cx="85" cy="102"/>
              <a:chOff x="4547" y="1438"/>
              <a:chExt cx="148" cy="178"/>
            </a:xfrm>
          </p:grpSpPr>
          <p:sp>
            <p:nvSpPr>
              <p:cNvPr id="229" name="Line 168"/>
              <p:cNvSpPr>
                <a:spLocks noChangeAspect="1" noChangeShapeType="1"/>
              </p:cNvSpPr>
              <p:nvPr/>
            </p:nvSpPr>
            <p:spPr bwMode="auto">
              <a:xfrm>
                <a:off x="4622" y="1438"/>
                <a:ext cx="0" cy="82"/>
              </a:xfrm>
              <a:prstGeom prst="line">
                <a:avLst/>
              </a:prstGeom>
              <a:noFill/>
              <a:ln w="9525">
                <a:solidFill>
                  <a:schemeClr val="tx1"/>
                </a:solidFill>
                <a:round/>
                <a:headEnd/>
                <a:tailEnd/>
              </a:ln>
            </p:spPr>
            <p:txBody>
              <a:bodyPr/>
              <a:lstStyle/>
              <a:p>
                <a:endParaRPr lang="en-US"/>
              </a:p>
            </p:txBody>
          </p:sp>
          <p:sp>
            <p:nvSpPr>
              <p:cNvPr id="230" name="Line 169"/>
              <p:cNvSpPr>
                <a:spLocks noChangeAspect="1" noChangeShapeType="1"/>
              </p:cNvSpPr>
              <p:nvPr/>
            </p:nvSpPr>
            <p:spPr bwMode="auto">
              <a:xfrm flipH="1">
                <a:off x="4547" y="1515"/>
                <a:ext cx="76" cy="101"/>
              </a:xfrm>
              <a:prstGeom prst="line">
                <a:avLst/>
              </a:prstGeom>
              <a:noFill/>
              <a:ln w="9525">
                <a:solidFill>
                  <a:schemeClr val="tx1"/>
                </a:solidFill>
                <a:round/>
                <a:headEnd/>
                <a:tailEnd/>
              </a:ln>
            </p:spPr>
            <p:txBody>
              <a:bodyPr/>
              <a:lstStyle/>
              <a:p>
                <a:endParaRPr lang="en-US"/>
              </a:p>
            </p:txBody>
          </p:sp>
          <p:sp>
            <p:nvSpPr>
              <p:cNvPr id="231" name="Line 170"/>
              <p:cNvSpPr>
                <a:spLocks noChangeAspect="1" noChangeShapeType="1"/>
              </p:cNvSpPr>
              <p:nvPr/>
            </p:nvSpPr>
            <p:spPr bwMode="auto">
              <a:xfrm>
                <a:off x="4619" y="1515"/>
                <a:ext cx="76" cy="101"/>
              </a:xfrm>
              <a:prstGeom prst="line">
                <a:avLst/>
              </a:prstGeom>
              <a:noFill/>
              <a:ln w="9525">
                <a:solidFill>
                  <a:schemeClr val="tx1"/>
                </a:solidFill>
                <a:round/>
                <a:headEnd/>
                <a:tailEnd/>
              </a:ln>
            </p:spPr>
            <p:txBody>
              <a:bodyPr/>
              <a:lstStyle/>
              <a:p>
                <a:endParaRPr lang="en-US"/>
              </a:p>
            </p:txBody>
          </p:sp>
        </p:grpSp>
        <p:pic>
          <p:nvPicPr>
            <p:cNvPr id="225" name="Picture 43" descr="npo000098"/>
            <p:cNvPicPr>
              <a:picLocks noChangeAspect="1" noChangeArrowheads="1"/>
            </p:cNvPicPr>
            <p:nvPr/>
          </p:nvPicPr>
          <p:blipFill>
            <a:blip r:embed="rId3" cstate="print"/>
            <a:srcRect/>
            <a:stretch>
              <a:fillRect/>
            </a:stretch>
          </p:blipFill>
          <p:spPr bwMode="auto">
            <a:xfrm>
              <a:off x="1783" y="1416"/>
              <a:ext cx="63" cy="65"/>
            </a:xfrm>
            <a:prstGeom prst="rect">
              <a:avLst/>
            </a:prstGeom>
            <a:noFill/>
            <a:ln w="9525">
              <a:noFill/>
              <a:miter lim="800000"/>
              <a:headEnd/>
              <a:tailEnd/>
            </a:ln>
          </p:spPr>
        </p:pic>
        <p:pic>
          <p:nvPicPr>
            <p:cNvPr id="226" name="Picture 44" descr="npo000099"/>
            <p:cNvPicPr>
              <a:picLocks noChangeAspect="1" noChangeArrowheads="1"/>
            </p:cNvPicPr>
            <p:nvPr/>
          </p:nvPicPr>
          <p:blipFill>
            <a:blip r:embed="rId3" cstate="print"/>
            <a:srcRect/>
            <a:stretch>
              <a:fillRect/>
            </a:stretch>
          </p:blipFill>
          <p:spPr bwMode="auto">
            <a:xfrm>
              <a:off x="1593" y="1514"/>
              <a:ext cx="63" cy="64"/>
            </a:xfrm>
            <a:prstGeom prst="rect">
              <a:avLst/>
            </a:prstGeom>
            <a:noFill/>
            <a:ln w="9525">
              <a:noFill/>
              <a:miter lim="800000"/>
              <a:headEnd/>
              <a:tailEnd/>
            </a:ln>
          </p:spPr>
        </p:pic>
        <p:pic>
          <p:nvPicPr>
            <p:cNvPr id="227" name="Picture 45" descr="npo00009a"/>
            <p:cNvPicPr>
              <a:picLocks noChangeAspect="1" noChangeArrowheads="1"/>
            </p:cNvPicPr>
            <p:nvPr/>
          </p:nvPicPr>
          <p:blipFill>
            <a:blip r:embed="rId3" cstate="print"/>
            <a:srcRect/>
            <a:stretch>
              <a:fillRect/>
            </a:stretch>
          </p:blipFill>
          <p:spPr bwMode="auto">
            <a:xfrm>
              <a:off x="1728" y="1514"/>
              <a:ext cx="63" cy="64"/>
            </a:xfrm>
            <a:prstGeom prst="rect">
              <a:avLst/>
            </a:prstGeom>
            <a:noFill/>
            <a:ln w="9525">
              <a:noFill/>
              <a:miter lim="800000"/>
              <a:headEnd/>
              <a:tailEnd/>
            </a:ln>
          </p:spPr>
        </p:pic>
        <p:pic>
          <p:nvPicPr>
            <p:cNvPr id="228" name="Picture 46" descr="npo00009b"/>
            <p:cNvPicPr>
              <a:picLocks noChangeAspect="1" noChangeArrowheads="1"/>
            </p:cNvPicPr>
            <p:nvPr/>
          </p:nvPicPr>
          <p:blipFill>
            <a:blip r:embed="rId3" cstate="print"/>
            <a:srcRect/>
            <a:stretch>
              <a:fillRect/>
            </a:stretch>
          </p:blipFill>
          <p:spPr bwMode="auto">
            <a:xfrm>
              <a:off x="1707" y="1253"/>
              <a:ext cx="63" cy="64"/>
            </a:xfrm>
            <a:prstGeom prst="rect">
              <a:avLst/>
            </a:prstGeom>
            <a:noFill/>
            <a:ln w="9525">
              <a:noFill/>
              <a:miter lim="800000"/>
              <a:headEnd/>
              <a:tailEnd/>
            </a:ln>
          </p:spPr>
        </p:pic>
      </p:grpSp>
      <p:grpSp>
        <p:nvGrpSpPr>
          <p:cNvPr id="232" name="Group 47"/>
          <p:cNvGrpSpPr>
            <a:grpSpLocks/>
          </p:cNvGrpSpPr>
          <p:nvPr/>
        </p:nvGrpSpPr>
        <p:grpSpPr bwMode="auto">
          <a:xfrm>
            <a:off x="4534557" y="1136762"/>
            <a:ext cx="401638" cy="386953"/>
            <a:chOff x="1930" y="1254"/>
            <a:chExt cx="253" cy="325"/>
          </a:xfrm>
        </p:grpSpPr>
        <p:sp>
          <p:nvSpPr>
            <p:cNvPr id="233" name="Line 176"/>
            <p:cNvSpPr>
              <a:spLocks noChangeAspect="1" noChangeShapeType="1"/>
            </p:cNvSpPr>
            <p:nvPr/>
          </p:nvSpPr>
          <p:spPr bwMode="auto">
            <a:xfrm>
              <a:off x="2078" y="1316"/>
              <a:ext cx="0" cy="47"/>
            </a:xfrm>
            <a:prstGeom prst="line">
              <a:avLst/>
            </a:prstGeom>
            <a:noFill/>
            <a:ln w="9525">
              <a:solidFill>
                <a:schemeClr val="tx1"/>
              </a:solidFill>
              <a:round/>
              <a:headEnd/>
              <a:tailEnd/>
            </a:ln>
          </p:spPr>
          <p:txBody>
            <a:bodyPr/>
            <a:lstStyle/>
            <a:p>
              <a:endParaRPr lang="en-US"/>
            </a:p>
          </p:txBody>
        </p:sp>
        <p:sp>
          <p:nvSpPr>
            <p:cNvPr id="234" name="Line 177"/>
            <p:cNvSpPr>
              <a:spLocks noChangeAspect="1" noChangeShapeType="1"/>
            </p:cNvSpPr>
            <p:nvPr/>
          </p:nvSpPr>
          <p:spPr bwMode="auto">
            <a:xfrm flipH="1">
              <a:off x="2035" y="1360"/>
              <a:ext cx="44" cy="58"/>
            </a:xfrm>
            <a:prstGeom prst="line">
              <a:avLst/>
            </a:prstGeom>
            <a:noFill/>
            <a:ln w="9525">
              <a:solidFill>
                <a:schemeClr val="tx1"/>
              </a:solidFill>
              <a:round/>
              <a:headEnd/>
              <a:tailEnd/>
            </a:ln>
          </p:spPr>
          <p:txBody>
            <a:bodyPr/>
            <a:lstStyle/>
            <a:p>
              <a:endParaRPr lang="en-US"/>
            </a:p>
          </p:txBody>
        </p:sp>
        <p:sp>
          <p:nvSpPr>
            <p:cNvPr id="235" name="Line 178"/>
            <p:cNvSpPr>
              <a:spLocks noChangeAspect="1" noChangeShapeType="1"/>
            </p:cNvSpPr>
            <p:nvPr/>
          </p:nvSpPr>
          <p:spPr bwMode="auto">
            <a:xfrm>
              <a:off x="2076" y="1360"/>
              <a:ext cx="44" cy="58"/>
            </a:xfrm>
            <a:prstGeom prst="line">
              <a:avLst/>
            </a:prstGeom>
            <a:noFill/>
            <a:ln w="9525">
              <a:solidFill>
                <a:schemeClr val="tx1"/>
              </a:solidFill>
              <a:round/>
              <a:headEnd/>
              <a:tailEnd/>
            </a:ln>
          </p:spPr>
          <p:txBody>
            <a:bodyPr/>
            <a:lstStyle/>
            <a:p>
              <a:endParaRPr lang="en-US"/>
            </a:p>
          </p:txBody>
        </p:sp>
        <p:grpSp>
          <p:nvGrpSpPr>
            <p:cNvPr id="236" name="Group 179"/>
            <p:cNvGrpSpPr>
              <a:grpSpLocks noChangeAspect="1"/>
            </p:cNvGrpSpPr>
            <p:nvPr/>
          </p:nvGrpSpPr>
          <p:grpSpPr bwMode="auto">
            <a:xfrm>
              <a:off x="1992" y="1418"/>
              <a:ext cx="85" cy="102"/>
              <a:chOff x="4547" y="1438"/>
              <a:chExt cx="148" cy="178"/>
            </a:xfrm>
          </p:grpSpPr>
          <p:sp>
            <p:nvSpPr>
              <p:cNvPr id="241" name="Line 180"/>
              <p:cNvSpPr>
                <a:spLocks noChangeAspect="1" noChangeShapeType="1"/>
              </p:cNvSpPr>
              <p:nvPr/>
            </p:nvSpPr>
            <p:spPr bwMode="auto">
              <a:xfrm>
                <a:off x="4622" y="1438"/>
                <a:ext cx="0" cy="82"/>
              </a:xfrm>
              <a:prstGeom prst="line">
                <a:avLst/>
              </a:prstGeom>
              <a:noFill/>
              <a:ln w="9525">
                <a:solidFill>
                  <a:schemeClr val="tx1"/>
                </a:solidFill>
                <a:round/>
                <a:headEnd/>
                <a:tailEnd/>
              </a:ln>
            </p:spPr>
            <p:txBody>
              <a:bodyPr/>
              <a:lstStyle/>
              <a:p>
                <a:endParaRPr lang="en-US"/>
              </a:p>
            </p:txBody>
          </p:sp>
          <p:sp>
            <p:nvSpPr>
              <p:cNvPr id="242" name="Line 181"/>
              <p:cNvSpPr>
                <a:spLocks noChangeAspect="1" noChangeShapeType="1"/>
              </p:cNvSpPr>
              <p:nvPr/>
            </p:nvSpPr>
            <p:spPr bwMode="auto">
              <a:xfrm flipH="1">
                <a:off x="4547" y="1515"/>
                <a:ext cx="76" cy="101"/>
              </a:xfrm>
              <a:prstGeom prst="line">
                <a:avLst/>
              </a:prstGeom>
              <a:noFill/>
              <a:ln w="9525">
                <a:solidFill>
                  <a:schemeClr val="tx1"/>
                </a:solidFill>
                <a:round/>
                <a:headEnd/>
                <a:tailEnd/>
              </a:ln>
            </p:spPr>
            <p:txBody>
              <a:bodyPr/>
              <a:lstStyle/>
              <a:p>
                <a:endParaRPr lang="en-US"/>
              </a:p>
            </p:txBody>
          </p:sp>
          <p:sp>
            <p:nvSpPr>
              <p:cNvPr id="243" name="Line 182"/>
              <p:cNvSpPr>
                <a:spLocks noChangeAspect="1" noChangeShapeType="1"/>
              </p:cNvSpPr>
              <p:nvPr/>
            </p:nvSpPr>
            <p:spPr bwMode="auto">
              <a:xfrm>
                <a:off x="4619" y="1515"/>
                <a:ext cx="76" cy="101"/>
              </a:xfrm>
              <a:prstGeom prst="line">
                <a:avLst/>
              </a:prstGeom>
              <a:noFill/>
              <a:ln w="9525">
                <a:solidFill>
                  <a:schemeClr val="tx1"/>
                </a:solidFill>
                <a:round/>
                <a:headEnd/>
                <a:tailEnd/>
              </a:ln>
            </p:spPr>
            <p:txBody>
              <a:bodyPr/>
              <a:lstStyle/>
              <a:p>
                <a:endParaRPr lang="en-US"/>
              </a:p>
            </p:txBody>
          </p:sp>
        </p:grpSp>
        <p:pic>
          <p:nvPicPr>
            <p:cNvPr id="237" name="Picture 55" descr="npo00009c"/>
            <p:cNvPicPr>
              <a:picLocks noChangeAspect="1" noChangeArrowheads="1"/>
            </p:cNvPicPr>
            <p:nvPr/>
          </p:nvPicPr>
          <p:blipFill>
            <a:blip r:embed="rId3" cstate="print"/>
            <a:srcRect/>
            <a:stretch>
              <a:fillRect/>
            </a:stretch>
          </p:blipFill>
          <p:spPr bwMode="auto">
            <a:xfrm>
              <a:off x="2120" y="1417"/>
              <a:ext cx="63" cy="65"/>
            </a:xfrm>
            <a:prstGeom prst="rect">
              <a:avLst/>
            </a:prstGeom>
            <a:noFill/>
            <a:ln w="9525">
              <a:noFill/>
              <a:miter lim="800000"/>
              <a:headEnd/>
              <a:tailEnd/>
            </a:ln>
          </p:spPr>
        </p:pic>
        <p:pic>
          <p:nvPicPr>
            <p:cNvPr id="238" name="Picture 56" descr="npo00009d"/>
            <p:cNvPicPr>
              <a:picLocks noChangeAspect="1" noChangeArrowheads="1"/>
            </p:cNvPicPr>
            <p:nvPr/>
          </p:nvPicPr>
          <p:blipFill>
            <a:blip r:embed="rId3" cstate="print"/>
            <a:srcRect/>
            <a:stretch>
              <a:fillRect/>
            </a:stretch>
          </p:blipFill>
          <p:spPr bwMode="auto">
            <a:xfrm>
              <a:off x="1930" y="1515"/>
              <a:ext cx="63" cy="64"/>
            </a:xfrm>
            <a:prstGeom prst="rect">
              <a:avLst/>
            </a:prstGeom>
            <a:noFill/>
            <a:ln w="9525">
              <a:noFill/>
              <a:miter lim="800000"/>
              <a:headEnd/>
              <a:tailEnd/>
            </a:ln>
          </p:spPr>
        </p:pic>
        <p:pic>
          <p:nvPicPr>
            <p:cNvPr id="239" name="Picture 57" descr="npo00009e"/>
            <p:cNvPicPr>
              <a:picLocks noChangeAspect="1" noChangeArrowheads="1"/>
            </p:cNvPicPr>
            <p:nvPr/>
          </p:nvPicPr>
          <p:blipFill>
            <a:blip r:embed="rId3" cstate="print"/>
            <a:srcRect/>
            <a:stretch>
              <a:fillRect/>
            </a:stretch>
          </p:blipFill>
          <p:spPr bwMode="auto">
            <a:xfrm>
              <a:off x="2065" y="1515"/>
              <a:ext cx="63" cy="64"/>
            </a:xfrm>
            <a:prstGeom prst="rect">
              <a:avLst/>
            </a:prstGeom>
            <a:noFill/>
            <a:ln w="9525">
              <a:noFill/>
              <a:miter lim="800000"/>
              <a:headEnd/>
              <a:tailEnd/>
            </a:ln>
          </p:spPr>
        </p:pic>
        <p:pic>
          <p:nvPicPr>
            <p:cNvPr id="240" name="Picture 58" descr="npo00009f"/>
            <p:cNvPicPr>
              <a:picLocks noChangeAspect="1" noChangeArrowheads="1"/>
            </p:cNvPicPr>
            <p:nvPr/>
          </p:nvPicPr>
          <p:blipFill>
            <a:blip r:embed="rId3" cstate="print"/>
            <a:srcRect/>
            <a:stretch>
              <a:fillRect/>
            </a:stretch>
          </p:blipFill>
          <p:spPr bwMode="auto">
            <a:xfrm>
              <a:off x="2044" y="1254"/>
              <a:ext cx="63" cy="64"/>
            </a:xfrm>
            <a:prstGeom prst="rect">
              <a:avLst/>
            </a:prstGeom>
            <a:noFill/>
            <a:ln w="9525">
              <a:noFill/>
              <a:miter lim="800000"/>
              <a:headEnd/>
              <a:tailEnd/>
            </a:ln>
          </p:spPr>
        </p:pic>
      </p:grpSp>
      <p:grpSp>
        <p:nvGrpSpPr>
          <p:cNvPr id="244" name="Group 47"/>
          <p:cNvGrpSpPr>
            <a:grpSpLocks/>
          </p:cNvGrpSpPr>
          <p:nvPr/>
        </p:nvGrpSpPr>
        <p:grpSpPr bwMode="auto">
          <a:xfrm>
            <a:off x="5003780" y="1136762"/>
            <a:ext cx="401638" cy="386953"/>
            <a:chOff x="1930" y="1254"/>
            <a:chExt cx="253" cy="325"/>
          </a:xfrm>
        </p:grpSpPr>
        <p:sp>
          <p:nvSpPr>
            <p:cNvPr id="245" name="Line 176"/>
            <p:cNvSpPr>
              <a:spLocks noChangeAspect="1" noChangeShapeType="1"/>
            </p:cNvSpPr>
            <p:nvPr/>
          </p:nvSpPr>
          <p:spPr bwMode="auto">
            <a:xfrm>
              <a:off x="2078" y="1316"/>
              <a:ext cx="0" cy="47"/>
            </a:xfrm>
            <a:prstGeom prst="line">
              <a:avLst/>
            </a:prstGeom>
            <a:noFill/>
            <a:ln w="9525">
              <a:solidFill>
                <a:schemeClr val="tx1"/>
              </a:solidFill>
              <a:round/>
              <a:headEnd/>
              <a:tailEnd/>
            </a:ln>
          </p:spPr>
          <p:txBody>
            <a:bodyPr/>
            <a:lstStyle/>
            <a:p>
              <a:endParaRPr lang="en-US"/>
            </a:p>
          </p:txBody>
        </p:sp>
        <p:sp>
          <p:nvSpPr>
            <p:cNvPr id="246" name="Line 177"/>
            <p:cNvSpPr>
              <a:spLocks noChangeAspect="1" noChangeShapeType="1"/>
            </p:cNvSpPr>
            <p:nvPr/>
          </p:nvSpPr>
          <p:spPr bwMode="auto">
            <a:xfrm flipH="1">
              <a:off x="2035" y="1360"/>
              <a:ext cx="44" cy="58"/>
            </a:xfrm>
            <a:prstGeom prst="line">
              <a:avLst/>
            </a:prstGeom>
            <a:noFill/>
            <a:ln w="9525">
              <a:solidFill>
                <a:schemeClr val="tx1"/>
              </a:solidFill>
              <a:round/>
              <a:headEnd/>
              <a:tailEnd/>
            </a:ln>
          </p:spPr>
          <p:txBody>
            <a:bodyPr/>
            <a:lstStyle/>
            <a:p>
              <a:endParaRPr lang="en-US"/>
            </a:p>
          </p:txBody>
        </p:sp>
        <p:sp>
          <p:nvSpPr>
            <p:cNvPr id="247" name="Line 178"/>
            <p:cNvSpPr>
              <a:spLocks noChangeAspect="1" noChangeShapeType="1"/>
            </p:cNvSpPr>
            <p:nvPr/>
          </p:nvSpPr>
          <p:spPr bwMode="auto">
            <a:xfrm>
              <a:off x="2076" y="1360"/>
              <a:ext cx="44" cy="58"/>
            </a:xfrm>
            <a:prstGeom prst="line">
              <a:avLst/>
            </a:prstGeom>
            <a:noFill/>
            <a:ln w="9525">
              <a:solidFill>
                <a:schemeClr val="tx1"/>
              </a:solidFill>
              <a:round/>
              <a:headEnd/>
              <a:tailEnd/>
            </a:ln>
          </p:spPr>
          <p:txBody>
            <a:bodyPr/>
            <a:lstStyle/>
            <a:p>
              <a:endParaRPr lang="en-US"/>
            </a:p>
          </p:txBody>
        </p:sp>
        <p:grpSp>
          <p:nvGrpSpPr>
            <p:cNvPr id="248" name="Group 179"/>
            <p:cNvGrpSpPr>
              <a:grpSpLocks noChangeAspect="1"/>
            </p:cNvGrpSpPr>
            <p:nvPr/>
          </p:nvGrpSpPr>
          <p:grpSpPr bwMode="auto">
            <a:xfrm>
              <a:off x="1992" y="1418"/>
              <a:ext cx="85" cy="102"/>
              <a:chOff x="4547" y="1438"/>
              <a:chExt cx="148" cy="178"/>
            </a:xfrm>
          </p:grpSpPr>
          <p:sp>
            <p:nvSpPr>
              <p:cNvPr id="253" name="Line 180"/>
              <p:cNvSpPr>
                <a:spLocks noChangeAspect="1" noChangeShapeType="1"/>
              </p:cNvSpPr>
              <p:nvPr/>
            </p:nvSpPr>
            <p:spPr bwMode="auto">
              <a:xfrm>
                <a:off x="4622" y="1438"/>
                <a:ext cx="0" cy="82"/>
              </a:xfrm>
              <a:prstGeom prst="line">
                <a:avLst/>
              </a:prstGeom>
              <a:noFill/>
              <a:ln w="9525">
                <a:solidFill>
                  <a:schemeClr val="tx1"/>
                </a:solidFill>
                <a:round/>
                <a:headEnd/>
                <a:tailEnd/>
              </a:ln>
            </p:spPr>
            <p:txBody>
              <a:bodyPr/>
              <a:lstStyle/>
              <a:p>
                <a:endParaRPr lang="en-US"/>
              </a:p>
            </p:txBody>
          </p:sp>
          <p:sp>
            <p:nvSpPr>
              <p:cNvPr id="254" name="Line 181"/>
              <p:cNvSpPr>
                <a:spLocks noChangeAspect="1" noChangeShapeType="1"/>
              </p:cNvSpPr>
              <p:nvPr/>
            </p:nvSpPr>
            <p:spPr bwMode="auto">
              <a:xfrm flipH="1">
                <a:off x="4547" y="1515"/>
                <a:ext cx="76" cy="101"/>
              </a:xfrm>
              <a:prstGeom prst="line">
                <a:avLst/>
              </a:prstGeom>
              <a:noFill/>
              <a:ln w="9525">
                <a:solidFill>
                  <a:schemeClr val="tx1"/>
                </a:solidFill>
                <a:round/>
                <a:headEnd/>
                <a:tailEnd/>
              </a:ln>
            </p:spPr>
            <p:txBody>
              <a:bodyPr/>
              <a:lstStyle/>
              <a:p>
                <a:endParaRPr lang="en-US"/>
              </a:p>
            </p:txBody>
          </p:sp>
          <p:sp>
            <p:nvSpPr>
              <p:cNvPr id="255" name="Line 182"/>
              <p:cNvSpPr>
                <a:spLocks noChangeAspect="1" noChangeShapeType="1"/>
              </p:cNvSpPr>
              <p:nvPr/>
            </p:nvSpPr>
            <p:spPr bwMode="auto">
              <a:xfrm>
                <a:off x="4619" y="1515"/>
                <a:ext cx="76" cy="101"/>
              </a:xfrm>
              <a:prstGeom prst="line">
                <a:avLst/>
              </a:prstGeom>
              <a:noFill/>
              <a:ln w="9525">
                <a:solidFill>
                  <a:schemeClr val="tx1"/>
                </a:solidFill>
                <a:round/>
                <a:headEnd/>
                <a:tailEnd/>
              </a:ln>
            </p:spPr>
            <p:txBody>
              <a:bodyPr/>
              <a:lstStyle/>
              <a:p>
                <a:endParaRPr lang="en-US"/>
              </a:p>
            </p:txBody>
          </p:sp>
        </p:grpSp>
        <p:pic>
          <p:nvPicPr>
            <p:cNvPr id="249" name="Picture 55" descr="npo00009c"/>
            <p:cNvPicPr>
              <a:picLocks noChangeAspect="1" noChangeArrowheads="1"/>
            </p:cNvPicPr>
            <p:nvPr/>
          </p:nvPicPr>
          <p:blipFill>
            <a:blip r:embed="rId3" cstate="print"/>
            <a:srcRect/>
            <a:stretch>
              <a:fillRect/>
            </a:stretch>
          </p:blipFill>
          <p:spPr bwMode="auto">
            <a:xfrm>
              <a:off x="2120" y="1417"/>
              <a:ext cx="63" cy="65"/>
            </a:xfrm>
            <a:prstGeom prst="rect">
              <a:avLst/>
            </a:prstGeom>
            <a:noFill/>
            <a:ln w="9525">
              <a:noFill/>
              <a:miter lim="800000"/>
              <a:headEnd/>
              <a:tailEnd/>
            </a:ln>
          </p:spPr>
        </p:pic>
        <p:pic>
          <p:nvPicPr>
            <p:cNvPr id="250" name="Picture 56" descr="npo00009d"/>
            <p:cNvPicPr>
              <a:picLocks noChangeAspect="1" noChangeArrowheads="1"/>
            </p:cNvPicPr>
            <p:nvPr/>
          </p:nvPicPr>
          <p:blipFill>
            <a:blip r:embed="rId3" cstate="print"/>
            <a:srcRect/>
            <a:stretch>
              <a:fillRect/>
            </a:stretch>
          </p:blipFill>
          <p:spPr bwMode="auto">
            <a:xfrm>
              <a:off x="1930" y="1515"/>
              <a:ext cx="63" cy="64"/>
            </a:xfrm>
            <a:prstGeom prst="rect">
              <a:avLst/>
            </a:prstGeom>
            <a:noFill/>
            <a:ln w="9525">
              <a:noFill/>
              <a:miter lim="800000"/>
              <a:headEnd/>
              <a:tailEnd/>
            </a:ln>
          </p:spPr>
        </p:pic>
        <p:pic>
          <p:nvPicPr>
            <p:cNvPr id="251" name="Picture 57" descr="npo00009e"/>
            <p:cNvPicPr>
              <a:picLocks noChangeAspect="1" noChangeArrowheads="1"/>
            </p:cNvPicPr>
            <p:nvPr/>
          </p:nvPicPr>
          <p:blipFill>
            <a:blip r:embed="rId3" cstate="print"/>
            <a:srcRect/>
            <a:stretch>
              <a:fillRect/>
            </a:stretch>
          </p:blipFill>
          <p:spPr bwMode="auto">
            <a:xfrm>
              <a:off x="2065" y="1515"/>
              <a:ext cx="63" cy="64"/>
            </a:xfrm>
            <a:prstGeom prst="rect">
              <a:avLst/>
            </a:prstGeom>
            <a:noFill/>
            <a:ln w="9525">
              <a:noFill/>
              <a:miter lim="800000"/>
              <a:headEnd/>
              <a:tailEnd/>
            </a:ln>
          </p:spPr>
        </p:pic>
        <p:pic>
          <p:nvPicPr>
            <p:cNvPr id="252" name="Picture 58" descr="npo00009f"/>
            <p:cNvPicPr>
              <a:picLocks noChangeAspect="1" noChangeArrowheads="1"/>
            </p:cNvPicPr>
            <p:nvPr/>
          </p:nvPicPr>
          <p:blipFill>
            <a:blip r:embed="rId3" cstate="print"/>
            <a:srcRect/>
            <a:stretch>
              <a:fillRect/>
            </a:stretch>
          </p:blipFill>
          <p:spPr bwMode="auto">
            <a:xfrm>
              <a:off x="2044" y="1254"/>
              <a:ext cx="63" cy="64"/>
            </a:xfrm>
            <a:prstGeom prst="rect">
              <a:avLst/>
            </a:prstGeom>
            <a:noFill/>
            <a:ln w="9525">
              <a:noFill/>
              <a:miter lim="800000"/>
              <a:headEnd/>
              <a:tailEnd/>
            </a:ln>
          </p:spPr>
        </p:pic>
      </p:grpSp>
      <p:grpSp>
        <p:nvGrpSpPr>
          <p:cNvPr id="256" name="Group 47"/>
          <p:cNvGrpSpPr>
            <a:grpSpLocks/>
          </p:cNvGrpSpPr>
          <p:nvPr/>
        </p:nvGrpSpPr>
        <p:grpSpPr bwMode="auto">
          <a:xfrm>
            <a:off x="3596117" y="1136762"/>
            <a:ext cx="401638" cy="386953"/>
            <a:chOff x="1930" y="1254"/>
            <a:chExt cx="253" cy="325"/>
          </a:xfrm>
        </p:grpSpPr>
        <p:sp>
          <p:nvSpPr>
            <p:cNvPr id="257" name="Line 176"/>
            <p:cNvSpPr>
              <a:spLocks noChangeAspect="1" noChangeShapeType="1"/>
            </p:cNvSpPr>
            <p:nvPr/>
          </p:nvSpPr>
          <p:spPr bwMode="auto">
            <a:xfrm>
              <a:off x="2078" y="1316"/>
              <a:ext cx="0" cy="47"/>
            </a:xfrm>
            <a:prstGeom prst="line">
              <a:avLst/>
            </a:prstGeom>
            <a:noFill/>
            <a:ln w="9525">
              <a:solidFill>
                <a:schemeClr val="tx1"/>
              </a:solidFill>
              <a:round/>
              <a:headEnd/>
              <a:tailEnd/>
            </a:ln>
          </p:spPr>
          <p:txBody>
            <a:bodyPr/>
            <a:lstStyle/>
            <a:p>
              <a:endParaRPr lang="en-US"/>
            </a:p>
          </p:txBody>
        </p:sp>
        <p:sp>
          <p:nvSpPr>
            <p:cNvPr id="258" name="Line 177"/>
            <p:cNvSpPr>
              <a:spLocks noChangeAspect="1" noChangeShapeType="1"/>
            </p:cNvSpPr>
            <p:nvPr/>
          </p:nvSpPr>
          <p:spPr bwMode="auto">
            <a:xfrm flipH="1">
              <a:off x="2035" y="1360"/>
              <a:ext cx="44" cy="58"/>
            </a:xfrm>
            <a:prstGeom prst="line">
              <a:avLst/>
            </a:prstGeom>
            <a:noFill/>
            <a:ln w="9525">
              <a:solidFill>
                <a:schemeClr val="tx1"/>
              </a:solidFill>
              <a:round/>
              <a:headEnd/>
              <a:tailEnd/>
            </a:ln>
          </p:spPr>
          <p:txBody>
            <a:bodyPr/>
            <a:lstStyle/>
            <a:p>
              <a:endParaRPr lang="en-US"/>
            </a:p>
          </p:txBody>
        </p:sp>
        <p:sp>
          <p:nvSpPr>
            <p:cNvPr id="259" name="Line 178"/>
            <p:cNvSpPr>
              <a:spLocks noChangeAspect="1" noChangeShapeType="1"/>
            </p:cNvSpPr>
            <p:nvPr/>
          </p:nvSpPr>
          <p:spPr bwMode="auto">
            <a:xfrm>
              <a:off x="2076" y="1360"/>
              <a:ext cx="44" cy="58"/>
            </a:xfrm>
            <a:prstGeom prst="line">
              <a:avLst/>
            </a:prstGeom>
            <a:noFill/>
            <a:ln w="9525">
              <a:solidFill>
                <a:schemeClr val="tx1"/>
              </a:solidFill>
              <a:round/>
              <a:headEnd/>
              <a:tailEnd/>
            </a:ln>
          </p:spPr>
          <p:txBody>
            <a:bodyPr/>
            <a:lstStyle/>
            <a:p>
              <a:endParaRPr lang="en-US"/>
            </a:p>
          </p:txBody>
        </p:sp>
        <p:grpSp>
          <p:nvGrpSpPr>
            <p:cNvPr id="260" name="Group 179"/>
            <p:cNvGrpSpPr>
              <a:grpSpLocks noChangeAspect="1"/>
            </p:cNvGrpSpPr>
            <p:nvPr/>
          </p:nvGrpSpPr>
          <p:grpSpPr bwMode="auto">
            <a:xfrm>
              <a:off x="1992" y="1418"/>
              <a:ext cx="85" cy="102"/>
              <a:chOff x="4547" y="1438"/>
              <a:chExt cx="148" cy="178"/>
            </a:xfrm>
          </p:grpSpPr>
          <p:sp>
            <p:nvSpPr>
              <p:cNvPr id="265" name="Line 180"/>
              <p:cNvSpPr>
                <a:spLocks noChangeAspect="1" noChangeShapeType="1"/>
              </p:cNvSpPr>
              <p:nvPr/>
            </p:nvSpPr>
            <p:spPr bwMode="auto">
              <a:xfrm>
                <a:off x="4622" y="1438"/>
                <a:ext cx="0" cy="82"/>
              </a:xfrm>
              <a:prstGeom prst="line">
                <a:avLst/>
              </a:prstGeom>
              <a:noFill/>
              <a:ln w="9525">
                <a:solidFill>
                  <a:schemeClr val="tx1"/>
                </a:solidFill>
                <a:round/>
                <a:headEnd/>
                <a:tailEnd/>
              </a:ln>
            </p:spPr>
            <p:txBody>
              <a:bodyPr/>
              <a:lstStyle/>
              <a:p>
                <a:endParaRPr lang="en-US"/>
              </a:p>
            </p:txBody>
          </p:sp>
          <p:sp>
            <p:nvSpPr>
              <p:cNvPr id="266" name="Line 181"/>
              <p:cNvSpPr>
                <a:spLocks noChangeAspect="1" noChangeShapeType="1"/>
              </p:cNvSpPr>
              <p:nvPr/>
            </p:nvSpPr>
            <p:spPr bwMode="auto">
              <a:xfrm flipH="1">
                <a:off x="4547" y="1515"/>
                <a:ext cx="76" cy="101"/>
              </a:xfrm>
              <a:prstGeom prst="line">
                <a:avLst/>
              </a:prstGeom>
              <a:noFill/>
              <a:ln w="9525">
                <a:solidFill>
                  <a:schemeClr val="tx1"/>
                </a:solidFill>
                <a:round/>
                <a:headEnd/>
                <a:tailEnd/>
              </a:ln>
            </p:spPr>
            <p:txBody>
              <a:bodyPr/>
              <a:lstStyle/>
              <a:p>
                <a:endParaRPr lang="en-US"/>
              </a:p>
            </p:txBody>
          </p:sp>
          <p:sp>
            <p:nvSpPr>
              <p:cNvPr id="267" name="Line 182"/>
              <p:cNvSpPr>
                <a:spLocks noChangeAspect="1" noChangeShapeType="1"/>
              </p:cNvSpPr>
              <p:nvPr/>
            </p:nvSpPr>
            <p:spPr bwMode="auto">
              <a:xfrm>
                <a:off x="4619" y="1515"/>
                <a:ext cx="76" cy="101"/>
              </a:xfrm>
              <a:prstGeom prst="line">
                <a:avLst/>
              </a:prstGeom>
              <a:noFill/>
              <a:ln w="9525">
                <a:solidFill>
                  <a:schemeClr val="tx1"/>
                </a:solidFill>
                <a:round/>
                <a:headEnd/>
                <a:tailEnd/>
              </a:ln>
            </p:spPr>
            <p:txBody>
              <a:bodyPr/>
              <a:lstStyle/>
              <a:p>
                <a:endParaRPr lang="en-US"/>
              </a:p>
            </p:txBody>
          </p:sp>
        </p:grpSp>
        <p:pic>
          <p:nvPicPr>
            <p:cNvPr id="261" name="Picture 55" descr="npo00009c"/>
            <p:cNvPicPr>
              <a:picLocks noChangeAspect="1" noChangeArrowheads="1"/>
            </p:cNvPicPr>
            <p:nvPr/>
          </p:nvPicPr>
          <p:blipFill>
            <a:blip r:embed="rId3" cstate="print"/>
            <a:srcRect/>
            <a:stretch>
              <a:fillRect/>
            </a:stretch>
          </p:blipFill>
          <p:spPr bwMode="auto">
            <a:xfrm>
              <a:off x="2120" y="1417"/>
              <a:ext cx="63" cy="65"/>
            </a:xfrm>
            <a:prstGeom prst="rect">
              <a:avLst/>
            </a:prstGeom>
            <a:noFill/>
            <a:ln w="9525">
              <a:noFill/>
              <a:miter lim="800000"/>
              <a:headEnd/>
              <a:tailEnd/>
            </a:ln>
          </p:spPr>
        </p:pic>
        <p:pic>
          <p:nvPicPr>
            <p:cNvPr id="262" name="Picture 56" descr="npo00009d"/>
            <p:cNvPicPr>
              <a:picLocks noChangeAspect="1" noChangeArrowheads="1"/>
            </p:cNvPicPr>
            <p:nvPr/>
          </p:nvPicPr>
          <p:blipFill>
            <a:blip r:embed="rId3" cstate="print"/>
            <a:srcRect/>
            <a:stretch>
              <a:fillRect/>
            </a:stretch>
          </p:blipFill>
          <p:spPr bwMode="auto">
            <a:xfrm>
              <a:off x="1930" y="1515"/>
              <a:ext cx="63" cy="64"/>
            </a:xfrm>
            <a:prstGeom prst="rect">
              <a:avLst/>
            </a:prstGeom>
            <a:noFill/>
            <a:ln w="9525">
              <a:noFill/>
              <a:miter lim="800000"/>
              <a:headEnd/>
              <a:tailEnd/>
            </a:ln>
          </p:spPr>
        </p:pic>
        <p:pic>
          <p:nvPicPr>
            <p:cNvPr id="263" name="Picture 57" descr="npo00009e"/>
            <p:cNvPicPr>
              <a:picLocks noChangeAspect="1" noChangeArrowheads="1"/>
            </p:cNvPicPr>
            <p:nvPr/>
          </p:nvPicPr>
          <p:blipFill>
            <a:blip r:embed="rId3" cstate="print"/>
            <a:srcRect/>
            <a:stretch>
              <a:fillRect/>
            </a:stretch>
          </p:blipFill>
          <p:spPr bwMode="auto">
            <a:xfrm>
              <a:off x="2065" y="1515"/>
              <a:ext cx="63" cy="64"/>
            </a:xfrm>
            <a:prstGeom prst="rect">
              <a:avLst/>
            </a:prstGeom>
            <a:noFill/>
            <a:ln w="9525">
              <a:noFill/>
              <a:miter lim="800000"/>
              <a:headEnd/>
              <a:tailEnd/>
            </a:ln>
          </p:spPr>
        </p:pic>
        <p:pic>
          <p:nvPicPr>
            <p:cNvPr id="264" name="Picture 58" descr="npo00009f"/>
            <p:cNvPicPr>
              <a:picLocks noChangeAspect="1" noChangeArrowheads="1"/>
            </p:cNvPicPr>
            <p:nvPr/>
          </p:nvPicPr>
          <p:blipFill>
            <a:blip r:embed="rId3" cstate="print"/>
            <a:srcRect/>
            <a:stretch>
              <a:fillRect/>
            </a:stretch>
          </p:blipFill>
          <p:spPr bwMode="auto">
            <a:xfrm>
              <a:off x="2044" y="1254"/>
              <a:ext cx="63" cy="64"/>
            </a:xfrm>
            <a:prstGeom prst="rect">
              <a:avLst/>
            </a:prstGeom>
            <a:noFill/>
            <a:ln w="9525">
              <a:noFill/>
              <a:miter lim="800000"/>
              <a:headEnd/>
              <a:tailEnd/>
            </a:ln>
          </p:spPr>
        </p:pic>
      </p:grpSp>
      <p:grpSp>
        <p:nvGrpSpPr>
          <p:cNvPr id="16" name="Group 15"/>
          <p:cNvGrpSpPr/>
          <p:nvPr/>
        </p:nvGrpSpPr>
        <p:grpSpPr>
          <a:xfrm>
            <a:off x="2416752" y="3955146"/>
            <a:ext cx="1678144" cy="1165228"/>
            <a:chOff x="378126" y="1117083"/>
            <a:chExt cx="3903935" cy="3580051"/>
          </a:xfrm>
        </p:grpSpPr>
        <p:grpSp>
          <p:nvGrpSpPr>
            <p:cNvPr id="270" name="Group 269"/>
            <p:cNvGrpSpPr/>
            <p:nvPr/>
          </p:nvGrpSpPr>
          <p:grpSpPr>
            <a:xfrm>
              <a:off x="380157" y="1117083"/>
              <a:ext cx="3901904" cy="730157"/>
              <a:chOff x="498141" y="2518463"/>
              <a:chExt cx="3901904" cy="973542"/>
            </a:xfrm>
          </p:grpSpPr>
          <p:grpSp>
            <p:nvGrpSpPr>
              <p:cNvPr id="271" name="Group 34"/>
              <p:cNvGrpSpPr>
                <a:grpSpLocks/>
              </p:cNvGrpSpPr>
              <p:nvPr/>
            </p:nvGrpSpPr>
            <p:grpSpPr bwMode="auto">
              <a:xfrm>
                <a:off x="498141" y="2518463"/>
                <a:ext cx="3901904" cy="547687"/>
                <a:chOff x="1087" y="2454"/>
                <a:chExt cx="1847" cy="190"/>
              </a:xfrm>
              <a:effectLst>
                <a:outerShdw blurRad="50800" dist="38100" dir="2700000" algn="tl" rotWithShape="0">
                  <a:prstClr val="black">
                    <a:alpha val="40000"/>
                  </a:prstClr>
                </a:outerShdw>
              </a:effectLst>
            </p:grpSpPr>
            <p:sp>
              <p:nvSpPr>
                <p:cNvPr id="278" name="Rectangle 35"/>
                <p:cNvSpPr>
                  <a:spLocks noChangeArrowheads="1"/>
                </p:cNvSpPr>
                <p:nvPr/>
              </p:nvSpPr>
              <p:spPr bwMode="auto">
                <a:xfrm>
                  <a:off x="1087" y="2454"/>
                  <a:ext cx="368" cy="190"/>
                </a:xfrm>
                <a:prstGeom prst="rect">
                  <a:avLst/>
                </a:prstGeom>
                <a:solidFill>
                  <a:srgbClr val="009999"/>
                </a:solidFill>
                <a:ln w="9525">
                  <a:solidFill>
                    <a:schemeClr val="bg1">
                      <a:lumMod val="75000"/>
                    </a:schemeClr>
                  </a:solidFill>
                  <a:miter lim="800000"/>
                  <a:headEnd/>
                  <a:tailEnd/>
                </a:ln>
              </p:spPr>
              <p:txBody>
                <a:bodyPr wrap="none" anchor="ctr"/>
                <a:lstStyle/>
                <a:p>
                  <a:pPr algn="ctr"/>
                  <a:r>
                    <a:rPr lang="en-US" sz="1000" b="1" dirty="0">
                      <a:solidFill>
                        <a:prstClr val="black"/>
                      </a:solidFill>
                      <a:latin typeface="Calibri" panose="020F0502020204030204" pitchFamily="34" charset="0"/>
                      <a:cs typeface="Calibri" panose="020F0502020204030204" pitchFamily="34" charset="0"/>
                    </a:rPr>
                    <a:t>SD</a:t>
                  </a:r>
                </a:p>
              </p:txBody>
            </p:sp>
            <p:sp>
              <p:nvSpPr>
                <p:cNvPr id="279" name="Rectangle 36"/>
                <p:cNvSpPr>
                  <a:spLocks noChangeArrowheads="1"/>
                </p:cNvSpPr>
                <p:nvPr/>
              </p:nvSpPr>
              <p:spPr bwMode="auto">
                <a:xfrm>
                  <a:off x="1827" y="2454"/>
                  <a:ext cx="368" cy="190"/>
                </a:xfrm>
                <a:prstGeom prst="rect">
                  <a:avLst/>
                </a:prstGeom>
                <a:solidFill>
                  <a:srgbClr val="009999"/>
                </a:solidFill>
                <a:ln w="9525">
                  <a:solidFill>
                    <a:schemeClr val="bg1">
                      <a:lumMod val="75000"/>
                    </a:schemeClr>
                  </a:solidFill>
                  <a:miter lim="800000"/>
                  <a:headEnd/>
                  <a:tailEnd/>
                </a:ln>
              </p:spPr>
              <p:txBody>
                <a:bodyPr wrap="none" anchor="ctr"/>
                <a:lstStyle/>
                <a:p>
                  <a:pPr algn="ctr"/>
                  <a:r>
                    <a:rPr lang="en-US" sz="1000" b="1" dirty="0">
                      <a:solidFill>
                        <a:prstClr val="black"/>
                      </a:solidFill>
                      <a:latin typeface="Calibri" panose="020F0502020204030204" pitchFamily="34" charset="0"/>
                      <a:cs typeface="Calibri" panose="020F0502020204030204" pitchFamily="34" charset="0"/>
                    </a:rPr>
                    <a:t>SD</a:t>
                  </a:r>
                </a:p>
              </p:txBody>
            </p:sp>
            <p:sp>
              <p:nvSpPr>
                <p:cNvPr id="280" name="Rectangle 37"/>
                <p:cNvSpPr>
                  <a:spLocks noChangeArrowheads="1"/>
                </p:cNvSpPr>
                <p:nvPr/>
              </p:nvSpPr>
              <p:spPr bwMode="auto">
                <a:xfrm>
                  <a:off x="1456" y="2454"/>
                  <a:ext cx="367" cy="190"/>
                </a:xfrm>
                <a:prstGeom prst="rect">
                  <a:avLst/>
                </a:prstGeom>
                <a:solidFill>
                  <a:srgbClr val="009999"/>
                </a:solidFill>
                <a:ln w="9525">
                  <a:solidFill>
                    <a:schemeClr val="bg1">
                      <a:lumMod val="75000"/>
                    </a:schemeClr>
                  </a:solidFill>
                  <a:miter lim="800000"/>
                  <a:headEnd/>
                  <a:tailEnd/>
                </a:ln>
              </p:spPr>
              <p:txBody>
                <a:bodyPr wrap="none" anchor="ctr"/>
                <a:lstStyle/>
                <a:p>
                  <a:pPr algn="ctr"/>
                  <a:r>
                    <a:rPr lang="en-US" sz="1000" b="1" dirty="0">
                      <a:solidFill>
                        <a:prstClr val="black"/>
                      </a:solidFill>
                      <a:latin typeface="Calibri" panose="020F0502020204030204" pitchFamily="34" charset="0"/>
                      <a:cs typeface="Calibri" panose="020F0502020204030204" pitchFamily="34" charset="0"/>
                    </a:rPr>
                    <a:t>SD</a:t>
                  </a:r>
                </a:p>
              </p:txBody>
            </p:sp>
            <p:sp>
              <p:nvSpPr>
                <p:cNvPr id="281" name="Rectangle 38"/>
                <p:cNvSpPr>
                  <a:spLocks noChangeArrowheads="1"/>
                </p:cNvSpPr>
                <p:nvPr/>
              </p:nvSpPr>
              <p:spPr bwMode="auto">
                <a:xfrm>
                  <a:off x="2195" y="2454"/>
                  <a:ext cx="368" cy="190"/>
                </a:xfrm>
                <a:prstGeom prst="rect">
                  <a:avLst/>
                </a:prstGeom>
                <a:solidFill>
                  <a:srgbClr val="009999"/>
                </a:solidFill>
                <a:ln w="9525">
                  <a:solidFill>
                    <a:schemeClr val="bg1">
                      <a:lumMod val="75000"/>
                    </a:schemeClr>
                  </a:solidFill>
                  <a:miter lim="800000"/>
                  <a:headEnd/>
                  <a:tailEnd/>
                </a:ln>
              </p:spPr>
              <p:txBody>
                <a:bodyPr wrap="none" anchor="ctr"/>
                <a:lstStyle/>
                <a:p>
                  <a:pPr algn="ctr"/>
                  <a:r>
                    <a:rPr lang="en-US" sz="1000" b="1" dirty="0">
                      <a:solidFill>
                        <a:prstClr val="black"/>
                      </a:solidFill>
                      <a:latin typeface="Calibri" panose="020F0502020204030204" pitchFamily="34" charset="0"/>
                      <a:cs typeface="Calibri" panose="020F0502020204030204" pitchFamily="34" charset="0"/>
                    </a:rPr>
                    <a:t>SD</a:t>
                  </a:r>
                </a:p>
              </p:txBody>
            </p:sp>
            <p:sp>
              <p:nvSpPr>
                <p:cNvPr id="282" name="Rectangle 39"/>
                <p:cNvSpPr>
                  <a:spLocks noChangeArrowheads="1"/>
                </p:cNvSpPr>
                <p:nvPr/>
              </p:nvSpPr>
              <p:spPr bwMode="auto">
                <a:xfrm>
                  <a:off x="2566" y="2454"/>
                  <a:ext cx="368" cy="190"/>
                </a:xfrm>
                <a:prstGeom prst="rect">
                  <a:avLst/>
                </a:prstGeom>
                <a:solidFill>
                  <a:srgbClr val="009999"/>
                </a:solidFill>
                <a:ln w="9525">
                  <a:solidFill>
                    <a:schemeClr val="bg1">
                      <a:lumMod val="75000"/>
                    </a:schemeClr>
                  </a:solidFill>
                  <a:miter lim="800000"/>
                  <a:headEnd/>
                  <a:tailEnd/>
                </a:ln>
              </p:spPr>
              <p:txBody>
                <a:bodyPr wrap="none" anchor="ctr"/>
                <a:lstStyle/>
                <a:p>
                  <a:pPr algn="ctr"/>
                  <a:r>
                    <a:rPr lang="en-US" sz="1000" b="1" dirty="0">
                      <a:solidFill>
                        <a:prstClr val="black"/>
                      </a:solidFill>
                      <a:latin typeface="Calibri" panose="020F0502020204030204" pitchFamily="34" charset="0"/>
                      <a:cs typeface="Calibri" panose="020F0502020204030204" pitchFamily="34" charset="0"/>
                    </a:rPr>
                    <a:t>SD</a:t>
                  </a:r>
                </a:p>
              </p:txBody>
            </p:sp>
          </p:grpSp>
          <p:grpSp>
            <p:nvGrpSpPr>
              <p:cNvPr id="272" name="Group 271"/>
              <p:cNvGrpSpPr/>
              <p:nvPr/>
            </p:nvGrpSpPr>
            <p:grpSpPr>
              <a:xfrm>
                <a:off x="788655" y="3146261"/>
                <a:ext cx="3308367" cy="345744"/>
                <a:chOff x="798078" y="1624084"/>
                <a:chExt cx="3308367" cy="348020"/>
              </a:xfrm>
              <a:effectLst>
                <a:outerShdw blurRad="50800" dist="38100" dir="2700000" algn="tl" rotWithShape="0">
                  <a:prstClr val="black">
                    <a:alpha val="40000"/>
                  </a:prstClr>
                </a:outerShdw>
              </a:effectLst>
            </p:grpSpPr>
            <p:sp>
              <p:nvSpPr>
                <p:cNvPr id="273" name="Down Arrow 272"/>
                <p:cNvSpPr/>
                <p:nvPr/>
              </p:nvSpPr>
              <p:spPr>
                <a:xfrm rot="10800000">
                  <a:off x="798078" y="1624084"/>
                  <a:ext cx="177548" cy="348017"/>
                </a:xfrm>
                <a:prstGeom prst="downArrow">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dirty="0">
                    <a:solidFill>
                      <a:prstClr val="white"/>
                    </a:solidFill>
                  </a:endParaRPr>
                </a:p>
              </p:txBody>
            </p:sp>
            <p:sp>
              <p:nvSpPr>
                <p:cNvPr id="274" name="Down Arrow 273"/>
                <p:cNvSpPr/>
                <p:nvPr/>
              </p:nvSpPr>
              <p:spPr>
                <a:xfrm rot="10800000">
                  <a:off x="1582896" y="1624085"/>
                  <a:ext cx="177548" cy="348017"/>
                </a:xfrm>
                <a:prstGeom prst="downArrow">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dirty="0">
                    <a:solidFill>
                      <a:prstClr val="white"/>
                    </a:solidFill>
                  </a:endParaRPr>
                </a:p>
              </p:txBody>
            </p:sp>
            <p:sp>
              <p:nvSpPr>
                <p:cNvPr id="275" name="Down Arrow 274"/>
                <p:cNvSpPr/>
                <p:nvPr/>
              </p:nvSpPr>
              <p:spPr>
                <a:xfrm rot="10800000">
                  <a:off x="2367712" y="1624086"/>
                  <a:ext cx="177548" cy="348017"/>
                </a:xfrm>
                <a:prstGeom prst="downArrow">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dirty="0">
                    <a:solidFill>
                      <a:prstClr val="white"/>
                    </a:solidFill>
                  </a:endParaRPr>
                </a:p>
              </p:txBody>
            </p:sp>
            <p:sp>
              <p:nvSpPr>
                <p:cNvPr id="276" name="Down Arrow 275"/>
                <p:cNvSpPr/>
                <p:nvPr/>
              </p:nvSpPr>
              <p:spPr>
                <a:xfrm rot="10800000">
                  <a:off x="3145136" y="1624084"/>
                  <a:ext cx="177548" cy="348017"/>
                </a:xfrm>
                <a:prstGeom prst="downArrow">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dirty="0">
                    <a:solidFill>
                      <a:prstClr val="white"/>
                    </a:solidFill>
                  </a:endParaRPr>
                </a:p>
              </p:txBody>
            </p:sp>
            <p:sp>
              <p:nvSpPr>
                <p:cNvPr id="277" name="Down Arrow 276"/>
                <p:cNvSpPr/>
                <p:nvPr/>
              </p:nvSpPr>
              <p:spPr>
                <a:xfrm rot="10800000">
                  <a:off x="3928897" y="1624087"/>
                  <a:ext cx="177548" cy="348017"/>
                </a:xfrm>
                <a:prstGeom prst="downArrow">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dirty="0">
                    <a:solidFill>
                      <a:prstClr val="white"/>
                    </a:solidFill>
                  </a:endParaRPr>
                </a:p>
              </p:txBody>
            </p:sp>
          </p:grpSp>
        </p:grpSp>
        <p:grpSp>
          <p:nvGrpSpPr>
            <p:cNvPr id="283" name="Group 282"/>
            <p:cNvGrpSpPr/>
            <p:nvPr/>
          </p:nvGrpSpPr>
          <p:grpSpPr>
            <a:xfrm>
              <a:off x="378126" y="3976868"/>
              <a:ext cx="3901904" cy="720266"/>
              <a:chOff x="498141" y="5246963"/>
              <a:chExt cx="3901904" cy="960354"/>
            </a:xfrm>
          </p:grpSpPr>
          <p:grpSp>
            <p:nvGrpSpPr>
              <p:cNvPr id="284" name="Group 17"/>
              <p:cNvGrpSpPr>
                <a:grpSpLocks/>
              </p:cNvGrpSpPr>
              <p:nvPr/>
            </p:nvGrpSpPr>
            <p:grpSpPr bwMode="auto">
              <a:xfrm>
                <a:off x="498141" y="5659630"/>
                <a:ext cx="3901904" cy="547687"/>
                <a:chOff x="1075" y="2886"/>
                <a:chExt cx="1847" cy="190"/>
              </a:xfrm>
              <a:solidFill>
                <a:schemeClr val="accent4">
                  <a:lumMod val="60000"/>
                  <a:lumOff val="40000"/>
                </a:schemeClr>
              </a:solidFill>
              <a:effectLst>
                <a:outerShdw blurRad="50800" dist="38100" dir="2700000" algn="tl" rotWithShape="0">
                  <a:prstClr val="black">
                    <a:alpha val="40000"/>
                  </a:prstClr>
                </a:outerShdw>
              </a:effectLst>
            </p:grpSpPr>
            <p:sp>
              <p:nvSpPr>
                <p:cNvPr id="291" name="Rectangle 50"/>
                <p:cNvSpPr>
                  <a:spLocks noChangeArrowheads="1"/>
                </p:cNvSpPr>
                <p:nvPr/>
              </p:nvSpPr>
              <p:spPr bwMode="auto">
                <a:xfrm>
                  <a:off x="1075" y="2886"/>
                  <a:ext cx="368" cy="190"/>
                </a:xfrm>
                <a:prstGeom prst="rect">
                  <a:avLst/>
                </a:prstGeom>
                <a:grpFill/>
                <a:ln w="9525">
                  <a:solidFill>
                    <a:schemeClr val="bg1">
                      <a:lumMod val="75000"/>
                    </a:schemeClr>
                  </a:solidFill>
                  <a:miter lim="800000"/>
                  <a:headEnd/>
                  <a:tailEnd/>
                </a:ln>
              </p:spPr>
              <p:txBody>
                <a:bodyPr wrap="none" anchor="ctr"/>
                <a:lstStyle/>
                <a:p>
                  <a:pPr algn="ctr"/>
                  <a:r>
                    <a:rPr lang="en-US" sz="1000" b="1" dirty="0">
                      <a:solidFill>
                        <a:prstClr val="white"/>
                      </a:solidFill>
                      <a:latin typeface="Calibri" panose="020F0502020204030204" pitchFamily="34" charset="0"/>
                      <a:cs typeface="Calibri" panose="020F0502020204030204" pitchFamily="34" charset="0"/>
                    </a:rPr>
                    <a:t> RG</a:t>
                  </a:r>
                </a:p>
              </p:txBody>
            </p:sp>
            <p:sp>
              <p:nvSpPr>
                <p:cNvPr id="292" name="Rectangle 51"/>
                <p:cNvSpPr>
                  <a:spLocks noChangeArrowheads="1"/>
                </p:cNvSpPr>
                <p:nvPr/>
              </p:nvSpPr>
              <p:spPr bwMode="auto">
                <a:xfrm>
                  <a:off x="1815" y="2886"/>
                  <a:ext cx="368" cy="190"/>
                </a:xfrm>
                <a:prstGeom prst="rect">
                  <a:avLst/>
                </a:prstGeom>
                <a:grpFill/>
                <a:ln w="9525">
                  <a:solidFill>
                    <a:schemeClr val="bg1">
                      <a:lumMod val="75000"/>
                    </a:schemeClr>
                  </a:solidFill>
                  <a:miter lim="800000"/>
                  <a:headEnd/>
                  <a:tailEnd/>
                </a:ln>
              </p:spPr>
              <p:txBody>
                <a:bodyPr wrap="none" anchor="ctr"/>
                <a:lstStyle/>
                <a:p>
                  <a:pPr algn="ctr"/>
                  <a:r>
                    <a:rPr lang="en-US" sz="1000" b="1" dirty="0">
                      <a:solidFill>
                        <a:prstClr val="white"/>
                      </a:solidFill>
                      <a:latin typeface="Calibri" panose="020F0502020204030204" pitchFamily="34" charset="0"/>
                      <a:cs typeface="Calibri" panose="020F0502020204030204" pitchFamily="34" charset="0"/>
                    </a:rPr>
                    <a:t>RG</a:t>
                  </a:r>
                </a:p>
              </p:txBody>
            </p:sp>
            <p:sp>
              <p:nvSpPr>
                <p:cNvPr id="293" name="Rectangle 52"/>
                <p:cNvSpPr>
                  <a:spLocks noChangeArrowheads="1"/>
                </p:cNvSpPr>
                <p:nvPr/>
              </p:nvSpPr>
              <p:spPr bwMode="auto">
                <a:xfrm>
                  <a:off x="1444" y="2886"/>
                  <a:ext cx="367" cy="190"/>
                </a:xfrm>
                <a:prstGeom prst="rect">
                  <a:avLst/>
                </a:prstGeom>
                <a:grpFill/>
                <a:ln w="9525">
                  <a:solidFill>
                    <a:schemeClr val="bg1">
                      <a:lumMod val="75000"/>
                    </a:schemeClr>
                  </a:solidFill>
                  <a:miter lim="800000"/>
                  <a:headEnd/>
                  <a:tailEnd/>
                </a:ln>
              </p:spPr>
              <p:txBody>
                <a:bodyPr wrap="none" anchor="ctr"/>
                <a:lstStyle/>
                <a:p>
                  <a:pPr algn="ctr"/>
                  <a:r>
                    <a:rPr lang="en-US" sz="1000" b="1" dirty="0">
                      <a:solidFill>
                        <a:prstClr val="white"/>
                      </a:solidFill>
                      <a:latin typeface="Calibri" panose="020F0502020204030204" pitchFamily="34" charset="0"/>
                      <a:cs typeface="Calibri" panose="020F0502020204030204" pitchFamily="34" charset="0"/>
                    </a:rPr>
                    <a:t>RG</a:t>
                  </a:r>
                </a:p>
              </p:txBody>
            </p:sp>
            <p:sp>
              <p:nvSpPr>
                <p:cNvPr id="294" name="Rectangle 53"/>
                <p:cNvSpPr>
                  <a:spLocks noChangeArrowheads="1"/>
                </p:cNvSpPr>
                <p:nvPr/>
              </p:nvSpPr>
              <p:spPr bwMode="auto">
                <a:xfrm>
                  <a:off x="2183" y="2886"/>
                  <a:ext cx="368" cy="190"/>
                </a:xfrm>
                <a:prstGeom prst="rect">
                  <a:avLst/>
                </a:prstGeom>
                <a:grpFill/>
                <a:ln w="9525">
                  <a:solidFill>
                    <a:schemeClr val="bg1">
                      <a:lumMod val="75000"/>
                    </a:schemeClr>
                  </a:solidFill>
                  <a:miter lim="800000"/>
                  <a:headEnd/>
                  <a:tailEnd/>
                </a:ln>
              </p:spPr>
              <p:txBody>
                <a:bodyPr wrap="none" anchor="ctr"/>
                <a:lstStyle/>
                <a:p>
                  <a:pPr algn="ctr"/>
                  <a:r>
                    <a:rPr lang="en-US" sz="1000" b="1" dirty="0">
                      <a:solidFill>
                        <a:prstClr val="white"/>
                      </a:solidFill>
                      <a:latin typeface="Calibri" panose="020F0502020204030204" pitchFamily="34" charset="0"/>
                      <a:cs typeface="Calibri" panose="020F0502020204030204" pitchFamily="34" charset="0"/>
                    </a:rPr>
                    <a:t>RG</a:t>
                  </a:r>
                </a:p>
              </p:txBody>
            </p:sp>
            <p:sp>
              <p:nvSpPr>
                <p:cNvPr id="295" name="Rectangle 54"/>
                <p:cNvSpPr>
                  <a:spLocks noChangeArrowheads="1"/>
                </p:cNvSpPr>
                <p:nvPr/>
              </p:nvSpPr>
              <p:spPr bwMode="auto">
                <a:xfrm>
                  <a:off x="2554" y="2886"/>
                  <a:ext cx="368" cy="190"/>
                </a:xfrm>
                <a:prstGeom prst="rect">
                  <a:avLst/>
                </a:prstGeom>
                <a:grpFill/>
                <a:ln w="9525">
                  <a:solidFill>
                    <a:schemeClr val="bg1">
                      <a:lumMod val="75000"/>
                    </a:schemeClr>
                  </a:solidFill>
                  <a:miter lim="800000"/>
                  <a:headEnd/>
                  <a:tailEnd/>
                </a:ln>
              </p:spPr>
              <p:txBody>
                <a:bodyPr wrap="none" anchor="ctr"/>
                <a:lstStyle/>
                <a:p>
                  <a:pPr algn="ctr"/>
                  <a:r>
                    <a:rPr lang="en-US" sz="1000" b="1" dirty="0">
                      <a:solidFill>
                        <a:prstClr val="white"/>
                      </a:solidFill>
                      <a:latin typeface="Calibri" panose="020F0502020204030204" pitchFamily="34" charset="0"/>
                      <a:cs typeface="Calibri" panose="020F0502020204030204" pitchFamily="34" charset="0"/>
                    </a:rPr>
                    <a:t>RG</a:t>
                  </a:r>
                </a:p>
              </p:txBody>
            </p:sp>
          </p:grpSp>
          <p:grpSp>
            <p:nvGrpSpPr>
              <p:cNvPr id="285" name="Group 284"/>
              <p:cNvGrpSpPr/>
              <p:nvPr/>
            </p:nvGrpSpPr>
            <p:grpSpPr>
              <a:xfrm>
                <a:off x="792877" y="5246963"/>
                <a:ext cx="3308367" cy="345744"/>
                <a:chOff x="798078" y="1624084"/>
                <a:chExt cx="3308367" cy="348020"/>
              </a:xfrm>
              <a:effectLst>
                <a:outerShdw blurRad="50800" dist="38100" dir="2700000" algn="tl" rotWithShape="0">
                  <a:prstClr val="black">
                    <a:alpha val="40000"/>
                  </a:prstClr>
                </a:outerShdw>
              </a:effectLst>
            </p:grpSpPr>
            <p:sp>
              <p:nvSpPr>
                <p:cNvPr id="286" name="Down Arrow 285"/>
                <p:cNvSpPr/>
                <p:nvPr/>
              </p:nvSpPr>
              <p:spPr>
                <a:xfrm rot="10800000">
                  <a:off x="798078" y="1624084"/>
                  <a:ext cx="177548" cy="348017"/>
                </a:xfrm>
                <a:prstGeom prst="downArrow">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dirty="0">
                    <a:solidFill>
                      <a:prstClr val="white"/>
                    </a:solidFill>
                  </a:endParaRPr>
                </a:p>
              </p:txBody>
            </p:sp>
            <p:sp>
              <p:nvSpPr>
                <p:cNvPr id="287" name="Down Arrow 286"/>
                <p:cNvSpPr/>
                <p:nvPr/>
              </p:nvSpPr>
              <p:spPr>
                <a:xfrm rot="10800000">
                  <a:off x="1582896" y="1624085"/>
                  <a:ext cx="177548" cy="348017"/>
                </a:xfrm>
                <a:prstGeom prst="downArrow">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dirty="0">
                    <a:solidFill>
                      <a:prstClr val="white"/>
                    </a:solidFill>
                  </a:endParaRPr>
                </a:p>
              </p:txBody>
            </p:sp>
            <p:sp>
              <p:nvSpPr>
                <p:cNvPr id="288" name="Down Arrow 287"/>
                <p:cNvSpPr/>
                <p:nvPr/>
              </p:nvSpPr>
              <p:spPr>
                <a:xfrm rot="10800000">
                  <a:off x="2367712" y="1624086"/>
                  <a:ext cx="177548" cy="348017"/>
                </a:xfrm>
                <a:prstGeom prst="downArrow">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dirty="0">
                    <a:solidFill>
                      <a:prstClr val="white"/>
                    </a:solidFill>
                  </a:endParaRPr>
                </a:p>
              </p:txBody>
            </p:sp>
            <p:sp>
              <p:nvSpPr>
                <p:cNvPr id="289" name="Down Arrow 288"/>
                <p:cNvSpPr/>
                <p:nvPr/>
              </p:nvSpPr>
              <p:spPr>
                <a:xfrm rot="10800000">
                  <a:off x="3145136" y="1624084"/>
                  <a:ext cx="177548" cy="348017"/>
                </a:xfrm>
                <a:prstGeom prst="downArrow">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dirty="0">
                    <a:solidFill>
                      <a:prstClr val="white"/>
                    </a:solidFill>
                  </a:endParaRPr>
                </a:p>
              </p:txBody>
            </p:sp>
            <p:sp>
              <p:nvSpPr>
                <p:cNvPr id="290" name="Down Arrow 289"/>
                <p:cNvSpPr/>
                <p:nvPr/>
              </p:nvSpPr>
              <p:spPr>
                <a:xfrm rot="10800000">
                  <a:off x="3928897" y="1624087"/>
                  <a:ext cx="177548" cy="348017"/>
                </a:xfrm>
                <a:prstGeom prst="downArrow">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dirty="0">
                    <a:solidFill>
                      <a:prstClr val="white"/>
                    </a:solidFill>
                  </a:endParaRPr>
                </a:p>
              </p:txBody>
            </p:sp>
          </p:grpSp>
        </p:grpSp>
        <p:sp>
          <p:nvSpPr>
            <p:cNvPr id="296" name="Rectangle 35"/>
            <p:cNvSpPr>
              <a:spLocks noChangeArrowheads="1"/>
            </p:cNvSpPr>
            <p:nvPr/>
          </p:nvSpPr>
          <p:spPr bwMode="auto">
            <a:xfrm>
              <a:off x="380157" y="2695653"/>
              <a:ext cx="3901904" cy="410765"/>
            </a:xfrm>
            <a:prstGeom prst="rect">
              <a:avLst/>
            </a:prstGeom>
            <a:solidFill>
              <a:srgbClr val="FFFF00"/>
            </a:solidFill>
            <a:ln w="9525">
              <a:solidFill>
                <a:schemeClr val="bg1">
                  <a:lumMod val="75000"/>
                </a:schemeClr>
              </a:solidFill>
              <a:miter lim="800000"/>
              <a:headEnd/>
              <a:tailEnd/>
            </a:ln>
            <a:effectLst>
              <a:outerShdw blurRad="50800" dist="38100" dir="2700000" algn="tl" rotWithShape="0">
                <a:prstClr val="black">
                  <a:alpha val="40000"/>
                </a:prstClr>
              </a:outerShdw>
            </a:effectLst>
          </p:spPr>
          <p:txBody>
            <a:bodyPr wrap="none" anchor="ctr"/>
            <a:lstStyle/>
            <a:p>
              <a:pPr algn="ctr"/>
              <a:r>
                <a:rPr lang="en-US" sz="900" b="1" dirty="0">
                  <a:solidFill>
                    <a:prstClr val="black"/>
                  </a:solidFill>
                  <a:latin typeface="Calibri" panose="020F0502020204030204" pitchFamily="34" charset="0"/>
                  <a:cs typeface="Calibri" panose="020F0502020204030204" pitchFamily="34" charset="0"/>
                </a:rPr>
                <a:t>HDP POOL</a:t>
              </a:r>
            </a:p>
          </p:txBody>
        </p:sp>
        <p:grpSp>
          <p:nvGrpSpPr>
            <p:cNvPr id="297" name="Group 296"/>
            <p:cNvGrpSpPr/>
            <p:nvPr/>
          </p:nvGrpSpPr>
          <p:grpSpPr>
            <a:xfrm>
              <a:off x="380157" y="1893926"/>
              <a:ext cx="3901904" cy="740312"/>
              <a:chOff x="498141" y="3554253"/>
              <a:chExt cx="3901904" cy="987082"/>
            </a:xfrm>
          </p:grpSpPr>
          <p:grpSp>
            <p:nvGrpSpPr>
              <p:cNvPr id="298" name="Group 17"/>
              <p:cNvGrpSpPr>
                <a:grpSpLocks/>
              </p:cNvGrpSpPr>
              <p:nvPr/>
            </p:nvGrpSpPr>
            <p:grpSpPr bwMode="auto">
              <a:xfrm>
                <a:off x="498141" y="3554253"/>
                <a:ext cx="3901904" cy="547687"/>
                <a:chOff x="1075" y="2886"/>
                <a:chExt cx="1847" cy="190"/>
              </a:xfrm>
              <a:solidFill>
                <a:srgbClr val="00B050"/>
              </a:solidFill>
              <a:effectLst>
                <a:outerShdw blurRad="50800" dist="38100" dir="2700000" algn="tl" rotWithShape="0">
                  <a:prstClr val="black">
                    <a:alpha val="40000"/>
                  </a:prstClr>
                </a:outerShdw>
              </a:effectLst>
            </p:grpSpPr>
            <p:sp>
              <p:nvSpPr>
                <p:cNvPr id="305" name="Rectangle 50"/>
                <p:cNvSpPr>
                  <a:spLocks noChangeArrowheads="1"/>
                </p:cNvSpPr>
                <p:nvPr/>
              </p:nvSpPr>
              <p:spPr bwMode="auto">
                <a:xfrm>
                  <a:off x="1075" y="2886"/>
                  <a:ext cx="368" cy="190"/>
                </a:xfrm>
                <a:prstGeom prst="rect">
                  <a:avLst/>
                </a:prstGeom>
                <a:solidFill>
                  <a:srgbClr val="A4CE4E"/>
                </a:solidFill>
                <a:ln w="9525">
                  <a:solidFill>
                    <a:schemeClr val="bg1">
                      <a:lumMod val="85000"/>
                    </a:schemeClr>
                  </a:solidFill>
                  <a:miter lim="800000"/>
                  <a:headEnd/>
                  <a:tailEnd/>
                </a:ln>
              </p:spPr>
              <p:txBody>
                <a:bodyPr wrap="none" anchor="ctr"/>
                <a:lstStyle/>
                <a:p>
                  <a:pPr algn="ctr"/>
                  <a:r>
                    <a:rPr lang="en-US" sz="800" b="1" dirty="0">
                      <a:solidFill>
                        <a:prstClr val="black"/>
                      </a:solidFill>
                      <a:latin typeface="Calibri" panose="020F0502020204030204" pitchFamily="34" charset="0"/>
                      <a:cs typeface="Calibri" panose="020F0502020204030204" pitchFamily="34" charset="0"/>
                    </a:rPr>
                    <a:t>DPVOL</a:t>
                  </a:r>
                </a:p>
              </p:txBody>
            </p:sp>
            <p:sp>
              <p:nvSpPr>
                <p:cNvPr id="306" name="Rectangle 51"/>
                <p:cNvSpPr>
                  <a:spLocks noChangeArrowheads="1"/>
                </p:cNvSpPr>
                <p:nvPr/>
              </p:nvSpPr>
              <p:spPr bwMode="auto">
                <a:xfrm>
                  <a:off x="1815" y="2886"/>
                  <a:ext cx="368" cy="190"/>
                </a:xfrm>
                <a:prstGeom prst="rect">
                  <a:avLst/>
                </a:prstGeom>
                <a:solidFill>
                  <a:srgbClr val="A4CE4E"/>
                </a:solidFill>
                <a:ln w="9525">
                  <a:solidFill>
                    <a:schemeClr val="bg1">
                      <a:lumMod val="85000"/>
                    </a:schemeClr>
                  </a:solidFill>
                  <a:miter lim="800000"/>
                  <a:headEnd/>
                  <a:tailEnd/>
                </a:ln>
              </p:spPr>
              <p:txBody>
                <a:bodyPr wrap="none" anchor="ctr"/>
                <a:lstStyle/>
                <a:p>
                  <a:pPr algn="ctr"/>
                  <a:r>
                    <a:rPr lang="en-US" sz="800" b="1" dirty="0">
                      <a:solidFill>
                        <a:prstClr val="black"/>
                      </a:solidFill>
                      <a:latin typeface="Calibri" panose="020F0502020204030204" pitchFamily="34" charset="0"/>
                      <a:cs typeface="Calibri" panose="020F0502020204030204" pitchFamily="34" charset="0"/>
                    </a:rPr>
                    <a:t>DPVOL</a:t>
                  </a:r>
                </a:p>
              </p:txBody>
            </p:sp>
            <p:sp>
              <p:nvSpPr>
                <p:cNvPr id="307" name="Rectangle 52"/>
                <p:cNvSpPr>
                  <a:spLocks noChangeArrowheads="1"/>
                </p:cNvSpPr>
                <p:nvPr/>
              </p:nvSpPr>
              <p:spPr bwMode="auto">
                <a:xfrm>
                  <a:off x="1444" y="2886"/>
                  <a:ext cx="367" cy="190"/>
                </a:xfrm>
                <a:prstGeom prst="rect">
                  <a:avLst/>
                </a:prstGeom>
                <a:solidFill>
                  <a:srgbClr val="A4CE4E"/>
                </a:solidFill>
                <a:ln w="9525">
                  <a:solidFill>
                    <a:schemeClr val="bg1">
                      <a:lumMod val="85000"/>
                    </a:schemeClr>
                  </a:solidFill>
                  <a:miter lim="800000"/>
                  <a:headEnd/>
                  <a:tailEnd/>
                </a:ln>
              </p:spPr>
              <p:txBody>
                <a:bodyPr wrap="none" anchor="ctr"/>
                <a:lstStyle/>
                <a:p>
                  <a:pPr algn="ctr"/>
                  <a:r>
                    <a:rPr lang="en-US" sz="800" b="1" dirty="0">
                      <a:solidFill>
                        <a:prstClr val="black"/>
                      </a:solidFill>
                      <a:latin typeface="Calibri" panose="020F0502020204030204" pitchFamily="34" charset="0"/>
                      <a:cs typeface="Calibri" panose="020F0502020204030204" pitchFamily="34" charset="0"/>
                    </a:rPr>
                    <a:t>DPVOL</a:t>
                  </a:r>
                </a:p>
              </p:txBody>
            </p:sp>
            <p:sp>
              <p:nvSpPr>
                <p:cNvPr id="308" name="Rectangle 53"/>
                <p:cNvSpPr>
                  <a:spLocks noChangeArrowheads="1"/>
                </p:cNvSpPr>
                <p:nvPr/>
              </p:nvSpPr>
              <p:spPr bwMode="auto">
                <a:xfrm>
                  <a:off x="2183" y="2886"/>
                  <a:ext cx="368" cy="190"/>
                </a:xfrm>
                <a:prstGeom prst="rect">
                  <a:avLst/>
                </a:prstGeom>
                <a:solidFill>
                  <a:srgbClr val="A4CE4E"/>
                </a:solidFill>
                <a:ln w="9525">
                  <a:solidFill>
                    <a:schemeClr val="bg1">
                      <a:lumMod val="85000"/>
                    </a:schemeClr>
                  </a:solidFill>
                  <a:miter lim="800000"/>
                  <a:headEnd/>
                  <a:tailEnd/>
                </a:ln>
              </p:spPr>
              <p:txBody>
                <a:bodyPr wrap="none" anchor="ctr"/>
                <a:lstStyle/>
                <a:p>
                  <a:pPr algn="ctr"/>
                  <a:r>
                    <a:rPr lang="en-US" sz="800" b="1" dirty="0">
                      <a:solidFill>
                        <a:prstClr val="black"/>
                      </a:solidFill>
                      <a:latin typeface="Calibri" panose="020F0502020204030204" pitchFamily="34" charset="0"/>
                      <a:cs typeface="Calibri" panose="020F0502020204030204" pitchFamily="34" charset="0"/>
                    </a:rPr>
                    <a:t>DPVOL</a:t>
                  </a:r>
                </a:p>
              </p:txBody>
            </p:sp>
            <p:sp>
              <p:nvSpPr>
                <p:cNvPr id="309" name="Rectangle 54"/>
                <p:cNvSpPr>
                  <a:spLocks noChangeArrowheads="1"/>
                </p:cNvSpPr>
                <p:nvPr/>
              </p:nvSpPr>
              <p:spPr bwMode="auto">
                <a:xfrm>
                  <a:off x="2554" y="2886"/>
                  <a:ext cx="368" cy="190"/>
                </a:xfrm>
                <a:prstGeom prst="rect">
                  <a:avLst/>
                </a:prstGeom>
                <a:solidFill>
                  <a:srgbClr val="A4CE4E"/>
                </a:solidFill>
                <a:ln w="9525">
                  <a:solidFill>
                    <a:schemeClr val="bg1">
                      <a:lumMod val="85000"/>
                    </a:schemeClr>
                  </a:solidFill>
                  <a:miter lim="800000"/>
                  <a:headEnd/>
                  <a:tailEnd/>
                </a:ln>
              </p:spPr>
              <p:txBody>
                <a:bodyPr wrap="none" anchor="ctr"/>
                <a:lstStyle/>
                <a:p>
                  <a:pPr algn="ctr"/>
                  <a:r>
                    <a:rPr lang="en-US" sz="800" b="1" dirty="0">
                      <a:solidFill>
                        <a:prstClr val="black"/>
                      </a:solidFill>
                      <a:latin typeface="Calibri" panose="020F0502020204030204" pitchFamily="34" charset="0"/>
                      <a:cs typeface="Calibri" panose="020F0502020204030204" pitchFamily="34" charset="0"/>
                    </a:rPr>
                    <a:t>DPVOL</a:t>
                  </a:r>
                </a:p>
              </p:txBody>
            </p:sp>
          </p:grpSp>
          <p:grpSp>
            <p:nvGrpSpPr>
              <p:cNvPr id="299" name="Group 298"/>
              <p:cNvGrpSpPr/>
              <p:nvPr/>
            </p:nvGrpSpPr>
            <p:grpSpPr>
              <a:xfrm>
                <a:off x="792877" y="4195591"/>
                <a:ext cx="3308367" cy="345744"/>
                <a:chOff x="798078" y="1624084"/>
                <a:chExt cx="3308367" cy="348020"/>
              </a:xfrm>
              <a:effectLst>
                <a:outerShdw blurRad="50800" dist="38100" dir="2700000" algn="tl" rotWithShape="0">
                  <a:prstClr val="black">
                    <a:alpha val="40000"/>
                  </a:prstClr>
                </a:outerShdw>
              </a:effectLst>
            </p:grpSpPr>
            <p:sp>
              <p:nvSpPr>
                <p:cNvPr id="300" name="Down Arrow 299"/>
                <p:cNvSpPr/>
                <p:nvPr/>
              </p:nvSpPr>
              <p:spPr>
                <a:xfrm rot="10800000">
                  <a:off x="798078" y="1624084"/>
                  <a:ext cx="177548" cy="348017"/>
                </a:xfrm>
                <a:prstGeom prst="downArrow">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dirty="0">
                    <a:solidFill>
                      <a:prstClr val="white"/>
                    </a:solidFill>
                  </a:endParaRPr>
                </a:p>
              </p:txBody>
            </p:sp>
            <p:sp>
              <p:nvSpPr>
                <p:cNvPr id="301" name="Down Arrow 300"/>
                <p:cNvSpPr/>
                <p:nvPr/>
              </p:nvSpPr>
              <p:spPr>
                <a:xfrm rot="10800000">
                  <a:off x="1582896" y="1624085"/>
                  <a:ext cx="177548" cy="348017"/>
                </a:xfrm>
                <a:prstGeom prst="downArrow">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dirty="0">
                    <a:solidFill>
                      <a:prstClr val="white"/>
                    </a:solidFill>
                  </a:endParaRPr>
                </a:p>
              </p:txBody>
            </p:sp>
            <p:sp>
              <p:nvSpPr>
                <p:cNvPr id="302" name="Down Arrow 301"/>
                <p:cNvSpPr/>
                <p:nvPr/>
              </p:nvSpPr>
              <p:spPr>
                <a:xfrm rot="10800000">
                  <a:off x="2367712" y="1624086"/>
                  <a:ext cx="177548" cy="348017"/>
                </a:xfrm>
                <a:prstGeom prst="downArrow">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dirty="0">
                    <a:solidFill>
                      <a:prstClr val="white"/>
                    </a:solidFill>
                  </a:endParaRPr>
                </a:p>
              </p:txBody>
            </p:sp>
            <p:sp>
              <p:nvSpPr>
                <p:cNvPr id="303" name="Down Arrow 302"/>
                <p:cNvSpPr/>
                <p:nvPr/>
              </p:nvSpPr>
              <p:spPr>
                <a:xfrm rot="10800000">
                  <a:off x="3145136" y="1624084"/>
                  <a:ext cx="177548" cy="348017"/>
                </a:xfrm>
                <a:prstGeom prst="downArrow">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dirty="0">
                    <a:solidFill>
                      <a:prstClr val="white"/>
                    </a:solidFill>
                  </a:endParaRPr>
                </a:p>
              </p:txBody>
            </p:sp>
            <p:sp>
              <p:nvSpPr>
                <p:cNvPr id="304" name="Down Arrow 303"/>
                <p:cNvSpPr/>
                <p:nvPr/>
              </p:nvSpPr>
              <p:spPr>
                <a:xfrm rot="10800000">
                  <a:off x="3928897" y="1624087"/>
                  <a:ext cx="177548" cy="348017"/>
                </a:xfrm>
                <a:prstGeom prst="downArrow">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dirty="0">
                    <a:solidFill>
                      <a:prstClr val="white"/>
                    </a:solidFill>
                  </a:endParaRPr>
                </a:p>
              </p:txBody>
            </p:sp>
          </p:grpSp>
        </p:grpSp>
        <p:grpSp>
          <p:nvGrpSpPr>
            <p:cNvPr id="310" name="Group 17"/>
            <p:cNvGrpSpPr>
              <a:grpSpLocks/>
            </p:cNvGrpSpPr>
            <p:nvPr/>
          </p:nvGrpSpPr>
          <p:grpSpPr bwMode="auto">
            <a:xfrm>
              <a:off x="378126" y="3495867"/>
              <a:ext cx="3901904" cy="410766"/>
              <a:chOff x="1075" y="2886"/>
              <a:chExt cx="1847" cy="190"/>
            </a:xfrm>
            <a:solidFill>
              <a:srgbClr val="00B050"/>
            </a:solidFill>
            <a:effectLst>
              <a:outerShdw blurRad="50800" dist="38100" dir="2700000" algn="tl" rotWithShape="0">
                <a:prstClr val="black">
                  <a:alpha val="40000"/>
                </a:prstClr>
              </a:outerShdw>
            </a:effectLst>
          </p:grpSpPr>
          <p:sp>
            <p:nvSpPr>
              <p:cNvPr id="311" name="Rectangle 50"/>
              <p:cNvSpPr>
                <a:spLocks noChangeArrowheads="1"/>
              </p:cNvSpPr>
              <p:nvPr/>
            </p:nvSpPr>
            <p:spPr bwMode="auto">
              <a:xfrm>
                <a:off x="1075" y="2886"/>
                <a:ext cx="368" cy="190"/>
              </a:xfrm>
              <a:prstGeom prst="rect">
                <a:avLst/>
              </a:prstGeom>
              <a:solidFill>
                <a:srgbClr val="A4CE4E"/>
              </a:solidFill>
              <a:ln w="9525">
                <a:solidFill>
                  <a:schemeClr val="bg1">
                    <a:lumMod val="85000"/>
                  </a:schemeClr>
                </a:solidFill>
                <a:miter lim="800000"/>
                <a:headEnd/>
                <a:tailEnd/>
              </a:ln>
            </p:spPr>
            <p:txBody>
              <a:bodyPr wrap="none" anchor="ctr"/>
              <a:lstStyle/>
              <a:p>
                <a:pPr algn="ctr"/>
                <a:r>
                  <a:rPr lang="en-US" sz="1000" b="1" dirty="0">
                    <a:solidFill>
                      <a:prstClr val="black"/>
                    </a:solidFill>
                    <a:latin typeface="Calibri" panose="020F0502020204030204" pitchFamily="34" charset="0"/>
                    <a:cs typeface="Calibri" panose="020F0502020204030204" pitchFamily="34" charset="0"/>
                  </a:rPr>
                  <a:t>LDEV</a:t>
                </a:r>
              </a:p>
            </p:txBody>
          </p:sp>
          <p:sp>
            <p:nvSpPr>
              <p:cNvPr id="312" name="Rectangle 51"/>
              <p:cNvSpPr>
                <a:spLocks noChangeArrowheads="1"/>
              </p:cNvSpPr>
              <p:nvPr/>
            </p:nvSpPr>
            <p:spPr bwMode="auto">
              <a:xfrm>
                <a:off x="1815" y="2886"/>
                <a:ext cx="368" cy="190"/>
              </a:xfrm>
              <a:prstGeom prst="rect">
                <a:avLst/>
              </a:prstGeom>
              <a:solidFill>
                <a:srgbClr val="A4CE4E"/>
              </a:solidFill>
              <a:ln w="9525">
                <a:solidFill>
                  <a:schemeClr val="bg1">
                    <a:lumMod val="85000"/>
                  </a:schemeClr>
                </a:solidFill>
                <a:miter lim="800000"/>
                <a:headEnd/>
                <a:tailEnd/>
              </a:ln>
            </p:spPr>
            <p:txBody>
              <a:bodyPr wrap="none" anchor="ctr"/>
              <a:lstStyle/>
              <a:p>
                <a:pPr algn="ctr"/>
                <a:r>
                  <a:rPr lang="en-US" sz="1000" b="1" dirty="0">
                    <a:solidFill>
                      <a:prstClr val="black"/>
                    </a:solidFill>
                    <a:latin typeface="Calibri" panose="020F0502020204030204" pitchFamily="34" charset="0"/>
                    <a:cs typeface="Calibri" panose="020F0502020204030204" pitchFamily="34" charset="0"/>
                  </a:rPr>
                  <a:t>LDEV</a:t>
                </a:r>
              </a:p>
            </p:txBody>
          </p:sp>
          <p:sp>
            <p:nvSpPr>
              <p:cNvPr id="313" name="Rectangle 52"/>
              <p:cNvSpPr>
                <a:spLocks noChangeArrowheads="1"/>
              </p:cNvSpPr>
              <p:nvPr/>
            </p:nvSpPr>
            <p:spPr bwMode="auto">
              <a:xfrm>
                <a:off x="1444" y="2886"/>
                <a:ext cx="367" cy="190"/>
              </a:xfrm>
              <a:prstGeom prst="rect">
                <a:avLst/>
              </a:prstGeom>
              <a:solidFill>
                <a:srgbClr val="A4CE4E"/>
              </a:solidFill>
              <a:ln w="9525">
                <a:solidFill>
                  <a:schemeClr val="bg1">
                    <a:lumMod val="85000"/>
                  </a:schemeClr>
                </a:solidFill>
                <a:miter lim="800000"/>
                <a:headEnd/>
                <a:tailEnd/>
              </a:ln>
            </p:spPr>
            <p:txBody>
              <a:bodyPr wrap="none" anchor="ctr"/>
              <a:lstStyle/>
              <a:p>
                <a:pPr algn="ctr"/>
                <a:r>
                  <a:rPr lang="en-US" sz="1000" b="1" dirty="0">
                    <a:solidFill>
                      <a:prstClr val="black"/>
                    </a:solidFill>
                    <a:latin typeface="Calibri" panose="020F0502020204030204" pitchFamily="34" charset="0"/>
                    <a:cs typeface="Calibri" panose="020F0502020204030204" pitchFamily="34" charset="0"/>
                  </a:rPr>
                  <a:t>LDEV</a:t>
                </a:r>
              </a:p>
            </p:txBody>
          </p:sp>
          <p:sp>
            <p:nvSpPr>
              <p:cNvPr id="314" name="Rectangle 53"/>
              <p:cNvSpPr>
                <a:spLocks noChangeArrowheads="1"/>
              </p:cNvSpPr>
              <p:nvPr/>
            </p:nvSpPr>
            <p:spPr bwMode="auto">
              <a:xfrm>
                <a:off x="2183" y="2886"/>
                <a:ext cx="368" cy="190"/>
              </a:xfrm>
              <a:prstGeom prst="rect">
                <a:avLst/>
              </a:prstGeom>
              <a:solidFill>
                <a:srgbClr val="A4CE4E"/>
              </a:solidFill>
              <a:ln w="9525">
                <a:solidFill>
                  <a:schemeClr val="bg1">
                    <a:lumMod val="85000"/>
                  </a:schemeClr>
                </a:solidFill>
                <a:miter lim="800000"/>
                <a:headEnd/>
                <a:tailEnd/>
              </a:ln>
            </p:spPr>
            <p:txBody>
              <a:bodyPr wrap="none" anchor="ctr"/>
              <a:lstStyle/>
              <a:p>
                <a:pPr algn="ctr"/>
                <a:r>
                  <a:rPr lang="en-US" sz="1000" b="1" dirty="0">
                    <a:solidFill>
                      <a:prstClr val="black"/>
                    </a:solidFill>
                    <a:latin typeface="Calibri" panose="020F0502020204030204" pitchFamily="34" charset="0"/>
                    <a:cs typeface="Calibri" panose="020F0502020204030204" pitchFamily="34" charset="0"/>
                  </a:rPr>
                  <a:t>LDEV</a:t>
                </a:r>
              </a:p>
            </p:txBody>
          </p:sp>
          <p:sp>
            <p:nvSpPr>
              <p:cNvPr id="315" name="Rectangle 54"/>
              <p:cNvSpPr>
                <a:spLocks noChangeArrowheads="1"/>
              </p:cNvSpPr>
              <p:nvPr/>
            </p:nvSpPr>
            <p:spPr bwMode="auto">
              <a:xfrm>
                <a:off x="2554" y="2886"/>
                <a:ext cx="368" cy="190"/>
              </a:xfrm>
              <a:prstGeom prst="rect">
                <a:avLst/>
              </a:prstGeom>
              <a:solidFill>
                <a:srgbClr val="A4CE4E"/>
              </a:solidFill>
              <a:ln w="9525">
                <a:solidFill>
                  <a:schemeClr val="bg1">
                    <a:lumMod val="85000"/>
                  </a:schemeClr>
                </a:solidFill>
                <a:miter lim="800000"/>
                <a:headEnd/>
                <a:tailEnd/>
              </a:ln>
            </p:spPr>
            <p:txBody>
              <a:bodyPr wrap="none" anchor="ctr"/>
              <a:lstStyle/>
              <a:p>
                <a:pPr algn="ctr"/>
                <a:r>
                  <a:rPr lang="en-US" sz="1000" b="1" dirty="0">
                    <a:solidFill>
                      <a:prstClr val="black"/>
                    </a:solidFill>
                    <a:latin typeface="Calibri" panose="020F0502020204030204" pitchFamily="34" charset="0"/>
                    <a:cs typeface="Calibri" panose="020F0502020204030204" pitchFamily="34" charset="0"/>
                  </a:rPr>
                  <a:t>LDEV</a:t>
                </a:r>
              </a:p>
            </p:txBody>
          </p:sp>
        </p:grpSp>
        <p:grpSp>
          <p:nvGrpSpPr>
            <p:cNvPr id="316" name="Group 315"/>
            <p:cNvGrpSpPr/>
            <p:nvPr/>
          </p:nvGrpSpPr>
          <p:grpSpPr>
            <a:xfrm>
              <a:off x="645523" y="3135508"/>
              <a:ext cx="3308367" cy="345744"/>
              <a:chOff x="798078" y="1624084"/>
              <a:chExt cx="3308367" cy="348020"/>
            </a:xfrm>
            <a:effectLst>
              <a:outerShdw blurRad="50800" dist="38100" dir="2700000" algn="tl" rotWithShape="0">
                <a:prstClr val="black">
                  <a:alpha val="40000"/>
                </a:prstClr>
              </a:outerShdw>
            </a:effectLst>
          </p:grpSpPr>
          <p:sp>
            <p:nvSpPr>
              <p:cNvPr id="317" name="Down Arrow 316"/>
              <p:cNvSpPr/>
              <p:nvPr/>
            </p:nvSpPr>
            <p:spPr>
              <a:xfrm rot="10800000">
                <a:off x="798078" y="1624084"/>
                <a:ext cx="177548" cy="348017"/>
              </a:xfrm>
              <a:prstGeom prst="downArrow">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dirty="0">
                  <a:solidFill>
                    <a:prstClr val="white"/>
                  </a:solidFill>
                </a:endParaRPr>
              </a:p>
            </p:txBody>
          </p:sp>
          <p:sp>
            <p:nvSpPr>
              <p:cNvPr id="318" name="Down Arrow 317"/>
              <p:cNvSpPr/>
              <p:nvPr/>
            </p:nvSpPr>
            <p:spPr>
              <a:xfrm rot="10800000">
                <a:off x="1582896" y="1624085"/>
                <a:ext cx="177548" cy="348017"/>
              </a:xfrm>
              <a:prstGeom prst="downArrow">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dirty="0">
                  <a:solidFill>
                    <a:prstClr val="white"/>
                  </a:solidFill>
                </a:endParaRPr>
              </a:p>
            </p:txBody>
          </p:sp>
          <p:sp>
            <p:nvSpPr>
              <p:cNvPr id="319" name="Down Arrow 318"/>
              <p:cNvSpPr/>
              <p:nvPr/>
            </p:nvSpPr>
            <p:spPr>
              <a:xfrm rot="10800000">
                <a:off x="2367712" y="1624086"/>
                <a:ext cx="177548" cy="348017"/>
              </a:xfrm>
              <a:prstGeom prst="downArrow">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dirty="0">
                  <a:solidFill>
                    <a:prstClr val="white"/>
                  </a:solidFill>
                </a:endParaRPr>
              </a:p>
            </p:txBody>
          </p:sp>
          <p:sp>
            <p:nvSpPr>
              <p:cNvPr id="320" name="Down Arrow 319"/>
              <p:cNvSpPr/>
              <p:nvPr/>
            </p:nvSpPr>
            <p:spPr>
              <a:xfrm rot="10800000">
                <a:off x="3145136" y="1624084"/>
                <a:ext cx="177548" cy="348017"/>
              </a:xfrm>
              <a:prstGeom prst="downArrow">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dirty="0">
                  <a:solidFill>
                    <a:prstClr val="white"/>
                  </a:solidFill>
                </a:endParaRPr>
              </a:p>
            </p:txBody>
          </p:sp>
          <p:sp>
            <p:nvSpPr>
              <p:cNvPr id="321" name="Down Arrow 320"/>
              <p:cNvSpPr/>
              <p:nvPr/>
            </p:nvSpPr>
            <p:spPr>
              <a:xfrm rot="10800000">
                <a:off x="3928897" y="1624087"/>
                <a:ext cx="177548" cy="348017"/>
              </a:xfrm>
              <a:prstGeom prst="downArrow">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dirty="0">
                  <a:solidFill>
                    <a:prstClr val="white"/>
                  </a:solidFill>
                </a:endParaRPr>
              </a:p>
            </p:txBody>
          </p:sp>
        </p:grpSp>
      </p:grpSp>
      <p:sp>
        <p:nvSpPr>
          <p:cNvPr id="323" name="Rectangle 158"/>
          <p:cNvSpPr>
            <a:spLocks noChangeArrowheads="1"/>
          </p:cNvSpPr>
          <p:nvPr/>
        </p:nvSpPr>
        <p:spPr bwMode="auto">
          <a:xfrm>
            <a:off x="85525" y="4178968"/>
            <a:ext cx="1506537" cy="307777"/>
          </a:xfrm>
          <a:prstGeom prst="rect">
            <a:avLst/>
          </a:prstGeom>
          <a:noFill/>
          <a:ln w="9525">
            <a:noFill/>
            <a:miter lim="800000"/>
            <a:headEnd/>
            <a:tailEnd/>
          </a:ln>
        </p:spPr>
        <p:txBody>
          <a:bodyPr>
            <a:spAutoFit/>
          </a:bodyPr>
          <a:lstStyle/>
          <a:p>
            <a:pPr>
              <a:buNone/>
            </a:pPr>
            <a:r>
              <a:rPr lang="en-US" sz="1400" b="1" dirty="0">
                <a:latin typeface="Helvetica"/>
              </a:rPr>
              <a:t>HDP Pools</a:t>
            </a:r>
            <a:endParaRPr kumimoji="0" lang="en-US" sz="1400" b="1" dirty="0">
              <a:solidFill>
                <a:schemeClr val="tx1"/>
              </a:solidFill>
              <a:latin typeface="Helvetica"/>
            </a:endParaRPr>
          </a:p>
        </p:txBody>
      </p:sp>
      <p:sp>
        <p:nvSpPr>
          <p:cNvPr id="324" name="Rectangle 275"/>
          <p:cNvSpPr>
            <a:spLocks noChangeArrowheads="1"/>
          </p:cNvSpPr>
          <p:nvPr/>
        </p:nvSpPr>
        <p:spPr bwMode="auto">
          <a:xfrm>
            <a:off x="1498064" y="932261"/>
            <a:ext cx="4066426" cy="810815"/>
          </a:xfrm>
          <a:prstGeom prst="rect">
            <a:avLst/>
          </a:prstGeom>
          <a:noFill/>
          <a:ln w="9525">
            <a:solidFill>
              <a:schemeClr val="tx1"/>
            </a:solidFill>
            <a:prstDash val="dash"/>
            <a:miter lim="800000"/>
            <a:headEnd/>
            <a:tailEnd/>
          </a:ln>
        </p:spPr>
        <p:txBody>
          <a:bodyPr wrap="none" anchor="ctr"/>
          <a:lstStyle/>
          <a:p>
            <a:pPr>
              <a:spcBef>
                <a:spcPct val="20000"/>
              </a:spcBef>
              <a:buFontTx/>
              <a:buChar char="•"/>
            </a:pPr>
            <a:endParaRPr lang="en-US"/>
          </a:p>
        </p:txBody>
      </p:sp>
      <p:pic>
        <p:nvPicPr>
          <p:cNvPr id="268" name="Picture 267">
            <a:extLst>
              <a:ext uri="{FF2B5EF4-FFF2-40B4-BE49-F238E27FC236}">
                <a16:creationId xmlns:a16="http://schemas.microsoft.com/office/drawing/2014/main" id="{B808590A-7B0D-C740-8C8E-7C6B51AD251F}"/>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1626114" y="2370364"/>
            <a:ext cx="931862" cy="220043"/>
          </a:xfrm>
          <a:prstGeom prst="rect">
            <a:avLst/>
          </a:prstGeom>
        </p:spPr>
      </p:pic>
      <p:pic>
        <p:nvPicPr>
          <p:cNvPr id="2" name="Picture 1">
            <a:extLst>
              <a:ext uri="{FF2B5EF4-FFF2-40B4-BE49-F238E27FC236}">
                <a16:creationId xmlns:a16="http://schemas.microsoft.com/office/drawing/2014/main" id="{10AE2625-84EF-824B-96BB-723262837416}"/>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4409527" y="3883217"/>
            <a:ext cx="566126" cy="1264680"/>
          </a:xfrm>
          <a:prstGeom prst="rect">
            <a:avLst/>
          </a:prstGeom>
        </p:spPr>
      </p:pic>
      <p:pic>
        <p:nvPicPr>
          <p:cNvPr id="7" name="Picture 6">
            <a:extLst>
              <a:ext uri="{FF2B5EF4-FFF2-40B4-BE49-F238E27FC236}">
                <a16:creationId xmlns:a16="http://schemas.microsoft.com/office/drawing/2014/main" id="{2BB8C9AB-4848-EC49-BB57-B9D071036F5F}"/>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1603050" y="3924666"/>
            <a:ext cx="526261" cy="1175623"/>
          </a:xfrm>
          <a:prstGeom prst="rect">
            <a:avLst/>
          </a:prstGeom>
        </p:spPr>
      </p:pic>
      <p:pic>
        <p:nvPicPr>
          <p:cNvPr id="327" name="Picture 326">
            <a:extLst>
              <a:ext uri="{FF2B5EF4-FFF2-40B4-BE49-F238E27FC236}">
                <a16:creationId xmlns:a16="http://schemas.microsoft.com/office/drawing/2014/main" id="{873296A9-5C94-7548-A104-22A4A9932030}"/>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2612826" y="2370364"/>
            <a:ext cx="931862" cy="220043"/>
          </a:xfrm>
          <a:prstGeom prst="rect">
            <a:avLst/>
          </a:prstGeom>
        </p:spPr>
      </p:pic>
      <p:pic>
        <p:nvPicPr>
          <p:cNvPr id="328" name="Picture 327">
            <a:extLst>
              <a:ext uri="{FF2B5EF4-FFF2-40B4-BE49-F238E27FC236}">
                <a16:creationId xmlns:a16="http://schemas.microsoft.com/office/drawing/2014/main" id="{950A109A-59C9-EE4C-A40C-11BAAB12A098}"/>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3586364" y="2370364"/>
            <a:ext cx="931862" cy="220043"/>
          </a:xfrm>
          <a:prstGeom prst="rect">
            <a:avLst/>
          </a:prstGeom>
        </p:spPr>
      </p:pic>
      <p:pic>
        <p:nvPicPr>
          <p:cNvPr id="329" name="Picture 328">
            <a:extLst>
              <a:ext uri="{FF2B5EF4-FFF2-40B4-BE49-F238E27FC236}">
                <a16:creationId xmlns:a16="http://schemas.microsoft.com/office/drawing/2014/main" id="{6DECB36B-B836-7C45-B899-B9EE8DEC4A5C}"/>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4574398" y="2370364"/>
            <a:ext cx="931862" cy="220043"/>
          </a:xfrm>
          <a:prstGeom prst="rect">
            <a:avLst/>
          </a:prstGeom>
        </p:spPr>
      </p:pic>
      <p:grpSp>
        <p:nvGrpSpPr>
          <p:cNvPr id="330" name="Group 329">
            <a:extLst>
              <a:ext uri="{FF2B5EF4-FFF2-40B4-BE49-F238E27FC236}">
                <a16:creationId xmlns:a16="http://schemas.microsoft.com/office/drawing/2014/main" id="{A0C81780-34BD-134C-959E-711C91F5FDB9}"/>
              </a:ext>
            </a:extLst>
          </p:cNvPr>
          <p:cNvGrpSpPr/>
          <p:nvPr/>
        </p:nvGrpSpPr>
        <p:grpSpPr>
          <a:xfrm>
            <a:off x="2691271" y="2060176"/>
            <a:ext cx="722672" cy="138499"/>
            <a:chOff x="1702210" y="2060176"/>
            <a:chExt cx="722672" cy="138499"/>
          </a:xfrm>
        </p:grpSpPr>
        <p:sp>
          <p:nvSpPr>
            <p:cNvPr id="331" name="Isosceles Triangle 13">
              <a:extLst>
                <a:ext uri="{FF2B5EF4-FFF2-40B4-BE49-F238E27FC236}">
                  <a16:creationId xmlns:a16="http://schemas.microsoft.com/office/drawing/2014/main" id="{91973CCB-2E19-F848-8E89-D3FB73844FD3}"/>
                </a:ext>
              </a:extLst>
            </p:cNvPr>
            <p:cNvSpPr/>
            <p:nvPr/>
          </p:nvSpPr>
          <p:spPr>
            <a:xfrm>
              <a:off x="1702210" y="2060176"/>
              <a:ext cx="149810" cy="138499"/>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j-lt"/>
              </a:endParaRPr>
            </a:p>
          </p:txBody>
        </p:sp>
        <p:sp>
          <p:nvSpPr>
            <p:cNvPr id="332" name="Isosceles Triangle 188">
              <a:extLst>
                <a:ext uri="{FF2B5EF4-FFF2-40B4-BE49-F238E27FC236}">
                  <a16:creationId xmlns:a16="http://schemas.microsoft.com/office/drawing/2014/main" id="{223D2894-C0F2-3F49-B98D-EA7AE4BA8F53}"/>
                </a:ext>
              </a:extLst>
            </p:cNvPr>
            <p:cNvSpPr/>
            <p:nvPr/>
          </p:nvSpPr>
          <p:spPr>
            <a:xfrm>
              <a:off x="1887980" y="2060176"/>
              <a:ext cx="149810" cy="138499"/>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j-lt"/>
              </a:endParaRPr>
            </a:p>
          </p:txBody>
        </p:sp>
        <p:sp>
          <p:nvSpPr>
            <p:cNvPr id="333" name="Isosceles Triangle 189">
              <a:extLst>
                <a:ext uri="{FF2B5EF4-FFF2-40B4-BE49-F238E27FC236}">
                  <a16:creationId xmlns:a16="http://schemas.microsoft.com/office/drawing/2014/main" id="{FA0B4C4A-F37D-B144-8118-EEF0B533F17F}"/>
                </a:ext>
              </a:extLst>
            </p:cNvPr>
            <p:cNvSpPr/>
            <p:nvPr/>
          </p:nvSpPr>
          <p:spPr>
            <a:xfrm>
              <a:off x="2074852" y="2060176"/>
              <a:ext cx="149810" cy="138499"/>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j-lt"/>
              </a:endParaRPr>
            </a:p>
          </p:txBody>
        </p:sp>
        <p:sp>
          <p:nvSpPr>
            <p:cNvPr id="334" name="Isosceles Triangle 190">
              <a:extLst>
                <a:ext uri="{FF2B5EF4-FFF2-40B4-BE49-F238E27FC236}">
                  <a16:creationId xmlns:a16="http://schemas.microsoft.com/office/drawing/2014/main" id="{DDAF7163-4CB7-B04B-BBD2-5CA707CC1D5D}"/>
                </a:ext>
              </a:extLst>
            </p:cNvPr>
            <p:cNvSpPr/>
            <p:nvPr/>
          </p:nvSpPr>
          <p:spPr>
            <a:xfrm>
              <a:off x="2275072" y="2060176"/>
              <a:ext cx="149810" cy="138499"/>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j-lt"/>
              </a:endParaRPr>
            </a:p>
          </p:txBody>
        </p:sp>
      </p:grpSp>
      <p:grpSp>
        <p:nvGrpSpPr>
          <p:cNvPr id="335" name="Group 334">
            <a:extLst>
              <a:ext uri="{FF2B5EF4-FFF2-40B4-BE49-F238E27FC236}">
                <a16:creationId xmlns:a16="http://schemas.microsoft.com/office/drawing/2014/main" id="{30133A50-6010-4543-80E4-258CE61CF8CC}"/>
              </a:ext>
            </a:extLst>
          </p:cNvPr>
          <p:cNvGrpSpPr/>
          <p:nvPr/>
        </p:nvGrpSpPr>
        <p:grpSpPr>
          <a:xfrm>
            <a:off x="3680332" y="2060176"/>
            <a:ext cx="722672" cy="138499"/>
            <a:chOff x="1702210" y="2060176"/>
            <a:chExt cx="722672" cy="138499"/>
          </a:xfrm>
        </p:grpSpPr>
        <p:sp>
          <p:nvSpPr>
            <p:cNvPr id="336" name="Isosceles Triangle 13">
              <a:extLst>
                <a:ext uri="{FF2B5EF4-FFF2-40B4-BE49-F238E27FC236}">
                  <a16:creationId xmlns:a16="http://schemas.microsoft.com/office/drawing/2014/main" id="{9527A2F0-06CA-D246-89D1-1956B398781D}"/>
                </a:ext>
              </a:extLst>
            </p:cNvPr>
            <p:cNvSpPr/>
            <p:nvPr/>
          </p:nvSpPr>
          <p:spPr>
            <a:xfrm>
              <a:off x="1702210" y="2060176"/>
              <a:ext cx="149810" cy="138499"/>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j-lt"/>
              </a:endParaRPr>
            </a:p>
          </p:txBody>
        </p:sp>
        <p:sp>
          <p:nvSpPr>
            <p:cNvPr id="337" name="Isosceles Triangle 188">
              <a:extLst>
                <a:ext uri="{FF2B5EF4-FFF2-40B4-BE49-F238E27FC236}">
                  <a16:creationId xmlns:a16="http://schemas.microsoft.com/office/drawing/2014/main" id="{62DCDE80-9CFF-5F4D-B7AA-4E9EE6F3384D}"/>
                </a:ext>
              </a:extLst>
            </p:cNvPr>
            <p:cNvSpPr/>
            <p:nvPr/>
          </p:nvSpPr>
          <p:spPr>
            <a:xfrm>
              <a:off x="1887980" y="2060176"/>
              <a:ext cx="149810" cy="138499"/>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j-lt"/>
              </a:endParaRPr>
            </a:p>
          </p:txBody>
        </p:sp>
        <p:sp>
          <p:nvSpPr>
            <p:cNvPr id="338" name="Isosceles Triangle 189">
              <a:extLst>
                <a:ext uri="{FF2B5EF4-FFF2-40B4-BE49-F238E27FC236}">
                  <a16:creationId xmlns:a16="http://schemas.microsoft.com/office/drawing/2014/main" id="{6F6AE884-D3BE-E740-A9FA-59F2F4CCBC42}"/>
                </a:ext>
              </a:extLst>
            </p:cNvPr>
            <p:cNvSpPr/>
            <p:nvPr/>
          </p:nvSpPr>
          <p:spPr>
            <a:xfrm>
              <a:off x="2074852" y="2060176"/>
              <a:ext cx="149810" cy="138499"/>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j-lt"/>
              </a:endParaRPr>
            </a:p>
          </p:txBody>
        </p:sp>
        <p:sp>
          <p:nvSpPr>
            <p:cNvPr id="339" name="Isosceles Triangle 190">
              <a:extLst>
                <a:ext uri="{FF2B5EF4-FFF2-40B4-BE49-F238E27FC236}">
                  <a16:creationId xmlns:a16="http://schemas.microsoft.com/office/drawing/2014/main" id="{6A66809E-AD3A-834A-8317-D5B7674FFC28}"/>
                </a:ext>
              </a:extLst>
            </p:cNvPr>
            <p:cNvSpPr/>
            <p:nvPr/>
          </p:nvSpPr>
          <p:spPr>
            <a:xfrm>
              <a:off x="2275072" y="2060176"/>
              <a:ext cx="149810" cy="138499"/>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j-lt"/>
              </a:endParaRPr>
            </a:p>
          </p:txBody>
        </p:sp>
      </p:grpSp>
      <p:grpSp>
        <p:nvGrpSpPr>
          <p:cNvPr id="340" name="Group 339">
            <a:extLst>
              <a:ext uri="{FF2B5EF4-FFF2-40B4-BE49-F238E27FC236}">
                <a16:creationId xmlns:a16="http://schemas.microsoft.com/office/drawing/2014/main" id="{BD2A2A9E-C834-004E-BE8E-8E8BE3B7C75B}"/>
              </a:ext>
            </a:extLst>
          </p:cNvPr>
          <p:cNvGrpSpPr/>
          <p:nvPr/>
        </p:nvGrpSpPr>
        <p:grpSpPr>
          <a:xfrm>
            <a:off x="4669394" y="2060176"/>
            <a:ext cx="722672" cy="138499"/>
            <a:chOff x="1702210" y="2060176"/>
            <a:chExt cx="722672" cy="138499"/>
          </a:xfrm>
        </p:grpSpPr>
        <p:sp>
          <p:nvSpPr>
            <p:cNvPr id="341" name="Isosceles Triangle 13">
              <a:extLst>
                <a:ext uri="{FF2B5EF4-FFF2-40B4-BE49-F238E27FC236}">
                  <a16:creationId xmlns:a16="http://schemas.microsoft.com/office/drawing/2014/main" id="{1DF58CC5-2EC3-D64A-8B9D-E10BC46FD8DC}"/>
                </a:ext>
              </a:extLst>
            </p:cNvPr>
            <p:cNvSpPr/>
            <p:nvPr/>
          </p:nvSpPr>
          <p:spPr>
            <a:xfrm>
              <a:off x="1702210" y="2060176"/>
              <a:ext cx="149810" cy="138499"/>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j-lt"/>
              </a:endParaRPr>
            </a:p>
          </p:txBody>
        </p:sp>
        <p:sp>
          <p:nvSpPr>
            <p:cNvPr id="342" name="Isosceles Triangle 188">
              <a:extLst>
                <a:ext uri="{FF2B5EF4-FFF2-40B4-BE49-F238E27FC236}">
                  <a16:creationId xmlns:a16="http://schemas.microsoft.com/office/drawing/2014/main" id="{E4DD9ECC-8E8F-AF4A-88D3-AF3FCD213E06}"/>
                </a:ext>
              </a:extLst>
            </p:cNvPr>
            <p:cNvSpPr/>
            <p:nvPr/>
          </p:nvSpPr>
          <p:spPr>
            <a:xfrm>
              <a:off x="1887980" y="2060176"/>
              <a:ext cx="149810" cy="138499"/>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j-lt"/>
              </a:endParaRPr>
            </a:p>
          </p:txBody>
        </p:sp>
        <p:sp>
          <p:nvSpPr>
            <p:cNvPr id="343" name="Isosceles Triangle 189">
              <a:extLst>
                <a:ext uri="{FF2B5EF4-FFF2-40B4-BE49-F238E27FC236}">
                  <a16:creationId xmlns:a16="http://schemas.microsoft.com/office/drawing/2014/main" id="{8BD4DA6F-888C-8F44-B8A6-757AC5AA659C}"/>
                </a:ext>
              </a:extLst>
            </p:cNvPr>
            <p:cNvSpPr/>
            <p:nvPr/>
          </p:nvSpPr>
          <p:spPr>
            <a:xfrm>
              <a:off x="2074852" y="2060176"/>
              <a:ext cx="149810" cy="138499"/>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j-lt"/>
              </a:endParaRPr>
            </a:p>
          </p:txBody>
        </p:sp>
        <p:sp>
          <p:nvSpPr>
            <p:cNvPr id="344" name="Isosceles Triangle 190">
              <a:extLst>
                <a:ext uri="{FF2B5EF4-FFF2-40B4-BE49-F238E27FC236}">
                  <a16:creationId xmlns:a16="http://schemas.microsoft.com/office/drawing/2014/main" id="{A38565D2-BB1B-C740-A3F8-B91746788436}"/>
                </a:ext>
              </a:extLst>
            </p:cNvPr>
            <p:cNvSpPr/>
            <p:nvPr/>
          </p:nvSpPr>
          <p:spPr>
            <a:xfrm>
              <a:off x="2275072" y="2060176"/>
              <a:ext cx="149810" cy="138499"/>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j-lt"/>
              </a:endParaRPr>
            </a:p>
          </p:txBody>
        </p:sp>
      </p:grpSp>
    </p:spTree>
    <p:extLst>
      <p:ext uri="{BB962C8B-B14F-4D97-AF65-F5344CB8AC3E}">
        <p14:creationId xmlns:p14="http://schemas.microsoft.com/office/powerpoint/2010/main" val="4005307597"/>
      </p:ext>
    </p:extLst>
  </p:cSld>
  <p:clrMapOvr>
    <a:masterClrMapping/>
  </p:clrMapOvr>
  <p:transition spd="slow"/>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F50AEA3-2448-E341-90B4-2A544755054F}"/>
              </a:ext>
            </a:extLst>
          </p:cNvPr>
          <p:cNvSpPr>
            <a:spLocks noGrp="1"/>
          </p:cNvSpPr>
          <p:nvPr>
            <p:ph type="ctrTitle"/>
          </p:nvPr>
        </p:nvSpPr>
        <p:spPr/>
        <p:txBody>
          <a:bodyPr/>
          <a:lstStyle/>
          <a:p>
            <a:r>
              <a:rPr lang="en-US" dirty="0"/>
              <a:t>Physical FC Layer</a:t>
            </a:r>
          </a:p>
        </p:txBody>
      </p:sp>
    </p:spTree>
    <p:extLst>
      <p:ext uri="{BB962C8B-B14F-4D97-AF65-F5344CB8AC3E}">
        <p14:creationId xmlns:p14="http://schemas.microsoft.com/office/powerpoint/2010/main" val="23822374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2C9A507B-18B7-6E48-B763-783CA0A9238B}"/>
              </a:ext>
            </a:extLst>
          </p:cNvPr>
          <p:cNvSpPr>
            <a:spLocks noGrp="1"/>
          </p:cNvSpPr>
          <p:nvPr>
            <p:ph idx="1"/>
          </p:nvPr>
        </p:nvSpPr>
        <p:spPr>
          <a:xfrm>
            <a:off x="264160" y="885801"/>
            <a:ext cx="8584006" cy="4846455"/>
          </a:xfrm>
        </p:spPr>
        <p:txBody>
          <a:bodyPr/>
          <a:lstStyle/>
          <a:p>
            <a:r>
              <a:rPr lang="en-US" dirty="0"/>
              <a:t>Hitachi NAS 5000 supports 4 FC Ports per Node</a:t>
            </a:r>
          </a:p>
          <a:p>
            <a:pPr lvl="1"/>
            <a:r>
              <a:rPr lang="en-US" dirty="0"/>
              <a:t>The port can auto-negotiate to 4,8,16GB FC</a:t>
            </a:r>
          </a:p>
          <a:p>
            <a:pPr lvl="1"/>
            <a:r>
              <a:rPr lang="en-US" dirty="0"/>
              <a:t>N Port support only (NL mode is not supported)</a:t>
            </a:r>
          </a:p>
          <a:p>
            <a:pPr lvl="1"/>
            <a:r>
              <a:rPr lang="en-US" dirty="0"/>
              <a:t>Ports numbered in R to L 1,2,3,4</a:t>
            </a:r>
          </a:p>
          <a:p>
            <a:r>
              <a:rPr lang="en-US" dirty="0"/>
              <a:t>Configuration</a:t>
            </a:r>
          </a:p>
          <a:p>
            <a:pPr lvl="1"/>
            <a:r>
              <a:rPr lang="en-US" dirty="0">
                <a:latin typeface="Courier New" panose="02070309020205020404" pitchFamily="49" charset="0"/>
                <a:cs typeface="Courier New" panose="02070309020205020404" pitchFamily="49" charset="0"/>
              </a:rPr>
              <a:t>fc-fabric (view fabric)</a:t>
            </a:r>
          </a:p>
          <a:p>
            <a:pPr lvl="1"/>
            <a:r>
              <a:rPr lang="en-US" dirty="0">
                <a:latin typeface="Courier New" panose="02070309020205020404" pitchFamily="49" charset="0"/>
                <a:cs typeface="Courier New" panose="02070309020205020404" pitchFamily="49" charset="0"/>
              </a:rPr>
              <a:t>fc-</a:t>
            </a:r>
            <a:r>
              <a:rPr lang="en-US" dirty="0" err="1">
                <a:latin typeface="Courier New" panose="02070309020205020404" pitchFamily="49" charset="0"/>
                <a:cs typeface="Courier New" panose="02070309020205020404" pitchFamily="49" charset="0"/>
              </a:rPr>
              <a:t>hports</a:t>
            </a:r>
            <a:r>
              <a:rPr lang="en-US" dirty="0">
                <a:latin typeface="Courier New" panose="02070309020205020404" pitchFamily="49" charset="0"/>
                <a:cs typeface="Courier New" panose="02070309020205020404" pitchFamily="49" charset="0"/>
              </a:rPr>
              <a:t> (view host ports)</a:t>
            </a:r>
          </a:p>
          <a:p>
            <a:pPr lvl="1"/>
            <a:r>
              <a:rPr lang="en-US" dirty="0">
                <a:latin typeface="Courier New" panose="02070309020205020404" pitchFamily="49" charset="0"/>
                <a:cs typeface="Courier New" panose="02070309020205020404" pitchFamily="49" charset="0"/>
              </a:rPr>
              <a:t>fc-link (enabled/disable)</a:t>
            </a:r>
          </a:p>
          <a:p>
            <a:pPr lvl="1"/>
            <a:r>
              <a:rPr lang="en-US" dirty="0">
                <a:latin typeface="Courier New" panose="02070309020205020404" pitchFamily="49" charset="0"/>
                <a:cs typeface="Courier New" panose="02070309020205020404" pitchFamily="49" charset="0"/>
              </a:rPr>
              <a:t>fc-ports (view all remote target ports)</a:t>
            </a:r>
          </a:p>
          <a:p>
            <a:pPr lvl="1"/>
            <a:r>
              <a:rPr lang="en-US" dirty="0">
                <a:latin typeface="Courier New" panose="02070309020205020404" pitchFamily="49" charset="0"/>
                <a:cs typeface="Courier New" panose="02070309020205020404" pitchFamily="49" charset="0"/>
              </a:rPr>
              <a:t>fc-nodes (view WW name of target nodes)</a:t>
            </a:r>
          </a:p>
          <a:p>
            <a:endParaRPr lang="en-US" dirty="0"/>
          </a:p>
        </p:txBody>
      </p:sp>
      <p:sp>
        <p:nvSpPr>
          <p:cNvPr id="3" name="Title 2">
            <a:extLst>
              <a:ext uri="{FF2B5EF4-FFF2-40B4-BE49-F238E27FC236}">
                <a16:creationId xmlns:a16="http://schemas.microsoft.com/office/drawing/2014/main" id="{C02616CC-E968-5849-B3AE-B5546E2406F1}"/>
              </a:ext>
            </a:extLst>
          </p:cNvPr>
          <p:cNvSpPr>
            <a:spLocks noGrp="1"/>
          </p:cNvSpPr>
          <p:nvPr>
            <p:ph type="title"/>
          </p:nvPr>
        </p:nvSpPr>
        <p:spPr/>
        <p:txBody>
          <a:bodyPr/>
          <a:lstStyle/>
          <a:p>
            <a:r>
              <a:rPr lang="en-US" dirty="0" err="1"/>
              <a:t>Fibre</a:t>
            </a:r>
            <a:r>
              <a:rPr lang="en-US" dirty="0"/>
              <a:t> Channel Configuration</a:t>
            </a:r>
          </a:p>
        </p:txBody>
      </p:sp>
      <p:pic>
        <p:nvPicPr>
          <p:cNvPr id="5" name="Picture 4">
            <a:extLst>
              <a:ext uri="{FF2B5EF4-FFF2-40B4-BE49-F238E27FC236}">
                <a16:creationId xmlns:a16="http://schemas.microsoft.com/office/drawing/2014/main" id="{F31789FC-9E23-514D-8DD0-55A22CE4397E}"/>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044262" y="2457099"/>
            <a:ext cx="3803904" cy="1503156"/>
          </a:xfrm>
          <a:prstGeom prst="rect">
            <a:avLst/>
          </a:prstGeom>
        </p:spPr>
      </p:pic>
    </p:spTree>
    <p:extLst>
      <p:ext uri="{BB962C8B-B14F-4D97-AF65-F5344CB8AC3E}">
        <p14:creationId xmlns:p14="http://schemas.microsoft.com/office/powerpoint/2010/main" val="42648570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35E63A6-01C0-9145-9A4F-D28EE84D4BF8}"/>
              </a:ext>
            </a:extLst>
          </p:cNvPr>
          <p:cNvSpPr>
            <a:spLocks noGrp="1"/>
          </p:cNvSpPr>
          <p:nvPr>
            <p:ph idx="1"/>
          </p:nvPr>
        </p:nvSpPr>
        <p:spPr>
          <a:xfrm>
            <a:off x="264160" y="927942"/>
            <a:ext cx="8584006" cy="3231654"/>
          </a:xfrm>
        </p:spPr>
        <p:txBody>
          <a:bodyPr/>
          <a:lstStyle/>
          <a:p>
            <a:r>
              <a:rPr lang="en-US" sz="1800" dirty="0"/>
              <a:t>Both direct attach and fabric is supported</a:t>
            </a:r>
          </a:p>
          <a:p>
            <a:r>
              <a:rPr lang="en-US" sz="1800" dirty="0"/>
              <a:t>Direct attach support max 2 storage subsystems. Clusters with more than 2 nodes require a switch</a:t>
            </a:r>
          </a:p>
          <a:p>
            <a:r>
              <a:rPr lang="en-US" sz="1800" dirty="0"/>
              <a:t>When attached through a switch, both nodes must see the exact same storage ports</a:t>
            </a:r>
          </a:p>
          <a:p>
            <a:r>
              <a:rPr lang="en-US" sz="1800" dirty="0"/>
              <a:t>Limit SD paths to 16 (2 HNAS host ports per switch x 2 switches x 4 target ports per switch)</a:t>
            </a:r>
          </a:p>
          <a:p>
            <a:r>
              <a:rPr lang="en-US" sz="1800" dirty="0"/>
              <a:t>Avoid sharing storage ports with other block hosts</a:t>
            </a:r>
            <a:endParaRPr lang="en-US" sz="1600" dirty="0"/>
          </a:p>
        </p:txBody>
      </p:sp>
      <p:sp>
        <p:nvSpPr>
          <p:cNvPr id="3" name="Title 2">
            <a:extLst>
              <a:ext uri="{FF2B5EF4-FFF2-40B4-BE49-F238E27FC236}">
                <a16:creationId xmlns:a16="http://schemas.microsoft.com/office/drawing/2014/main" id="{308C95ED-99BC-FD45-AC4E-9DB7E97CC398}"/>
              </a:ext>
            </a:extLst>
          </p:cNvPr>
          <p:cNvSpPr>
            <a:spLocks noGrp="1"/>
          </p:cNvSpPr>
          <p:nvPr>
            <p:ph type="title"/>
          </p:nvPr>
        </p:nvSpPr>
        <p:spPr/>
        <p:txBody>
          <a:bodyPr/>
          <a:lstStyle/>
          <a:p>
            <a:r>
              <a:rPr lang="en-US" dirty="0"/>
              <a:t>FC Wiring</a:t>
            </a:r>
          </a:p>
        </p:txBody>
      </p:sp>
    </p:spTree>
    <p:extLst>
      <p:ext uri="{BB962C8B-B14F-4D97-AF65-F5344CB8AC3E}">
        <p14:creationId xmlns:p14="http://schemas.microsoft.com/office/powerpoint/2010/main" val="1559525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4D291DC-9D5A-354B-83FA-9D880A1EE37E}"/>
              </a:ext>
            </a:extLst>
          </p:cNvPr>
          <p:cNvSpPr>
            <a:spLocks noGrp="1"/>
          </p:cNvSpPr>
          <p:nvPr>
            <p:ph type="title"/>
          </p:nvPr>
        </p:nvSpPr>
        <p:spPr/>
        <p:txBody>
          <a:bodyPr/>
          <a:lstStyle/>
          <a:p>
            <a:r>
              <a:rPr lang="en-US" dirty="0"/>
              <a:t>FC Wiring Examples</a:t>
            </a:r>
          </a:p>
        </p:txBody>
      </p:sp>
      <p:pic>
        <p:nvPicPr>
          <p:cNvPr id="4" name="Picture 3">
            <a:extLst>
              <a:ext uri="{FF2B5EF4-FFF2-40B4-BE49-F238E27FC236}">
                <a16:creationId xmlns:a16="http://schemas.microsoft.com/office/drawing/2014/main" id="{E860A0E5-4089-1F41-A060-A275A230F862}"/>
              </a:ext>
            </a:extLst>
          </p:cNvPr>
          <p:cNvPicPr>
            <a:picLocks noChangeAspect="1"/>
          </p:cNvPicPr>
          <p:nvPr/>
        </p:nvPicPr>
        <p:blipFill>
          <a:blip r:embed="rId3"/>
          <a:stretch>
            <a:fillRect/>
          </a:stretch>
        </p:blipFill>
        <p:spPr>
          <a:xfrm>
            <a:off x="264160" y="1521288"/>
            <a:ext cx="4249674" cy="2473988"/>
          </a:xfrm>
          <a:prstGeom prst="rect">
            <a:avLst/>
          </a:prstGeom>
        </p:spPr>
      </p:pic>
      <p:pic>
        <p:nvPicPr>
          <p:cNvPr id="5" name="Picture 4">
            <a:extLst>
              <a:ext uri="{FF2B5EF4-FFF2-40B4-BE49-F238E27FC236}">
                <a16:creationId xmlns:a16="http://schemas.microsoft.com/office/drawing/2014/main" id="{18A126B2-3762-0F46-92BD-1E01ADD35E98}"/>
              </a:ext>
            </a:extLst>
          </p:cNvPr>
          <p:cNvPicPr>
            <a:picLocks noChangeAspect="1"/>
          </p:cNvPicPr>
          <p:nvPr/>
        </p:nvPicPr>
        <p:blipFill>
          <a:blip r:embed="rId4"/>
          <a:stretch>
            <a:fillRect/>
          </a:stretch>
        </p:blipFill>
        <p:spPr>
          <a:xfrm>
            <a:off x="4892659" y="1335038"/>
            <a:ext cx="3867093" cy="3713148"/>
          </a:xfrm>
          <a:prstGeom prst="rect">
            <a:avLst/>
          </a:prstGeom>
        </p:spPr>
      </p:pic>
      <p:sp>
        <p:nvSpPr>
          <p:cNvPr id="6" name="Title 2">
            <a:extLst>
              <a:ext uri="{FF2B5EF4-FFF2-40B4-BE49-F238E27FC236}">
                <a16:creationId xmlns:a16="http://schemas.microsoft.com/office/drawing/2014/main" id="{C4D291DC-9D5A-354B-83FA-9D880A1EE37E}"/>
              </a:ext>
            </a:extLst>
          </p:cNvPr>
          <p:cNvSpPr txBox="1">
            <a:spLocks/>
          </p:cNvSpPr>
          <p:nvPr/>
        </p:nvSpPr>
        <p:spPr>
          <a:xfrm>
            <a:off x="264160" y="756013"/>
            <a:ext cx="3222959" cy="732441"/>
          </a:xfrm>
          <a:prstGeom prst="rect">
            <a:avLst/>
          </a:prstGeom>
        </p:spPr>
        <p:txBody>
          <a:bodyPr vert="horz" lIns="91440" tIns="0" rIns="91440" bIns="0" rtlCol="0" anchor="ctr">
            <a:normAutofit/>
          </a:bodyPr>
          <a:lstStyle>
            <a:lvl1pPr algn="l" defTabSz="914400" rtl="0" eaLnBrk="1" latinLnBrk="0" hangingPunct="1">
              <a:lnSpc>
                <a:spcPct val="85000"/>
              </a:lnSpc>
              <a:spcBef>
                <a:spcPct val="0"/>
              </a:spcBef>
              <a:buNone/>
              <a:defRPr lang="en-US" sz="2400" b="1" kern="1200" cap="none" dirty="0" smtClean="0">
                <a:solidFill>
                  <a:schemeClr val="tx1"/>
                </a:solidFill>
                <a:latin typeface="+mj-lt"/>
                <a:ea typeface="+mj-ea"/>
                <a:cs typeface="+mj-cs"/>
              </a:defRPr>
            </a:lvl1pPr>
          </a:lstStyle>
          <a:p>
            <a:r>
              <a:rPr lang="en-US" sz="1800" dirty="0">
                <a:latin typeface="Arial" panose="020B0604020202020204" pitchFamily="34" charset="0"/>
                <a:cs typeface="Arial" panose="020B0604020202020204" pitchFamily="34" charset="0"/>
              </a:rPr>
              <a:t>Direct Attached</a:t>
            </a:r>
          </a:p>
        </p:txBody>
      </p:sp>
      <p:sp>
        <p:nvSpPr>
          <p:cNvPr id="7" name="Title 2">
            <a:extLst>
              <a:ext uri="{FF2B5EF4-FFF2-40B4-BE49-F238E27FC236}">
                <a16:creationId xmlns:a16="http://schemas.microsoft.com/office/drawing/2014/main" id="{C4D291DC-9D5A-354B-83FA-9D880A1EE37E}"/>
              </a:ext>
            </a:extLst>
          </p:cNvPr>
          <p:cNvSpPr txBox="1">
            <a:spLocks/>
          </p:cNvSpPr>
          <p:nvPr/>
        </p:nvSpPr>
        <p:spPr>
          <a:xfrm>
            <a:off x="5159041" y="756012"/>
            <a:ext cx="3222959" cy="732441"/>
          </a:xfrm>
          <a:prstGeom prst="rect">
            <a:avLst/>
          </a:prstGeom>
        </p:spPr>
        <p:txBody>
          <a:bodyPr vert="horz" lIns="91440" tIns="0" rIns="91440" bIns="0" rtlCol="0" anchor="ctr">
            <a:normAutofit/>
          </a:bodyPr>
          <a:lstStyle>
            <a:lvl1pPr algn="l" defTabSz="914400" rtl="0" eaLnBrk="1" latinLnBrk="0" hangingPunct="1">
              <a:lnSpc>
                <a:spcPct val="85000"/>
              </a:lnSpc>
              <a:spcBef>
                <a:spcPct val="0"/>
              </a:spcBef>
              <a:buNone/>
              <a:defRPr lang="en-US" sz="2400" b="1" kern="1200" cap="none" dirty="0" smtClean="0">
                <a:solidFill>
                  <a:schemeClr val="tx1"/>
                </a:solidFill>
                <a:latin typeface="+mj-lt"/>
                <a:ea typeface="+mj-ea"/>
                <a:cs typeface="+mj-cs"/>
              </a:defRPr>
            </a:lvl1pPr>
          </a:lstStyle>
          <a:p>
            <a:r>
              <a:rPr lang="en-US" sz="1800" dirty="0">
                <a:latin typeface="Arial" panose="020B0604020202020204" pitchFamily="34" charset="0"/>
                <a:cs typeface="Arial" panose="020B0604020202020204" pitchFamily="34" charset="0"/>
              </a:rPr>
              <a:t>Switch Attached</a:t>
            </a:r>
          </a:p>
        </p:txBody>
      </p:sp>
      <p:sp>
        <p:nvSpPr>
          <p:cNvPr id="2" name="TextBox 1">
            <a:extLst>
              <a:ext uri="{FF2B5EF4-FFF2-40B4-BE49-F238E27FC236}">
                <a16:creationId xmlns:a16="http://schemas.microsoft.com/office/drawing/2014/main" id="{595C3594-7C7F-4610-B2D4-DABE50AC06B3}"/>
              </a:ext>
            </a:extLst>
          </p:cNvPr>
          <p:cNvSpPr txBox="1"/>
          <p:nvPr/>
        </p:nvSpPr>
        <p:spPr>
          <a:xfrm>
            <a:off x="68645" y="4267409"/>
            <a:ext cx="4634602" cy="646331"/>
          </a:xfrm>
          <a:prstGeom prst="rect">
            <a:avLst/>
          </a:prstGeom>
          <a:noFill/>
        </p:spPr>
        <p:txBody>
          <a:bodyPr wrap="none" rtlCol="0">
            <a:spAutoFit/>
          </a:bodyPr>
          <a:lstStyle/>
          <a:p>
            <a:r>
              <a:rPr lang="en-US" dirty="0"/>
              <a:t>*Note HNAS5k ports numbering is reversed</a:t>
            </a:r>
          </a:p>
          <a:p>
            <a:r>
              <a:rPr lang="en-US" dirty="0"/>
              <a:t>4,3,2,1</a:t>
            </a:r>
          </a:p>
        </p:txBody>
      </p:sp>
    </p:spTree>
    <p:extLst>
      <p:ext uri="{BB962C8B-B14F-4D97-AF65-F5344CB8AC3E}">
        <p14:creationId xmlns:p14="http://schemas.microsoft.com/office/powerpoint/2010/main" val="2447399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C18FEB3-5259-F249-9C52-69657111B848}"/>
              </a:ext>
            </a:extLst>
          </p:cNvPr>
          <p:cNvSpPr>
            <a:spLocks noGrp="1"/>
          </p:cNvSpPr>
          <p:nvPr>
            <p:ph idx="1"/>
          </p:nvPr>
        </p:nvSpPr>
        <p:spPr>
          <a:xfrm>
            <a:off x="264160" y="885801"/>
            <a:ext cx="8584006" cy="3852850"/>
          </a:xfrm>
        </p:spPr>
        <p:txBody>
          <a:bodyPr/>
          <a:lstStyle/>
          <a:p>
            <a:r>
              <a:rPr lang="en-US" dirty="0"/>
              <a:t>You can display information about host and target port load and paths via the CLI</a:t>
            </a:r>
          </a:p>
          <a:p>
            <a:pPr lvl="1"/>
            <a:r>
              <a:rPr lang="en-US" dirty="0">
                <a:latin typeface="Courier New" panose="02070309020205020404" pitchFamily="49" charset="0"/>
                <a:cs typeface="Courier New" panose="02070309020205020404" pitchFamily="49" charset="0"/>
              </a:rPr>
              <a:t>fc-host-port-load</a:t>
            </a:r>
          </a:p>
          <a:p>
            <a:pPr lvl="1"/>
            <a:r>
              <a:rPr lang="en-US" dirty="0">
                <a:latin typeface="Courier New" panose="02070309020205020404" pitchFamily="49" charset="0"/>
                <a:cs typeface="Courier New" panose="02070309020205020404" pitchFamily="49" charset="0"/>
              </a:rPr>
              <a:t>fc-target-port-load</a:t>
            </a:r>
          </a:p>
          <a:p>
            <a:pPr lvl="1"/>
            <a:r>
              <a:rPr lang="en-US" dirty="0" err="1">
                <a:latin typeface="Courier New" panose="02070309020205020404" pitchFamily="49" charset="0"/>
                <a:cs typeface="Courier New" panose="02070309020205020404" pitchFamily="49" charset="0"/>
              </a:rPr>
              <a:t>sdpath</a:t>
            </a:r>
            <a:endParaRPr lang="en-US" dirty="0">
              <a:latin typeface="Courier New" panose="02070309020205020404" pitchFamily="49" charset="0"/>
              <a:cs typeface="Courier New" panose="02070309020205020404" pitchFamily="49" charset="0"/>
            </a:endParaRPr>
          </a:p>
          <a:p>
            <a:r>
              <a:rPr lang="en-US" dirty="0"/>
              <a:t>The Server attempts to balance SDs path based on the open SD count</a:t>
            </a:r>
          </a:p>
          <a:p>
            <a:pPr lvl="1"/>
            <a:r>
              <a:rPr lang="en-US" dirty="0"/>
              <a:t>Load on Storage controller target ports takes precedence over balancing FC host ports.</a:t>
            </a:r>
          </a:p>
          <a:p>
            <a:pPr lvl="1"/>
            <a:r>
              <a:rPr lang="en-US" dirty="0"/>
              <a:t>Load on Storage controllers takes precedence over balancing ports on those controllers.</a:t>
            </a:r>
          </a:p>
        </p:txBody>
      </p:sp>
      <p:sp>
        <p:nvSpPr>
          <p:cNvPr id="3" name="Title 2">
            <a:extLst>
              <a:ext uri="{FF2B5EF4-FFF2-40B4-BE49-F238E27FC236}">
                <a16:creationId xmlns:a16="http://schemas.microsoft.com/office/drawing/2014/main" id="{E47B1877-7AD4-0B4F-9B15-3FE1C6751388}"/>
              </a:ext>
            </a:extLst>
          </p:cNvPr>
          <p:cNvSpPr>
            <a:spLocks noGrp="1"/>
          </p:cNvSpPr>
          <p:nvPr>
            <p:ph type="title"/>
          </p:nvPr>
        </p:nvSpPr>
        <p:spPr/>
        <p:txBody>
          <a:bodyPr/>
          <a:lstStyle/>
          <a:p>
            <a:r>
              <a:rPr lang="en-US" dirty="0"/>
              <a:t>Load Balancing</a:t>
            </a:r>
          </a:p>
        </p:txBody>
      </p:sp>
    </p:spTree>
    <p:extLst>
      <p:ext uri="{BB962C8B-B14F-4D97-AF65-F5344CB8AC3E}">
        <p14:creationId xmlns:p14="http://schemas.microsoft.com/office/powerpoint/2010/main" val="39540457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5C3A7F7-EF32-0D4D-8D74-D6C40315A488}"/>
              </a:ext>
            </a:extLst>
          </p:cNvPr>
          <p:cNvSpPr>
            <a:spLocks noGrp="1"/>
          </p:cNvSpPr>
          <p:nvPr>
            <p:ph type="title"/>
          </p:nvPr>
        </p:nvSpPr>
        <p:spPr/>
        <p:txBody>
          <a:bodyPr/>
          <a:lstStyle/>
          <a:p>
            <a:r>
              <a:rPr lang="en-US" dirty="0"/>
              <a:t>Example</a:t>
            </a:r>
          </a:p>
        </p:txBody>
      </p:sp>
      <p:sp>
        <p:nvSpPr>
          <p:cNvPr id="5" name="Rectangle 4">
            <a:extLst>
              <a:ext uri="{FF2B5EF4-FFF2-40B4-BE49-F238E27FC236}">
                <a16:creationId xmlns:a16="http://schemas.microsoft.com/office/drawing/2014/main" id="{AA86D48E-89F1-0540-A9AD-8ADE600BBADD}"/>
              </a:ext>
            </a:extLst>
          </p:cNvPr>
          <p:cNvSpPr/>
          <p:nvPr/>
        </p:nvSpPr>
        <p:spPr>
          <a:xfrm>
            <a:off x="264160" y="785554"/>
            <a:ext cx="8641080" cy="3785652"/>
          </a:xfrm>
          <a:prstGeom prst="rect">
            <a:avLst/>
          </a:prstGeom>
        </p:spPr>
        <p:txBody>
          <a:bodyPr wrap="square">
            <a:spAutoFit/>
          </a:bodyPr>
          <a:lstStyle/>
          <a:p>
            <a:endParaRPr lang="en-US" sz="1600" dirty="0">
              <a:solidFill>
                <a:srgbClr val="000000"/>
              </a:solidFill>
              <a:latin typeface="Courier New" panose="02070309020205020404" pitchFamily="49" charset="0"/>
              <a:cs typeface="Courier New" panose="02070309020205020404" pitchFamily="49" charset="0"/>
            </a:endParaRPr>
          </a:p>
          <a:p>
            <a:r>
              <a:rPr lang="en-US" sz="1600" dirty="0">
                <a:solidFill>
                  <a:srgbClr val="000000"/>
                </a:solidFill>
                <a:latin typeface="Courier New" panose="02070309020205020404" pitchFamily="49" charset="0"/>
                <a:cs typeface="Courier New" panose="02070309020205020404" pitchFamily="49" charset="0"/>
              </a:rPr>
              <a:t>HNAS-5000-DC1-1:$ fc-host-port-load</a:t>
            </a:r>
          </a:p>
          <a:p>
            <a:r>
              <a:rPr lang="en-US" sz="1600" dirty="0">
                <a:solidFill>
                  <a:srgbClr val="000000"/>
                </a:solidFill>
                <a:latin typeface="Courier New" panose="02070309020205020404" pitchFamily="49" charset="0"/>
                <a:cs typeface="Courier New" panose="02070309020205020404" pitchFamily="49" charset="0"/>
              </a:rPr>
              <a:t>1:    3 devices</a:t>
            </a:r>
          </a:p>
          <a:p>
            <a:r>
              <a:rPr lang="en-US" sz="1600" dirty="0">
                <a:solidFill>
                  <a:srgbClr val="000000"/>
                </a:solidFill>
                <a:latin typeface="Courier New" panose="02070309020205020404" pitchFamily="49" charset="0"/>
                <a:cs typeface="Courier New" panose="02070309020205020404" pitchFamily="49" charset="0"/>
              </a:rPr>
              <a:t>2:    3 devices</a:t>
            </a:r>
          </a:p>
          <a:p>
            <a:r>
              <a:rPr lang="en-US" sz="1600" dirty="0">
                <a:solidFill>
                  <a:srgbClr val="000000"/>
                </a:solidFill>
                <a:latin typeface="Courier New" panose="02070309020205020404" pitchFamily="49" charset="0"/>
                <a:cs typeface="Courier New" panose="02070309020205020404" pitchFamily="49" charset="0"/>
              </a:rPr>
              <a:t>3:    3 devices</a:t>
            </a:r>
          </a:p>
          <a:p>
            <a:r>
              <a:rPr lang="en-US" sz="1600" dirty="0">
                <a:solidFill>
                  <a:srgbClr val="000000"/>
                </a:solidFill>
                <a:latin typeface="Courier New" panose="02070309020205020404" pitchFamily="49" charset="0"/>
                <a:cs typeface="Courier New" panose="02070309020205020404" pitchFamily="49" charset="0"/>
              </a:rPr>
              <a:t>4:    3 devices</a:t>
            </a:r>
          </a:p>
          <a:p>
            <a:endParaRPr lang="en-US" sz="1600" dirty="0">
              <a:solidFill>
                <a:srgbClr val="000000"/>
              </a:solidFill>
              <a:latin typeface="Courier New" panose="02070309020205020404" pitchFamily="49" charset="0"/>
              <a:cs typeface="Courier New" panose="02070309020205020404" pitchFamily="49" charset="0"/>
            </a:endParaRPr>
          </a:p>
          <a:p>
            <a:r>
              <a:rPr lang="en-US" sz="1600" dirty="0">
                <a:solidFill>
                  <a:srgbClr val="000000"/>
                </a:solidFill>
                <a:latin typeface="Courier New" panose="02070309020205020404" pitchFamily="49" charset="0"/>
                <a:cs typeface="Courier New" panose="02070309020205020404" pitchFamily="49" charset="0"/>
              </a:rPr>
              <a:t>HNAS-5000-DC1-1:$ fc-target-port-load</a:t>
            </a:r>
          </a:p>
          <a:p>
            <a:br>
              <a:rPr lang="en-US" sz="1600" dirty="0">
                <a:solidFill>
                  <a:srgbClr val="000000"/>
                </a:solidFill>
                <a:latin typeface="Courier New" panose="02070309020205020404" pitchFamily="49" charset="0"/>
                <a:cs typeface="Courier New" panose="02070309020205020404" pitchFamily="49" charset="0"/>
              </a:rPr>
            </a:br>
            <a:endParaRPr lang="en-US" sz="1600" dirty="0">
              <a:solidFill>
                <a:srgbClr val="000000"/>
              </a:solidFill>
              <a:latin typeface="Courier New" panose="02070309020205020404" pitchFamily="49" charset="0"/>
              <a:cs typeface="Courier New" panose="02070309020205020404" pitchFamily="49" charset="0"/>
            </a:endParaRPr>
          </a:p>
          <a:p>
            <a:r>
              <a:rPr lang="en-US" sz="1600" dirty="0">
                <a:solidFill>
                  <a:srgbClr val="000000"/>
                </a:solidFill>
                <a:latin typeface="Courier New" panose="02070309020205020404" pitchFamily="49" charset="0"/>
                <a:cs typeface="Courier New" panose="02070309020205020404" pitchFamily="49" charset="0"/>
              </a:rPr>
              <a:t>03/A/5040D327-1:   12 devices</a:t>
            </a:r>
          </a:p>
          <a:p>
            <a:r>
              <a:rPr lang="en-US" sz="1600" dirty="0">
                <a:solidFill>
                  <a:srgbClr val="000000"/>
                </a:solidFill>
                <a:latin typeface="Courier New" panose="02070309020205020404" pitchFamily="49" charset="0"/>
                <a:cs typeface="Courier New" panose="02070309020205020404" pitchFamily="49" charset="0"/>
              </a:rPr>
              <a:t>03/A/5040D327-2:   12 devices</a:t>
            </a:r>
          </a:p>
          <a:p>
            <a:br>
              <a:rPr lang="en-US" sz="1600" dirty="0">
                <a:solidFill>
                  <a:srgbClr val="000000"/>
                </a:solidFill>
                <a:latin typeface="Courier New" panose="02070309020205020404" pitchFamily="49" charset="0"/>
                <a:cs typeface="Courier New" panose="02070309020205020404" pitchFamily="49" charset="0"/>
              </a:rPr>
            </a:br>
            <a:endParaRPr lang="en-US" sz="1600" dirty="0">
              <a:solidFill>
                <a:srgbClr val="000000"/>
              </a:solidFill>
              <a:latin typeface="Courier New" panose="02070309020205020404" pitchFamily="49" charset="0"/>
              <a:cs typeface="Courier New" panose="02070309020205020404" pitchFamily="49" charset="0"/>
            </a:endParaRPr>
          </a:p>
          <a:p>
            <a:r>
              <a:rPr lang="en-US" sz="1600" dirty="0">
                <a:solidFill>
                  <a:srgbClr val="000000"/>
                </a:solidFill>
                <a:latin typeface="Courier New" panose="02070309020205020404" pitchFamily="49" charset="0"/>
                <a:cs typeface="Courier New" panose="02070309020205020404" pitchFamily="49" charset="0"/>
              </a:rPr>
              <a:t>HNAS-5000-DC1-1:$ </a:t>
            </a:r>
            <a:endParaRPr lang="en-US" sz="1600" dirty="0">
              <a:solidFill>
                <a:srgbClr val="000000"/>
              </a:solidFill>
              <a:effectLst/>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23782829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D8ECAE8-7CB1-794A-89D0-095D95BED26F}"/>
              </a:ext>
            </a:extLst>
          </p:cNvPr>
          <p:cNvSpPr>
            <a:spLocks noGrp="1"/>
          </p:cNvSpPr>
          <p:nvPr>
            <p:ph type="ctrTitle"/>
          </p:nvPr>
        </p:nvSpPr>
        <p:spPr/>
        <p:txBody>
          <a:bodyPr/>
          <a:lstStyle/>
          <a:p>
            <a:r>
              <a:rPr lang="en-US" dirty="0"/>
              <a:t>Storage Controller</a:t>
            </a:r>
          </a:p>
        </p:txBody>
      </p:sp>
    </p:spTree>
    <p:extLst>
      <p:ext uri="{BB962C8B-B14F-4D97-AF65-F5344CB8AC3E}">
        <p14:creationId xmlns:p14="http://schemas.microsoft.com/office/powerpoint/2010/main" val="12946547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AA4364A4-AA02-E147-B26F-6D914A482638}"/>
              </a:ext>
            </a:extLst>
          </p:cNvPr>
          <p:cNvSpPr>
            <a:spLocks noGrp="1"/>
          </p:cNvSpPr>
          <p:nvPr>
            <p:ph idx="1"/>
          </p:nvPr>
        </p:nvSpPr>
        <p:spPr>
          <a:xfrm>
            <a:off x="264160" y="885801"/>
            <a:ext cx="8584006" cy="4506362"/>
          </a:xfrm>
        </p:spPr>
        <p:txBody>
          <a:bodyPr/>
          <a:lstStyle/>
          <a:p>
            <a:r>
              <a:rPr lang="en-US" dirty="0"/>
              <a:t>HNAS 5000 exclusively supports Hitachi Storage Subsystems</a:t>
            </a:r>
          </a:p>
          <a:p>
            <a:r>
              <a:rPr lang="en-US" dirty="0"/>
              <a:t>HUVM (Storage Virtualization) is also supported</a:t>
            </a:r>
          </a:p>
          <a:p>
            <a:pPr lvl="1"/>
            <a:r>
              <a:rPr lang="en-US" dirty="0"/>
              <a:t>Consult the current UVM matrix for supported storage systems</a:t>
            </a:r>
          </a:p>
          <a:p>
            <a:r>
              <a:rPr lang="en-US" dirty="0"/>
              <a:t>Use the standard (default) host mode . A single host storage domain is sufficient for all HNAS </a:t>
            </a:r>
            <a:r>
              <a:rPr lang="en-US" dirty="0" err="1"/>
              <a:t>hports</a:t>
            </a:r>
            <a:endParaRPr lang="en-US" dirty="0"/>
          </a:p>
          <a:p>
            <a:r>
              <a:rPr lang="en-US" dirty="0"/>
              <a:t>Always enable HMO 7 and 68 on each storage ports used by HNAS</a:t>
            </a:r>
          </a:p>
          <a:p>
            <a:r>
              <a:rPr lang="en-US" dirty="0"/>
              <a:t>When using an HNAS 5000 in a stretched cluster with GAD</a:t>
            </a:r>
          </a:p>
          <a:p>
            <a:pPr lvl="1"/>
            <a:r>
              <a:rPr lang="en-US" dirty="0"/>
              <a:t>Enable HMO 78 on the host group containing the HNAS WWPN for the “remote” system (so that HNAS uses local storage paths) </a:t>
            </a:r>
          </a:p>
          <a:p>
            <a:endParaRPr lang="en-US" dirty="0"/>
          </a:p>
        </p:txBody>
      </p:sp>
      <p:sp>
        <p:nvSpPr>
          <p:cNvPr id="3" name="Title 2">
            <a:extLst>
              <a:ext uri="{FF2B5EF4-FFF2-40B4-BE49-F238E27FC236}">
                <a16:creationId xmlns:a16="http://schemas.microsoft.com/office/drawing/2014/main" id="{4D4EB82E-10F0-4C40-848B-7BC2C1FABC02}"/>
              </a:ext>
            </a:extLst>
          </p:cNvPr>
          <p:cNvSpPr>
            <a:spLocks noGrp="1"/>
          </p:cNvSpPr>
          <p:nvPr>
            <p:ph type="title"/>
          </p:nvPr>
        </p:nvSpPr>
        <p:spPr/>
        <p:txBody>
          <a:bodyPr/>
          <a:lstStyle/>
          <a:p>
            <a:r>
              <a:rPr lang="en-US" dirty="0"/>
              <a:t>Storage Array Specifics</a:t>
            </a:r>
          </a:p>
        </p:txBody>
      </p:sp>
    </p:spTree>
    <p:extLst>
      <p:ext uri="{BB962C8B-B14F-4D97-AF65-F5344CB8AC3E}">
        <p14:creationId xmlns:p14="http://schemas.microsoft.com/office/powerpoint/2010/main" val="42526228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EB67887-190E-F640-8231-283F5EE80A47}"/>
              </a:ext>
            </a:extLst>
          </p:cNvPr>
          <p:cNvSpPr>
            <a:spLocks noGrp="1"/>
          </p:cNvSpPr>
          <p:nvPr>
            <p:ph idx="1"/>
          </p:nvPr>
        </p:nvSpPr>
        <p:spPr>
          <a:xfrm>
            <a:off x="264160" y="885801"/>
            <a:ext cx="6511544" cy="3356303"/>
          </a:xfrm>
        </p:spPr>
        <p:txBody>
          <a:bodyPr/>
          <a:lstStyle/>
          <a:p>
            <a:r>
              <a:rPr lang="en-US" dirty="0"/>
              <a:t>The use of Hitachi Dynamic Provisioning (HDP) is strongly recommended: </a:t>
            </a:r>
          </a:p>
          <a:p>
            <a:pPr lvl="1"/>
            <a:r>
              <a:rPr lang="en-US" dirty="0"/>
              <a:t>Improves performance by striping I/O across all available disks</a:t>
            </a:r>
          </a:p>
          <a:p>
            <a:pPr lvl="1"/>
            <a:r>
              <a:rPr lang="en-US" dirty="0"/>
              <a:t>Supports larger LUs, up to 64 TiB</a:t>
            </a:r>
          </a:p>
          <a:p>
            <a:pPr lvl="1"/>
            <a:r>
              <a:rPr lang="en-US" dirty="0"/>
              <a:t>Reduces the need to use the span-expand command. </a:t>
            </a:r>
          </a:p>
          <a:p>
            <a:r>
              <a:rPr lang="en-US" dirty="0"/>
              <a:t>File system creation and expansion are safe, even on thinly provisioned HDP pools, because they check the amount of available space</a:t>
            </a:r>
          </a:p>
          <a:p>
            <a:r>
              <a:rPr lang="en-US" dirty="0"/>
              <a:t>See HDP Section later in this presentation</a:t>
            </a:r>
          </a:p>
        </p:txBody>
      </p:sp>
      <p:sp>
        <p:nvSpPr>
          <p:cNvPr id="3" name="Title 2">
            <a:extLst>
              <a:ext uri="{FF2B5EF4-FFF2-40B4-BE49-F238E27FC236}">
                <a16:creationId xmlns:a16="http://schemas.microsoft.com/office/drawing/2014/main" id="{9FFBCB5B-B553-EE48-BE34-42EFD0203F95}"/>
              </a:ext>
            </a:extLst>
          </p:cNvPr>
          <p:cNvSpPr>
            <a:spLocks noGrp="1"/>
          </p:cNvSpPr>
          <p:nvPr>
            <p:ph type="title"/>
          </p:nvPr>
        </p:nvSpPr>
        <p:spPr/>
        <p:txBody>
          <a:bodyPr/>
          <a:lstStyle/>
          <a:p>
            <a:r>
              <a:rPr lang="en-US" dirty="0"/>
              <a:t>HDP</a:t>
            </a:r>
          </a:p>
        </p:txBody>
      </p:sp>
      <p:pic>
        <p:nvPicPr>
          <p:cNvPr id="4" name="Picture 3">
            <a:extLst>
              <a:ext uri="{FF2B5EF4-FFF2-40B4-BE49-F238E27FC236}">
                <a16:creationId xmlns:a16="http://schemas.microsoft.com/office/drawing/2014/main" id="{E9DF6122-0D59-BD40-81A2-017B56C9B080}"/>
              </a:ext>
            </a:extLst>
          </p:cNvPr>
          <p:cNvPicPr>
            <a:picLocks noChangeAspect="1"/>
          </p:cNvPicPr>
          <p:nvPr/>
        </p:nvPicPr>
        <p:blipFill>
          <a:blip r:embed="rId3"/>
          <a:stretch>
            <a:fillRect/>
          </a:stretch>
        </p:blipFill>
        <p:spPr>
          <a:xfrm>
            <a:off x="6886582" y="693777"/>
            <a:ext cx="2107811" cy="4204586"/>
          </a:xfrm>
          <a:prstGeom prst="rect">
            <a:avLst/>
          </a:prstGeom>
        </p:spPr>
      </p:pic>
    </p:spTree>
    <p:extLst>
      <p:ext uri="{BB962C8B-B14F-4D97-AF65-F5344CB8AC3E}">
        <p14:creationId xmlns:p14="http://schemas.microsoft.com/office/powerpoint/2010/main" val="41727923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F50AEA3-2448-E341-90B4-2A544755054F}"/>
              </a:ext>
            </a:extLst>
          </p:cNvPr>
          <p:cNvSpPr>
            <a:spLocks noGrp="1"/>
          </p:cNvSpPr>
          <p:nvPr>
            <p:ph type="ctrTitle"/>
          </p:nvPr>
        </p:nvSpPr>
        <p:spPr/>
        <p:txBody>
          <a:bodyPr/>
          <a:lstStyle/>
          <a:p>
            <a:r>
              <a:rPr lang="en-US" dirty="0"/>
              <a:t>Storage Pool Layer</a:t>
            </a:r>
          </a:p>
        </p:txBody>
      </p:sp>
    </p:spTree>
    <p:extLst>
      <p:ext uri="{BB962C8B-B14F-4D97-AF65-F5344CB8AC3E}">
        <p14:creationId xmlns:p14="http://schemas.microsoft.com/office/powerpoint/2010/main" val="38635535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Span (Storage Pools) and System Drives</a:t>
            </a:r>
          </a:p>
        </p:txBody>
      </p:sp>
      <p:grpSp>
        <p:nvGrpSpPr>
          <p:cNvPr id="2" name="Group 1">
            <a:extLst>
              <a:ext uri="{FF2B5EF4-FFF2-40B4-BE49-F238E27FC236}">
                <a16:creationId xmlns:a16="http://schemas.microsoft.com/office/drawing/2014/main" id="{A285C0AF-311E-0B4F-A928-79DE82C553E6}"/>
              </a:ext>
            </a:extLst>
          </p:cNvPr>
          <p:cNvGrpSpPr/>
          <p:nvPr/>
        </p:nvGrpSpPr>
        <p:grpSpPr>
          <a:xfrm>
            <a:off x="262496" y="1053295"/>
            <a:ext cx="3493615" cy="2472966"/>
            <a:chOff x="214586" y="1162332"/>
            <a:chExt cx="3915253" cy="3163708"/>
          </a:xfrm>
        </p:grpSpPr>
        <p:grpSp>
          <p:nvGrpSpPr>
            <p:cNvPr id="7" name="Group 17"/>
            <p:cNvGrpSpPr>
              <a:grpSpLocks/>
            </p:cNvGrpSpPr>
            <p:nvPr/>
          </p:nvGrpSpPr>
          <p:grpSpPr bwMode="auto">
            <a:xfrm>
              <a:off x="227935" y="3915275"/>
              <a:ext cx="3901904" cy="410765"/>
              <a:chOff x="1075" y="2886"/>
              <a:chExt cx="1847" cy="190"/>
            </a:xfrm>
            <a:solidFill>
              <a:srgbClr val="00B050"/>
            </a:solidFill>
            <a:effectLst>
              <a:outerShdw blurRad="50800" dist="38100" dir="2700000" algn="tl" rotWithShape="0">
                <a:prstClr val="black">
                  <a:alpha val="40000"/>
                </a:prstClr>
              </a:outerShdw>
            </a:effectLst>
          </p:grpSpPr>
          <p:sp>
            <p:nvSpPr>
              <p:cNvPr id="8" name="Rectangle 50"/>
              <p:cNvSpPr>
                <a:spLocks noChangeArrowheads="1"/>
              </p:cNvSpPr>
              <p:nvPr/>
            </p:nvSpPr>
            <p:spPr bwMode="auto">
              <a:xfrm>
                <a:off x="1075" y="2886"/>
                <a:ext cx="368" cy="190"/>
              </a:xfrm>
              <a:prstGeom prst="rect">
                <a:avLst/>
              </a:prstGeom>
              <a:grpFill/>
              <a:ln w="9525">
                <a:solidFill>
                  <a:schemeClr val="bg1">
                    <a:lumMod val="85000"/>
                  </a:schemeClr>
                </a:solidFill>
                <a:miter lim="800000"/>
                <a:headEnd/>
                <a:tailEnd/>
              </a:ln>
            </p:spPr>
            <p:txBody>
              <a:bodyPr wrap="none" anchor="ctr"/>
              <a:lstStyle/>
              <a:p>
                <a:pPr algn="ctr"/>
                <a:r>
                  <a:rPr lang="en-US" b="1" dirty="0">
                    <a:solidFill>
                      <a:prstClr val="black"/>
                    </a:solidFill>
                    <a:latin typeface="Calibri" panose="020F0502020204030204" pitchFamily="34" charset="0"/>
                    <a:cs typeface="Calibri" panose="020F0502020204030204" pitchFamily="34" charset="0"/>
                  </a:rPr>
                  <a:t>LU</a:t>
                </a:r>
              </a:p>
            </p:txBody>
          </p:sp>
          <p:sp>
            <p:nvSpPr>
              <p:cNvPr id="9" name="Rectangle 51"/>
              <p:cNvSpPr>
                <a:spLocks noChangeArrowheads="1"/>
              </p:cNvSpPr>
              <p:nvPr/>
            </p:nvSpPr>
            <p:spPr bwMode="auto">
              <a:xfrm>
                <a:off x="1815" y="2886"/>
                <a:ext cx="368" cy="190"/>
              </a:xfrm>
              <a:prstGeom prst="rect">
                <a:avLst/>
              </a:prstGeom>
              <a:grpFill/>
              <a:ln w="9525">
                <a:solidFill>
                  <a:schemeClr val="bg1">
                    <a:lumMod val="85000"/>
                  </a:schemeClr>
                </a:solidFill>
                <a:miter lim="800000"/>
                <a:headEnd/>
                <a:tailEnd/>
              </a:ln>
            </p:spPr>
            <p:txBody>
              <a:bodyPr wrap="none" anchor="ctr"/>
              <a:lstStyle/>
              <a:p>
                <a:pPr algn="ctr"/>
                <a:r>
                  <a:rPr lang="en-US" b="1" dirty="0">
                    <a:solidFill>
                      <a:prstClr val="black"/>
                    </a:solidFill>
                    <a:latin typeface="Calibri" panose="020F0502020204030204" pitchFamily="34" charset="0"/>
                    <a:cs typeface="Calibri" panose="020F0502020204030204" pitchFamily="34" charset="0"/>
                  </a:rPr>
                  <a:t>LU</a:t>
                </a:r>
              </a:p>
            </p:txBody>
          </p:sp>
          <p:sp>
            <p:nvSpPr>
              <p:cNvPr id="10" name="Rectangle 52"/>
              <p:cNvSpPr>
                <a:spLocks noChangeArrowheads="1"/>
              </p:cNvSpPr>
              <p:nvPr/>
            </p:nvSpPr>
            <p:spPr bwMode="auto">
              <a:xfrm>
                <a:off x="1444" y="2886"/>
                <a:ext cx="367" cy="190"/>
              </a:xfrm>
              <a:prstGeom prst="rect">
                <a:avLst/>
              </a:prstGeom>
              <a:grpFill/>
              <a:ln w="9525">
                <a:solidFill>
                  <a:schemeClr val="bg1">
                    <a:lumMod val="85000"/>
                  </a:schemeClr>
                </a:solidFill>
                <a:miter lim="800000"/>
                <a:headEnd/>
                <a:tailEnd/>
              </a:ln>
            </p:spPr>
            <p:txBody>
              <a:bodyPr wrap="none" anchor="ctr"/>
              <a:lstStyle/>
              <a:p>
                <a:pPr algn="ctr"/>
                <a:r>
                  <a:rPr lang="en-US" b="1" dirty="0">
                    <a:solidFill>
                      <a:prstClr val="black"/>
                    </a:solidFill>
                    <a:latin typeface="Calibri" panose="020F0502020204030204" pitchFamily="34" charset="0"/>
                    <a:cs typeface="Calibri" panose="020F0502020204030204" pitchFamily="34" charset="0"/>
                  </a:rPr>
                  <a:t>LU</a:t>
                </a:r>
              </a:p>
            </p:txBody>
          </p:sp>
          <p:sp>
            <p:nvSpPr>
              <p:cNvPr id="11" name="Rectangle 53"/>
              <p:cNvSpPr>
                <a:spLocks noChangeArrowheads="1"/>
              </p:cNvSpPr>
              <p:nvPr/>
            </p:nvSpPr>
            <p:spPr bwMode="auto">
              <a:xfrm>
                <a:off x="2183" y="2886"/>
                <a:ext cx="368" cy="190"/>
              </a:xfrm>
              <a:prstGeom prst="rect">
                <a:avLst/>
              </a:prstGeom>
              <a:grpFill/>
              <a:ln w="9525">
                <a:solidFill>
                  <a:schemeClr val="bg1">
                    <a:lumMod val="85000"/>
                  </a:schemeClr>
                </a:solidFill>
                <a:miter lim="800000"/>
                <a:headEnd/>
                <a:tailEnd/>
              </a:ln>
            </p:spPr>
            <p:txBody>
              <a:bodyPr wrap="none" anchor="ctr"/>
              <a:lstStyle/>
              <a:p>
                <a:pPr algn="ctr"/>
                <a:r>
                  <a:rPr lang="en-US" b="1" dirty="0">
                    <a:solidFill>
                      <a:prstClr val="black"/>
                    </a:solidFill>
                    <a:latin typeface="Calibri" panose="020F0502020204030204" pitchFamily="34" charset="0"/>
                    <a:cs typeface="Calibri" panose="020F0502020204030204" pitchFamily="34" charset="0"/>
                  </a:rPr>
                  <a:t>LU</a:t>
                </a:r>
              </a:p>
            </p:txBody>
          </p:sp>
          <p:sp>
            <p:nvSpPr>
              <p:cNvPr id="12" name="Rectangle 54"/>
              <p:cNvSpPr>
                <a:spLocks noChangeArrowheads="1"/>
              </p:cNvSpPr>
              <p:nvPr/>
            </p:nvSpPr>
            <p:spPr bwMode="auto">
              <a:xfrm>
                <a:off x="2554" y="2886"/>
                <a:ext cx="368" cy="190"/>
              </a:xfrm>
              <a:prstGeom prst="rect">
                <a:avLst/>
              </a:prstGeom>
              <a:grpFill/>
              <a:ln w="9525">
                <a:solidFill>
                  <a:schemeClr val="bg1">
                    <a:lumMod val="85000"/>
                  </a:schemeClr>
                </a:solidFill>
                <a:miter lim="800000"/>
                <a:headEnd/>
                <a:tailEnd/>
              </a:ln>
            </p:spPr>
            <p:txBody>
              <a:bodyPr wrap="none" anchor="ctr"/>
              <a:lstStyle/>
              <a:p>
                <a:pPr algn="ctr"/>
                <a:r>
                  <a:rPr lang="en-US" b="1" dirty="0">
                    <a:solidFill>
                      <a:prstClr val="black"/>
                    </a:solidFill>
                    <a:latin typeface="Calibri" panose="020F0502020204030204" pitchFamily="34" charset="0"/>
                    <a:cs typeface="Calibri" panose="020F0502020204030204" pitchFamily="34" charset="0"/>
                  </a:rPr>
                  <a:t>LU</a:t>
                </a:r>
              </a:p>
            </p:txBody>
          </p:sp>
        </p:grpSp>
        <p:grpSp>
          <p:nvGrpSpPr>
            <p:cNvPr id="13" name="Group 34"/>
            <p:cNvGrpSpPr>
              <a:grpSpLocks/>
            </p:cNvGrpSpPr>
            <p:nvPr/>
          </p:nvGrpSpPr>
          <p:grpSpPr bwMode="auto">
            <a:xfrm>
              <a:off x="227935" y="2955732"/>
              <a:ext cx="3901904" cy="410765"/>
              <a:chOff x="1087" y="2454"/>
              <a:chExt cx="1847" cy="190"/>
            </a:xfrm>
            <a:effectLst>
              <a:outerShdw blurRad="50800" dist="38100" dir="2700000" algn="tl" rotWithShape="0">
                <a:prstClr val="black">
                  <a:alpha val="40000"/>
                </a:prstClr>
              </a:outerShdw>
            </a:effectLst>
          </p:grpSpPr>
          <p:sp>
            <p:nvSpPr>
              <p:cNvPr id="14" name="Rectangle 35"/>
              <p:cNvSpPr>
                <a:spLocks noChangeArrowheads="1"/>
              </p:cNvSpPr>
              <p:nvPr/>
            </p:nvSpPr>
            <p:spPr bwMode="auto">
              <a:xfrm>
                <a:off x="1087" y="2454"/>
                <a:ext cx="368" cy="190"/>
              </a:xfrm>
              <a:prstGeom prst="rect">
                <a:avLst/>
              </a:prstGeom>
              <a:solidFill>
                <a:srgbClr val="009999"/>
              </a:solidFill>
              <a:ln w="9525">
                <a:solidFill>
                  <a:schemeClr val="bg1">
                    <a:lumMod val="75000"/>
                  </a:schemeClr>
                </a:solidFill>
                <a:miter lim="800000"/>
                <a:headEnd/>
                <a:tailEnd/>
              </a:ln>
            </p:spPr>
            <p:txBody>
              <a:bodyPr wrap="none" anchor="ctr"/>
              <a:lstStyle/>
              <a:p>
                <a:pPr algn="ctr"/>
                <a:r>
                  <a:rPr lang="en-US" b="1" dirty="0">
                    <a:solidFill>
                      <a:prstClr val="black"/>
                    </a:solidFill>
                    <a:latin typeface="Calibri" panose="020F0502020204030204" pitchFamily="34" charset="0"/>
                    <a:cs typeface="Calibri" panose="020F0502020204030204" pitchFamily="34" charset="0"/>
                  </a:rPr>
                  <a:t>SD</a:t>
                </a:r>
              </a:p>
            </p:txBody>
          </p:sp>
          <p:sp>
            <p:nvSpPr>
              <p:cNvPr id="15" name="Rectangle 36"/>
              <p:cNvSpPr>
                <a:spLocks noChangeArrowheads="1"/>
              </p:cNvSpPr>
              <p:nvPr/>
            </p:nvSpPr>
            <p:spPr bwMode="auto">
              <a:xfrm>
                <a:off x="1827" y="2454"/>
                <a:ext cx="368" cy="190"/>
              </a:xfrm>
              <a:prstGeom prst="rect">
                <a:avLst/>
              </a:prstGeom>
              <a:solidFill>
                <a:srgbClr val="009999"/>
              </a:solidFill>
              <a:ln w="9525">
                <a:solidFill>
                  <a:schemeClr val="bg1">
                    <a:lumMod val="75000"/>
                  </a:schemeClr>
                </a:solidFill>
                <a:miter lim="800000"/>
                <a:headEnd/>
                <a:tailEnd/>
              </a:ln>
            </p:spPr>
            <p:txBody>
              <a:bodyPr wrap="none" anchor="ctr"/>
              <a:lstStyle/>
              <a:p>
                <a:pPr algn="ctr"/>
                <a:r>
                  <a:rPr lang="en-US" b="1" dirty="0">
                    <a:solidFill>
                      <a:prstClr val="black"/>
                    </a:solidFill>
                    <a:latin typeface="Calibri" panose="020F0502020204030204" pitchFamily="34" charset="0"/>
                    <a:cs typeface="Calibri" panose="020F0502020204030204" pitchFamily="34" charset="0"/>
                  </a:rPr>
                  <a:t>SD</a:t>
                </a:r>
              </a:p>
            </p:txBody>
          </p:sp>
          <p:sp>
            <p:nvSpPr>
              <p:cNvPr id="16" name="Rectangle 37"/>
              <p:cNvSpPr>
                <a:spLocks noChangeArrowheads="1"/>
              </p:cNvSpPr>
              <p:nvPr/>
            </p:nvSpPr>
            <p:spPr bwMode="auto">
              <a:xfrm>
                <a:off x="1456" y="2454"/>
                <a:ext cx="367" cy="190"/>
              </a:xfrm>
              <a:prstGeom prst="rect">
                <a:avLst/>
              </a:prstGeom>
              <a:solidFill>
                <a:srgbClr val="009999"/>
              </a:solidFill>
              <a:ln w="9525">
                <a:solidFill>
                  <a:schemeClr val="bg1">
                    <a:lumMod val="75000"/>
                  </a:schemeClr>
                </a:solidFill>
                <a:miter lim="800000"/>
                <a:headEnd/>
                <a:tailEnd/>
              </a:ln>
            </p:spPr>
            <p:txBody>
              <a:bodyPr wrap="none" anchor="ctr"/>
              <a:lstStyle/>
              <a:p>
                <a:pPr algn="ctr"/>
                <a:r>
                  <a:rPr lang="en-US" b="1" dirty="0">
                    <a:solidFill>
                      <a:prstClr val="black"/>
                    </a:solidFill>
                    <a:latin typeface="Calibri" panose="020F0502020204030204" pitchFamily="34" charset="0"/>
                    <a:cs typeface="Calibri" panose="020F0502020204030204" pitchFamily="34" charset="0"/>
                  </a:rPr>
                  <a:t>SD</a:t>
                </a:r>
              </a:p>
            </p:txBody>
          </p:sp>
          <p:sp>
            <p:nvSpPr>
              <p:cNvPr id="17" name="Rectangle 38"/>
              <p:cNvSpPr>
                <a:spLocks noChangeArrowheads="1"/>
              </p:cNvSpPr>
              <p:nvPr/>
            </p:nvSpPr>
            <p:spPr bwMode="auto">
              <a:xfrm>
                <a:off x="2195" y="2454"/>
                <a:ext cx="368" cy="190"/>
              </a:xfrm>
              <a:prstGeom prst="rect">
                <a:avLst/>
              </a:prstGeom>
              <a:solidFill>
                <a:srgbClr val="009999"/>
              </a:solidFill>
              <a:ln w="9525">
                <a:solidFill>
                  <a:schemeClr val="bg1">
                    <a:lumMod val="75000"/>
                  </a:schemeClr>
                </a:solidFill>
                <a:miter lim="800000"/>
                <a:headEnd/>
                <a:tailEnd/>
              </a:ln>
            </p:spPr>
            <p:txBody>
              <a:bodyPr wrap="none" anchor="ctr"/>
              <a:lstStyle/>
              <a:p>
                <a:pPr algn="ctr"/>
                <a:r>
                  <a:rPr lang="en-US" b="1" dirty="0">
                    <a:solidFill>
                      <a:prstClr val="black"/>
                    </a:solidFill>
                    <a:latin typeface="Calibri" panose="020F0502020204030204" pitchFamily="34" charset="0"/>
                    <a:cs typeface="Calibri" panose="020F0502020204030204" pitchFamily="34" charset="0"/>
                  </a:rPr>
                  <a:t>SD</a:t>
                </a:r>
              </a:p>
            </p:txBody>
          </p:sp>
          <p:sp>
            <p:nvSpPr>
              <p:cNvPr id="18" name="Rectangle 39"/>
              <p:cNvSpPr>
                <a:spLocks noChangeArrowheads="1"/>
              </p:cNvSpPr>
              <p:nvPr/>
            </p:nvSpPr>
            <p:spPr bwMode="auto">
              <a:xfrm>
                <a:off x="2566" y="2454"/>
                <a:ext cx="368" cy="190"/>
              </a:xfrm>
              <a:prstGeom prst="rect">
                <a:avLst/>
              </a:prstGeom>
              <a:solidFill>
                <a:srgbClr val="009999"/>
              </a:solidFill>
              <a:ln w="9525">
                <a:solidFill>
                  <a:schemeClr val="bg1">
                    <a:lumMod val="75000"/>
                  </a:schemeClr>
                </a:solidFill>
                <a:miter lim="800000"/>
                <a:headEnd/>
                <a:tailEnd/>
              </a:ln>
            </p:spPr>
            <p:txBody>
              <a:bodyPr wrap="none" anchor="ctr"/>
              <a:lstStyle/>
              <a:p>
                <a:pPr algn="ctr"/>
                <a:r>
                  <a:rPr lang="en-US" b="1" dirty="0">
                    <a:solidFill>
                      <a:prstClr val="black"/>
                    </a:solidFill>
                    <a:latin typeface="Calibri" panose="020F0502020204030204" pitchFamily="34" charset="0"/>
                    <a:cs typeface="Calibri" panose="020F0502020204030204" pitchFamily="34" charset="0"/>
                  </a:rPr>
                  <a:t>SD</a:t>
                </a:r>
              </a:p>
            </p:txBody>
          </p:sp>
        </p:grpSp>
        <p:sp>
          <p:nvSpPr>
            <p:cNvPr id="19" name="Rectangle 30"/>
            <p:cNvSpPr>
              <a:spLocks noChangeArrowheads="1"/>
            </p:cNvSpPr>
            <p:nvPr/>
          </p:nvSpPr>
          <p:spPr bwMode="auto">
            <a:xfrm>
              <a:off x="261149" y="1162332"/>
              <a:ext cx="3855570" cy="310753"/>
            </a:xfrm>
            <a:prstGeom prst="rect">
              <a:avLst/>
            </a:prstGeom>
            <a:solidFill>
              <a:srgbClr val="EAEAEA"/>
            </a:solidFill>
            <a:ln w="9525" algn="ctr">
              <a:solidFill>
                <a:schemeClr val="tx1"/>
              </a:solidFill>
              <a:miter lim="800000"/>
              <a:headEnd/>
              <a:tailEnd/>
            </a:ln>
          </p:spPr>
          <p:txBody>
            <a:bodyPr wrap="none" anchor="ctr"/>
            <a:lstStyle/>
            <a:p>
              <a:pPr algn="ctr"/>
              <a:r>
                <a:rPr lang="en-US" sz="1400" b="1" dirty="0">
                  <a:solidFill>
                    <a:prstClr val="black"/>
                  </a:solidFill>
                  <a:latin typeface="Calibri" panose="020F0502020204030204" pitchFamily="34" charset="0"/>
                  <a:cs typeface="Calibri" panose="020F0502020204030204" pitchFamily="34" charset="0"/>
                </a:rPr>
                <a:t>4M Stripe</a:t>
              </a:r>
            </a:p>
          </p:txBody>
        </p:sp>
        <p:sp>
          <p:nvSpPr>
            <p:cNvPr id="20" name="Rectangle 33"/>
            <p:cNvSpPr>
              <a:spLocks noChangeArrowheads="1"/>
            </p:cNvSpPr>
            <p:nvPr/>
          </p:nvSpPr>
          <p:spPr bwMode="auto">
            <a:xfrm rot="10800000">
              <a:off x="259644" y="1489754"/>
              <a:ext cx="3852560" cy="409575"/>
            </a:xfrm>
            <a:prstGeom prst="rect">
              <a:avLst/>
            </a:prstGeom>
            <a:solidFill>
              <a:srgbClr val="99CCFF"/>
            </a:solidFill>
            <a:ln w="9525">
              <a:solidFill>
                <a:schemeClr val="tx1"/>
              </a:solidFill>
              <a:miter lim="800000"/>
              <a:headEnd/>
              <a:tailEnd/>
            </a:ln>
          </p:spPr>
          <p:txBody>
            <a:bodyPr rot="10800000" wrap="none" anchor="ctr"/>
            <a:lstStyle/>
            <a:p>
              <a:pPr algn="ctr"/>
              <a:endParaRPr lang="en-US" dirty="0">
                <a:solidFill>
                  <a:prstClr val="black"/>
                </a:solidFill>
                <a:latin typeface="Calibri" panose="020F0502020204030204" pitchFamily="34" charset="0"/>
                <a:cs typeface="Calibri" panose="020F0502020204030204" pitchFamily="34" charset="0"/>
              </a:endParaRPr>
            </a:p>
          </p:txBody>
        </p:sp>
        <p:grpSp>
          <p:nvGrpSpPr>
            <p:cNvPr id="21" name="Group 61"/>
            <p:cNvGrpSpPr>
              <a:grpSpLocks/>
            </p:cNvGrpSpPr>
            <p:nvPr/>
          </p:nvGrpSpPr>
          <p:grpSpPr bwMode="auto">
            <a:xfrm>
              <a:off x="270178" y="1900520"/>
              <a:ext cx="3839016" cy="425053"/>
              <a:chOff x="1069" y="1662"/>
              <a:chExt cx="1817" cy="197"/>
            </a:xfrm>
          </p:grpSpPr>
          <p:sp>
            <p:nvSpPr>
              <p:cNvPr id="22" name="Rectangle 62"/>
              <p:cNvSpPr>
                <a:spLocks noChangeArrowheads="1"/>
              </p:cNvSpPr>
              <p:nvPr/>
            </p:nvSpPr>
            <p:spPr bwMode="auto">
              <a:xfrm>
                <a:off x="2731" y="1662"/>
                <a:ext cx="155" cy="196"/>
              </a:xfrm>
              <a:prstGeom prst="rect">
                <a:avLst/>
              </a:prstGeom>
              <a:solidFill>
                <a:schemeClr val="bg2"/>
              </a:solidFill>
              <a:ln w="9525">
                <a:solidFill>
                  <a:schemeClr val="tx1"/>
                </a:solidFill>
                <a:miter lim="800000"/>
                <a:headEnd/>
                <a:tailEnd/>
              </a:ln>
            </p:spPr>
            <p:txBody>
              <a:bodyPr wrap="none" anchor="ctr"/>
              <a:lstStyle/>
              <a:p>
                <a:endParaRPr lang="en-US" dirty="0">
                  <a:solidFill>
                    <a:prstClr val="black"/>
                  </a:solidFill>
                  <a:latin typeface="Calibri" panose="020F0502020204030204" pitchFamily="34" charset="0"/>
                  <a:cs typeface="Calibri" panose="020F0502020204030204" pitchFamily="34" charset="0"/>
                </a:endParaRPr>
              </a:p>
            </p:txBody>
          </p:sp>
          <p:sp>
            <p:nvSpPr>
              <p:cNvPr id="23" name="Rectangle 63"/>
              <p:cNvSpPr>
                <a:spLocks noChangeArrowheads="1"/>
              </p:cNvSpPr>
              <p:nvPr/>
            </p:nvSpPr>
            <p:spPr bwMode="auto">
              <a:xfrm>
                <a:off x="2583" y="1662"/>
                <a:ext cx="148" cy="195"/>
              </a:xfrm>
              <a:prstGeom prst="rect">
                <a:avLst/>
              </a:prstGeom>
              <a:solidFill>
                <a:schemeClr val="bg2"/>
              </a:solidFill>
              <a:ln w="9525">
                <a:solidFill>
                  <a:schemeClr val="tx1"/>
                </a:solidFill>
                <a:miter lim="800000"/>
                <a:headEnd/>
                <a:tailEnd/>
              </a:ln>
            </p:spPr>
            <p:txBody>
              <a:bodyPr wrap="none" anchor="ctr"/>
              <a:lstStyle/>
              <a:p>
                <a:endParaRPr lang="en-US" dirty="0">
                  <a:solidFill>
                    <a:prstClr val="black"/>
                  </a:solidFill>
                  <a:latin typeface="Calibri" panose="020F0502020204030204" pitchFamily="34" charset="0"/>
                  <a:cs typeface="Calibri" panose="020F0502020204030204" pitchFamily="34" charset="0"/>
                </a:endParaRPr>
              </a:p>
            </p:txBody>
          </p:sp>
          <p:sp>
            <p:nvSpPr>
              <p:cNvPr id="24" name="Rectangle 64"/>
              <p:cNvSpPr>
                <a:spLocks noChangeArrowheads="1"/>
              </p:cNvSpPr>
              <p:nvPr/>
            </p:nvSpPr>
            <p:spPr bwMode="auto">
              <a:xfrm>
                <a:off x="2435" y="1662"/>
                <a:ext cx="148" cy="196"/>
              </a:xfrm>
              <a:prstGeom prst="rect">
                <a:avLst/>
              </a:prstGeom>
              <a:solidFill>
                <a:schemeClr val="bg2"/>
              </a:solidFill>
              <a:ln w="9525">
                <a:solidFill>
                  <a:schemeClr val="tx1"/>
                </a:solidFill>
                <a:miter lim="800000"/>
                <a:headEnd/>
                <a:tailEnd/>
              </a:ln>
            </p:spPr>
            <p:txBody>
              <a:bodyPr wrap="none" anchor="ctr"/>
              <a:lstStyle/>
              <a:p>
                <a:endParaRPr lang="en-US" dirty="0">
                  <a:solidFill>
                    <a:prstClr val="black"/>
                  </a:solidFill>
                  <a:latin typeface="Calibri" panose="020F0502020204030204" pitchFamily="34" charset="0"/>
                  <a:cs typeface="Calibri" panose="020F0502020204030204" pitchFamily="34" charset="0"/>
                </a:endParaRPr>
              </a:p>
            </p:txBody>
          </p:sp>
          <p:sp>
            <p:nvSpPr>
              <p:cNvPr id="25" name="Rectangle 65"/>
              <p:cNvSpPr>
                <a:spLocks noChangeArrowheads="1"/>
              </p:cNvSpPr>
              <p:nvPr/>
            </p:nvSpPr>
            <p:spPr bwMode="auto">
              <a:xfrm>
                <a:off x="2281" y="1662"/>
                <a:ext cx="152" cy="195"/>
              </a:xfrm>
              <a:prstGeom prst="rect">
                <a:avLst/>
              </a:prstGeom>
              <a:solidFill>
                <a:schemeClr val="bg2"/>
              </a:solidFill>
              <a:ln w="9525">
                <a:solidFill>
                  <a:schemeClr val="tx1"/>
                </a:solidFill>
                <a:miter lim="800000"/>
                <a:headEnd/>
                <a:tailEnd/>
              </a:ln>
            </p:spPr>
            <p:txBody>
              <a:bodyPr wrap="none" anchor="ctr"/>
              <a:lstStyle/>
              <a:p>
                <a:endParaRPr lang="en-US" dirty="0">
                  <a:solidFill>
                    <a:prstClr val="black"/>
                  </a:solidFill>
                  <a:latin typeface="Calibri" panose="020F0502020204030204" pitchFamily="34" charset="0"/>
                  <a:cs typeface="Calibri" panose="020F0502020204030204" pitchFamily="34" charset="0"/>
                </a:endParaRPr>
              </a:p>
            </p:txBody>
          </p:sp>
          <p:sp>
            <p:nvSpPr>
              <p:cNvPr id="26" name="Rectangle 66"/>
              <p:cNvSpPr>
                <a:spLocks noChangeArrowheads="1"/>
              </p:cNvSpPr>
              <p:nvPr/>
            </p:nvSpPr>
            <p:spPr bwMode="auto">
              <a:xfrm>
                <a:off x="2122" y="1663"/>
                <a:ext cx="155" cy="196"/>
              </a:xfrm>
              <a:prstGeom prst="rect">
                <a:avLst/>
              </a:prstGeom>
              <a:solidFill>
                <a:schemeClr val="bg2"/>
              </a:solidFill>
              <a:ln w="9525">
                <a:solidFill>
                  <a:schemeClr val="tx1"/>
                </a:solidFill>
                <a:miter lim="800000"/>
                <a:headEnd/>
                <a:tailEnd/>
              </a:ln>
            </p:spPr>
            <p:txBody>
              <a:bodyPr wrap="none" anchor="ctr"/>
              <a:lstStyle/>
              <a:p>
                <a:endParaRPr lang="en-US" dirty="0">
                  <a:solidFill>
                    <a:prstClr val="black"/>
                  </a:solidFill>
                  <a:latin typeface="Calibri" panose="020F0502020204030204" pitchFamily="34" charset="0"/>
                  <a:cs typeface="Calibri" panose="020F0502020204030204" pitchFamily="34" charset="0"/>
                </a:endParaRPr>
              </a:p>
            </p:txBody>
          </p:sp>
          <p:sp>
            <p:nvSpPr>
              <p:cNvPr id="27" name="Rectangle 67"/>
              <p:cNvSpPr>
                <a:spLocks noChangeArrowheads="1"/>
              </p:cNvSpPr>
              <p:nvPr/>
            </p:nvSpPr>
            <p:spPr bwMode="auto">
              <a:xfrm>
                <a:off x="1974" y="1663"/>
                <a:ext cx="148" cy="195"/>
              </a:xfrm>
              <a:prstGeom prst="rect">
                <a:avLst/>
              </a:prstGeom>
              <a:solidFill>
                <a:schemeClr val="bg2"/>
              </a:solidFill>
              <a:ln w="9525">
                <a:solidFill>
                  <a:schemeClr val="tx1"/>
                </a:solidFill>
                <a:miter lim="800000"/>
                <a:headEnd/>
                <a:tailEnd/>
              </a:ln>
            </p:spPr>
            <p:txBody>
              <a:bodyPr wrap="none" anchor="ctr"/>
              <a:lstStyle/>
              <a:p>
                <a:endParaRPr lang="en-US" dirty="0">
                  <a:solidFill>
                    <a:prstClr val="black"/>
                  </a:solidFill>
                  <a:latin typeface="Calibri" panose="020F0502020204030204" pitchFamily="34" charset="0"/>
                  <a:cs typeface="Calibri" panose="020F0502020204030204" pitchFamily="34" charset="0"/>
                </a:endParaRPr>
              </a:p>
            </p:txBody>
          </p:sp>
          <p:sp>
            <p:nvSpPr>
              <p:cNvPr id="28" name="Rectangle 68"/>
              <p:cNvSpPr>
                <a:spLocks noChangeArrowheads="1"/>
              </p:cNvSpPr>
              <p:nvPr/>
            </p:nvSpPr>
            <p:spPr bwMode="auto">
              <a:xfrm>
                <a:off x="1825" y="1663"/>
                <a:ext cx="149" cy="196"/>
              </a:xfrm>
              <a:prstGeom prst="rect">
                <a:avLst/>
              </a:prstGeom>
              <a:solidFill>
                <a:schemeClr val="bg2"/>
              </a:solidFill>
              <a:ln w="9525">
                <a:solidFill>
                  <a:schemeClr val="tx1"/>
                </a:solidFill>
                <a:miter lim="800000"/>
                <a:headEnd/>
                <a:tailEnd/>
              </a:ln>
            </p:spPr>
            <p:txBody>
              <a:bodyPr wrap="none" anchor="ctr"/>
              <a:lstStyle/>
              <a:p>
                <a:endParaRPr lang="en-US" dirty="0">
                  <a:solidFill>
                    <a:prstClr val="black"/>
                  </a:solidFill>
                  <a:latin typeface="Calibri" panose="020F0502020204030204" pitchFamily="34" charset="0"/>
                  <a:cs typeface="Calibri" panose="020F0502020204030204" pitchFamily="34" charset="0"/>
                </a:endParaRPr>
              </a:p>
            </p:txBody>
          </p:sp>
          <p:sp>
            <p:nvSpPr>
              <p:cNvPr id="29" name="Rectangle 69"/>
              <p:cNvSpPr>
                <a:spLocks noChangeArrowheads="1"/>
              </p:cNvSpPr>
              <p:nvPr/>
            </p:nvSpPr>
            <p:spPr bwMode="auto">
              <a:xfrm>
                <a:off x="1672" y="1663"/>
                <a:ext cx="151" cy="195"/>
              </a:xfrm>
              <a:prstGeom prst="rect">
                <a:avLst/>
              </a:prstGeom>
              <a:solidFill>
                <a:schemeClr val="bg2"/>
              </a:solidFill>
              <a:ln w="9525">
                <a:solidFill>
                  <a:schemeClr val="tx1"/>
                </a:solidFill>
                <a:miter lim="800000"/>
                <a:headEnd/>
                <a:tailEnd/>
              </a:ln>
            </p:spPr>
            <p:txBody>
              <a:bodyPr wrap="none" anchor="ctr"/>
              <a:lstStyle/>
              <a:p>
                <a:endParaRPr lang="en-US" dirty="0">
                  <a:solidFill>
                    <a:prstClr val="black"/>
                  </a:solidFill>
                  <a:latin typeface="Calibri" panose="020F0502020204030204" pitchFamily="34" charset="0"/>
                  <a:cs typeface="Calibri" panose="020F0502020204030204" pitchFamily="34" charset="0"/>
                </a:endParaRPr>
              </a:p>
            </p:txBody>
          </p:sp>
          <p:sp>
            <p:nvSpPr>
              <p:cNvPr id="30" name="Rectangle 70"/>
              <p:cNvSpPr>
                <a:spLocks noChangeArrowheads="1"/>
              </p:cNvSpPr>
              <p:nvPr/>
            </p:nvSpPr>
            <p:spPr bwMode="auto">
              <a:xfrm>
                <a:off x="1519" y="1663"/>
                <a:ext cx="155" cy="196"/>
              </a:xfrm>
              <a:prstGeom prst="rect">
                <a:avLst/>
              </a:prstGeom>
              <a:solidFill>
                <a:schemeClr val="bg2"/>
              </a:solidFill>
              <a:ln w="9525">
                <a:solidFill>
                  <a:schemeClr val="tx1"/>
                </a:solidFill>
                <a:miter lim="800000"/>
                <a:headEnd/>
                <a:tailEnd/>
              </a:ln>
            </p:spPr>
            <p:txBody>
              <a:bodyPr wrap="none" anchor="ctr"/>
              <a:lstStyle/>
              <a:p>
                <a:endParaRPr lang="en-US" dirty="0">
                  <a:solidFill>
                    <a:prstClr val="black"/>
                  </a:solidFill>
                  <a:latin typeface="Calibri" panose="020F0502020204030204" pitchFamily="34" charset="0"/>
                  <a:cs typeface="Calibri" panose="020F0502020204030204" pitchFamily="34" charset="0"/>
                </a:endParaRPr>
              </a:p>
            </p:txBody>
          </p:sp>
          <p:sp>
            <p:nvSpPr>
              <p:cNvPr id="31" name="Rectangle 71"/>
              <p:cNvSpPr>
                <a:spLocks noChangeArrowheads="1"/>
              </p:cNvSpPr>
              <p:nvPr/>
            </p:nvSpPr>
            <p:spPr bwMode="auto">
              <a:xfrm>
                <a:off x="1371" y="1663"/>
                <a:ext cx="148" cy="195"/>
              </a:xfrm>
              <a:prstGeom prst="rect">
                <a:avLst/>
              </a:prstGeom>
              <a:solidFill>
                <a:schemeClr val="bg2"/>
              </a:solidFill>
              <a:ln w="9525">
                <a:solidFill>
                  <a:schemeClr val="tx1"/>
                </a:solidFill>
                <a:miter lim="800000"/>
                <a:headEnd/>
                <a:tailEnd/>
              </a:ln>
            </p:spPr>
            <p:txBody>
              <a:bodyPr wrap="none" anchor="ctr"/>
              <a:lstStyle/>
              <a:p>
                <a:endParaRPr lang="en-US" dirty="0">
                  <a:solidFill>
                    <a:prstClr val="black"/>
                  </a:solidFill>
                  <a:latin typeface="Calibri" panose="020F0502020204030204" pitchFamily="34" charset="0"/>
                  <a:cs typeface="Calibri" panose="020F0502020204030204" pitchFamily="34" charset="0"/>
                </a:endParaRPr>
              </a:p>
            </p:txBody>
          </p:sp>
          <p:sp>
            <p:nvSpPr>
              <p:cNvPr id="32" name="Rectangle 72"/>
              <p:cNvSpPr>
                <a:spLocks noChangeArrowheads="1"/>
              </p:cNvSpPr>
              <p:nvPr/>
            </p:nvSpPr>
            <p:spPr bwMode="auto">
              <a:xfrm>
                <a:off x="1223" y="1663"/>
                <a:ext cx="148" cy="196"/>
              </a:xfrm>
              <a:prstGeom prst="rect">
                <a:avLst/>
              </a:prstGeom>
              <a:solidFill>
                <a:schemeClr val="bg2"/>
              </a:solidFill>
              <a:ln w="9525">
                <a:solidFill>
                  <a:schemeClr val="tx1"/>
                </a:solidFill>
                <a:miter lim="800000"/>
                <a:headEnd/>
                <a:tailEnd/>
              </a:ln>
            </p:spPr>
            <p:txBody>
              <a:bodyPr wrap="none" anchor="ctr"/>
              <a:lstStyle/>
              <a:p>
                <a:endParaRPr lang="en-US" dirty="0">
                  <a:solidFill>
                    <a:prstClr val="black"/>
                  </a:solidFill>
                  <a:latin typeface="Calibri" panose="020F0502020204030204" pitchFamily="34" charset="0"/>
                  <a:cs typeface="Calibri" panose="020F0502020204030204" pitchFamily="34" charset="0"/>
                </a:endParaRPr>
              </a:p>
            </p:txBody>
          </p:sp>
          <p:sp>
            <p:nvSpPr>
              <p:cNvPr id="33" name="Rectangle 73"/>
              <p:cNvSpPr>
                <a:spLocks noChangeArrowheads="1"/>
              </p:cNvSpPr>
              <p:nvPr/>
            </p:nvSpPr>
            <p:spPr bwMode="auto">
              <a:xfrm>
                <a:off x="1069" y="1663"/>
                <a:ext cx="152" cy="195"/>
              </a:xfrm>
              <a:prstGeom prst="rect">
                <a:avLst/>
              </a:prstGeom>
              <a:solidFill>
                <a:schemeClr val="bg2"/>
              </a:solidFill>
              <a:ln w="9525">
                <a:solidFill>
                  <a:schemeClr val="tx1"/>
                </a:solidFill>
                <a:miter lim="800000"/>
                <a:headEnd/>
                <a:tailEnd/>
              </a:ln>
            </p:spPr>
            <p:txBody>
              <a:bodyPr wrap="none" anchor="ctr"/>
              <a:lstStyle/>
              <a:p>
                <a:endParaRPr lang="en-US" dirty="0">
                  <a:solidFill>
                    <a:prstClr val="black"/>
                  </a:solidFill>
                  <a:latin typeface="Calibri" panose="020F0502020204030204" pitchFamily="34" charset="0"/>
                  <a:cs typeface="Calibri" panose="020F0502020204030204" pitchFamily="34" charset="0"/>
                </a:endParaRPr>
              </a:p>
            </p:txBody>
          </p:sp>
        </p:grpSp>
        <p:sp>
          <p:nvSpPr>
            <p:cNvPr id="34" name="Text Box 87"/>
            <p:cNvSpPr txBox="1">
              <a:spLocks noChangeArrowheads="1"/>
            </p:cNvSpPr>
            <p:nvPr/>
          </p:nvSpPr>
          <p:spPr bwMode="auto">
            <a:xfrm>
              <a:off x="214586" y="1891722"/>
              <a:ext cx="3839015" cy="472493"/>
            </a:xfrm>
            <a:prstGeom prst="rect">
              <a:avLst/>
            </a:prstGeom>
            <a:noFill/>
            <a:ln w="9525">
              <a:noFill/>
              <a:miter lim="800000"/>
              <a:headEnd/>
              <a:tailEnd/>
            </a:ln>
          </p:spPr>
          <p:txBody>
            <a:bodyPr wrap="square">
              <a:spAutoFit/>
            </a:bodyPr>
            <a:lstStyle/>
            <a:p>
              <a:pPr algn="ctr">
                <a:spcBef>
                  <a:spcPct val="50000"/>
                </a:spcBef>
              </a:pPr>
              <a:r>
                <a:rPr lang="en-US" dirty="0">
                  <a:solidFill>
                    <a:prstClr val="black"/>
                  </a:solidFill>
                  <a:highlight>
                    <a:srgbClr val="C0C0C0"/>
                  </a:highlight>
                  <a:latin typeface="Calibri" panose="020F0502020204030204" pitchFamily="34" charset="0"/>
                  <a:cs typeface="Calibri" panose="020F0502020204030204" pitchFamily="34" charset="0"/>
                </a:rPr>
                <a:t>Chunks</a:t>
              </a:r>
            </a:p>
          </p:txBody>
        </p:sp>
        <p:sp>
          <p:nvSpPr>
            <p:cNvPr id="35" name="Rectangle 37"/>
            <p:cNvSpPr>
              <a:spLocks noChangeArrowheads="1"/>
            </p:cNvSpPr>
            <p:nvPr/>
          </p:nvSpPr>
          <p:spPr bwMode="auto">
            <a:xfrm rot="10800000">
              <a:off x="264160" y="1174238"/>
              <a:ext cx="3854065" cy="1152525"/>
            </a:xfrm>
            <a:prstGeom prst="rect">
              <a:avLst/>
            </a:prstGeom>
            <a:noFill/>
            <a:ln w="38100">
              <a:solidFill>
                <a:schemeClr val="tx1"/>
              </a:solidFill>
              <a:miter lim="800000"/>
              <a:headEnd/>
              <a:tailEnd/>
            </a:ln>
          </p:spPr>
          <p:txBody>
            <a:bodyPr wrap="none" anchor="ctr"/>
            <a:lstStyle/>
            <a:p>
              <a:endParaRPr lang="en-US" dirty="0">
                <a:solidFill>
                  <a:prstClr val="black"/>
                </a:solidFill>
                <a:latin typeface="Calibri" panose="020F0502020204030204" pitchFamily="34" charset="0"/>
                <a:cs typeface="Calibri" panose="020F0502020204030204" pitchFamily="34" charset="0"/>
              </a:endParaRPr>
            </a:p>
          </p:txBody>
        </p:sp>
        <p:sp>
          <p:nvSpPr>
            <p:cNvPr id="36" name="Text Box 38"/>
            <p:cNvSpPr txBox="1">
              <a:spLocks noChangeArrowheads="1"/>
            </p:cNvSpPr>
            <p:nvPr/>
          </p:nvSpPr>
          <p:spPr bwMode="auto">
            <a:xfrm>
              <a:off x="277703" y="1484247"/>
              <a:ext cx="3839016" cy="369332"/>
            </a:xfrm>
            <a:prstGeom prst="rect">
              <a:avLst/>
            </a:prstGeom>
            <a:noFill/>
            <a:ln w="9525">
              <a:noFill/>
              <a:miter lim="800000"/>
              <a:headEnd/>
              <a:tailEnd/>
            </a:ln>
          </p:spPr>
          <p:txBody>
            <a:bodyPr wrap="square">
              <a:spAutoFit/>
            </a:bodyPr>
            <a:lstStyle/>
            <a:p>
              <a:pPr algn="ctr">
                <a:spcBef>
                  <a:spcPct val="50000"/>
                </a:spcBef>
              </a:pPr>
              <a:r>
                <a:rPr lang="en-US" dirty="0">
                  <a:solidFill>
                    <a:prstClr val="black"/>
                  </a:solidFill>
                  <a:latin typeface="Calibri" panose="020F0502020204030204" pitchFamily="34" charset="0"/>
                  <a:cs typeface="Calibri" panose="020F0502020204030204" pitchFamily="34" charset="0"/>
                </a:rPr>
                <a:t>Storage Pool / Span</a:t>
              </a:r>
            </a:p>
          </p:txBody>
        </p:sp>
        <p:sp>
          <p:nvSpPr>
            <p:cNvPr id="37" name="Down Arrow 36"/>
            <p:cNvSpPr/>
            <p:nvPr/>
          </p:nvSpPr>
          <p:spPr>
            <a:xfrm rot="10800000">
              <a:off x="2095393" y="2473455"/>
              <a:ext cx="177548" cy="348017"/>
            </a:xfrm>
            <a:prstGeom prst="downArrow">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endParaRPr>
            </a:p>
          </p:txBody>
        </p:sp>
        <p:grpSp>
          <p:nvGrpSpPr>
            <p:cNvPr id="38" name="Group 37"/>
            <p:cNvGrpSpPr/>
            <p:nvPr/>
          </p:nvGrpSpPr>
          <p:grpSpPr>
            <a:xfrm>
              <a:off x="528108" y="3465193"/>
              <a:ext cx="3308367" cy="348020"/>
              <a:chOff x="798078" y="1624084"/>
              <a:chExt cx="3308367" cy="348020"/>
            </a:xfrm>
            <a:effectLst>
              <a:outerShdw blurRad="50800" dist="38100" dir="2700000" algn="tl" rotWithShape="0">
                <a:prstClr val="black">
                  <a:alpha val="40000"/>
                </a:prstClr>
              </a:outerShdw>
            </a:effectLst>
          </p:grpSpPr>
          <p:sp>
            <p:nvSpPr>
              <p:cNvPr id="39" name="Down Arrow 38"/>
              <p:cNvSpPr/>
              <p:nvPr/>
            </p:nvSpPr>
            <p:spPr>
              <a:xfrm rot="10800000">
                <a:off x="798078" y="1624084"/>
                <a:ext cx="177548" cy="348017"/>
              </a:xfrm>
              <a:prstGeom prst="downArrow">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endParaRPr>
              </a:p>
            </p:txBody>
          </p:sp>
          <p:sp>
            <p:nvSpPr>
              <p:cNvPr id="40" name="Down Arrow 39"/>
              <p:cNvSpPr/>
              <p:nvPr/>
            </p:nvSpPr>
            <p:spPr>
              <a:xfrm rot="10800000">
                <a:off x="1582896" y="1624085"/>
                <a:ext cx="177548" cy="348017"/>
              </a:xfrm>
              <a:prstGeom prst="downArrow">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endParaRPr>
              </a:p>
            </p:txBody>
          </p:sp>
          <p:sp>
            <p:nvSpPr>
              <p:cNvPr id="41" name="Down Arrow 40"/>
              <p:cNvSpPr/>
              <p:nvPr/>
            </p:nvSpPr>
            <p:spPr>
              <a:xfrm rot="10800000">
                <a:off x="2367712" y="1624086"/>
                <a:ext cx="177548" cy="348017"/>
              </a:xfrm>
              <a:prstGeom prst="downArrow">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endParaRPr>
              </a:p>
            </p:txBody>
          </p:sp>
          <p:sp>
            <p:nvSpPr>
              <p:cNvPr id="42" name="Down Arrow 41"/>
              <p:cNvSpPr/>
              <p:nvPr/>
            </p:nvSpPr>
            <p:spPr>
              <a:xfrm rot="10800000">
                <a:off x="3145136" y="1624084"/>
                <a:ext cx="177548" cy="348017"/>
              </a:xfrm>
              <a:prstGeom prst="downArrow">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endParaRPr>
              </a:p>
            </p:txBody>
          </p:sp>
          <p:sp>
            <p:nvSpPr>
              <p:cNvPr id="43" name="Down Arrow 42"/>
              <p:cNvSpPr/>
              <p:nvPr/>
            </p:nvSpPr>
            <p:spPr>
              <a:xfrm rot="10800000">
                <a:off x="3928897" y="1624087"/>
                <a:ext cx="177548" cy="348017"/>
              </a:xfrm>
              <a:prstGeom prst="downArrow">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endParaRPr>
              </a:p>
            </p:txBody>
          </p:sp>
        </p:grpSp>
      </p:grpSp>
      <p:sp>
        <p:nvSpPr>
          <p:cNvPr id="44" name="Content Placeholder 2"/>
          <p:cNvSpPr txBox="1">
            <a:spLocks/>
          </p:cNvSpPr>
          <p:nvPr/>
        </p:nvSpPr>
        <p:spPr>
          <a:xfrm>
            <a:off x="3920221" y="967087"/>
            <a:ext cx="5125491" cy="2693045"/>
          </a:xfrm>
          <a:prstGeom prst="rect">
            <a:avLst/>
          </a:prstGeom>
        </p:spPr>
        <p:txBody>
          <a:bodyPr vert="horz" wrap="square" lIns="91440" tIns="45720" rIns="91440" bIns="45720" rtlCol="0">
            <a:spAutoFit/>
          </a:bodyPr>
          <a:lstStyle>
            <a:lvl1pPr marL="280988" indent="-280988">
              <a:lnSpc>
                <a:spcPct val="100000"/>
              </a:lnSpc>
              <a:spcBef>
                <a:spcPts val="1200"/>
              </a:spcBef>
              <a:spcAft>
                <a:spcPts val="600"/>
              </a:spcAft>
              <a:buClr>
                <a:schemeClr val="accent2"/>
              </a:buClr>
              <a:buFont typeface="Arial" panose="020B0604020202020204" pitchFamily="34" charset="0"/>
              <a:buChar char="•"/>
              <a:defRPr lang="en-US" dirty="0" smtClean="0"/>
            </a:lvl1pPr>
            <a:lvl2pPr marL="574675" lvl="1" indent="-293688">
              <a:lnSpc>
                <a:spcPct val="95000"/>
              </a:lnSpc>
              <a:spcBef>
                <a:spcPct val="20000"/>
              </a:spcBef>
              <a:spcAft>
                <a:spcPts val="800"/>
              </a:spcAft>
              <a:buFontTx/>
              <a:buChar char="‒"/>
              <a:defRPr lang="en-US" sz="1600" dirty="0" smtClean="0"/>
            </a:lvl2pPr>
            <a:lvl3pPr marL="855663" indent="-280988">
              <a:lnSpc>
                <a:spcPct val="95000"/>
              </a:lnSpc>
              <a:spcBef>
                <a:spcPts val="0"/>
              </a:spcBef>
              <a:spcAft>
                <a:spcPts val="800"/>
              </a:spcAft>
              <a:buFontTx/>
              <a:buChar char="‒"/>
              <a:defRPr lang="en-US" sz="1600" dirty="0" smtClean="0"/>
            </a:lvl3pPr>
            <a:lvl4pPr marL="1090613" indent="-234950">
              <a:lnSpc>
                <a:spcPct val="95000"/>
              </a:lnSpc>
              <a:spcBef>
                <a:spcPts val="0"/>
              </a:spcBef>
              <a:spcAft>
                <a:spcPts val="800"/>
              </a:spcAft>
              <a:buFontTx/>
              <a:buChar char="‒"/>
              <a:defRPr lang="en-US" sz="1400" dirty="0" smtClean="0"/>
            </a:lvl4pPr>
            <a:lvl5pPr marL="1312863" indent="-222250">
              <a:lnSpc>
                <a:spcPct val="95000"/>
              </a:lnSpc>
              <a:spcBef>
                <a:spcPts val="0"/>
              </a:spcBef>
              <a:spcAft>
                <a:spcPts val="800"/>
              </a:spcAft>
              <a:buFontTx/>
              <a:buChar char="‒"/>
              <a:defRPr lang="en-US" sz="1200"/>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a:spcBef>
                <a:spcPts val="0"/>
              </a:spcBef>
              <a:spcAft>
                <a:spcPts val="0"/>
              </a:spcAft>
            </a:pPr>
            <a:r>
              <a:rPr dirty="0"/>
              <a:t>HNAS Storage Pool/Span consists of one or more System Drives (SD) </a:t>
            </a:r>
            <a:endParaRPr lang="en-US" dirty="0"/>
          </a:p>
          <a:p>
            <a:pPr>
              <a:spcBef>
                <a:spcPts val="0"/>
              </a:spcBef>
              <a:spcAft>
                <a:spcPts val="0"/>
              </a:spcAft>
            </a:pPr>
            <a:endParaRPr lang="en-US" dirty="0"/>
          </a:p>
          <a:p>
            <a:pPr>
              <a:spcBef>
                <a:spcPts val="0"/>
              </a:spcBef>
              <a:spcAft>
                <a:spcPts val="0"/>
              </a:spcAft>
            </a:pPr>
            <a:r>
              <a:rPr dirty="0"/>
              <a:t>HNAS creates an SD for each LUN that is discovered. System Drives must be allowed access before HNAS </a:t>
            </a:r>
            <a:r>
              <a:rPr lang="en-US" dirty="0"/>
              <a:t>can use them.</a:t>
            </a:r>
          </a:p>
          <a:p>
            <a:r>
              <a:rPr lang="en-US" dirty="0"/>
              <a:t>A Span can be expanded, but not shrunk</a:t>
            </a:r>
          </a:p>
          <a:p>
            <a:r>
              <a:rPr lang="en-US" dirty="0"/>
              <a:t>Capacity is divided into chunks (1-18GB)</a:t>
            </a:r>
          </a:p>
        </p:txBody>
      </p:sp>
      <p:sp>
        <p:nvSpPr>
          <p:cNvPr id="3" name="Rectangle 2">
            <a:extLst>
              <a:ext uri="{FF2B5EF4-FFF2-40B4-BE49-F238E27FC236}">
                <a16:creationId xmlns:a16="http://schemas.microsoft.com/office/drawing/2014/main" id="{5DCD7DA4-B59C-324B-B370-0BC0FEFD1247}"/>
              </a:ext>
            </a:extLst>
          </p:cNvPr>
          <p:cNvSpPr/>
          <p:nvPr/>
        </p:nvSpPr>
        <p:spPr>
          <a:xfrm>
            <a:off x="232772" y="3794003"/>
            <a:ext cx="8689466" cy="923330"/>
          </a:xfrm>
          <a:prstGeom prst="rect">
            <a:avLst/>
          </a:prstGeom>
        </p:spPr>
        <p:txBody>
          <a:bodyPr vert="horz" wrap="square" lIns="91440" tIns="45720" rIns="91440" bIns="45720" rtlCol="0">
            <a:spAutoFit/>
          </a:bodyPr>
          <a:lstStyle/>
          <a:p>
            <a:pPr marL="280988" indent="-280988">
              <a:buClr>
                <a:schemeClr val="accent2"/>
              </a:buClr>
              <a:buFont typeface="Arial" panose="020B0604020202020204" pitchFamily="34" charset="0"/>
              <a:buChar char="•"/>
            </a:pPr>
            <a:r>
              <a:rPr lang="en-US" dirty="0"/>
              <a:t>File systems are allocated 1 or more chunks from the span as they expand.</a:t>
            </a:r>
            <a:br>
              <a:rPr lang="en-US" dirty="0"/>
            </a:br>
            <a:endParaRPr lang="en-US" dirty="0"/>
          </a:p>
          <a:p>
            <a:pPr marL="280988" indent="-280988">
              <a:buClr>
                <a:schemeClr val="accent2"/>
              </a:buClr>
              <a:buFont typeface="Arial" panose="020B0604020202020204" pitchFamily="34" charset="0"/>
              <a:buChar char="•"/>
            </a:pPr>
            <a:r>
              <a:rPr lang="en-US" dirty="0"/>
              <a:t>Max 60,000 chunks per pool</a:t>
            </a:r>
          </a:p>
        </p:txBody>
      </p:sp>
    </p:spTree>
    <p:extLst>
      <p:ext uri="{BB962C8B-B14F-4D97-AF65-F5344CB8AC3E}">
        <p14:creationId xmlns:p14="http://schemas.microsoft.com/office/powerpoint/2010/main" val="2175070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3EA647-CC60-6748-A26B-1BDC12D7E0D6}"/>
              </a:ext>
            </a:extLst>
          </p:cNvPr>
          <p:cNvSpPr>
            <a:spLocks noGrp="1"/>
          </p:cNvSpPr>
          <p:nvPr>
            <p:ph type="title"/>
          </p:nvPr>
        </p:nvSpPr>
        <p:spPr/>
        <p:txBody>
          <a:bodyPr/>
          <a:lstStyle/>
          <a:p>
            <a:r>
              <a:rPr lang="en-US" dirty="0"/>
              <a:t>Spans, Stripe Sets and DWB</a:t>
            </a:r>
          </a:p>
        </p:txBody>
      </p:sp>
      <p:pic>
        <p:nvPicPr>
          <p:cNvPr id="3" name="Picture 2">
            <a:extLst>
              <a:ext uri="{FF2B5EF4-FFF2-40B4-BE49-F238E27FC236}">
                <a16:creationId xmlns:a16="http://schemas.microsoft.com/office/drawing/2014/main" id="{01F1FC3B-C80C-694B-80A2-74C48F6DCE97}"/>
              </a:ext>
            </a:extLst>
          </p:cNvPr>
          <p:cNvPicPr>
            <a:picLocks noChangeAspect="1"/>
          </p:cNvPicPr>
          <p:nvPr/>
        </p:nvPicPr>
        <p:blipFill>
          <a:blip r:embed="rId3"/>
          <a:stretch>
            <a:fillRect/>
          </a:stretch>
        </p:blipFill>
        <p:spPr>
          <a:xfrm>
            <a:off x="154235" y="1339925"/>
            <a:ext cx="4204433" cy="3143940"/>
          </a:xfrm>
          <a:prstGeom prst="rect">
            <a:avLst/>
          </a:prstGeom>
        </p:spPr>
      </p:pic>
      <p:sp>
        <p:nvSpPr>
          <p:cNvPr id="4" name="Content Placeholder 2">
            <a:extLst>
              <a:ext uri="{FF2B5EF4-FFF2-40B4-BE49-F238E27FC236}">
                <a16:creationId xmlns:a16="http://schemas.microsoft.com/office/drawing/2014/main" id="{34E64536-EDA9-C04F-8D59-B2ABD81404EF}"/>
              </a:ext>
            </a:extLst>
          </p:cNvPr>
          <p:cNvSpPr txBox="1">
            <a:spLocks/>
          </p:cNvSpPr>
          <p:nvPr/>
        </p:nvSpPr>
        <p:spPr>
          <a:xfrm>
            <a:off x="4186409" y="918851"/>
            <a:ext cx="4957591" cy="4824911"/>
          </a:xfrm>
          <a:prstGeom prst="rect">
            <a:avLst/>
          </a:prstGeom>
        </p:spPr>
        <p:txBody>
          <a:bodyPr/>
          <a:lstStyle>
            <a:lvl1pPr marL="280988" indent="-280988" algn="l" defTabSz="914400" rtl="0" eaLnBrk="1" latinLnBrk="0" hangingPunct="1">
              <a:lnSpc>
                <a:spcPct val="100000"/>
              </a:lnSpc>
              <a:spcBef>
                <a:spcPts val="1200"/>
              </a:spcBef>
              <a:spcAft>
                <a:spcPts val="600"/>
              </a:spcAft>
              <a:buClr>
                <a:schemeClr val="accent2"/>
              </a:buClr>
              <a:buFont typeface="Arial" panose="020B0604020202020204" pitchFamily="34" charset="0"/>
              <a:buChar char="•"/>
              <a:defRPr lang="en-US" sz="2000" kern="1200" dirty="0" smtClean="0">
                <a:solidFill>
                  <a:schemeClr val="tx1"/>
                </a:solidFill>
                <a:latin typeface="+mn-lt"/>
                <a:ea typeface="+mn-ea"/>
                <a:cs typeface="+mn-cs"/>
              </a:defRPr>
            </a:lvl1pPr>
            <a:lvl2pPr marL="574675" indent="-293688" algn="l" defTabSz="914400" rtl="0" eaLnBrk="1" latinLnBrk="0" hangingPunct="1">
              <a:lnSpc>
                <a:spcPct val="95000"/>
              </a:lnSpc>
              <a:spcBef>
                <a:spcPct val="20000"/>
              </a:spcBef>
              <a:spcAft>
                <a:spcPts val="800"/>
              </a:spcAft>
              <a:buFontTx/>
              <a:buChar char="‒"/>
              <a:defRPr lang="en-US" sz="1800" kern="1200" dirty="0" smtClean="0">
                <a:solidFill>
                  <a:schemeClr val="tx1"/>
                </a:solidFill>
                <a:latin typeface="+mn-lt"/>
                <a:ea typeface="+mn-ea"/>
                <a:cs typeface="+mn-cs"/>
              </a:defRPr>
            </a:lvl2pPr>
            <a:lvl3pPr marL="855663" indent="-280988" algn="l" defTabSz="914400" rtl="0" eaLnBrk="1" latinLnBrk="0" hangingPunct="1">
              <a:lnSpc>
                <a:spcPct val="95000"/>
              </a:lnSpc>
              <a:spcBef>
                <a:spcPts val="0"/>
              </a:spcBef>
              <a:spcAft>
                <a:spcPts val="800"/>
              </a:spcAft>
              <a:buFontTx/>
              <a:buChar char="‒"/>
              <a:defRPr lang="en-US" sz="1600" kern="1200" dirty="0" smtClean="0">
                <a:solidFill>
                  <a:schemeClr val="tx1"/>
                </a:solidFill>
                <a:latin typeface="+mn-lt"/>
                <a:ea typeface="+mn-ea"/>
                <a:cs typeface="+mn-cs"/>
              </a:defRPr>
            </a:lvl3pPr>
            <a:lvl4pPr marL="1090613" indent="-234950" algn="l" defTabSz="914400" rtl="0" eaLnBrk="1" latinLnBrk="0" hangingPunct="1">
              <a:lnSpc>
                <a:spcPct val="95000"/>
              </a:lnSpc>
              <a:spcBef>
                <a:spcPts val="0"/>
              </a:spcBef>
              <a:spcAft>
                <a:spcPts val="800"/>
              </a:spcAft>
              <a:buFontTx/>
              <a:buChar char="‒"/>
              <a:defRPr lang="en-US" sz="1400" kern="1200" dirty="0" smtClean="0">
                <a:solidFill>
                  <a:schemeClr val="tx1"/>
                </a:solidFill>
                <a:latin typeface="+mn-lt"/>
                <a:ea typeface="+mn-ea"/>
                <a:cs typeface="+mn-cs"/>
              </a:defRPr>
            </a:lvl4pPr>
            <a:lvl5pPr marL="1312863" indent="-222250" algn="l" defTabSz="914400" rtl="0" eaLnBrk="1" latinLnBrk="0" hangingPunct="1">
              <a:lnSpc>
                <a:spcPct val="95000"/>
              </a:lnSpc>
              <a:spcBef>
                <a:spcPts val="0"/>
              </a:spcBef>
              <a:spcAft>
                <a:spcPts val="800"/>
              </a:spcAft>
              <a:buFontTx/>
              <a:buChar char="‒"/>
              <a:defRPr lang="en-US" sz="1800" kern="1200" dirty="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GB" sz="1800" dirty="0"/>
              <a:t>Creating a span gets you one stripe set</a:t>
            </a:r>
          </a:p>
          <a:p>
            <a:r>
              <a:rPr lang="en-GB" sz="1800" dirty="0"/>
              <a:t>Expanding a span adds a further stripe set</a:t>
            </a:r>
          </a:p>
          <a:p>
            <a:r>
              <a:rPr lang="en-GB" sz="1800" dirty="0"/>
              <a:t>Chunks reside on a stripe set, DWB attempts to balance writes across stripe sets</a:t>
            </a:r>
          </a:p>
          <a:p>
            <a:pPr lvl="1">
              <a:lnSpc>
                <a:spcPct val="100000"/>
              </a:lnSpc>
            </a:pPr>
            <a:r>
              <a:rPr lang="en-GB" sz="1600" dirty="0"/>
              <a:t>Write operations will be directed to every stripe-set on which the FS has free space.</a:t>
            </a:r>
          </a:p>
          <a:p>
            <a:pPr lvl="1">
              <a:lnSpc>
                <a:spcPct val="100000"/>
              </a:lnSpc>
            </a:pPr>
            <a:r>
              <a:rPr lang="en-GB" sz="1600" dirty="0"/>
              <a:t>If a span has &gt;1 stripe-sets and most free space is on a new stripe-set, all writes will direct there</a:t>
            </a:r>
          </a:p>
          <a:p>
            <a:r>
              <a:rPr lang="en-GB" sz="1800" dirty="0"/>
              <a:t>HDP will balance all physical writes</a:t>
            </a:r>
          </a:p>
          <a:p>
            <a:endParaRPr lang="en-GB" sz="1800" dirty="0"/>
          </a:p>
        </p:txBody>
      </p:sp>
    </p:spTree>
    <p:extLst>
      <p:ext uri="{BB962C8B-B14F-4D97-AF65-F5344CB8AC3E}">
        <p14:creationId xmlns:p14="http://schemas.microsoft.com/office/powerpoint/2010/main" val="34119697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The Span Chunk Allocator</a:t>
            </a:r>
          </a:p>
        </p:txBody>
      </p:sp>
      <p:sp>
        <p:nvSpPr>
          <p:cNvPr id="3" name="Content Placeholder 2"/>
          <p:cNvSpPr>
            <a:spLocks noGrp="1"/>
          </p:cNvSpPr>
          <p:nvPr>
            <p:ph idx="1"/>
          </p:nvPr>
        </p:nvSpPr>
        <p:spPr>
          <a:xfrm>
            <a:off x="264160" y="784724"/>
            <a:ext cx="8584006" cy="4534575"/>
          </a:xfrm>
        </p:spPr>
        <p:txBody>
          <a:bodyPr/>
          <a:lstStyle/>
          <a:p>
            <a:r>
              <a:rPr lang="en-GB" dirty="0"/>
              <a:t>An algorithm that manages the expansion of file systems across multiple stripe-sets</a:t>
            </a:r>
          </a:p>
          <a:p>
            <a:r>
              <a:rPr lang="en-GB" dirty="0"/>
              <a:t>Balances four goals</a:t>
            </a:r>
          </a:p>
          <a:p>
            <a:pPr lvl="1"/>
            <a:r>
              <a:rPr lang="en-GB" dirty="0"/>
              <a:t>Attempts to clump together consecutive chunks from the same file system so as to maximize efficiency / scalability and achieve 60,000 chunks per file system</a:t>
            </a:r>
          </a:p>
          <a:p>
            <a:pPr lvl="1"/>
            <a:r>
              <a:rPr lang="en-GB" dirty="0"/>
              <a:t>Attempts to balances total load across stripe sets</a:t>
            </a:r>
          </a:p>
          <a:p>
            <a:pPr lvl="1"/>
            <a:r>
              <a:rPr lang="en-GB" dirty="0"/>
              <a:t>Attempts to spreads each file system across all stripe sets</a:t>
            </a:r>
          </a:p>
          <a:p>
            <a:pPr lvl="1"/>
            <a:r>
              <a:rPr lang="en-GB" dirty="0"/>
              <a:t>Attempt to draws new chunks from as many stripe sets as possible</a:t>
            </a:r>
          </a:p>
          <a:p>
            <a:r>
              <a:rPr lang="en-GB" dirty="0"/>
              <a:t>See the `span-tune-allocator’ man page for more details</a:t>
            </a:r>
          </a:p>
          <a:p>
            <a:endParaRPr lang="en-GB" dirty="0"/>
          </a:p>
        </p:txBody>
      </p:sp>
    </p:spTree>
    <p:extLst>
      <p:ext uri="{BB962C8B-B14F-4D97-AF65-F5344CB8AC3E}">
        <p14:creationId xmlns:p14="http://schemas.microsoft.com/office/powerpoint/2010/main" val="17419520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B1B0466-BC41-8C43-8E05-30CE99A822E0}"/>
              </a:ext>
            </a:extLst>
          </p:cNvPr>
          <p:cNvSpPr>
            <a:spLocks noGrp="1"/>
          </p:cNvSpPr>
          <p:nvPr>
            <p:ph idx="1"/>
          </p:nvPr>
        </p:nvSpPr>
        <p:spPr>
          <a:xfrm>
            <a:off x="264160" y="836204"/>
            <a:ext cx="8676640" cy="4474045"/>
          </a:xfrm>
        </p:spPr>
        <p:txBody>
          <a:bodyPr/>
          <a:lstStyle/>
          <a:p>
            <a:r>
              <a:rPr lang="en-US" dirty="0"/>
              <a:t>Hitachi NAS provides a feature known as TFS or “Tiered File System” </a:t>
            </a:r>
          </a:p>
          <a:p>
            <a:endParaRPr lang="en-US" dirty="0"/>
          </a:p>
          <a:p>
            <a:endParaRPr lang="en-US" dirty="0"/>
          </a:p>
          <a:p>
            <a:endParaRPr lang="en-US" dirty="0"/>
          </a:p>
          <a:p>
            <a:r>
              <a:rPr lang="en-US" dirty="0"/>
              <a:t>When configuring the span, a Stripe Set is created for each tier</a:t>
            </a:r>
          </a:p>
          <a:p>
            <a:pPr lvl="1"/>
            <a:r>
              <a:rPr lang="en-US" dirty="0"/>
              <a:t>The metadata tier (Tier 0). Smaller capacity, typically SSD based DP Vols</a:t>
            </a:r>
          </a:p>
          <a:p>
            <a:pPr lvl="1"/>
            <a:r>
              <a:rPr lang="en-US" dirty="0"/>
              <a:t>The data tier (Tier 1). The data payload, SSD/SAS or NL-SAS DP Vols</a:t>
            </a:r>
          </a:p>
          <a:p>
            <a:r>
              <a:rPr lang="en-US" dirty="0"/>
              <a:t>Both tiers require at least 4 SDs, typically from separate DP Pools</a:t>
            </a:r>
          </a:p>
          <a:p>
            <a:endParaRPr lang="en-US" dirty="0"/>
          </a:p>
        </p:txBody>
      </p:sp>
      <p:sp>
        <p:nvSpPr>
          <p:cNvPr id="3" name="Title 2">
            <a:extLst>
              <a:ext uri="{FF2B5EF4-FFF2-40B4-BE49-F238E27FC236}">
                <a16:creationId xmlns:a16="http://schemas.microsoft.com/office/drawing/2014/main" id="{A3EFAE30-AE5D-BF4A-9BA0-87316A54D0BD}"/>
              </a:ext>
            </a:extLst>
          </p:cNvPr>
          <p:cNvSpPr>
            <a:spLocks noGrp="1"/>
          </p:cNvSpPr>
          <p:nvPr>
            <p:ph type="title"/>
          </p:nvPr>
        </p:nvSpPr>
        <p:spPr/>
        <p:txBody>
          <a:bodyPr/>
          <a:lstStyle/>
          <a:p>
            <a:r>
              <a:rPr lang="en-US" dirty="0"/>
              <a:t>Tiered File System (TFS)</a:t>
            </a:r>
          </a:p>
        </p:txBody>
      </p:sp>
      <p:grpSp>
        <p:nvGrpSpPr>
          <p:cNvPr id="4" name="Group 3">
            <a:extLst>
              <a:ext uri="{FF2B5EF4-FFF2-40B4-BE49-F238E27FC236}">
                <a16:creationId xmlns:a16="http://schemas.microsoft.com/office/drawing/2014/main" id="{0324EA92-BB1A-3C4B-B5E8-05D34D3CD66B}"/>
              </a:ext>
            </a:extLst>
          </p:cNvPr>
          <p:cNvGrpSpPr/>
          <p:nvPr/>
        </p:nvGrpSpPr>
        <p:grpSpPr>
          <a:xfrm>
            <a:off x="4977177" y="1411796"/>
            <a:ext cx="3400612" cy="1418534"/>
            <a:chOff x="955148" y="1476577"/>
            <a:chExt cx="5065477" cy="2161400"/>
          </a:xfrm>
        </p:grpSpPr>
        <p:grpSp>
          <p:nvGrpSpPr>
            <p:cNvPr id="5" name="Group 66">
              <a:extLst>
                <a:ext uri="{FF2B5EF4-FFF2-40B4-BE49-F238E27FC236}">
                  <a16:creationId xmlns:a16="http://schemas.microsoft.com/office/drawing/2014/main" id="{2C2F6C06-E0CB-FA46-B5ED-CD937000EF7E}"/>
                </a:ext>
              </a:extLst>
            </p:cNvPr>
            <p:cNvGrpSpPr>
              <a:grpSpLocks/>
            </p:cNvGrpSpPr>
            <p:nvPr/>
          </p:nvGrpSpPr>
          <p:grpSpPr bwMode="auto">
            <a:xfrm>
              <a:off x="955148" y="1476577"/>
              <a:ext cx="3946353" cy="2161400"/>
              <a:chOff x="-722538" y="871268"/>
              <a:chExt cx="6260696" cy="5055079"/>
            </a:xfrm>
          </p:grpSpPr>
          <p:sp>
            <p:nvSpPr>
              <p:cNvPr id="25" name="Rounded Rectangle 64">
                <a:extLst>
                  <a:ext uri="{FF2B5EF4-FFF2-40B4-BE49-F238E27FC236}">
                    <a16:creationId xmlns:a16="http://schemas.microsoft.com/office/drawing/2014/main" id="{AC9BB38E-AD1B-5D41-8F70-696E53D090D9}"/>
                  </a:ext>
                </a:extLst>
              </p:cNvPr>
              <p:cNvSpPr>
                <a:spLocks noChangeArrowheads="1"/>
              </p:cNvSpPr>
              <p:nvPr/>
            </p:nvSpPr>
            <p:spPr bwMode="auto">
              <a:xfrm>
                <a:off x="172528" y="871268"/>
                <a:ext cx="5365630" cy="5055079"/>
              </a:xfrm>
              <a:prstGeom prst="roundRect">
                <a:avLst>
                  <a:gd name="adj" fmla="val 16667"/>
                </a:avLst>
              </a:prstGeom>
              <a:ln>
                <a:headEnd/>
                <a:tailEnd/>
              </a:ln>
            </p:spPr>
            <p:style>
              <a:lnRef idx="2">
                <a:schemeClr val="accent1"/>
              </a:lnRef>
              <a:fillRef idx="1">
                <a:schemeClr val="lt1"/>
              </a:fillRef>
              <a:effectRef idx="0">
                <a:schemeClr val="accent1"/>
              </a:effectRef>
              <a:fontRef idx="minor">
                <a:schemeClr val="dk1"/>
              </a:fontRef>
            </p:style>
            <p:txBody>
              <a:bodyPr/>
              <a:lstStyle/>
              <a:p>
                <a:pPr marL="381000" indent="-381000">
                  <a:tabLst>
                    <a:tab pos="2246313" algn="l"/>
                    <a:tab pos="2514600" algn="l"/>
                  </a:tabLst>
                </a:pPr>
                <a:endParaRPr lang="en-US" sz="1050" dirty="0">
                  <a:solidFill>
                    <a:prstClr val="black"/>
                  </a:solidFill>
                </a:endParaRPr>
              </a:p>
            </p:txBody>
          </p:sp>
          <p:sp>
            <p:nvSpPr>
              <p:cNvPr id="26" name="Text Box 101">
                <a:extLst>
                  <a:ext uri="{FF2B5EF4-FFF2-40B4-BE49-F238E27FC236}">
                    <a16:creationId xmlns:a16="http://schemas.microsoft.com/office/drawing/2014/main" id="{52C7ACB4-FB54-B449-AB0B-C0750732025F}"/>
                  </a:ext>
                </a:extLst>
              </p:cNvPr>
              <p:cNvSpPr txBox="1">
                <a:spLocks noChangeArrowheads="1"/>
              </p:cNvSpPr>
              <p:nvPr>
                <p:custDataLst>
                  <p:tags r:id="rId1"/>
                </p:custDataLst>
              </p:nvPr>
            </p:nvSpPr>
            <p:spPr bwMode="auto">
              <a:xfrm>
                <a:off x="-722538" y="2888804"/>
                <a:ext cx="1807946" cy="904853"/>
              </a:xfrm>
              <a:prstGeom prst="rect">
                <a:avLst/>
              </a:prstGeom>
              <a:ln>
                <a:headEnd/>
                <a:tailEnd/>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altLang="zh-CN" sz="1050" b="1" dirty="0">
                    <a:solidFill>
                      <a:srgbClr val="5F5F5F"/>
                    </a:solidFill>
                    <a:latin typeface="Courier New" panose="02070309020205020404" pitchFamily="49" charset="0"/>
                    <a:ea typeface="SimSun" pitchFamily="2" charset="-122"/>
                    <a:cs typeface="Courier New" panose="02070309020205020404" pitchFamily="49" charset="0"/>
                  </a:rPr>
                  <a:t>Span</a:t>
                </a:r>
              </a:p>
            </p:txBody>
          </p:sp>
        </p:grpSp>
        <p:grpSp>
          <p:nvGrpSpPr>
            <p:cNvPr id="6" name="Group 48">
              <a:extLst>
                <a:ext uri="{FF2B5EF4-FFF2-40B4-BE49-F238E27FC236}">
                  <a16:creationId xmlns:a16="http://schemas.microsoft.com/office/drawing/2014/main" id="{F004DE52-63A4-D94B-B43E-3684DC0A25D4}"/>
                </a:ext>
              </a:extLst>
            </p:cNvPr>
            <p:cNvGrpSpPr/>
            <p:nvPr/>
          </p:nvGrpSpPr>
          <p:grpSpPr>
            <a:xfrm>
              <a:off x="4302584" y="1509647"/>
              <a:ext cx="1718041" cy="502879"/>
              <a:chOff x="5562596" y="2321830"/>
              <a:chExt cx="1718041" cy="670505"/>
            </a:xfrm>
          </p:grpSpPr>
          <p:pic>
            <p:nvPicPr>
              <p:cNvPr id="23" name="Picture 22" descr="ELEMENT_06.png">
                <a:extLst>
                  <a:ext uri="{FF2B5EF4-FFF2-40B4-BE49-F238E27FC236}">
                    <a16:creationId xmlns:a16="http://schemas.microsoft.com/office/drawing/2014/main" id="{2496F61B-340F-7C41-9586-5649EB6D1801}"/>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5562596" y="2321830"/>
                <a:ext cx="1627497" cy="670505"/>
              </a:xfrm>
              <a:prstGeom prst="rect">
                <a:avLst/>
              </a:prstGeom>
            </p:spPr>
          </p:pic>
          <p:sp>
            <p:nvSpPr>
              <p:cNvPr id="24" name="TextBox 23">
                <a:extLst>
                  <a:ext uri="{FF2B5EF4-FFF2-40B4-BE49-F238E27FC236}">
                    <a16:creationId xmlns:a16="http://schemas.microsoft.com/office/drawing/2014/main" id="{2A8388CC-DC15-4E47-8D17-133562C73A86}"/>
                  </a:ext>
                </a:extLst>
              </p:cNvPr>
              <p:cNvSpPr txBox="1"/>
              <p:nvPr/>
            </p:nvSpPr>
            <p:spPr>
              <a:xfrm>
                <a:off x="5815607" y="2394465"/>
                <a:ext cx="1465030" cy="515850"/>
              </a:xfrm>
              <a:prstGeom prst="rect">
                <a:avLst/>
              </a:prstGeom>
              <a:noFill/>
              <a:ln>
                <a:noFill/>
              </a:ln>
            </p:spPr>
            <p:txBody>
              <a:bodyPr wrap="square" rtlCol="0">
                <a:spAutoFit/>
              </a:bodyPr>
              <a:lstStyle/>
              <a:p>
                <a:pPr>
                  <a:buNone/>
                </a:pPr>
                <a:r>
                  <a:rPr lang="en-US" sz="1050" dirty="0">
                    <a:solidFill>
                      <a:schemeClr val="bg1"/>
                    </a:solidFill>
                    <a:effectLst>
                      <a:outerShdw blurRad="38100" dist="38100" dir="2700000" algn="tl">
                        <a:srgbClr val="000000">
                          <a:alpha val="43137"/>
                        </a:srgbClr>
                      </a:outerShdw>
                    </a:effectLst>
                    <a:latin typeface="Apple Symbols" panose="02000000000000000000" pitchFamily="2" charset="-79"/>
                    <a:ea typeface="Apple Symbols" panose="02000000000000000000" pitchFamily="2" charset="-79"/>
                    <a:cs typeface="Apple Symbols" panose="02000000000000000000" pitchFamily="2" charset="-79"/>
                  </a:rPr>
                  <a:t>T0 : DP Vols</a:t>
                </a:r>
              </a:p>
            </p:txBody>
          </p:sp>
        </p:grpSp>
        <p:grpSp>
          <p:nvGrpSpPr>
            <p:cNvPr id="7" name="Group 49">
              <a:extLst>
                <a:ext uri="{FF2B5EF4-FFF2-40B4-BE49-F238E27FC236}">
                  <a16:creationId xmlns:a16="http://schemas.microsoft.com/office/drawing/2014/main" id="{01F41356-DBF1-3B46-8DA6-B793C91A95D0}"/>
                </a:ext>
              </a:extLst>
            </p:cNvPr>
            <p:cNvGrpSpPr/>
            <p:nvPr/>
          </p:nvGrpSpPr>
          <p:grpSpPr>
            <a:xfrm>
              <a:off x="4274682" y="2463245"/>
              <a:ext cx="1627498" cy="502879"/>
              <a:chOff x="5536968" y="3481024"/>
              <a:chExt cx="1627498" cy="670505"/>
            </a:xfrm>
          </p:grpSpPr>
          <p:pic>
            <p:nvPicPr>
              <p:cNvPr id="21" name="Picture 20" descr="ELEMENT_06.png">
                <a:extLst>
                  <a:ext uri="{FF2B5EF4-FFF2-40B4-BE49-F238E27FC236}">
                    <a16:creationId xmlns:a16="http://schemas.microsoft.com/office/drawing/2014/main" id="{0465C925-29D0-BD4B-9A4E-4B5B39902245}"/>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5536968" y="3481024"/>
                <a:ext cx="1627498" cy="670505"/>
              </a:xfrm>
              <a:prstGeom prst="rect">
                <a:avLst/>
              </a:prstGeom>
            </p:spPr>
          </p:pic>
          <p:sp>
            <p:nvSpPr>
              <p:cNvPr id="22" name="TextBox 21">
                <a:extLst>
                  <a:ext uri="{FF2B5EF4-FFF2-40B4-BE49-F238E27FC236}">
                    <a16:creationId xmlns:a16="http://schemas.microsoft.com/office/drawing/2014/main" id="{D474FEB7-02C6-7047-8CC9-9CBBFA294094}"/>
                  </a:ext>
                </a:extLst>
              </p:cNvPr>
              <p:cNvSpPr txBox="1"/>
              <p:nvPr/>
            </p:nvSpPr>
            <p:spPr>
              <a:xfrm>
                <a:off x="5898551" y="3564778"/>
                <a:ext cx="1265913" cy="515851"/>
              </a:xfrm>
              <a:prstGeom prst="rect">
                <a:avLst/>
              </a:prstGeom>
              <a:noFill/>
              <a:ln>
                <a:noFill/>
              </a:ln>
            </p:spPr>
            <p:txBody>
              <a:bodyPr wrap="square" rtlCol="0">
                <a:spAutoFit/>
              </a:bodyPr>
              <a:lstStyle/>
              <a:p>
                <a:pPr>
                  <a:buNone/>
                </a:pPr>
                <a:r>
                  <a:rPr lang="en-US" sz="1050" dirty="0">
                    <a:solidFill>
                      <a:schemeClr val="bg1"/>
                    </a:solidFill>
                    <a:effectLst>
                      <a:outerShdw blurRad="38100" dist="38100" dir="2700000" algn="tl">
                        <a:srgbClr val="000000">
                          <a:alpha val="43137"/>
                        </a:srgbClr>
                      </a:outerShdw>
                    </a:effectLst>
                    <a:latin typeface="Apple Symbols" panose="02000000000000000000" pitchFamily="2" charset="-79"/>
                    <a:ea typeface="Apple Symbols" panose="02000000000000000000" pitchFamily="2" charset="-79"/>
                    <a:cs typeface="Apple Symbols" panose="02000000000000000000" pitchFamily="2" charset="-79"/>
                  </a:rPr>
                  <a:t>T1: DP Vols</a:t>
                </a:r>
              </a:p>
            </p:txBody>
          </p:sp>
        </p:grpSp>
        <p:grpSp>
          <p:nvGrpSpPr>
            <p:cNvPr id="8" name="Group 51">
              <a:extLst>
                <a:ext uri="{FF2B5EF4-FFF2-40B4-BE49-F238E27FC236}">
                  <a16:creationId xmlns:a16="http://schemas.microsoft.com/office/drawing/2014/main" id="{656483B5-AD6E-7A4B-9D52-EB858D939AC5}"/>
                </a:ext>
              </a:extLst>
            </p:cNvPr>
            <p:cNvGrpSpPr/>
            <p:nvPr/>
          </p:nvGrpSpPr>
          <p:grpSpPr>
            <a:xfrm>
              <a:off x="2114591" y="2272892"/>
              <a:ext cx="2133600" cy="1314450"/>
              <a:chOff x="3345859" y="3153808"/>
              <a:chExt cx="2133600" cy="1752600"/>
            </a:xfrm>
          </p:grpSpPr>
          <p:grpSp>
            <p:nvGrpSpPr>
              <p:cNvPr id="12" name="Group 18">
                <a:extLst>
                  <a:ext uri="{FF2B5EF4-FFF2-40B4-BE49-F238E27FC236}">
                    <a16:creationId xmlns:a16="http://schemas.microsoft.com/office/drawing/2014/main" id="{6269E3B0-71F0-5348-909B-73D575D8BF6E}"/>
                  </a:ext>
                </a:extLst>
              </p:cNvPr>
              <p:cNvGrpSpPr>
                <a:grpSpLocks/>
              </p:cNvGrpSpPr>
              <p:nvPr/>
            </p:nvGrpSpPr>
            <p:grpSpPr bwMode="auto">
              <a:xfrm>
                <a:off x="3345859" y="3153808"/>
                <a:ext cx="2133600" cy="1752600"/>
                <a:chOff x="1200" y="2160"/>
                <a:chExt cx="1344" cy="1104"/>
              </a:xfrm>
            </p:grpSpPr>
            <p:grpSp>
              <p:nvGrpSpPr>
                <p:cNvPr id="14" name="Group 19">
                  <a:extLst>
                    <a:ext uri="{FF2B5EF4-FFF2-40B4-BE49-F238E27FC236}">
                      <a16:creationId xmlns:a16="http://schemas.microsoft.com/office/drawing/2014/main" id="{83D92B62-D345-7344-8EF1-FA7CB640314D}"/>
                    </a:ext>
                  </a:extLst>
                </p:cNvPr>
                <p:cNvGrpSpPr>
                  <a:grpSpLocks/>
                </p:cNvGrpSpPr>
                <p:nvPr/>
              </p:nvGrpSpPr>
              <p:grpSpPr bwMode="auto">
                <a:xfrm>
                  <a:off x="1248" y="2160"/>
                  <a:ext cx="1296" cy="1104"/>
                  <a:chOff x="3216" y="3024"/>
                  <a:chExt cx="1296" cy="1104"/>
                </a:xfrm>
              </p:grpSpPr>
              <p:sp>
                <p:nvSpPr>
                  <p:cNvPr id="16" name="AutoShape 20">
                    <a:extLst>
                      <a:ext uri="{FF2B5EF4-FFF2-40B4-BE49-F238E27FC236}">
                        <a16:creationId xmlns:a16="http://schemas.microsoft.com/office/drawing/2014/main" id="{A86B81ED-982C-1E4A-B485-DA085A129C09}"/>
                      </a:ext>
                    </a:extLst>
                  </p:cNvPr>
                  <p:cNvSpPr>
                    <a:spLocks noChangeArrowheads="1"/>
                  </p:cNvSpPr>
                  <p:nvPr/>
                </p:nvSpPr>
                <p:spPr bwMode="auto">
                  <a:xfrm>
                    <a:off x="3216" y="3792"/>
                    <a:ext cx="1296" cy="336"/>
                  </a:xfrm>
                  <a:prstGeom prst="can">
                    <a:avLst>
                      <a:gd name="adj" fmla="val 32403"/>
                    </a:avLst>
                  </a:prstGeom>
                  <a:gradFill rotWithShape="1">
                    <a:gsLst>
                      <a:gs pos="0">
                        <a:srgbClr val="1E478A">
                          <a:gamma/>
                          <a:shade val="46275"/>
                          <a:invGamma/>
                        </a:srgbClr>
                      </a:gs>
                      <a:gs pos="50000">
                        <a:srgbClr val="1E478A"/>
                      </a:gs>
                      <a:gs pos="100000">
                        <a:srgbClr val="1E478A">
                          <a:gamma/>
                          <a:shade val="46275"/>
                          <a:invGamma/>
                        </a:srgbClr>
                      </a:gs>
                    </a:gsLst>
                    <a:lin ang="0" scaled="1"/>
                  </a:gradFill>
                  <a:ln w="9525">
                    <a:noFill/>
                    <a:round/>
                    <a:headEnd/>
                    <a:tailEnd/>
                  </a:ln>
                  <a:effectLst>
                    <a:outerShdw blurRad="63500" dist="40161" dir="11906097" sx="75000" sy="75000" algn="tl" rotWithShape="0">
                      <a:schemeClr val="bg2">
                        <a:alpha val="50000"/>
                      </a:schemeClr>
                    </a:outerShdw>
                  </a:effectLst>
                </p:spPr>
                <p:txBody>
                  <a:bodyPr wrap="none" anchor="ctr"/>
                  <a:lstStyle/>
                  <a:p>
                    <a:pPr algn="ctr">
                      <a:defRPr/>
                    </a:pPr>
                    <a:endParaRPr kumimoji="0" lang="en-US" sz="500" dirty="0">
                      <a:solidFill>
                        <a:schemeClr val="bg1"/>
                      </a:solidFill>
                    </a:endParaRPr>
                  </a:p>
                  <a:p>
                    <a:pPr algn="ctr">
                      <a:defRPr/>
                    </a:pPr>
                    <a:endParaRPr kumimoji="0" lang="en-US" sz="800" b="1" dirty="0">
                      <a:solidFill>
                        <a:schemeClr val="bg1"/>
                      </a:solidFill>
                      <a:latin typeface="Myriad Pro"/>
                    </a:endParaRPr>
                  </a:p>
                  <a:p>
                    <a:pPr algn="ctr">
                      <a:defRPr/>
                    </a:pPr>
                    <a:endParaRPr kumimoji="0" lang="en-US" sz="800" b="1" dirty="0">
                      <a:solidFill>
                        <a:schemeClr val="bg1"/>
                      </a:solidFill>
                      <a:latin typeface="Myriad Pro"/>
                    </a:endParaRPr>
                  </a:p>
                </p:txBody>
              </p:sp>
              <p:sp>
                <p:nvSpPr>
                  <p:cNvPr id="17" name="AutoShape 21">
                    <a:extLst>
                      <a:ext uri="{FF2B5EF4-FFF2-40B4-BE49-F238E27FC236}">
                        <a16:creationId xmlns:a16="http://schemas.microsoft.com/office/drawing/2014/main" id="{8F575AB3-30DA-5146-8690-905354906207}"/>
                      </a:ext>
                    </a:extLst>
                  </p:cNvPr>
                  <p:cNvSpPr>
                    <a:spLocks noChangeArrowheads="1"/>
                  </p:cNvSpPr>
                  <p:nvPr/>
                </p:nvSpPr>
                <p:spPr bwMode="auto">
                  <a:xfrm>
                    <a:off x="3216" y="3600"/>
                    <a:ext cx="1296" cy="336"/>
                  </a:xfrm>
                  <a:prstGeom prst="can">
                    <a:avLst>
                      <a:gd name="adj" fmla="val 32403"/>
                    </a:avLst>
                  </a:prstGeom>
                  <a:gradFill rotWithShape="1">
                    <a:gsLst>
                      <a:gs pos="0">
                        <a:srgbClr val="1E478A">
                          <a:gamma/>
                          <a:shade val="46275"/>
                          <a:invGamma/>
                        </a:srgbClr>
                      </a:gs>
                      <a:gs pos="50000">
                        <a:srgbClr val="1E478A"/>
                      </a:gs>
                      <a:gs pos="100000">
                        <a:srgbClr val="1E478A">
                          <a:gamma/>
                          <a:shade val="46275"/>
                          <a:invGamma/>
                        </a:srgbClr>
                      </a:gs>
                    </a:gsLst>
                    <a:lin ang="0" scaled="1"/>
                  </a:gradFill>
                  <a:ln w="9525">
                    <a:noFill/>
                    <a:round/>
                    <a:headEnd/>
                    <a:tailEnd/>
                  </a:ln>
                  <a:effectLst>
                    <a:outerShdw blurRad="63500" dist="40161" dir="11906097" sx="75000" sy="75000" algn="tl" rotWithShape="0">
                      <a:schemeClr val="bg2">
                        <a:alpha val="50000"/>
                      </a:schemeClr>
                    </a:outerShdw>
                  </a:effectLst>
                </p:spPr>
                <p:txBody>
                  <a:bodyPr wrap="none" anchor="ctr"/>
                  <a:lstStyle/>
                  <a:p>
                    <a:pPr algn="ctr">
                      <a:defRPr/>
                    </a:pPr>
                    <a:endParaRPr kumimoji="0" lang="en-US" sz="500" dirty="0">
                      <a:solidFill>
                        <a:schemeClr val="bg1"/>
                      </a:solidFill>
                    </a:endParaRPr>
                  </a:p>
                  <a:p>
                    <a:pPr algn="ctr">
                      <a:defRPr/>
                    </a:pPr>
                    <a:endParaRPr kumimoji="0" lang="en-US" sz="800" b="1" dirty="0">
                      <a:solidFill>
                        <a:schemeClr val="bg1"/>
                      </a:solidFill>
                      <a:latin typeface="Myriad Pro"/>
                    </a:endParaRPr>
                  </a:p>
                  <a:p>
                    <a:pPr algn="ctr">
                      <a:defRPr/>
                    </a:pPr>
                    <a:endParaRPr kumimoji="0" lang="en-US" sz="800" b="1" dirty="0">
                      <a:solidFill>
                        <a:schemeClr val="bg1"/>
                      </a:solidFill>
                      <a:latin typeface="Myriad Pro"/>
                    </a:endParaRPr>
                  </a:p>
                </p:txBody>
              </p:sp>
              <p:sp>
                <p:nvSpPr>
                  <p:cNvPr id="18" name="AutoShape 22">
                    <a:extLst>
                      <a:ext uri="{FF2B5EF4-FFF2-40B4-BE49-F238E27FC236}">
                        <a16:creationId xmlns:a16="http://schemas.microsoft.com/office/drawing/2014/main" id="{81A51D8A-C5D8-D24B-AA46-135EE54EDE41}"/>
                      </a:ext>
                    </a:extLst>
                  </p:cNvPr>
                  <p:cNvSpPr>
                    <a:spLocks noChangeArrowheads="1"/>
                  </p:cNvSpPr>
                  <p:nvPr/>
                </p:nvSpPr>
                <p:spPr bwMode="auto">
                  <a:xfrm>
                    <a:off x="3216" y="3408"/>
                    <a:ext cx="1296" cy="336"/>
                  </a:xfrm>
                  <a:prstGeom prst="can">
                    <a:avLst>
                      <a:gd name="adj" fmla="val 32403"/>
                    </a:avLst>
                  </a:prstGeom>
                  <a:gradFill rotWithShape="1">
                    <a:gsLst>
                      <a:gs pos="0">
                        <a:srgbClr val="1E478A">
                          <a:gamma/>
                          <a:shade val="46275"/>
                          <a:invGamma/>
                        </a:srgbClr>
                      </a:gs>
                      <a:gs pos="50000">
                        <a:srgbClr val="1E478A"/>
                      </a:gs>
                      <a:gs pos="100000">
                        <a:srgbClr val="1E478A">
                          <a:gamma/>
                          <a:shade val="46275"/>
                          <a:invGamma/>
                        </a:srgbClr>
                      </a:gs>
                    </a:gsLst>
                    <a:lin ang="0" scaled="1"/>
                  </a:gradFill>
                  <a:ln w="9525">
                    <a:noFill/>
                    <a:round/>
                    <a:headEnd/>
                    <a:tailEnd/>
                  </a:ln>
                  <a:effectLst>
                    <a:outerShdw blurRad="63500" dist="40161" dir="11906097" sx="75000" sy="75000" algn="tl" rotWithShape="0">
                      <a:schemeClr val="bg2">
                        <a:alpha val="50000"/>
                      </a:schemeClr>
                    </a:outerShdw>
                  </a:effectLst>
                </p:spPr>
                <p:txBody>
                  <a:bodyPr wrap="none" anchor="ctr"/>
                  <a:lstStyle/>
                  <a:p>
                    <a:pPr algn="ctr">
                      <a:defRPr/>
                    </a:pPr>
                    <a:endParaRPr kumimoji="0" lang="en-US" sz="500" dirty="0">
                      <a:solidFill>
                        <a:schemeClr val="bg1"/>
                      </a:solidFill>
                    </a:endParaRPr>
                  </a:p>
                  <a:p>
                    <a:pPr algn="ctr">
                      <a:defRPr/>
                    </a:pPr>
                    <a:endParaRPr kumimoji="0" lang="en-US" sz="800" b="1" dirty="0">
                      <a:solidFill>
                        <a:schemeClr val="bg1"/>
                      </a:solidFill>
                      <a:latin typeface="Myriad Pro"/>
                    </a:endParaRPr>
                  </a:p>
                  <a:p>
                    <a:pPr algn="ctr">
                      <a:defRPr/>
                    </a:pPr>
                    <a:endParaRPr kumimoji="0" lang="en-US" sz="800" b="1" dirty="0">
                      <a:solidFill>
                        <a:schemeClr val="bg1"/>
                      </a:solidFill>
                      <a:latin typeface="Myriad Pro"/>
                    </a:endParaRPr>
                  </a:p>
                  <a:p>
                    <a:pPr algn="ctr">
                      <a:defRPr/>
                    </a:pPr>
                    <a:endParaRPr kumimoji="0" lang="en-US" sz="800" b="1" dirty="0">
                      <a:solidFill>
                        <a:schemeClr val="bg1"/>
                      </a:solidFill>
                      <a:latin typeface="Myriad Pro"/>
                    </a:endParaRPr>
                  </a:p>
                </p:txBody>
              </p:sp>
              <p:sp>
                <p:nvSpPr>
                  <p:cNvPr id="19" name="AutoShape 23">
                    <a:extLst>
                      <a:ext uri="{FF2B5EF4-FFF2-40B4-BE49-F238E27FC236}">
                        <a16:creationId xmlns:a16="http://schemas.microsoft.com/office/drawing/2014/main" id="{B46B928A-3CBD-8645-A8F0-10C0377D8822}"/>
                      </a:ext>
                    </a:extLst>
                  </p:cNvPr>
                  <p:cNvSpPr>
                    <a:spLocks noChangeArrowheads="1"/>
                  </p:cNvSpPr>
                  <p:nvPr/>
                </p:nvSpPr>
                <p:spPr bwMode="auto">
                  <a:xfrm>
                    <a:off x="3216" y="3216"/>
                    <a:ext cx="1296" cy="336"/>
                  </a:xfrm>
                  <a:prstGeom prst="can">
                    <a:avLst>
                      <a:gd name="adj" fmla="val 32403"/>
                    </a:avLst>
                  </a:prstGeom>
                  <a:gradFill rotWithShape="1">
                    <a:gsLst>
                      <a:gs pos="0">
                        <a:srgbClr val="1E478A">
                          <a:gamma/>
                          <a:shade val="46275"/>
                          <a:invGamma/>
                        </a:srgbClr>
                      </a:gs>
                      <a:gs pos="50000">
                        <a:srgbClr val="1E478A"/>
                      </a:gs>
                      <a:gs pos="100000">
                        <a:srgbClr val="1E478A">
                          <a:gamma/>
                          <a:shade val="46275"/>
                          <a:invGamma/>
                        </a:srgbClr>
                      </a:gs>
                    </a:gsLst>
                    <a:lin ang="0" scaled="1"/>
                  </a:gradFill>
                  <a:ln w="9525">
                    <a:noFill/>
                    <a:round/>
                    <a:headEnd/>
                    <a:tailEnd/>
                  </a:ln>
                  <a:effectLst>
                    <a:outerShdw blurRad="63500" dist="40161" dir="11906097" sx="75000" sy="75000" algn="tl" rotWithShape="0">
                      <a:schemeClr val="bg2">
                        <a:alpha val="50000"/>
                      </a:schemeClr>
                    </a:outerShdw>
                  </a:effectLst>
                </p:spPr>
                <p:txBody>
                  <a:bodyPr wrap="none" anchor="ctr"/>
                  <a:lstStyle/>
                  <a:p>
                    <a:pPr algn="ctr">
                      <a:defRPr/>
                    </a:pPr>
                    <a:endParaRPr kumimoji="0" lang="en-US" sz="500" dirty="0">
                      <a:solidFill>
                        <a:schemeClr val="bg1"/>
                      </a:solidFill>
                    </a:endParaRPr>
                  </a:p>
                  <a:p>
                    <a:pPr algn="ctr">
                      <a:defRPr/>
                    </a:pPr>
                    <a:endParaRPr kumimoji="0" lang="en-US" sz="800" b="1" dirty="0">
                      <a:solidFill>
                        <a:schemeClr val="bg1"/>
                      </a:solidFill>
                      <a:latin typeface="Myriad Pro"/>
                    </a:endParaRPr>
                  </a:p>
                  <a:p>
                    <a:pPr algn="ctr">
                      <a:defRPr/>
                    </a:pPr>
                    <a:endParaRPr kumimoji="0" lang="en-US" sz="800" b="1" dirty="0">
                      <a:solidFill>
                        <a:schemeClr val="bg1"/>
                      </a:solidFill>
                      <a:latin typeface="Myriad Pro"/>
                    </a:endParaRPr>
                  </a:p>
                </p:txBody>
              </p:sp>
              <p:sp>
                <p:nvSpPr>
                  <p:cNvPr id="20" name="AutoShape 24">
                    <a:extLst>
                      <a:ext uri="{FF2B5EF4-FFF2-40B4-BE49-F238E27FC236}">
                        <a16:creationId xmlns:a16="http://schemas.microsoft.com/office/drawing/2014/main" id="{D82DF8A3-8920-7644-9373-FDB7F783E14A}"/>
                      </a:ext>
                    </a:extLst>
                  </p:cNvPr>
                  <p:cNvSpPr>
                    <a:spLocks noChangeArrowheads="1"/>
                  </p:cNvSpPr>
                  <p:nvPr/>
                </p:nvSpPr>
                <p:spPr bwMode="auto">
                  <a:xfrm>
                    <a:off x="3216" y="3024"/>
                    <a:ext cx="1296" cy="336"/>
                  </a:xfrm>
                  <a:prstGeom prst="can">
                    <a:avLst>
                      <a:gd name="adj" fmla="val 32403"/>
                    </a:avLst>
                  </a:prstGeom>
                  <a:gradFill rotWithShape="1">
                    <a:gsLst>
                      <a:gs pos="0">
                        <a:srgbClr val="1E478A">
                          <a:gamma/>
                          <a:shade val="46275"/>
                          <a:invGamma/>
                        </a:srgbClr>
                      </a:gs>
                      <a:gs pos="50000">
                        <a:srgbClr val="1E478A"/>
                      </a:gs>
                      <a:gs pos="100000">
                        <a:srgbClr val="1E478A">
                          <a:gamma/>
                          <a:shade val="46275"/>
                          <a:invGamma/>
                        </a:srgbClr>
                      </a:gs>
                    </a:gsLst>
                    <a:lin ang="0" scaled="1"/>
                  </a:gradFill>
                  <a:ln w="9525">
                    <a:noFill/>
                    <a:round/>
                    <a:headEnd/>
                    <a:tailEnd/>
                  </a:ln>
                  <a:effectLst>
                    <a:outerShdw blurRad="63500" dist="40161" dir="11906097" sx="75000" sy="75000" algn="tl" rotWithShape="0">
                      <a:schemeClr val="bg2">
                        <a:alpha val="50000"/>
                      </a:schemeClr>
                    </a:outerShdw>
                  </a:effectLst>
                </p:spPr>
                <p:txBody>
                  <a:bodyPr wrap="none" anchor="ctr"/>
                  <a:lstStyle/>
                  <a:p>
                    <a:pPr algn="ctr">
                      <a:defRPr/>
                    </a:pPr>
                    <a:endParaRPr kumimoji="0" lang="en-US" sz="500" dirty="0">
                      <a:solidFill>
                        <a:schemeClr val="bg1"/>
                      </a:solidFill>
                    </a:endParaRPr>
                  </a:p>
                  <a:p>
                    <a:pPr algn="ctr">
                      <a:defRPr/>
                    </a:pPr>
                    <a:endParaRPr kumimoji="0" lang="en-US" sz="800" b="1" dirty="0">
                      <a:solidFill>
                        <a:schemeClr val="bg1"/>
                      </a:solidFill>
                      <a:latin typeface="Myriad Pro"/>
                    </a:endParaRPr>
                  </a:p>
                </p:txBody>
              </p:sp>
            </p:grpSp>
            <p:sp>
              <p:nvSpPr>
                <p:cNvPr id="15" name="Text Box 25">
                  <a:extLst>
                    <a:ext uri="{FF2B5EF4-FFF2-40B4-BE49-F238E27FC236}">
                      <a16:creationId xmlns:a16="http://schemas.microsoft.com/office/drawing/2014/main" id="{29591D56-DC97-3D4D-B0CC-F786F39AE3A8}"/>
                    </a:ext>
                  </a:extLst>
                </p:cNvPr>
                <p:cNvSpPr txBox="1">
                  <a:spLocks noChangeArrowheads="1"/>
                </p:cNvSpPr>
                <p:nvPr/>
              </p:nvSpPr>
              <p:spPr bwMode="auto">
                <a:xfrm>
                  <a:off x="1200" y="2711"/>
                  <a:ext cx="664" cy="294"/>
                </a:xfrm>
                <a:prstGeom prst="rect">
                  <a:avLst/>
                </a:prstGeom>
                <a:noFill/>
                <a:ln w="9525">
                  <a:noFill/>
                  <a:miter lim="800000"/>
                  <a:headEnd type="none" w="sm" len="sm"/>
                  <a:tailEnd type="none" w="sm" len="sm"/>
                </a:ln>
              </p:spPr>
              <p:txBody>
                <a:bodyPr wrap="none">
                  <a:spAutoFit/>
                </a:bodyPr>
                <a:lstStyle/>
                <a:p>
                  <a:pPr lvl="1">
                    <a:spcBef>
                      <a:spcPct val="20000"/>
                    </a:spcBef>
                  </a:pPr>
                  <a:endParaRPr kumimoji="0" lang="en-US" sz="800" b="1" dirty="0">
                    <a:solidFill>
                      <a:schemeClr val="bg1"/>
                    </a:solidFill>
                    <a:latin typeface="Myriad Pro"/>
                  </a:endParaRPr>
                </a:p>
              </p:txBody>
            </p:sp>
          </p:grpSp>
          <p:sp>
            <p:nvSpPr>
              <p:cNvPr id="13" name="Text Box 20">
                <a:extLst>
                  <a:ext uri="{FF2B5EF4-FFF2-40B4-BE49-F238E27FC236}">
                    <a16:creationId xmlns:a16="http://schemas.microsoft.com/office/drawing/2014/main" id="{C7E5E9A8-4313-3C40-A1B3-1A30D6244053}"/>
                  </a:ext>
                </a:extLst>
              </p:cNvPr>
              <p:cNvSpPr txBox="1">
                <a:spLocks noChangeArrowheads="1"/>
              </p:cNvSpPr>
              <p:nvPr/>
            </p:nvSpPr>
            <p:spPr bwMode="auto">
              <a:xfrm>
                <a:off x="3714652" y="4082058"/>
                <a:ext cx="1476882" cy="550105"/>
              </a:xfrm>
              <a:prstGeom prst="rect">
                <a:avLst/>
              </a:prstGeom>
              <a:noFill/>
              <a:ln w="12700" algn="ctr">
                <a:noFill/>
                <a:miter lim="800000"/>
                <a:headEnd/>
                <a:tailEnd/>
              </a:ln>
              <a:effectLst>
                <a:prstShdw prst="shdw13" dist="53882" dir="13500000">
                  <a:srgbClr val="808080"/>
                </a:prstShdw>
              </a:effectLst>
            </p:spPr>
            <p:txBody>
              <a:bodyPr wrap="none">
                <a:spAutoFit/>
              </a:bodyPr>
              <a:lstStyle/>
              <a:p>
                <a:pPr marL="381000" indent="-381000" algn="ctr">
                  <a:spcBef>
                    <a:spcPct val="20000"/>
                  </a:spcBef>
                  <a:buNone/>
                  <a:tabLst>
                    <a:tab pos="2246313" algn="l"/>
                    <a:tab pos="2514600" algn="l"/>
                  </a:tabLst>
                </a:pPr>
                <a:r>
                  <a:rPr kumimoji="0" lang="en-US" sz="1050" b="1" dirty="0">
                    <a:solidFill>
                      <a:schemeClr val="bg1"/>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User Data</a:t>
                </a:r>
              </a:p>
            </p:txBody>
          </p:sp>
        </p:grpSp>
        <p:grpSp>
          <p:nvGrpSpPr>
            <p:cNvPr id="9" name="Group 50">
              <a:extLst>
                <a:ext uri="{FF2B5EF4-FFF2-40B4-BE49-F238E27FC236}">
                  <a16:creationId xmlns:a16="http://schemas.microsoft.com/office/drawing/2014/main" id="{B4262D74-177E-CD45-A381-70ADDDAF8EF5}"/>
                </a:ext>
              </a:extLst>
            </p:cNvPr>
            <p:cNvGrpSpPr/>
            <p:nvPr/>
          </p:nvGrpSpPr>
          <p:grpSpPr>
            <a:xfrm>
              <a:off x="2190791" y="1476578"/>
              <a:ext cx="2057400" cy="796732"/>
              <a:chOff x="3379262" y="2206929"/>
              <a:chExt cx="2057400" cy="1062309"/>
            </a:xfrm>
          </p:grpSpPr>
          <p:sp>
            <p:nvSpPr>
              <p:cNvPr id="10" name="AutoShape 27">
                <a:extLst>
                  <a:ext uri="{FF2B5EF4-FFF2-40B4-BE49-F238E27FC236}">
                    <a16:creationId xmlns:a16="http://schemas.microsoft.com/office/drawing/2014/main" id="{ADA649DE-D7A3-DC4D-84E5-EFAF68028F6A}"/>
                  </a:ext>
                </a:extLst>
              </p:cNvPr>
              <p:cNvSpPr>
                <a:spLocks noChangeArrowheads="1"/>
              </p:cNvSpPr>
              <p:nvPr/>
            </p:nvSpPr>
            <p:spPr bwMode="auto">
              <a:xfrm>
                <a:off x="3379262" y="2206929"/>
                <a:ext cx="2057400" cy="989846"/>
              </a:xfrm>
              <a:prstGeom prst="can">
                <a:avLst>
                  <a:gd name="adj" fmla="val 34264"/>
                </a:avLst>
              </a:prstGeom>
              <a:gradFill rotWithShape="1">
                <a:gsLst>
                  <a:gs pos="0">
                    <a:schemeClr val="tx1"/>
                  </a:gs>
                  <a:gs pos="50000">
                    <a:srgbClr val="990000"/>
                  </a:gs>
                  <a:gs pos="100000">
                    <a:schemeClr val="tx1"/>
                  </a:gs>
                </a:gsLst>
                <a:lin ang="0" scaled="1"/>
              </a:gradFill>
              <a:ln w="9525">
                <a:noFill/>
                <a:round/>
                <a:headEnd/>
                <a:tailEnd/>
              </a:ln>
              <a:effectLst>
                <a:prstShdw prst="shdw13" dist="53882" dir="13500000">
                  <a:schemeClr val="bg2">
                    <a:alpha val="50000"/>
                  </a:schemeClr>
                </a:prstShdw>
              </a:effectLst>
            </p:spPr>
            <p:txBody>
              <a:bodyPr wrap="none" anchor="ctr"/>
              <a:lstStyle/>
              <a:p>
                <a:pPr algn="ctr">
                  <a:defRPr/>
                </a:pPr>
                <a:endParaRPr kumimoji="0" lang="en-US" sz="800" b="1" dirty="0">
                  <a:solidFill>
                    <a:schemeClr val="bg1"/>
                  </a:solidFill>
                  <a:latin typeface="Myriad Pro"/>
                </a:endParaRPr>
              </a:p>
            </p:txBody>
          </p:sp>
          <p:sp>
            <p:nvSpPr>
              <p:cNvPr id="11" name="Text Box 20">
                <a:extLst>
                  <a:ext uri="{FF2B5EF4-FFF2-40B4-BE49-F238E27FC236}">
                    <a16:creationId xmlns:a16="http://schemas.microsoft.com/office/drawing/2014/main" id="{B4E12566-027D-AC4E-90F8-30976B4F530D}"/>
                  </a:ext>
                </a:extLst>
              </p:cNvPr>
              <p:cNvSpPr txBox="1">
                <a:spLocks noChangeArrowheads="1"/>
              </p:cNvSpPr>
              <p:nvPr/>
            </p:nvSpPr>
            <p:spPr bwMode="auto">
              <a:xfrm>
                <a:off x="3749294" y="2719133"/>
                <a:ext cx="1346231" cy="550105"/>
              </a:xfrm>
              <a:prstGeom prst="rect">
                <a:avLst/>
              </a:prstGeom>
              <a:noFill/>
              <a:ln w="12700" algn="ctr">
                <a:noFill/>
                <a:miter lim="800000"/>
                <a:headEnd/>
                <a:tailEnd/>
              </a:ln>
              <a:effectLst>
                <a:prstShdw prst="shdw13" dist="53882" dir="13500000">
                  <a:srgbClr val="808080"/>
                </a:prstShdw>
              </a:effectLst>
            </p:spPr>
            <p:txBody>
              <a:bodyPr wrap="none">
                <a:spAutoFit/>
              </a:bodyPr>
              <a:lstStyle/>
              <a:p>
                <a:pPr marL="381000" indent="-381000" algn="ctr">
                  <a:spcBef>
                    <a:spcPct val="20000"/>
                  </a:spcBef>
                  <a:buNone/>
                  <a:tabLst>
                    <a:tab pos="2246313" algn="l"/>
                    <a:tab pos="2514600" algn="l"/>
                  </a:tabLst>
                </a:pPr>
                <a:r>
                  <a:rPr kumimoji="0" lang="en-US" sz="1050" b="1" dirty="0">
                    <a:solidFill>
                      <a:schemeClr val="bg1"/>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Metadata</a:t>
                </a:r>
              </a:p>
            </p:txBody>
          </p:sp>
        </p:grpSp>
      </p:grpSp>
      <p:sp>
        <p:nvSpPr>
          <p:cNvPr id="27" name="Rectangle 26">
            <a:extLst>
              <a:ext uri="{FF2B5EF4-FFF2-40B4-BE49-F238E27FC236}">
                <a16:creationId xmlns:a16="http://schemas.microsoft.com/office/drawing/2014/main" id="{4EED72C2-DFF3-F64F-8928-523051BF3327}"/>
              </a:ext>
            </a:extLst>
          </p:cNvPr>
          <p:cNvSpPr/>
          <p:nvPr/>
        </p:nvSpPr>
        <p:spPr>
          <a:xfrm>
            <a:off x="253217" y="1705206"/>
            <a:ext cx="4572000" cy="707886"/>
          </a:xfrm>
          <a:prstGeom prst="rect">
            <a:avLst/>
          </a:prstGeom>
        </p:spPr>
        <p:txBody>
          <a:bodyPr vert="horz" wrap="square" lIns="91440" tIns="45720" rIns="91440" bIns="45720" rtlCol="0">
            <a:spAutoFit/>
          </a:bodyPr>
          <a:lstStyle/>
          <a:p>
            <a:pPr marL="280988" indent="-280988">
              <a:spcBef>
                <a:spcPts val="1200"/>
              </a:spcBef>
              <a:spcAft>
                <a:spcPts val="600"/>
              </a:spcAft>
              <a:buClr>
                <a:schemeClr val="accent2"/>
              </a:buClr>
              <a:buFont typeface="Arial" panose="020B0604020202020204" pitchFamily="34" charset="0"/>
              <a:buChar char="•"/>
            </a:pPr>
            <a:r>
              <a:rPr lang="en-US" sz="2000" dirty="0"/>
              <a:t>TFS separates metadata from data at the SD/stripe set layer of the pool</a:t>
            </a:r>
          </a:p>
        </p:txBody>
      </p:sp>
      <p:sp>
        <p:nvSpPr>
          <p:cNvPr id="28" name="Can 27">
            <a:extLst>
              <a:ext uri="{FF2B5EF4-FFF2-40B4-BE49-F238E27FC236}">
                <a16:creationId xmlns:a16="http://schemas.microsoft.com/office/drawing/2014/main" id="{87D2C089-6A63-3E42-B22C-A221184F43BA}"/>
              </a:ext>
            </a:extLst>
          </p:cNvPr>
          <p:cNvSpPr/>
          <p:nvPr/>
        </p:nvSpPr>
        <p:spPr>
          <a:xfrm>
            <a:off x="5953608" y="2119379"/>
            <a:ext cx="159657" cy="224971"/>
          </a:xfrm>
          <a:prstGeom prst="can">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j-lt"/>
            </a:endParaRPr>
          </a:p>
        </p:txBody>
      </p:sp>
      <p:sp>
        <p:nvSpPr>
          <p:cNvPr id="29" name="Can 28">
            <a:extLst>
              <a:ext uri="{FF2B5EF4-FFF2-40B4-BE49-F238E27FC236}">
                <a16:creationId xmlns:a16="http://schemas.microsoft.com/office/drawing/2014/main" id="{D58B7F39-5DDD-4B41-B379-46DDCC23DA13}"/>
              </a:ext>
            </a:extLst>
          </p:cNvPr>
          <p:cNvSpPr/>
          <p:nvPr/>
        </p:nvSpPr>
        <p:spPr>
          <a:xfrm>
            <a:off x="6261092" y="2119379"/>
            <a:ext cx="159657" cy="224971"/>
          </a:xfrm>
          <a:prstGeom prst="can">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j-lt"/>
            </a:endParaRPr>
          </a:p>
        </p:txBody>
      </p:sp>
      <p:sp>
        <p:nvSpPr>
          <p:cNvPr id="30" name="Can 29">
            <a:extLst>
              <a:ext uri="{FF2B5EF4-FFF2-40B4-BE49-F238E27FC236}">
                <a16:creationId xmlns:a16="http://schemas.microsoft.com/office/drawing/2014/main" id="{629D9E54-93B6-E343-A014-50FFD3F7A3EC}"/>
              </a:ext>
            </a:extLst>
          </p:cNvPr>
          <p:cNvSpPr/>
          <p:nvPr/>
        </p:nvSpPr>
        <p:spPr>
          <a:xfrm>
            <a:off x="6568576" y="2119379"/>
            <a:ext cx="159657" cy="224971"/>
          </a:xfrm>
          <a:prstGeom prst="can">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j-lt"/>
            </a:endParaRPr>
          </a:p>
        </p:txBody>
      </p:sp>
      <p:sp>
        <p:nvSpPr>
          <p:cNvPr id="31" name="Can 30">
            <a:extLst>
              <a:ext uri="{FF2B5EF4-FFF2-40B4-BE49-F238E27FC236}">
                <a16:creationId xmlns:a16="http://schemas.microsoft.com/office/drawing/2014/main" id="{E33686B8-68E1-F04A-B847-2A700D7A15FF}"/>
              </a:ext>
            </a:extLst>
          </p:cNvPr>
          <p:cNvSpPr/>
          <p:nvPr/>
        </p:nvSpPr>
        <p:spPr>
          <a:xfrm>
            <a:off x="6876059" y="2119379"/>
            <a:ext cx="159657" cy="224971"/>
          </a:xfrm>
          <a:prstGeom prst="can">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j-lt"/>
            </a:endParaRPr>
          </a:p>
        </p:txBody>
      </p:sp>
      <p:sp>
        <p:nvSpPr>
          <p:cNvPr id="32" name="Can 31">
            <a:extLst>
              <a:ext uri="{FF2B5EF4-FFF2-40B4-BE49-F238E27FC236}">
                <a16:creationId xmlns:a16="http://schemas.microsoft.com/office/drawing/2014/main" id="{C83065BF-C7D5-1441-928C-C7DAA77AC251}"/>
              </a:ext>
            </a:extLst>
          </p:cNvPr>
          <p:cNvSpPr/>
          <p:nvPr/>
        </p:nvSpPr>
        <p:spPr>
          <a:xfrm>
            <a:off x="5953608" y="1469254"/>
            <a:ext cx="159657" cy="224971"/>
          </a:xfrm>
          <a:prstGeom prst="can">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j-lt"/>
            </a:endParaRPr>
          </a:p>
        </p:txBody>
      </p:sp>
      <p:sp>
        <p:nvSpPr>
          <p:cNvPr id="33" name="Can 32">
            <a:extLst>
              <a:ext uri="{FF2B5EF4-FFF2-40B4-BE49-F238E27FC236}">
                <a16:creationId xmlns:a16="http://schemas.microsoft.com/office/drawing/2014/main" id="{F2C57230-2582-2243-B247-386CA8C5D8E7}"/>
              </a:ext>
            </a:extLst>
          </p:cNvPr>
          <p:cNvSpPr/>
          <p:nvPr/>
        </p:nvSpPr>
        <p:spPr>
          <a:xfrm>
            <a:off x="6261092" y="1469254"/>
            <a:ext cx="159657" cy="224971"/>
          </a:xfrm>
          <a:prstGeom prst="can">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j-lt"/>
            </a:endParaRPr>
          </a:p>
        </p:txBody>
      </p:sp>
      <p:sp>
        <p:nvSpPr>
          <p:cNvPr id="34" name="Can 33">
            <a:extLst>
              <a:ext uri="{FF2B5EF4-FFF2-40B4-BE49-F238E27FC236}">
                <a16:creationId xmlns:a16="http://schemas.microsoft.com/office/drawing/2014/main" id="{4B57C773-8B8B-0246-985A-1885278AF666}"/>
              </a:ext>
            </a:extLst>
          </p:cNvPr>
          <p:cNvSpPr/>
          <p:nvPr/>
        </p:nvSpPr>
        <p:spPr>
          <a:xfrm>
            <a:off x="6568576" y="1469254"/>
            <a:ext cx="159657" cy="224971"/>
          </a:xfrm>
          <a:prstGeom prst="can">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j-lt"/>
            </a:endParaRPr>
          </a:p>
        </p:txBody>
      </p:sp>
      <p:sp>
        <p:nvSpPr>
          <p:cNvPr id="35" name="Can 34">
            <a:extLst>
              <a:ext uri="{FF2B5EF4-FFF2-40B4-BE49-F238E27FC236}">
                <a16:creationId xmlns:a16="http://schemas.microsoft.com/office/drawing/2014/main" id="{1635C8C3-AA5B-0943-A394-DEC322508B3B}"/>
              </a:ext>
            </a:extLst>
          </p:cNvPr>
          <p:cNvSpPr/>
          <p:nvPr/>
        </p:nvSpPr>
        <p:spPr>
          <a:xfrm>
            <a:off x="6876059" y="1469254"/>
            <a:ext cx="159657" cy="224971"/>
          </a:xfrm>
          <a:prstGeom prst="can">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j-lt"/>
            </a:endParaRPr>
          </a:p>
        </p:txBody>
      </p:sp>
    </p:spTree>
    <p:extLst>
      <p:ext uri="{BB962C8B-B14F-4D97-AF65-F5344CB8AC3E}">
        <p14:creationId xmlns:p14="http://schemas.microsoft.com/office/powerpoint/2010/main" val="40690094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94B940D-A492-9548-934D-489B937FC1C8}"/>
              </a:ext>
            </a:extLst>
          </p:cNvPr>
          <p:cNvSpPr>
            <a:spLocks noGrp="1"/>
          </p:cNvSpPr>
          <p:nvPr>
            <p:ph idx="1"/>
          </p:nvPr>
        </p:nvSpPr>
        <p:spPr>
          <a:xfrm>
            <a:off x="192723" y="887154"/>
            <a:ext cx="8879840" cy="3877985"/>
          </a:xfrm>
        </p:spPr>
        <p:txBody>
          <a:bodyPr/>
          <a:lstStyle/>
          <a:p>
            <a:r>
              <a:rPr lang="en-US" sz="1800" dirty="0"/>
              <a:t>All File systems created on a tiered pool inherit metadata tiering</a:t>
            </a:r>
          </a:p>
          <a:p>
            <a:r>
              <a:rPr lang="en-US" sz="1800" dirty="0"/>
              <a:t>Can be retroactively applied but not undone</a:t>
            </a:r>
          </a:p>
          <a:p>
            <a:r>
              <a:rPr lang="en-US" sz="1800" dirty="0"/>
              <a:t>Tier 0 and Tier 1 can be expanded independently</a:t>
            </a:r>
          </a:p>
          <a:p>
            <a:pPr lvl="1"/>
            <a:r>
              <a:rPr lang="en-US" sz="1600" dirty="0"/>
              <a:t>If Tier 0 capacity is exhausted, Tier 1 will be used for metadata, but no more file systems can be created on that pool (until more capacity added to Tier 0)</a:t>
            </a:r>
          </a:p>
          <a:p>
            <a:pPr lvl="1"/>
            <a:r>
              <a:rPr lang="en-US" sz="1600" dirty="0"/>
              <a:t>If Tier 0 capacity exhausts, performance will be impacted</a:t>
            </a:r>
          </a:p>
          <a:p>
            <a:r>
              <a:rPr lang="en-US" sz="1800" dirty="0"/>
              <a:t>Amount of metadata capacity required depends on file system density</a:t>
            </a:r>
          </a:p>
          <a:p>
            <a:pPr lvl="1"/>
            <a:r>
              <a:rPr lang="en-US" sz="1600" dirty="0"/>
              <a:t>fs-analyze-metadata-usage can be used to determine metadata consumption</a:t>
            </a:r>
          </a:p>
          <a:p>
            <a:pPr lvl="1"/>
            <a:r>
              <a:rPr lang="en-US" sz="1600" dirty="0"/>
              <a:t>Typical consumption is 10%, but can be much lower when storing larger files e.g. Virtual Machines, </a:t>
            </a:r>
            <a:r>
              <a:rPr lang="en-US" sz="1600" dirty="0" err="1"/>
              <a:t>CommVault</a:t>
            </a:r>
            <a:r>
              <a:rPr lang="en-US" sz="1600" dirty="0"/>
              <a:t> Disk Library, VOD Library</a:t>
            </a:r>
          </a:p>
        </p:txBody>
      </p:sp>
      <p:sp>
        <p:nvSpPr>
          <p:cNvPr id="3" name="Title 2">
            <a:extLst>
              <a:ext uri="{FF2B5EF4-FFF2-40B4-BE49-F238E27FC236}">
                <a16:creationId xmlns:a16="http://schemas.microsoft.com/office/drawing/2014/main" id="{2342F824-9ED1-5E4B-AFF7-3EDE601545D4}"/>
              </a:ext>
            </a:extLst>
          </p:cNvPr>
          <p:cNvSpPr>
            <a:spLocks noGrp="1"/>
          </p:cNvSpPr>
          <p:nvPr>
            <p:ph type="title"/>
          </p:nvPr>
        </p:nvSpPr>
        <p:spPr/>
        <p:txBody>
          <a:bodyPr/>
          <a:lstStyle/>
          <a:p>
            <a:r>
              <a:rPr lang="en-US" dirty="0"/>
              <a:t>Tiered File System (TFS)</a:t>
            </a:r>
          </a:p>
        </p:txBody>
      </p:sp>
    </p:spTree>
    <p:extLst>
      <p:ext uri="{BB962C8B-B14F-4D97-AF65-F5344CB8AC3E}">
        <p14:creationId xmlns:p14="http://schemas.microsoft.com/office/powerpoint/2010/main" val="20418178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735096" y="977574"/>
            <a:ext cx="6926568" cy="695773"/>
          </a:xfrm>
        </p:spPr>
        <p:txBody>
          <a:bodyPr/>
          <a:lstStyle/>
          <a:p>
            <a:r>
              <a:rPr lang="en-US" dirty="0"/>
              <a:t>HDP </a:t>
            </a:r>
            <a:br>
              <a:rPr lang="en-US" dirty="0"/>
            </a:br>
            <a:r>
              <a:rPr lang="en-US" dirty="0"/>
              <a:t>Hitachi Dynamic Provisioning</a:t>
            </a:r>
          </a:p>
        </p:txBody>
      </p:sp>
    </p:spTree>
    <p:extLst>
      <p:ext uri="{BB962C8B-B14F-4D97-AF65-F5344CB8AC3E}">
        <p14:creationId xmlns:p14="http://schemas.microsoft.com/office/powerpoint/2010/main" val="19094777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Hitachi Dynamic Provisioning</a:t>
            </a:r>
          </a:p>
        </p:txBody>
      </p:sp>
      <p:sp>
        <p:nvSpPr>
          <p:cNvPr id="3" name="Content Placeholder 2"/>
          <p:cNvSpPr>
            <a:spLocks noGrp="1"/>
          </p:cNvSpPr>
          <p:nvPr>
            <p:ph idx="1"/>
          </p:nvPr>
        </p:nvSpPr>
        <p:spPr>
          <a:xfrm>
            <a:off x="361950" y="1016000"/>
            <a:ext cx="8229600" cy="2323713"/>
          </a:xfrm>
        </p:spPr>
        <p:txBody>
          <a:bodyPr/>
          <a:lstStyle/>
          <a:p>
            <a:r>
              <a:rPr lang="en-GB" sz="2000" dirty="0"/>
              <a:t>All current Hitachi storage supports HDP</a:t>
            </a:r>
          </a:p>
          <a:p>
            <a:r>
              <a:rPr lang="en-GB" sz="2000" dirty="0"/>
              <a:t>From release 12.1, all HNAS servers support HDP without any additional license</a:t>
            </a:r>
          </a:p>
          <a:p>
            <a:r>
              <a:rPr lang="en-GB" sz="2000" dirty="0"/>
              <a:t>HDP support is not limited to a specific subsystem</a:t>
            </a:r>
          </a:p>
          <a:p>
            <a:r>
              <a:rPr lang="en-GB" sz="2000" dirty="0"/>
              <a:t>HDP has no effect on front end protocol interaction (NFS, SMB)</a:t>
            </a:r>
          </a:p>
        </p:txBody>
      </p:sp>
    </p:spTree>
    <p:extLst>
      <p:ext uri="{BB962C8B-B14F-4D97-AF65-F5344CB8AC3E}">
        <p14:creationId xmlns:p14="http://schemas.microsoft.com/office/powerpoint/2010/main" val="38666734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4160" y="48610"/>
            <a:ext cx="7051040" cy="732441"/>
          </a:xfrm>
        </p:spPr>
        <p:txBody>
          <a:bodyPr/>
          <a:lstStyle/>
          <a:p>
            <a:r>
              <a:rPr lang="en-GB" dirty="0"/>
              <a:t>What is HDP?</a:t>
            </a:r>
            <a:endParaRPr lang="en-GB" dirty="0">
              <a:solidFill>
                <a:srgbClr val="FF0000"/>
              </a:solidFill>
            </a:endParaRPr>
          </a:p>
        </p:txBody>
      </p:sp>
      <p:grpSp>
        <p:nvGrpSpPr>
          <p:cNvPr id="51" name="Group 50"/>
          <p:cNvGrpSpPr/>
          <p:nvPr/>
        </p:nvGrpSpPr>
        <p:grpSpPr>
          <a:xfrm>
            <a:off x="380157" y="1117083"/>
            <a:ext cx="3901904" cy="730157"/>
            <a:chOff x="498141" y="2518463"/>
            <a:chExt cx="3901904" cy="973542"/>
          </a:xfrm>
        </p:grpSpPr>
        <p:grpSp>
          <p:nvGrpSpPr>
            <p:cNvPr id="11" name="Group 34"/>
            <p:cNvGrpSpPr>
              <a:grpSpLocks/>
            </p:cNvGrpSpPr>
            <p:nvPr/>
          </p:nvGrpSpPr>
          <p:grpSpPr bwMode="auto">
            <a:xfrm>
              <a:off x="498141" y="2518463"/>
              <a:ext cx="3901904" cy="547687"/>
              <a:chOff x="1087" y="2454"/>
              <a:chExt cx="1847" cy="190"/>
            </a:xfrm>
            <a:effectLst>
              <a:outerShdw blurRad="50800" dist="38100" dir="2700000" algn="tl" rotWithShape="0">
                <a:prstClr val="black">
                  <a:alpha val="40000"/>
                </a:prstClr>
              </a:outerShdw>
            </a:effectLst>
          </p:grpSpPr>
          <p:sp>
            <p:nvSpPr>
              <p:cNvPr id="12" name="Rectangle 35"/>
              <p:cNvSpPr>
                <a:spLocks noChangeArrowheads="1"/>
              </p:cNvSpPr>
              <p:nvPr/>
            </p:nvSpPr>
            <p:spPr bwMode="auto">
              <a:xfrm>
                <a:off x="1087" y="2454"/>
                <a:ext cx="368" cy="190"/>
              </a:xfrm>
              <a:prstGeom prst="rect">
                <a:avLst/>
              </a:prstGeom>
              <a:solidFill>
                <a:srgbClr val="009999"/>
              </a:solidFill>
              <a:ln w="9525">
                <a:solidFill>
                  <a:schemeClr val="bg1">
                    <a:lumMod val="75000"/>
                  </a:schemeClr>
                </a:solidFill>
                <a:miter lim="800000"/>
                <a:headEnd/>
                <a:tailEnd/>
              </a:ln>
            </p:spPr>
            <p:txBody>
              <a:bodyPr wrap="none" anchor="ctr"/>
              <a:lstStyle/>
              <a:p>
                <a:pPr algn="ctr"/>
                <a:r>
                  <a:rPr lang="en-US" b="1" dirty="0">
                    <a:solidFill>
                      <a:prstClr val="black"/>
                    </a:solidFill>
                    <a:latin typeface="Calibri" panose="020F0502020204030204" pitchFamily="34" charset="0"/>
                    <a:cs typeface="Calibri" panose="020F0502020204030204" pitchFamily="34" charset="0"/>
                  </a:rPr>
                  <a:t>SD</a:t>
                </a:r>
              </a:p>
            </p:txBody>
          </p:sp>
          <p:sp>
            <p:nvSpPr>
              <p:cNvPr id="13" name="Rectangle 36"/>
              <p:cNvSpPr>
                <a:spLocks noChangeArrowheads="1"/>
              </p:cNvSpPr>
              <p:nvPr/>
            </p:nvSpPr>
            <p:spPr bwMode="auto">
              <a:xfrm>
                <a:off x="1827" y="2454"/>
                <a:ext cx="368" cy="190"/>
              </a:xfrm>
              <a:prstGeom prst="rect">
                <a:avLst/>
              </a:prstGeom>
              <a:solidFill>
                <a:srgbClr val="009999"/>
              </a:solidFill>
              <a:ln w="9525">
                <a:solidFill>
                  <a:schemeClr val="bg1">
                    <a:lumMod val="75000"/>
                  </a:schemeClr>
                </a:solidFill>
                <a:miter lim="800000"/>
                <a:headEnd/>
                <a:tailEnd/>
              </a:ln>
            </p:spPr>
            <p:txBody>
              <a:bodyPr wrap="none" anchor="ctr"/>
              <a:lstStyle/>
              <a:p>
                <a:pPr algn="ctr"/>
                <a:r>
                  <a:rPr lang="en-US" b="1" dirty="0">
                    <a:solidFill>
                      <a:prstClr val="black"/>
                    </a:solidFill>
                    <a:latin typeface="Calibri" panose="020F0502020204030204" pitchFamily="34" charset="0"/>
                    <a:cs typeface="Calibri" panose="020F0502020204030204" pitchFamily="34" charset="0"/>
                  </a:rPr>
                  <a:t>SD</a:t>
                </a:r>
              </a:p>
            </p:txBody>
          </p:sp>
          <p:sp>
            <p:nvSpPr>
              <p:cNvPr id="14" name="Rectangle 37"/>
              <p:cNvSpPr>
                <a:spLocks noChangeArrowheads="1"/>
              </p:cNvSpPr>
              <p:nvPr/>
            </p:nvSpPr>
            <p:spPr bwMode="auto">
              <a:xfrm>
                <a:off x="1456" y="2454"/>
                <a:ext cx="367" cy="190"/>
              </a:xfrm>
              <a:prstGeom prst="rect">
                <a:avLst/>
              </a:prstGeom>
              <a:solidFill>
                <a:srgbClr val="009999"/>
              </a:solidFill>
              <a:ln w="9525">
                <a:solidFill>
                  <a:schemeClr val="bg1">
                    <a:lumMod val="75000"/>
                  </a:schemeClr>
                </a:solidFill>
                <a:miter lim="800000"/>
                <a:headEnd/>
                <a:tailEnd/>
              </a:ln>
            </p:spPr>
            <p:txBody>
              <a:bodyPr wrap="none" anchor="ctr"/>
              <a:lstStyle/>
              <a:p>
                <a:pPr algn="ctr"/>
                <a:r>
                  <a:rPr lang="en-US" b="1" dirty="0">
                    <a:solidFill>
                      <a:prstClr val="black"/>
                    </a:solidFill>
                    <a:latin typeface="Calibri" panose="020F0502020204030204" pitchFamily="34" charset="0"/>
                    <a:cs typeface="Calibri" panose="020F0502020204030204" pitchFamily="34" charset="0"/>
                  </a:rPr>
                  <a:t>SD</a:t>
                </a:r>
              </a:p>
            </p:txBody>
          </p:sp>
          <p:sp>
            <p:nvSpPr>
              <p:cNvPr id="15" name="Rectangle 38"/>
              <p:cNvSpPr>
                <a:spLocks noChangeArrowheads="1"/>
              </p:cNvSpPr>
              <p:nvPr/>
            </p:nvSpPr>
            <p:spPr bwMode="auto">
              <a:xfrm>
                <a:off x="2195" y="2454"/>
                <a:ext cx="368" cy="190"/>
              </a:xfrm>
              <a:prstGeom prst="rect">
                <a:avLst/>
              </a:prstGeom>
              <a:solidFill>
                <a:srgbClr val="009999"/>
              </a:solidFill>
              <a:ln w="9525">
                <a:solidFill>
                  <a:schemeClr val="bg1">
                    <a:lumMod val="75000"/>
                  </a:schemeClr>
                </a:solidFill>
                <a:miter lim="800000"/>
                <a:headEnd/>
                <a:tailEnd/>
              </a:ln>
            </p:spPr>
            <p:txBody>
              <a:bodyPr wrap="none" anchor="ctr"/>
              <a:lstStyle/>
              <a:p>
                <a:pPr algn="ctr"/>
                <a:r>
                  <a:rPr lang="en-US" b="1" dirty="0">
                    <a:solidFill>
                      <a:prstClr val="black"/>
                    </a:solidFill>
                    <a:latin typeface="Calibri" panose="020F0502020204030204" pitchFamily="34" charset="0"/>
                    <a:cs typeface="Calibri" panose="020F0502020204030204" pitchFamily="34" charset="0"/>
                  </a:rPr>
                  <a:t>SD</a:t>
                </a:r>
              </a:p>
            </p:txBody>
          </p:sp>
          <p:sp>
            <p:nvSpPr>
              <p:cNvPr id="16" name="Rectangle 39"/>
              <p:cNvSpPr>
                <a:spLocks noChangeArrowheads="1"/>
              </p:cNvSpPr>
              <p:nvPr/>
            </p:nvSpPr>
            <p:spPr bwMode="auto">
              <a:xfrm>
                <a:off x="2566" y="2454"/>
                <a:ext cx="368" cy="190"/>
              </a:xfrm>
              <a:prstGeom prst="rect">
                <a:avLst/>
              </a:prstGeom>
              <a:solidFill>
                <a:srgbClr val="009999"/>
              </a:solidFill>
              <a:ln w="9525">
                <a:solidFill>
                  <a:schemeClr val="bg1">
                    <a:lumMod val="75000"/>
                  </a:schemeClr>
                </a:solidFill>
                <a:miter lim="800000"/>
                <a:headEnd/>
                <a:tailEnd/>
              </a:ln>
            </p:spPr>
            <p:txBody>
              <a:bodyPr wrap="none" anchor="ctr"/>
              <a:lstStyle/>
              <a:p>
                <a:pPr algn="ctr"/>
                <a:r>
                  <a:rPr lang="en-US" b="1" dirty="0">
                    <a:solidFill>
                      <a:prstClr val="black"/>
                    </a:solidFill>
                    <a:latin typeface="Calibri" panose="020F0502020204030204" pitchFamily="34" charset="0"/>
                    <a:cs typeface="Calibri" panose="020F0502020204030204" pitchFamily="34" charset="0"/>
                  </a:rPr>
                  <a:t>SD</a:t>
                </a:r>
              </a:p>
            </p:txBody>
          </p:sp>
        </p:grpSp>
        <p:grpSp>
          <p:nvGrpSpPr>
            <p:cNvPr id="30" name="Group 29"/>
            <p:cNvGrpSpPr/>
            <p:nvPr/>
          </p:nvGrpSpPr>
          <p:grpSpPr>
            <a:xfrm>
              <a:off x="788655" y="3146261"/>
              <a:ext cx="3308367" cy="345744"/>
              <a:chOff x="798078" y="1624084"/>
              <a:chExt cx="3308367" cy="348020"/>
            </a:xfrm>
            <a:effectLst>
              <a:outerShdw blurRad="50800" dist="38100" dir="2700000" algn="tl" rotWithShape="0">
                <a:prstClr val="black">
                  <a:alpha val="40000"/>
                </a:prstClr>
              </a:outerShdw>
            </a:effectLst>
          </p:grpSpPr>
          <p:sp>
            <p:nvSpPr>
              <p:cNvPr id="31" name="Down Arrow 30"/>
              <p:cNvSpPr/>
              <p:nvPr/>
            </p:nvSpPr>
            <p:spPr>
              <a:xfrm rot="10800000">
                <a:off x="798078" y="1624084"/>
                <a:ext cx="177548" cy="348017"/>
              </a:xfrm>
              <a:prstGeom prst="downArrow">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endParaRPr>
              </a:p>
            </p:txBody>
          </p:sp>
          <p:sp>
            <p:nvSpPr>
              <p:cNvPr id="32" name="Down Arrow 31"/>
              <p:cNvSpPr/>
              <p:nvPr/>
            </p:nvSpPr>
            <p:spPr>
              <a:xfrm rot="10800000">
                <a:off x="1582896" y="1624085"/>
                <a:ext cx="177548" cy="348017"/>
              </a:xfrm>
              <a:prstGeom prst="downArrow">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endParaRPr>
              </a:p>
            </p:txBody>
          </p:sp>
          <p:sp>
            <p:nvSpPr>
              <p:cNvPr id="33" name="Down Arrow 32"/>
              <p:cNvSpPr/>
              <p:nvPr/>
            </p:nvSpPr>
            <p:spPr>
              <a:xfrm rot="10800000">
                <a:off x="2367712" y="1624086"/>
                <a:ext cx="177548" cy="348017"/>
              </a:xfrm>
              <a:prstGeom prst="downArrow">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endParaRPr>
              </a:p>
            </p:txBody>
          </p:sp>
          <p:sp>
            <p:nvSpPr>
              <p:cNvPr id="34" name="Down Arrow 33"/>
              <p:cNvSpPr/>
              <p:nvPr/>
            </p:nvSpPr>
            <p:spPr>
              <a:xfrm rot="10800000">
                <a:off x="3145136" y="1624084"/>
                <a:ext cx="177548" cy="348017"/>
              </a:xfrm>
              <a:prstGeom prst="downArrow">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endParaRPr>
              </a:p>
            </p:txBody>
          </p:sp>
          <p:sp>
            <p:nvSpPr>
              <p:cNvPr id="35" name="Down Arrow 34"/>
              <p:cNvSpPr/>
              <p:nvPr/>
            </p:nvSpPr>
            <p:spPr>
              <a:xfrm rot="10800000">
                <a:off x="3928897" y="1624087"/>
                <a:ext cx="177548" cy="348017"/>
              </a:xfrm>
              <a:prstGeom prst="downArrow">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endParaRPr>
              </a:p>
            </p:txBody>
          </p:sp>
        </p:grpSp>
      </p:grpSp>
      <p:grpSp>
        <p:nvGrpSpPr>
          <p:cNvPr id="49" name="Group 48"/>
          <p:cNvGrpSpPr/>
          <p:nvPr/>
        </p:nvGrpSpPr>
        <p:grpSpPr>
          <a:xfrm>
            <a:off x="378126" y="3976868"/>
            <a:ext cx="3901904" cy="720266"/>
            <a:chOff x="498141" y="5246963"/>
            <a:chExt cx="3901904" cy="960354"/>
          </a:xfrm>
        </p:grpSpPr>
        <p:grpSp>
          <p:nvGrpSpPr>
            <p:cNvPr id="5" name="Group 17"/>
            <p:cNvGrpSpPr>
              <a:grpSpLocks/>
            </p:cNvGrpSpPr>
            <p:nvPr/>
          </p:nvGrpSpPr>
          <p:grpSpPr bwMode="auto">
            <a:xfrm>
              <a:off x="498141" y="5659630"/>
              <a:ext cx="3901904" cy="547687"/>
              <a:chOff x="1075" y="2886"/>
              <a:chExt cx="1847" cy="190"/>
            </a:xfrm>
            <a:solidFill>
              <a:schemeClr val="accent4">
                <a:lumMod val="60000"/>
                <a:lumOff val="40000"/>
              </a:schemeClr>
            </a:solidFill>
            <a:effectLst>
              <a:outerShdw blurRad="50800" dist="38100" dir="2700000" algn="tl" rotWithShape="0">
                <a:prstClr val="black">
                  <a:alpha val="40000"/>
                </a:prstClr>
              </a:outerShdw>
            </a:effectLst>
          </p:grpSpPr>
          <p:sp>
            <p:nvSpPr>
              <p:cNvPr id="6" name="Rectangle 50"/>
              <p:cNvSpPr>
                <a:spLocks noChangeArrowheads="1"/>
              </p:cNvSpPr>
              <p:nvPr/>
            </p:nvSpPr>
            <p:spPr bwMode="auto">
              <a:xfrm>
                <a:off x="1075" y="2886"/>
                <a:ext cx="368" cy="190"/>
              </a:xfrm>
              <a:prstGeom prst="rect">
                <a:avLst/>
              </a:prstGeom>
              <a:solidFill>
                <a:schemeClr val="accent5"/>
              </a:solidFill>
              <a:ln w="9525">
                <a:solidFill>
                  <a:schemeClr val="bg1">
                    <a:lumMod val="75000"/>
                  </a:schemeClr>
                </a:solidFill>
                <a:miter lim="800000"/>
                <a:headEnd/>
                <a:tailEnd/>
              </a:ln>
            </p:spPr>
            <p:txBody>
              <a:bodyPr wrap="none" anchor="ctr"/>
              <a:lstStyle/>
              <a:p>
                <a:pPr algn="ctr"/>
                <a:r>
                  <a:rPr lang="en-US" b="1" dirty="0">
                    <a:solidFill>
                      <a:prstClr val="white"/>
                    </a:solidFill>
                    <a:latin typeface="Calibri" panose="020F0502020204030204" pitchFamily="34" charset="0"/>
                    <a:cs typeface="Calibri" panose="020F0502020204030204" pitchFamily="34" charset="0"/>
                  </a:rPr>
                  <a:t> PG</a:t>
                </a:r>
              </a:p>
            </p:txBody>
          </p:sp>
          <p:sp>
            <p:nvSpPr>
              <p:cNvPr id="7" name="Rectangle 51"/>
              <p:cNvSpPr>
                <a:spLocks noChangeArrowheads="1"/>
              </p:cNvSpPr>
              <p:nvPr/>
            </p:nvSpPr>
            <p:spPr bwMode="auto">
              <a:xfrm>
                <a:off x="1815" y="2886"/>
                <a:ext cx="368" cy="190"/>
              </a:xfrm>
              <a:prstGeom prst="rect">
                <a:avLst/>
              </a:prstGeom>
              <a:solidFill>
                <a:schemeClr val="accent5"/>
              </a:solidFill>
              <a:ln w="9525">
                <a:solidFill>
                  <a:schemeClr val="bg1">
                    <a:lumMod val="75000"/>
                  </a:schemeClr>
                </a:solidFill>
                <a:miter lim="800000"/>
                <a:headEnd/>
                <a:tailEnd/>
              </a:ln>
            </p:spPr>
            <p:txBody>
              <a:bodyPr wrap="none" anchor="ctr"/>
              <a:lstStyle/>
              <a:p>
                <a:pPr algn="ctr"/>
                <a:r>
                  <a:rPr lang="en-US" b="1" dirty="0">
                    <a:solidFill>
                      <a:prstClr val="white"/>
                    </a:solidFill>
                    <a:latin typeface="Calibri" panose="020F0502020204030204" pitchFamily="34" charset="0"/>
                    <a:cs typeface="Calibri" panose="020F0502020204030204" pitchFamily="34" charset="0"/>
                  </a:rPr>
                  <a:t>PG</a:t>
                </a:r>
              </a:p>
            </p:txBody>
          </p:sp>
          <p:sp>
            <p:nvSpPr>
              <p:cNvPr id="8" name="Rectangle 52"/>
              <p:cNvSpPr>
                <a:spLocks noChangeArrowheads="1"/>
              </p:cNvSpPr>
              <p:nvPr/>
            </p:nvSpPr>
            <p:spPr bwMode="auto">
              <a:xfrm>
                <a:off x="1444" y="2886"/>
                <a:ext cx="367" cy="190"/>
              </a:xfrm>
              <a:prstGeom prst="rect">
                <a:avLst/>
              </a:prstGeom>
              <a:solidFill>
                <a:schemeClr val="accent5"/>
              </a:solidFill>
              <a:ln w="9525">
                <a:solidFill>
                  <a:schemeClr val="bg1">
                    <a:lumMod val="75000"/>
                  </a:schemeClr>
                </a:solidFill>
                <a:miter lim="800000"/>
                <a:headEnd/>
                <a:tailEnd/>
              </a:ln>
            </p:spPr>
            <p:txBody>
              <a:bodyPr wrap="none" anchor="ctr"/>
              <a:lstStyle/>
              <a:p>
                <a:pPr algn="ctr"/>
                <a:r>
                  <a:rPr lang="en-US" b="1" dirty="0">
                    <a:solidFill>
                      <a:prstClr val="white"/>
                    </a:solidFill>
                    <a:latin typeface="Calibri" panose="020F0502020204030204" pitchFamily="34" charset="0"/>
                    <a:cs typeface="Calibri" panose="020F0502020204030204" pitchFamily="34" charset="0"/>
                  </a:rPr>
                  <a:t>PG</a:t>
                </a:r>
              </a:p>
            </p:txBody>
          </p:sp>
          <p:sp>
            <p:nvSpPr>
              <p:cNvPr id="9" name="Rectangle 53"/>
              <p:cNvSpPr>
                <a:spLocks noChangeArrowheads="1"/>
              </p:cNvSpPr>
              <p:nvPr/>
            </p:nvSpPr>
            <p:spPr bwMode="auto">
              <a:xfrm>
                <a:off x="2183" y="2886"/>
                <a:ext cx="368" cy="190"/>
              </a:xfrm>
              <a:prstGeom prst="rect">
                <a:avLst/>
              </a:prstGeom>
              <a:solidFill>
                <a:schemeClr val="accent5"/>
              </a:solidFill>
              <a:ln w="9525">
                <a:solidFill>
                  <a:schemeClr val="bg1">
                    <a:lumMod val="75000"/>
                  </a:schemeClr>
                </a:solidFill>
                <a:miter lim="800000"/>
                <a:headEnd/>
                <a:tailEnd/>
              </a:ln>
            </p:spPr>
            <p:txBody>
              <a:bodyPr wrap="none" anchor="ctr"/>
              <a:lstStyle/>
              <a:p>
                <a:pPr algn="ctr"/>
                <a:r>
                  <a:rPr lang="en-US" b="1" dirty="0">
                    <a:solidFill>
                      <a:prstClr val="white"/>
                    </a:solidFill>
                    <a:latin typeface="Calibri" panose="020F0502020204030204" pitchFamily="34" charset="0"/>
                    <a:cs typeface="Calibri" panose="020F0502020204030204" pitchFamily="34" charset="0"/>
                  </a:rPr>
                  <a:t>PG</a:t>
                </a:r>
              </a:p>
            </p:txBody>
          </p:sp>
          <p:sp>
            <p:nvSpPr>
              <p:cNvPr id="10" name="Rectangle 54"/>
              <p:cNvSpPr>
                <a:spLocks noChangeArrowheads="1"/>
              </p:cNvSpPr>
              <p:nvPr/>
            </p:nvSpPr>
            <p:spPr bwMode="auto">
              <a:xfrm>
                <a:off x="2554" y="2886"/>
                <a:ext cx="368" cy="190"/>
              </a:xfrm>
              <a:prstGeom prst="rect">
                <a:avLst/>
              </a:prstGeom>
              <a:solidFill>
                <a:schemeClr val="accent5"/>
              </a:solidFill>
              <a:ln w="9525">
                <a:solidFill>
                  <a:schemeClr val="bg1">
                    <a:lumMod val="75000"/>
                  </a:schemeClr>
                </a:solidFill>
                <a:miter lim="800000"/>
                <a:headEnd/>
                <a:tailEnd/>
              </a:ln>
            </p:spPr>
            <p:txBody>
              <a:bodyPr wrap="none" anchor="ctr"/>
              <a:lstStyle/>
              <a:p>
                <a:pPr algn="ctr"/>
                <a:r>
                  <a:rPr lang="en-US" b="1" dirty="0">
                    <a:solidFill>
                      <a:prstClr val="white"/>
                    </a:solidFill>
                    <a:latin typeface="Calibri" panose="020F0502020204030204" pitchFamily="34" charset="0"/>
                    <a:cs typeface="Calibri" panose="020F0502020204030204" pitchFamily="34" charset="0"/>
                  </a:rPr>
                  <a:t>PG</a:t>
                </a:r>
              </a:p>
            </p:txBody>
          </p:sp>
        </p:grpSp>
        <p:grpSp>
          <p:nvGrpSpPr>
            <p:cNvPr id="36" name="Group 35"/>
            <p:cNvGrpSpPr/>
            <p:nvPr/>
          </p:nvGrpSpPr>
          <p:grpSpPr>
            <a:xfrm>
              <a:off x="792877" y="5246963"/>
              <a:ext cx="3308367" cy="345744"/>
              <a:chOff x="798078" y="1624084"/>
              <a:chExt cx="3308367" cy="348020"/>
            </a:xfrm>
            <a:effectLst>
              <a:outerShdw blurRad="50800" dist="38100" dir="2700000" algn="tl" rotWithShape="0">
                <a:prstClr val="black">
                  <a:alpha val="40000"/>
                </a:prstClr>
              </a:outerShdw>
            </a:effectLst>
          </p:grpSpPr>
          <p:sp>
            <p:nvSpPr>
              <p:cNvPr id="37" name="Down Arrow 36"/>
              <p:cNvSpPr/>
              <p:nvPr/>
            </p:nvSpPr>
            <p:spPr>
              <a:xfrm rot="10800000">
                <a:off x="798078" y="1624084"/>
                <a:ext cx="177548" cy="348017"/>
              </a:xfrm>
              <a:prstGeom prst="downArrow">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endParaRPr>
              </a:p>
            </p:txBody>
          </p:sp>
          <p:sp>
            <p:nvSpPr>
              <p:cNvPr id="38" name="Down Arrow 37"/>
              <p:cNvSpPr/>
              <p:nvPr/>
            </p:nvSpPr>
            <p:spPr>
              <a:xfrm rot="10800000">
                <a:off x="1582896" y="1624085"/>
                <a:ext cx="177548" cy="348017"/>
              </a:xfrm>
              <a:prstGeom prst="downArrow">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endParaRPr>
              </a:p>
            </p:txBody>
          </p:sp>
          <p:sp>
            <p:nvSpPr>
              <p:cNvPr id="39" name="Down Arrow 38"/>
              <p:cNvSpPr/>
              <p:nvPr/>
            </p:nvSpPr>
            <p:spPr>
              <a:xfrm rot="10800000">
                <a:off x="2367712" y="1624086"/>
                <a:ext cx="177548" cy="348017"/>
              </a:xfrm>
              <a:prstGeom prst="downArrow">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endParaRPr>
              </a:p>
            </p:txBody>
          </p:sp>
          <p:sp>
            <p:nvSpPr>
              <p:cNvPr id="40" name="Down Arrow 39"/>
              <p:cNvSpPr/>
              <p:nvPr/>
            </p:nvSpPr>
            <p:spPr>
              <a:xfrm rot="10800000">
                <a:off x="3145136" y="1624084"/>
                <a:ext cx="177548" cy="348017"/>
              </a:xfrm>
              <a:prstGeom prst="downArrow">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endParaRPr>
              </a:p>
            </p:txBody>
          </p:sp>
          <p:sp>
            <p:nvSpPr>
              <p:cNvPr id="41" name="Down Arrow 40"/>
              <p:cNvSpPr/>
              <p:nvPr/>
            </p:nvSpPr>
            <p:spPr>
              <a:xfrm rot="10800000">
                <a:off x="3928897" y="1624087"/>
                <a:ext cx="177548" cy="348017"/>
              </a:xfrm>
              <a:prstGeom prst="downArrow">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endParaRPr>
              </a:p>
            </p:txBody>
          </p:sp>
        </p:grpSp>
      </p:grpSp>
      <p:sp>
        <p:nvSpPr>
          <p:cNvPr id="42" name="Rectangle 35"/>
          <p:cNvSpPr>
            <a:spLocks noChangeArrowheads="1"/>
          </p:cNvSpPr>
          <p:nvPr/>
        </p:nvSpPr>
        <p:spPr bwMode="auto">
          <a:xfrm>
            <a:off x="380157" y="2695654"/>
            <a:ext cx="3901904" cy="410765"/>
          </a:xfrm>
          <a:prstGeom prst="rect">
            <a:avLst/>
          </a:prstGeom>
          <a:solidFill>
            <a:srgbClr val="FFFF00"/>
          </a:solidFill>
          <a:ln w="9525">
            <a:solidFill>
              <a:schemeClr val="bg1">
                <a:lumMod val="75000"/>
              </a:schemeClr>
            </a:solidFill>
            <a:miter lim="800000"/>
            <a:headEnd/>
            <a:tailEnd/>
          </a:ln>
          <a:effectLst>
            <a:outerShdw blurRad="50800" dist="38100" dir="2700000" algn="tl" rotWithShape="0">
              <a:prstClr val="black">
                <a:alpha val="40000"/>
              </a:prstClr>
            </a:outerShdw>
          </a:effectLst>
        </p:spPr>
        <p:txBody>
          <a:bodyPr wrap="none" anchor="ctr"/>
          <a:lstStyle/>
          <a:p>
            <a:pPr algn="ctr"/>
            <a:r>
              <a:rPr lang="en-US" b="1" dirty="0">
                <a:solidFill>
                  <a:prstClr val="black"/>
                </a:solidFill>
                <a:latin typeface="Calibri" panose="020F0502020204030204" pitchFamily="34" charset="0"/>
                <a:cs typeface="Calibri" panose="020F0502020204030204" pitchFamily="34" charset="0"/>
              </a:rPr>
              <a:t>HDP POOL</a:t>
            </a:r>
          </a:p>
        </p:txBody>
      </p:sp>
      <p:grpSp>
        <p:nvGrpSpPr>
          <p:cNvPr id="50" name="Group 49"/>
          <p:cNvGrpSpPr/>
          <p:nvPr/>
        </p:nvGrpSpPr>
        <p:grpSpPr>
          <a:xfrm>
            <a:off x="380157" y="1893926"/>
            <a:ext cx="3901904" cy="740312"/>
            <a:chOff x="498141" y="3554253"/>
            <a:chExt cx="3901904" cy="987082"/>
          </a:xfrm>
        </p:grpSpPr>
        <p:grpSp>
          <p:nvGrpSpPr>
            <p:cNvPr id="17" name="Group 17"/>
            <p:cNvGrpSpPr>
              <a:grpSpLocks/>
            </p:cNvGrpSpPr>
            <p:nvPr/>
          </p:nvGrpSpPr>
          <p:grpSpPr bwMode="auto">
            <a:xfrm>
              <a:off x="498141" y="3554253"/>
              <a:ext cx="3901904" cy="547687"/>
              <a:chOff x="1075" y="2886"/>
              <a:chExt cx="1847" cy="190"/>
            </a:xfrm>
            <a:solidFill>
              <a:srgbClr val="00B050"/>
            </a:solidFill>
            <a:effectLst>
              <a:outerShdw blurRad="50800" dist="38100" dir="2700000" algn="tl" rotWithShape="0">
                <a:prstClr val="black">
                  <a:alpha val="40000"/>
                </a:prstClr>
              </a:outerShdw>
            </a:effectLst>
          </p:grpSpPr>
          <p:sp>
            <p:nvSpPr>
              <p:cNvPr id="18" name="Rectangle 50"/>
              <p:cNvSpPr>
                <a:spLocks noChangeArrowheads="1"/>
              </p:cNvSpPr>
              <p:nvPr/>
            </p:nvSpPr>
            <p:spPr bwMode="auto">
              <a:xfrm>
                <a:off x="1075" y="2886"/>
                <a:ext cx="368" cy="190"/>
              </a:xfrm>
              <a:prstGeom prst="rect">
                <a:avLst/>
              </a:prstGeom>
              <a:solidFill>
                <a:srgbClr val="A4CE4E"/>
              </a:solidFill>
              <a:ln w="9525">
                <a:solidFill>
                  <a:schemeClr val="bg1">
                    <a:lumMod val="85000"/>
                  </a:schemeClr>
                </a:solidFill>
                <a:miter lim="800000"/>
                <a:headEnd/>
                <a:tailEnd/>
              </a:ln>
            </p:spPr>
            <p:txBody>
              <a:bodyPr wrap="none" anchor="ctr"/>
              <a:lstStyle/>
              <a:p>
                <a:pPr algn="ctr"/>
                <a:r>
                  <a:rPr lang="en-US" b="1" dirty="0">
                    <a:solidFill>
                      <a:prstClr val="black"/>
                    </a:solidFill>
                    <a:latin typeface="Calibri" panose="020F0502020204030204" pitchFamily="34" charset="0"/>
                    <a:cs typeface="Calibri" panose="020F0502020204030204" pitchFamily="34" charset="0"/>
                  </a:rPr>
                  <a:t>DPVOL</a:t>
                </a:r>
              </a:p>
            </p:txBody>
          </p:sp>
          <p:sp>
            <p:nvSpPr>
              <p:cNvPr id="19" name="Rectangle 51"/>
              <p:cNvSpPr>
                <a:spLocks noChangeArrowheads="1"/>
              </p:cNvSpPr>
              <p:nvPr/>
            </p:nvSpPr>
            <p:spPr bwMode="auto">
              <a:xfrm>
                <a:off x="1815" y="2886"/>
                <a:ext cx="368" cy="190"/>
              </a:xfrm>
              <a:prstGeom prst="rect">
                <a:avLst/>
              </a:prstGeom>
              <a:solidFill>
                <a:srgbClr val="A4CE4E"/>
              </a:solidFill>
              <a:ln w="9525">
                <a:solidFill>
                  <a:schemeClr val="bg1">
                    <a:lumMod val="85000"/>
                  </a:schemeClr>
                </a:solidFill>
                <a:miter lim="800000"/>
                <a:headEnd/>
                <a:tailEnd/>
              </a:ln>
            </p:spPr>
            <p:txBody>
              <a:bodyPr wrap="none" anchor="ctr"/>
              <a:lstStyle/>
              <a:p>
                <a:pPr algn="ctr"/>
                <a:r>
                  <a:rPr lang="en-US" b="1" dirty="0">
                    <a:solidFill>
                      <a:prstClr val="black"/>
                    </a:solidFill>
                    <a:latin typeface="Calibri" panose="020F0502020204030204" pitchFamily="34" charset="0"/>
                    <a:cs typeface="Calibri" panose="020F0502020204030204" pitchFamily="34" charset="0"/>
                  </a:rPr>
                  <a:t>DPVOL</a:t>
                </a:r>
              </a:p>
            </p:txBody>
          </p:sp>
          <p:sp>
            <p:nvSpPr>
              <p:cNvPr id="20" name="Rectangle 52"/>
              <p:cNvSpPr>
                <a:spLocks noChangeArrowheads="1"/>
              </p:cNvSpPr>
              <p:nvPr/>
            </p:nvSpPr>
            <p:spPr bwMode="auto">
              <a:xfrm>
                <a:off x="1444" y="2886"/>
                <a:ext cx="367" cy="190"/>
              </a:xfrm>
              <a:prstGeom prst="rect">
                <a:avLst/>
              </a:prstGeom>
              <a:solidFill>
                <a:srgbClr val="A4CE4E"/>
              </a:solidFill>
              <a:ln w="9525">
                <a:solidFill>
                  <a:schemeClr val="bg1">
                    <a:lumMod val="85000"/>
                  </a:schemeClr>
                </a:solidFill>
                <a:miter lim="800000"/>
                <a:headEnd/>
                <a:tailEnd/>
              </a:ln>
            </p:spPr>
            <p:txBody>
              <a:bodyPr wrap="none" anchor="ctr"/>
              <a:lstStyle/>
              <a:p>
                <a:pPr algn="ctr"/>
                <a:r>
                  <a:rPr lang="en-US" b="1" dirty="0">
                    <a:solidFill>
                      <a:prstClr val="black"/>
                    </a:solidFill>
                    <a:latin typeface="Calibri" panose="020F0502020204030204" pitchFamily="34" charset="0"/>
                    <a:cs typeface="Calibri" panose="020F0502020204030204" pitchFamily="34" charset="0"/>
                  </a:rPr>
                  <a:t>DPVOL</a:t>
                </a:r>
              </a:p>
            </p:txBody>
          </p:sp>
          <p:sp>
            <p:nvSpPr>
              <p:cNvPr id="21" name="Rectangle 53"/>
              <p:cNvSpPr>
                <a:spLocks noChangeArrowheads="1"/>
              </p:cNvSpPr>
              <p:nvPr/>
            </p:nvSpPr>
            <p:spPr bwMode="auto">
              <a:xfrm>
                <a:off x="2183" y="2886"/>
                <a:ext cx="368" cy="190"/>
              </a:xfrm>
              <a:prstGeom prst="rect">
                <a:avLst/>
              </a:prstGeom>
              <a:solidFill>
                <a:srgbClr val="A4CE4E"/>
              </a:solidFill>
              <a:ln w="9525">
                <a:solidFill>
                  <a:schemeClr val="bg1">
                    <a:lumMod val="85000"/>
                  </a:schemeClr>
                </a:solidFill>
                <a:miter lim="800000"/>
                <a:headEnd/>
                <a:tailEnd/>
              </a:ln>
            </p:spPr>
            <p:txBody>
              <a:bodyPr wrap="none" anchor="ctr"/>
              <a:lstStyle/>
              <a:p>
                <a:pPr algn="ctr"/>
                <a:r>
                  <a:rPr lang="en-US" b="1" dirty="0">
                    <a:solidFill>
                      <a:prstClr val="black"/>
                    </a:solidFill>
                    <a:latin typeface="Calibri" panose="020F0502020204030204" pitchFamily="34" charset="0"/>
                    <a:cs typeface="Calibri" panose="020F0502020204030204" pitchFamily="34" charset="0"/>
                  </a:rPr>
                  <a:t>DPVOL</a:t>
                </a:r>
              </a:p>
            </p:txBody>
          </p:sp>
          <p:sp>
            <p:nvSpPr>
              <p:cNvPr id="22" name="Rectangle 54"/>
              <p:cNvSpPr>
                <a:spLocks noChangeArrowheads="1"/>
              </p:cNvSpPr>
              <p:nvPr/>
            </p:nvSpPr>
            <p:spPr bwMode="auto">
              <a:xfrm>
                <a:off x="2554" y="2886"/>
                <a:ext cx="368" cy="190"/>
              </a:xfrm>
              <a:prstGeom prst="rect">
                <a:avLst/>
              </a:prstGeom>
              <a:solidFill>
                <a:srgbClr val="A4CE4E"/>
              </a:solidFill>
              <a:ln w="9525">
                <a:solidFill>
                  <a:schemeClr val="bg1">
                    <a:lumMod val="85000"/>
                  </a:schemeClr>
                </a:solidFill>
                <a:miter lim="800000"/>
                <a:headEnd/>
                <a:tailEnd/>
              </a:ln>
            </p:spPr>
            <p:txBody>
              <a:bodyPr wrap="none" anchor="ctr"/>
              <a:lstStyle/>
              <a:p>
                <a:pPr algn="ctr"/>
                <a:r>
                  <a:rPr lang="en-US" b="1" dirty="0">
                    <a:solidFill>
                      <a:prstClr val="black"/>
                    </a:solidFill>
                    <a:latin typeface="Calibri" panose="020F0502020204030204" pitchFamily="34" charset="0"/>
                    <a:cs typeface="Calibri" panose="020F0502020204030204" pitchFamily="34" charset="0"/>
                  </a:rPr>
                  <a:t>DPVOL</a:t>
                </a:r>
              </a:p>
            </p:txBody>
          </p:sp>
        </p:grpSp>
        <p:grpSp>
          <p:nvGrpSpPr>
            <p:cNvPr id="43" name="Group 42"/>
            <p:cNvGrpSpPr/>
            <p:nvPr/>
          </p:nvGrpSpPr>
          <p:grpSpPr>
            <a:xfrm>
              <a:off x="792877" y="4195591"/>
              <a:ext cx="3308367" cy="345744"/>
              <a:chOff x="798078" y="1624084"/>
              <a:chExt cx="3308367" cy="348020"/>
            </a:xfrm>
            <a:effectLst>
              <a:outerShdw blurRad="50800" dist="38100" dir="2700000" algn="tl" rotWithShape="0">
                <a:prstClr val="black">
                  <a:alpha val="40000"/>
                </a:prstClr>
              </a:outerShdw>
            </a:effectLst>
          </p:grpSpPr>
          <p:sp>
            <p:nvSpPr>
              <p:cNvPr id="44" name="Down Arrow 43"/>
              <p:cNvSpPr/>
              <p:nvPr/>
            </p:nvSpPr>
            <p:spPr>
              <a:xfrm rot="10800000">
                <a:off x="798078" y="1624084"/>
                <a:ext cx="177548" cy="348017"/>
              </a:xfrm>
              <a:prstGeom prst="downArrow">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endParaRPr>
              </a:p>
            </p:txBody>
          </p:sp>
          <p:sp>
            <p:nvSpPr>
              <p:cNvPr id="45" name="Down Arrow 44"/>
              <p:cNvSpPr/>
              <p:nvPr/>
            </p:nvSpPr>
            <p:spPr>
              <a:xfrm rot="10800000">
                <a:off x="1582896" y="1624085"/>
                <a:ext cx="177548" cy="348017"/>
              </a:xfrm>
              <a:prstGeom prst="downArrow">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endParaRPr>
              </a:p>
            </p:txBody>
          </p:sp>
          <p:sp>
            <p:nvSpPr>
              <p:cNvPr id="46" name="Down Arrow 45"/>
              <p:cNvSpPr/>
              <p:nvPr/>
            </p:nvSpPr>
            <p:spPr>
              <a:xfrm rot="10800000">
                <a:off x="2367712" y="1624086"/>
                <a:ext cx="177548" cy="348017"/>
              </a:xfrm>
              <a:prstGeom prst="downArrow">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endParaRPr>
              </a:p>
            </p:txBody>
          </p:sp>
          <p:sp>
            <p:nvSpPr>
              <p:cNvPr id="47" name="Down Arrow 46"/>
              <p:cNvSpPr/>
              <p:nvPr/>
            </p:nvSpPr>
            <p:spPr>
              <a:xfrm rot="10800000">
                <a:off x="3145136" y="1624084"/>
                <a:ext cx="177548" cy="348017"/>
              </a:xfrm>
              <a:prstGeom prst="downArrow">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endParaRPr>
              </a:p>
            </p:txBody>
          </p:sp>
          <p:sp>
            <p:nvSpPr>
              <p:cNvPr id="48" name="Down Arrow 47"/>
              <p:cNvSpPr/>
              <p:nvPr/>
            </p:nvSpPr>
            <p:spPr>
              <a:xfrm rot="10800000">
                <a:off x="3928897" y="1624087"/>
                <a:ext cx="177548" cy="348017"/>
              </a:xfrm>
              <a:prstGeom prst="downArrow">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endParaRPr>
              </a:p>
            </p:txBody>
          </p:sp>
        </p:grpSp>
      </p:grpSp>
      <p:sp>
        <p:nvSpPr>
          <p:cNvPr id="52" name="Content Placeholder 2"/>
          <p:cNvSpPr txBox="1">
            <a:spLocks/>
          </p:cNvSpPr>
          <p:nvPr/>
        </p:nvSpPr>
        <p:spPr>
          <a:xfrm>
            <a:off x="4502150" y="985117"/>
            <a:ext cx="4559300" cy="1961306"/>
          </a:xfrm>
          <a:prstGeom prst="rect">
            <a:avLst/>
          </a:prstGeom>
        </p:spPr>
        <p:txBody>
          <a:bodyPr vert="horz" wrap="square" lIns="91440" tIns="45720" rIns="91440" bIns="45720" rtlCol="0">
            <a:noAutofit/>
          </a:bodyPr>
          <a:lstStyle>
            <a:lvl1pPr marL="280988" indent="-280988" algn="l" defTabSz="914400" rtl="0" eaLnBrk="1" latinLnBrk="0" hangingPunct="1">
              <a:lnSpc>
                <a:spcPct val="100000"/>
              </a:lnSpc>
              <a:spcBef>
                <a:spcPts val="1200"/>
              </a:spcBef>
              <a:spcAft>
                <a:spcPts val="600"/>
              </a:spcAft>
              <a:buClr>
                <a:schemeClr val="accent2"/>
              </a:buClr>
              <a:buFont typeface="Wingdings" charset="2"/>
              <a:buChar char="§"/>
              <a:defRPr lang="en-US" sz="2200" kern="1200" dirty="0" smtClean="0">
                <a:solidFill>
                  <a:schemeClr val="tx1"/>
                </a:solidFill>
                <a:latin typeface="+mn-lt"/>
                <a:ea typeface="+mn-ea"/>
                <a:cs typeface="+mn-cs"/>
              </a:defRPr>
            </a:lvl1pPr>
            <a:lvl2pPr marL="574675" indent="-293688" algn="l" defTabSz="914400" rtl="0" eaLnBrk="1" latinLnBrk="0" hangingPunct="1">
              <a:lnSpc>
                <a:spcPct val="95000"/>
              </a:lnSpc>
              <a:spcBef>
                <a:spcPct val="20000"/>
              </a:spcBef>
              <a:spcAft>
                <a:spcPts val="800"/>
              </a:spcAft>
              <a:buFontTx/>
              <a:buChar char="‒"/>
              <a:defRPr lang="en-US" sz="2000" kern="1200" dirty="0" smtClean="0">
                <a:solidFill>
                  <a:schemeClr val="tx1"/>
                </a:solidFill>
                <a:latin typeface="+mn-lt"/>
                <a:ea typeface="+mn-ea"/>
                <a:cs typeface="+mn-cs"/>
              </a:defRPr>
            </a:lvl2pPr>
            <a:lvl3pPr marL="855663" indent="-280988" algn="l" defTabSz="914400" rtl="0" eaLnBrk="1" latinLnBrk="0" hangingPunct="1">
              <a:lnSpc>
                <a:spcPct val="95000"/>
              </a:lnSpc>
              <a:spcBef>
                <a:spcPts val="0"/>
              </a:spcBef>
              <a:spcAft>
                <a:spcPts val="800"/>
              </a:spcAft>
              <a:buFontTx/>
              <a:buChar char="‒"/>
              <a:defRPr lang="en-US" sz="1800" kern="1200" dirty="0" smtClean="0">
                <a:solidFill>
                  <a:schemeClr val="tx1"/>
                </a:solidFill>
                <a:latin typeface="+mn-lt"/>
                <a:ea typeface="+mn-ea"/>
                <a:cs typeface="+mn-cs"/>
              </a:defRPr>
            </a:lvl3pPr>
            <a:lvl4pPr marL="1090613" indent="-234950" algn="l" defTabSz="914400" rtl="0" eaLnBrk="1" latinLnBrk="0" hangingPunct="1">
              <a:lnSpc>
                <a:spcPct val="95000"/>
              </a:lnSpc>
              <a:spcBef>
                <a:spcPts val="0"/>
              </a:spcBef>
              <a:spcAft>
                <a:spcPts val="800"/>
              </a:spcAft>
              <a:buFontTx/>
              <a:buChar char="‒"/>
              <a:defRPr lang="en-US" sz="1800" kern="1200" dirty="0" smtClean="0">
                <a:solidFill>
                  <a:schemeClr val="tx1"/>
                </a:solidFill>
                <a:latin typeface="+mn-lt"/>
                <a:ea typeface="+mn-ea"/>
                <a:cs typeface="+mn-cs"/>
              </a:defRPr>
            </a:lvl4pPr>
            <a:lvl5pPr marL="1312863" indent="-222250" algn="l" defTabSz="914400" rtl="0" eaLnBrk="1" latinLnBrk="0" hangingPunct="1">
              <a:lnSpc>
                <a:spcPct val="95000"/>
              </a:lnSpc>
              <a:spcBef>
                <a:spcPts val="0"/>
              </a:spcBef>
              <a:spcAft>
                <a:spcPts val="800"/>
              </a:spcAft>
              <a:buFontTx/>
              <a:buChar char="‒"/>
              <a:defRPr lang="en-US" sz="1800" kern="1200" dirty="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GB" sz="1200" dirty="0"/>
              <a:t>HDP is a Virtual RAID layers that provides thin provisioning and wide-striping capabilities</a:t>
            </a:r>
          </a:p>
          <a:p>
            <a:r>
              <a:rPr lang="en-GB" sz="1200" dirty="0"/>
              <a:t>Multiple LDEVs created on top of PGs</a:t>
            </a:r>
          </a:p>
          <a:p>
            <a:r>
              <a:rPr lang="en-GB" sz="1200" dirty="0"/>
              <a:t>HDP Pool created from Multiple LDEVs (Pool Volumes)</a:t>
            </a:r>
          </a:p>
          <a:p>
            <a:r>
              <a:rPr lang="en-GB" sz="1200" dirty="0"/>
              <a:t>Create Virtual LUs, called DP-Volumes, on top of the DP Pool</a:t>
            </a:r>
          </a:p>
          <a:p>
            <a:r>
              <a:rPr lang="en-GB" sz="1200" dirty="0"/>
              <a:t>HNAS sees the DP-Volumes, not the PGs or the LDEVs</a:t>
            </a:r>
          </a:p>
          <a:p>
            <a:r>
              <a:rPr lang="en-GB" sz="1200" dirty="0"/>
              <a:t>Total capacity of DP-Volumes can exceed the physically installed capacity (Thin Provisioning)</a:t>
            </a:r>
          </a:p>
          <a:p>
            <a:r>
              <a:rPr lang="en-GB" sz="1200" dirty="0"/>
              <a:t>Real disk space is allocated from parity groups the first time the server writes to the DP-Volumes</a:t>
            </a:r>
          </a:p>
          <a:p>
            <a:r>
              <a:rPr lang="en-GB" sz="1200" dirty="0"/>
              <a:t>I/O to a single DP-Vol is multiplexed among all pool volumes</a:t>
            </a:r>
          </a:p>
        </p:txBody>
      </p:sp>
      <p:grpSp>
        <p:nvGrpSpPr>
          <p:cNvPr id="79" name="Group 78"/>
          <p:cNvGrpSpPr/>
          <p:nvPr/>
        </p:nvGrpSpPr>
        <p:grpSpPr>
          <a:xfrm>
            <a:off x="645523" y="3135508"/>
            <a:ext cx="3308367" cy="345744"/>
            <a:chOff x="798078" y="1624084"/>
            <a:chExt cx="3308367" cy="348020"/>
          </a:xfrm>
          <a:effectLst>
            <a:outerShdw blurRad="50800" dist="38100" dir="2700000" algn="tl" rotWithShape="0">
              <a:prstClr val="black">
                <a:alpha val="40000"/>
              </a:prstClr>
            </a:outerShdw>
          </a:effectLst>
        </p:grpSpPr>
        <p:sp>
          <p:nvSpPr>
            <p:cNvPr id="80" name="Down Arrow 79"/>
            <p:cNvSpPr/>
            <p:nvPr/>
          </p:nvSpPr>
          <p:spPr>
            <a:xfrm rot="10800000">
              <a:off x="798078" y="1624084"/>
              <a:ext cx="177548" cy="348017"/>
            </a:xfrm>
            <a:prstGeom prst="downArrow">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endParaRPr>
            </a:p>
          </p:txBody>
        </p:sp>
        <p:sp>
          <p:nvSpPr>
            <p:cNvPr id="81" name="Down Arrow 80"/>
            <p:cNvSpPr/>
            <p:nvPr/>
          </p:nvSpPr>
          <p:spPr>
            <a:xfrm rot="10800000">
              <a:off x="1582896" y="1624085"/>
              <a:ext cx="177548" cy="348017"/>
            </a:xfrm>
            <a:prstGeom prst="downArrow">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endParaRPr>
            </a:p>
          </p:txBody>
        </p:sp>
        <p:sp>
          <p:nvSpPr>
            <p:cNvPr id="82" name="Down Arrow 81"/>
            <p:cNvSpPr/>
            <p:nvPr/>
          </p:nvSpPr>
          <p:spPr>
            <a:xfrm rot="10800000">
              <a:off x="2367712" y="1624086"/>
              <a:ext cx="177548" cy="348017"/>
            </a:xfrm>
            <a:prstGeom prst="downArrow">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endParaRPr>
            </a:p>
          </p:txBody>
        </p:sp>
        <p:sp>
          <p:nvSpPr>
            <p:cNvPr id="83" name="Down Arrow 82"/>
            <p:cNvSpPr/>
            <p:nvPr/>
          </p:nvSpPr>
          <p:spPr>
            <a:xfrm rot="10800000">
              <a:off x="3145136" y="1624084"/>
              <a:ext cx="177548" cy="348017"/>
            </a:xfrm>
            <a:prstGeom prst="downArrow">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endParaRPr>
            </a:p>
          </p:txBody>
        </p:sp>
        <p:sp>
          <p:nvSpPr>
            <p:cNvPr id="84" name="Down Arrow 83"/>
            <p:cNvSpPr/>
            <p:nvPr/>
          </p:nvSpPr>
          <p:spPr>
            <a:xfrm rot="10800000">
              <a:off x="3928897" y="1624087"/>
              <a:ext cx="177548" cy="348017"/>
            </a:xfrm>
            <a:prstGeom prst="downArrow">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endParaRPr>
            </a:p>
          </p:txBody>
        </p:sp>
      </p:grpSp>
      <p:grpSp>
        <p:nvGrpSpPr>
          <p:cNvPr id="3" name="Group 2">
            <a:extLst>
              <a:ext uri="{FF2B5EF4-FFF2-40B4-BE49-F238E27FC236}">
                <a16:creationId xmlns:a16="http://schemas.microsoft.com/office/drawing/2014/main" id="{722F243A-50F9-0148-B2A6-8B5BF9FC1DC6}"/>
              </a:ext>
            </a:extLst>
          </p:cNvPr>
          <p:cNvGrpSpPr/>
          <p:nvPr/>
        </p:nvGrpSpPr>
        <p:grpSpPr>
          <a:xfrm>
            <a:off x="428028" y="3531441"/>
            <a:ext cx="3802101" cy="410766"/>
            <a:chOff x="378126" y="3495867"/>
            <a:chExt cx="3802101" cy="410766"/>
          </a:xfrm>
        </p:grpSpPr>
        <p:sp>
          <p:nvSpPr>
            <p:cNvPr id="61" name="Rectangle 50"/>
            <p:cNvSpPr>
              <a:spLocks noChangeArrowheads="1"/>
            </p:cNvSpPr>
            <p:nvPr/>
          </p:nvSpPr>
          <p:spPr bwMode="auto">
            <a:xfrm>
              <a:off x="378126" y="3495867"/>
              <a:ext cx="470093" cy="410766"/>
            </a:xfrm>
            <a:prstGeom prst="rect">
              <a:avLst/>
            </a:prstGeom>
            <a:solidFill>
              <a:srgbClr val="A4CE4E"/>
            </a:solidFill>
            <a:ln w="9525">
              <a:solidFill>
                <a:schemeClr val="bg1">
                  <a:lumMod val="85000"/>
                </a:schemeClr>
              </a:solidFill>
              <a:miter lim="800000"/>
              <a:headEnd/>
              <a:tailEnd/>
            </a:ln>
          </p:spPr>
          <p:txBody>
            <a:bodyPr wrap="none" anchor="ctr"/>
            <a:lstStyle/>
            <a:p>
              <a:pPr algn="ctr"/>
              <a:r>
                <a:rPr lang="en-US" sz="1200" b="1" dirty="0">
                  <a:solidFill>
                    <a:prstClr val="black"/>
                  </a:solidFill>
                  <a:latin typeface="Calibri" panose="020F0502020204030204" pitchFamily="34" charset="0"/>
                  <a:cs typeface="Calibri" panose="020F0502020204030204" pitchFamily="34" charset="0"/>
                </a:rPr>
                <a:t>LDEV</a:t>
              </a:r>
            </a:p>
          </p:txBody>
        </p:sp>
        <p:sp>
          <p:nvSpPr>
            <p:cNvPr id="56" name="Rectangle 50">
              <a:extLst>
                <a:ext uri="{FF2B5EF4-FFF2-40B4-BE49-F238E27FC236}">
                  <a16:creationId xmlns:a16="http://schemas.microsoft.com/office/drawing/2014/main" id="{90BE9373-6982-294E-B0E0-851E0CD6029B}"/>
                </a:ext>
              </a:extLst>
            </p:cNvPr>
            <p:cNvSpPr>
              <a:spLocks noChangeArrowheads="1"/>
            </p:cNvSpPr>
            <p:nvPr/>
          </p:nvSpPr>
          <p:spPr bwMode="auto">
            <a:xfrm>
              <a:off x="848219" y="3495867"/>
              <a:ext cx="470093" cy="410766"/>
            </a:xfrm>
            <a:prstGeom prst="rect">
              <a:avLst/>
            </a:prstGeom>
            <a:solidFill>
              <a:srgbClr val="A4CE4E"/>
            </a:solidFill>
            <a:ln w="9525">
              <a:solidFill>
                <a:schemeClr val="bg1">
                  <a:lumMod val="85000"/>
                </a:schemeClr>
              </a:solidFill>
              <a:miter lim="800000"/>
              <a:headEnd/>
              <a:tailEnd/>
            </a:ln>
          </p:spPr>
          <p:txBody>
            <a:bodyPr wrap="none" anchor="ctr"/>
            <a:lstStyle/>
            <a:p>
              <a:pPr algn="ctr"/>
              <a:r>
                <a:rPr lang="en-US" sz="1200" b="1" dirty="0">
                  <a:solidFill>
                    <a:prstClr val="black"/>
                  </a:solidFill>
                  <a:latin typeface="Calibri" panose="020F0502020204030204" pitchFamily="34" charset="0"/>
                  <a:cs typeface="Calibri" panose="020F0502020204030204" pitchFamily="34" charset="0"/>
                </a:rPr>
                <a:t>LDEV</a:t>
              </a:r>
            </a:p>
          </p:txBody>
        </p:sp>
        <p:sp>
          <p:nvSpPr>
            <p:cNvPr id="57" name="Rectangle 50">
              <a:extLst>
                <a:ext uri="{FF2B5EF4-FFF2-40B4-BE49-F238E27FC236}">
                  <a16:creationId xmlns:a16="http://schemas.microsoft.com/office/drawing/2014/main" id="{3794A739-2A86-D441-ADF2-A798936DB27D}"/>
                </a:ext>
              </a:extLst>
            </p:cNvPr>
            <p:cNvSpPr>
              <a:spLocks noChangeArrowheads="1"/>
            </p:cNvSpPr>
            <p:nvPr/>
          </p:nvSpPr>
          <p:spPr bwMode="auto">
            <a:xfrm>
              <a:off x="1316559" y="3495867"/>
              <a:ext cx="470093" cy="410766"/>
            </a:xfrm>
            <a:prstGeom prst="rect">
              <a:avLst/>
            </a:prstGeom>
            <a:solidFill>
              <a:srgbClr val="A4CE4E"/>
            </a:solidFill>
            <a:ln w="9525">
              <a:solidFill>
                <a:schemeClr val="bg1">
                  <a:lumMod val="85000"/>
                </a:schemeClr>
              </a:solidFill>
              <a:miter lim="800000"/>
              <a:headEnd/>
              <a:tailEnd/>
            </a:ln>
          </p:spPr>
          <p:txBody>
            <a:bodyPr wrap="none" anchor="ctr"/>
            <a:lstStyle/>
            <a:p>
              <a:pPr algn="ctr"/>
              <a:r>
                <a:rPr lang="en-US" sz="1200" b="1" dirty="0">
                  <a:solidFill>
                    <a:prstClr val="black"/>
                  </a:solidFill>
                  <a:latin typeface="Calibri" panose="020F0502020204030204" pitchFamily="34" charset="0"/>
                  <a:cs typeface="Calibri" panose="020F0502020204030204" pitchFamily="34" charset="0"/>
                </a:rPr>
                <a:t>LDEV</a:t>
              </a:r>
            </a:p>
          </p:txBody>
        </p:sp>
        <p:sp>
          <p:nvSpPr>
            <p:cNvPr id="58" name="Rectangle 50">
              <a:extLst>
                <a:ext uri="{FF2B5EF4-FFF2-40B4-BE49-F238E27FC236}">
                  <a16:creationId xmlns:a16="http://schemas.microsoft.com/office/drawing/2014/main" id="{FB6BE314-E786-B84C-B5DB-DFEDBEFF4266}"/>
                </a:ext>
              </a:extLst>
            </p:cNvPr>
            <p:cNvSpPr>
              <a:spLocks noChangeArrowheads="1"/>
            </p:cNvSpPr>
            <p:nvPr/>
          </p:nvSpPr>
          <p:spPr bwMode="auto">
            <a:xfrm>
              <a:off x="1798294" y="3495867"/>
              <a:ext cx="470093" cy="410766"/>
            </a:xfrm>
            <a:prstGeom prst="rect">
              <a:avLst/>
            </a:prstGeom>
            <a:solidFill>
              <a:srgbClr val="A4CE4E"/>
            </a:solidFill>
            <a:ln w="9525">
              <a:solidFill>
                <a:schemeClr val="bg1">
                  <a:lumMod val="85000"/>
                </a:schemeClr>
              </a:solidFill>
              <a:miter lim="800000"/>
              <a:headEnd/>
              <a:tailEnd/>
            </a:ln>
          </p:spPr>
          <p:txBody>
            <a:bodyPr wrap="none" anchor="ctr"/>
            <a:lstStyle/>
            <a:p>
              <a:pPr algn="ctr"/>
              <a:r>
                <a:rPr lang="en-US" sz="1200" b="1" dirty="0">
                  <a:solidFill>
                    <a:prstClr val="black"/>
                  </a:solidFill>
                  <a:latin typeface="Calibri" panose="020F0502020204030204" pitchFamily="34" charset="0"/>
                  <a:cs typeface="Calibri" panose="020F0502020204030204" pitchFamily="34" charset="0"/>
                </a:rPr>
                <a:t>LDEV</a:t>
              </a:r>
            </a:p>
          </p:txBody>
        </p:sp>
        <p:sp>
          <p:nvSpPr>
            <p:cNvPr id="59" name="Rectangle 50">
              <a:extLst>
                <a:ext uri="{FF2B5EF4-FFF2-40B4-BE49-F238E27FC236}">
                  <a16:creationId xmlns:a16="http://schemas.microsoft.com/office/drawing/2014/main" id="{B5AE0A13-D74F-804A-A531-8B35F8C38D27}"/>
                </a:ext>
              </a:extLst>
            </p:cNvPr>
            <p:cNvSpPr>
              <a:spLocks noChangeArrowheads="1"/>
            </p:cNvSpPr>
            <p:nvPr/>
          </p:nvSpPr>
          <p:spPr bwMode="auto">
            <a:xfrm>
              <a:off x="2269683" y="3495867"/>
              <a:ext cx="470093" cy="410766"/>
            </a:xfrm>
            <a:prstGeom prst="rect">
              <a:avLst/>
            </a:prstGeom>
            <a:solidFill>
              <a:srgbClr val="A4CE4E"/>
            </a:solidFill>
            <a:ln w="9525">
              <a:solidFill>
                <a:schemeClr val="bg1">
                  <a:lumMod val="85000"/>
                </a:schemeClr>
              </a:solidFill>
              <a:miter lim="800000"/>
              <a:headEnd/>
              <a:tailEnd/>
            </a:ln>
          </p:spPr>
          <p:txBody>
            <a:bodyPr wrap="none" anchor="ctr"/>
            <a:lstStyle/>
            <a:p>
              <a:pPr algn="ctr"/>
              <a:r>
                <a:rPr lang="en-US" sz="1200" b="1" dirty="0">
                  <a:solidFill>
                    <a:prstClr val="black"/>
                  </a:solidFill>
                  <a:latin typeface="Calibri" panose="020F0502020204030204" pitchFamily="34" charset="0"/>
                  <a:cs typeface="Calibri" panose="020F0502020204030204" pitchFamily="34" charset="0"/>
                </a:rPr>
                <a:t>LDEV</a:t>
              </a:r>
            </a:p>
          </p:txBody>
        </p:sp>
        <p:sp>
          <p:nvSpPr>
            <p:cNvPr id="60" name="Rectangle 50">
              <a:extLst>
                <a:ext uri="{FF2B5EF4-FFF2-40B4-BE49-F238E27FC236}">
                  <a16:creationId xmlns:a16="http://schemas.microsoft.com/office/drawing/2014/main" id="{2468820C-97CE-CA46-9525-9D8602321C78}"/>
                </a:ext>
              </a:extLst>
            </p:cNvPr>
            <p:cNvSpPr>
              <a:spLocks noChangeArrowheads="1"/>
            </p:cNvSpPr>
            <p:nvPr/>
          </p:nvSpPr>
          <p:spPr bwMode="auto">
            <a:xfrm>
              <a:off x="2753067" y="3495867"/>
              <a:ext cx="470093" cy="410766"/>
            </a:xfrm>
            <a:prstGeom prst="rect">
              <a:avLst/>
            </a:prstGeom>
            <a:solidFill>
              <a:srgbClr val="A4CE4E"/>
            </a:solidFill>
            <a:ln w="9525">
              <a:solidFill>
                <a:schemeClr val="bg1">
                  <a:lumMod val="85000"/>
                </a:schemeClr>
              </a:solidFill>
              <a:miter lim="800000"/>
              <a:headEnd/>
              <a:tailEnd/>
            </a:ln>
          </p:spPr>
          <p:txBody>
            <a:bodyPr wrap="none" anchor="ctr"/>
            <a:lstStyle/>
            <a:p>
              <a:pPr algn="ctr"/>
              <a:r>
                <a:rPr lang="en-US" sz="1200" b="1" dirty="0">
                  <a:solidFill>
                    <a:prstClr val="black"/>
                  </a:solidFill>
                  <a:latin typeface="Calibri" panose="020F0502020204030204" pitchFamily="34" charset="0"/>
                  <a:cs typeface="Calibri" panose="020F0502020204030204" pitchFamily="34" charset="0"/>
                </a:rPr>
                <a:t>LDEV</a:t>
              </a:r>
            </a:p>
          </p:txBody>
        </p:sp>
        <p:sp>
          <p:nvSpPr>
            <p:cNvPr id="67" name="Rectangle 50">
              <a:extLst>
                <a:ext uri="{FF2B5EF4-FFF2-40B4-BE49-F238E27FC236}">
                  <a16:creationId xmlns:a16="http://schemas.microsoft.com/office/drawing/2014/main" id="{6373E76D-FD2A-C44E-BA42-3F53F1A6DE20}"/>
                </a:ext>
              </a:extLst>
            </p:cNvPr>
            <p:cNvSpPr>
              <a:spLocks noChangeArrowheads="1"/>
            </p:cNvSpPr>
            <p:nvPr/>
          </p:nvSpPr>
          <p:spPr bwMode="auto">
            <a:xfrm>
              <a:off x="3229038" y="3495867"/>
              <a:ext cx="470093" cy="410766"/>
            </a:xfrm>
            <a:prstGeom prst="rect">
              <a:avLst/>
            </a:prstGeom>
            <a:solidFill>
              <a:srgbClr val="A4CE4E"/>
            </a:solidFill>
            <a:ln w="9525">
              <a:solidFill>
                <a:schemeClr val="bg1">
                  <a:lumMod val="85000"/>
                </a:schemeClr>
              </a:solidFill>
              <a:miter lim="800000"/>
              <a:headEnd/>
              <a:tailEnd/>
            </a:ln>
          </p:spPr>
          <p:txBody>
            <a:bodyPr wrap="none" anchor="ctr"/>
            <a:lstStyle/>
            <a:p>
              <a:pPr algn="ctr"/>
              <a:r>
                <a:rPr lang="en-US" sz="1200" b="1" dirty="0">
                  <a:solidFill>
                    <a:prstClr val="black"/>
                  </a:solidFill>
                  <a:latin typeface="Calibri" panose="020F0502020204030204" pitchFamily="34" charset="0"/>
                  <a:cs typeface="Calibri" panose="020F0502020204030204" pitchFamily="34" charset="0"/>
                </a:rPr>
                <a:t>LDEV</a:t>
              </a:r>
            </a:p>
          </p:txBody>
        </p:sp>
        <p:sp>
          <p:nvSpPr>
            <p:cNvPr id="68" name="Rectangle 50">
              <a:extLst>
                <a:ext uri="{FF2B5EF4-FFF2-40B4-BE49-F238E27FC236}">
                  <a16:creationId xmlns:a16="http://schemas.microsoft.com/office/drawing/2014/main" id="{4F9D3148-3399-9C4A-BBCA-327B8BABDE37}"/>
                </a:ext>
              </a:extLst>
            </p:cNvPr>
            <p:cNvSpPr>
              <a:spLocks noChangeArrowheads="1"/>
            </p:cNvSpPr>
            <p:nvPr/>
          </p:nvSpPr>
          <p:spPr bwMode="auto">
            <a:xfrm>
              <a:off x="3710134" y="3495867"/>
              <a:ext cx="470093" cy="410766"/>
            </a:xfrm>
            <a:prstGeom prst="rect">
              <a:avLst/>
            </a:prstGeom>
            <a:solidFill>
              <a:srgbClr val="A4CE4E"/>
            </a:solidFill>
            <a:ln w="9525">
              <a:solidFill>
                <a:schemeClr val="bg1">
                  <a:lumMod val="85000"/>
                </a:schemeClr>
              </a:solidFill>
              <a:miter lim="800000"/>
              <a:headEnd/>
              <a:tailEnd/>
            </a:ln>
          </p:spPr>
          <p:txBody>
            <a:bodyPr wrap="none" anchor="ctr"/>
            <a:lstStyle/>
            <a:p>
              <a:pPr algn="ctr"/>
              <a:r>
                <a:rPr lang="en-US" sz="1200" b="1" dirty="0">
                  <a:solidFill>
                    <a:prstClr val="black"/>
                  </a:solidFill>
                  <a:latin typeface="Calibri" panose="020F0502020204030204" pitchFamily="34" charset="0"/>
                  <a:cs typeface="Calibri" panose="020F0502020204030204" pitchFamily="34" charset="0"/>
                </a:rPr>
                <a:t>LDEV</a:t>
              </a:r>
            </a:p>
          </p:txBody>
        </p:sp>
      </p:grpSp>
    </p:spTree>
    <p:extLst>
      <p:ext uri="{BB962C8B-B14F-4D97-AF65-F5344CB8AC3E}">
        <p14:creationId xmlns:p14="http://schemas.microsoft.com/office/powerpoint/2010/main" val="290577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49"/>
                                        </p:tgtEl>
                                        <p:attrNameLst>
                                          <p:attrName>style.visibility</p:attrName>
                                        </p:attrNameLst>
                                      </p:cBhvr>
                                      <p:to>
                                        <p:strVal val="visible"/>
                                      </p:to>
                                    </p:set>
                                    <p:animEffect transition="in" filter="wipe(down)">
                                      <p:cBhvr>
                                        <p:cTn id="7" dur="500"/>
                                        <p:tgtEl>
                                          <p:spTgt spid="49"/>
                                        </p:tgtEl>
                                      </p:cBhvr>
                                    </p:animEffect>
                                  </p:childTnLst>
                                </p:cTn>
                              </p:par>
                            </p:childTnLst>
                          </p:cTn>
                        </p:par>
                        <p:par>
                          <p:cTn id="8" fill="hold">
                            <p:stCondLst>
                              <p:cond delay="500"/>
                            </p:stCondLst>
                            <p:childTnLst>
                              <p:par>
                                <p:cTn id="9" presetID="22" presetClass="entr" presetSubtype="4" fill="hold" grpId="0" nodeType="afterEffect">
                                  <p:stCondLst>
                                    <p:cond delay="500"/>
                                  </p:stCondLst>
                                  <p:childTnLst>
                                    <p:set>
                                      <p:cBhvr>
                                        <p:cTn id="10" dur="1" fill="hold">
                                          <p:stCondLst>
                                            <p:cond delay="0"/>
                                          </p:stCondLst>
                                        </p:cTn>
                                        <p:tgtEl>
                                          <p:spTgt spid="42"/>
                                        </p:tgtEl>
                                        <p:attrNameLst>
                                          <p:attrName>style.visibility</p:attrName>
                                        </p:attrNameLst>
                                      </p:cBhvr>
                                      <p:to>
                                        <p:strVal val="visible"/>
                                      </p:to>
                                    </p:set>
                                    <p:animEffect transition="in" filter="wipe(down)">
                                      <p:cBhvr>
                                        <p:cTn id="11" dur="1000"/>
                                        <p:tgtEl>
                                          <p:spTgt spid="42"/>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4" fill="hold" nodeType="clickEffect">
                                  <p:stCondLst>
                                    <p:cond delay="0"/>
                                  </p:stCondLst>
                                  <p:childTnLst>
                                    <p:set>
                                      <p:cBhvr>
                                        <p:cTn id="15" dur="1" fill="hold">
                                          <p:stCondLst>
                                            <p:cond delay="0"/>
                                          </p:stCondLst>
                                        </p:cTn>
                                        <p:tgtEl>
                                          <p:spTgt spid="50"/>
                                        </p:tgtEl>
                                        <p:attrNameLst>
                                          <p:attrName>style.visibility</p:attrName>
                                        </p:attrNameLst>
                                      </p:cBhvr>
                                      <p:to>
                                        <p:strVal val="visible"/>
                                      </p:to>
                                    </p:set>
                                    <p:animEffect transition="in" filter="wipe(down)">
                                      <p:cBhvr>
                                        <p:cTn id="16" dur="500"/>
                                        <p:tgtEl>
                                          <p:spTgt spid="50"/>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4" fill="hold" nodeType="clickEffect">
                                  <p:stCondLst>
                                    <p:cond delay="0"/>
                                  </p:stCondLst>
                                  <p:childTnLst>
                                    <p:set>
                                      <p:cBhvr>
                                        <p:cTn id="20" dur="1" fill="hold">
                                          <p:stCondLst>
                                            <p:cond delay="0"/>
                                          </p:stCondLst>
                                        </p:cTn>
                                        <p:tgtEl>
                                          <p:spTgt spid="51"/>
                                        </p:tgtEl>
                                        <p:attrNameLst>
                                          <p:attrName>style.visibility</p:attrName>
                                        </p:attrNameLst>
                                      </p:cBhvr>
                                      <p:to>
                                        <p:strVal val="visible"/>
                                      </p:to>
                                    </p:set>
                                    <p:animEffect transition="in" filter="wipe(down)">
                                      <p:cBhvr>
                                        <p:cTn id="21" dur="50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What is “Thin Provisioning”?</a:t>
            </a:r>
          </a:p>
        </p:txBody>
      </p:sp>
      <p:sp>
        <p:nvSpPr>
          <p:cNvPr id="3" name="Content Placeholder 2"/>
          <p:cNvSpPr>
            <a:spLocks noGrp="1"/>
          </p:cNvSpPr>
          <p:nvPr>
            <p:ph idx="1"/>
          </p:nvPr>
        </p:nvSpPr>
        <p:spPr>
          <a:xfrm>
            <a:off x="190500" y="990601"/>
            <a:ext cx="8229600" cy="3288080"/>
          </a:xfrm>
        </p:spPr>
        <p:txBody>
          <a:bodyPr/>
          <a:lstStyle/>
          <a:p>
            <a:r>
              <a:rPr lang="en-GB" sz="1800" dirty="0"/>
              <a:t>Total capacity of a pool’s DP-Volumes can exceed that of its pool volumes</a:t>
            </a:r>
          </a:p>
          <a:p>
            <a:pPr lvl="1"/>
            <a:r>
              <a:rPr lang="en-GB" sz="1600" dirty="0"/>
              <a:t>E.g. Pool volumes total 30TB, DP-Volumes total 60TB</a:t>
            </a:r>
          </a:p>
          <a:p>
            <a:pPr lvl="1"/>
            <a:r>
              <a:rPr lang="en-GB" sz="1600" dirty="0"/>
              <a:t>Looks to (most of) the server like 60TB of storage</a:t>
            </a:r>
          </a:p>
          <a:p>
            <a:r>
              <a:rPr lang="en-GB" sz="1800" dirty="0"/>
              <a:t>HDP allocates </a:t>
            </a:r>
            <a:r>
              <a:rPr lang="en-GB" sz="1800" b="1" dirty="0"/>
              <a:t>pages</a:t>
            </a:r>
            <a:r>
              <a:rPr lang="en-GB" sz="1800" dirty="0"/>
              <a:t> of real disk space as the server writes data</a:t>
            </a:r>
          </a:p>
          <a:p>
            <a:pPr lvl="1"/>
            <a:r>
              <a:rPr lang="en-GB" sz="1600" dirty="0"/>
              <a:t>Each page is 42MB</a:t>
            </a:r>
          </a:p>
          <a:p>
            <a:pPr lvl="1"/>
            <a:r>
              <a:rPr lang="en-GB" sz="1600" dirty="0"/>
              <a:t>Each page resides on a single pool volume</a:t>
            </a:r>
          </a:p>
          <a:p>
            <a:r>
              <a:rPr lang="en-GB" sz="1800" dirty="0"/>
              <a:t>The server can write </a:t>
            </a:r>
            <a:r>
              <a:rPr lang="en-GB" sz="1800" i="1" dirty="0"/>
              <a:t>anywhere</a:t>
            </a:r>
            <a:r>
              <a:rPr lang="en-GB" sz="1800" dirty="0"/>
              <a:t> on any DP-Volume, but not </a:t>
            </a:r>
            <a:r>
              <a:rPr lang="en-GB" sz="1800" i="1" dirty="0"/>
              <a:t>everywhere</a:t>
            </a:r>
            <a:endParaRPr lang="en-GB" sz="1800" dirty="0"/>
          </a:p>
          <a:p>
            <a:pPr lvl="1"/>
            <a:r>
              <a:rPr lang="en-GB" sz="1600" dirty="0"/>
              <a:t>It can’t exceed the amount of physical capacity provided by the pool volumes</a:t>
            </a:r>
          </a:p>
        </p:txBody>
      </p:sp>
    </p:spTree>
    <p:extLst>
      <p:ext uri="{BB962C8B-B14F-4D97-AF65-F5344CB8AC3E}">
        <p14:creationId xmlns:p14="http://schemas.microsoft.com/office/powerpoint/2010/main" val="21251028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en-US" dirty="0"/>
              <a:t>HDP Thin Provisioning with NAS</a:t>
            </a:r>
          </a:p>
        </p:txBody>
      </p:sp>
    </p:spTree>
    <p:extLst>
      <p:ext uri="{BB962C8B-B14F-4D97-AF65-F5344CB8AC3E}">
        <p14:creationId xmlns:p14="http://schemas.microsoft.com/office/powerpoint/2010/main" val="34904955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Why Thin Provision?</a:t>
            </a:r>
          </a:p>
        </p:txBody>
      </p:sp>
      <p:sp>
        <p:nvSpPr>
          <p:cNvPr id="3" name="Content Placeholder 2"/>
          <p:cNvSpPr>
            <a:spLocks noGrp="1"/>
          </p:cNvSpPr>
          <p:nvPr>
            <p:ph idx="1"/>
          </p:nvPr>
        </p:nvSpPr>
        <p:spPr>
          <a:xfrm>
            <a:off x="264160" y="910245"/>
            <a:ext cx="8229600" cy="3450688"/>
          </a:xfrm>
        </p:spPr>
        <p:txBody>
          <a:bodyPr/>
          <a:lstStyle/>
          <a:p>
            <a:r>
              <a:rPr lang="en-GB" sz="1600" dirty="0"/>
              <a:t>Improve performance by striping I/O across all available disks</a:t>
            </a:r>
          </a:p>
          <a:p>
            <a:r>
              <a:rPr lang="en-GB" sz="1600" dirty="0"/>
              <a:t>Provides better scalability (max SDs is 512, max SD size is 64TB)</a:t>
            </a:r>
          </a:p>
          <a:p>
            <a:pPr lvl="1"/>
            <a:r>
              <a:rPr lang="en-GB" sz="1400" dirty="0"/>
              <a:t>Using larger SD size therefore allows the cluster to support higher max. capacity</a:t>
            </a:r>
          </a:p>
          <a:p>
            <a:r>
              <a:rPr lang="en-GB" sz="1600" dirty="0"/>
              <a:t>It should minimally reduce if not eliminate the need to run `span-expand’ and reduce concern with multiple stripe sets and how chunks are balanced across stripes etc.. </a:t>
            </a:r>
            <a:endParaRPr lang="en-GB" sz="1400" dirty="0"/>
          </a:p>
          <a:p>
            <a:r>
              <a:rPr lang="en-GB" sz="1600" dirty="0"/>
              <a:t>You can incrementally expand an HNAS system (1PG at a time)</a:t>
            </a:r>
          </a:p>
          <a:p>
            <a:pPr lvl="1"/>
            <a:r>
              <a:rPr lang="en-GB" sz="1400" dirty="0"/>
              <a:t>You can easily add capacity to the Span (without having to actually expand it). Add PG, create Pool Vols, add to HDP Pool, HNAS automatically recognizes capacity.</a:t>
            </a:r>
          </a:p>
          <a:p>
            <a:pPr lvl="1"/>
            <a:r>
              <a:rPr lang="en-GB" sz="1400" dirty="0"/>
              <a:t>Performance always improves as you add PGs, because HDP restripes existing data (no need to expand span or file systems to see benefits)</a:t>
            </a:r>
          </a:p>
        </p:txBody>
      </p:sp>
    </p:spTree>
    <p:extLst>
      <p:ext uri="{BB962C8B-B14F-4D97-AF65-F5344CB8AC3E}">
        <p14:creationId xmlns:p14="http://schemas.microsoft.com/office/powerpoint/2010/main" val="13872765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0284" y="125276"/>
            <a:ext cx="7717790" cy="732441"/>
          </a:xfrm>
        </p:spPr>
        <p:txBody>
          <a:bodyPr vert="horz" lIns="91440" tIns="0" rIns="91440" bIns="0" rtlCol="0" anchor="ctr">
            <a:normAutofit/>
          </a:bodyPr>
          <a:lstStyle/>
          <a:p>
            <a:r>
              <a:rPr lang="en-GB" dirty="0"/>
              <a:t>Hitachi NAS is Thin Friendly</a:t>
            </a:r>
          </a:p>
        </p:txBody>
      </p:sp>
      <p:sp>
        <p:nvSpPr>
          <p:cNvPr id="3" name="Content Placeholder 2"/>
          <p:cNvSpPr>
            <a:spLocks noGrp="1"/>
          </p:cNvSpPr>
          <p:nvPr>
            <p:ph idx="1"/>
          </p:nvPr>
        </p:nvSpPr>
        <p:spPr>
          <a:xfrm>
            <a:off x="179917" y="857717"/>
            <a:ext cx="8784166" cy="3905172"/>
          </a:xfrm>
        </p:spPr>
        <p:txBody>
          <a:bodyPr vert="horz" wrap="square" lIns="91440" tIns="45720" rIns="91440" bIns="45720" rtlCol="0">
            <a:spAutoFit/>
          </a:bodyPr>
          <a:lstStyle/>
          <a:p>
            <a:r>
              <a:rPr lang="en-GB" sz="1400" dirty="0"/>
              <a:t>When you create or expand a filesystem, NAS allocates one or more “chunks” (typically 18GB)</a:t>
            </a:r>
          </a:p>
          <a:p>
            <a:r>
              <a:rPr lang="en-GB" sz="1400" dirty="0"/>
              <a:t>If the span resides on HDP storage the HNAS will</a:t>
            </a:r>
          </a:p>
          <a:p>
            <a:pPr lvl="1"/>
            <a:r>
              <a:rPr lang="en-GB" sz="1400" dirty="0"/>
              <a:t>Check for available space (in the span)</a:t>
            </a:r>
          </a:p>
          <a:p>
            <a:pPr lvl="1"/>
            <a:r>
              <a:rPr lang="en-GB" sz="1400" dirty="0"/>
              <a:t>If necessary, chooses a stripeset with enough space</a:t>
            </a:r>
          </a:p>
          <a:p>
            <a:pPr lvl="1"/>
            <a:r>
              <a:rPr lang="en-GB" sz="1400" dirty="0"/>
              <a:t>Write one (non zero) block to each 42MB page in the chunks it allocates</a:t>
            </a:r>
          </a:p>
          <a:p>
            <a:r>
              <a:rPr lang="en-GB" sz="1400" dirty="0"/>
              <a:t>This action prompts HDP to map HDP pages</a:t>
            </a:r>
          </a:p>
          <a:p>
            <a:r>
              <a:rPr lang="en-GB" sz="1400" dirty="0"/>
              <a:t>A file system write will </a:t>
            </a:r>
            <a:r>
              <a:rPr lang="en-GB" sz="1400" u="sng" dirty="0"/>
              <a:t>never</a:t>
            </a:r>
            <a:r>
              <a:rPr lang="en-GB" sz="1400" dirty="0"/>
              <a:t> fail for lack of space (space is mapped). HNAS is Thin Friendly. </a:t>
            </a:r>
          </a:p>
          <a:p>
            <a:r>
              <a:rPr lang="en-GB" sz="1400" dirty="0"/>
              <a:t>Pre-allocation takes time, so we limit allocations when using HDP (1TB) </a:t>
            </a:r>
          </a:p>
          <a:p>
            <a:pPr lvl="1"/>
            <a:r>
              <a:rPr lang="en-GB" sz="1400" dirty="0"/>
              <a:t>CLI can be looped (--storage-is-lightly-loaded)</a:t>
            </a:r>
          </a:p>
          <a:p>
            <a:r>
              <a:rPr lang="en-GB" sz="1400" dirty="0"/>
              <a:t>Enabling “filesystem-thin” allows applications to “see” the confined capacity of the file system</a:t>
            </a:r>
          </a:p>
        </p:txBody>
      </p:sp>
    </p:spTree>
    <p:extLst>
      <p:ext uri="{BB962C8B-B14F-4D97-AF65-F5344CB8AC3E}">
        <p14:creationId xmlns:p14="http://schemas.microsoft.com/office/powerpoint/2010/main" val="34719820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Leveraging Thin Provisioning</a:t>
            </a:r>
          </a:p>
        </p:txBody>
      </p:sp>
      <p:sp>
        <p:nvSpPr>
          <p:cNvPr id="3" name="Content Placeholder 2"/>
          <p:cNvSpPr>
            <a:spLocks noGrp="1"/>
          </p:cNvSpPr>
          <p:nvPr>
            <p:ph idx="1"/>
          </p:nvPr>
        </p:nvSpPr>
        <p:spPr>
          <a:xfrm>
            <a:off x="270933" y="745918"/>
            <a:ext cx="8602133" cy="4076257"/>
          </a:xfrm>
        </p:spPr>
        <p:txBody>
          <a:bodyPr>
            <a:noAutofit/>
          </a:bodyPr>
          <a:lstStyle/>
          <a:p>
            <a:r>
              <a:rPr lang="en-GB" sz="1600" dirty="0"/>
              <a:t>Create enough DP-Vols to meet the eventual size of the span and provide sufficient queue depth</a:t>
            </a:r>
          </a:p>
          <a:p>
            <a:pPr lvl="1"/>
            <a:r>
              <a:rPr lang="en-GB" sz="1400" dirty="0"/>
              <a:t>Modestly thin-provision (2 or 3:1) to avoid running out of array shared memory</a:t>
            </a:r>
          </a:p>
          <a:p>
            <a:pPr lvl="1"/>
            <a:r>
              <a:rPr lang="en-GB" sz="1400" dirty="0"/>
              <a:t>You can do more (depends on array).. but Max span is 1PB, max SD Size is 64TB, max SDs is 512</a:t>
            </a:r>
          </a:p>
          <a:p>
            <a:r>
              <a:rPr lang="en-GB" sz="1600" dirty="0"/>
              <a:t>Create a span (single stripe set) across the thinly provisioned DP Volumes</a:t>
            </a:r>
          </a:p>
          <a:p>
            <a:pPr lvl="1"/>
            <a:r>
              <a:rPr lang="en-GB" sz="1400" dirty="0"/>
              <a:t>Use filesystem-thin and span/file-system confine to set auto-expansion limits as appropriate</a:t>
            </a:r>
          </a:p>
          <a:p>
            <a:r>
              <a:rPr lang="en-GB" sz="1600" dirty="0"/>
              <a:t>How do I add capacity to a Thin provisioning Span?</a:t>
            </a:r>
          </a:p>
          <a:p>
            <a:pPr lvl="1"/>
            <a:r>
              <a:rPr lang="en-GB" sz="1400" dirty="0"/>
              <a:t>Ensure that the span is confined</a:t>
            </a:r>
          </a:p>
          <a:p>
            <a:pPr lvl="1"/>
            <a:r>
              <a:rPr lang="en-GB" sz="1400" dirty="0"/>
              <a:t>Add PGs (Pool Volumes) which adds real storage (Allow the pool to rebalance). </a:t>
            </a:r>
            <a:r>
              <a:rPr lang="en-US" sz="1400" dirty="0"/>
              <a:t>The new pool volumes match the performance of the existing volumes to provide consistent performance. </a:t>
            </a:r>
          </a:p>
          <a:p>
            <a:pPr lvl="1"/>
            <a:r>
              <a:rPr lang="en-US" sz="1400" dirty="0"/>
              <a:t>The Server will auto-detect the capacity, but can be expedited (span-expedite-</a:t>
            </a:r>
            <a:r>
              <a:rPr lang="en-US" sz="1400" dirty="0" err="1"/>
              <a:t>hdp</a:t>
            </a:r>
            <a:r>
              <a:rPr lang="en-US" sz="1400" dirty="0"/>
              <a:t>-space-check)</a:t>
            </a:r>
            <a:endParaRPr lang="en-GB" sz="1400" dirty="0"/>
          </a:p>
          <a:p>
            <a:pPr lvl="1"/>
            <a:r>
              <a:rPr lang="en-GB" sz="1400" dirty="0"/>
              <a:t>Release the confinement on the span/file-systems to allow them to auto-expand onto the new capacity if required.</a:t>
            </a:r>
          </a:p>
          <a:p>
            <a:pPr lvl="1"/>
            <a:endParaRPr lang="en-GB" sz="1050" dirty="0"/>
          </a:p>
        </p:txBody>
      </p:sp>
    </p:spTree>
    <p:extLst>
      <p:ext uri="{BB962C8B-B14F-4D97-AF65-F5344CB8AC3E}">
        <p14:creationId xmlns:p14="http://schemas.microsoft.com/office/powerpoint/2010/main" val="2810130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214319" y="85100"/>
            <a:ext cx="6858000" cy="567675"/>
          </a:xfrm>
        </p:spPr>
        <p:txBody>
          <a:bodyPr/>
          <a:lstStyle/>
          <a:p>
            <a:r>
              <a:rPr lang="en-US" dirty="0"/>
              <a:t>Pool Growth: Example</a:t>
            </a:r>
          </a:p>
        </p:txBody>
      </p:sp>
      <p:sp>
        <p:nvSpPr>
          <p:cNvPr id="10" name="Rectangle 33"/>
          <p:cNvSpPr>
            <a:spLocks noChangeArrowheads="1"/>
          </p:cNvSpPr>
          <p:nvPr/>
        </p:nvSpPr>
        <p:spPr bwMode="auto">
          <a:xfrm rot="10800000">
            <a:off x="584829" y="1942490"/>
            <a:ext cx="2231636" cy="457224"/>
          </a:xfrm>
          <a:prstGeom prst="rect">
            <a:avLst/>
          </a:prstGeom>
          <a:solidFill>
            <a:schemeClr val="accent4"/>
          </a:solidFill>
          <a:ln w="9525">
            <a:noFill/>
            <a:miter lim="800000"/>
            <a:headEnd/>
            <a:tailEnd/>
          </a:ln>
        </p:spPr>
        <p:txBody>
          <a:bodyPr rot="10800000" wrap="none" anchor="ctr"/>
          <a:lstStyle/>
          <a:p>
            <a:pPr algn="ctr"/>
            <a:r>
              <a:rPr lang="en-US" sz="1600" dirty="0">
                <a:cs typeface="Arial" pitchFamily="34" charset="0"/>
              </a:rPr>
              <a:t>Storage Pool/Span</a:t>
            </a:r>
          </a:p>
        </p:txBody>
      </p:sp>
      <p:sp>
        <p:nvSpPr>
          <p:cNvPr id="17" name="Line 26"/>
          <p:cNvSpPr>
            <a:spLocks noChangeShapeType="1"/>
          </p:cNvSpPr>
          <p:nvPr/>
        </p:nvSpPr>
        <p:spPr bwMode="auto">
          <a:xfrm rot="10800000" flipH="1" flipV="1">
            <a:off x="1687534" y="3026205"/>
            <a:ext cx="1" cy="218269"/>
          </a:xfrm>
          <a:prstGeom prst="line">
            <a:avLst/>
          </a:prstGeom>
          <a:noFill/>
          <a:ln w="9525">
            <a:solidFill>
              <a:schemeClr val="tx1"/>
            </a:solidFill>
            <a:round/>
            <a:headEnd type="triangle"/>
            <a:tailEnd type="none" w="med" len="med"/>
          </a:ln>
        </p:spPr>
        <p:txBody>
          <a:bodyPr/>
          <a:lstStyle/>
          <a:p>
            <a:endParaRPr lang="en-US"/>
          </a:p>
        </p:txBody>
      </p:sp>
      <p:sp>
        <p:nvSpPr>
          <p:cNvPr id="47" name="Rectangle 33"/>
          <p:cNvSpPr>
            <a:spLocks noChangeArrowheads="1"/>
          </p:cNvSpPr>
          <p:nvPr/>
        </p:nvSpPr>
        <p:spPr bwMode="auto">
          <a:xfrm rot="10800000">
            <a:off x="568603" y="2569431"/>
            <a:ext cx="2247862" cy="456775"/>
          </a:xfrm>
          <a:prstGeom prst="rect">
            <a:avLst/>
          </a:prstGeom>
          <a:solidFill>
            <a:srgbClr val="99CCFF"/>
          </a:solidFill>
          <a:ln w="9525">
            <a:solidFill>
              <a:schemeClr val="tx1"/>
            </a:solidFill>
            <a:miter lim="800000"/>
            <a:headEnd/>
            <a:tailEnd/>
          </a:ln>
        </p:spPr>
        <p:txBody>
          <a:bodyPr rot="10800000" wrap="none" anchor="ctr"/>
          <a:lstStyle/>
          <a:p>
            <a:pPr algn="ctr"/>
            <a:r>
              <a:rPr lang="en-US" sz="1600" dirty="0">
                <a:cs typeface="Arial" pitchFamily="34" charset="0"/>
              </a:rPr>
              <a:t>Stripe Set</a:t>
            </a:r>
          </a:p>
        </p:txBody>
      </p:sp>
      <p:sp>
        <p:nvSpPr>
          <p:cNvPr id="50" name="Line 26"/>
          <p:cNvSpPr>
            <a:spLocks noChangeShapeType="1"/>
          </p:cNvSpPr>
          <p:nvPr/>
        </p:nvSpPr>
        <p:spPr bwMode="auto">
          <a:xfrm rot="10800000" flipV="1">
            <a:off x="1687537" y="2399713"/>
            <a:ext cx="1" cy="169718"/>
          </a:xfrm>
          <a:prstGeom prst="line">
            <a:avLst/>
          </a:prstGeom>
          <a:noFill/>
          <a:ln w="9525">
            <a:solidFill>
              <a:schemeClr val="tx1"/>
            </a:solidFill>
            <a:round/>
            <a:headEnd type="triangle"/>
            <a:tailEnd type="none" w="med" len="med"/>
          </a:ln>
        </p:spPr>
        <p:txBody>
          <a:bodyPr/>
          <a:lstStyle/>
          <a:p>
            <a:endParaRPr lang="en-US"/>
          </a:p>
        </p:txBody>
      </p:sp>
      <p:sp>
        <p:nvSpPr>
          <p:cNvPr id="55" name="Rectangle 35"/>
          <p:cNvSpPr>
            <a:spLocks noChangeArrowheads="1"/>
          </p:cNvSpPr>
          <p:nvPr/>
        </p:nvSpPr>
        <p:spPr bwMode="auto">
          <a:xfrm>
            <a:off x="517781" y="3904964"/>
            <a:ext cx="276890" cy="518281"/>
          </a:xfrm>
          <a:prstGeom prst="rect">
            <a:avLst/>
          </a:prstGeom>
          <a:gradFill>
            <a:gsLst>
              <a:gs pos="26000">
                <a:srgbClr val="3366FF"/>
              </a:gs>
              <a:gs pos="82000">
                <a:srgbClr val="FFFFFF"/>
              </a:gs>
            </a:gsLst>
            <a:lin ang="16200000" scaled="0"/>
          </a:gradFill>
          <a:ln w="9525">
            <a:solidFill>
              <a:schemeClr val="tx1"/>
            </a:solidFill>
            <a:prstDash val="dash"/>
            <a:miter lim="800000"/>
            <a:headEnd/>
            <a:tailEnd/>
          </a:ln>
        </p:spPr>
        <p:txBody>
          <a:bodyPr wrap="none" anchor="ctr"/>
          <a:lstStyle/>
          <a:p>
            <a:pPr algn="ctr"/>
            <a:r>
              <a:rPr lang="en-US" sz="800" dirty="0">
                <a:cs typeface="Arial" pitchFamily="34" charset="0"/>
              </a:rPr>
              <a:t>DPvol</a:t>
            </a:r>
          </a:p>
        </p:txBody>
      </p:sp>
      <p:sp>
        <p:nvSpPr>
          <p:cNvPr id="66" name="Line 26"/>
          <p:cNvSpPr>
            <a:spLocks noChangeShapeType="1"/>
          </p:cNvSpPr>
          <p:nvPr/>
        </p:nvSpPr>
        <p:spPr bwMode="auto">
          <a:xfrm rot="10800000" flipV="1">
            <a:off x="1075457" y="3225938"/>
            <a:ext cx="1" cy="211740"/>
          </a:xfrm>
          <a:prstGeom prst="line">
            <a:avLst/>
          </a:prstGeom>
          <a:noFill/>
          <a:ln w="9525">
            <a:solidFill>
              <a:schemeClr val="tx1"/>
            </a:solidFill>
            <a:round/>
            <a:headEnd type="triangle"/>
            <a:tailEnd type="none" w="med" len="med"/>
          </a:ln>
        </p:spPr>
        <p:txBody>
          <a:bodyPr/>
          <a:lstStyle/>
          <a:p>
            <a:endParaRPr lang="en-US"/>
          </a:p>
        </p:txBody>
      </p:sp>
      <p:sp>
        <p:nvSpPr>
          <p:cNvPr id="67" name="Line 26"/>
          <p:cNvSpPr>
            <a:spLocks noChangeShapeType="1"/>
          </p:cNvSpPr>
          <p:nvPr/>
        </p:nvSpPr>
        <p:spPr bwMode="auto">
          <a:xfrm rot="10800000" flipV="1">
            <a:off x="2188305" y="3225938"/>
            <a:ext cx="2" cy="211740"/>
          </a:xfrm>
          <a:prstGeom prst="line">
            <a:avLst/>
          </a:prstGeom>
          <a:noFill/>
          <a:ln w="9525">
            <a:solidFill>
              <a:schemeClr val="tx1"/>
            </a:solidFill>
            <a:round/>
            <a:headEnd type="triangle"/>
            <a:tailEnd type="none" w="med" len="med"/>
          </a:ln>
        </p:spPr>
        <p:txBody>
          <a:bodyPr/>
          <a:lstStyle/>
          <a:p>
            <a:endParaRPr lang="en-US"/>
          </a:p>
        </p:txBody>
      </p:sp>
      <p:sp>
        <p:nvSpPr>
          <p:cNvPr id="89" name="Text Box 38"/>
          <p:cNvSpPr txBox="1">
            <a:spLocks noChangeArrowheads="1"/>
          </p:cNvSpPr>
          <p:nvPr/>
        </p:nvSpPr>
        <p:spPr bwMode="auto">
          <a:xfrm>
            <a:off x="3181885" y="1187554"/>
            <a:ext cx="5900314" cy="3477875"/>
          </a:xfrm>
          <a:prstGeom prst="rect">
            <a:avLst/>
          </a:prstGeom>
        </p:spPr>
        <p:txBody>
          <a:bodyPr vert="horz" wrap="square" lIns="91440" tIns="45720" rIns="91440" bIns="45720" rtlCol="0">
            <a:spAutoFit/>
          </a:bodyPr>
          <a:lstStyle>
            <a:lvl1pPr marL="280988" indent="-280988">
              <a:lnSpc>
                <a:spcPct val="100000"/>
              </a:lnSpc>
              <a:spcBef>
                <a:spcPts val="1200"/>
              </a:spcBef>
              <a:spcAft>
                <a:spcPts val="600"/>
              </a:spcAft>
              <a:buClr>
                <a:schemeClr val="accent2"/>
              </a:buClr>
              <a:buFont typeface="Arial" panose="020B0604020202020204" pitchFamily="34" charset="0"/>
              <a:buChar char="•"/>
              <a:defRPr lang="en-US" dirty="0" smtClean="0"/>
            </a:lvl1pPr>
            <a:lvl2pPr marL="574675" lvl="1" indent="-293688">
              <a:lnSpc>
                <a:spcPct val="95000"/>
              </a:lnSpc>
              <a:spcBef>
                <a:spcPct val="20000"/>
              </a:spcBef>
              <a:spcAft>
                <a:spcPts val="800"/>
              </a:spcAft>
              <a:buFontTx/>
              <a:buChar char="‒"/>
              <a:defRPr lang="en-US" sz="1600" dirty="0" smtClean="0"/>
            </a:lvl2pPr>
            <a:lvl3pPr marL="855663" indent="-280988">
              <a:lnSpc>
                <a:spcPct val="95000"/>
              </a:lnSpc>
              <a:spcBef>
                <a:spcPts val="0"/>
              </a:spcBef>
              <a:spcAft>
                <a:spcPts val="800"/>
              </a:spcAft>
              <a:buFontTx/>
              <a:buChar char="‒"/>
              <a:defRPr lang="en-US" sz="1600" dirty="0" smtClean="0"/>
            </a:lvl3pPr>
            <a:lvl4pPr marL="1090613" indent="-234950">
              <a:lnSpc>
                <a:spcPct val="95000"/>
              </a:lnSpc>
              <a:spcBef>
                <a:spcPts val="0"/>
              </a:spcBef>
              <a:spcAft>
                <a:spcPts val="800"/>
              </a:spcAft>
              <a:buFontTx/>
              <a:buChar char="‒"/>
              <a:defRPr lang="en-US" sz="1400" dirty="0" smtClean="0"/>
            </a:lvl4pPr>
            <a:lvl5pPr marL="1312863" indent="-222250">
              <a:lnSpc>
                <a:spcPct val="95000"/>
              </a:lnSpc>
              <a:spcBef>
                <a:spcPts val="0"/>
              </a:spcBef>
              <a:spcAft>
                <a:spcPts val="800"/>
              </a:spcAft>
              <a:buFontTx/>
              <a:buChar char="‒"/>
              <a:defRPr lang="en-US" sz="1200"/>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r>
              <a:rPr lang="en-US" sz="1600" dirty="0"/>
              <a:t>In this example, 4 RGs consisting of 4 x 6+2 R6 are configured in an HDP pool. A total of 8 DP Volumes are created, each equal in size with an oversubscription of 2:1.</a:t>
            </a:r>
          </a:p>
          <a:p>
            <a:r>
              <a:rPr lang="en-US" sz="1600" dirty="0"/>
              <a:t>As PGs are added to the pool, the available performance (IOPS) increases. The SD q-depth can be tuned.</a:t>
            </a:r>
          </a:p>
          <a:p>
            <a:r>
              <a:rPr lang="en-US" sz="1600" dirty="0"/>
              <a:t>The Span starts at 2:1 oversubscription, but overtime it reaches 1:1 as capacity is added. </a:t>
            </a:r>
          </a:p>
          <a:p>
            <a:r>
              <a:rPr lang="en-US" sz="1600" dirty="0"/>
              <a:t>After reaching 1:1, in order to add capacity, the span must be expanded</a:t>
            </a:r>
          </a:p>
          <a:p>
            <a:endParaRPr lang="en-US" sz="1600" dirty="0"/>
          </a:p>
        </p:txBody>
      </p:sp>
      <p:sp>
        <p:nvSpPr>
          <p:cNvPr id="51" name="Rectangle 35"/>
          <p:cNvSpPr>
            <a:spLocks noChangeArrowheads="1"/>
          </p:cNvSpPr>
          <p:nvPr/>
        </p:nvSpPr>
        <p:spPr bwMode="auto">
          <a:xfrm>
            <a:off x="501950" y="4497326"/>
            <a:ext cx="553780" cy="270836"/>
          </a:xfrm>
          <a:prstGeom prst="rect">
            <a:avLst/>
          </a:prstGeom>
          <a:solidFill>
            <a:srgbClr val="3366FF"/>
          </a:solidFill>
          <a:ln w="9525">
            <a:solidFill>
              <a:schemeClr val="tx1"/>
            </a:solidFill>
            <a:miter lim="800000"/>
            <a:headEnd/>
            <a:tailEnd/>
          </a:ln>
        </p:spPr>
        <p:txBody>
          <a:bodyPr wrap="none" anchor="ctr"/>
          <a:lstStyle/>
          <a:p>
            <a:pPr algn="ctr"/>
            <a:r>
              <a:rPr lang="en-US" sz="1200" dirty="0">
                <a:cs typeface="Arial" pitchFamily="34" charset="0"/>
              </a:rPr>
              <a:t>RG</a:t>
            </a:r>
          </a:p>
        </p:txBody>
      </p:sp>
      <p:sp>
        <p:nvSpPr>
          <p:cNvPr id="61" name="Rectangle 35"/>
          <p:cNvSpPr>
            <a:spLocks noChangeArrowheads="1"/>
          </p:cNvSpPr>
          <p:nvPr/>
        </p:nvSpPr>
        <p:spPr bwMode="auto">
          <a:xfrm>
            <a:off x="1063927" y="4497326"/>
            <a:ext cx="553780" cy="270836"/>
          </a:xfrm>
          <a:prstGeom prst="rect">
            <a:avLst/>
          </a:prstGeom>
          <a:solidFill>
            <a:srgbClr val="3366FF"/>
          </a:solidFill>
          <a:ln w="9525">
            <a:solidFill>
              <a:schemeClr val="tx1"/>
            </a:solidFill>
            <a:miter lim="800000"/>
            <a:headEnd/>
            <a:tailEnd/>
          </a:ln>
        </p:spPr>
        <p:txBody>
          <a:bodyPr wrap="none" anchor="ctr"/>
          <a:lstStyle/>
          <a:p>
            <a:pPr algn="ctr"/>
            <a:r>
              <a:rPr lang="en-US" sz="1200" dirty="0">
                <a:cs typeface="Arial" pitchFamily="34" charset="0"/>
              </a:rPr>
              <a:t>RG</a:t>
            </a:r>
          </a:p>
        </p:txBody>
      </p:sp>
      <p:sp>
        <p:nvSpPr>
          <p:cNvPr id="62" name="Rectangle 35"/>
          <p:cNvSpPr>
            <a:spLocks noChangeArrowheads="1"/>
          </p:cNvSpPr>
          <p:nvPr/>
        </p:nvSpPr>
        <p:spPr bwMode="auto">
          <a:xfrm>
            <a:off x="501950" y="4771477"/>
            <a:ext cx="553780" cy="270836"/>
          </a:xfrm>
          <a:prstGeom prst="rect">
            <a:avLst/>
          </a:prstGeom>
          <a:solidFill>
            <a:schemeClr val="bg1"/>
          </a:solidFill>
          <a:ln w="9525">
            <a:solidFill>
              <a:srgbClr val="0000FF"/>
            </a:solidFill>
            <a:prstDash val="dash"/>
            <a:miter lim="800000"/>
            <a:headEnd/>
            <a:tailEnd/>
          </a:ln>
        </p:spPr>
        <p:txBody>
          <a:bodyPr wrap="none" anchor="ctr"/>
          <a:lstStyle/>
          <a:p>
            <a:pPr algn="ctr"/>
            <a:r>
              <a:rPr lang="en-US" sz="1200" dirty="0">
                <a:cs typeface="Arial" pitchFamily="34" charset="0"/>
              </a:rPr>
              <a:t>RG</a:t>
            </a:r>
          </a:p>
        </p:txBody>
      </p:sp>
      <p:sp>
        <p:nvSpPr>
          <p:cNvPr id="63" name="Rectangle 35"/>
          <p:cNvSpPr>
            <a:spLocks noChangeArrowheads="1"/>
          </p:cNvSpPr>
          <p:nvPr/>
        </p:nvSpPr>
        <p:spPr bwMode="auto">
          <a:xfrm>
            <a:off x="1063927" y="4771477"/>
            <a:ext cx="553780" cy="270836"/>
          </a:xfrm>
          <a:prstGeom prst="rect">
            <a:avLst/>
          </a:prstGeom>
          <a:solidFill>
            <a:schemeClr val="bg1"/>
          </a:solidFill>
          <a:ln w="9525">
            <a:solidFill>
              <a:srgbClr val="0000FF"/>
            </a:solidFill>
            <a:prstDash val="dash"/>
            <a:miter lim="800000"/>
            <a:headEnd/>
            <a:tailEnd/>
          </a:ln>
        </p:spPr>
        <p:txBody>
          <a:bodyPr wrap="none" anchor="ctr"/>
          <a:lstStyle/>
          <a:p>
            <a:pPr algn="ctr"/>
            <a:r>
              <a:rPr lang="en-US" sz="1200" dirty="0">
                <a:cs typeface="Arial" pitchFamily="34" charset="0"/>
              </a:rPr>
              <a:t>RG</a:t>
            </a:r>
          </a:p>
        </p:txBody>
      </p:sp>
      <p:grpSp>
        <p:nvGrpSpPr>
          <p:cNvPr id="2" name="Group 1"/>
          <p:cNvGrpSpPr/>
          <p:nvPr/>
        </p:nvGrpSpPr>
        <p:grpSpPr>
          <a:xfrm>
            <a:off x="137021" y="952920"/>
            <a:ext cx="1979664" cy="956145"/>
            <a:chOff x="0" y="852621"/>
            <a:chExt cx="2173710" cy="1089869"/>
          </a:xfrm>
        </p:grpSpPr>
        <p:sp>
          <p:nvSpPr>
            <p:cNvPr id="7" name="Line 20"/>
            <p:cNvSpPr>
              <a:spLocks noChangeShapeType="1"/>
            </p:cNvSpPr>
            <p:nvPr/>
          </p:nvSpPr>
          <p:spPr bwMode="auto">
            <a:xfrm rot="10800000" flipV="1">
              <a:off x="1687601" y="1784773"/>
              <a:ext cx="0" cy="157717"/>
            </a:xfrm>
            <a:prstGeom prst="line">
              <a:avLst/>
            </a:prstGeom>
            <a:noFill/>
            <a:ln w="9525">
              <a:solidFill>
                <a:schemeClr val="tx1"/>
              </a:solidFill>
              <a:round/>
              <a:headEnd type="triangle"/>
              <a:tailEnd type="none" w="med" len="med"/>
            </a:ln>
          </p:spPr>
          <p:txBody>
            <a:bodyPr/>
            <a:lstStyle/>
            <a:p>
              <a:endParaRPr lang="en-US" sz="1200"/>
            </a:p>
          </p:txBody>
        </p:sp>
        <p:sp>
          <p:nvSpPr>
            <p:cNvPr id="14" name="Text Box 87"/>
            <p:cNvSpPr txBox="1">
              <a:spLocks noChangeArrowheads="1"/>
            </p:cNvSpPr>
            <p:nvPr/>
          </p:nvSpPr>
          <p:spPr bwMode="auto">
            <a:xfrm>
              <a:off x="194046" y="1440088"/>
              <a:ext cx="1185385" cy="276999"/>
            </a:xfrm>
            <a:prstGeom prst="rect">
              <a:avLst/>
            </a:prstGeom>
            <a:noFill/>
            <a:ln w="9525">
              <a:noFill/>
              <a:miter lim="800000"/>
              <a:headEnd/>
              <a:tailEnd/>
            </a:ln>
          </p:spPr>
          <p:txBody>
            <a:bodyPr wrap="square">
              <a:spAutoFit/>
            </a:bodyPr>
            <a:lstStyle/>
            <a:p>
              <a:pPr algn="ctr">
                <a:spcBef>
                  <a:spcPct val="50000"/>
                </a:spcBef>
              </a:pPr>
              <a:r>
                <a:rPr lang="en-US" sz="1200" dirty="0"/>
                <a:t>Chunks</a:t>
              </a:r>
            </a:p>
          </p:txBody>
        </p:sp>
        <p:sp>
          <p:nvSpPr>
            <p:cNvPr id="16" name="Text Box 38"/>
            <p:cNvSpPr txBox="1">
              <a:spLocks noChangeArrowheads="1"/>
            </p:cNvSpPr>
            <p:nvPr/>
          </p:nvSpPr>
          <p:spPr bwMode="auto">
            <a:xfrm>
              <a:off x="0" y="876300"/>
              <a:ext cx="1199778" cy="276999"/>
            </a:xfrm>
            <a:prstGeom prst="rect">
              <a:avLst/>
            </a:prstGeom>
            <a:noFill/>
            <a:ln w="9525">
              <a:noFill/>
              <a:miter lim="800000"/>
              <a:headEnd/>
              <a:tailEnd/>
            </a:ln>
          </p:spPr>
          <p:txBody>
            <a:bodyPr wrap="square">
              <a:spAutoFit/>
            </a:bodyPr>
            <a:lstStyle/>
            <a:p>
              <a:pPr algn="r">
                <a:spcBef>
                  <a:spcPct val="50000"/>
                </a:spcBef>
              </a:pPr>
              <a:r>
                <a:rPr lang="en-US" sz="1200" dirty="0"/>
                <a:t>File System</a:t>
              </a:r>
            </a:p>
          </p:txBody>
        </p:sp>
        <p:sp>
          <p:nvSpPr>
            <p:cNvPr id="80" name="Rectangle 73"/>
            <p:cNvSpPr>
              <a:spLocks noChangeArrowheads="1"/>
            </p:cNvSpPr>
            <p:nvPr/>
          </p:nvSpPr>
          <p:spPr bwMode="auto">
            <a:xfrm>
              <a:off x="1233561" y="852621"/>
              <a:ext cx="294144" cy="267449"/>
            </a:xfrm>
            <a:prstGeom prst="rect">
              <a:avLst/>
            </a:prstGeom>
            <a:solidFill>
              <a:srgbClr val="99CCFF"/>
            </a:solidFill>
            <a:ln w="9525">
              <a:solidFill>
                <a:schemeClr val="tx1"/>
              </a:solidFill>
              <a:miter lim="800000"/>
              <a:headEnd/>
              <a:tailEnd/>
            </a:ln>
          </p:spPr>
          <p:txBody>
            <a:bodyPr rot="10800000" wrap="none" anchor="ctr"/>
            <a:lstStyle/>
            <a:p>
              <a:pPr algn="ctr"/>
              <a:endParaRPr lang="en-US" sz="1200">
                <a:cs typeface="Arial" pitchFamily="34" charset="0"/>
              </a:endParaRPr>
            </a:p>
          </p:txBody>
        </p:sp>
        <p:sp>
          <p:nvSpPr>
            <p:cNvPr id="83" name="Line 20"/>
            <p:cNvSpPr>
              <a:spLocks noChangeShapeType="1"/>
            </p:cNvSpPr>
            <p:nvPr/>
          </p:nvSpPr>
          <p:spPr bwMode="auto">
            <a:xfrm rot="10800000" flipH="1" flipV="1">
              <a:off x="1687429" y="1157796"/>
              <a:ext cx="0" cy="121232"/>
            </a:xfrm>
            <a:prstGeom prst="line">
              <a:avLst/>
            </a:prstGeom>
            <a:noFill/>
            <a:ln w="9525">
              <a:solidFill>
                <a:schemeClr val="tx1"/>
              </a:solidFill>
              <a:round/>
              <a:headEnd type="triangle"/>
              <a:tailEnd type="none" w="med" len="med"/>
            </a:ln>
          </p:spPr>
          <p:txBody>
            <a:bodyPr/>
            <a:lstStyle/>
            <a:p>
              <a:endParaRPr lang="en-US" sz="1200"/>
            </a:p>
          </p:txBody>
        </p:sp>
        <p:sp>
          <p:nvSpPr>
            <p:cNvPr id="68" name="Rectangle 73"/>
            <p:cNvSpPr>
              <a:spLocks noChangeArrowheads="1"/>
            </p:cNvSpPr>
            <p:nvPr/>
          </p:nvSpPr>
          <p:spPr bwMode="auto">
            <a:xfrm>
              <a:off x="1554711" y="852621"/>
              <a:ext cx="294144" cy="267449"/>
            </a:xfrm>
            <a:prstGeom prst="rect">
              <a:avLst/>
            </a:prstGeom>
            <a:solidFill>
              <a:srgbClr val="99CCFF"/>
            </a:solidFill>
            <a:ln w="9525">
              <a:solidFill>
                <a:schemeClr val="tx1"/>
              </a:solidFill>
              <a:miter lim="800000"/>
              <a:headEnd/>
              <a:tailEnd/>
            </a:ln>
          </p:spPr>
          <p:txBody>
            <a:bodyPr rot="10800000" wrap="none" anchor="ctr"/>
            <a:lstStyle/>
            <a:p>
              <a:pPr algn="ctr"/>
              <a:endParaRPr lang="en-US" sz="1200">
                <a:cs typeface="Arial" pitchFamily="34" charset="0"/>
              </a:endParaRPr>
            </a:p>
          </p:txBody>
        </p:sp>
        <p:sp>
          <p:nvSpPr>
            <p:cNvPr id="85" name="Rectangle 73"/>
            <p:cNvSpPr>
              <a:spLocks noChangeArrowheads="1"/>
            </p:cNvSpPr>
            <p:nvPr/>
          </p:nvSpPr>
          <p:spPr bwMode="auto">
            <a:xfrm>
              <a:off x="1875861" y="852621"/>
              <a:ext cx="294144" cy="267449"/>
            </a:xfrm>
            <a:prstGeom prst="rect">
              <a:avLst/>
            </a:prstGeom>
            <a:solidFill>
              <a:srgbClr val="99CCFF"/>
            </a:solidFill>
            <a:ln w="9525">
              <a:solidFill>
                <a:schemeClr val="tx1"/>
              </a:solidFill>
              <a:miter lim="800000"/>
              <a:headEnd/>
              <a:tailEnd/>
            </a:ln>
          </p:spPr>
          <p:txBody>
            <a:bodyPr rot="10800000" wrap="none" anchor="ctr"/>
            <a:lstStyle/>
            <a:p>
              <a:pPr algn="ctr"/>
              <a:endParaRPr lang="en-US" sz="1200">
                <a:cs typeface="Arial" pitchFamily="34" charset="0"/>
              </a:endParaRPr>
            </a:p>
          </p:txBody>
        </p:sp>
        <p:sp>
          <p:nvSpPr>
            <p:cNvPr id="86" name="Rectangle 73"/>
            <p:cNvSpPr>
              <a:spLocks noChangeArrowheads="1"/>
            </p:cNvSpPr>
            <p:nvPr/>
          </p:nvSpPr>
          <p:spPr bwMode="auto">
            <a:xfrm>
              <a:off x="1237266" y="1411064"/>
              <a:ext cx="294144" cy="267449"/>
            </a:xfrm>
            <a:prstGeom prst="rect">
              <a:avLst/>
            </a:prstGeom>
            <a:solidFill>
              <a:srgbClr val="99CCFF"/>
            </a:solidFill>
            <a:ln w="9525">
              <a:solidFill>
                <a:schemeClr val="tx1"/>
              </a:solidFill>
              <a:miter lim="800000"/>
              <a:headEnd/>
              <a:tailEnd/>
            </a:ln>
          </p:spPr>
          <p:txBody>
            <a:bodyPr rot="10800000" wrap="none" anchor="ctr"/>
            <a:lstStyle/>
            <a:p>
              <a:pPr algn="ctr"/>
              <a:endParaRPr lang="en-US" sz="1200">
                <a:cs typeface="Arial" pitchFamily="34" charset="0"/>
              </a:endParaRPr>
            </a:p>
          </p:txBody>
        </p:sp>
        <p:sp>
          <p:nvSpPr>
            <p:cNvPr id="87" name="Rectangle 73"/>
            <p:cNvSpPr>
              <a:spLocks noChangeArrowheads="1"/>
            </p:cNvSpPr>
            <p:nvPr/>
          </p:nvSpPr>
          <p:spPr bwMode="auto">
            <a:xfrm>
              <a:off x="1558416" y="1411064"/>
              <a:ext cx="294144" cy="267449"/>
            </a:xfrm>
            <a:prstGeom prst="rect">
              <a:avLst/>
            </a:prstGeom>
            <a:solidFill>
              <a:srgbClr val="99CCFF"/>
            </a:solidFill>
            <a:ln w="9525">
              <a:solidFill>
                <a:schemeClr val="tx1"/>
              </a:solidFill>
              <a:miter lim="800000"/>
              <a:headEnd/>
              <a:tailEnd/>
            </a:ln>
          </p:spPr>
          <p:txBody>
            <a:bodyPr rot="10800000" wrap="none" anchor="ctr"/>
            <a:lstStyle/>
            <a:p>
              <a:pPr algn="ctr"/>
              <a:endParaRPr lang="en-US" sz="1200">
                <a:cs typeface="Arial" pitchFamily="34" charset="0"/>
              </a:endParaRPr>
            </a:p>
          </p:txBody>
        </p:sp>
        <p:sp>
          <p:nvSpPr>
            <p:cNvPr id="88" name="Rectangle 73"/>
            <p:cNvSpPr>
              <a:spLocks noChangeArrowheads="1"/>
            </p:cNvSpPr>
            <p:nvPr/>
          </p:nvSpPr>
          <p:spPr bwMode="auto">
            <a:xfrm>
              <a:off x="1879566" y="1411064"/>
              <a:ext cx="294144" cy="267449"/>
            </a:xfrm>
            <a:prstGeom prst="rect">
              <a:avLst/>
            </a:prstGeom>
            <a:solidFill>
              <a:srgbClr val="99CCFF"/>
            </a:solidFill>
            <a:ln w="9525">
              <a:solidFill>
                <a:schemeClr val="tx1"/>
              </a:solidFill>
              <a:miter lim="800000"/>
              <a:headEnd/>
              <a:tailEnd/>
            </a:ln>
          </p:spPr>
          <p:txBody>
            <a:bodyPr rot="10800000" wrap="none" anchor="ctr"/>
            <a:lstStyle/>
            <a:p>
              <a:pPr algn="ctr"/>
              <a:endParaRPr lang="en-US" sz="1200">
                <a:cs typeface="Arial" pitchFamily="34" charset="0"/>
              </a:endParaRPr>
            </a:p>
          </p:txBody>
        </p:sp>
      </p:grpSp>
      <p:sp>
        <p:nvSpPr>
          <p:cNvPr id="60" name="Line 26"/>
          <p:cNvSpPr>
            <a:spLocks noChangeShapeType="1"/>
          </p:cNvSpPr>
          <p:nvPr/>
        </p:nvSpPr>
        <p:spPr bwMode="auto">
          <a:xfrm rot="10800000" flipV="1">
            <a:off x="1637189" y="3225938"/>
            <a:ext cx="1" cy="206682"/>
          </a:xfrm>
          <a:prstGeom prst="line">
            <a:avLst/>
          </a:prstGeom>
          <a:noFill/>
          <a:ln w="9525">
            <a:solidFill>
              <a:schemeClr val="tx1"/>
            </a:solidFill>
            <a:round/>
            <a:headEnd type="triangle"/>
            <a:tailEnd type="none" w="med" len="med"/>
          </a:ln>
        </p:spPr>
        <p:txBody>
          <a:bodyPr/>
          <a:lstStyle/>
          <a:p>
            <a:endParaRPr lang="en-US"/>
          </a:p>
        </p:txBody>
      </p:sp>
      <p:sp>
        <p:nvSpPr>
          <p:cNvPr id="35" name="Rectangle 35"/>
          <p:cNvSpPr>
            <a:spLocks noChangeArrowheads="1"/>
          </p:cNvSpPr>
          <p:nvPr/>
        </p:nvSpPr>
        <p:spPr bwMode="auto">
          <a:xfrm>
            <a:off x="787037" y="3225939"/>
            <a:ext cx="276890" cy="454865"/>
          </a:xfrm>
          <a:prstGeom prst="rect">
            <a:avLst/>
          </a:prstGeom>
          <a:solidFill>
            <a:srgbClr val="009999"/>
          </a:solidFill>
          <a:ln w="9525">
            <a:solidFill>
              <a:schemeClr val="tx1"/>
            </a:solidFill>
            <a:miter lim="800000"/>
            <a:headEnd/>
            <a:tailEnd/>
          </a:ln>
        </p:spPr>
        <p:txBody>
          <a:bodyPr wrap="none" anchor="ctr"/>
          <a:lstStyle/>
          <a:p>
            <a:pPr algn="ctr"/>
            <a:r>
              <a:rPr lang="en-US" sz="1000" dirty="0">
                <a:cs typeface="Arial" pitchFamily="34" charset="0"/>
              </a:rPr>
              <a:t>SD</a:t>
            </a:r>
          </a:p>
        </p:txBody>
      </p:sp>
      <p:sp>
        <p:nvSpPr>
          <p:cNvPr id="90" name="Rectangle 35"/>
          <p:cNvSpPr>
            <a:spLocks noChangeArrowheads="1"/>
          </p:cNvSpPr>
          <p:nvPr/>
        </p:nvSpPr>
        <p:spPr bwMode="auto">
          <a:xfrm>
            <a:off x="1068909" y="3225939"/>
            <a:ext cx="276890" cy="454865"/>
          </a:xfrm>
          <a:prstGeom prst="rect">
            <a:avLst/>
          </a:prstGeom>
          <a:solidFill>
            <a:srgbClr val="009999"/>
          </a:solidFill>
          <a:ln w="9525">
            <a:solidFill>
              <a:schemeClr val="tx1"/>
            </a:solidFill>
            <a:miter lim="800000"/>
            <a:headEnd/>
            <a:tailEnd/>
          </a:ln>
        </p:spPr>
        <p:txBody>
          <a:bodyPr wrap="none" anchor="ctr"/>
          <a:lstStyle/>
          <a:p>
            <a:pPr algn="ctr"/>
            <a:r>
              <a:rPr lang="en-US" sz="1000" dirty="0">
                <a:cs typeface="Arial" pitchFamily="34" charset="0"/>
              </a:rPr>
              <a:t>SD</a:t>
            </a:r>
          </a:p>
        </p:txBody>
      </p:sp>
      <p:sp>
        <p:nvSpPr>
          <p:cNvPr id="91" name="Rectangle 35"/>
          <p:cNvSpPr>
            <a:spLocks noChangeArrowheads="1"/>
          </p:cNvSpPr>
          <p:nvPr/>
        </p:nvSpPr>
        <p:spPr bwMode="auto">
          <a:xfrm>
            <a:off x="1350781" y="3225939"/>
            <a:ext cx="276890" cy="454865"/>
          </a:xfrm>
          <a:prstGeom prst="rect">
            <a:avLst/>
          </a:prstGeom>
          <a:solidFill>
            <a:srgbClr val="009999"/>
          </a:solidFill>
          <a:ln w="9525">
            <a:solidFill>
              <a:schemeClr val="tx1"/>
            </a:solidFill>
            <a:miter lim="800000"/>
            <a:headEnd/>
            <a:tailEnd/>
          </a:ln>
        </p:spPr>
        <p:txBody>
          <a:bodyPr wrap="none" anchor="ctr"/>
          <a:lstStyle/>
          <a:p>
            <a:pPr algn="ctr"/>
            <a:r>
              <a:rPr lang="en-US" sz="1000" dirty="0">
                <a:cs typeface="Arial" pitchFamily="34" charset="0"/>
              </a:rPr>
              <a:t>SD</a:t>
            </a:r>
          </a:p>
        </p:txBody>
      </p:sp>
      <p:sp>
        <p:nvSpPr>
          <p:cNvPr id="92" name="Rectangle 35"/>
          <p:cNvSpPr>
            <a:spLocks noChangeArrowheads="1"/>
          </p:cNvSpPr>
          <p:nvPr/>
        </p:nvSpPr>
        <p:spPr bwMode="auto">
          <a:xfrm>
            <a:off x="1624561" y="3225939"/>
            <a:ext cx="276890" cy="454865"/>
          </a:xfrm>
          <a:prstGeom prst="rect">
            <a:avLst/>
          </a:prstGeom>
          <a:solidFill>
            <a:srgbClr val="009999"/>
          </a:solidFill>
          <a:ln w="9525">
            <a:solidFill>
              <a:schemeClr val="tx1"/>
            </a:solidFill>
            <a:miter lim="800000"/>
            <a:headEnd/>
            <a:tailEnd/>
          </a:ln>
        </p:spPr>
        <p:txBody>
          <a:bodyPr wrap="none" anchor="ctr"/>
          <a:lstStyle/>
          <a:p>
            <a:pPr algn="ctr"/>
            <a:r>
              <a:rPr lang="en-US" sz="1000" dirty="0">
                <a:cs typeface="Arial" pitchFamily="34" charset="0"/>
              </a:rPr>
              <a:t>SD</a:t>
            </a:r>
          </a:p>
        </p:txBody>
      </p:sp>
      <p:sp>
        <p:nvSpPr>
          <p:cNvPr id="93" name="Rectangle 35"/>
          <p:cNvSpPr>
            <a:spLocks noChangeArrowheads="1"/>
          </p:cNvSpPr>
          <p:nvPr/>
        </p:nvSpPr>
        <p:spPr bwMode="auto">
          <a:xfrm>
            <a:off x="1906433" y="3225939"/>
            <a:ext cx="276890" cy="454865"/>
          </a:xfrm>
          <a:prstGeom prst="rect">
            <a:avLst/>
          </a:prstGeom>
          <a:solidFill>
            <a:srgbClr val="009999"/>
          </a:solidFill>
          <a:ln w="9525">
            <a:solidFill>
              <a:schemeClr val="tx1"/>
            </a:solidFill>
            <a:miter lim="800000"/>
            <a:headEnd/>
            <a:tailEnd/>
          </a:ln>
        </p:spPr>
        <p:txBody>
          <a:bodyPr wrap="none" anchor="ctr"/>
          <a:lstStyle/>
          <a:p>
            <a:pPr algn="ctr"/>
            <a:r>
              <a:rPr lang="en-US" sz="1000" dirty="0">
                <a:cs typeface="Arial" pitchFamily="34" charset="0"/>
              </a:rPr>
              <a:t>SD</a:t>
            </a:r>
          </a:p>
        </p:txBody>
      </p:sp>
      <p:sp>
        <p:nvSpPr>
          <p:cNvPr id="94" name="Rectangle 35"/>
          <p:cNvSpPr>
            <a:spLocks noChangeArrowheads="1"/>
          </p:cNvSpPr>
          <p:nvPr/>
        </p:nvSpPr>
        <p:spPr bwMode="auto">
          <a:xfrm>
            <a:off x="2188305" y="3225939"/>
            <a:ext cx="276890" cy="454865"/>
          </a:xfrm>
          <a:prstGeom prst="rect">
            <a:avLst/>
          </a:prstGeom>
          <a:solidFill>
            <a:srgbClr val="009999"/>
          </a:solidFill>
          <a:ln w="9525">
            <a:solidFill>
              <a:schemeClr val="tx1"/>
            </a:solidFill>
            <a:miter lim="800000"/>
            <a:headEnd/>
            <a:tailEnd/>
          </a:ln>
        </p:spPr>
        <p:txBody>
          <a:bodyPr wrap="none" anchor="ctr"/>
          <a:lstStyle/>
          <a:p>
            <a:pPr algn="ctr"/>
            <a:r>
              <a:rPr lang="en-US" sz="1000" dirty="0">
                <a:cs typeface="Arial" pitchFamily="34" charset="0"/>
              </a:rPr>
              <a:t>SD</a:t>
            </a:r>
          </a:p>
        </p:txBody>
      </p:sp>
      <p:sp>
        <p:nvSpPr>
          <p:cNvPr id="95" name="Rectangle 35"/>
          <p:cNvSpPr>
            <a:spLocks noChangeArrowheads="1"/>
          </p:cNvSpPr>
          <p:nvPr/>
        </p:nvSpPr>
        <p:spPr bwMode="auto">
          <a:xfrm>
            <a:off x="2470177" y="3225939"/>
            <a:ext cx="276890" cy="454865"/>
          </a:xfrm>
          <a:prstGeom prst="rect">
            <a:avLst/>
          </a:prstGeom>
          <a:solidFill>
            <a:srgbClr val="009999"/>
          </a:solidFill>
          <a:ln w="9525">
            <a:solidFill>
              <a:schemeClr val="tx1"/>
            </a:solidFill>
            <a:miter lim="800000"/>
            <a:headEnd/>
            <a:tailEnd/>
          </a:ln>
        </p:spPr>
        <p:txBody>
          <a:bodyPr wrap="none" anchor="ctr"/>
          <a:lstStyle/>
          <a:p>
            <a:pPr algn="ctr"/>
            <a:r>
              <a:rPr lang="en-US" sz="1000" dirty="0">
                <a:cs typeface="Arial" pitchFamily="34" charset="0"/>
              </a:rPr>
              <a:t>SD</a:t>
            </a:r>
          </a:p>
        </p:txBody>
      </p:sp>
      <p:sp>
        <p:nvSpPr>
          <p:cNvPr id="96" name="Rectangle 35"/>
          <p:cNvSpPr>
            <a:spLocks noChangeArrowheads="1"/>
          </p:cNvSpPr>
          <p:nvPr/>
        </p:nvSpPr>
        <p:spPr bwMode="auto">
          <a:xfrm>
            <a:off x="791954" y="3904964"/>
            <a:ext cx="276890" cy="518281"/>
          </a:xfrm>
          <a:prstGeom prst="rect">
            <a:avLst/>
          </a:prstGeom>
          <a:gradFill>
            <a:gsLst>
              <a:gs pos="26000">
                <a:srgbClr val="3366FF"/>
              </a:gs>
              <a:gs pos="82000">
                <a:srgbClr val="FFFFFF"/>
              </a:gs>
            </a:gsLst>
            <a:lin ang="16200000" scaled="0"/>
          </a:gradFill>
          <a:ln w="9525">
            <a:solidFill>
              <a:schemeClr val="tx1"/>
            </a:solidFill>
            <a:prstDash val="dash"/>
            <a:miter lim="800000"/>
            <a:headEnd/>
            <a:tailEnd/>
          </a:ln>
        </p:spPr>
        <p:txBody>
          <a:bodyPr wrap="none" anchor="ctr"/>
          <a:lstStyle/>
          <a:p>
            <a:pPr algn="ctr"/>
            <a:r>
              <a:rPr lang="en-US" sz="800" dirty="0">
                <a:cs typeface="Arial" pitchFamily="34" charset="0"/>
              </a:rPr>
              <a:t>DPvol</a:t>
            </a:r>
          </a:p>
        </p:txBody>
      </p:sp>
      <p:sp>
        <p:nvSpPr>
          <p:cNvPr id="97" name="Rectangle 35"/>
          <p:cNvSpPr>
            <a:spLocks noChangeArrowheads="1"/>
          </p:cNvSpPr>
          <p:nvPr/>
        </p:nvSpPr>
        <p:spPr bwMode="auto">
          <a:xfrm>
            <a:off x="1068387" y="3904964"/>
            <a:ext cx="276890" cy="518281"/>
          </a:xfrm>
          <a:prstGeom prst="rect">
            <a:avLst/>
          </a:prstGeom>
          <a:gradFill>
            <a:gsLst>
              <a:gs pos="26000">
                <a:srgbClr val="3366FF"/>
              </a:gs>
              <a:gs pos="82000">
                <a:srgbClr val="FFFFFF"/>
              </a:gs>
            </a:gsLst>
            <a:lin ang="16200000" scaled="0"/>
          </a:gradFill>
          <a:ln w="9525">
            <a:solidFill>
              <a:schemeClr val="tx1"/>
            </a:solidFill>
            <a:prstDash val="dash"/>
            <a:miter lim="800000"/>
            <a:headEnd/>
            <a:tailEnd/>
          </a:ln>
        </p:spPr>
        <p:txBody>
          <a:bodyPr wrap="none" anchor="ctr"/>
          <a:lstStyle/>
          <a:p>
            <a:pPr algn="ctr"/>
            <a:r>
              <a:rPr lang="en-US" sz="800" dirty="0">
                <a:cs typeface="Arial" pitchFamily="34" charset="0"/>
              </a:rPr>
              <a:t>DPvol</a:t>
            </a:r>
          </a:p>
        </p:txBody>
      </p:sp>
      <p:sp>
        <p:nvSpPr>
          <p:cNvPr id="98" name="Rectangle 35"/>
          <p:cNvSpPr>
            <a:spLocks noChangeArrowheads="1"/>
          </p:cNvSpPr>
          <p:nvPr/>
        </p:nvSpPr>
        <p:spPr bwMode="auto">
          <a:xfrm>
            <a:off x="1346433" y="3904964"/>
            <a:ext cx="276890" cy="518281"/>
          </a:xfrm>
          <a:prstGeom prst="rect">
            <a:avLst/>
          </a:prstGeom>
          <a:gradFill>
            <a:gsLst>
              <a:gs pos="26000">
                <a:srgbClr val="3366FF"/>
              </a:gs>
              <a:gs pos="82000">
                <a:srgbClr val="FFFFFF"/>
              </a:gs>
            </a:gsLst>
            <a:lin ang="16200000" scaled="0"/>
          </a:gradFill>
          <a:ln w="9525">
            <a:solidFill>
              <a:schemeClr val="tx1"/>
            </a:solidFill>
            <a:prstDash val="dash"/>
            <a:miter lim="800000"/>
            <a:headEnd/>
            <a:tailEnd/>
          </a:ln>
        </p:spPr>
        <p:txBody>
          <a:bodyPr wrap="none" anchor="ctr"/>
          <a:lstStyle/>
          <a:p>
            <a:pPr algn="ctr"/>
            <a:r>
              <a:rPr lang="en-US" sz="800" dirty="0">
                <a:cs typeface="Arial" pitchFamily="34" charset="0"/>
              </a:rPr>
              <a:t>DPvol</a:t>
            </a:r>
          </a:p>
        </p:txBody>
      </p:sp>
      <p:sp>
        <p:nvSpPr>
          <p:cNvPr id="99" name="Rectangle 35"/>
          <p:cNvSpPr>
            <a:spLocks noChangeArrowheads="1"/>
          </p:cNvSpPr>
          <p:nvPr/>
        </p:nvSpPr>
        <p:spPr bwMode="auto">
          <a:xfrm>
            <a:off x="1623323" y="3904964"/>
            <a:ext cx="276890" cy="518281"/>
          </a:xfrm>
          <a:prstGeom prst="rect">
            <a:avLst/>
          </a:prstGeom>
          <a:gradFill>
            <a:gsLst>
              <a:gs pos="26000">
                <a:srgbClr val="3366FF"/>
              </a:gs>
              <a:gs pos="82000">
                <a:srgbClr val="FFFFFF"/>
              </a:gs>
            </a:gsLst>
            <a:lin ang="16200000" scaled="0"/>
          </a:gradFill>
          <a:ln w="9525">
            <a:solidFill>
              <a:schemeClr val="tx1"/>
            </a:solidFill>
            <a:prstDash val="dash"/>
            <a:miter lim="800000"/>
            <a:headEnd/>
            <a:tailEnd/>
          </a:ln>
        </p:spPr>
        <p:txBody>
          <a:bodyPr wrap="none" anchor="ctr"/>
          <a:lstStyle/>
          <a:p>
            <a:pPr algn="ctr"/>
            <a:r>
              <a:rPr lang="en-US" sz="800" dirty="0">
                <a:cs typeface="Arial" pitchFamily="34" charset="0"/>
              </a:rPr>
              <a:t>DPvol</a:t>
            </a:r>
          </a:p>
        </p:txBody>
      </p:sp>
      <p:sp>
        <p:nvSpPr>
          <p:cNvPr id="100" name="Rectangle 35"/>
          <p:cNvSpPr>
            <a:spLocks noChangeArrowheads="1"/>
          </p:cNvSpPr>
          <p:nvPr/>
        </p:nvSpPr>
        <p:spPr bwMode="auto">
          <a:xfrm>
            <a:off x="1900213" y="3904964"/>
            <a:ext cx="276890" cy="518281"/>
          </a:xfrm>
          <a:prstGeom prst="rect">
            <a:avLst/>
          </a:prstGeom>
          <a:gradFill>
            <a:gsLst>
              <a:gs pos="26000">
                <a:srgbClr val="3366FF"/>
              </a:gs>
              <a:gs pos="82000">
                <a:srgbClr val="FFFFFF"/>
              </a:gs>
            </a:gsLst>
            <a:lin ang="16200000" scaled="0"/>
          </a:gradFill>
          <a:ln w="9525">
            <a:solidFill>
              <a:schemeClr val="tx1"/>
            </a:solidFill>
            <a:prstDash val="dash"/>
            <a:miter lim="800000"/>
            <a:headEnd/>
            <a:tailEnd/>
          </a:ln>
        </p:spPr>
        <p:txBody>
          <a:bodyPr wrap="none" anchor="ctr"/>
          <a:lstStyle/>
          <a:p>
            <a:pPr algn="ctr"/>
            <a:r>
              <a:rPr lang="en-US" sz="800" dirty="0">
                <a:cs typeface="Arial" pitchFamily="34" charset="0"/>
              </a:rPr>
              <a:t>DPvol</a:t>
            </a:r>
          </a:p>
        </p:txBody>
      </p:sp>
      <p:sp>
        <p:nvSpPr>
          <p:cNvPr id="101" name="Rectangle 35"/>
          <p:cNvSpPr>
            <a:spLocks noChangeArrowheads="1"/>
          </p:cNvSpPr>
          <p:nvPr/>
        </p:nvSpPr>
        <p:spPr bwMode="auto">
          <a:xfrm>
            <a:off x="2177103" y="3904964"/>
            <a:ext cx="276890" cy="518281"/>
          </a:xfrm>
          <a:prstGeom prst="rect">
            <a:avLst/>
          </a:prstGeom>
          <a:gradFill>
            <a:gsLst>
              <a:gs pos="26000">
                <a:srgbClr val="3366FF"/>
              </a:gs>
              <a:gs pos="82000">
                <a:srgbClr val="FFFFFF"/>
              </a:gs>
            </a:gsLst>
            <a:lin ang="16200000" scaled="0"/>
          </a:gradFill>
          <a:ln w="9525">
            <a:solidFill>
              <a:schemeClr val="tx1"/>
            </a:solidFill>
            <a:prstDash val="dash"/>
            <a:miter lim="800000"/>
            <a:headEnd/>
            <a:tailEnd/>
          </a:ln>
        </p:spPr>
        <p:txBody>
          <a:bodyPr wrap="none" anchor="ctr"/>
          <a:lstStyle/>
          <a:p>
            <a:pPr algn="ctr"/>
            <a:r>
              <a:rPr lang="en-US" sz="800" dirty="0">
                <a:cs typeface="Arial" pitchFamily="34" charset="0"/>
              </a:rPr>
              <a:t>DPvol</a:t>
            </a:r>
          </a:p>
        </p:txBody>
      </p:sp>
      <p:sp>
        <p:nvSpPr>
          <p:cNvPr id="102" name="Rectangle 35"/>
          <p:cNvSpPr>
            <a:spLocks noChangeArrowheads="1"/>
          </p:cNvSpPr>
          <p:nvPr/>
        </p:nvSpPr>
        <p:spPr bwMode="auto">
          <a:xfrm>
            <a:off x="2455333" y="3904964"/>
            <a:ext cx="276890" cy="518281"/>
          </a:xfrm>
          <a:prstGeom prst="rect">
            <a:avLst/>
          </a:prstGeom>
          <a:gradFill>
            <a:gsLst>
              <a:gs pos="26000">
                <a:srgbClr val="3366FF"/>
              </a:gs>
              <a:gs pos="82000">
                <a:srgbClr val="FFFFFF"/>
              </a:gs>
            </a:gsLst>
            <a:lin ang="16200000" scaled="0"/>
          </a:gradFill>
          <a:ln w="9525">
            <a:solidFill>
              <a:schemeClr val="tx1"/>
            </a:solidFill>
            <a:prstDash val="dash"/>
            <a:miter lim="800000"/>
            <a:headEnd/>
            <a:tailEnd/>
          </a:ln>
        </p:spPr>
        <p:txBody>
          <a:bodyPr wrap="none" anchor="ctr"/>
          <a:lstStyle/>
          <a:p>
            <a:pPr algn="ctr"/>
            <a:r>
              <a:rPr lang="en-US" sz="800" dirty="0">
                <a:cs typeface="Arial" pitchFamily="34" charset="0"/>
              </a:rPr>
              <a:t>DPvol</a:t>
            </a:r>
          </a:p>
        </p:txBody>
      </p:sp>
      <p:sp>
        <p:nvSpPr>
          <p:cNvPr id="103" name="Rectangle 35"/>
          <p:cNvSpPr>
            <a:spLocks noChangeArrowheads="1"/>
          </p:cNvSpPr>
          <p:nvPr/>
        </p:nvSpPr>
        <p:spPr bwMode="auto">
          <a:xfrm>
            <a:off x="510147" y="3225939"/>
            <a:ext cx="276890" cy="454865"/>
          </a:xfrm>
          <a:prstGeom prst="rect">
            <a:avLst/>
          </a:prstGeom>
          <a:solidFill>
            <a:srgbClr val="009999"/>
          </a:solidFill>
          <a:ln w="9525">
            <a:solidFill>
              <a:schemeClr val="tx1"/>
            </a:solidFill>
            <a:miter lim="800000"/>
            <a:headEnd/>
            <a:tailEnd/>
          </a:ln>
        </p:spPr>
        <p:txBody>
          <a:bodyPr wrap="none" anchor="ctr"/>
          <a:lstStyle/>
          <a:p>
            <a:pPr algn="ctr"/>
            <a:r>
              <a:rPr lang="en-US" sz="1000" dirty="0">
                <a:cs typeface="Arial" pitchFamily="34" charset="0"/>
              </a:rPr>
              <a:t>SD</a:t>
            </a:r>
          </a:p>
        </p:txBody>
      </p:sp>
      <p:sp>
        <p:nvSpPr>
          <p:cNvPr id="104" name="Rectangle 35"/>
          <p:cNvSpPr>
            <a:spLocks noChangeArrowheads="1"/>
          </p:cNvSpPr>
          <p:nvPr/>
        </p:nvSpPr>
        <p:spPr bwMode="auto">
          <a:xfrm>
            <a:off x="1616225" y="4497326"/>
            <a:ext cx="553780" cy="270836"/>
          </a:xfrm>
          <a:prstGeom prst="rect">
            <a:avLst/>
          </a:prstGeom>
          <a:solidFill>
            <a:srgbClr val="3366FF"/>
          </a:solidFill>
          <a:ln w="9525">
            <a:solidFill>
              <a:schemeClr val="tx1"/>
            </a:solidFill>
            <a:miter lim="800000"/>
            <a:headEnd/>
            <a:tailEnd/>
          </a:ln>
        </p:spPr>
        <p:txBody>
          <a:bodyPr wrap="none" anchor="ctr"/>
          <a:lstStyle/>
          <a:p>
            <a:pPr algn="ctr"/>
            <a:r>
              <a:rPr lang="en-US" sz="1200" dirty="0">
                <a:cs typeface="Arial" pitchFamily="34" charset="0"/>
              </a:rPr>
              <a:t>RG</a:t>
            </a:r>
          </a:p>
        </p:txBody>
      </p:sp>
      <p:sp>
        <p:nvSpPr>
          <p:cNvPr id="105" name="Rectangle 35"/>
          <p:cNvSpPr>
            <a:spLocks noChangeArrowheads="1"/>
          </p:cNvSpPr>
          <p:nvPr/>
        </p:nvSpPr>
        <p:spPr bwMode="auto">
          <a:xfrm>
            <a:off x="2178202" y="4497326"/>
            <a:ext cx="553780" cy="270836"/>
          </a:xfrm>
          <a:prstGeom prst="rect">
            <a:avLst/>
          </a:prstGeom>
          <a:solidFill>
            <a:srgbClr val="3366FF"/>
          </a:solidFill>
          <a:ln w="9525">
            <a:solidFill>
              <a:schemeClr val="tx1"/>
            </a:solidFill>
            <a:miter lim="800000"/>
            <a:headEnd/>
            <a:tailEnd/>
          </a:ln>
        </p:spPr>
        <p:txBody>
          <a:bodyPr wrap="none" anchor="ctr"/>
          <a:lstStyle/>
          <a:p>
            <a:pPr algn="ctr"/>
            <a:r>
              <a:rPr lang="en-US" sz="1200" dirty="0">
                <a:cs typeface="Arial" pitchFamily="34" charset="0"/>
              </a:rPr>
              <a:t>RG</a:t>
            </a:r>
          </a:p>
        </p:txBody>
      </p:sp>
      <p:sp>
        <p:nvSpPr>
          <p:cNvPr id="106" name="Rectangle 35"/>
          <p:cNvSpPr>
            <a:spLocks noChangeArrowheads="1"/>
          </p:cNvSpPr>
          <p:nvPr/>
        </p:nvSpPr>
        <p:spPr bwMode="auto">
          <a:xfrm>
            <a:off x="1616225" y="4771477"/>
            <a:ext cx="553780" cy="270836"/>
          </a:xfrm>
          <a:prstGeom prst="rect">
            <a:avLst/>
          </a:prstGeom>
          <a:solidFill>
            <a:schemeClr val="bg1"/>
          </a:solidFill>
          <a:ln w="9525">
            <a:solidFill>
              <a:srgbClr val="0000FF"/>
            </a:solidFill>
            <a:prstDash val="dash"/>
            <a:miter lim="800000"/>
            <a:headEnd/>
            <a:tailEnd/>
          </a:ln>
        </p:spPr>
        <p:txBody>
          <a:bodyPr wrap="none" anchor="ctr"/>
          <a:lstStyle/>
          <a:p>
            <a:pPr algn="ctr"/>
            <a:r>
              <a:rPr lang="en-US" sz="1200" dirty="0">
                <a:cs typeface="Arial" pitchFamily="34" charset="0"/>
              </a:rPr>
              <a:t>RG</a:t>
            </a:r>
          </a:p>
        </p:txBody>
      </p:sp>
      <p:sp>
        <p:nvSpPr>
          <p:cNvPr id="107" name="Rectangle 35"/>
          <p:cNvSpPr>
            <a:spLocks noChangeArrowheads="1"/>
          </p:cNvSpPr>
          <p:nvPr/>
        </p:nvSpPr>
        <p:spPr bwMode="auto">
          <a:xfrm>
            <a:off x="2178202" y="4771477"/>
            <a:ext cx="553780" cy="270836"/>
          </a:xfrm>
          <a:prstGeom prst="rect">
            <a:avLst/>
          </a:prstGeom>
          <a:solidFill>
            <a:schemeClr val="bg1"/>
          </a:solidFill>
          <a:ln w="9525">
            <a:solidFill>
              <a:srgbClr val="0000FF"/>
            </a:solidFill>
            <a:prstDash val="dash"/>
            <a:miter lim="800000"/>
            <a:headEnd/>
            <a:tailEnd/>
          </a:ln>
        </p:spPr>
        <p:txBody>
          <a:bodyPr wrap="none" anchor="ctr"/>
          <a:lstStyle/>
          <a:p>
            <a:pPr algn="ctr"/>
            <a:r>
              <a:rPr lang="en-US" sz="1200" dirty="0">
                <a:cs typeface="Arial" pitchFamily="34" charset="0"/>
              </a:rPr>
              <a:t>RG</a:t>
            </a:r>
          </a:p>
        </p:txBody>
      </p:sp>
      <p:sp>
        <p:nvSpPr>
          <p:cNvPr id="108" name="Line 26"/>
          <p:cNvSpPr>
            <a:spLocks noChangeShapeType="1"/>
          </p:cNvSpPr>
          <p:nvPr/>
        </p:nvSpPr>
        <p:spPr bwMode="auto">
          <a:xfrm rot="10800000" flipH="1" flipV="1">
            <a:off x="648592" y="3681032"/>
            <a:ext cx="1" cy="218269"/>
          </a:xfrm>
          <a:prstGeom prst="line">
            <a:avLst/>
          </a:prstGeom>
          <a:noFill/>
          <a:ln w="9525">
            <a:solidFill>
              <a:schemeClr val="tx1"/>
            </a:solidFill>
            <a:round/>
            <a:headEnd type="triangle"/>
            <a:tailEnd type="none" w="med" len="med"/>
          </a:ln>
        </p:spPr>
        <p:txBody>
          <a:bodyPr/>
          <a:lstStyle/>
          <a:p>
            <a:endParaRPr lang="en-US"/>
          </a:p>
        </p:txBody>
      </p:sp>
      <p:sp>
        <p:nvSpPr>
          <p:cNvPr id="109" name="Line 26"/>
          <p:cNvSpPr>
            <a:spLocks noChangeShapeType="1"/>
          </p:cNvSpPr>
          <p:nvPr/>
        </p:nvSpPr>
        <p:spPr bwMode="auto">
          <a:xfrm rot="10800000" flipH="1" flipV="1">
            <a:off x="919166" y="3681032"/>
            <a:ext cx="1" cy="218269"/>
          </a:xfrm>
          <a:prstGeom prst="line">
            <a:avLst/>
          </a:prstGeom>
          <a:noFill/>
          <a:ln w="9525">
            <a:solidFill>
              <a:schemeClr val="tx1"/>
            </a:solidFill>
            <a:round/>
            <a:headEnd type="triangle"/>
            <a:tailEnd type="none" w="med" len="med"/>
          </a:ln>
        </p:spPr>
        <p:txBody>
          <a:bodyPr/>
          <a:lstStyle/>
          <a:p>
            <a:endParaRPr lang="en-US"/>
          </a:p>
        </p:txBody>
      </p:sp>
      <p:sp>
        <p:nvSpPr>
          <p:cNvPr id="110" name="Line 26"/>
          <p:cNvSpPr>
            <a:spLocks noChangeShapeType="1"/>
          </p:cNvSpPr>
          <p:nvPr/>
        </p:nvSpPr>
        <p:spPr bwMode="auto">
          <a:xfrm rot="10800000" flipH="1" flipV="1">
            <a:off x="1199778" y="3681032"/>
            <a:ext cx="1" cy="218269"/>
          </a:xfrm>
          <a:prstGeom prst="line">
            <a:avLst/>
          </a:prstGeom>
          <a:noFill/>
          <a:ln w="9525">
            <a:solidFill>
              <a:schemeClr val="tx1"/>
            </a:solidFill>
            <a:round/>
            <a:headEnd type="triangle"/>
            <a:tailEnd type="none" w="med" len="med"/>
          </a:ln>
        </p:spPr>
        <p:txBody>
          <a:bodyPr/>
          <a:lstStyle/>
          <a:p>
            <a:endParaRPr lang="en-US"/>
          </a:p>
        </p:txBody>
      </p:sp>
      <p:sp>
        <p:nvSpPr>
          <p:cNvPr id="111" name="Line 26"/>
          <p:cNvSpPr>
            <a:spLocks noChangeShapeType="1"/>
          </p:cNvSpPr>
          <p:nvPr/>
        </p:nvSpPr>
        <p:spPr bwMode="auto">
          <a:xfrm rot="10800000" flipH="1" flipV="1">
            <a:off x="1478561" y="3681032"/>
            <a:ext cx="1" cy="218269"/>
          </a:xfrm>
          <a:prstGeom prst="line">
            <a:avLst/>
          </a:prstGeom>
          <a:noFill/>
          <a:ln w="9525">
            <a:solidFill>
              <a:schemeClr val="tx1"/>
            </a:solidFill>
            <a:round/>
            <a:headEnd type="triangle"/>
            <a:tailEnd type="none" w="med" len="med"/>
          </a:ln>
        </p:spPr>
        <p:txBody>
          <a:bodyPr/>
          <a:lstStyle/>
          <a:p>
            <a:endParaRPr lang="en-US"/>
          </a:p>
        </p:txBody>
      </p:sp>
      <p:sp>
        <p:nvSpPr>
          <p:cNvPr id="112" name="Line 26"/>
          <p:cNvSpPr>
            <a:spLocks noChangeShapeType="1"/>
          </p:cNvSpPr>
          <p:nvPr/>
        </p:nvSpPr>
        <p:spPr bwMode="auto">
          <a:xfrm rot="10800000" flipH="1" flipV="1">
            <a:off x="1764129" y="3681032"/>
            <a:ext cx="1" cy="218269"/>
          </a:xfrm>
          <a:prstGeom prst="line">
            <a:avLst/>
          </a:prstGeom>
          <a:noFill/>
          <a:ln w="9525">
            <a:solidFill>
              <a:schemeClr val="tx1"/>
            </a:solidFill>
            <a:round/>
            <a:headEnd type="triangle"/>
            <a:tailEnd type="none" w="med" len="med"/>
          </a:ln>
        </p:spPr>
        <p:txBody>
          <a:bodyPr/>
          <a:lstStyle/>
          <a:p>
            <a:endParaRPr lang="en-US"/>
          </a:p>
        </p:txBody>
      </p:sp>
      <p:sp>
        <p:nvSpPr>
          <p:cNvPr id="113" name="Line 26"/>
          <p:cNvSpPr>
            <a:spLocks noChangeShapeType="1"/>
          </p:cNvSpPr>
          <p:nvPr/>
        </p:nvSpPr>
        <p:spPr bwMode="auto">
          <a:xfrm rot="10800000" flipH="1" flipV="1">
            <a:off x="2044879" y="3681032"/>
            <a:ext cx="1" cy="218269"/>
          </a:xfrm>
          <a:prstGeom prst="line">
            <a:avLst/>
          </a:prstGeom>
          <a:noFill/>
          <a:ln w="9525">
            <a:solidFill>
              <a:schemeClr val="tx1"/>
            </a:solidFill>
            <a:round/>
            <a:headEnd type="triangle"/>
            <a:tailEnd type="none" w="med" len="med"/>
          </a:ln>
        </p:spPr>
        <p:txBody>
          <a:bodyPr/>
          <a:lstStyle/>
          <a:p>
            <a:endParaRPr lang="en-US"/>
          </a:p>
        </p:txBody>
      </p:sp>
      <p:sp>
        <p:nvSpPr>
          <p:cNvPr id="114" name="Line 26"/>
          <p:cNvSpPr>
            <a:spLocks noChangeShapeType="1"/>
          </p:cNvSpPr>
          <p:nvPr/>
        </p:nvSpPr>
        <p:spPr bwMode="auto">
          <a:xfrm rot="10800000" flipH="1" flipV="1">
            <a:off x="2315548" y="3681032"/>
            <a:ext cx="1" cy="218269"/>
          </a:xfrm>
          <a:prstGeom prst="line">
            <a:avLst/>
          </a:prstGeom>
          <a:noFill/>
          <a:ln w="9525">
            <a:solidFill>
              <a:schemeClr val="tx1"/>
            </a:solidFill>
            <a:round/>
            <a:headEnd type="triangle"/>
            <a:tailEnd type="none" w="med" len="med"/>
          </a:ln>
        </p:spPr>
        <p:txBody>
          <a:bodyPr/>
          <a:lstStyle/>
          <a:p>
            <a:endParaRPr lang="en-US"/>
          </a:p>
        </p:txBody>
      </p:sp>
      <p:sp>
        <p:nvSpPr>
          <p:cNvPr id="115" name="Line 26"/>
          <p:cNvSpPr>
            <a:spLocks noChangeShapeType="1"/>
          </p:cNvSpPr>
          <p:nvPr/>
        </p:nvSpPr>
        <p:spPr bwMode="auto">
          <a:xfrm rot="10800000" flipH="1" flipV="1">
            <a:off x="2608623" y="3681032"/>
            <a:ext cx="1" cy="218269"/>
          </a:xfrm>
          <a:prstGeom prst="line">
            <a:avLst/>
          </a:prstGeom>
          <a:noFill/>
          <a:ln w="9525">
            <a:solidFill>
              <a:schemeClr val="tx1"/>
            </a:solidFill>
            <a:round/>
            <a:headEnd type="triangle"/>
            <a:tailEnd type="none" w="med" len="med"/>
          </a:ln>
        </p:spPr>
        <p:txBody>
          <a:bodyPr/>
          <a:lstStyle/>
          <a:p>
            <a:endParaRPr lang="en-US"/>
          </a:p>
        </p:txBody>
      </p:sp>
    </p:spTree>
    <p:extLst>
      <p:ext uri="{BB962C8B-B14F-4D97-AF65-F5344CB8AC3E}">
        <p14:creationId xmlns:p14="http://schemas.microsoft.com/office/powerpoint/2010/main" val="40384049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mph" presetSubtype="2" decel="100000" fill="hold" nodeType="withEffect">
                                  <p:stCondLst>
                                    <p:cond delay="0"/>
                                  </p:stCondLst>
                                  <p:childTnLst>
                                    <p:animClr clrSpc="rgb" dir="cw">
                                      <p:cBhvr>
                                        <p:cTn id="6" dur="1000" fill="hold"/>
                                        <p:tgtEl>
                                          <p:spTgt spid="62"/>
                                        </p:tgtEl>
                                        <p:attrNameLst>
                                          <p:attrName>fillcolor</p:attrName>
                                        </p:attrNameLst>
                                      </p:cBhvr>
                                      <p:to>
                                        <a:srgbClr val="3366FF"/>
                                      </p:to>
                                    </p:animClr>
                                    <p:set>
                                      <p:cBhvr>
                                        <p:cTn id="7" dur="1000" fill="hold"/>
                                        <p:tgtEl>
                                          <p:spTgt spid="62"/>
                                        </p:tgtEl>
                                        <p:attrNameLst>
                                          <p:attrName>fill.type</p:attrName>
                                        </p:attrNameLst>
                                      </p:cBhvr>
                                      <p:to>
                                        <p:strVal val="solid"/>
                                      </p:to>
                                    </p:set>
                                    <p:set>
                                      <p:cBhvr>
                                        <p:cTn id="8" dur="1000" fill="hold"/>
                                        <p:tgtEl>
                                          <p:spTgt spid="62"/>
                                        </p:tgtEl>
                                        <p:attrNameLst>
                                          <p:attrName>fill.on</p:attrName>
                                        </p:attrNameLst>
                                      </p:cBhvr>
                                      <p:to>
                                        <p:strVal val="true"/>
                                      </p:to>
                                    </p:set>
                                  </p:childTnLst>
                                </p:cTn>
                              </p:par>
                            </p:childTnLst>
                          </p:cTn>
                        </p:par>
                        <p:par>
                          <p:cTn id="9" fill="hold">
                            <p:stCondLst>
                              <p:cond delay="1000"/>
                            </p:stCondLst>
                            <p:childTnLst>
                              <p:par>
                                <p:cTn id="10" presetID="1" presetClass="emph" presetSubtype="2" decel="100000" fill="hold" nodeType="afterEffect">
                                  <p:stCondLst>
                                    <p:cond delay="0"/>
                                  </p:stCondLst>
                                  <p:childTnLst>
                                    <p:animClr clrSpc="rgb" dir="cw">
                                      <p:cBhvr>
                                        <p:cTn id="11" dur="1000" fill="hold"/>
                                        <p:tgtEl>
                                          <p:spTgt spid="63"/>
                                        </p:tgtEl>
                                        <p:attrNameLst>
                                          <p:attrName>fillcolor</p:attrName>
                                        </p:attrNameLst>
                                      </p:cBhvr>
                                      <p:to>
                                        <a:srgbClr val="3366FF"/>
                                      </p:to>
                                    </p:animClr>
                                    <p:set>
                                      <p:cBhvr>
                                        <p:cTn id="12" dur="1000" fill="hold"/>
                                        <p:tgtEl>
                                          <p:spTgt spid="63"/>
                                        </p:tgtEl>
                                        <p:attrNameLst>
                                          <p:attrName>fill.type</p:attrName>
                                        </p:attrNameLst>
                                      </p:cBhvr>
                                      <p:to>
                                        <p:strVal val="solid"/>
                                      </p:to>
                                    </p:set>
                                    <p:set>
                                      <p:cBhvr>
                                        <p:cTn id="13" dur="1000" fill="hold"/>
                                        <p:tgtEl>
                                          <p:spTgt spid="63"/>
                                        </p:tgtEl>
                                        <p:attrNameLst>
                                          <p:attrName>fill.on</p:attrName>
                                        </p:attrNameLst>
                                      </p:cBhvr>
                                      <p:to>
                                        <p:strVal val="true"/>
                                      </p:to>
                                    </p:set>
                                  </p:childTnLst>
                                </p:cTn>
                              </p:par>
                            </p:childTnLst>
                          </p:cTn>
                        </p:par>
                        <p:par>
                          <p:cTn id="14" fill="hold">
                            <p:stCondLst>
                              <p:cond delay="2000"/>
                            </p:stCondLst>
                            <p:childTnLst>
                              <p:par>
                                <p:cTn id="15" presetID="1" presetClass="emph" presetSubtype="2" decel="100000" fill="hold" nodeType="afterEffect">
                                  <p:stCondLst>
                                    <p:cond delay="0"/>
                                  </p:stCondLst>
                                  <p:childTnLst>
                                    <p:animClr clrSpc="rgb" dir="cw">
                                      <p:cBhvr>
                                        <p:cTn id="16" dur="1000" fill="hold"/>
                                        <p:tgtEl>
                                          <p:spTgt spid="106"/>
                                        </p:tgtEl>
                                        <p:attrNameLst>
                                          <p:attrName>fillcolor</p:attrName>
                                        </p:attrNameLst>
                                      </p:cBhvr>
                                      <p:to>
                                        <a:srgbClr val="3366FF"/>
                                      </p:to>
                                    </p:animClr>
                                    <p:set>
                                      <p:cBhvr>
                                        <p:cTn id="17" dur="1000" fill="hold"/>
                                        <p:tgtEl>
                                          <p:spTgt spid="106"/>
                                        </p:tgtEl>
                                        <p:attrNameLst>
                                          <p:attrName>fill.type</p:attrName>
                                        </p:attrNameLst>
                                      </p:cBhvr>
                                      <p:to>
                                        <p:strVal val="solid"/>
                                      </p:to>
                                    </p:set>
                                    <p:set>
                                      <p:cBhvr>
                                        <p:cTn id="18" dur="1000" fill="hold"/>
                                        <p:tgtEl>
                                          <p:spTgt spid="106"/>
                                        </p:tgtEl>
                                        <p:attrNameLst>
                                          <p:attrName>fill.on</p:attrName>
                                        </p:attrNameLst>
                                      </p:cBhvr>
                                      <p:to>
                                        <p:strVal val="true"/>
                                      </p:to>
                                    </p:set>
                                  </p:childTnLst>
                                </p:cTn>
                              </p:par>
                            </p:childTnLst>
                          </p:cTn>
                        </p:par>
                        <p:par>
                          <p:cTn id="19" fill="hold">
                            <p:stCondLst>
                              <p:cond delay="3000"/>
                            </p:stCondLst>
                            <p:childTnLst>
                              <p:par>
                                <p:cTn id="20" presetID="1" presetClass="emph" presetSubtype="2" decel="100000" fill="hold" nodeType="afterEffect">
                                  <p:stCondLst>
                                    <p:cond delay="0"/>
                                  </p:stCondLst>
                                  <p:childTnLst>
                                    <p:animClr clrSpc="rgb" dir="cw">
                                      <p:cBhvr>
                                        <p:cTn id="21" dur="1000" fill="hold"/>
                                        <p:tgtEl>
                                          <p:spTgt spid="107"/>
                                        </p:tgtEl>
                                        <p:attrNameLst>
                                          <p:attrName>fillcolor</p:attrName>
                                        </p:attrNameLst>
                                      </p:cBhvr>
                                      <p:to>
                                        <a:srgbClr val="3366FF"/>
                                      </p:to>
                                    </p:animClr>
                                    <p:set>
                                      <p:cBhvr>
                                        <p:cTn id="22" dur="1000" fill="hold"/>
                                        <p:tgtEl>
                                          <p:spTgt spid="107"/>
                                        </p:tgtEl>
                                        <p:attrNameLst>
                                          <p:attrName>fill.type</p:attrName>
                                        </p:attrNameLst>
                                      </p:cBhvr>
                                      <p:to>
                                        <p:strVal val="solid"/>
                                      </p:to>
                                    </p:set>
                                    <p:set>
                                      <p:cBhvr>
                                        <p:cTn id="23" dur="1000" fill="hold"/>
                                        <p:tgtEl>
                                          <p:spTgt spid="107"/>
                                        </p:tgtEl>
                                        <p:attrNameLst>
                                          <p:attrName>fill.on</p:attrName>
                                        </p:attrNameLst>
                                      </p:cBhvr>
                                      <p:to>
                                        <p:strVal val="true"/>
                                      </p:to>
                                    </p:set>
                                  </p:childTnLst>
                                </p:cTn>
                              </p:par>
                              <p:par>
                                <p:cTn id="24" presetID="1" presetClass="emph" presetSubtype="2" decel="100000" fill="hold" nodeType="withEffect">
                                  <p:stCondLst>
                                    <p:cond delay="0"/>
                                  </p:stCondLst>
                                  <p:childTnLst>
                                    <p:animClr clrSpc="rgb" dir="cw">
                                      <p:cBhvr>
                                        <p:cTn id="25" dur="5000" fill="hold"/>
                                        <p:tgtEl>
                                          <p:spTgt spid="55"/>
                                        </p:tgtEl>
                                        <p:attrNameLst>
                                          <p:attrName>fillcolor</p:attrName>
                                        </p:attrNameLst>
                                      </p:cBhvr>
                                      <p:to>
                                        <a:srgbClr val="3366FF"/>
                                      </p:to>
                                    </p:animClr>
                                    <p:set>
                                      <p:cBhvr>
                                        <p:cTn id="26" dur="5000" fill="hold"/>
                                        <p:tgtEl>
                                          <p:spTgt spid="55"/>
                                        </p:tgtEl>
                                        <p:attrNameLst>
                                          <p:attrName>fill.type</p:attrName>
                                        </p:attrNameLst>
                                      </p:cBhvr>
                                      <p:to>
                                        <p:strVal val="solid"/>
                                      </p:to>
                                    </p:set>
                                    <p:set>
                                      <p:cBhvr>
                                        <p:cTn id="27" dur="5000" fill="hold"/>
                                        <p:tgtEl>
                                          <p:spTgt spid="55"/>
                                        </p:tgtEl>
                                        <p:attrNameLst>
                                          <p:attrName>fill.on</p:attrName>
                                        </p:attrNameLst>
                                      </p:cBhvr>
                                      <p:to>
                                        <p:strVal val="true"/>
                                      </p:to>
                                    </p:set>
                                  </p:childTnLst>
                                </p:cTn>
                              </p:par>
                              <p:par>
                                <p:cTn id="28" presetID="1" presetClass="emph" presetSubtype="2" decel="100000" fill="hold" nodeType="withEffect">
                                  <p:stCondLst>
                                    <p:cond delay="0"/>
                                  </p:stCondLst>
                                  <p:childTnLst>
                                    <p:animClr clrSpc="rgb" dir="cw">
                                      <p:cBhvr>
                                        <p:cTn id="29" dur="5000" fill="hold"/>
                                        <p:tgtEl>
                                          <p:spTgt spid="96"/>
                                        </p:tgtEl>
                                        <p:attrNameLst>
                                          <p:attrName>fillcolor</p:attrName>
                                        </p:attrNameLst>
                                      </p:cBhvr>
                                      <p:to>
                                        <a:srgbClr val="3366FF"/>
                                      </p:to>
                                    </p:animClr>
                                    <p:set>
                                      <p:cBhvr>
                                        <p:cTn id="30" dur="5000" fill="hold"/>
                                        <p:tgtEl>
                                          <p:spTgt spid="96"/>
                                        </p:tgtEl>
                                        <p:attrNameLst>
                                          <p:attrName>fill.type</p:attrName>
                                        </p:attrNameLst>
                                      </p:cBhvr>
                                      <p:to>
                                        <p:strVal val="solid"/>
                                      </p:to>
                                    </p:set>
                                    <p:set>
                                      <p:cBhvr>
                                        <p:cTn id="31" dur="5000" fill="hold"/>
                                        <p:tgtEl>
                                          <p:spTgt spid="96"/>
                                        </p:tgtEl>
                                        <p:attrNameLst>
                                          <p:attrName>fill.on</p:attrName>
                                        </p:attrNameLst>
                                      </p:cBhvr>
                                      <p:to>
                                        <p:strVal val="true"/>
                                      </p:to>
                                    </p:set>
                                  </p:childTnLst>
                                </p:cTn>
                              </p:par>
                              <p:par>
                                <p:cTn id="32" presetID="1" presetClass="emph" presetSubtype="2" decel="100000" fill="hold" nodeType="withEffect">
                                  <p:stCondLst>
                                    <p:cond delay="0"/>
                                  </p:stCondLst>
                                  <p:childTnLst>
                                    <p:animClr clrSpc="rgb" dir="cw">
                                      <p:cBhvr>
                                        <p:cTn id="33" dur="5000" fill="hold"/>
                                        <p:tgtEl>
                                          <p:spTgt spid="97"/>
                                        </p:tgtEl>
                                        <p:attrNameLst>
                                          <p:attrName>fillcolor</p:attrName>
                                        </p:attrNameLst>
                                      </p:cBhvr>
                                      <p:to>
                                        <a:srgbClr val="3366FF"/>
                                      </p:to>
                                    </p:animClr>
                                    <p:set>
                                      <p:cBhvr>
                                        <p:cTn id="34" dur="5000" fill="hold"/>
                                        <p:tgtEl>
                                          <p:spTgt spid="97"/>
                                        </p:tgtEl>
                                        <p:attrNameLst>
                                          <p:attrName>fill.type</p:attrName>
                                        </p:attrNameLst>
                                      </p:cBhvr>
                                      <p:to>
                                        <p:strVal val="solid"/>
                                      </p:to>
                                    </p:set>
                                    <p:set>
                                      <p:cBhvr>
                                        <p:cTn id="35" dur="5000" fill="hold"/>
                                        <p:tgtEl>
                                          <p:spTgt spid="97"/>
                                        </p:tgtEl>
                                        <p:attrNameLst>
                                          <p:attrName>fill.on</p:attrName>
                                        </p:attrNameLst>
                                      </p:cBhvr>
                                      <p:to>
                                        <p:strVal val="true"/>
                                      </p:to>
                                    </p:set>
                                  </p:childTnLst>
                                </p:cTn>
                              </p:par>
                              <p:par>
                                <p:cTn id="36" presetID="1" presetClass="emph" presetSubtype="2" decel="100000" fill="hold" nodeType="withEffect">
                                  <p:stCondLst>
                                    <p:cond delay="0"/>
                                  </p:stCondLst>
                                  <p:childTnLst>
                                    <p:animClr clrSpc="rgb" dir="cw">
                                      <p:cBhvr>
                                        <p:cTn id="37" dur="5000" fill="hold"/>
                                        <p:tgtEl>
                                          <p:spTgt spid="98"/>
                                        </p:tgtEl>
                                        <p:attrNameLst>
                                          <p:attrName>fillcolor</p:attrName>
                                        </p:attrNameLst>
                                      </p:cBhvr>
                                      <p:to>
                                        <a:srgbClr val="3366FF"/>
                                      </p:to>
                                    </p:animClr>
                                    <p:set>
                                      <p:cBhvr>
                                        <p:cTn id="38" dur="5000" fill="hold"/>
                                        <p:tgtEl>
                                          <p:spTgt spid="98"/>
                                        </p:tgtEl>
                                        <p:attrNameLst>
                                          <p:attrName>fill.type</p:attrName>
                                        </p:attrNameLst>
                                      </p:cBhvr>
                                      <p:to>
                                        <p:strVal val="solid"/>
                                      </p:to>
                                    </p:set>
                                    <p:set>
                                      <p:cBhvr>
                                        <p:cTn id="39" dur="5000" fill="hold"/>
                                        <p:tgtEl>
                                          <p:spTgt spid="98"/>
                                        </p:tgtEl>
                                        <p:attrNameLst>
                                          <p:attrName>fill.on</p:attrName>
                                        </p:attrNameLst>
                                      </p:cBhvr>
                                      <p:to>
                                        <p:strVal val="true"/>
                                      </p:to>
                                    </p:set>
                                  </p:childTnLst>
                                </p:cTn>
                              </p:par>
                              <p:par>
                                <p:cTn id="40" presetID="1" presetClass="emph" presetSubtype="2" decel="100000" fill="hold" nodeType="withEffect">
                                  <p:stCondLst>
                                    <p:cond delay="0"/>
                                  </p:stCondLst>
                                  <p:childTnLst>
                                    <p:animClr clrSpc="rgb" dir="cw">
                                      <p:cBhvr>
                                        <p:cTn id="41" dur="5000" fill="hold"/>
                                        <p:tgtEl>
                                          <p:spTgt spid="99"/>
                                        </p:tgtEl>
                                        <p:attrNameLst>
                                          <p:attrName>fillcolor</p:attrName>
                                        </p:attrNameLst>
                                      </p:cBhvr>
                                      <p:to>
                                        <a:srgbClr val="3366FF"/>
                                      </p:to>
                                    </p:animClr>
                                    <p:set>
                                      <p:cBhvr>
                                        <p:cTn id="42" dur="5000" fill="hold"/>
                                        <p:tgtEl>
                                          <p:spTgt spid="99"/>
                                        </p:tgtEl>
                                        <p:attrNameLst>
                                          <p:attrName>fill.type</p:attrName>
                                        </p:attrNameLst>
                                      </p:cBhvr>
                                      <p:to>
                                        <p:strVal val="solid"/>
                                      </p:to>
                                    </p:set>
                                    <p:set>
                                      <p:cBhvr>
                                        <p:cTn id="43" dur="5000" fill="hold"/>
                                        <p:tgtEl>
                                          <p:spTgt spid="99"/>
                                        </p:tgtEl>
                                        <p:attrNameLst>
                                          <p:attrName>fill.on</p:attrName>
                                        </p:attrNameLst>
                                      </p:cBhvr>
                                      <p:to>
                                        <p:strVal val="true"/>
                                      </p:to>
                                    </p:set>
                                  </p:childTnLst>
                                </p:cTn>
                              </p:par>
                              <p:par>
                                <p:cTn id="44" presetID="1" presetClass="emph" presetSubtype="2" decel="100000" fill="hold" nodeType="withEffect">
                                  <p:stCondLst>
                                    <p:cond delay="0"/>
                                  </p:stCondLst>
                                  <p:childTnLst>
                                    <p:animClr clrSpc="rgb" dir="cw">
                                      <p:cBhvr>
                                        <p:cTn id="45" dur="5000" fill="hold"/>
                                        <p:tgtEl>
                                          <p:spTgt spid="100"/>
                                        </p:tgtEl>
                                        <p:attrNameLst>
                                          <p:attrName>fillcolor</p:attrName>
                                        </p:attrNameLst>
                                      </p:cBhvr>
                                      <p:to>
                                        <a:srgbClr val="3366FF"/>
                                      </p:to>
                                    </p:animClr>
                                    <p:set>
                                      <p:cBhvr>
                                        <p:cTn id="46" dur="5000" fill="hold"/>
                                        <p:tgtEl>
                                          <p:spTgt spid="100"/>
                                        </p:tgtEl>
                                        <p:attrNameLst>
                                          <p:attrName>fill.type</p:attrName>
                                        </p:attrNameLst>
                                      </p:cBhvr>
                                      <p:to>
                                        <p:strVal val="solid"/>
                                      </p:to>
                                    </p:set>
                                    <p:set>
                                      <p:cBhvr>
                                        <p:cTn id="47" dur="5000" fill="hold"/>
                                        <p:tgtEl>
                                          <p:spTgt spid="100"/>
                                        </p:tgtEl>
                                        <p:attrNameLst>
                                          <p:attrName>fill.on</p:attrName>
                                        </p:attrNameLst>
                                      </p:cBhvr>
                                      <p:to>
                                        <p:strVal val="true"/>
                                      </p:to>
                                    </p:set>
                                  </p:childTnLst>
                                </p:cTn>
                              </p:par>
                              <p:par>
                                <p:cTn id="48" presetID="1" presetClass="emph" presetSubtype="2" decel="100000" fill="hold" nodeType="withEffect">
                                  <p:stCondLst>
                                    <p:cond delay="0"/>
                                  </p:stCondLst>
                                  <p:childTnLst>
                                    <p:animClr clrSpc="rgb" dir="cw">
                                      <p:cBhvr>
                                        <p:cTn id="49" dur="5000" fill="hold"/>
                                        <p:tgtEl>
                                          <p:spTgt spid="101"/>
                                        </p:tgtEl>
                                        <p:attrNameLst>
                                          <p:attrName>fillcolor</p:attrName>
                                        </p:attrNameLst>
                                      </p:cBhvr>
                                      <p:to>
                                        <a:srgbClr val="3366FF"/>
                                      </p:to>
                                    </p:animClr>
                                    <p:set>
                                      <p:cBhvr>
                                        <p:cTn id="50" dur="5000" fill="hold"/>
                                        <p:tgtEl>
                                          <p:spTgt spid="101"/>
                                        </p:tgtEl>
                                        <p:attrNameLst>
                                          <p:attrName>fill.type</p:attrName>
                                        </p:attrNameLst>
                                      </p:cBhvr>
                                      <p:to>
                                        <p:strVal val="solid"/>
                                      </p:to>
                                    </p:set>
                                    <p:set>
                                      <p:cBhvr>
                                        <p:cTn id="51" dur="5000" fill="hold"/>
                                        <p:tgtEl>
                                          <p:spTgt spid="101"/>
                                        </p:tgtEl>
                                        <p:attrNameLst>
                                          <p:attrName>fill.on</p:attrName>
                                        </p:attrNameLst>
                                      </p:cBhvr>
                                      <p:to>
                                        <p:strVal val="true"/>
                                      </p:to>
                                    </p:set>
                                  </p:childTnLst>
                                </p:cTn>
                              </p:par>
                              <p:par>
                                <p:cTn id="52" presetID="1" presetClass="emph" presetSubtype="2" decel="100000" fill="hold" nodeType="withEffect">
                                  <p:stCondLst>
                                    <p:cond delay="0"/>
                                  </p:stCondLst>
                                  <p:childTnLst>
                                    <p:animClr clrSpc="rgb" dir="cw">
                                      <p:cBhvr>
                                        <p:cTn id="53" dur="5000" fill="hold"/>
                                        <p:tgtEl>
                                          <p:spTgt spid="102"/>
                                        </p:tgtEl>
                                        <p:attrNameLst>
                                          <p:attrName>fillcolor</p:attrName>
                                        </p:attrNameLst>
                                      </p:cBhvr>
                                      <p:to>
                                        <a:srgbClr val="3366FF"/>
                                      </p:to>
                                    </p:animClr>
                                    <p:set>
                                      <p:cBhvr>
                                        <p:cTn id="54" dur="5000" fill="hold"/>
                                        <p:tgtEl>
                                          <p:spTgt spid="102"/>
                                        </p:tgtEl>
                                        <p:attrNameLst>
                                          <p:attrName>fill.type</p:attrName>
                                        </p:attrNameLst>
                                      </p:cBhvr>
                                      <p:to>
                                        <p:strVal val="solid"/>
                                      </p:to>
                                    </p:set>
                                    <p:set>
                                      <p:cBhvr>
                                        <p:cTn id="55" dur="5000" fill="hold"/>
                                        <p:tgtEl>
                                          <p:spTgt spid="102"/>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4159" y="53113"/>
            <a:ext cx="7454801" cy="732441"/>
          </a:xfrm>
        </p:spPr>
        <p:txBody>
          <a:bodyPr>
            <a:normAutofit/>
          </a:bodyPr>
          <a:lstStyle/>
          <a:p>
            <a:r>
              <a:rPr lang="en-GB" dirty="0"/>
              <a:t>How do I expand the Span when it reaches 1:1?</a:t>
            </a:r>
          </a:p>
        </p:txBody>
      </p:sp>
      <p:sp>
        <p:nvSpPr>
          <p:cNvPr id="3" name="Content Placeholder 2"/>
          <p:cNvSpPr>
            <a:spLocks noGrp="1"/>
          </p:cNvSpPr>
          <p:nvPr>
            <p:ph idx="1"/>
          </p:nvPr>
        </p:nvSpPr>
        <p:spPr>
          <a:xfrm>
            <a:off x="251459" y="946151"/>
            <a:ext cx="8356601" cy="3981450"/>
          </a:xfrm>
        </p:spPr>
        <p:txBody>
          <a:bodyPr vert="horz" wrap="square" lIns="91440" tIns="45720" rIns="91440" bIns="45720" rtlCol="0">
            <a:spAutoFit/>
          </a:bodyPr>
          <a:lstStyle/>
          <a:p>
            <a:r>
              <a:rPr lang="en-GB" sz="1600" dirty="0"/>
              <a:t>What happens when the total size of the pool volumes reaches the total size of the DP-Vols and the span still needs more space?</a:t>
            </a:r>
          </a:p>
          <a:p>
            <a:pPr lvl="1"/>
            <a:r>
              <a:rPr lang="en-GB" sz="1600" dirty="0"/>
              <a:t>Add pool volumes to the original pool: just as many as you need; typically, only a little extra space</a:t>
            </a:r>
          </a:p>
          <a:p>
            <a:pPr lvl="1"/>
            <a:r>
              <a:rPr lang="en-GB" sz="1600" dirty="0"/>
              <a:t>Add more DP-vols to the same HDP pool: the same size and number as you originally created</a:t>
            </a:r>
          </a:p>
          <a:p>
            <a:pPr lvl="2"/>
            <a:r>
              <a:rPr lang="en-GB" dirty="0"/>
              <a:t>This is where the rule about all stripesets being the same comes into play</a:t>
            </a:r>
          </a:p>
          <a:p>
            <a:pPr lvl="1"/>
            <a:r>
              <a:rPr lang="en-GB" sz="1600" dirty="0"/>
              <a:t>Wait for formatting to finish</a:t>
            </a:r>
          </a:p>
          <a:p>
            <a:pPr lvl="2"/>
            <a:r>
              <a:rPr lang="en-GB" dirty="0"/>
              <a:t>Otherwise, file systems may auto-expand on to the new storage and find it so slow that the entire span fails</a:t>
            </a:r>
          </a:p>
          <a:p>
            <a:pPr lvl="1"/>
            <a:r>
              <a:rPr lang="en-GB" sz="1600" dirty="0"/>
              <a:t>Expand the span on to the new DP-Vols</a:t>
            </a:r>
          </a:p>
        </p:txBody>
      </p:sp>
    </p:spTree>
    <p:extLst>
      <p:ext uri="{BB962C8B-B14F-4D97-AF65-F5344CB8AC3E}">
        <p14:creationId xmlns:p14="http://schemas.microsoft.com/office/powerpoint/2010/main" val="33466625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240462" y="104150"/>
            <a:ext cx="6858000" cy="567675"/>
          </a:xfrm>
        </p:spPr>
        <p:txBody>
          <a:bodyPr/>
          <a:lstStyle/>
          <a:p>
            <a:r>
              <a:rPr lang="en-US" dirty="0"/>
              <a:t>Span Expansion: Example</a:t>
            </a:r>
          </a:p>
        </p:txBody>
      </p:sp>
      <p:sp>
        <p:nvSpPr>
          <p:cNvPr id="7" name="Line 20"/>
          <p:cNvSpPr>
            <a:spLocks noChangeShapeType="1"/>
          </p:cNvSpPr>
          <p:nvPr/>
        </p:nvSpPr>
        <p:spPr bwMode="auto">
          <a:xfrm rot="10800000" flipV="1">
            <a:off x="1687601" y="1744277"/>
            <a:ext cx="0" cy="198213"/>
          </a:xfrm>
          <a:prstGeom prst="line">
            <a:avLst/>
          </a:prstGeom>
          <a:noFill/>
          <a:ln w="9525">
            <a:solidFill>
              <a:schemeClr val="tx1"/>
            </a:solidFill>
            <a:round/>
            <a:headEnd type="triangle"/>
            <a:tailEnd type="none" w="med" len="med"/>
          </a:ln>
        </p:spPr>
        <p:txBody>
          <a:bodyPr/>
          <a:lstStyle/>
          <a:p>
            <a:endParaRPr lang="en-US"/>
          </a:p>
        </p:txBody>
      </p:sp>
      <p:sp>
        <p:nvSpPr>
          <p:cNvPr id="10" name="Rectangle 33"/>
          <p:cNvSpPr>
            <a:spLocks noChangeArrowheads="1"/>
          </p:cNvSpPr>
          <p:nvPr/>
        </p:nvSpPr>
        <p:spPr bwMode="auto">
          <a:xfrm rot="10800000">
            <a:off x="584829" y="1942490"/>
            <a:ext cx="4464601" cy="457224"/>
          </a:xfrm>
          <a:prstGeom prst="rect">
            <a:avLst/>
          </a:prstGeom>
          <a:solidFill>
            <a:schemeClr val="accent4"/>
          </a:solidFill>
          <a:ln w="9525">
            <a:noFill/>
            <a:miter lim="800000"/>
            <a:headEnd/>
            <a:tailEnd/>
          </a:ln>
        </p:spPr>
        <p:txBody>
          <a:bodyPr rot="10800000" wrap="none" anchor="ctr"/>
          <a:lstStyle/>
          <a:p>
            <a:pPr algn="ctr"/>
            <a:r>
              <a:rPr lang="en-US" sz="1600" dirty="0">
                <a:cs typeface="Arial" pitchFamily="34" charset="0"/>
              </a:rPr>
              <a:t>Storage Pool/Span</a:t>
            </a:r>
          </a:p>
        </p:txBody>
      </p:sp>
      <p:sp>
        <p:nvSpPr>
          <p:cNvPr id="17" name="Line 26"/>
          <p:cNvSpPr>
            <a:spLocks noChangeShapeType="1"/>
          </p:cNvSpPr>
          <p:nvPr/>
        </p:nvSpPr>
        <p:spPr bwMode="auto">
          <a:xfrm rot="10800000" flipH="1" flipV="1">
            <a:off x="1687534" y="3026205"/>
            <a:ext cx="1" cy="218269"/>
          </a:xfrm>
          <a:prstGeom prst="line">
            <a:avLst/>
          </a:prstGeom>
          <a:noFill/>
          <a:ln w="9525">
            <a:solidFill>
              <a:schemeClr val="tx1"/>
            </a:solidFill>
            <a:round/>
            <a:headEnd type="triangle"/>
            <a:tailEnd type="none" w="med" len="med"/>
          </a:ln>
        </p:spPr>
        <p:txBody>
          <a:bodyPr/>
          <a:lstStyle/>
          <a:p>
            <a:endParaRPr lang="en-US"/>
          </a:p>
        </p:txBody>
      </p:sp>
      <p:sp>
        <p:nvSpPr>
          <p:cNvPr id="47" name="Rectangle 33"/>
          <p:cNvSpPr>
            <a:spLocks noChangeArrowheads="1"/>
          </p:cNvSpPr>
          <p:nvPr/>
        </p:nvSpPr>
        <p:spPr bwMode="auto">
          <a:xfrm rot="10800000">
            <a:off x="568603" y="2569431"/>
            <a:ext cx="2247862" cy="456775"/>
          </a:xfrm>
          <a:prstGeom prst="rect">
            <a:avLst/>
          </a:prstGeom>
          <a:solidFill>
            <a:srgbClr val="99CCFF"/>
          </a:solidFill>
          <a:ln w="9525">
            <a:solidFill>
              <a:schemeClr val="tx1"/>
            </a:solidFill>
            <a:miter lim="800000"/>
            <a:headEnd/>
            <a:tailEnd/>
          </a:ln>
        </p:spPr>
        <p:txBody>
          <a:bodyPr rot="10800000" wrap="none" anchor="ctr"/>
          <a:lstStyle/>
          <a:p>
            <a:pPr algn="ctr"/>
            <a:r>
              <a:rPr lang="en-US" sz="1600" dirty="0">
                <a:cs typeface="Arial" pitchFamily="34" charset="0"/>
              </a:rPr>
              <a:t>Stripe Set</a:t>
            </a:r>
          </a:p>
        </p:txBody>
      </p:sp>
      <p:sp>
        <p:nvSpPr>
          <p:cNvPr id="50" name="Line 26"/>
          <p:cNvSpPr>
            <a:spLocks noChangeShapeType="1"/>
          </p:cNvSpPr>
          <p:nvPr/>
        </p:nvSpPr>
        <p:spPr bwMode="auto">
          <a:xfrm rot="10800000" flipV="1">
            <a:off x="1687537" y="2399713"/>
            <a:ext cx="1" cy="169718"/>
          </a:xfrm>
          <a:prstGeom prst="line">
            <a:avLst/>
          </a:prstGeom>
          <a:noFill/>
          <a:ln w="9525">
            <a:solidFill>
              <a:schemeClr val="tx1"/>
            </a:solidFill>
            <a:round/>
            <a:headEnd type="triangle"/>
            <a:tailEnd type="none" w="med" len="med"/>
          </a:ln>
        </p:spPr>
        <p:txBody>
          <a:bodyPr/>
          <a:lstStyle/>
          <a:p>
            <a:endParaRPr lang="en-US"/>
          </a:p>
        </p:txBody>
      </p:sp>
      <p:sp>
        <p:nvSpPr>
          <p:cNvPr id="55" name="Rectangle 35"/>
          <p:cNvSpPr>
            <a:spLocks noChangeArrowheads="1"/>
          </p:cNvSpPr>
          <p:nvPr/>
        </p:nvSpPr>
        <p:spPr bwMode="auto">
          <a:xfrm>
            <a:off x="517781" y="3904964"/>
            <a:ext cx="276890" cy="518281"/>
          </a:xfrm>
          <a:prstGeom prst="rect">
            <a:avLst/>
          </a:prstGeom>
          <a:solidFill>
            <a:srgbClr val="3366FF"/>
          </a:solidFill>
          <a:ln w="9525">
            <a:solidFill>
              <a:schemeClr val="tx1"/>
            </a:solidFill>
            <a:prstDash val="dash"/>
            <a:miter lim="800000"/>
            <a:headEnd/>
            <a:tailEnd/>
          </a:ln>
        </p:spPr>
        <p:txBody>
          <a:bodyPr wrap="none" anchor="ctr"/>
          <a:lstStyle/>
          <a:p>
            <a:pPr algn="ctr"/>
            <a:r>
              <a:rPr lang="en-US" sz="800" dirty="0">
                <a:cs typeface="Arial" pitchFamily="34" charset="0"/>
              </a:rPr>
              <a:t>DPvol</a:t>
            </a:r>
          </a:p>
        </p:txBody>
      </p:sp>
      <p:sp>
        <p:nvSpPr>
          <p:cNvPr id="66" name="Line 26"/>
          <p:cNvSpPr>
            <a:spLocks noChangeShapeType="1"/>
          </p:cNvSpPr>
          <p:nvPr/>
        </p:nvSpPr>
        <p:spPr bwMode="auto">
          <a:xfrm rot="10800000" flipV="1">
            <a:off x="1075457" y="3225938"/>
            <a:ext cx="1" cy="211740"/>
          </a:xfrm>
          <a:prstGeom prst="line">
            <a:avLst/>
          </a:prstGeom>
          <a:noFill/>
          <a:ln w="9525">
            <a:solidFill>
              <a:schemeClr val="tx1"/>
            </a:solidFill>
            <a:round/>
            <a:headEnd type="triangle"/>
            <a:tailEnd type="none" w="med" len="med"/>
          </a:ln>
        </p:spPr>
        <p:txBody>
          <a:bodyPr/>
          <a:lstStyle/>
          <a:p>
            <a:endParaRPr lang="en-US"/>
          </a:p>
        </p:txBody>
      </p:sp>
      <p:sp>
        <p:nvSpPr>
          <p:cNvPr id="67" name="Line 26"/>
          <p:cNvSpPr>
            <a:spLocks noChangeShapeType="1"/>
          </p:cNvSpPr>
          <p:nvPr/>
        </p:nvSpPr>
        <p:spPr bwMode="auto">
          <a:xfrm rot="10800000" flipV="1">
            <a:off x="2188305" y="3225938"/>
            <a:ext cx="2" cy="211740"/>
          </a:xfrm>
          <a:prstGeom prst="line">
            <a:avLst/>
          </a:prstGeom>
          <a:noFill/>
          <a:ln w="9525">
            <a:solidFill>
              <a:schemeClr val="tx1"/>
            </a:solidFill>
            <a:round/>
            <a:headEnd type="triangle"/>
            <a:tailEnd type="none" w="med" len="med"/>
          </a:ln>
        </p:spPr>
        <p:txBody>
          <a:bodyPr/>
          <a:lstStyle/>
          <a:p>
            <a:endParaRPr lang="en-US"/>
          </a:p>
        </p:txBody>
      </p:sp>
      <p:sp>
        <p:nvSpPr>
          <p:cNvPr id="51" name="Rectangle 35"/>
          <p:cNvSpPr>
            <a:spLocks noChangeArrowheads="1"/>
          </p:cNvSpPr>
          <p:nvPr/>
        </p:nvSpPr>
        <p:spPr bwMode="auto">
          <a:xfrm>
            <a:off x="501950" y="4497326"/>
            <a:ext cx="553780" cy="270836"/>
          </a:xfrm>
          <a:prstGeom prst="rect">
            <a:avLst/>
          </a:prstGeom>
          <a:solidFill>
            <a:srgbClr val="3366FF"/>
          </a:solidFill>
          <a:ln w="9525">
            <a:solidFill>
              <a:schemeClr val="tx1"/>
            </a:solidFill>
            <a:miter lim="800000"/>
            <a:headEnd/>
            <a:tailEnd/>
          </a:ln>
        </p:spPr>
        <p:txBody>
          <a:bodyPr wrap="none" anchor="ctr"/>
          <a:lstStyle/>
          <a:p>
            <a:pPr algn="ctr"/>
            <a:r>
              <a:rPr lang="en-US" sz="1200" dirty="0">
                <a:cs typeface="Arial" pitchFamily="34" charset="0"/>
              </a:rPr>
              <a:t>RG</a:t>
            </a:r>
          </a:p>
        </p:txBody>
      </p:sp>
      <p:sp>
        <p:nvSpPr>
          <p:cNvPr id="61" name="Rectangle 35"/>
          <p:cNvSpPr>
            <a:spLocks noChangeArrowheads="1"/>
          </p:cNvSpPr>
          <p:nvPr/>
        </p:nvSpPr>
        <p:spPr bwMode="auto">
          <a:xfrm>
            <a:off x="1063927" y="4497326"/>
            <a:ext cx="553780" cy="270836"/>
          </a:xfrm>
          <a:prstGeom prst="rect">
            <a:avLst/>
          </a:prstGeom>
          <a:solidFill>
            <a:srgbClr val="3366FF"/>
          </a:solidFill>
          <a:ln w="9525">
            <a:solidFill>
              <a:schemeClr val="tx1"/>
            </a:solidFill>
            <a:miter lim="800000"/>
            <a:headEnd/>
            <a:tailEnd/>
          </a:ln>
        </p:spPr>
        <p:txBody>
          <a:bodyPr wrap="none" anchor="ctr"/>
          <a:lstStyle/>
          <a:p>
            <a:pPr algn="ctr"/>
            <a:r>
              <a:rPr lang="en-US" sz="1200" dirty="0">
                <a:cs typeface="Arial" pitchFamily="34" charset="0"/>
              </a:rPr>
              <a:t>RG</a:t>
            </a:r>
          </a:p>
        </p:txBody>
      </p:sp>
      <p:sp>
        <p:nvSpPr>
          <p:cNvPr id="60" name="Line 26"/>
          <p:cNvSpPr>
            <a:spLocks noChangeShapeType="1"/>
          </p:cNvSpPr>
          <p:nvPr/>
        </p:nvSpPr>
        <p:spPr bwMode="auto">
          <a:xfrm rot="10800000" flipV="1">
            <a:off x="1637189" y="3225938"/>
            <a:ext cx="1" cy="206682"/>
          </a:xfrm>
          <a:prstGeom prst="line">
            <a:avLst/>
          </a:prstGeom>
          <a:noFill/>
          <a:ln w="9525">
            <a:solidFill>
              <a:schemeClr val="tx1"/>
            </a:solidFill>
            <a:round/>
            <a:headEnd type="triangle"/>
            <a:tailEnd type="none" w="med" len="med"/>
          </a:ln>
        </p:spPr>
        <p:txBody>
          <a:bodyPr/>
          <a:lstStyle/>
          <a:p>
            <a:endParaRPr lang="en-US"/>
          </a:p>
        </p:txBody>
      </p:sp>
      <p:sp>
        <p:nvSpPr>
          <p:cNvPr id="35" name="Rectangle 35"/>
          <p:cNvSpPr>
            <a:spLocks noChangeArrowheads="1"/>
          </p:cNvSpPr>
          <p:nvPr/>
        </p:nvSpPr>
        <p:spPr bwMode="auto">
          <a:xfrm>
            <a:off x="787037" y="3225939"/>
            <a:ext cx="276890" cy="454865"/>
          </a:xfrm>
          <a:prstGeom prst="rect">
            <a:avLst/>
          </a:prstGeom>
          <a:solidFill>
            <a:srgbClr val="009999"/>
          </a:solidFill>
          <a:ln w="9525">
            <a:solidFill>
              <a:schemeClr val="tx1"/>
            </a:solidFill>
            <a:miter lim="800000"/>
            <a:headEnd/>
            <a:tailEnd/>
          </a:ln>
        </p:spPr>
        <p:txBody>
          <a:bodyPr wrap="none" anchor="ctr"/>
          <a:lstStyle/>
          <a:p>
            <a:pPr algn="ctr"/>
            <a:r>
              <a:rPr lang="en-US" sz="1000" dirty="0">
                <a:cs typeface="Arial" pitchFamily="34" charset="0"/>
              </a:rPr>
              <a:t>SD</a:t>
            </a:r>
          </a:p>
        </p:txBody>
      </p:sp>
      <p:sp>
        <p:nvSpPr>
          <p:cNvPr id="90" name="Rectangle 35"/>
          <p:cNvSpPr>
            <a:spLocks noChangeArrowheads="1"/>
          </p:cNvSpPr>
          <p:nvPr/>
        </p:nvSpPr>
        <p:spPr bwMode="auto">
          <a:xfrm>
            <a:off x="1068909" y="3225939"/>
            <a:ext cx="276890" cy="454865"/>
          </a:xfrm>
          <a:prstGeom prst="rect">
            <a:avLst/>
          </a:prstGeom>
          <a:solidFill>
            <a:srgbClr val="009999"/>
          </a:solidFill>
          <a:ln w="9525">
            <a:solidFill>
              <a:schemeClr val="tx1"/>
            </a:solidFill>
            <a:miter lim="800000"/>
            <a:headEnd/>
            <a:tailEnd/>
          </a:ln>
        </p:spPr>
        <p:txBody>
          <a:bodyPr wrap="none" anchor="ctr"/>
          <a:lstStyle/>
          <a:p>
            <a:pPr algn="ctr"/>
            <a:r>
              <a:rPr lang="en-US" sz="1000" dirty="0">
                <a:cs typeface="Arial" pitchFamily="34" charset="0"/>
              </a:rPr>
              <a:t>SD</a:t>
            </a:r>
          </a:p>
        </p:txBody>
      </p:sp>
      <p:sp>
        <p:nvSpPr>
          <p:cNvPr id="91" name="Rectangle 35"/>
          <p:cNvSpPr>
            <a:spLocks noChangeArrowheads="1"/>
          </p:cNvSpPr>
          <p:nvPr/>
        </p:nvSpPr>
        <p:spPr bwMode="auto">
          <a:xfrm>
            <a:off x="1350781" y="3225939"/>
            <a:ext cx="276890" cy="454865"/>
          </a:xfrm>
          <a:prstGeom prst="rect">
            <a:avLst/>
          </a:prstGeom>
          <a:solidFill>
            <a:srgbClr val="009999"/>
          </a:solidFill>
          <a:ln w="9525">
            <a:solidFill>
              <a:schemeClr val="tx1"/>
            </a:solidFill>
            <a:miter lim="800000"/>
            <a:headEnd/>
            <a:tailEnd/>
          </a:ln>
        </p:spPr>
        <p:txBody>
          <a:bodyPr wrap="none" anchor="ctr"/>
          <a:lstStyle/>
          <a:p>
            <a:pPr algn="ctr"/>
            <a:r>
              <a:rPr lang="en-US" sz="1000" dirty="0">
                <a:cs typeface="Arial" pitchFamily="34" charset="0"/>
              </a:rPr>
              <a:t>SD</a:t>
            </a:r>
          </a:p>
        </p:txBody>
      </p:sp>
      <p:sp>
        <p:nvSpPr>
          <p:cNvPr id="92" name="Rectangle 35"/>
          <p:cNvSpPr>
            <a:spLocks noChangeArrowheads="1"/>
          </p:cNvSpPr>
          <p:nvPr/>
        </p:nvSpPr>
        <p:spPr bwMode="auto">
          <a:xfrm>
            <a:off x="1624561" y="3225939"/>
            <a:ext cx="276890" cy="454865"/>
          </a:xfrm>
          <a:prstGeom prst="rect">
            <a:avLst/>
          </a:prstGeom>
          <a:solidFill>
            <a:srgbClr val="009999"/>
          </a:solidFill>
          <a:ln w="9525">
            <a:solidFill>
              <a:schemeClr val="tx1"/>
            </a:solidFill>
            <a:miter lim="800000"/>
            <a:headEnd/>
            <a:tailEnd/>
          </a:ln>
        </p:spPr>
        <p:txBody>
          <a:bodyPr wrap="none" anchor="ctr"/>
          <a:lstStyle/>
          <a:p>
            <a:pPr algn="ctr"/>
            <a:r>
              <a:rPr lang="en-US" sz="1000" dirty="0">
                <a:cs typeface="Arial" pitchFamily="34" charset="0"/>
              </a:rPr>
              <a:t>SD</a:t>
            </a:r>
          </a:p>
        </p:txBody>
      </p:sp>
      <p:sp>
        <p:nvSpPr>
          <p:cNvPr id="93" name="Rectangle 35"/>
          <p:cNvSpPr>
            <a:spLocks noChangeArrowheads="1"/>
          </p:cNvSpPr>
          <p:nvPr/>
        </p:nvSpPr>
        <p:spPr bwMode="auto">
          <a:xfrm>
            <a:off x="1906433" y="3225939"/>
            <a:ext cx="276890" cy="454865"/>
          </a:xfrm>
          <a:prstGeom prst="rect">
            <a:avLst/>
          </a:prstGeom>
          <a:solidFill>
            <a:srgbClr val="009999"/>
          </a:solidFill>
          <a:ln w="9525">
            <a:solidFill>
              <a:schemeClr val="tx1"/>
            </a:solidFill>
            <a:miter lim="800000"/>
            <a:headEnd/>
            <a:tailEnd/>
          </a:ln>
        </p:spPr>
        <p:txBody>
          <a:bodyPr wrap="none" anchor="ctr"/>
          <a:lstStyle/>
          <a:p>
            <a:pPr algn="ctr"/>
            <a:r>
              <a:rPr lang="en-US" sz="1000" dirty="0">
                <a:cs typeface="Arial" pitchFamily="34" charset="0"/>
              </a:rPr>
              <a:t>SD</a:t>
            </a:r>
          </a:p>
        </p:txBody>
      </p:sp>
      <p:sp>
        <p:nvSpPr>
          <p:cNvPr id="94" name="Rectangle 35"/>
          <p:cNvSpPr>
            <a:spLocks noChangeArrowheads="1"/>
          </p:cNvSpPr>
          <p:nvPr/>
        </p:nvSpPr>
        <p:spPr bwMode="auto">
          <a:xfrm>
            <a:off x="2188305" y="3225939"/>
            <a:ext cx="276890" cy="454865"/>
          </a:xfrm>
          <a:prstGeom prst="rect">
            <a:avLst/>
          </a:prstGeom>
          <a:solidFill>
            <a:srgbClr val="009999"/>
          </a:solidFill>
          <a:ln w="9525">
            <a:solidFill>
              <a:schemeClr val="tx1"/>
            </a:solidFill>
            <a:miter lim="800000"/>
            <a:headEnd/>
            <a:tailEnd/>
          </a:ln>
        </p:spPr>
        <p:txBody>
          <a:bodyPr wrap="none" anchor="ctr"/>
          <a:lstStyle/>
          <a:p>
            <a:pPr algn="ctr"/>
            <a:r>
              <a:rPr lang="en-US" sz="1000" dirty="0">
                <a:cs typeface="Arial" pitchFamily="34" charset="0"/>
              </a:rPr>
              <a:t>SD</a:t>
            </a:r>
          </a:p>
        </p:txBody>
      </p:sp>
      <p:sp>
        <p:nvSpPr>
          <p:cNvPr id="95" name="Rectangle 35"/>
          <p:cNvSpPr>
            <a:spLocks noChangeArrowheads="1"/>
          </p:cNvSpPr>
          <p:nvPr/>
        </p:nvSpPr>
        <p:spPr bwMode="auto">
          <a:xfrm>
            <a:off x="2470177" y="3225939"/>
            <a:ext cx="276890" cy="454865"/>
          </a:xfrm>
          <a:prstGeom prst="rect">
            <a:avLst/>
          </a:prstGeom>
          <a:solidFill>
            <a:srgbClr val="009999"/>
          </a:solidFill>
          <a:ln w="9525">
            <a:solidFill>
              <a:schemeClr val="tx1"/>
            </a:solidFill>
            <a:miter lim="800000"/>
            <a:headEnd/>
            <a:tailEnd/>
          </a:ln>
        </p:spPr>
        <p:txBody>
          <a:bodyPr wrap="none" anchor="ctr"/>
          <a:lstStyle/>
          <a:p>
            <a:pPr algn="ctr"/>
            <a:r>
              <a:rPr lang="en-US" sz="1000" dirty="0">
                <a:cs typeface="Arial" pitchFamily="34" charset="0"/>
              </a:rPr>
              <a:t>SD</a:t>
            </a:r>
          </a:p>
        </p:txBody>
      </p:sp>
      <p:sp>
        <p:nvSpPr>
          <p:cNvPr id="96" name="Rectangle 35"/>
          <p:cNvSpPr>
            <a:spLocks noChangeArrowheads="1"/>
          </p:cNvSpPr>
          <p:nvPr/>
        </p:nvSpPr>
        <p:spPr bwMode="auto">
          <a:xfrm>
            <a:off x="791954" y="3904964"/>
            <a:ext cx="276890" cy="518281"/>
          </a:xfrm>
          <a:prstGeom prst="rect">
            <a:avLst/>
          </a:prstGeom>
          <a:solidFill>
            <a:srgbClr val="3366FF"/>
          </a:solidFill>
          <a:ln w="9525">
            <a:solidFill>
              <a:schemeClr val="tx1"/>
            </a:solidFill>
            <a:prstDash val="dash"/>
            <a:miter lim="800000"/>
            <a:headEnd/>
            <a:tailEnd/>
          </a:ln>
        </p:spPr>
        <p:txBody>
          <a:bodyPr wrap="none" anchor="ctr"/>
          <a:lstStyle/>
          <a:p>
            <a:pPr algn="ctr"/>
            <a:r>
              <a:rPr lang="en-US" sz="800" dirty="0">
                <a:cs typeface="Arial" pitchFamily="34" charset="0"/>
              </a:rPr>
              <a:t>DPvol</a:t>
            </a:r>
          </a:p>
        </p:txBody>
      </p:sp>
      <p:sp>
        <p:nvSpPr>
          <p:cNvPr id="97" name="Rectangle 35"/>
          <p:cNvSpPr>
            <a:spLocks noChangeArrowheads="1"/>
          </p:cNvSpPr>
          <p:nvPr/>
        </p:nvSpPr>
        <p:spPr bwMode="auto">
          <a:xfrm>
            <a:off x="1068387" y="3904964"/>
            <a:ext cx="276890" cy="518281"/>
          </a:xfrm>
          <a:prstGeom prst="rect">
            <a:avLst/>
          </a:prstGeom>
          <a:solidFill>
            <a:srgbClr val="3366FF"/>
          </a:solidFill>
          <a:ln w="9525">
            <a:solidFill>
              <a:schemeClr val="tx1"/>
            </a:solidFill>
            <a:prstDash val="dash"/>
            <a:miter lim="800000"/>
            <a:headEnd/>
            <a:tailEnd/>
          </a:ln>
        </p:spPr>
        <p:txBody>
          <a:bodyPr wrap="none" anchor="ctr"/>
          <a:lstStyle/>
          <a:p>
            <a:pPr algn="ctr"/>
            <a:r>
              <a:rPr lang="en-US" sz="800" dirty="0">
                <a:cs typeface="Arial" pitchFamily="34" charset="0"/>
              </a:rPr>
              <a:t>DPvol</a:t>
            </a:r>
          </a:p>
        </p:txBody>
      </p:sp>
      <p:sp>
        <p:nvSpPr>
          <p:cNvPr id="98" name="Rectangle 35"/>
          <p:cNvSpPr>
            <a:spLocks noChangeArrowheads="1"/>
          </p:cNvSpPr>
          <p:nvPr/>
        </p:nvSpPr>
        <p:spPr bwMode="auto">
          <a:xfrm>
            <a:off x="1346433" y="3904964"/>
            <a:ext cx="276890" cy="518281"/>
          </a:xfrm>
          <a:prstGeom prst="rect">
            <a:avLst/>
          </a:prstGeom>
          <a:solidFill>
            <a:srgbClr val="3366FF"/>
          </a:solidFill>
          <a:ln w="9525">
            <a:solidFill>
              <a:schemeClr val="tx1"/>
            </a:solidFill>
            <a:prstDash val="dash"/>
            <a:miter lim="800000"/>
            <a:headEnd/>
            <a:tailEnd/>
          </a:ln>
        </p:spPr>
        <p:txBody>
          <a:bodyPr wrap="none" anchor="ctr"/>
          <a:lstStyle/>
          <a:p>
            <a:pPr algn="ctr"/>
            <a:r>
              <a:rPr lang="en-US" sz="800" dirty="0">
                <a:cs typeface="Arial" pitchFamily="34" charset="0"/>
              </a:rPr>
              <a:t>DPvol</a:t>
            </a:r>
          </a:p>
        </p:txBody>
      </p:sp>
      <p:sp>
        <p:nvSpPr>
          <p:cNvPr id="99" name="Rectangle 35"/>
          <p:cNvSpPr>
            <a:spLocks noChangeArrowheads="1"/>
          </p:cNvSpPr>
          <p:nvPr/>
        </p:nvSpPr>
        <p:spPr bwMode="auto">
          <a:xfrm>
            <a:off x="1623323" y="3904964"/>
            <a:ext cx="276890" cy="518281"/>
          </a:xfrm>
          <a:prstGeom prst="rect">
            <a:avLst/>
          </a:prstGeom>
          <a:solidFill>
            <a:srgbClr val="3366FF"/>
          </a:solidFill>
          <a:ln w="9525">
            <a:solidFill>
              <a:schemeClr val="tx1"/>
            </a:solidFill>
            <a:prstDash val="dash"/>
            <a:miter lim="800000"/>
            <a:headEnd/>
            <a:tailEnd/>
          </a:ln>
        </p:spPr>
        <p:txBody>
          <a:bodyPr wrap="none" anchor="ctr"/>
          <a:lstStyle/>
          <a:p>
            <a:pPr algn="ctr"/>
            <a:r>
              <a:rPr lang="en-US" sz="800" dirty="0">
                <a:cs typeface="Arial" pitchFamily="34" charset="0"/>
              </a:rPr>
              <a:t>DPvol</a:t>
            </a:r>
          </a:p>
        </p:txBody>
      </p:sp>
      <p:sp>
        <p:nvSpPr>
          <p:cNvPr id="100" name="Rectangle 35"/>
          <p:cNvSpPr>
            <a:spLocks noChangeArrowheads="1"/>
          </p:cNvSpPr>
          <p:nvPr/>
        </p:nvSpPr>
        <p:spPr bwMode="auto">
          <a:xfrm>
            <a:off x="1900213" y="3904964"/>
            <a:ext cx="276890" cy="518281"/>
          </a:xfrm>
          <a:prstGeom prst="rect">
            <a:avLst/>
          </a:prstGeom>
          <a:solidFill>
            <a:srgbClr val="3366FF"/>
          </a:solidFill>
          <a:ln w="9525">
            <a:solidFill>
              <a:schemeClr val="tx1"/>
            </a:solidFill>
            <a:prstDash val="dash"/>
            <a:miter lim="800000"/>
            <a:headEnd/>
            <a:tailEnd/>
          </a:ln>
        </p:spPr>
        <p:txBody>
          <a:bodyPr wrap="none" anchor="ctr"/>
          <a:lstStyle/>
          <a:p>
            <a:pPr algn="ctr"/>
            <a:r>
              <a:rPr lang="en-US" sz="800" dirty="0">
                <a:cs typeface="Arial" pitchFamily="34" charset="0"/>
              </a:rPr>
              <a:t>DPvol</a:t>
            </a:r>
          </a:p>
        </p:txBody>
      </p:sp>
      <p:sp>
        <p:nvSpPr>
          <p:cNvPr id="101" name="Rectangle 35"/>
          <p:cNvSpPr>
            <a:spLocks noChangeArrowheads="1"/>
          </p:cNvSpPr>
          <p:nvPr/>
        </p:nvSpPr>
        <p:spPr bwMode="auto">
          <a:xfrm>
            <a:off x="2177103" y="3904964"/>
            <a:ext cx="276890" cy="518281"/>
          </a:xfrm>
          <a:prstGeom prst="rect">
            <a:avLst/>
          </a:prstGeom>
          <a:solidFill>
            <a:srgbClr val="3366FF"/>
          </a:solidFill>
          <a:ln w="9525">
            <a:solidFill>
              <a:schemeClr val="tx1"/>
            </a:solidFill>
            <a:prstDash val="dash"/>
            <a:miter lim="800000"/>
            <a:headEnd/>
            <a:tailEnd/>
          </a:ln>
        </p:spPr>
        <p:txBody>
          <a:bodyPr wrap="none" anchor="ctr"/>
          <a:lstStyle/>
          <a:p>
            <a:pPr algn="ctr"/>
            <a:r>
              <a:rPr lang="en-US" sz="800" dirty="0">
                <a:cs typeface="Arial" pitchFamily="34" charset="0"/>
              </a:rPr>
              <a:t>DPvol</a:t>
            </a:r>
          </a:p>
        </p:txBody>
      </p:sp>
      <p:sp>
        <p:nvSpPr>
          <p:cNvPr id="102" name="Rectangle 35"/>
          <p:cNvSpPr>
            <a:spLocks noChangeArrowheads="1"/>
          </p:cNvSpPr>
          <p:nvPr/>
        </p:nvSpPr>
        <p:spPr bwMode="auto">
          <a:xfrm>
            <a:off x="2455333" y="3904964"/>
            <a:ext cx="276890" cy="518281"/>
          </a:xfrm>
          <a:prstGeom prst="rect">
            <a:avLst/>
          </a:prstGeom>
          <a:solidFill>
            <a:srgbClr val="3366FF"/>
          </a:solidFill>
          <a:ln w="9525">
            <a:solidFill>
              <a:schemeClr val="tx1"/>
            </a:solidFill>
            <a:prstDash val="dash"/>
            <a:miter lim="800000"/>
            <a:headEnd/>
            <a:tailEnd/>
          </a:ln>
        </p:spPr>
        <p:txBody>
          <a:bodyPr wrap="none" anchor="ctr"/>
          <a:lstStyle/>
          <a:p>
            <a:pPr algn="ctr"/>
            <a:r>
              <a:rPr lang="en-US" sz="800" dirty="0">
                <a:cs typeface="Arial" pitchFamily="34" charset="0"/>
              </a:rPr>
              <a:t>DPvol</a:t>
            </a:r>
          </a:p>
        </p:txBody>
      </p:sp>
      <p:sp>
        <p:nvSpPr>
          <p:cNvPr id="103" name="Rectangle 35"/>
          <p:cNvSpPr>
            <a:spLocks noChangeArrowheads="1"/>
          </p:cNvSpPr>
          <p:nvPr/>
        </p:nvSpPr>
        <p:spPr bwMode="auto">
          <a:xfrm>
            <a:off x="510147" y="3225939"/>
            <a:ext cx="276890" cy="454865"/>
          </a:xfrm>
          <a:prstGeom prst="rect">
            <a:avLst/>
          </a:prstGeom>
          <a:solidFill>
            <a:srgbClr val="009999"/>
          </a:solidFill>
          <a:ln w="9525">
            <a:solidFill>
              <a:schemeClr val="tx1"/>
            </a:solidFill>
            <a:miter lim="800000"/>
            <a:headEnd/>
            <a:tailEnd/>
          </a:ln>
        </p:spPr>
        <p:txBody>
          <a:bodyPr wrap="none" anchor="ctr"/>
          <a:lstStyle/>
          <a:p>
            <a:pPr algn="ctr"/>
            <a:r>
              <a:rPr lang="en-US" sz="1000" dirty="0">
                <a:cs typeface="Arial" pitchFamily="34" charset="0"/>
              </a:rPr>
              <a:t>SD</a:t>
            </a:r>
          </a:p>
        </p:txBody>
      </p:sp>
      <p:sp>
        <p:nvSpPr>
          <p:cNvPr id="104" name="Rectangle 35"/>
          <p:cNvSpPr>
            <a:spLocks noChangeArrowheads="1"/>
          </p:cNvSpPr>
          <p:nvPr/>
        </p:nvSpPr>
        <p:spPr bwMode="auto">
          <a:xfrm>
            <a:off x="1616225" y="4497326"/>
            <a:ext cx="553780" cy="270836"/>
          </a:xfrm>
          <a:prstGeom prst="rect">
            <a:avLst/>
          </a:prstGeom>
          <a:solidFill>
            <a:srgbClr val="3366FF"/>
          </a:solidFill>
          <a:ln w="9525">
            <a:solidFill>
              <a:schemeClr val="tx1"/>
            </a:solidFill>
            <a:miter lim="800000"/>
            <a:headEnd/>
            <a:tailEnd/>
          </a:ln>
        </p:spPr>
        <p:txBody>
          <a:bodyPr wrap="none" anchor="ctr"/>
          <a:lstStyle/>
          <a:p>
            <a:pPr algn="ctr"/>
            <a:r>
              <a:rPr lang="en-US" sz="1200" dirty="0">
                <a:cs typeface="Arial" pitchFamily="34" charset="0"/>
              </a:rPr>
              <a:t>RG</a:t>
            </a:r>
          </a:p>
        </p:txBody>
      </p:sp>
      <p:sp>
        <p:nvSpPr>
          <p:cNvPr id="105" name="Rectangle 35"/>
          <p:cNvSpPr>
            <a:spLocks noChangeArrowheads="1"/>
          </p:cNvSpPr>
          <p:nvPr/>
        </p:nvSpPr>
        <p:spPr bwMode="auto">
          <a:xfrm>
            <a:off x="2178202" y="4497326"/>
            <a:ext cx="553780" cy="270836"/>
          </a:xfrm>
          <a:prstGeom prst="rect">
            <a:avLst/>
          </a:prstGeom>
          <a:solidFill>
            <a:srgbClr val="3366FF"/>
          </a:solidFill>
          <a:ln w="9525">
            <a:solidFill>
              <a:schemeClr val="tx1"/>
            </a:solidFill>
            <a:miter lim="800000"/>
            <a:headEnd/>
            <a:tailEnd/>
          </a:ln>
        </p:spPr>
        <p:txBody>
          <a:bodyPr wrap="none" anchor="ctr"/>
          <a:lstStyle/>
          <a:p>
            <a:pPr algn="ctr"/>
            <a:r>
              <a:rPr lang="en-US" sz="1200" dirty="0">
                <a:cs typeface="Arial" pitchFamily="34" charset="0"/>
              </a:rPr>
              <a:t>RG</a:t>
            </a:r>
          </a:p>
        </p:txBody>
      </p:sp>
      <p:sp>
        <p:nvSpPr>
          <p:cNvPr id="108" name="Line 26"/>
          <p:cNvSpPr>
            <a:spLocks noChangeShapeType="1"/>
          </p:cNvSpPr>
          <p:nvPr/>
        </p:nvSpPr>
        <p:spPr bwMode="auto">
          <a:xfrm rot="10800000" flipH="1" flipV="1">
            <a:off x="648592" y="3681032"/>
            <a:ext cx="1" cy="218269"/>
          </a:xfrm>
          <a:prstGeom prst="line">
            <a:avLst/>
          </a:prstGeom>
          <a:noFill/>
          <a:ln w="9525">
            <a:solidFill>
              <a:schemeClr val="tx1"/>
            </a:solidFill>
            <a:round/>
            <a:headEnd type="triangle"/>
            <a:tailEnd type="none" w="med" len="med"/>
          </a:ln>
        </p:spPr>
        <p:txBody>
          <a:bodyPr/>
          <a:lstStyle/>
          <a:p>
            <a:endParaRPr lang="en-US"/>
          </a:p>
        </p:txBody>
      </p:sp>
      <p:sp>
        <p:nvSpPr>
          <p:cNvPr id="109" name="Line 26"/>
          <p:cNvSpPr>
            <a:spLocks noChangeShapeType="1"/>
          </p:cNvSpPr>
          <p:nvPr/>
        </p:nvSpPr>
        <p:spPr bwMode="auto">
          <a:xfrm rot="10800000" flipH="1" flipV="1">
            <a:off x="919166" y="3681032"/>
            <a:ext cx="1" cy="218269"/>
          </a:xfrm>
          <a:prstGeom prst="line">
            <a:avLst/>
          </a:prstGeom>
          <a:noFill/>
          <a:ln w="9525">
            <a:solidFill>
              <a:schemeClr val="tx1"/>
            </a:solidFill>
            <a:round/>
            <a:headEnd type="triangle"/>
            <a:tailEnd type="none" w="med" len="med"/>
          </a:ln>
        </p:spPr>
        <p:txBody>
          <a:bodyPr/>
          <a:lstStyle/>
          <a:p>
            <a:endParaRPr lang="en-US"/>
          </a:p>
        </p:txBody>
      </p:sp>
      <p:sp>
        <p:nvSpPr>
          <p:cNvPr id="110" name="Line 26"/>
          <p:cNvSpPr>
            <a:spLocks noChangeShapeType="1"/>
          </p:cNvSpPr>
          <p:nvPr/>
        </p:nvSpPr>
        <p:spPr bwMode="auto">
          <a:xfrm rot="10800000" flipH="1" flipV="1">
            <a:off x="1199778" y="3681032"/>
            <a:ext cx="1" cy="218269"/>
          </a:xfrm>
          <a:prstGeom prst="line">
            <a:avLst/>
          </a:prstGeom>
          <a:noFill/>
          <a:ln w="9525">
            <a:solidFill>
              <a:schemeClr val="tx1"/>
            </a:solidFill>
            <a:round/>
            <a:headEnd type="triangle"/>
            <a:tailEnd type="none" w="med" len="med"/>
          </a:ln>
        </p:spPr>
        <p:txBody>
          <a:bodyPr/>
          <a:lstStyle/>
          <a:p>
            <a:endParaRPr lang="en-US"/>
          </a:p>
        </p:txBody>
      </p:sp>
      <p:sp>
        <p:nvSpPr>
          <p:cNvPr id="111" name="Line 26"/>
          <p:cNvSpPr>
            <a:spLocks noChangeShapeType="1"/>
          </p:cNvSpPr>
          <p:nvPr/>
        </p:nvSpPr>
        <p:spPr bwMode="auto">
          <a:xfrm rot="10800000" flipH="1" flipV="1">
            <a:off x="1478561" y="3681032"/>
            <a:ext cx="1" cy="218269"/>
          </a:xfrm>
          <a:prstGeom prst="line">
            <a:avLst/>
          </a:prstGeom>
          <a:noFill/>
          <a:ln w="9525">
            <a:solidFill>
              <a:schemeClr val="tx1"/>
            </a:solidFill>
            <a:round/>
            <a:headEnd type="triangle"/>
            <a:tailEnd type="none" w="med" len="med"/>
          </a:ln>
        </p:spPr>
        <p:txBody>
          <a:bodyPr/>
          <a:lstStyle/>
          <a:p>
            <a:endParaRPr lang="en-US"/>
          </a:p>
        </p:txBody>
      </p:sp>
      <p:sp>
        <p:nvSpPr>
          <p:cNvPr id="112" name="Line 26"/>
          <p:cNvSpPr>
            <a:spLocks noChangeShapeType="1"/>
          </p:cNvSpPr>
          <p:nvPr/>
        </p:nvSpPr>
        <p:spPr bwMode="auto">
          <a:xfrm rot="10800000" flipH="1" flipV="1">
            <a:off x="1764129" y="3681032"/>
            <a:ext cx="1" cy="218269"/>
          </a:xfrm>
          <a:prstGeom prst="line">
            <a:avLst/>
          </a:prstGeom>
          <a:noFill/>
          <a:ln w="9525">
            <a:solidFill>
              <a:schemeClr val="tx1"/>
            </a:solidFill>
            <a:round/>
            <a:headEnd type="triangle"/>
            <a:tailEnd type="none" w="med" len="med"/>
          </a:ln>
        </p:spPr>
        <p:txBody>
          <a:bodyPr/>
          <a:lstStyle/>
          <a:p>
            <a:endParaRPr lang="en-US"/>
          </a:p>
        </p:txBody>
      </p:sp>
      <p:sp>
        <p:nvSpPr>
          <p:cNvPr id="113" name="Line 26"/>
          <p:cNvSpPr>
            <a:spLocks noChangeShapeType="1"/>
          </p:cNvSpPr>
          <p:nvPr/>
        </p:nvSpPr>
        <p:spPr bwMode="auto">
          <a:xfrm rot="10800000" flipH="1" flipV="1">
            <a:off x="2044879" y="3681032"/>
            <a:ext cx="1" cy="218269"/>
          </a:xfrm>
          <a:prstGeom prst="line">
            <a:avLst/>
          </a:prstGeom>
          <a:noFill/>
          <a:ln w="9525">
            <a:solidFill>
              <a:schemeClr val="tx1"/>
            </a:solidFill>
            <a:round/>
            <a:headEnd type="triangle"/>
            <a:tailEnd type="none" w="med" len="med"/>
          </a:ln>
        </p:spPr>
        <p:txBody>
          <a:bodyPr/>
          <a:lstStyle/>
          <a:p>
            <a:endParaRPr lang="en-US"/>
          </a:p>
        </p:txBody>
      </p:sp>
      <p:sp>
        <p:nvSpPr>
          <p:cNvPr id="114" name="Line 26"/>
          <p:cNvSpPr>
            <a:spLocks noChangeShapeType="1"/>
          </p:cNvSpPr>
          <p:nvPr/>
        </p:nvSpPr>
        <p:spPr bwMode="auto">
          <a:xfrm rot="10800000" flipH="1" flipV="1">
            <a:off x="2315548" y="3681032"/>
            <a:ext cx="1" cy="218269"/>
          </a:xfrm>
          <a:prstGeom prst="line">
            <a:avLst/>
          </a:prstGeom>
          <a:noFill/>
          <a:ln w="9525">
            <a:solidFill>
              <a:schemeClr val="tx1"/>
            </a:solidFill>
            <a:round/>
            <a:headEnd type="triangle"/>
            <a:tailEnd type="none" w="med" len="med"/>
          </a:ln>
        </p:spPr>
        <p:txBody>
          <a:bodyPr/>
          <a:lstStyle/>
          <a:p>
            <a:endParaRPr lang="en-US"/>
          </a:p>
        </p:txBody>
      </p:sp>
      <p:sp>
        <p:nvSpPr>
          <p:cNvPr id="115" name="Line 26"/>
          <p:cNvSpPr>
            <a:spLocks noChangeShapeType="1"/>
          </p:cNvSpPr>
          <p:nvPr/>
        </p:nvSpPr>
        <p:spPr bwMode="auto">
          <a:xfrm rot="10800000" flipH="1" flipV="1">
            <a:off x="2608623" y="3681032"/>
            <a:ext cx="1" cy="218269"/>
          </a:xfrm>
          <a:prstGeom prst="line">
            <a:avLst/>
          </a:prstGeom>
          <a:noFill/>
          <a:ln w="9525">
            <a:solidFill>
              <a:schemeClr val="tx1"/>
            </a:solidFill>
            <a:round/>
            <a:headEnd type="triangle"/>
            <a:tailEnd type="none" w="med" len="med"/>
          </a:ln>
        </p:spPr>
        <p:txBody>
          <a:bodyPr/>
          <a:lstStyle/>
          <a:p>
            <a:endParaRPr lang="en-US"/>
          </a:p>
        </p:txBody>
      </p:sp>
      <p:sp>
        <p:nvSpPr>
          <p:cNvPr id="54" name="Rectangle 33"/>
          <p:cNvSpPr>
            <a:spLocks noChangeArrowheads="1"/>
          </p:cNvSpPr>
          <p:nvPr/>
        </p:nvSpPr>
        <p:spPr bwMode="auto">
          <a:xfrm rot="10800000">
            <a:off x="2817128" y="2569431"/>
            <a:ext cx="2247862" cy="456775"/>
          </a:xfrm>
          <a:prstGeom prst="rect">
            <a:avLst/>
          </a:prstGeom>
          <a:solidFill>
            <a:schemeClr val="accent3"/>
          </a:solidFill>
          <a:ln w="9525">
            <a:solidFill>
              <a:schemeClr val="tx1"/>
            </a:solidFill>
            <a:miter lim="800000"/>
            <a:headEnd/>
            <a:tailEnd/>
          </a:ln>
        </p:spPr>
        <p:txBody>
          <a:bodyPr rot="10800000" wrap="none" anchor="ctr"/>
          <a:lstStyle/>
          <a:p>
            <a:pPr algn="ctr"/>
            <a:r>
              <a:rPr lang="en-US" sz="1600" dirty="0">
                <a:cs typeface="Arial" pitchFamily="34" charset="0"/>
              </a:rPr>
              <a:t>Stripe Set</a:t>
            </a:r>
          </a:p>
        </p:txBody>
      </p:sp>
      <p:sp>
        <p:nvSpPr>
          <p:cNvPr id="56" name="Rectangle 35"/>
          <p:cNvSpPr>
            <a:spLocks noChangeArrowheads="1"/>
          </p:cNvSpPr>
          <p:nvPr/>
        </p:nvSpPr>
        <p:spPr bwMode="auto">
          <a:xfrm>
            <a:off x="2836462" y="3904963"/>
            <a:ext cx="276890" cy="518281"/>
          </a:xfrm>
          <a:prstGeom prst="rect">
            <a:avLst/>
          </a:prstGeom>
          <a:solidFill>
            <a:schemeClr val="bg1"/>
          </a:solidFill>
          <a:ln w="9525">
            <a:solidFill>
              <a:schemeClr val="tx1"/>
            </a:solidFill>
            <a:prstDash val="dash"/>
            <a:miter lim="800000"/>
            <a:headEnd/>
            <a:tailEnd/>
          </a:ln>
        </p:spPr>
        <p:txBody>
          <a:bodyPr wrap="none" anchor="ctr"/>
          <a:lstStyle/>
          <a:p>
            <a:pPr algn="ctr"/>
            <a:r>
              <a:rPr lang="en-US" sz="800" dirty="0">
                <a:cs typeface="Arial" pitchFamily="34" charset="0"/>
              </a:rPr>
              <a:t>DPvol</a:t>
            </a:r>
          </a:p>
        </p:txBody>
      </p:sp>
      <p:sp>
        <p:nvSpPr>
          <p:cNvPr id="57" name="Line 26"/>
          <p:cNvSpPr>
            <a:spLocks noChangeShapeType="1"/>
          </p:cNvSpPr>
          <p:nvPr/>
        </p:nvSpPr>
        <p:spPr bwMode="auto">
          <a:xfrm rot="10800000" flipV="1">
            <a:off x="3394138" y="3225938"/>
            <a:ext cx="1" cy="211740"/>
          </a:xfrm>
          <a:prstGeom prst="line">
            <a:avLst/>
          </a:prstGeom>
          <a:noFill/>
          <a:ln w="9525">
            <a:solidFill>
              <a:schemeClr val="tx1"/>
            </a:solidFill>
            <a:round/>
            <a:headEnd type="triangle"/>
            <a:tailEnd type="none" w="med" len="med"/>
          </a:ln>
        </p:spPr>
        <p:txBody>
          <a:bodyPr/>
          <a:lstStyle/>
          <a:p>
            <a:endParaRPr lang="en-US"/>
          </a:p>
        </p:txBody>
      </p:sp>
      <p:sp>
        <p:nvSpPr>
          <p:cNvPr id="58" name="Line 26"/>
          <p:cNvSpPr>
            <a:spLocks noChangeShapeType="1"/>
          </p:cNvSpPr>
          <p:nvPr/>
        </p:nvSpPr>
        <p:spPr bwMode="auto">
          <a:xfrm rot="10800000" flipV="1">
            <a:off x="4506986" y="3225938"/>
            <a:ext cx="2" cy="211740"/>
          </a:xfrm>
          <a:prstGeom prst="line">
            <a:avLst/>
          </a:prstGeom>
          <a:noFill/>
          <a:ln w="9525">
            <a:solidFill>
              <a:schemeClr val="tx1"/>
            </a:solidFill>
            <a:round/>
            <a:headEnd type="triangle"/>
            <a:tailEnd type="none" w="med" len="med"/>
          </a:ln>
        </p:spPr>
        <p:txBody>
          <a:bodyPr/>
          <a:lstStyle/>
          <a:p>
            <a:endParaRPr lang="en-US"/>
          </a:p>
        </p:txBody>
      </p:sp>
      <p:sp>
        <p:nvSpPr>
          <p:cNvPr id="70" name="Line 26"/>
          <p:cNvSpPr>
            <a:spLocks noChangeShapeType="1"/>
          </p:cNvSpPr>
          <p:nvPr/>
        </p:nvSpPr>
        <p:spPr bwMode="auto">
          <a:xfrm rot="10800000" flipV="1">
            <a:off x="3955871" y="3225938"/>
            <a:ext cx="1" cy="206682"/>
          </a:xfrm>
          <a:prstGeom prst="line">
            <a:avLst/>
          </a:prstGeom>
          <a:noFill/>
          <a:ln w="9525">
            <a:solidFill>
              <a:schemeClr val="tx1"/>
            </a:solidFill>
            <a:round/>
            <a:headEnd type="triangle"/>
            <a:tailEnd type="none" w="med" len="med"/>
          </a:ln>
        </p:spPr>
        <p:txBody>
          <a:bodyPr/>
          <a:lstStyle/>
          <a:p>
            <a:endParaRPr lang="en-US"/>
          </a:p>
        </p:txBody>
      </p:sp>
      <p:sp>
        <p:nvSpPr>
          <p:cNvPr id="71" name="Rectangle 35"/>
          <p:cNvSpPr>
            <a:spLocks noChangeArrowheads="1"/>
          </p:cNvSpPr>
          <p:nvPr/>
        </p:nvSpPr>
        <p:spPr bwMode="auto">
          <a:xfrm>
            <a:off x="3105718" y="3225938"/>
            <a:ext cx="276890" cy="454865"/>
          </a:xfrm>
          <a:prstGeom prst="rect">
            <a:avLst/>
          </a:prstGeom>
          <a:solidFill>
            <a:srgbClr val="009999"/>
          </a:solidFill>
          <a:ln w="9525">
            <a:solidFill>
              <a:schemeClr val="tx1"/>
            </a:solidFill>
            <a:miter lim="800000"/>
            <a:headEnd/>
            <a:tailEnd/>
          </a:ln>
        </p:spPr>
        <p:txBody>
          <a:bodyPr wrap="none" anchor="ctr"/>
          <a:lstStyle/>
          <a:p>
            <a:pPr algn="ctr"/>
            <a:r>
              <a:rPr lang="en-US" sz="1000" dirty="0">
                <a:cs typeface="Arial" pitchFamily="34" charset="0"/>
              </a:rPr>
              <a:t>SD</a:t>
            </a:r>
          </a:p>
        </p:txBody>
      </p:sp>
      <p:sp>
        <p:nvSpPr>
          <p:cNvPr id="72" name="Rectangle 35"/>
          <p:cNvSpPr>
            <a:spLocks noChangeArrowheads="1"/>
          </p:cNvSpPr>
          <p:nvPr/>
        </p:nvSpPr>
        <p:spPr bwMode="auto">
          <a:xfrm>
            <a:off x="3387590" y="3225938"/>
            <a:ext cx="276890" cy="454865"/>
          </a:xfrm>
          <a:prstGeom prst="rect">
            <a:avLst/>
          </a:prstGeom>
          <a:solidFill>
            <a:srgbClr val="009999"/>
          </a:solidFill>
          <a:ln w="9525">
            <a:solidFill>
              <a:schemeClr val="tx1"/>
            </a:solidFill>
            <a:miter lim="800000"/>
            <a:headEnd/>
            <a:tailEnd/>
          </a:ln>
        </p:spPr>
        <p:txBody>
          <a:bodyPr wrap="none" anchor="ctr"/>
          <a:lstStyle/>
          <a:p>
            <a:pPr algn="ctr"/>
            <a:r>
              <a:rPr lang="en-US" sz="1000" dirty="0">
                <a:cs typeface="Arial" pitchFamily="34" charset="0"/>
              </a:rPr>
              <a:t>SD</a:t>
            </a:r>
          </a:p>
        </p:txBody>
      </p:sp>
      <p:sp>
        <p:nvSpPr>
          <p:cNvPr id="73" name="Rectangle 35"/>
          <p:cNvSpPr>
            <a:spLocks noChangeArrowheads="1"/>
          </p:cNvSpPr>
          <p:nvPr/>
        </p:nvSpPr>
        <p:spPr bwMode="auto">
          <a:xfrm>
            <a:off x="3669462" y="3225938"/>
            <a:ext cx="276890" cy="454865"/>
          </a:xfrm>
          <a:prstGeom prst="rect">
            <a:avLst/>
          </a:prstGeom>
          <a:solidFill>
            <a:srgbClr val="009999"/>
          </a:solidFill>
          <a:ln w="9525">
            <a:solidFill>
              <a:schemeClr val="tx1"/>
            </a:solidFill>
            <a:miter lim="800000"/>
            <a:headEnd/>
            <a:tailEnd/>
          </a:ln>
        </p:spPr>
        <p:txBody>
          <a:bodyPr wrap="none" anchor="ctr"/>
          <a:lstStyle/>
          <a:p>
            <a:pPr algn="ctr"/>
            <a:r>
              <a:rPr lang="en-US" sz="1000" dirty="0">
                <a:cs typeface="Arial" pitchFamily="34" charset="0"/>
              </a:rPr>
              <a:t>SD</a:t>
            </a:r>
          </a:p>
        </p:txBody>
      </p:sp>
      <p:sp>
        <p:nvSpPr>
          <p:cNvPr id="74" name="Rectangle 35"/>
          <p:cNvSpPr>
            <a:spLocks noChangeArrowheads="1"/>
          </p:cNvSpPr>
          <p:nvPr/>
        </p:nvSpPr>
        <p:spPr bwMode="auto">
          <a:xfrm>
            <a:off x="3943242" y="3225938"/>
            <a:ext cx="276890" cy="454865"/>
          </a:xfrm>
          <a:prstGeom prst="rect">
            <a:avLst/>
          </a:prstGeom>
          <a:solidFill>
            <a:srgbClr val="009999"/>
          </a:solidFill>
          <a:ln w="9525">
            <a:solidFill>
              <a:schemeClr val="tx1"/>
            </a:solidFill>
            <a:miter lim="800000"/>
            <a:headEnd/>
            <a:tailEnd/>
          </a:ln>
        </p:spPr>
        <p:txBody>
          <a:bodyPr wrap="none" anchor="ctr"/>
          <a:lstStyle/>
          <a:p>
            <a:pPr algn="ctr"/>
            <a:r>
              <a:rPr lang="en-US" sz="1000" dirty="0">
                <a:cs typeface="Arial" pitchFamily="34" charset="0"/>
              </a:rPr>
              <a:t>SD</a:t>
            </a:r>
          </a:p>
        </p:txBody>
      </p:sp>
      <p:sp>
        <p:nvSpPr>
          <p:cNvPr id="75" name="Rectangle 35"/>
          <p:cNvSpPr>
            <a:spLocks noChangeArrowheads="1"/>
          </p:cNvSpPr>
          <p:nvPr/>
        </p:nvSpPr>
        <p:spPr bwMode="auto">
          <a:xfrm>
            <a:off x="4225114" y="3225938"/>
            <a:ext cx="276890" cy="454865"/>
          </a:xfrm>
          <a:prstGeom prst="rect">
            <a:avLst/>
          </a:prstGeom>
          <a:solidFill>
            <a:srgbClr val="009999"/>
          </a:solidFill>
          <a:ln w="9525">
            <a:solidFill>
              <a:schemeClr val="tx1"/>
            </a:solidFill>
            <a:miter lim="800000"/>
            <a:headEnd/>
            <a:tailEnd/>
          </a:ln>
        </p:spPr>
        <p:txBody>
          <a:bodyPr wrap="none" anchor="ctr"/>
          <a:lstStyle/>
          <a:p>
            <a:pPr algn="ctr"/>
            <a:r>
              <a:rPr lang="en-US" sz="1000" dirty="0">
                <a:cs typeface="Arial" pitchFamily="34" charset="0"/>
              </a:rPr>
              <a:t>SD</a:t>
            </a:r>
          </a:p>
        </p:txBody>
      </p:sp>
      <p:sp>
        <p:nvSpPr>
          <p:cNvPr id="76" name="Rectangle 35"/>
          <p:cNvSpPr>
            <a:spLocks noChangeArrowheads="1"/>
          </p:cNvSpPr>
          <p:nvPr/>
        </p:nvSpPr>
        <p:spPr bwMode="auto">
          <a:xfrm>
            <a:off x="4506986" y="3225938"/>
            <a:ext cx="276890" cy="454865"/>
          </a:xfrm>
          <a:prstGeom prst="rect">
            <a:avLst/>
          </a:prstGeom>
          <a:solidFill>
            <a:srgbClr val="009999"/>
          </a:solidFill>
          <a:ln w="9525">
            <a:solidFill>
              <a:schemeClr val="tx1"/>
            </a:solidFill>
            <a:miter lim="800000"/>
            <a:headEnd/>
            <a:tailEnd/>
          </a:ln>
        </p:spPr>
        <p:txBody>
          <a:bodyPr wrap="none" anchor="ctr"/>
          <a:lstStyle/>
          <a:p>
            <a:pPr algn="ctr"/>
            <a:r>
              <a:rPr lang="en-US" sz="1000" dirty="0">
                <a:cs typeface="Arial" pitchFamily="34" charset="0"/>
              </a:rPr>
              <a:t>SD</a:t>
            </a:r>
          </a:p>
        </p:txBody>
      </p:sp>
      <p:sp>
        <p:nvSpPr>
          <p:cNvPr id="77" name="Rectangle 35"/>
          <p:cNvSpPr>
            <a:spLocks noChangeArrowheads="1"/>
          </p:cNvSpPr>
          <p:nvPr/>
        </p:nvSpPr>
        <p:spPr bwMode="auto">
          <a:xfrm>
            <a:off x="4788858" y="3225938"/>
            <a:ext cx="276890" cy="454865"/>
          </a:xfrm>
          <a:prstGeom prst="rect">
            <a:avLst/>
          </a:prstGeom>
          <a:solidFill>
            <a:srgbClr val="009999"/>
          </a:solidFill>
          <a:ln w="9525">
            <a:solidFill>
              <a:schemeClr val="tx1"/>
            </a:solidFill>
            <a:miter lim="800000"/>
            <a:headEnd/>
            <a:tailEnd/>
          </a:ln>
        </p:spPr>
        <p:txBody>
          <a:bodyPr wrap="none" anchor="ctr"/>
          <a:lstStyle/>
          <a:p>
            <a:pPr algn="ctr"/>
            <a:r>
              <a:rPr lang="en-US" sz="1000" dirty="0">
                <a:cs typeface="Arial" pitchFamily="34" charset="0"/>
              </a:rPr>
              <a:t>SD</a:t>
            </a:r>
          </a:p>
        </p:txBody>
      </p:sp>
      <p:sp>
        <p:nvSpPr>
          <p:cNvPr id="78" name="Rectangle 35"/>
          <p:cNvSpPr>
            <a:spLocks noChangeArrowheads="1"/>
          </p:cNvSpPr>
          <p:nvPr/>
        </p:nvSpPr>
        <p:spPr bwMode="auto">
          <a:xfrm>
            <a:off x="3110635" y="3904963"/>
            <a:ext cx="276890" cy="518281"/>
          </a:xfrm>
          <a:prstGeom prst="rect">
            <a:avLst/>
          </a:prstGeom>
          <a:solidFill>
            <a:schemeClr val="bg1"/>
          </a:solidFill>
          <a:ln w="9525">
            <a:solidFill>
              <a:schemeClr val="tx1"/>
            </a:solidFill>
            <a:prstDash val="dash"/>
            <a:miter lim="800000"/>
            <a:headEnd/>
            <a:tailEnd/>
          </a:ln>
        </p:spPr>
        <p:txBody>
          <a:bodyPr wrap="none" anchor="ctr"/>
          <a:lstStyle/>
          <a:p>
            <a:pPr algn="ctr"/>
            <a:r>
              <a:rPr lang="en-US" sz="800" dirty="0">
                <a:cs typeface="Arial" pitchFamily="34" charset="0"/>
              </a:rPr>
              <a:t>DPvol</a:t>
            </a:r>
          </a:p>
        </p:txBody>
      </p:sp>
      <p:sp>
        <p:nvSpPr>
          <p:cNvPr id="79" name="Rectangle 35"/>
          <p:cNvSpPr>
            <a:spLocks noChangeArrowheads="1"/>
          </p:cNvSpPr>
          <p:nvPr/>
        </p:nvSpPr>
        <p:spPr bwMode="auto">
          <a:xfrm>
            <a:off x="3387068" y="3904963"/>
            <a:ext cx="276890" cy="518281"/>
          </a:xfrm>
          <a:prstGeom prst="rect">
            <a:avLst/>
          </a:prstGeom>
          <a:solidFill>
            <a:schemeClr val="bg1"/>
          </a:solidFill>
          <a:ln w="9525">
            <a:solidFill>
              <a:schemeClr val="tx1"/>
            </a:solidFill>
            <a:prstDash val="dash"/>
            <a:miter lim="800000"/>
            <a:headEnd/>
            <a:tailEnd/>
          </a:ln>
        </p:spPr>
        <p:txBody>
          <a:bodyPr wrap="none" anchor="ctr"/>
          <a:lstStyle/>
          <a:p>
            <a:pPr algn="ctr"/>
            <a:r>
              <a:rPr lang="en-US" sz="800" dirty="0">
                <a:cs typeface="Arial" pitchFamily="34" charset="0"/>
              </a:rPr>
              <a:t>DPvol</a:t>
            </a:r>
          </a:p>
        </p:txBody>
      </p:sp>
      <p:sp>
        <p:nvSpPr>
          <p:cNvPr id="81" name="Rectangle 35"/>
          <p:cNvSpPr>
            <a:spLocks noChangeArrowheads="1"/>
          </p:cNvSpPr>
          <p:nvPr/>
        </p:nvSpPr>
        <p:spPr bwMode="auto">
          <a:xfrm>
            <a:off x="3665114" y="3904963"/>
            <a:ext cx="276890" cy="518281"/>
          </a:xfrm>
          <a:prstGeom prst="rect">
            <a:avLst/>
          </a:prstGeom>
          <a:solidFill>
            <a:schemeClr val="bg1"/>
          </a:solidFill>
          <a:ln w="9525">
            <a:solidFill>
              <a:schemeClr val="tx1"/>
            </a:solidFill>
            <a:prstDash val="dash"/>
            <a:miter lim="800000"/>
            <a:headEnd/>
            <a:tailEnd/>
          </a:ln>
        </p:spPr>
        <p:txBody>
          <a:bodyPr wrap="none" anchor="ctr"/>
          <a:lstStyle/>
          <a:p>
            <a:pPr algn="ctr"/>
            <a:r>
              <a:rPr lang="en-US" sz="800" dirty="0">
                <a:cs typeface="Arial" pitchFamily="34" charset="0"/>
              </a:rPr>
              <a:t>DPvol</a:t>
            </a:r>
          </a:p>
        </p:txBody>
      </p:sp>
      <p:sp>
        <p:nvSpPr>
          <p:cNvPr id="82" name="Rectangle 35"/>
          <p:cNvSpPr>
            <a:spLocks noChangeArrowheads="1"/>
          </p:cNvSpPr>
          <p:nvPr/>
        </p:nvSpPr>
        <p:spPr bwMode="auto">
          <a:xfrm>
            <a:off x="3942004" y="3904963"/>
            <a:ext cx="276890" cy="518281"/>
          </a:xfrm>
          <a:prstGeom prst="rect">
            <a:avLst/>
          </a:prstGeom>
          <a:solidFill>
            <a:schemeClr val="bg1"/>
          </a:solidFill>
          <a:ln w="9525">
            <a:solidFill>
              <a:schemeClr val="tx1"/>
            </a:solidFill>
            <a:prstDash val="dash"/>
            <a:miter lim="800000"/>
            <a:headEnd/>
            <a:tailEnd/>
          </a:ln>
        </p:spPr>
        <p:txBody>
          <a:bodyPr wrap="none" anchor="ctr"/>
          <a:lstStyle/>
          <a:p>
            <a:pPr algn="ctr"/>
            <a:r>
              <a:rPr lang="en-US" sz="800" dirty="0">
                <a:cs typeface="Arial" pitchFamily="34" charset="0"/>
              </a:rPr>
              <a:t>DPvol</a:t>
            </a:r>
          </a:p>
        </p:txBody>
      </p:sp>
      <p:sp>
        <p:nvSpPr>
          <p:cNvPr id="84" name="Rectangle 35"/>
          <p:cNvSpPr>
            <a:spLocks noChangeArrowheads="1"/>
          </p:cNvSpPr>
          <p:nvPr/>
        </p:nvSpPr>
        <p:spPr bwMode="auto">
          <a:xfrm>
            <a:off x="4218894" y="3904963"/>
            <a:ext cx="276890" cy="518281"/>
          </a:xfrm>
          <a:prstGeom prst="rect">
            <a:avLst/>
          </a:prstGeom>
          <a:solidFill>
            <a:schemeClr val="bg1"/>
          </a:solidFill>
          <a:ln w="9525">
            <a:solidFill>
              <a:schemeClr val="tx1"/>
            </a:solidFill>
            <a:prstDash val="dash"/>
            <a:miter lim="800000"/>
            <a:headEnd/>
            <a:tailEnd/>
          </a:ln>
        </p:spPr>
        <p:txBody>
          <a:bodyPr wrap="none" anchor="ctr"/>
          <a:lstStyle/>
          <a:p>
            <a:pPr algn="ctr"/>
            <a:r>
              <a:rPr lang="en-US" sz="800" dirty="0">
                <a:cs typeface="Arial" pitchFamily="34" charset="0"/>
              </a:rPr>
              <a:t>DPvol</a:t>
            </a:r>
          </a:p>
        </p:txBody>
      </p:sp>
      <p:sp>
        <p:nvSpPr>
          <p:cNvPr id="116" name="Rectangle 35"/>
          <p:cNvSpPr>
            <a:spLocks noChangeArrowheads="1"/>
          </p:cNvSpPr>
          <p:nvPr/>
        </p:nvSpPr>
        <p:spPr bwMode="auto">
          <a:xfrm>
            <a:off x="4495784" y="3904963"/>
            <a:ext cx="276890" cy="518281"/>
          </a:xfrm>
          <a:prstGeom prst="rect">
            <a:avLst/>
          </a:prstGeom>
          <a:solidFill>
            <a:schemeClr val="bg1"/>
          </a:solidFill>
          <a:ln w="9525">
            <a:solidFill>
              <a:schemeClr val="tx1"/>
            </a:solidFill>
            <a:prstDash val="dash"/>
            <a:miter lim="800000"/>
            <a:headEnd/>
            <a:tailEnd/>
          </a:ln>
        </p:spPr>
        <p:txBody>
          <a:bodyPr wrap="none" anchor="ctr"/>
          <a:lstStyle/>
          <a:p>
            <a:pPr algn="ctr"/>
            <a:r>
              <a:rPr lang="en-US" sz="800" dirty="0">
                <a:cs typeface="Arial" pitchFamily="34" charset="0"/>
              </a:rPr>
              <a:t>DPvol</a:t>
            </a:r>
          </a:p>
        </p:txBody>
      </p:sp>
      <p:sp>
        <p:nvSpPr>
          <p:cNvPr id="117" name="Rectangle 35"/>
          <p:cNvSpPr>
            <a:spLocks noChangeArrowheads="1"/>
          </p:cNvSpPr>
          <p:nvPr/>
        </p:nvSpPr>
        <p:spPr bwMode="auto">
          <a:xfrm>
            <a:off x="4774014" y="3904963"/>
            <a:ext cx="276890" cy="518281"/>
          </a:xfrm>
          <a:prstGeom prst="rect">
            <a:avLst/>
          </a:prstGeom>
          <a:solidFill>
            <a:schemeClr val="bg1"/>
          </a:solidFill>
          <a:ln w="9525">
            <a:solidFill>
              <a:schemeClr val="tx1"/>
            </a:solidFill>
            <a:prstDash val="dash"/>
            <a:miter lim="800000"/>
            <a:headEnd/>
            <a:tailEnd/>
          </a:ln>
        </p:spPr>
        <p:txBody>
          <a:bodyPr wrap="none" anchor="ctr"/>
          <a:lstStyle/>
          <a:p>
            <a:pPr algn="ctr"/>
            <a:r>
              <a:rPr lang="en-US" sz="800" dirty="0">
                <a:cs typeface="Arial" pitchFamily="34" charset="0"/>
              </a:rPr>
              <a:t>DPvol</a:t>
            </a:r>
          </a:p>
        </p:txBody>
      </p:sp>
      <p:sp>
        <p:nvSpPr>
          <p:cNvPr id="118" name="Rectangle 35"/>
          <p:cNvSpPr>
            <a:spLocks noChangeArrowheads="1"/>
          </p:cNvSpPr>
          <p:nvPr/>
        </p:nvSpPr>
        <p:spPr bwMode="auto">
          <a:xfrm>
            <a:off x="2828828" y="3225938"/>
            <a:ext cx="276890" cy="454865"/>
          </a:xfrm>
          <a:prstGeom prst="rect">
            <a:avLst/>
          </a:prstGeom>
          <a:solidFill>
            <a:srgbClr val="009999"/>
          </a:solidFill>
          <a:ln w="9525">
            <a:solidFill>
              <a:schemeClr val="tx1"/>
            </a:solidFill>
            <a:miter lim="800000"/>
            <a:headEnd/>
            <a:tailEnd/>
          </a:ln>
        </p:spPr>
        <p:txBody>
          <a:bodyPr wrap="none" anchor="ctr"/>
          <a:lstStyle/>
          <a:p>
            <a:pPr algn="ctr"/>
            <a:r>
              <a:rPr lang="en-US" sz="1000" dirty="0">
                <a:cs typeface="Arial" pitchFamily="34" charset="0"/>
              </a:rPr>
              <a:t>SD</a:t>
            </a:r>
          </a:p>
        </p:txBody>
      </p:sp>
      <p:sp>
        <p:nvSpPr>
          <p:cNvPr id="123" name="Line 26"/>
          <p:cNvSpPr>
            <a:spLocks noChangeShapeType="1"/>
          </p:cNvSpPr>
          <p:nvPr/>
        </p:nvSpPr>
        <p:spPr bwMode="auto">
          <a:xfrm rot="10800000" flipH="1" flipV="1">
            <a:off x="2967273" y="3681031"/>
            <a:ext cx="1" cy="218269"/>
          </a:xfrm>
          <a:prstGeom prst="line">
            <a:avLst/>
          </a:prstGeom>
          <a:noFill/>
          <a:ln w="9525">
            <a:solidFill>
              <a:schemeClr val="tx1"/>
            </a:solidFill>
            <a:round/>
            <a:headEnd type="triangle"/>
            <a:tailEnd type="none" w="med" len="med"/>
          </a:ln>
        </p:spPr>
        <p:txBody>
          <a:bodyPr/>
          <a:lstStyle/>
          <a:p>
            <a:endParaRPr lang="en-US"/>
          </a:p>
        </p:txBody>
      </p:sp>
      <p:sp>
        <p:nvSpPr>
          <p:cNvPr id="124" name="Line 26"/>
          <p:cNvSpPr>
            <a:spLocks noChangeShapeType="1"/>
          </p:cNvSpPr>
          <p:nvPr/>
        </p:nvSpPr>
        <p:spPr bwMode="auto">
          <a:xfrm rot="10800000" flipH="1" flipV="1">
            <a:off x="3237847" y="3681031"/>
            <a:ext cx="1" cy="218269"/>
          </a:xfrm>
          <a:prstGeom prst="line">
            <a:avLst/>
          </a:prstGeom>
          <a:noFill/>
          <a:ln w="9525">
            <a:solidFill>
              <a:schemeClr val="tx1"/>
            </a:solidFill>
            <a:round/>
            <a:headEnd type="triangle"/>
            <a:tailEnd type="none" w="med" len="med"/>
          </a:ln>
        </p:spPr>
        <p:txBody>
          <a:bodyPr/>
          <a:lstStyle/>
          <a:p>
            <a:endParaRPr lang="en-US"/>
          </a:p>
        </p:txBody>
      </p:sp>
      <p:sp>
        <p:nvSpPr>
          <p:cNvPr id="125" name="Line 26"/>
          <p:cNvSpPr>
            <a:spLocks noChangeShapeType="1"/>
          </p:cNvSpPr>
          <p:nvPr/>
        </p:nvSpPr>
        <p:spPr bwMode="auto">
          <a:xfrm rot="10800000" flipH="1" flipV="1">
            <a:off x="3518459" y="3681031"/>
            <a:ext cx="1" cy="218269"/>
          </a:xfrm>
          <a:prstGeom prst="line">
            <a:avLst/>
          </a:prstGeom>
          <a:noFill/>
          <a:ln w="9525">
            <a:solidFill>
              <a:schemeClr val="tx1"/>
            </a:solidFill>
            <a:round/>
            <a:headEnd type="triangle"/>
            <a:tailEnd type="none" w="med" len="med"/>
          </a:ln>
        </p:spPr>
        <p:txBody>
          <a:bodyPr/>
          <a:lstStyle/>
          <a:p>
            <a:endParaRPr lang="en-US"/>
          </a:p>
        </p:txBody>
      </p:sp>
      <p:sp>
        <p:nvSpPr>
          <p:cNvPr id="126" name="Line 26"/>
          <p:cNvSpPr>
            <a:spLocks noChangeShapeType="1"/>
          </p:cNvSpPr>
          <p:nvPr/>
        </p:nvSpPr>
        <p:spPr bwMode="auto">
          <a:xfrm rot="10800000" flipH="1" flipV="1">
            <a:off x="3797243" y="3681031"/>
            <a:ext cx="1" cy="218269"/>
          </a:xfrm>
          <a:prstGeom prst="line">
            <a:avLst/>
          </a:prstGeom>
          <a:noFill/>
          <a:ln w="9525">
            <a:solidFill>
              <a:schemeClr val="tx1"/>
            </a:solidFill>
            <a:round/>
            <a:headEnd type="triangle"/>
            <a:tailEnd type="none" w="med" len="med"/>
          </a:ln>
        </p:spPr>
        <p:txBody>
          <a:bodyPr/>
          <a:lstStyle/>
          <a:p>
            <a:endParaRPr lang="en-US"/>
          </a:p>
        </p:txBody>
      </p:sp>
      <p:sp>
        <p:nvSpPr>
          <p:cNvPr id="127" name="Line 26"/>
          <p:cNvSpPr>
            <a:spLocks noChangeShapeType="1"/>
          </p:cNvSpPr>
          <p:nvPr/>
        </p:nvSpPr>
        <p:spPr bwMode="auto">
          <a:xfrm rot="10800000" flipH="1" flipV="1">
            <a:off x="4082810" y="3681031"/>
            <a:ext cx="1" cy="218269"/>
          </a:xfrm>
          <a:prstGeom prst="line">
            <a:avLst/>
          </a:prstGeom>
          <a:noFill/>
          <a:ln w="9525">
            <a:solidFill>
              <a:schemeClr val="tx1"/>
            </a:solidFill>
            <a:round/>
            <a:headEnd type="triangle"/>
            <a:tailEnd type="none" w="med" len="med"/>
          </a:ln>
        </p:spPr>
        <p:txBody>
          <a:bodyPr/>
          <a:lstStyle/>
          <a:p>
            <a:endParaRPr lang="en-US"/>
          </a:p>
        </p:txBody>
      </p:sp>
      <p:sp>
        <p:nvSpPr>
          <p:cNvPr id="128" name="Line 26"/>
          <p:cNvSpPr>
            <a:spLocks noChangeShapeType="1"/>
          </p:cNvSpPr>
          <p:nvPr/>
        </p:nvSpPr>
        <p:spPr bwMode="auto">
          <a:xfrm rot="10800000" flipH="1" flipV="1">
            <a:off x="4363560" y="3681031"/>
            <a:ext cx="1" cy="218269"/>
          </a:xfrm>
          <a:prstGeom prst="line">
            <a:avLst/>
          </a:prstGeom>
          <a:noFill/>
          <a:ln w="9525">
            <a:solidFill>
              <a:schemeClr val="tx1"/>
            </a:solidFill>
            <a:round/>
            <a:headEnd type="triangle"/>
            <a:tailEnd type="none" w="med" len="med"/>
          </a:ln>
        </p:spPr>
        <p:txBody>
          <a:bodyPr/>
          <a:lstStyle/>
          <a:p>
            <a:endParaRPr lang="en-US"/>
          </a:p>
        </p:txBody>
      </p:sp>
      <p:sp>
        <p:nvSpPr>
          <p:cNvPr id="129" name="Line 26"/>
          <p:cNvSpPr>
            <a:spLocks noChangeShapeType="1"/>
          </p:cNvSpPr>
          <p:nvPr/>
        </p:nvSpPr>
        <p:spPr bwMode="auto">
          <a:xfrm rot="10800000" flipH="1" flipV="1">
            <a:off x="4634229" y="3681031"/>
            <a:ext cx="1" cy="218269"/>
          </a:xfrm>
          <a:prstGeom prst="line">
            <a:avLst/>
          </a:prstGeom>
          <a:noFill/>
          <a:ln w="9525">
            <a:solidFill>
              <a:schemeClr val="tx1"/>
            </a:solidFill>
            <a:round/>
            <a:headEnd type="triangle"/>
            <a:tailEnd type="none" w="med" len="med"/>
          </a:ln>
        </p:spPr>
        <p:txBody>
          <a:bodyPr/>
          <a:lstStyle/>
          <a:p>
            <a:endParaRPr lang="en-US"/>
          </a:p>
        </p:txBody>
      </p:sp>
      <p:sp>
        <p:nvSpPr>
          <p:cNvPr id="130" name="Line 26"/>
          <p:cNvSpPr>
            <a:spLocks noChangeShapeType="1"/>
          </p:cNvSpPr>
          <p:nvPr/>
        </p:nvSpPr>
        <p:spPr bwMode="auto">
          <a:xfrm rot="10800000" flipH="1" flipV="1">
            <a:off x="4927304" y="3681031"/>
            <a:ext cx="1" cy="218269"/>
          </a:xfrm>
          <a:prstGeom prst="line">
            <a:avLst/>
          </a:prstGeom>
          <a:noFill/>
          <a:ln w="9525">
            <a:solidFill>
              <a:schemeClr val="tx1"/>
            </a:solidFill>
            <a:round/>
            <a:headEnd type="triangle"/>
            <a:tailEnd type="none" w="med" len="med"/>
          </a:ln>
        </p:spPr>
        <p:txBody>
          <a:bodyPr/>
          <a:lstStyle/>
          <a:p>
            <a:endParaRPr lang="en-US"/>
          </a:p>
        </p:txBody>
      </p:sp>
      <p:grpSp>
        <p:nvGrpSpPr>
          <p:cNvPr id="2" name="Group 1"/>
          <p:cNvGrpSpPr/>
          <p:nvPr/>
        </p:nvGrpSpPr>
        <p:grpSpPr>
          <a:xfrm>
            <a:off x="226839" y="952009"/>
            <a:ext cx="2908643" cy="726504"/>
            <a:chOff x="-110155" y="783948"/>
            <a:chExt cx="3245637" cy="894565"/>
          </a:xfrm>
        </p:grpSpPr>
        <p:sp>
          <p:nvSpPr>
            <p:cNvPr id="14" name="Text Box 87"/>
            <p:cNvSpPr txBox="1">
              <a:spLocks noChangeArrowheads="1"/>
            </p:cNvSpPr>
            <p:nvPr/>
          </p:nvSpPr>
          <p:spPr bwMode="auto">
            <a:xfrm>
              <a:off x="85212" y="1383495"/>
              <a:ext cx="1294219" cy="276999"/>
            </a:xfrm>
            <a:prstGeom prst="rect">
              <a:avLst/>
            </a:prstGeom>
            <a:noFill/>
            <a:ln w="9525">
              <a:noFill/>
              <a:miter lim="800000"/>
              <a:headEnd/>
              <a:tailEnd/>
            </a:ln>
          </p:spPr>
          <p:txBody>
            <a:bodyPr>
              <a:spAutoFit/>
            </a:bodyPr>
            <a:lstStyle/>
            <a:p>
              <a:pPr algn="ctr">
                <a:spcBef>
                  <a:spcPct val="50000"/>
                </a:spcBef>
              </a:pPr>
              <a:r>
                <a:rPr lang="en-US" sz="1200" dirty="0"/>
                <a:t>Chunks</a:t>
              </a:r>
            </a:p>
          </p:txBody>
        </p:sp>
        <p:sp>
          <p:nvSpPr>
            <p:cNvPr id="16" name="Text Box 38"/>
            <p:cNvSpPr txBox="1">
              <a:spLocks noChangeArrowheads="1"/>
            </p:cNvSpPr>
            <p:nvPr/>
          </p:nvSpPr>
          <p:spPr bwMode="auto">
            <a:xfrm>
              <a:off x="-110155" y="819707"/>
              <a:ext cx="1309933" cy="276999"/>
            </a:xfrm>
            <a:prstGeom prst="rect">
              <a:avLst/>
            </a:prstGeom>
            <a:noFill/>
            <a:ln w="9525">
              <a:noFill/>
              <a:miter lim="800000"/>
              <a:headEnd/>
              <a:tailEnd/>
            </a:ln>
          </p:spPr>
          <p:txBody>
            <a:bodyPr wrap="square">
              <a:spAutoFit/>
            </a:bodyPr>
            <a:lstStyle/>
            <a:p>
              <a:pPr algn="r">
                <a:spcBef>
                  <a:spcPct val="50000"/>
                </a:spcBef>
              </a:pPr>
              <a:r>
                <a:rPr lang="en-US" sz="1200" dirty="0"/>
                <a:t>File System</a:t>
              </a:r>
            </a:p>
          </p:txBody>
        </p:sp>
        <p:sp>
          <p:nvSpPr>
            <p:cNvPr id="80" name="Rectangle 73"/>
            <p:cNvSpPr>
              <a:spLocks noChangeArrowheads="1"/>
            </p:cNvSpPr>
            <p:nvPr/>
          </p:nvSpPr>
          <p:spPr bwMode="auto">
            <a:xfrm>
              <a:off x="1206555" y="783949"/>
              <a:ext cx="321150" cy="336121"/>
            </a:xfrm>
            <a:prstGeom prst="rect">
              <a:avLst/>
            </a:prstGeom>
            <a:solidFill>
              <a:srgbClr val="99CCFF"/>
            </a:solidFill>
            <a:ln w="9525">
              <a:solidFill>
                <a:schemeClr val="tx1"/>
              </a:solidFill>
              <a:miter lim="800000"/>
              <a:headEnd/>
              <a:tailEnd/>
            </a:ln>
          </p:spPr>
          <p:txBody>
            <a:bodyPr rot="10800000" wrap="none" anchor="ctr"/>
            <a:lstStyle/>
            <a:p>
              <a:pPr algn="ctr"/>
              <a:endParaRPr lang="en-US" sz="1200">
                <a:cs typeface="Arial" pitchFamily="34" charset="0"/>
              </a:endParaRPr>
            </a:p>
          </p:txBody>
        </p:sp>
        <p:sp>
          <p:nvSpPr>
            <p:cNvPr id="83" name="Line 20"/>
            <p:cNvSpPr>
              <a:spLocks noChangeShapeType="1"/>
            </p:cNvSpPr>
            <p:nvPr/>
          </p:nvSpPr>
          <p:spPr bwMode="auto">
            <a:xfrm rot="10800000" flipH="1" flipV="1">
              <a:off x="1531543" y="1126669"/>
              <a:ext cx="0" cy="152360"/>
            </a:xfrm>
            <a:prstGeom prst="line">
              <a:avLst/>
            </a:prstGeom>
            <a:noFill/>
            <a:ln w="9525">
              <a:solidFill>
                <a:schemeClr val="tx1"/>
              </a:solidFill>
              <a:round/>
              <a:headEnd type="triangle"/>
              <a:tailEnd type="none" w="med" len="med"/>
            </a:ln>
          </p:spPr>
          <p:txBody>
            <a:bodyPr/>
            <a:lstStyle/>
            <a:p>
              <a:endParaRPr lang="en-US" sz="1200"/>
            </a:p>
          </p:txBody>
        </p:sp>
        <p:sp>
          <p:nvSpPr>
            <p:cNvPr id="68" name="Rectangle 73"/>
            <p:cNvSpPr>
              <a:spLocks noChangeArrowheads="1"/>
            </p:cNvSpPr>
            <p:nvPr/>
          </p:nvSpPr>
          <p:spPr bwMode="auto">
            <a:xfrm>
              <a:off x="1527705" y="783949"/>
              <a:ext cx="321150" cy="336121"/>
            </a:xfrm>
            <a:prstGeom prst="rect">
              <a:avLst/>
            </a:prstGeom>
            <a:solidFill>
              <a:srgbClr val="99CCFF"/>
            </a:solidFill>
            <a:ln w="9525">
              <a:solidFill>
                <a:schemeClr val="tx1"/>
              </a:solidFill>
              <a:miter lim="800000"/>
              <a:headEnd/>
              <a:tailEnd/>
            </a:ln>
          </p:spPr>
          <p:txBody>
            <a:bodyPr rot="10800000" wrap="none" anchor="ctr"/>
            <a:lstStyle/>
            <a:p>
              <a:pPr algn="ctr"/>
              <a:endParaRPr lang="en-US" sz="1200">
                <a:cs typeface="Arial" pitchFamily="34" charset="0"/>
              </a:endParaRPr>
            </a:p>
          </p:txBody>
        </p:sp>
        <p:sp>
          <p:nvSpPr>
            <p:cNvPr id="85" name="Rectangle 73"/>
            <p:cNvSpPr>
              <a:spLocks noChangeArrowheads="1"/>
            </p:cNvSpPr>
            <p:nvPr/>
          </p:nvSpPr>
          <p:spPr bwMode="auto">
            <a:xfrm>
              <a:off x="1848855" y="783949"/>
              <a:ext cx="321150" cy="336121"/>
            </a:xfrm>
            <a:prstGeom prst="rect">
              <a:avLst/>
            </a:prstGeom>
            <a:solidFill>
              <a:srgbClr val="99CCFF"/>
            </a:solidFill>
            <a:ln w="9525">
              <a:solidFill>
                <a:schemeClr val="tx1"/>
              </a:solidFill>
              <a:miter lim="800000"/>
              <a:headEnd/>
              <a:tailEnd/>
            </a:ln>
          </p:spPr>
          <p:txBody>
            <a:bodyPr rot="10800000" wrap="none" anchor="ctr"/>
            <a:lstStyle/>
            <a:p>
              <a:pPr algn="ctr"/>
              <a:endParaRPr lang="en-US" sz="1200">
                <a:cs typeface="Arial" pitchFamily="34" charset="0"/>
              </a:endParaRPr>
            </a:p>
          </p:txBody>
        </p:sp>
        <p:sp>
          <p:nvSpPr>
            <p:cNvPr id="86" name="Rectangle 73"/>
            <p:cNvSpPr>
              <a:spLocks noChangeArrowheads="1"/>
            </p:cNvSpPr>
            <p:nvPr/>
          </p:nvSpPr>
          <p:spPr bwMode="auto">
            <a:xfrm>
              <a:off x="1210260" y="1342392"/>
              <a:ext cx="321150" cy="336121"/>
            </a:xfrm>
            <a:prstGeom prst="rect">
              <a:avLst/>
            </a:prstGeom>
            <a:solidFill>
              <a:srgbClr val="99CCFF"/>
            </a:solidFill>
            <a:ln w="9525">
              <a:solidFill>
                <a:schemeClr val="tx1"/>
              </a:solidFill>
              <a:miter lim="800000"/>
              <a:headEnd/>
              <a:tailEnd/>
            </a:ln>
          </p:spPr>
          <p:txBody>
            <a:bodyPr rot="10800000" wrap="none" anchor="ctr"/>
            <a:lstStyle/>
            <a:p>
              <a:pPr algn="ctr"/>
              <a:endParaRPr lang="en-US" sz="1200">
                <a:cs typeface="Arial" pitchFamily="34" charset="0"/>
              </a:endParaRPr>
            </a:p>
          </p:txBody>
        </p:sp>
        <p:sp>
          <p:nvSpPr>
            <p:cNvPr id="87" name="Rectangle 73"/>
            <p:cNvSpPr>
              <a:spLocks noChangeArrowheads="1"/>
            </p:cNvSpPr>
            <p:nvPr/>
          </p:nvSpPr>
          <p:spPr bwMode="auto">
            <a:xfrm>
              <a:off x="1531410" y="1342392"/>
              <a:ext cx="321150" cy="336121"/>
            </a:xfrm>
            <a:prstGeom prst="rect">
              <a:avLst/>
            </a:prstGeom>
            <a:solidFill>
              <a:srgbClr val="99CCFF"/>
            </a:solidFill>
            <a:ln w="9525">
              <a:solidFill>
                <a:schemeClr val="tx1"/>
              </a:solidFill>
              <a:miter lim="800000"/>
              <a:headEnd/>
              <a:tailEnd/>
            </a:ln>
          </p:spPr>
          <p:txBody>
            <a:bodyPr rot="10800000" wrap="none" anchor="ctr"/>
            <a:lstStyle/>
            <a:p>
              <a:pPr algn="ctr"/>
              <a:endParaRPr lang="en-US" sz="1200">
                <a:cs typeface="Arial" pitchFamily="34" charset="0"/>
              </a:endParaRPr>
            </a:p>
          </p:txBody>
        </p:sp>
        <p:sp>
          <p:nvSpPr>
            <p:cNvPr id="88" name="Rectangle 73"/>
            <p:cNvSpPr>
              <a:spLocks noChangeArrowheads="1"/>
            </p:cNvSpPr>
            <p:nvPr/>
          </p:nvSpPr>
          <p:spPr bwMode="auto">
            <a:xfrm>
              <a:off x="1852560" y="1342392"/>
              <a:ext cx="321150" cy="336121"/>
            </a:xfrm>
            <a:prstGeom prst="rect">
              <a:avLst/>
            </a:prstGeom>
            <a:solidFill>
              <a:srgbClr val="99CCFF"/>
            </a:solidFill>
            <a:ln w="9525">
              <a:solidFill>
                <a:schemeClr val="tx1"/>
              </a:solidFill>
              <a:miter lim="800000"/>
              <a:headEnd/>
              <a:tailEnd/>
            </a:ln>
          </p:spPr>
          <p:txBody>
            <a:bodyPr rot="10800000" wrap="none" anchor="ctr"/>
            <a:lstStyle/>
            <a:p>
              <a:pPr algn="ctr"/>
              <a:endParaRPr lang="en-US" sz="1200">
                <a:cs typeface="Arial" pitchFamily="34" charset="0"/>
              </a:endParaRPr>
            </a:p>
          </p:txBody>
        </p:sp>
        <p:sp>
          <p:nvSpPr>
            <p:cNvPr id="131" name="Rectangle 73"/>
            <p:cNvSpPr>
              <a:spLocks noChangeArrowheads="1"/>
            </p:cNvSpPr>
            <p:nvPr/>
          </p:nvSpPr>
          <p:spPr bwMode="auto">
            <a:xfrm>
              <a:off x="2172032" y="1342392"/>
              <a:ext cx="321150" cy="336121"/>
            </a:xfrm>
            <a:prstGeom prst="rect">
              <a:avLst/>
            </a:prstGeom>
            <a:solidFill>
              <a:schemeClr val="accent3"/>
            </a:solidFill>
            <a:ln w="9525">
              <a:solidFill>
                <a:schemeClr val="tx1"/>
              </a:solidFill>
              <a:miter lim="800000"/>
              <a:headEnd/>
              <a:tailEnd/>
            </a:ln>
          </p:spPr>
          <p:txBody>
            <a:bodyPr rot="10800000" wrap="none" anchor="ctr"/>
            <a:lstStyle/>
            <a:p>
              <a:pPr algn="ctr"/>
              <a:endParaRPr lang="en-US" sz="1200">
                <a:cs typeface="Arial" pitchFamily="34" charset="0"/>
              </a:endParaRPr>
            </a:p>
          </p:txBody>
        </p:sp>
        <p:sp>
          <p:nvSpPr>
            <p:cNvPr id="132" name="Rectangle 73"/>
            <p:cNvSpPr>
              <a:spLocks noChangeArrowheads="1"/>
            </p:cNvSpPr>
            <p:nvPr/>
          </p:nvSpPr>
          <p:spPr bwMode="auto">
            <a:xfrm>
              <a:off x="2493182" y="1342392"/>
              <a:ext cx="321150" cy="336121"/>
            </a:xfrm>
            <a:prstGeom prst="rect">
              <a:avLst/>
            </a:prstGeom>
            <a:solidFill>
              <a:schemeClr val="accent3"/>
            </a:solidFill>
            <a:ln w="9525">
              <a:solidFill>
                <a:schemeClr val="tx1"/>
              </a:solidFill>
              <a:miter lim="800000"/>
              <a:headEnd/>
              <a:tailEnd/>
            </a:ln>
          </p:spPr>
          <p:txBody>
            <a:bodyPr rot="10800000" wrap="none" anchor="ctr"/>
            <a:lstStyle/>
            <a:p>
              <a:pPr algn="ctr"/>
              <a:endParaRPr lang="en-US" sz="1200">
                <a:cs typeface="Arial" pitchFamily="34" charset="0"/>
              </a:endParaRPr>
            </a:p>
          </p:txBody>
        </p:sp>
        <p:sp>
          <p:nvSpPr>
            <p:cNvPr id="133" name="Rectangle 73"/>
            <p:cNvSpPr>
              <a:spLocks noChangeArrowheads="1"/>
            </p:cNvSpPr>
            <p:nvPr/>
          </p:nvSpPr>
          <p:spPr bwMode="auto">
            <a:xfrm>
              <a:off x="2814332" y="1342392"/>
              <a:ext cx="321150" cy="336121"/>
            </a:xfrm>
            <a:prstGeom prst="rect">
              <a:avLst/>
            </a:prstGeom>
            <a:solidFill>
              <a:schemeClr val="accent3"/>
            </a:solidFill>
            <a:ln w="9525">
              <a:solidFill>
                <a:schemeClr val="tx1"/>
              </a:solidFill>
              <a:miter lim="800000"/>
              <a:headEnd/>
              <a:tailEnd/>
            </a:ln>
          </p:spPr>
          <p:txBody>
            <a:bodyPr rot="10800000" wrap="none" anchor="ctr"/>
            <a:lstStyle/>
            <a:p>
              <a:pPr algn="ctr"/>
              <a:endParaRPr lang="en-US" sz="1200">
                <a:cs typeface="Arial" pitchFamily="34" charset="0"/>
              </a:endParaRPr>
            </a:p>
          </p:txBody>
        </p:sp>
        <p:sp>
          <p:nvSpPr>
            <p:cNvPr id="134" name="Rectangle 73"/>
            <p:cNvSpPr>
              <a:spLocks noChangeArrowheads="1"/>
            </p:cNvSpPr>
            <p:nvPr/>
          </p:nvSpPr>
          <p:spPr bwMode="auto">
            <a:xfrm>
              <a:off x="2172032" y="783948"/>
              <a:ext cx="321150" cy="336121"/>
            </a:xfrm>
            <a:prstGeom prst="rect">
              <a:avLst/>
            </a:prstGeom>
            <a:solidFill>
              <a:schemeClr val="accent3"/>
            </a:solidFill>
            <a:ln w="9525">
              <a:solidFill>
                <a:schemeClr val="tx1"/>
              </a:solidFill>
              <a:miter lim="800000"/>
              <a:headEnd/>
              <a:tailEnd/>
            </a:ln>
          </p:spPr>
          <p:txBody>
            <a:bodyPr rot="10800000" wrap="none" anchor="ctr"/>
            <a:lstStyle/>
            <a:p>
              <a:pPr algn="ctr"/>
              <a:endParaRPr lang="en-US" sz="1200">
                <a:cs typeface="Arial" pitchFamily="34" charset="0"/>
              </a:endParaRPr>
            </a:p>
          </p:txBody>
        </p:sp>
        <p:sp>
          <p:nvSpPr>
            <p:cNvPr id="135" name="Rectangle 73"/>
            <p:cNvSpPr>
              <a:spLocks noChangeArrowheads="1"/>
            </p:cNvSpPr>
            <p:nvPr/>
          </p:nvSpPr>
          <p:spPr bwMode="auto">
            <a:xfrm>
              <a:off x="2493182" y="783948"/>
              <a:ext cx="321150" cy="336121"/>
            </a:xfrm>
            <a:prstGeom prst="rect">
              <a:avLst/>
            </a:prstGeom>
            <a:solidFill>
              <a:schemeClr val="accent3"/>
            </a:solidFill>
            <a:ln w="9525">
              <a:solidFill>
                <a:schemeClr val="tx1"/>
              </a:solidFill>
              <a:miter lim="800000"/>
              <a:headEnd/>
              <a:tailEnd/>
            </a:ln>
          </p:spPr>
          <p:txBody>
            <a:bodyPr rot="10800000" wrap="none" anchor="ctr"/>
            <a:lstStyle/>
            <a:p>
              <a:pPr algn="ctr"/>
              <a:endParaRPr lang="en-US" sz="1200">
                <a:cs typeface="Arial" pitchFamily="34" charset="0"/>
              </a:endParaRPr>
            </a:p>
          </p:txBody>
        </p:sp>
        <p:sp>
          <p:nvSpPr>
            <p:cNvPr id="136" name="Rectangle 73"/>
            <p:cNvSpPr>
              <a:spLocks noChangeArrowheads="1"/>
            </p:cNvSpPr>
            <p:nvPr/>
          </p:nvSpPr>
          <p:spPr bwMode="auto">
            <a:xfrm>
              <a:off x="2814332" y="783948"/>
              <a:ext cx="321150" cy="336121"/>
            </a:xfrm>
            <a:prstGeom prst="rect">
              <a:avLst/>
            </a:prstGeom>
            <a:solidFill>
              <a:schemeClr val="accent3"/>
            </a:solidFill>
            <a:ln w="9525">
              <a:solidFill>
                <a:schemeClr val="tx1"/>
              </a:solidFill>
              <a:miter lim="800000"/>
              <a:headEnd/>
              <a:tailEnd/>
            </a:ln>
          </p:spPr>
          <p:txBody>
            <a:bodyPr rot="10800000" wrap="none" anchor="ctr"/>
            <a:lstStyle/>
            <a:p>
              <a:pPr algn="ctr"/>
              <a:endParaRPr lang="en-US" sz="1200">
                <a:cs typeface="Arial" pitchFamily="34" charset="0"/>
              </a:endParaRPr>
            </a:p>
          </p:txBody>
        </p:sp>
      </p:grpSp>
      <p:sp>
        <p:nvSpPr>
          <p:cNvPr id="137" name="Rectangle 35"/>
          <p:cNvSpPr>
            <a:spLocks noChangeArrowheads="1"/>
          </p:cNvSpPr>
          <p:nvPr/>
        </p:nvSpPr>
        <p:spPr bwMode="auto">
          <a:xfrm>
            <a:off x="501950" y="4771476"/>
            <a:ext cx="553780" cy="270836"/>
          </a:xfrm>
          <a:prstGeom prst="rect">
            <a:avLst/>
          </a:prstGeom>
          <a:solidFill>
            <a:srgbClr val="3366FF"/>
          </a:solidFill>
          <a:ln w="9525">
            <a:solidFill>
              <a:schemeClr val="tx1"/>
            </a:solidFill>
            <a:miter lim="800000"/>
            <a:headEnd/>
            <a:tailEnd/>
          </a:ln>
        </p:spPr>
        <p:txBody>
          <a:bodyPr wrap="none" anchor="ctr"/>
          <a:lstStyle/>
          <a:p>
            <a:pPr algn="ctr"/>
            <a:r>
              <a:rPr lang="en-US" sz="1200" dirty="0">
                <a:cs typeface="Arial" pitchFamily="34" charset="0"/>
              </a:rPr>
              <a:t>RG</a:t>
            </a:r>
          </a:p>
        </p:txBody>
      </p:sp>
      <p:sp>
        <p:nvSpPr>
          <p:cNvPr id="138" name="Rectangle 35"/>
          <p:cNvSpPr>
            <a:spLocks noChangeArrowheads="1"/>
          </p:cNvSpPr>
          <p:nvPr/>
        </p:nvSpPr>
        <p:spPr bwMode="auto">
          <a:xfrm>
            <a:off x="1063927" y="4771476"/>
            <a:ext cx="553780" cy="270836"/>
          </a:xfrm>
          <a:prstGeom prst="rect">
            <a:avLst/>
          </a:prstGeom>
          <a:solidFill>
            <a:srgbClr val="3366FF"/>
          </a:solidFill>
          <a:ln w="9525">
            <a:solidFill>
              <a:schemeClr val="tx1"/>
            </a:solidFill>
            <a:miter lim="800000"/>
            <a:headEnd/>
            <a:tailEnd/>
          </a:ln>
        </p:spPr>
        <p:txBody>
          <a:bodyPr wrap="none" anchor="ctr"/>
          <a:lstStyle/>
          <a:p>
            <a:pPr algn="ctr"/>
            <a:r>
              <a:rPr lang="en-US" sz="1200" dirty="0">
                <a:cs typeface="Arial" pitchFamily="34" charset="0"/>
              </a:rPr>
              <a:t>RG</a:t>
            </a:r>
          </a:p>
        </p:txBody>
      </p:sp>
      <p:sp>
        <p:nvSpPr>
          <p:cNvPr id="139" name="Rectangle 35"/>
          <p:cNvSpPr>
            <a:spLocks noChangeArrowheads="1"/>
          </p:cNvSpPr>
          <p:nvPr/>
        </p:nvSpPr>
        <p:spPr bwMode="auto">
          <a:xfrm>
            <a:off x="1616225" y="4771476"/>
            <a:ext cx="553780" cy="270836"/>
          </a:xfrm>
          <a:prstGeom prst="rect">
            <a:avLst/>
          </a:prstGeom>
          <a:solidFill>
            <a:srgbClr val="3366FF"/>
          </a:solidFill>
          <a:ln w="9525">
            <a:solidFill>
              <a:schemeClr val="tx1"/>
            </a:solidFill>
            <a:miter lim="800000"/>
            <a:headEnd/>
            <a:tailEnd/>
          </a:ln>
        </p:spPr>
        <p:txBody>
          <a:bodyPr wrap="none" anchor="ctr"/>
          <a:lstStyle/>
          <a:p>
            <a:pPr algn="ctr"/>
            <a:r>
              <a:rPr lang="en-US" sz="1200" dirty="0">
                <a:cs typeface="Arial" pitchFamily="34" charset="0"/>
              </a:rPr>
              <a:t>RG</a:t>
            </a:r>
          </a:p>
        </p:txBody>
      </p:sp>
      <p:sp>
        <p:nvSpPr>
          <p:cNvPr id="140" name="Rectangle 35"/>
          <p:cNvSpPr>
            <a:spLocks noChangeArrowheads="1"/>
          </p:cNvSpPr>
          <p:nvPr/>
        </p:nvSpPr>
        <p:spPr bwMode="auto">
          <a:xfrm>
            <a:off x="2178202" y="4771476"/>
            <a:ext cx="553780" cy="270836"/>
          </a:xfrm>
          <a:prstGeom prst="rect">
            <a:avLst/>
          </a:prstGeom>
          <a:solidFill>
            <a:srgbClr val="3366FF"/>
          </a:solidFill>
          <a:ln w="9525">
            <a:solidFill>
              <a:schemeClr val="tx1"/>
            </a:solidFill>
            <a:miter lim="800000"/>
            <a:headEnd/>
            <a:tailEnd/>
          </a:ln>
        </p:spPr>
        <p:txBody>
          <a:bodyPr wrap="none" anchor="ctr"/>
          <a:lstStyle/>
          <a:p>
            <a:pPr algn="ctr"/>
            <a:r>
              <a:rPr lang="en-US" sz="1200" dirty="0">
                <a:cs typeface="Arial" pitchFamily="34" charset="0"/>
              </a:rPr>
              <a:t>RG</a:t>
            </a:r>
          </a:p>
        </p:txBody>
      </p:sp>
      <p:sp>
        <p:nvSpPr>
          <p:cNvPr id="69" name="Rectangle 35"/>
          <p:cNvSpPr>
            <a:spLocks noChangeArrowheads="1"/>
          </p:cNvSpPr>
          <p:nvPr/>
        </p:nvSpPr>
        <p:spPr bwMode="auto">
          <a:xfrm>
            <a:off x="3390700" y="4771476"/>
            <a:ext cx="553780" cy="270836"/>
          </a:xfrm>
          <a:prstGeom prst="rect">
            <a:avLst/>
          </a:prstGeom>
          <a:solidFill>
            <a:schemeClr val="bg1"/>
          </a:solidFill>
          <a:ln w="9525">
            <a:solidFill>
              <a:srgbClr val="0000FF"/>
            </a:solidFill>
            <a:prstDash val="dash"/>
            <a:miter lim="800000"/>
            <a:headEnd/>
            <a:tailEnd/>
          </a:ln>
        </p:spPr>
        <p:txBody>
          <a:bodyPr wrap="none" anchor="ctr"/>
          <a:lstStyle/>
          <a:p>
            <a:pPr algn="ctr"/>
            <a:r>
              <a:rPr lang="en-US" sz="1200" dirty="0">
                <a:cs typeface="Arial" pitchFamily="34" charset="0"/>
              </a:rPr>
              <a:t>RG</a:t>
            </a:r>
          </a:p>
        </p:txBody>
      </p:sp>
      <p:sp>
        <p:nvSpPr>
          <p:cNvPr id="142" name="Rectangle 35"/>
          <p:cNvSpPr>
            <a:spLocks noChangeArrowheads="1"/>
          </p:cNvSpPr>
          <p:nvPr/>
        </p:nvSpPr>
        <p:spPr bwMode="auto">
          <a:xfrm>
            <a:off x="3389706" y="4495669"/>
            <a:ext cx="553780" cy="270836"/>
          </a:xfrm>
          <a:prstGeom prst="rect">
            <a:avLst/>
          </a:prstGeom>
          <a:solidFill>
            <a:schemeClr val="bg1"/>
          </a:solidFill>
          <a:ln w="9525">
            <a:solidFill>
              <a:srgbClr val="0000FF"/>
            </a:solidFill>
            <a:prstDash val="dash"/>
            <a:miter lim="800000"/>
            <a:headEnd/>
            <a:tailEnd/>
          </a:ln>
        </p:spPr>
        <p:txBody>
          <a:bodyPr wrap="none" anchor="ctr"/>
          <a:lstStyle/>
          <a:p>
            <a:pPr algn="ctr"/>
            <a:r>
              <a:rPr lang="en-US" sz="1200" dirty="0">
                <a:cs typeface="Arial" pitchFamily="34" charset="0"/>
              </a:rPr>
              <a:t>RG</a:t>
            </a:r>
          </a:p>
        </p:txBody>
      </p:sp>
      <p:sp>
        <p:nvSpPr>
          <p:cNvPr id="148" name="Rectangle 35"/>
          <p:cNvSpPr>
            <a:spLocks noChangeArrowheads="1"/>
          </p:cNvSpPr>
          <p:nvPr/>
        </p:nvSpPr>
        <p:spPr bwMode="auto">
          <a:xfrm>
            <a:off x="3939443" y="4773133"/>
            <a:ext cx="553780" cy="270836"/>
          </a:xfrm>
          <a:prstGeom prst="rect">
            <a:avLst/>
          </a:prstGeom>
          <a:solidFill>
            <a:schemeClr val="bg1"/>
          </a:solidFill>
          <a:ln w="9525">
            <a:solidFill>
              <a:srgbClr val="0000FF"/>
            </a:solidFill>
            <a:prstDash val="dash"/>
            <a:miter lim="800000"/>
            <a:headEnd/>
            <a:tailEnd/>
          </a:ln>
        </p:spPr>
        <p:txBody>
          <a:bodyPr wrap="none" anchor="ctr"/>
          <a:lstStyle/>
          <a:p>
            <a:pPr algn="ctr"/>
            <a:r>
              <a:rPr lang="en-US" sz="1200" dirty="0">
                <a:cs typeface="Arial" pitchFamily="34" charset="0"/>
              </a:rPr>
              <a:t>RG</a:t>
            </a:r>
          </a:p>
        </p:txBody>
      </p:sp>
      <p:sp>
        <p:nvSpPr>
          <p:cNvPr id="149" name="Rectangle 35"/>
          <p:cNvSpPr>
            <a:spLocks noChangeArrowheads="1"/>
          </p:cNvSpPr>
          <p:nvPr/>
        </p:nvSpPr>
        <p:spPr bwMode="auto">
          <a:xfrm>
            <a:off x="3938449" y="4495669"/>
            <a:ext cx="553780" cy="270836"/>
          </a:xfrm>
          <a:prstGeom prst="rect">
            <a:avLst/>
          </a:prstGeom>
          <a:solidFill>
            <a:schemeClr val="bg1"/>
          </a:solidFill>
          <a:ln w="9525">
            <a:solidFill>
              <a:srgbClr val="0000FF"/>
            </a:solidFill>
            <a:prstDash val="dash"/>
            <a:miter lim="800000"/>
            <a:headEnd/>
            <a:tailEnd/>
          </a:ln>
        </p:spPr>
        <p:txBody>
          <a:bodyPr wrap="none" anchor="ctr"/>
          <a:lstStyle/>
          <a:p>
            <a:pPr algn="ctr"/>
            <a:r>
              <a:rPr lang="en-US" sz="1200" dirty="0">
                <a:cs typeface="Arial" pitchFamily="34" charset="0"/>
              </a:rPr>
              <a:t>RG</a:t>
            </a:r>
          </a:p>
        </p:txBody>
      </p:sp>
      <p:sp>
        <p:nvSpPr>
          <p:cNvPr id="151" name="Rectangle 35"/>
          <p:cNvSpPr>
            <a:spLocks noChangeArrowheads="1"/>
          </p:cNvSpPr>
          <p:nvPr/>
        </p:nvSpPr>
        <p:spPr bwMode="auto">
          <a:xfrm>
            <a:off x="4493223" y="4769818"/>
            <a:ext cx="553780" cy="270836"/>
          </a:xfrm>
          <a:prstGeom prst="rect">
            <a:avLst/>
          </a:prstGeom>
          <a:solidFill>
            <a:schemeClr val="bg1"/>
          </a:solidFill>
          <a:ln w="9525">
            <a:solidFill>
              <a:srgbClr val="0000FF"/>
            </a:solidFill>
            <a:prstDash val="dash"/>
            <a:miter lim="800000"/>
            <a:headEnd/>
            <a:tailEnd/>
          </a:ln>
        </p:spPr>
        <p:txBody>
          <a:bodyPr wrap="none" anchor="ctr"/>
          <a:lstStyle/>
          <a:p>
            <a:pPr algn="ctr"/>
            <a:r>
              <a:rPr lang="en-US" sz="1200" dirty="0">
                <a:cs typeface="Arial" pitchFamily="34" charset="0"/>
              </a:rPr>
              <a:t>RG</a:t>
            </a:r>
          </a:p>
        </p:txBody>
      </p:sp>
      <p:sp>
        <p:nvSpPr>
          <p:cNvPr id="152" name="Rectangle 35"/>
          <p:cNvSpPr>
            <a:spLocks noChangeArrowheads="1"/>
          </p:cNvSpPr>
          <p:nvPr/>
        </p:nvSpPr>
        <p:spPr bwMode="auto">
          <a:xfrm>
            <a:off x="4492229" y="4495669"/>
            <a:ext cx="553780" cy="270836"/>
          </a:xfrm>
          <a:prstGeom prst="rect">
            <a:avLst/>
          </a:prstGeom>
          <a:solidFill>
            <a:schemeClr val="bg1"/>
          </a:solidFill>
          <a:ln w="9525">
            <a:solidFill>
              <a:srgbClr val="0000FF"/>
            </a:solidFill>
            <a:prstDash val="dash"/>
            <a:miter lim="800000"/>
            <a:headEnd/>
            <a:tailEnd/>
          </a:ln>
        </p:spPr>
        <p:txBody>
          <a:bodyPr wrap="none" anchor="ctr"/>
          <a:lstStyle/>
          <a:p>
            <a:pPr algn="ctr"/>
            <a:r>
              <a:rPr lang="en-US" sz="1200" dirty="0">
                <a:cs typeface="Arial" pitchFamily="34" charset="0"/>
              </a:rPr>
              <a:t>RG</a:t>
            </a:r>
          </a:p>
        </p:txBody>
      </p:sp>
      <p:sp>
        <p:nvSpPr>
          <p:cNvPr id="154" name="Rectangle 35"/>
          <p:cNvSpPr>
            <a:spLocks noChangeArrowheads="1"/>
          </p:cNvSpPr>
          <p:nvPr/>
        </p:nvSpPr>
        <p:spPr bwMode="auto">
          <a:xfrm>
            <a:off x="2840356" y="4769818"/>
            <a:ext cx="553780" cy="270836"/>
          </a:xfrm>
          <a:prstGeom prst="rect">
            <a:avLst/>
          </a:prstGeom>
          <a:solidFill>
            <a:schemeClr val="bg1"/>
          </a:solidFill>
          <a:ln w="9525">
            <a:solidFill>
              <a:srgbClr val="0000FF"/>
            </a:solidFill>
            <a:prstDash val="dash"/>
            <a:miter lim="800000"/>
            <a:headEnd/>
            <a:tailEnd/>
          </a:ln>
        </p:spPr>
        <p:txBody>
          <a:bodyPr wrap="none" anchor="ctr"/>
          <a:lstStyle/>
          <a:p>
            <a:pPr algn="ctr"/>
            <a:r>
              <a:rPr lang="en-US" sz="1200" dirty="0">
                <a:cs typeface="Arial" pitchFamily="34" charset="0"/>
              </a:rPr>
              <a:t>RG</a:t>
            </a:r>
          </a:p>
        </p:txBody>
      </p:sp>
      <p:sp>
        <p:nvSpPr>
          <p:cNvPr id="155" name="Rectangle 35"/>
          <p:cNvSpPr>
            <a:spLocks noChangeArrowheads="1"/>
          </p:cNvSpPr>
          <p:nvPr/>
        </p:nvSpPr>
        <p:spPr bwMode="auto">
          <a:xfrm>
            <a:off x="2839362" y="4495669"/>
            <a:ext cx="553780" cy="270836"/>
          </a:xfrm>
          <a:prstGeom prst="rect">
            <a:avLst/>
          </a:prstGeom>
          <a:solidFill>
            <a:schemeClr val="bg1"/>
          </a:solidFill>
          <a:ln w="9525">
            <a:solidFill>
              <a:srgbClr val="0000FF"/>
            </a:solidFill>
            <a:prstDash val="dash"/>
            <a:miter lim="800000"/>
            <a:headEnd/>
            <a:tailEnd/>
          </a:ln>
        </p:spPr>
        <p:txBody>
          <a:bodyPr wrap="none" anchor="ctr"/>
          <a:lstStyle/>
          <a:p>
            <a:pPr algn="ctr"/>
            <a:r>
              <a:rPr lang="en-US" sz="1200" dirty="0">
                <a:cs typeface="Arial" pitchFamily="34" charset="0"/>
              </a:rPr>
              <a:t>RG</a:t>
            </a:r>
          </a:p>
        </p:txBody>
      </p:sp>
      <p:sp>
        <p:nvSpPr>
          <p:cNvPr id="156" name="Text Box 38"/>
          <p:cNvSpPr txBox="1">
            <a:spLocks noChangeArrowheads="1"/>
          </p:cNvSpPr>
          <p:nvPr/>
        </p:nvSpPr>
        <p:spPr bwMode="auto">
          <a:xfrm>
            <a:off x="5269392" y="836652"/>
            <a:ext cx="3748451" cy="4478149"/>
          </a:xfrm>
          <a:prstGeom prst="rect">
            <a:avLst/>
          </a:prstGeom>
        </p:spPr>
        <p:txBody>
          <a:bodyPr vert="horz" wrap="square" lIns="91440" tIns="45720" rIns="91440" bIns="45720" rtlCol="0">
            <a:spAutoFit/>
          </a:bodyPr>
          <a:lstStyle>
            <a:lvl1pPr marL="280988" indent="-280988">
              <a:lnSpc>
                <a:spcPct val="100000"/>
              </a:lnSpc>
              <a:spcBef>
                <a:spcPts val="1200"/>
              </a:spcBef>
              <a:spcAft>
                <a:spcPts val="600"/>
              </a:spcAft>
              <a:buClr>
                <a:schemeClr val="accent2"/>
              </a:buClr>
              <a:buFont typeface="Arial" panose="020B0604020202020204" pitchFamily="34" charset="0"/>
              <a:buChar char="•"/>
              <a:defRPr lang="en-US" sz="1600" dirty="0" smtClean="0"/>
            </a:lvl1pPr>
            <a:lvl2pPr marL="574675" lvl="1" indent="-293688">
              <a:lnSpc>
                <a:spcPct val="95000"/>
              </a:lnSpc>
              <a:spcBef>
                <a:spcPct val="20000"/>
              </a:spcBef>
              <a:spcAft>
                <a:spcPts val="800"/>
              </a:spcAft>
              <a:buFontTx/>
              <a:buChar char="‒"/>
              <a:defRPr lang="en-US" sz="1600" dirty="0" smtClean="0"/>
            </a:lvl2pPr>
            <a:lvl3pPr marL="855663" lvl="2" indent="-280988">
              <a:lnSpc>
                <a:spcPct val="95000"/>
              </a:lnSpc>
              <a:spcBef>
                <a:spcPts val="0"/>
              </a:spcBef>
              <a:spcAft>
                <a:spcPts val="800"/>
              </a:spcAft>
              <a:buFontTx/>
              <a:buChar char="‒"/>
              <a:defRPr lang="en-US" sz="1600" dirty="0" smtClean="0"/>
            </a:lvl3pPr>
            <a:lvl4pPr marL="1090613" indent="-234950">
              <a:lnSpc>
                <a:spcPct val="95000"/>
              </a:lnSpc>
              <a:spcBef>
                <a:spcPts val="0"/>
              </a:spcBef>
              <a:spcAft>
                <a:spcPts val="800"/>
              </a:spcAft>
              <a:buFontTx/>
              <a:buChar char="‒"/>
              <a:defRPr lang="en-US" sz="1400" dirty="0" smtClean="0"/>
            </a:lvl4pPr>
            <a:lvl5pPr marL="1312863" indent="-222250">
              <a:lnSpc>
                <a:spcPct val="95000"/>
              </a:lnSpc>
              <a:spcBef>
                <a:spcPts val="0"/>
              </a:spcBef>
              <a:spcAft>
                <a:spcPts val="800"/>
              </a:spcAft>
              <a:buFontTx/>
              <a:buChar char="‒"/>
              <a:defRPr lang="en-US" sz="1200"/>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r>
              <a:rPr lang="en-US" sz="1400" dirty="0"/>
              <a:t>Additional thin DP volumes (equal in size to the original volumes) are created within the DP pool and presented to the HNAS.</a:t>
            </a:r>
          </a:p>
          <a:p>
            <a:r>
              <a:rPr lang="en-US" sz="1400" dirty="0"/>
              <a:t>Span is expanded (by another stripe set)</a:t>
            </a:r>
          </a:p>
          <a:p>
            <a:r>
              <a:rPr lang="en-US" sz="1400" dirty="0"/>
              <a:t>The addition of the stripeset alters the overall oversubscription back to the 2:1 ratio.</a:t>
            </a:r>
          </a:p>
          <a:p>
            <a:r>
              <a:rPr lang="en-US" sz="1400" dirty="0"/>
              <a:t>Since the Span now has 2X more SDs, the q-depth may require tuning.</a:t>
            </a:r>
          </a:p>
          <a:p>
            <a:r>
              <a:rPr lang="en-US" sz="1400" dirty="0"/>
              <a:t>This process can be repeated until the max span capacity reaches 1PB, although a span can only be expanded a maximum of 63 times and has a 60k max chunk limit.</a:t>
            </a:r>
          </a:p>
          <a:p>
            <a:endParaRPr lang="en-US" sz="1400" dirty="0"/>
          </a:p>
        </p:txBody>
      </p:sp>
    </p:spTree>
    <p:extLst>
      <p:ext uri="{BB962C8B-B14F-4D97-AF65-F5344CB8AC3E}">
        <p14:creationId xmlns:p14="http://schemas.microsoft.com/office/powerpoint/2010/main" val="3574394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mph" presetSubtype="2" fill="hold" nodeType="withEffect">
                                  <p:stCondLst>
                                    <p:cond delay="0"/>
                                  </p:stCondLst>
                                  <p:childTnLst>
                                    <p:animClr clrSpc="rgb" dir="cw">
                                      <p:cBhvr>
                                        <p:cTn id="6" dur="1000" fill="hold"/>
                                        <p:tgtEl>
                                          <p:spTgt spid="154"/>
                                        </p:tgtEl>
                                        <p:attrNameLst>
                                          <p:attrName>fillcolor</p:attrName>
                                        </p:attrNameLst>
                                      </p:cBhvr>
                                      <p:to>
                                        <a:srgbClr val="3366FF"/>
                                      </p:to>
                                    </p:animClr>
                                    <p:set>
                                      <p:cBhvr>
                                        <p:cTn id="7" dur="1000" fill="hold"/>
                                        <p:tgtEl>
                                          <p:spTgt spid="154"/>
                                        </p:tgtEl>
                                        <p:attrNameLst>
                                          <p:attrName>fill.type</p:attrName>
                                        </p:attrNameLst>
                                      </p:cBhvr>
                                      <p:to>
                                        <p:strVal val="solid"/>
                                      </p:to>
                                    </p:set>
                                    <p:set>
                                      <p:cBhvr>
                                        <p:cTn id="8" dur="1000" fill="hold"/>
                                        <p:tgtEl>
                                          <p:spTgt spid="154"/>
                                        </p:tgtEl>
                                        <p:attrNameLst>
                                          <p:attrName>fill.on</p:attrName>
                                        </p:attrNameLst>
                                      </p:cBhvr>
                                      <p:to>
                                        <p:strVal val="true"/>
                                      </p:to>
                                    </p:set>
                                  </p:childTnLst>
                                </p:cTn>
                              </p:par>
                            </p:childTnLst>
                          </p:cTn>
                        </p:par>
                        <p:par>
                          <p:cTn id="9" fill="hold">
                            <p:stCondLst>
                              <p:cond delay="1000"/>
                            </p:stCondLst>
                            <p:childTnLst>
                              <p:par>
                                <p:cTn id="10" presetID="1" presetClass="emph" presetSubtype="2" fill="hold" nodeType="afterEffect">
                                  <p:stCondLst>
                                    <p:cond delay="0"/>
                                  </p:stCondLst>
                                  <p:childTnLst>
                                    <p:animClr clrSpc="rgb" dir="cw">
                                      <p:cBhvr>
                                        <p:cTn id="11" dur="1000" fill="hold"/>
                                        <p:tgtEl>
                                          <p:spTgt spid="155"/>
                                        </p:tgtEl>
                                        <p:attrNameLst>
                                          <p:attrName>fillcolor</p:attrName>
                                        </p:attrNameLst>
                                      </p:cBhvr>
                                      <p:to>
                                        <a:srgbClr val="3366FF"/>
                                      </p:to>
                                    </p:animClr>
                                    <p:set>
                                      <p:cBhvr>
                                        <p:cTn id="12" dur="1000" fill="hold"/>
                                        <p:tgtEl>
                                          <p:spTgt spid="155"/>
                                        </p:tgtEl>
                                        <p:attrNameLst>
                                          <p:attrName>fill.type</p:attrName>
                                        </p:attrNameLst>
                                      </p:cBhvr>
                                      <p:to>
                                        <p:strVal val="solid"/>
                                      </p:to>
                                    </p:set>
                                    <p:set>
                                      <p:cBhvr>
                                        <p:cTn id="13" dur="1000" fill="hold"/>
                                        <p:tgtEl>
                                          <p:spTgt spid="155"/>
                                        </p:tgtEl>
                                        <p:attrNameLst>
                                          <p:attrName>fill.on</p:attrName>
                                        </p:attrNameLst>
                                      </p:cBhvr>
                                      <p:to>
                                        <p:strVal val="true"/>
                                      </p:to>
                                    </p:set>
                                  </p:childTnLst>
                                </p:cTn>
                              </p:par>
                            </p:childTnLst>
                          </p:cTn>
                        </p:par>
                        <p:par>
                          <p:cTn id="14" fill="hold">
                            <p:stCondLst>
                              <p:cond delay="2000"/>
                            </p:stCondLst>
                            <p:childTnLst>
                              <p:par>
                                <p:cTn id="15" presetID="1" presetClass="emph" presetSubtype="2" fill="hold" nodeType="afterEffect">
                                  <p:stCondLst>
                                    <p:cond delay="0"/>
                                  </p:stCondLst>
                                  <p:childTnLst>
                                    <p:animClr clrSpc="rgb" dir="cw">
                                      <p:cBhvr>
                                        <p:cTn id="16" dur="1000" fill="hold"/>
                                        <p:tgtEl>
                                          <p:spTgt spid="69"/>
                                        </p:tgtEl>
                                        <p:attrNameLst>
                                          <p:attrName>fillcolor</p:attrName>
                                        </p:attrNameLst>
                                      </p:cBhvr>
                                      <p:to>
                                        <a:srgbClr val="3366FF"/>
                                      </p:to>
                                    </p:animClr>
                                    <p:set>
                                      <p:cBhvr>
                                        <p:cTn id="17" dur="1000" fill="hold"/>
                                        <p:tgtEl>
                                          <p:spTgt spid="69"/>
                                        </p:tgtEl>
                                        <p:attrNameLst>
                                          <p:attrName>fill.type</p:attrName>
                                        </p:attrNameLst>
                                      </p:cBhvr>
                                      <p:to>
                                        <p:strVal val="solid"/>
                                      </p:to>
                                    </p:set>
                                    <p:set>
                                      <p:cBhvr>
                                        <p:cTn id="18" dur="1000" fill="hold"/>
                                        <p:tgtEl>
                                          <p:spTgt spid="69"/>
                                        </p:tgtEl>
                                        <p:attrNameLst>
                                          <p:attrName>fill.on</p:attrName>
                                        </p:attrNameLst>
                                      </p:cBhvr>
                                      <p:to>
                                        <p:strVal val="true"/>
                                      </p:to>
                                    </p:set>
                                  </p:childTnLst>
                                </p:cTn>
                              </p:par>
                            </p:childTnLst>
                          </p:cTn>
                        </p:par>
                        <p:par>
                          <p:cTn id="19" fill="hold">
                            <p:stCondLst>
                              <p:cond delay="3000"/>
                            </p:stCondLst>
                            <p:childTnLst>
                              <p:par>
                                <p:cTn id="20" presetID="1" presetClass="emph" presetSubtype="2" fill="hold" nodeType="afterEffect">
                                  <p:stCondLst>
                                    <p:cond delay="0"/>
                                  </p:stCondLst>
                                  <p:childTnLst>
                                    <p:animClr clrSpc="rgb" dir="cw">
                                      <p:cBhvr>
                                        <p:cTn id="21" dur="1000" fill="hold"/>
                                        <p:tgtEl>
                                          <p:spTgt spid="142"/>
                                        </p:tgtEl>
                                        <p:attrNameLst>
                                          <p:attrName>fillcolor</p:attrName>
                                        </p:attrNameLst>
                                      </p:cBhvr>
                                      <p:to>
                                        <a:srgbClr val="3366FF"/>
                                      </p:to>
                                    </p:animClr>
                                    <p:set>
                                      <p:cBhvr>
                                        <p:cTn id="22" dur="1000" fill="hold"/>
                                        <p:tgtEl>
                                          <p:spTgt spid="142"/>
                                        </p:tgtEl>
                                        <p:attrNameLst>
                                          <p:attrName>fill.type</p:attrName>
                                        </p:attrNameLst>
                                      </p:cBhvr>
                                      <p:to>
                                        <p:strVal val="solid"/>
                                      </p:to>
                                    </p:set>
                                    <p:set>
                                      <p:cBhvr>
                                        <p:cTn id="23" dur="1000" fill="hold"/>
                                        <p:tgtEl>
                                          <p:spTgt spid="142"/>
                                        </p:tgtEl>
                                        <p:attrNameLst>
                                          <p:attrName>fill.on</p:attrName>
                                        </p:attrNameLst>
                                      </p:cBhvr>
                                      <p:to>
                                        <p:strVal val="true"/>
                                      </p:to>
                                    </p:set>
                                  </p:childTnLst>
                                </p:cTn>
                              </p:par>
                            </p:childTnLst>
                          </p:cTn>
                        </p:par>
                        <p:par>
                          <p:cTn id="24" fill="hold">
                            <p:stCondLst>
                              <p:cond delay="4000"/>
                            </p:stCondLst>
                            <p:childTnLst>
                              <p:par>
                                <p:cTn id="25" presetID="1" presetClass="emph" presetSubtype="2" fill="hold" nodeType="afterEffect">
                                  <p:stCondLst>
                                    <p:cond delay="0"/>
                                  </p:stCondLst>
                                  <p:childTnLst>
                                    <p:animClr clrSpc="rgb" dir="cw">
                                      <p:cBhvr>
                                        <p:cTn id="26" dur="1000" fill="hold"/>
                                        <p:tgtEl>
                                          <p:spTgt spid="148"/>
                                        </p:tgtEl>
                                        <p:attrNameLst>
                                          <p:attrName>fillcolor</p:attrName>
                                        </p:attrNameLst>
                                      </p:cBhvr>
                                      <p:to>
                                        <a:srgbClr val="3366FF"/>
                                      </p:to>
                                    </p:animClr>
                                    <p:set>
                                      <p:cBhvr>
                                        <p:cTn id="27" dur="1000" fill="hold"/>
                                        <p:tgtEl>
                                          <p:spTgt spid="148"/>
                                        </p:tgtEl>
                                        <p:attrNameLst>
                                          <p:attrName>fill.type</p:attrName>
                                        </p:attrNameLst>
                                      </p:cBhvr>
                                      <p:to>
                                        <p:strVal val="solid"/>
                                      </p:to>
                                    </p:set>
                                    <p:set>
                                      <p:cBhvr>
                                        <p:cTn id="28" dur="1000" fill="hold"/>
                                        <p:tgtEl>
                                          <p:spTgt spid="148"/>
                                        </p:tgtEl>
                                        <p:attrNameLst>
                                          <p:attrName>fill.on</p:attrName>
                                        </p:attrNameLst>
                                      </p:cBhvr>
                                      <p:to>
                                        <p:strVal val="true"/>
                                      </p:to>
                                    </p:set>
                                  </p:childTnLst>
                                </p:cTn>
                              </p:par>
                            </p:childTnLst>
                          </p:cTn>
                        </p:par>
                        <p:par>
                          <p:cTn id="29" fill="hold">
                            <p:stCondLst>
                              <p:cond delay="5000"/>
                            </p:stCondLst>
                            <p:childTnLst>
                              <p:par>
                                <p:cTn id="30" presetID="1" presetClass="emph" presetSubtype="2" fill="hold" nodeType="afterEffect">
                                  <p:stCondLst>
                                    <p:cond delay="0"/>
                                  </p:stCondLst>
                                  <p:childTnLst>
                                    <p:animClr clrSpc="rgb" dir="cw">
                                      <p:cBhvr>
                                        <p:cTn id="31" dur="1000" fill="hold"/>
                                        <p:tgtEl>
                                          <p:spTgt spid="149"/>
                                        </p:tgtEl>
                                        <p:attrNameLst>
                                          <p:attrName>fillcolor</p:attrName>
                                        </p:attrNameLst>
                                      </p:cBhvr>
                                      <p:to>
                                        <a:srgbClr val="3366FF"/>
                                      </p:to>
                                    </p:animClr>
                                    <p:set>
                                      <p:cBhvr>
                                        <p:cTn id="32" dur="1000" fill="hold"/>
                                        <p:tgtEl>
                                          <p:spTgt spid="149"/>
                                        </p:tgtEl>
                                        <p:attrNameLst>
                                          <p:attrName>fill.type</p:attrName>
                                        </p:attrNameLst>
                                      </p:cBhvr>
                                      <p:to>
                                        <p:strVal val="solid"/>
                                      </p:to>
                                    </p:set>
                                    <p:set>
                                      <p:cBhvr>
                                        <p:cTn id="33" dur="1000" fill="hold"/>
                                        <p:tgtEl>
                                          <p:spTgt spid="149"/>
                                        </p:tgtEl>
                                        <p:attrNameLst>
                                          <p:attrName>fill.on</p:attrName>
                                        </p:attrNameLst>
                                      </p:cBhvr>
                                      <p:to>
                                        <p:strVal val="true"/>
                                      </p:to>
                                    </p:set>
                                  </p:childTnLst>
                                </p:cTn>
                              </p:par>
                            </p:childTnLst>
                          </p:cTn>
                        </p:par>
                        <p:par>
                          <p:cTn id="34" fill="hold">
                            <p:stCondLst>
                              <p:cond delay="6000"/>
                            </p:stCondLst>
                            <p:childTnLst>
                              <p:par>
                                <p:cTn id="35" presetID="1" presetClass="emph" presetSubtype="2" fill="hold" nodeType="afterEffect">
                                  <p:stCondLst>
                                    <p:cond delay="0"/>
                                  </p:stCondLst>
                                  <p:childTnLst>
                                    <p:animClr clrSpc="rgb" dir="cw">
                                      <p:cBhvr>
                                        <p:cTn id="36" dur="1000" fill="hold"/>
                                        <p:tgtEl>
                                          <p:spTgt spid="151"/>
                                        </p:tgtEl>
                                        <p:attrNameLst>
                                          <p:attrName>fillcolor</p:attrName>
                                        </p:attrNameLst>
                                      </p:cBhvr>
                                      <p:to>
                                        <a:srgbClr val="3366FF"/>
                                      </p:to>
                                    </p:animClr>
                                    <p:set>
                                      <p:cBhvr>
                                        <p:cTn id="37" dur="1000" fill="hold"/>
                                        <p:tgtEl>
                                          <p:spTgt spid="151"/>
                                        </p:tgtEl>
                                        <p:attrNameLst>
                                          <p:attrName>fill.type</p:attrName>
                                        </p:attrNameLst>
                                      </p:cBhvr>
                                      <p:to>
                                        <p:strVal val="solid"/>
                                      </p:to>
                                    </p:set>
                                    <p:set>
                                      <p:cBhvr>
                                        <p:cTn id="38" dur="1000" fill="hold"/>
                                        <p:tgtEl>
                                          <p:spTgt spid="151"/>
                                        </p:tgtEl>
                                        <p:attrNameLst>
                                          <p:attrName>fill.on</p:attrName>
                                        </p:attrNameLst>
                                      </p:cBhvr>
                                      <p:to>
                                        <p:strVal val="true"/>
                                      </p:to>
                                    </p:set>
                                  </p:childTnLst>
                                </p:cTn>
                              </p:par>
                            </p:childTnLst>
                          </p:cTn>
                        </p:par>
                        <p:par>
                          <p:cTn id="39" fill="hold">
                            <p:stCondLst>
                              <p:cond delay="7000"/>
                            </p:stCondLst>
                            <p:childTnLst>
                              <p:par>
                                <p:cTn id="40" presetID="1" presetClass="emph" presetSubtype="2" fill="hold" nodeType="afterEffect">
                                  <p:stCondLst>
                                    <p:cond delay="0"/>
                                  </p:stCondLst>
                                  <p:childTnLst>
                                    <p:animClr clrSpc="rgb" dir="cw">
                                      <p:cBhvr>
                                        <p:cTn id="41" dur="1000" fill="hold"/>
                                        <p:tgtEl>
                                          <p:spTgt spid="152"/>
                                        </p:tgtEl>
                                        <p:attrNameLst>
                                          <p:attrName>fillcolor</p:attrName>
                                        </p:attrNameLst>
                                      </p:cBhvr>
                                      <p:to>
                                        <a:srgbClr val="3366FF"/>
                                      </p:to>
                                    </p:animClr>
                                    <p:set>
                                      <p:cBhvr>
                                        <p:cTn id="42" dur="1000" fill="hold"/>
                                        <p:tgtEl>
                                          <p:spTgt spid="152"/>
                                        </p:tgtEl>
                                        <p:attrNameLst>
                                          <p:attrName>fill.type</p:attrName>
                                        </p:attrNameLst>
                                      </p:cBhvr>
                                      <p:to>
                                        <p:strVal val="solid"/>
                                      </p:to>
                                    </p:set>
                                    <p:set>
                                      <p:cBhvr>
                                        <p:cTn id="43" dur="1000" fill="hold"/>
                                        <p:tgtEl>
                                          <p:spTgt spid="152"/>
                                        </p:tgtEl>
                                        <p:attrNameLst>
                                          <p:attrName>fill.on</p:attrName>
                                        </p:attrNameLst>
                                      </p:cBhvr>
                                      <p:to>
                                        <p:strVal val="true"/>
                                      </p:to>
                                    </p:set>
                                  </p:childTnLst>
                                </p:cTn>
                              </p:par>
                            </p:childTnLst>
                          </p:cTn>
                        </p:par>
                      </p:childTnLst>
                    </p:cTn>
                  </p:par>
                  <p:par>
                    <p:cTn id="44" fill="hold">
                      <p:stCondLst>
                        <p:cond delay="indefinite"/>
                      </p:stCondLst>
                      <p:childTnLst>
                        <p:par>
                          <p:cTn id="45" fill="hold">
                            <p:stCondLst>
                              <p:cond delay="0"/>
                            </p:stCondLst>
                            <p:childTnLst>
                              <p:par>
                                <p:cTn id="46" presetID="1" presetClass="emph" presetSubtype="2" fill="hold" nodeType="clickEffect">
                                  <p:stCondLst>
                                    <p:cond delay="0"/>
                                  </p:stCondLst>
                                  <p:childTnLst>
                                    <p:animClr clrSpc="rgb" dir="cw">
                                      <p:cBhvr>
                                        <p:cTn id="47" dur="5000" fill="hold"/>
                                        <p:tgtEl>
                                          <p:spTgt spid="56"/>
                                        </p:tgtEl>
                                        <p:attrNameLst>
                                          <p:attrName>fillcolor</p:attrName>
                                        </p:attrNameLst>
                                      </p:cBhvr>
                                      <p:to>
                                        <a:srgbClr val="3366FF"/>
                                      </p:to>
                                    </p:animClr>
                                    <p:set>
                                      <p:cBhvr>
                                        <p:cTn id="48" dur="5000" fill="hold"/>
                                        <p:tgtEl>
                                          <p:spTgt spid="56"/>
                                        </p:tgtEl>
                                        <p:attrNameLst>
                                          <p:attrName>fill.type</p:attrName>
                                        </p:attrNameLst>
                                      </p:cBhvr>
                                      <p:to>
                                        <p:strVal val="solid"/>
                                      </p:to>
                                    </p:set>
                                    <p:set>
                                      <p:cBhvr>
                                        <p:cTn id="49" dur="5000" fill="hold"/>
                                        <p:tgtEl>
                                          <p:spTgt spid="56"/>
                                        </p:tgtEl>
                                        <p:attrNameLst>
                                          <p:attrName>fill.on</p:attrName>
                                        </p:attrNameLst>
                                      </p:cBhvr>
                                      <p:to>
                                        <p:strVal val="true"/>
                                      </p:to>
                                    </p:set>
                                  </p:childTnLst>
                                </p:cTn>
                              </p:par>
                              <p:par>
                                <p:cTn id="50" presetID="1" presetClass="emph" presetSubtype="2" fill="hold" nodeType="withEffect">
                                  <p:stCondLst>
                                    <p:cond delay="0"/>
                                  </p:stCondLst>
                                  <p:childTnLst>
                                    <p:animClr clrSpc="rgb" dir="cw">
                                      <p:cBhvr>
                                        <p:cTn id="51" dur="5000" fill="hold"/>
                                        <p:tgtEl>
                                          <p:spTgt spid="78"/>
                                        </p:tgtEl>
                                        <p:attrNameLst>
                                          <p:attrName>fillcolor</p:attrName>
                                        </p:attrNameLst>
                                      </p:cBhvr>
                                      <p:to>
                                        <a:srgbClr val="3366FF"/>
                                      </p:to>
                                    </p:animClr>
                                    <p:set>
                                      <p:cBhvr>
                                        <p:cTn id="52" dur="5000" fill="hold"/>
                                        <p:tgtEl>
                                          <p:spTgt spid="78"/>
                                        </p:tgtEl>
                                        <p:attrNameLst>
                                          <p:attrName>fill.type</p:attrName>
                                        </p:attrNameLst>
                                      </p:cBhvr>
                                      <p:to>
                                        <p:strVal val="solid"/>
                                      </p:to>
                                    </p:set>
                                    <p:set>
                                      <p:cBhvr>
                                        <p:cTn id="53" dur="5000" fill="hold"/>
                                        <p:tgtEl>
                                          <p:spTgt spid="78"/>
                                        </p:tgtEl>
                                        <p:attrNameLst>
                                          <p:attrName>fill.on</p:attrName>
                                        </p:attrNameLst>
                                      </p:cBhvr>
                                      <p:to>
                                        <p:strVal val="true"/>
                                      </p:to>
                                    </p:set>
                                  </p:childTnLst>
                                </p:cTn>
                              </p:par>
                              <p:par>
                                <p:cTn id="54" presetID="1" presetClass="emph" presetSubtype="2" fill="hold" nodeType="withEffect">
                                  <p:stCondLst>
                                    <p:cond delay="0"/>
                                  </p:stCondLst>
                                  <p:childTnLst>
                                    <p:animClr clrSpc="rgb" dir="cw">
                                      <p:cBhvr>
                                        <p:cTn id="55" dur="5000" fill="hold"/>
                                        <p:tgtEl>
                                          <p:spTgt spid="79"/>
                                        </p:tgtEl>
                                        <p:attrNameLst>
                                          <p:attrName>fillcolor</p:attrName>
                                        </p:attrNameLst>
                                      </p:cBhvr>
                                      <p:to>
                                        <a:srgbClr val="3366FF"/>
                                      </p:to>
                                    </p:animClr>
                                    <p:set>
                                      <p:cBhvr>
                                        <p:cTn id="56" dur="5000" fill="hold"/>
                                        <p:tgtEl>
                                          <p:spTgt spid="79"/>
                                        </p:tgtEl>
                                        <p:attrNameLst>
                                          <p:attrName>fill.type</p:attrName>
                                        </p:attrNameLst>
                                      </p:cBhvr>
                                      <p:to>
                                        <p:strVal val="solid"/>
                                      </p:to>
                                    </p:set>
                                    <p:set>
                                      <p:cBhvr>
                                        <p:cTn id="57" dur="5000" fill="hold"/>
                                        <p:tgtEl>
                                          <p:spTgt spid="79"/>
                                        </p:tgtEl>
                                        <p:attrNameLst>
                                          <p:attrName>fill.on</p:attrName>
                                        </p:attrNameLst>
                                      </p:cBhvr>
                                      <p:to>
                                        <p:strVal val="true"/>
                                      </p:to>
                                    </p:set>
                                  </p:childTnLst>
                                </p:cTn>
                              </p:par>
                              <p:par>
                                <p:cTn id="58" presetID="1" presetClass="emph" presetSubtype="2" fill="hold" nodeType="withEffect">
                                  <p:stCondLst>
                                    <p:cond delay="0"/>
                                  </p:stCondLst>
                                  <p:childTnLst>
                                    <p:animClr clrSpc="rgb" dir="cw">
                                      <p:cBhvr>
                                        <p:cTn id="59" dur="5000" fill="hold"/>
                                        <p:tgtEl>
                                          <p:spTgt spid="81"/>
                                        </p:tgtEl>
                                        <p:attrNameLst>
                                          <p:attrName>fillcolor</p:attrName>
                                        </p:attrNameLst>
                                      </p:cBhvr>
                                      <p:to>
                                        <a:srgbClr val="3366FF"/>
                                      </p:to>
                                    </p:animClr>
                                    <p:set>
                                      <p:cBhvr>
                                        <p:cTn id="60" dur="5000" fill="hold"/>
                                        <p:tgtEl>
                                          <p:spTgt spid="81"/>
                                        </p:tgtEl>
                                        <p:attrNameLst>
                                          <p:attrName>fill.type</p:attrName>
                                        </p:attrNameLst>
                                      </p:cBhvr>
                                      <p:to>
                                        <p:strVal val="solid"/>
                                      </p:to>
                                    </p:set>
                                    <p:set>
                                      <p:cBhvr>
                                        <p:cTn id="61" dur="5000" fill="hold"/>
                                        <p:tgtEl>
                                          <p:spTgt spid="81"/>
                                        </p:tgtEl>
                                        <p:attrNameLst>
                                          <p:attrName>fill.on</p:attrName>
                                        </p:attrNameLst>
                                      </p:cBhvr>
                                      <p:to>
                                        <p:strVal val="true"/>
                                      </p:to>
                                    </p:set>
                                  </p:childTnLst>
                                </p:cTn>
                              </p:par>
                              <p:par>
                                <p:cTn id="62" presetID="1" presetClass="emph" presetSubtype="2" fill="hold" nodeType="withEffect">
                                  <p:stCondLst>
                                    <p:cond delay="0"/>
                                  </p:stCondLst>
                                  <p:childTnLst>
                                    <p:animClr clrSpc="rgb" dir="cw">
                                      <p:cBhvr>
                                        <p:cTn id="63" dur="5000" fill="hold"/>
                                        <p:tgtEl>
                                          <p:spTgt spid="82"/>
                                        </p:tgtEl>
                                        <p:attrNameLst>
                                          <p:attrName>fillcolor</p:attrName>
                                        </p:attrNameLst>
                                      </p:cBhvr>
                                      <p:to>
                                        <a:srgbClr val="3366FF"/>
                                      </p:to>
                                    </p:animClr>
                                    <p:set>
                                      <p:cBhvr>
                                        <p:cTn id="64" dur="5000" fill="hold"/>
                                        <p:tgtEl>
                                          <p:spTgt spid="82"/>
                                        </p:tgtEl>
                                        <p:attrNameLst>
                                          <p:attrName>fill.type</p:attrName>
                                        </p:attrNameLst>
                                      </p:cBhvr>
                                      <p:to>
                                        <p:strVal val="solid"/>
                                      </p:to>
                                    </p:set>
                                    <p:set>
                                      <p:cBhvr>
                                        <p:cTn id="65" dur="5000" fill="hold"/>
                                        <p:tgtEl>
                                          <p:spTgt spid="82"/>
                                        </p:tgtEl>
                                        <p:attrNameLst>
                                          <p:attrName>fill.on</p:attrName>
                                        </p:attrNameLst>
                                      </p:cBhvr>
                                      <p:to>
                                        <p:strVal val="true"/>
                                      </p:to>
                                    </p:set>
                                  </p:childTnLst>
                                </p:cTn>
                              </p:par>
                              <p:par>
                                <p:cTn id="66" presetID="1" presetClass="emph" presetSubtype="2" fill="hold" nodeType="withEffect">
                                  <p:stCondLst>
                                    <p:cond delay="0"/>
                                  </p:stCondLst>
                                  <p:childTnLst>
                                    <p:animClr clrSpc="rgb" dir="cw">
                                      <p:cBhvr>
                                        <p:cTn id="67" dur="5000" fill="hold"/>
                                        <p:tgtEl>
                                          <p:spTgt spid="84"/>
                                        </p:tgtEl>
                                        <p:attrNameLst>
                                          <p:attrName>fillcolor</p:attrName>
                                        </p:attrNameLst>
                                      </p:cBhvr>
                                      <p:to>
                                        <a:srgbClr val="3366FF"/>
                                      </p:to>
                                    </p:animClr>
                                    <p:set>
                                      <p:cBhvr>
                                        <p:cTn id="68" dur="5000" fill="hold"/>
                                        <p:tgtEl>
                                          <p:spTgt spid="84"/>
                                        </p:tgtEl>
                                        <p:attrNameLst>
                                          <p:attrName>fill.type</p:attrName>
                                        </p:attrNameLst>
                                      </p:cBhvr>
                                      <p:to>
                                        <p:strVal val="solid"/>
                                      </p:to>
                                    </p:set>
                                    <p:set>
                                      <p:cBhvr>
                                        <p:cTn id="69" dur="5000" fill="hold"/>
                                        <p:tgtEl>
                                          <p:spTgt spid="84"/>
                                        </p:tgtEl>
                                        <p:attrNameLst>
                                          <p:attrName>fill.on</p:attrName>
                                        </p:attrNameLst>
                                      </p:cBhvr>
                                      <p:to>
                                        <p:strVal val="true"/>
                                      </p:to>
                                    </p:set>
                                  </p:childTnLst>
                                </p:cTn>
                              </p:par>
                              <p:par>
                                <p:cTn id="70" presetID="1" presetClass="emph" presetSubtype="2" fill="hold" nodeType="withEffect">
                                  <p:stCondLst>
                                    <p:cond delay="0"/>
                                  </p:stCondLst>
                                  <p:childTnLst>
                                    <p:animClr clrSpc="rgb" dir="cw">
                                      <p:cBhvr>
                                        <p:cTn id="71" dur="5000" fill="hold"/>
                                        <p:tgtEl>
                                          <p:spTgt spid="116"/>
                                        </p:tgtEl>
                                        <p:attrNameLst>
                                          <p:attrName>fillcolor</p:attrName>
                                        </p:attrNameLst>
                                      </p:cBhvr>
                                      <p:to>
                                        <a:srgbClr val="3366FF"/>
                                      </p:to>
                                    </p:animClr>
                                    <p:set>
                                      <p:cBhvr>
                                        <p:cTn id="72" dur="5000" fill="hold"/>
                                        <p:tgtEl>
                                          <p:spTgt spid="116"/>
                                        </p:tgtEl>
                                        <p:attrNameLst>
                                          <p:attrName>fill.type</p:attrName>
                                        </p:attrNameLst>
                                      </p:cBhvr>
                                      <p:to>
                                        <p:strVal val="solid"/>
                                      </p:to>
                                    </p:set>
                                    <p:set>
                                      <p:cBhvr>
                                        <p:cTn id="73" dur="5000" fill="hold"/>
                                        <p:tgtEl>
                                          <p:spTgt spid="116"/>
                                        </p:tgtEl>
                                        <p:attrNameLst>
                                          <p:attrName>fill.on</p:attrName>
                                        </p:attrNameLst>
                                      </p:cBhvr>
                                      <p:to>
                                        <p:strVal val="true"/>
                                      </p:to>
                                    </p:set>
                                  </p:childTnLst>
                                </p:cTn>
                              </p:par>
                              <p:par>
                                <p:cTn id="74" presetID="1" presetClass="emph" presetSubtype="2" fill="hold" nodeType="withEffect">
                                  <p:stCondLst>
                                    <p:cond delay="0"/>
                                  </p:stCondLst>
                                  <p:childTnLst>
                                    <p:animClr clrSpc="rgb" dir="cw">
                                      <p:cBhvr>
                                        <p:cTn id="75" dur="5000" fill="hold"/>
                                        <p:tgtEl>
                                          <p:spTgt spid="117"/>
                                        </p:tgtEl>
                                        <p:attrNameLst>
                                          <p:attrName>fillcolor</p:attrName>
                                        </p:attrNameLst>
                                      </p:cBhvr>
                                      <p:to>
                                        <a:srgbClr val="3366FF"/>
                                      </p:to>
                                    </p:animClr>
                                    <p:set>
                                      <p:cBhvr>
                                        <p:cTn id="76" dur="5000" fill="hold"/>
                                        <p:tgtEl>
                                          <p:spTgt spid="117"/>
                                        </p:tgtEl>
                                        <p:attrNameLst>
                                          <p:attrName>fill.type</p:attrName>
                                        </p:attrNameLst>
                                      </p:cBhvr>
                                      <p:to>
                                        <p:strVal val="solid"/>
                                      </p:to>
                                    </p:set>
                                    <p:set>
                                      <p:cBhvr>
                                        <p:cTn id="77" dur="5000" fill="hold"/>
                                        <p:tgtEl>
                                          <p:spTgt spid="117"/>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694839" y="562413"/>
            <a:ext cx="6926568" cy="695773"/>
          </a:xfrm>
        </p:spPr>
        <p:txBody>
          <a:bodyPr/>
          <a:lstStyle/>
          <a:p>
            <a:br>
              <a:rPr lang="en-US" dirty="0"/>
            </a:br>
            <a:r>
              <a:rPr lang="en-US" dirty="0"/>
              <a:t>Best Practices &amp; Architectural Guidelines</a:t>
            </a:r>
          </a:p>
        </p:txBody>
      </p:sp>
    </p:spTree>
    <p:extLst>
      <p:ext uri="{BB962C8B-B14F-4D97-AF65-F5344CB8AC3E}">
        <p14:creationId xmlns:p14="http://schemas.microsoft.com/office/powerpoint/2010/main" val="26343129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Guidelines and Best Practices</a:t>
            </a:r>
          </a:p>
        </p:txBody>
      </p:sp>
      <p:sp>
        <p:nvSpPr>
          <p:cNvPr id="6" name="Text Box 38"/>
          <p:cNvSpPr txBox="1">
            <a:spLocks noChangeArrowheads="1"/>
          </p:cNvSpPr>
          <p:nvPr/>
        </p:nvSpPr>
        <p:spPr bwMode="auto">
          <a:xfrm>
            <a:off x="264160" y="785554"/>
            <a:ext cx="8723870" cy="4746941"/>
          </a:xfrm>
          <a:prstGeom prst="rect">
            <a:avLst/>
          </a:prstGeom>
        </p:spPr>
        <p:txBody>
          <a:bodyPr vert="horz" wrap="square" lIns="91440" tIns="45720" rIns="91440" bIns="45720" rtlCol="0">
            <a:spAutoFit/>
          </a:bodyPr>
          <a:lstStyle>
            <a:defPPr>
              <a:defRPr lang="en-US"/>
            </a:defPPr>
            <a:lvl1pPr marL="280988" indent="-280988">
              <a:lnSpc>
                <a:spcPct val="100000"/>
              </a:lnSpc>
              <a:spcBef>
                <a:spcPts val="1200"/>
              </a:spcBef>
              <a:spcAft>
                <a:spcPts val="600"/>
              </a:spcAft>
              <a:buClr>
                <a:schemeClr val="accent2"/>
              </a:buClr>
              <a:buFont typeface="Arial" panose="020B0604020202020204" pitchFamily="34" charset="0"/>
              <a:buChar char="•"/>
              <a:defRPr lang="en-US" sz="1600" dirty="0" smtClean="0"/>
            </a:lvl1pPr>
            <a:lvl2pPr marL="574675" lvl="1" indent="-293688">
              <a:lnSpc>
                <a:spcPct val="95000"/>
              </a:lnSpc>
              <a:spcBef>
                <a:spcPct val="20000"/>
              </a:spcBef>
              <a:spcAft>
                <a:spcPts val="800"/>
              </a:spcAft>
              <a:buFontTx/>
              <a:buChar char="‒"/>
              <a:defRPr lang="en-US" sz="1600" dirty="0" smtClean="0"/>
            </a:lvl2pPr>
            <a:lvl3pPr marL="855663" lvl="2" indent="-280988">
              <a:lnSpc>
                <a:spcPct val="95000"/>
              </a:lnSpc>
              <a:spcBef>
                <a:spcPts val="0"/>
              </a:spcBef>
              <a:spcAft>
                <a:spcPts val="800"/>
              </a:spcAft>
              <a:buFontTx/>
              <a:buChar char="‒"/>
              <a:defRPr lang="en-US" sz="1600" dirty="0" smtClean="0"/>
            </a:lvl3pPr>
            <a:lvl4pPr marL="1090613" indent="-234950">
              <a:lnSpc>
                <a:spcPct val="95000"/>
              </a:lnSpc>
              <a:spcBef>
                <a:spcPts val="0"/>
              </a:spcBef>
              <a:spcAft>
                <a:spcPts val="800"/>
              </a:spcAft>
              <a:buFontTx/>
              <a:buChar char="‒"/>
              <a:defRPr lang="en-US" sz="1400" dirty="0" smtClean="0"/>
            </a:lvl4pPr>
            <a:lvl5pPr marL="1312863" indent="-222250">
              <a:lnSpc>
                <a:spcPct val="95000"/>
              </a:lnSpc>
              <a:spcBef>
                <a:spcPts val="0"/>
              </a:spcBef>
              <a:spcAft>
                <a:spcPts val="800"/>
              </a:spcAft>
              <a:buFontTx/>
              <a:buChar char="‒"/>
              <a:defRPr lang="en-US" sz="1200"/>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r>
              <a:rPr lang="en-US" dirty="0"/>
              <a:t>Oversubscribe the HDP pool by 2-3X the initial size (2-3X is an estimate of lifetime growth).  </a:t>
            </a:r>
          </a:p>
          <a:p>
            <a:pPr lvl="1"/>
            <a:r>
              <a:rPr lang="en-US" dirty="0"/>
              <a:t>High Oversubscription Ratio requires more array shared memory (HDP metadata). </a:t>
            </a:r>
          </a:p>
          <a:p>
            <a:r>
              <a:rPr lang="en-US" dirty="0"/>
              <a:t>The initial span must consist of at least 4 SDs (system won’t allow less than 4)</a:t>
            </a:r>
          </a:p>
          <a:p>
            <a:pPr lvl="1"/>
            <a:r>
              <a:rPr lang="en-US" dirty="0"/>
              <a:t>We need at least 4 SDs to create parallelism and q depth, but larger </a:t>
            </a:r>
            <a:r>
              <a:rPr lang="en-US" dirty="0" err="1"/>
              <a:t>stripesets</a:t>
            </a:r>
            <a:r>
              <a:rPr lang="en-US" dirty="0"/>
              <a:t> are preferable with larger/high performance configurations</a:t>
            </a:r>
          </a:p>
          <a:p>
            <a:pPr lvl="1"/>
            <a:r>
              <a:rPr lang="en-US" dirty="0"/>
              <a:t>Maximum SDs per stripe set is 32</a:t>
            </a:r>
          </a:p>
          <a:p>
            <a:r>
              <a:rPr lang="en-US" dirty="0"/>
              <a:t>Generally best to create a Span Configuration based on 1-2 DP Volumes per HDD based PG. Use Mod 4 configurations (1 SD per port across 4 HNAS ports)</a:t>
            </a:r>
          </a:p>
          <a:p>
            <a:pPr lvl="1"/>
            <a:r>
              <a:rPr lang="en-US" dirty="0"/>
              <a:t>e.g. A configuration of 6 PGs – 8 DP Volumes. 1 Span, 8 System Drives</a:t>
            </a:r>
          </a:p>
          <a:p>
            <a:r>
              <a:rPr lang="en-US" dirty="0"/>
              <a:t>SSD/FMD based DP Pools perform best with more SD per PG (4 or 8)</a:t>
            </a:r>
          </a:p>
          <a:p>
            <a:pPr lvl="1"/>
            <a:r>
              <a:rPr lang="en-US" dirty="0"/>
              <a:t>Just remember that all Stripe-Sets will need to be the same size if you expand.</a:t>
            </a:r>
          </a:p>
          <a:p>
            <a:endParaRPr lang="en-US" dirty="0"/>
          </a:p>
        </p:txBody>
      </p:sp>
    </p:spTree>
    <p:extLst>
      <p:ext uri="{BB962C8B-B14F-4D97-AF65-F5344CB8AC3E}">
        <p14:creationId xmlns:p14="http://schemas.microsoft.com/office/powerpoint/2010/main" val="28329396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AEF5E776-E582-AC4F-AD65-CCE5D12687D4}"/>
              </a:ext>
            </a:extLst>
          </p:cNvPr>
          <p:cNvSpPr>
            <a:spLocks noGrp="1"/>
          </p:cNvSpPr>
          <p:nvPr>
            <p:ph idx="1"/>
          </p:nvPr>
        </p:nvSpPr>
        <p:spPr>
          <a:xfrm>
            <a:off x="264160" y="885801"/>
            <a:ext cx="8584006" cy="4504823"/>
          </a:xfrm>
        </p:spPr>
        <p:txBody>
          <a:bodyPr/>
          <a:lstStyle/>
          <a:p>
            <a:r>
              <a:rPr lang="en-US" sz="1600" dirty="0"/>
              <a:t>The 4 SD requirement is (partly) designed to enforce a min. amount of disk spindles </a:t>
            </a:r>
          </a:p>
          <a:p>
            <a:pPr lvl="1"/>
            <a:r>
              <a:rPr lang="en-US" sz="1600" dirty="0"/>
              <a:t>NAS workloads are </a:t>
            </a:r>
            <a:r>
              <a:rPr lang="en-US" sz="1600" u="sng" dirty="0"/>
              <a:t>frequently undersized.</a:t>
            </a:r>
            <a:r>
              <a:rPr lang="en-US" sz="1600" dirty="0"/>
              <a:t> Too often sized to capacity rather than performance and lack the ops provided by multiple HDD PGs</a:t>
            </a:r>
          </a:p>
          <a:p>
            <a:pPr lvl="1"/>
            <a:r>
              <a:rPr lang="en-US" sz="1600" dirty="0"/>
              <a:t>Prior to HDP, the “Best Practice” was to create 1 SD/LUN per physical HDD PG. </a:t>
            </a:r>
          </a:p>
          <a:p>
            <a:pPr lvl="1"/>
            <a:r>
              <a:rPr lang="en-US" sz="1600" dirty="0"/>
              <a:t>The 4 SD Best Practice was designed to enforce a min of 4 PGs ~32 HDDs (4 x 6+2)</a:t>
            </a:r>
          </a:p>
          <a:p>
            <a:pPr lvl="1"/>
            <a:r>
              <a:rPr lang="en-US" sz="1600" dirty="0"/>
              <a:t>HDP Virtualizes PGs, but 4 PGs of HDDs is still a “Best Practice” and should be considered the minimum configuration. For 7.2k NL-SAS consider ~48 NL-SAS HDDs</a:t>
            </a:r>
          </a:p>
          <a:p>
            <a:pPr lvl="1"/>
            <a:r>
              <a:rPr lang="en-US" sz="1600" dirty="0"/>
              <a:t>14+2 PGs are supported. No requirement to use 6+2. </a:t>
            </a:r>
          </a:p>
          <a:p>
            <a:pPr lvl="1"/>
            <a:r>
              <a:rPr lang="en-US" sz="1600" dirty="0"/>
              <a:t>Also consider RAID configuration (RAID5 vs RAID6 vs RAID1) drive type and workload</a:t>
            </a:r>
          </a:p>
          <a:p>
            <a:pPr lvl="1"/>
            <a:r>
              <a:rPr lang="en-US" sz="1600" dirty="0"/>
              <a:t>SSD or FMD based pools, have no min drive requirement</a:t>
            </a:r>
          </a:p>
          <a:p>
            <a:pPr lvl="2"/>
            <a:r>
              <a:rPr lang="en-US" dirty="0"/>
              <a:t>A single 3+1 R5 PG based pool is supported, but will still require 4 SDs (DP Vols)</a:t>
            </a:r>
          </a:p>
          <a:p>
            <a:endParaRPr lang="en-US" sz="2800" dirty="0"/>
          </a:p>
        </p:txBody>
      </p:sp>
      <p:sp>
        <p:nvSpPr>
          <p:cNvPr id="3" name="Title 2">
            <a:extLst>
              <a:ext uri="{FF2B5EF4-FFF2-40B4-BE49-F238E27FC236}">
                <a16:creationId xmlns:a16="http://schemas.microsoft.com/office/drawing/2014/main" id="{D3AEF053-B10F-3242-9976-9727C96C9FB1}"/>
              </a:ext>
            </a:extLst>
          </p:cNvPr>
          <p:cNvSpPr>
            <a:spLocks noGrp="1"/>
          </p:cNvSpPr>
          <p:nvPr>
            <p:ph type="title"/>
          </p:nvPr>
        </p:nvSpPr>
        <p:spPr/>
        <p:txBody>
          <a:bodyPr/>
          <a:lstStyle/>
          <a:p>
            <a:r>
              <a:rPr lang="en-US" dirty="0"/>
              <a:t>The Minimum HDP Pool Requirements</a:t>
            </a:r>
          </a:p>
        </p:txBody>
      </p:sp>
    </p:spTree>
    <p:extLst>
      <p:ext uri="{BB962C8B-B14F-4D97-AF65-F5344CB8AC3E}">
        <p14:creationId xmlns:p14="http://schemas.microsoft.com/office/powerpoint/2010/main" val="4195530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70EBFFE5-BCBE-A042-B277-19F9CC05AA52}"/>
              </a:ext>
            </a:extLst>
          </p:cNvPr>
          <p:cNvSpPr>
            <a:spLocks noGrp="1"/>
          </p:cNvSpPr>
          <p:nvPr>
            <p:ph idx="1"/>
          </p:nvPr>
        </p:nvSpPr>
        <p:spPr>
          <a:xfrm>
            <a:off x="264160" y="704372"/>
            <a:ext cx="8584006" cy="4315027"/>
          </a:xfrm>
        </p:spPr>
        <p:txBody>
          <a:bodyPr/>
          <a:lstStyle/>
          <a:p>
            <a:r>
              <a:rPr lang="en-US" sz="1800" dirty="0"/>
              <a:t>Minimum of 4 SDs required for an HDP Based </a:t>
            </a:r>
            <a:r>
              <a:rPr lang="en-US" sz="1800" dirty="0" err="1"/>
              <a:t>Stripeset</a:t>
            </a:r>
            <a:endParaRPr lang="en-US" sz="1800" dirty="0"/>
          </a:p>
          <a:p>
            <a:r>
              <a:rPr lang="en-US" sz="1800" dirty="0"/>
              <a:t>When the span is expanded, the following </a:t>
            </a:r>
            <a:r>
              <a:rPr lang="en-US" sz="1800" dirty="0" err="1"/>
              <a:t>stripeset</a:t>
            </a:r>
            <a:r>
              <a:rPr lang="en-US" sz="1800" dirty="0"/>
              <a:t> must have the same # of SD as the initial </a:t>
            </a:r>
            <a:r>
              <a:rPr lang="en-US" sz="1800" dirty="0" err="1"/>
              <a:t>stripeset</a:t>
            </a:r>
            <a:r>
              <a:rPr lang="en-US" sz="1800" dirty="0"/>
              <a:t>. </a:t>
            </a:r>
          </a:p>
          <a:p>
            <a:r>
              <a:rPr lang="en-US" sz="1800" dirty="0"/>
              <a:t>As a Best practice, each Stripe-Set should have the same SD configuration (number, size) and should be based on the same PG configuration</a:t>
            </a:r>
          </a:p>
          <a:p>
            <a:pPr lvl="1"/>
            <a:r>
              <a:rPr lang="en-US" sz="1600" dirty="0"/>
              <a:t>Uniform configuration provides a more predictable performance</a:t>
            </a:r>
          </a:p>
          <a:p>
            <a:pPr lvl="1"/>
            <a:r>
              <a:rPr lang="en-US" sz="1600" dirty="0"/>
              <a:t>It is permitted (but not a BP) to have Stripe-Sets from separate HDP pools, but all SDs within a Stripe-Set must come from the same HDP Pool</a:t>
            </a:r>
          </a:p>
          <a:p>
            <a:r>
              <a:rPr lang="en-US" sz="1800" dirty="0"/>
              <a:t>A Span cannot be composed of DP Volumes and Plain Old Parity Groups</a:t>
            </a:r>
          </a:p>
          <a:p>
            <a:pPr lvl="1"/>
            <a:r>
              <a:rPr lang="en-US" sz="1600" dirty="0"/>
              <a:t>A Span must be HDP or non-HDP (all in or all out)</a:t>
            </a:r>
          </a:p>
          <a:p>
            <a:r>
              <a:rPr lang="en-US" sz="1800" dirty="0"/>
              <a:t>Pool volumes from a PG should belong to one HDP Pool only</a:t>
            </a:r>
          </a:p>
        </p:txBody>
      </p:sp>
      <p:sp>
        <p:nvSpPr>
          <p:cNvPr id="3" name="Title 2">
            <a:extLst>
              <a:ext uri="{FF2B5EF4-FFF2-40B4-BE49-F238E27FC236}">
                <a16:creationId xmlns:a16="http://schemas.microsoft.com/office/drawing/2014/main" id="{202216A5-F311-B14B-971D-C575A22715B2}"/>
              </a:ext>
            </a:extLst>
          </p:cNvPr>
          <p:cNvSpPr>
            <a:spLocks noGrp="1"/>
          </p:cNvSpPr>
          <p:nvPr>
            <p:ph type="title"/>
          </p:nvPr>
        </p:nvSpPr>
        <p:spPr/>
        <p:txBody>
          <a:bodyPr/>
          <a:lstStyle/>
          <a:p>
            <a:r>
              <a:rPr lang="en-US" dirty="0"/>
              <a:t>Rules of Span Configuration/Expansion</a:t>
            </a:r>
          </a:p>
        </p:txBody>
      </p:sp>
    </p:spTree>
    <p:extLst>
      <p:ext uri="{BB962C8B-B14F-4D97-AF65-F5344CB8AC3E}">
        <p14:creationId xmlns:p14="http://schemas.microsoft.com/office/powerpoint/2010/main" val="13984632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18A2F121-CFB2-9D4A-8D5B-A04D6523F9D2}"/>
              </a:ext>
            </a:extLst>
          </p:cNvPr>
          <p:cNvSpPr>
            <a:spLocks noGrp="1"/>
          </p:cNvSpPr>
          <p:nvPr>
            <p:ph idx="1"/>
          </p:nvPr>
        </p:nvSpPr>
        <p:spPr>
          <a:xfrm>
            <a:off x="216658" y="785554"/>
            <a:ext cx="8778899" cy="4538165"/>
          </a:xfrm>
        </p:spPr>
        <p:txBody>
          <a:bodyPr/>
          <a:lstStyle/>
          <a:p>
            <a:r>
              <a:rPr lang="en-US" sz="1600" dirty="0"/>
              <a:t>It is permitted and sometimes beneficial to create multiple NAS Spans on a single HDP pool</a:t>
            </a:r>
          </a:p>
          <a:p>
            <a:pPr lvl="1"/>
            <a:r>
              <a:rPr lang="en-US" sz="1400" dirty="0"/>
              <a:t>e.g., Single HDP Pool, create 16 DP Volumes – 8 SDs for Span 1, 8 SDs for Span 2</a:t>
            </a:r>
          </a:p>
          <a:p>
            <a:r>
              <a:rPr lang="en-US" sz="1600" dirty="0"/>
              <a:t>In many cases multiple Spans per HDP Pool is advantageous</a:t>
            </a:r>
          </a:p>
          <a:p>
            <a:pPr lvl="1"/>
            <a:r>
              <a:rPr lang="en-US" sz="1400" dirty="0"/>
              <a:t>Spans are limited to 32 file systems, if you need more file systems you need more Spans to achieve that… but large SSDs can create massive single PG HDP Pools (hundreds of TBs that often need multiple EVS/file systems)</a:t>
            </a:r>
          </a:p>
          <a:p>
            <a:pPr lvl="1"/>
            <a:r>
              <a:rPr lang="en-US" sz="1400" dirty="0"/>
              <a:t>1 Span per HDP Pool might create islands of capacity or islands of IOPS</a:t>
            </a:r>
          </a:p>
          <a:p>
            <a:pPr lvl="1"/>
            <a:r>
              <a:rPr lang="en-US" sz="1400" dirty="0"/>
              <a:t>Creating multiple spans might help avoid queue splits (see later in presentation)</a:t>
            </a:r>
          </a:p>
          <a:p>
            <a:r>
              <a:rPr lang="en-US" sz="1600" dirty="0"/>
              <a:t>Previous BP was 1 Span per HDP Pool</a:t>
            </a:r>
          </a:p>
          <a:p>
            <a:pPr lvl="1"/>
            <a:r>
              <a:rPr lang="en-US" sz="1400" dirty="0"/>
              <a:t>Biggest reason was to avoid possibility of </a:t>
            </a:r>
            <a:r>
              <a:rPr lang="en-US" sz="1400" dirty="0" err="1"/>
              <a:t>unmap</a:t>
            </a:r>
            <a:r>
              <a:rPr lang="en-US" sz="1400" dirty="0"/>
              <a:t>. </a:t>
            </a:r>
            <a:r>
              <a:rPr lang="en-US" sz="1400" dirty="0" err="1"/>
              <a:t>Unmap</a:t>
            </a:r>
            <a:r>
              <a:rPr lang="en-US" sz="1400" dirty="0"/>
              <a:t> had a significant performance impact on HUS1x0 Storage. VSP overhead is minimal</a:t>
            </a:r>
          </a:p>
          <a:p>
            <a:pPr lvl="1"/>
            <a:r>
              <a:rPr lang="en-US" sz="1400" dirty="0"/>
              <a:t>More file systems result in more IO workload (more file systems must be checkpointed). If storage was slow this could create a bottleneck.</a:t>
            </a:r>
          </a:p>
          <a:p>
            <a:pPr lvl="1"/>
            <a:endParaRPr lang="en-US" sz="1400" dirty="0"/>
          </a:p>
        </p:txBody>
      </p:sp>
      <p:sp>
        <p:nvSpPr>
          <p:cNvPr id="4" name="Title 3">
            <a:extLst>
              <a:ext uri="{FF2B5EF4-FFF2-40B4-BE49-F238E27FC236}">
                <a16:creationId xmlns:a16="http://schemas.microsoft.com/office/drawing/2014/main" id="{44CBB249-66E9-874C-A3D7-DFDD02FF4633}"/>
              </a:ext>
            </a:extLst>
          </p:cNvPr>
          <p:cNvSpPr>
            <a:spLocks noGrp="1"/>
          </p:cNvSpPr>
          <p:nvPr>
            <p:ph type="title"/>
          </p:nvPr>
        </p:nvSpPr>
        <p:spPr/>
        <p:txBody>
          <a:bodyPr/>
          <a:lstStyle/>
          <a:p>
            <a:r>
              <a:rPr lang="en-US" dirty="0"/>
              <a:t>Multiple Spans on a single HDP Pool</a:t>
            </a:r>
          </a:p>
        </p:txBody>
      </p:sp>
    </p:spTree>
    <p:extLst>
      <p:ext uri="{BB962C8B-B14F-4D97-AF65-F5344CB8AC3E}">
        <p14:creationId xmlns:p14="http://schemas.microsoft.com/office/powerpoint/2010/main" val="11681404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4160" y="53113"/>
            <a:ext cx="7527290" cy="732441"/>
          </a:xfrm>
        </p:spPr>
        <p:txBody>
          <a:bodyPr>
            <a:normAutofit/>
          </a:bodyPr>
          <a:lstStyle/>
          <a:p>
            <a:r>
              <a:rPr lang="en-GB" dirty="0"/>
              <a:t>When not to deploy multiple Spans per HDP Pool</a:t>
            </a:r>
          </a:p>
        </p:txBody>
      </p:sp>
      <p:sp>
        <p:nvSpPr>
          <p:cNvPr id="3" name="Content Placeholder 2"/>
          <p:cNvSpPr>
            <a:spLocks noGrp="1"/>
          </p:cNvSpPr>
          <p:nvPr>
            <p:ph idx="1"/>
          </p:nvPr>
        </p:nvSpPr>
        <p:spPr>
          <a:xfrm>
            <a:off x="264160" y="796125"/>
            <a:ext cx="8584006" cy="4347375"/>
          </a:xfrm>
        </p:spPr>
        <p:txBody>
          <a:bodyPr vert="horz" wrap="square" lIns="91440" tIns="45720" rIns="91440" bIns="45720" rtlCol="0">
            <a:noAutofit/>
          </a:bodyPr>
          <a:lstStyle/>
          <a:p>
            <a:r>
              <a:rPr lang="en-GB" sz="1400" dirty="0"/>
              <a:t>Whenever </a:t>
            </a:r>
            <a:r>
              <a:rPr lang="en-GB" sz="1400" dirty="0">
                <a:solidFill>
                  <a:srgbClr val="FF0000"/>
                </a:solidFill>
              </a:rPr>
              <a:t>Unmapping</a:t>
            </a:r>
            <a:r>
              <a:rPr lang="en-GB" sz="1400" dirty="0"/>
              <a:t> would become a regular occurrence</a:t>
            </a:r>
          </a:p>
          <a:p>
            <a:r>
              <a:rPr lang="en-GB" sz="1400" dirty="0"/>
              <a:t>When a file system is deleted, the HDP pages associated with those chunks are still “mapped” into the Span. They are known as “vacated chunks”.</a:t>
            </a:r>
          </a:p>
          <a:p>
            <a:r>
              <a:rPr lang="en-GB" sz="1400" dirty="0"/>
              <a:t>If a new file system is created within that Span, then the vacated chunks are simply re-used and the mapped capacity is re-used – no un-mapping is performed. </a:t>
            </a:r>
          </a:p>
          <a:p>
            <a:r>
              <a:rPr lang="en-GB" sz="1400" dirty="0"/>
              <a:t>But if the freed up capacity is desired in a different Span, the vacated chunks must be “un-mapped” from that span. The pages are zeroed and returned to the HDP Pool</a:t>
            </a:r>
          </a:p>
          <a:p>
            <a:pPr lvl="1"/>
            <a:r>
              <a:rPr lang="en-GB" sz="1400" dirty="0"/>
              <a:t>This is a </a:t>
            </a:r>
            <a:r>
              <a:rPr lang="en-GB" sz="1400" dirty="0">
                <a:solidFill>
                  <a:srgbClr val="FF0000"/>
                </a:solidFill>
              </a:rPr>
              <a:t>slow</a:t>
            </a:r>
            <a:r>
              <a:rPr lang="en-GB" sz="1400" dirty="0"/>
              <a:t>, background process</a:t>
            </a:r>
          </a:p>
          <a:p>
            <a:pPr lvl="1"/>
            <a:r>
              <a:rPr lang="en-GB" sz="1400" dirty="0"/>
              <a:t>The impact on HUS1x0 storage was significant, but on VSP class storage it has been shown to be far less taxing</a:t>
            </a:r>
          </a:p>
          <a:p>
            <a:pPr lvl="1"/>
            <a:r>
              <a:rPr lang="en-GB" sz="1400" dirty="0"/>
              <a:t>It is also possible to throttle the rate at which un-mapping takes place to avoid creating a large backlog of zeroing activity</a:t>
            </a:r>
          </a:p>
          <a:p>
            <a:r>
              <a:rPr lang="en-GB" sz="1400" dirty="0"/>
              <a:t>Bottom line, is that the </a:t>
            </a:r>
            <a:r>
              <a:rPr lang="en-GB" sz="1400" dirty="0" err="1"/>
              <a:t>unmap</a:t>
            </a:r>
            <a:r>
              <a:rPr lang="en-GB" sz="1400" dirty="0"/>
              <a:t> process overhead is far less significant on modern storage</a:t>
            </a:r>
          </a:p>
          <a:p>
            <a:endParaRPr lang="en-GB" sz="1400" dirty="0"/>
          </a:p>
        </p:txBody>
      </p:sp>
    </p:spTree>
    <p:extLst>
      <p:ext uri="{BB962C8B-B14F-4D97-AF65-F5344CB8AC3E}">
        <p14:creationId xmlns:p14="http://schemas.microsoft.com/office/powerpoint/2010/main" val="10493409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64998" y="88459"/>
            <a:ext cx="7638869" cy="732441"/>
          </a:xfrm>
        </p:spPr>
        <p:txBody>
          <a:bodyPr>
            <a:normAutofit/>
          </a:bodyPr>
          <a:lstStyle/>
          <a:p>
            <a:r>
              <a:rPr lang="en-US" dirty="0"/>
              <a:t>Sharing a Span across Nodes – Queue Splits</a:t>
            </a:r>
            <a:endParaRPr lang="en-US" sz="1400" dirty="0">
              <a:solidFill>
                <a:schemeClr val="bg1">
                  <a:lumMod val="75000"/>
                </a:schemeClr>
              </a:solidFill>
            </a:endParaRPr>
          </a:p>
        </p:txBody>
      </p:sp>
      <p:sp>
        <p:nvSpPr>
          <p:cNvPr id="5" name="Rounded Rectangle 4"/>
          <p:cNvSpPr/>
          <p:nvPr/>
        </p:nvSpPr>
        <p:spPr bwMode="auto">
          <a:xfrm>
            <a:off x="1106301" y="917623"/>
            <a:ext cx="1936750" cy="536050"/>
          </a:xfrm>
          <a:prstGeom prst="roundRect">
            <a:avLst/>
          </a:prstGeom>
          <a:ln>
            <a:headEnd type="none" w="med" len="med"/>
            <a:tailEnd type="none" w="med" len="med"/>
          </a:ln>
        </p:spPr>
        <p:style>
          <a:lnRef idx="1">
            <a:schemeClr val="accent4"/>
          </a:lnRef>
          <a:fillRef idx="2">
            <a:schemeClr val="accent4"/>
          </a:fillRef>
          <a:effectRef idx="1">
            <a:schemeClr val="accent4"/>
          </a:effectRef>
          <a:fontRef idx="minor">
            <a:schemeClr val="dk1"/>
          </a:fontRef>
        </p:style>
        <p:txBody>
          <a:bodyPr/>
          <a:lstStyle/>
          <a:p>
            <a:pPr marL="381000" indent="-381000">
              <a:tabLst>
                <a:tab pos="2246313" algn="l"/>
                <a:tab pos="2514600" algn="l"/>
              </a:tabLst>
            </a:pPr>
            <a:r>
              <a:rPr lang="en-US" dirty="0">
                <a:solidFill>
                  <a:srgbClr val="333333"/>
                </a:solidFill>
                <a:latin typeface="Arial" charset="0"/>
              </a:rPr>
              <a:t>N1</a:t>
            </a:r>
          </a:p>
        </p:txBody>
      </p:sp>
      <p:sp>
        <p:nvSpPr>
          <p:cNvPr id="6" name="Rounded Rectangle 5"/>
          <p:cNvSpPr/>
          <p:nvPr/>
        </p:nvSpPr>
        <p:spPr bwMode="auto">
          <a:xfrm>
            <a:off x="3304988" y="917624"/>
            <a:ext cx="1938338" cy="536049"/>
          </a:xfrm>
          <a:prstGeom prst="roundRect">
            <a:avLst/>
          </a:prstGeom>
          <a:ln>
            <a:headEnd type="none" w="med" len="med"/>
            <a:tailEnd type="none" w="med" len="med"/>
          </a:ln>
        </p:spPr>
        <p:style>
          <a:lnRef idx="1">
            <a:schemeClr val="accent4"/>
          </a:lnRef>
          <a:fillRef idx="2">
            <a:schemeClr val="accent4"/>
          </a:fillRef>
          <a:effectRef idx="1">
            <a:schemeClr val="accent4"/>
          </a:effectRef>
          <a:fontRef idx="minor">
            <a:schemeClr val="dk1"/>
          </a:fontRef>
        </p:style>
        <p:txBody>
          <a:bodyPr/>
          <a:lstStyle/>
          <a:p>
            <a:pPr marL="381000" indent="-381000">
              <a:tabLst>
                <a:tab pos="2246313" algn="l"/>
                <a:tab pos="2514600" algn="l"/>
              </a:tabLst>
            </a:pPr>
            <a:r>
              <a:rPr lang="en-US" dirty="0">
                <a:solidFill>
                  <a:srgbClr val="333333"/>
                </a:solidFill>
                <a:latin typeface="Arial" charset="0"/>
              </a:rPr>
              <a:t>N2</a:t>
            </a:r>
          </a:p>
        </p:txBody>
      </p:sp>
      <p:grpSp>
        <p:nvGrpSpPr>
          <p:cNvPr id="37" name="Group 36"/>
          <p:cNvGrpSpPr/>
          <p:nvPr/>
        </p:nvGrpSpPr>
        <p:grpSpPr>
          <a:xfrm>
            <a:off x="1819893" y="1057310"/>
            <a:ext cx="778317" cy="354529"/>
            <a:chOff x="1206954" y="1354138"/>
            <a:chExt cx="778317" cy="896700"/>
          </a:xfrm>
        </p:grpSpPr>
        <p:sp>
          <p:nvSpPr>
            <p:cNvPr id="38" name="Isosceles Triangle 37"/>
            <p:cNvSpPr/>
            <p:nvPr/>
          </p:nvSpPr>
          <p:spPr>
            <a:xfrm>
              <a:off x="1206954" y="1354138"/>
              <a:ext cx="348343" cy="896700"/>
            </a:xfrm>
            <a:prstGeom prst="triangle">
              <a:avLst/>
            </a:prstGeom>
            <a:solidFill>
              <a:schemeClr val="accent1"/>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spAutoFit/>
            </a:bodyPr>
            <a:lstStyle/>
            <a:p>
              <a:pPr algn="ctr">
                <a:spcBef>
                  <a:spcPts val="600"/>
                </a:spcBef>
              </a:pPr>
              <a:endParaRPr lang="en-US" sz="1600" dirty="0" err="1">
                <a:solidFill>
                  <a:schemeClr val="tx1">
                    <a:lumMod val="85000"/>
                    <a:lumOff val="15000"/>
                  </a:schemeClr>
                </a:solidFill>
                <a:latin typeface="+mj-lt"/>
              </a:endParaRPr>
            </a:p>
          </p:txBody>
        </p:sp>
        <p:sp>
          <p:nvSpPr>
            <p:cNvPr id="39" name="TextBox 38"/>
            <p:cNvSpPr txBox="1">
              <a:spLocks noChangeArrowheads="1"/>
            </p:cNvSpPr>
            <p:nvPr/>
          </p:nvSpPr>
          <p:spPr bwMode="auto">
            <a:xfrm>
              <a:off x="1416947" y="1509461"/>
              <a:ext cx="568324" cy="3385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eaLnBrk="0" hangingPunct="0">
                <a:defRPr kumimoji="1" sz="1600">
                  <a:solidFill>
                    <a:srgbClr val="333333"/>
                  </a:solidFill>
                  <a:latin typeface="Arial" charset="0"/>
                  <a:ea typeface="ＭＳ Ｐゴシック" pitchFamily="34" charset="-128"/>
                </a:defRPr>
              </a:lvl1pPr>
              <a:lvl2pPr marL="742950" indent="-285750" eaLnBrk="0" hangingPunct="0">
                <a:defRPr kumimoji="1" sz="1600">
                  <a:solidFill>
                    <a:srgbClr val="333333"/>
                  </a:solidFill>
                  <a:latin typeface="Arial" charset="0"/>
                  <a:ea typeface="ＭＳ Ｐゴシック" pitchFamily="34" charset="-128"/>
                </a:defRPr>
              </a:lvl2pPr>
              <a:lvl3pPr marL="1143000" indent="-228600" eaLnBrk="0" hangingPunct="0">
                <a:defRPr kumimoji="1" sz="1600">
                  <a:solidFill>
                    <a:srgbClr val="333333"/>
                  </a:solidFill>
                  <a:latin typeface="Arial" charset="0"/>
                  <a:ea typeface="ＭＳ Ｐゴシック" pitchFamily="34" charset="-128"/>
                </a:defRPr>
              </a:lvl3pPr>
              <a:lvl4pPr marL="1600200" indent="-228600" eaLnBrk="0" hangingPunct="0">
                <a:defRPr kumimoji="1" sz="1600">
                  <a:solidFill>
                    <a:srgbClr val="333333"/>
                  </a:solidFill>
                  <a:latin typeface="Arial" charset="0"/>
                  <a:ea typeface="ＭＳ Ｐゴシック" pitchFamily="34" charset="-128"/>
                </a:defRPr>
              </a:lvl4pPr>
              <a:lvl5pPr marL="2057400" indent="-228600" eaLnBrk="0" hangingPunct="0">
                <a:defRPr kumimoji="1" sz="1600">
                  <a:solidFill>
                    <a:srgbClr val="333333"/>
                  </a:solidFill>
                  <a:latin typeface="Arial" charset="0"/>
                  <a:ea typeface="ＭＳ Ｐゴシック" pitchFamily="34" charset="-128"/>
                </a:defRPr>
              </a:lvl5pPr>
              <a:lvl6pPr marL="2514600" indent="-228600" eaLnBrk="0" fontAlgn="base" hangingPunct="0">
                <a:spcBef>
                  <a:spcPct val="20000"/>
                </a:spcBef>
                <a:spcAft>
                  <a:spcPct val="0"/>
                </a:spcAft>
                <a:buChar char="•"/>
                <a:defRPr kumimoji="1" sz="1600">
                  <a:solidFill>
                    <a:srgbClr val="333333"/>
                  </a:solidFill>
                  <a:latin typeface="Arial" charset="0"/>
                  <a:ea typeface="ＭＳ Ｐゴシック" pitchFamily="34" charset="-128"/>
                </a:defRPr>
              </a:lvl6pPr>
              <a:lvl7pPr marL="2971800" indent="-228600" eaLnBrk="0" fontAlgn="base" hangingPunct="0">
                <a:spcBef>
                  <a:spcPct val="20000"/>
                </a:spcBef>
                <a:spcAft>
                  <a:spcPct val="0"/>
                </a:spcAft>
                <a:buChar char="•"/>
                <a:defRPr kumimoji="1" sz="1600">
                  <a:solidFill>
                    <a:srgbClr val="333333"/>
                  </a:solidFill>
                  <a:latin typeface="Arial" charset="0"/>
                  <a:ea typeface="ＭＳ Ｐゴシック" pitchFamily="34" charset="-128"/>
                </a:defRPr>
              </a:lvl7pPr>
              <a:lvl8pPr marL="3429000" indent="-228600" eaLnBrk="0" fontAlgn="base" hangingPunct="0">
                <a:spcBef>
                  <a:spcPct val="20000"/>
                </a:spcBef>
                <a:spcAft>
                  <a:spcPct val="0"/>
                </a:spcAft>
                <a:buChar char="•"/>
                <a:defRPr kumimoji="1" sz="1600">
                  <a:solidFill>
                    <a:srgbClr val="333333"/>
                  </a:solidFill>
                  <a:latin typeface="Arial" charset="0"/>
                  <a:ea typeface="ＭＳ Ｐゴシック" pitchFamily="34" charset="-128"/>
                </a:defRPr>
              </a:lvl8pPr>
              <a:lvl9pPr marL="3886200" indent="-228600" eaLnBrk="0" fontAlgn="base" hangingPunct="0">
                <a:spcBef>
                  <a:spcPct val="20000"/>
                </a:spcBef>
                <a:spcAft>
                  <a:spcPct val="0"/>
                </a:spcAft>
                <a:buChar char="•"/>
                <a:defRPr kumimoji="1" sz="1600">
                  <a:solidFill>
                    <a:srgbClr val="333333"/>
                  </a:solidFill>
                  <a:latin typeface="Arial" charset="0"/>
                  <a:ea typeface="ＭＳ Ｐゴシック" pitchFamily="34" charset="-128"/>
                </a:defRPr>
              </a:lvl9pPr>
            </a:lstStyle>
            <a:p>
              <a:pPr eaLnBrk="1" hangingPunct="1">
                <a:buFontTx/>
                <a:buNone/>
              </a:pPr>
              <a:r>
                <a:rPr lang="en-US" sz="1050" b="1" dirty="0"/>
                <a:t>EVS</a:t>
              </a:r>
            </a:p>
          </p:txBody>
        </p:sp>
      </p:grpSp>
      <p:pic>
        <p:nvPicPr>
          <p:cNvPr id="63" name="Picture 5" descr="storage_pool_2"/>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681543" y="1858957"/>
            <a:ext cx="2151571" cy="733127"/>
          </a:xfrm>
          <a:prstGeom prst="rect">
            <a:avLst/>
          </a:prstGeom>
          <a:noFill/>
          <a:ln w="9525">
            <a:noFill/>
            <a:miter lim="800000"/>
            <a:headEnd/>
            <a:tailEnd/>
          </a:ln>
        </p:spPr>
      </p:pic>
      <p:pic>
        <p:nvPicPr>
          <p:cNvPr id="64" name="Picture 6" descr="LSP_system_1"/>
          <p:cNvPicPr>
            <a:picLocks noChangeAspect="1" noChangeArrowheads="1"/>
          </p:cNvPicPr>
          <p:nvPr/>
        </p:nvPicPr>
        <p:blipFill>
          <a:blip r:embed="rId5" cstate="print"/>
          <a:srcRect/>
          <a:stretch>
            <a:fillRect/>
          </a:stretch>
        </p:blipFill>
        <p:spPr bwMode="auto">
          <a:xfrm>
            <a:off x="686305" y="1998456"/>
            <a:ext cx="331797" cy="530424"/>
          </a:xfrm>
          <a:prstGeom prst="rect">
            <a:avLst/>
          </a:prstGeom>
          <a:noFill/>
          <a:ln w="9525">
            <a:noFill/>
            <a:miter lim="800000"/>
            <a:headEnd/>
            <a:tailEnd/>
          </a:ln>
        </p:spPr>
      </p:pic>
      <p:pic>
        <p:nvPicPr>
          <p:cNvPr id="65" name="Picture 7" descr="LSP_system_2"/>
          <p:cNvPicPr>
            <a:picLocks noChangeAspect="1" noChangeArrowheads="1"/>
          </p:cNvPicPr>
          <p:nvPr/>
        </p:nvPicPr>
        <p:blipFill>
          <a:blip r:embed="rId6" cstate="screen">
            <a:extLst>
              <a:ext uri="{28A0092B-C50C-407E-A947-70E740481C1C}">
                <a14:useLocalDpi xmlns:a14="http://schemas.microsoft.com/office/drawing/2010/main"/>
              </a:ext>
            </a:extLst>
          </a:blip>
          <a:srcRect/>
          <a:stretch>
            <a:fillRect/>
          </a:stretch>
        </p:blipFill>
        <p:spPr bwMode="auto">
          <a:xfrm>
            <a:off x="1018102" y="2083184"/>
            <a:ext cx="399758" cy="506573"/>
          </a:xfrm>
          <a:prstGeom prst="rect">
            <a:avLst/>
          </a:prstGeom>
          <a:noFill/>
          <a:ln w="9525">
            <a:noFill/>
            <a:miter lim="800000"/>
            <a:headEnd/>
            <a:tailEnd/>
          </a:ln>
        </p:spPr>
      </p:pic>
      <p:cxnSp>
        <p:nvCxnSpPr>
          <p:cNvPr id="73" name="Straight Arrow Connector 72"/>
          <p:cNvCxnSpPr>
            <a:cxnSpLocks/>
            <a:stCxn id="64" idx="0"/>
          </p:cNvCxnSpPr>
          <p:nvPr/>
        </p:nvCxnSpPr>
        <p:spPr>
          <a:xfrm flipV="1">
            <a:off x="852204" y="1390690"/>
            <a:ext cx="911900" cy="607766"/>
          </a:xfrm>
          <a:prstGeom prst="straightConnector1">
            <a:avLst/>
          </a:prstGeom>
          <a:ln w="28575">
            <a:solidFill>
              <a:schemeClr val="tx1"/>
            </a:solidFill>
            <a:prstDash val="sysDot"/>
            <a:tailEnd type="arrow"/>
          </a:ln>
        </p:spPr>
        <p:style>
          <a:lnRef idx="1">
            <a:schemeClr val="accent1"/>
          </a:lnRef>
          <a:fillRef idx="0">
            <a:schemeClr val="accent1"/>
          </a:fillRef>
          <a:effectRef idx="0">
            <a:schemeClr val="accent1"/>
          </a:effectRef>
          <a:fontRef idx="minor">
            <a:schemeClr val="tx1"/>
          </a:fontRef>
        </p:style>
      </p:cxnSp>
      <p:cxnSp>
        <p:nvCxnSpPr>
          <p:cNvPr id="75" name="Straight Arrow Connector 74"/>
          <p:cNvCxnSpPr>
            <a:cxnSpLocks/>
            <a:stCxn id="65" idx="0"/>
            <a:endCxn id="42" idx="2"/>
          </p:cNvCxnSpPr>
          <p:nvPr/>
        </p:nvCxnSpPr>
        <p:spPr>
          <a:xfrm flipV="1">
            <a:off x="1217981" y="1341722"/>
            <a:ext cx="2556459" cy="741462"/>
          </a:xfrm>
          <a:prstGeom prst="straightConnector1">
            <a:avLst/>
          </a:prstGeom>
          <a:ln w="28575">
            <a:solidFill>
              <a:schemeClr val="tx1"/>
            </a:solidFill>
            <a:prstDash val="sysDot"/>
            <a:tailEnd type="arrow"/>
          </a:ln>
        </p:spPr>
        <p:style>
          <a:lnRef idx="1">
            <a:schemeClr val="accent1"/>
          </a:lnRef>
          <a:fillRef idx="0">
            <a:schemeClr val="accent1"/>
          </a:fillRef>
          <a:effectRef idx="0">
            <a:schemeClr val="accent1"/>
          </a:effectRef>
          <a:fontRef idx="minor">
            <a:schemeClr val="tx1"/>
          </a:fontRef>
        </p:style>
      </p:cxnSp>
      <p:grpSp>
        <p:nvGrpSpPr>
          <p:cNvPr id="80" name="Group 34"/>
          <p:cNvGrpSpPr>
            <a:grpSpLocks/>
          </p:cNvGrpSpPr>
          <p:nvPr/>
        </p:nvGrpSpPr>
        <p:grpSpPr bwMode="auto">
          <a:xfrm>
            <a:off x="681541" y="2731446"/>
            <a:ext cx="2151572" cy="205382"/>
            <a:chOff x="1084" y="2454"/>
            <a:chExt cx="1850" cy="190"/>
          </a:xfrm>
        </p:grpSpPr>
        <p:sp>
          <p:nvSpPr>
            <p:cNvPr id="81" name="Rectangle 35"/>
            <p:cNvSpPr>
              <a:spLocks noChangeArrowheads="1"/>
            </p:cNvSpPr>
            <p:nvPr/>
          </p:nvSpPr>
          <p:spPr bwMode="auto">
            <a:xfrm>
              <a:off x="1084" y="2454"/>
              <a:ext cx="368" cy="190"/>
            </a:xfrm>
            <a:prstGeom prst="rect">
              <a:avLst/>
            </a:prstGeom>
            <a:solidFill>
              <a:srgbClr val="009999"/>
            </a:solidFill>
            <a:ln w="9525">
              <a:solidFill>
                <a:schemeClr val="tx1"/>
              </a:solidFill>
              <a:miter lim="800000"/>
              <a:headEnd/>
              <a:tailEnd/>
            </a:ln>
          </p:spPr>
          <p:txBody>
            <a:bodyPr wrap="none" anchor="ctr"/>
            <a:lstStyle/>
            <a:p>
              <a:pPr algn="ctr"/>
              <a:r>
                <a:rPr lang="en-US" sz="1200">
                  <a:cs typeface="Arial" pitchFamily="34" charset="0"/>
                </a:rPr>
                <a:t>SD</a:t>
              </a:r>
            </a:p>
          </p:txBody>
        </p:sp>
        <p:sp>
          <p:nvSpPr>
            <p:cNvPr id="82" name="Rectangle 36"/>
            <p:cNvSpPr>
              <a:spLocks noChangeArrowheads="1"/>
            </p:cNvSpPr>
            <p:nvPr/>
          </p:nvSpPr>
          <p:spPr bwMode="auto">
            <a:xfrm>
              <a:off x="1827" y="2454"/>
              <a:ext cx="368" cy="190"/>
            </a:xfrm>
            <a:prstGeom prst="rect">
              <a:avLst/>
            </a:prstGeom>
            <a:solidFill>
              <a:srgbClr val="009999"/>
            </a:solidFill>
            <a:ln w="9525">
              <a:solidFill>
                <a:schemeClr val="tx1"/>
              </a:solidFill>
              <a:miter lim="800000"/>
              <a:headEnd/>
              <a:tailEnd/>
            </a:ln>
          </p:spPr>
          <p:txBody>
            <a:bodyPr wrap="none" anchor="ctr"/>
            <a:lstStyle/>
            <a:p>
              <a:pPr algn="ctr"/>
              <a:r>
                <a:rPr lang="en-US" sz="1200">
                  <a:cs typeface="Arial" pitchFamily="34" charset="0"/>
                </a:rPr>
                <a:t>SD</a:t>
              </a:r>
            </a:p>
          </p:txBody>
        </p:sp>
        <p:sp>
          <p:nvSpPr>
            <p:cNvPr id="83" name="Rectangle 37"/>
            <p:cNvSpPr>
              <a:spLocks noChangeArrowheads="1"/>
            </p:cNvSpPr>
            <p:nvPr/>
          </p:nvSpPr>
          <p:spPr bwMode="auto">
            <a:xfrm>
              <a:off x="1456" y="2454"/>
              <a:ext cx="367" cy="190"/>
            </a:xfrm>
            <a:prstGeom prst="rect">
              <a:avLst/>
            </a:prstGeom>
            <a:solidFill>
              <a:srgbClr val="009999"/>
            </a:solidFill>
            <a:ln w="9525">
              <a:solidFill>
                <a:schemeClr val="tx1"/>
              </a:solidFill>
              <a:miter lim="800000"/>
              <a:headEnd/>
              <a:tailEnd/>
            </a:ln>
          </p:spPr>
          <p:txBody>
            <a:bodyPr wrap="none" anchor="ctr"/>
            <a:lstStyle/>
            <a:p>
              <a:pPr algn="ctr"/>
              <a:r>
                <a:rPr lang="en-US" sz="1200">
                  <a:cs typeface="Arial" pitchFamily="34" charset="0"/>
                </a:rPr>
                <a:t>SD</a:t>
              </a:r>
            </a:p>
          </p:txBody>
        </p:sp>
        <p:sp>
          <p:nvSpPr>
            <p:cNvPr id="84" name="Rectangle 38"/>
            <p:cNvSpPr>
              <a:spLocks noChangeArrowheads="1"/>
            </p:cNvSpPr>
            <p:nvPr/>
          </p:nvSpPr>
          <p:spPr bwMode="auto">
            <a:xfrm>
              <a:off x="2195" y="2454"/>
              <a:ext cx="368" cy="190"/>
            </a:xfrm>
            <a:prstGeom prst="rect">
              <a:avLst/>
            </a:prstGeom>
            <a:solidFill>
              <a:srgbClr val="009999"/>
            </a:solidFill>
            <a:ln w="9525">
              <a:solidFill>
                <a:schemeClr val="tx1"/>
              </a:solidFill>
              <a:miter lim="800000"/>
              <a:headEnd/>
              <a:tailEnd/>
            </a:ln>
          </p:spPr>
          <p:txBody>
            <a:bodyPr wrap="none" anchor="ctr"/>
            <a:lstStyle/>
            <a:p>
              <a:pPr algn="ctr"/>
              <a:r>
                <a:rPr lang="en-US" sz="1200" dirty="0">
                  <a:cs typeface="Arial" pitchFamily="34" charset="0"/>
                </a:rPr>
                <a:t>SD</a:t>
              </a:r>
            </a:p>
          </p:txBody>
        </p:sp>
        <p:sp>
          <p:nvSpPr>
            <p:cNvPr id="85" name="Rectangle 39"/>
            <p:cNvSpPr>
              <a:spLocks noChangeArrowheads="1"/>
            </p:cNvSpPr>
            <p:nvPr/>
          </p:nvSpPr>
          <p:spPr bwMode="auto">
            <a:xfrm>
              <a:off x="2566" y="2454"/>
              <a:ext cx="368" cy="190"/>
            </a:xfrm>
            <a:prstGeom prst="rect">
              <a:avLst/>
            </a:prstGeom>
            <a:solidFill>
              <a:srgbClr val="009999"/>
            </a:solidFill>
            <a:ln w="9525">
              <a:solidFill>
                <a:schemeClr val="tx1"/>
              </a:solidFill>
              <a:miter lim="800000"/>
              <a:headEnd/>
              <a:tailEnd/>
            </a:ln>
          </p:spPr>
          <p:txBody>
            <a:bodyPr wrap="none" anchor="ctr"/>
            <a:lstStyle/>
            <a:p>
              <a:pPr algn="ctr"/>
              <a:r>
                <a:rPr lang="en-US" sz="1200">
                  <a:cs typeface="Arial" pitchFamily="34" charset="0"/>
                </a:rPr>
                <a:t>SD</a:t>
              </a:r>
            </a:p>
          </p:txBody>
        </p:sp>
      </p:grpSp>
      <p:sp>
        <p:nvSpPr>
          <p:cNvPr id="94" name="TextBox 93"/>
          <p:cNvSpPr txBox="1"/>
          <p:nvPr/>
        </p:nvSpPr>
        <p:spPr>
          <a:xfrm>
            <a:off x="628826" y="2165564"/>
            <a:ext cx="444352" cy="261610"/>
          </a:xfrm>
          <a:prstGeom prst="rect">
            <a:avLst/>
          </a:prstGeom>
          <a:noFill/>
        </p:spPr>
        <p:txBody>
          <a:bodyPr wrap="none" rtlCol="0">
            <a:spAutoFit/>
          </a:bodyPr>
          <a:lstStyle/>
          <a:p>
            <a:r>
              <a:rPr lang="en-US" sz="1100" dirty="0"/>
              <a:t>FS1</a:t>
            </a:r>
          </a:p>
        </p:txBody>
      </p:sp>
      <p:sp>
        <p:nvSpPr>
          <p:cNvPr id="95" name="TextBox 94"/>
          <p:cNvSpPr txBox="1"/>
          <p:nvPr/>
        </p:nvSpPr>
        <p:spPr>
          <a:xfrm>
            <a:off x="973508" y="2165564"/>
            <a:ext cx="444352" cy="261610"/>
          </a:xfrm>
          <a:prstGeom prst="rect">
            <a:avLst/>
          </a:prstGeom>
          <a:noFill/>
        </p:spPr>
        <p:txBody>
          <a:bodyPr wrap="none" rtlCol="0">
            <a:spAutoFit/>
          </a:bodyPr>
          <a:lstStyle/>
          <a:p>
            <a:r>
              <a:rPr lang="en-US" sz="1100" dirty="0"/>
              <a:t>FS2</a:t>
            </a:r>
          </a:p>
        </p:txBody>
      </p:sp>
      <p:sp>
        <p:nvSpPr>
          <p:cNvPr id="100" name="Rounded Rectangle 99"/>
          <p:cNvSpPr/>
          <p:nvPr/>
        </p:nvSpPr>
        <p:spPr>
          <a:xfrm>
            <a:off x="1433477" y="1927737"/>
            <a:ext cx="647700" cy="141437"/>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latin typeface="+mj-lt"/>
              </a:rPr>
              <a:t>SP1</a:t>
            </a:r>
          </a:p>
        </p:txBody>
      </p:sp>
      <p:sp>
        <p:nvSpPr>
          <p:cNvPr id="40" name="Content Placeholder 2"/>
          <p:cNvSpPr txBox="1">
            <a:spLocks/>
          </p:cNvSpPr>
          <p:nvPr/>
        </p:nvSpPr>
        <p:spPr>
          <a:xfrm>
            <a:off x="3120317" y="1998455"/>
            <a:ext cx="5678946" cy="3598075"/>
          </a:xfrm>
          <a:prstGeom prst="rect">
            <a:avLst/>
          </a:prstGeom>
        </p:spPr>
        <p:txBody>
          <a:bodyPr vert="horz" wrap="square" lIns="91440" tIns="45720" rIns="91440" bIns="45720" rtlCol="0">
            <a:noAutofit/>
          </a:bodyPr>
          <a:lstStyle>
            <a:lvl1pPr marL="280988" indent="-280988">
              <a:lnSpc>
                <a:spcPct val="100000"/>
              </a:lnSpc>
              <a:spcBef>
                <a:spcPts val="1200"/>
              </a:spcBef>
              <a:spcAft>
                <a:spcPts val="600"/>
              </a:spcAft>
              <a:buClr>
                <a:schemeClr val="accent2"/>
              </a:buClr>
              <a:buFont typeface="Arial" panose="020B0604020202020204" pitchFamily="34" charset="0"/>
              <a:buChar char="•"/>
              <a:defRPr lang="en-US" sz="1400" dirty="0" smtClean="0"/>
            </a:lvl1pPr>
            <a:lvl2pPr marL="574675" lvl="1" indent="-293688">
              <a:lnSpc>
                <a:spcPct val="95000"/>
              </a:lnSpc>
              <a:spcBef>
                <a:spcPct val="20000"/>
              </a:spcBef>
              <a:spcAft>
                <a:spcPts val="800"/>
              </a:spcAft>
              <a:buFontTx/>
              <a:buChar char="‒"/>
              <a:defRPr lang="en-US" sz="1200" dirty="0" smtClean="0"/>
            </a:lvl2pPr>
            <a:lvl3pPr marL="855663" indent="-280988">
              <a:lnSpc>
                <a:spcPct val="95000"/>
              </a:lnSpc>
              <a:spcBef>
                <a:spcPts val="0"/>
              </a:spcBef>
              <a:spcAft>
                <a:spcPts val="800"/>
              </a:spcAft>
              <a:buFontTx/>
              <a:buChar char="‒"/>
              <a:defRPr lang="en-US" sz="1600" dirty="0" smtClean="0"/>
            </a:lvl3pPr>
            <a:lvl4pPr marL="1090613" indent="-234950">
              <a:lnSpc>
                <a:spcPct val="95000"/>
              </a:lnSpc>
              <a:spcBef>
                <a:spcPts val="0"/>
              </a:spcBef>
              <a:spcAft>
                <a:spcPts val="800"/>
              </a:spcAft>
              <a:buFontTx/>
              <a:buChar char="‒"/>
              <a:defRPr lang="en-US" sz="1400" dirty="0" smtClean="0"/>
            </a:lvl4pPr>
            <a:lvl5pPr marL="1312863" indent="-222250">
              <a:lnSpc>
                <a:spcPct val="95000"/>
              </a:lnSpc>
              <a:spcBef>
                <a:spcPts val="0"/>
              </a:spcBef>
              <a:spcAft>
                <a:spcPts val="800"/>
              </a:spcAft>
              <a:buFontTx/>
              <a:buChar char="‒"/>
              <a:defRPr lang="en-US" sz="1200"/>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r>
              <a:rPr lang="en-GB" dirty="0"/>
              <a:t>If File Systems associated with a Span are mounted on EVS on &gt;1 node, the SD queues will be split by the server accordingly</a:t>
            </a:r>
          </a:p>
          <a:p>
            <a:r>
              <a:rPr lang="en-GB" dirty="0"/>
              <a:t>In a Queue Split scenario, the SDs are shared between Nodes, so SD Queue Depth is divided equally among the Nodes sharing the SDs e.g. Shared 2 ways 32 -&gt; 16</a:t>
            </a:r>
          </a:p>
        </p:txBody>
      </p:sp>
      <p:grpSp>
        <p:nvGrpSpPr>
          <p:cNvPr id="41" name="Group 40">
            <a:extLst>
              <a:ext uri="{FF2B5EF4-FFF2-40B4-BE49-F238E27FC236}">
                <a16:creationId xmlns:a16="http://schemas.microsoft.com/office/drawing/2014/main" id="{7E29D12C-0033-0F48-B5D0-2E87AA9AB1D8}"/>
              </a:ext>
            </a:extLst>
          </p:cNvPr>
          <p:cNvGrpSpPr/>
          <p:nvPr/>
        </p:nvGrpSpPr>
        <p:grpSpPr>
          <a:xfrm>
            <a:off x="3774440" y="987193"/>
            <a:ext cx="778317" cy="354529"/>
            <a:chOff x="1206954" y="1354138"/>
            <a:chExt cx="778317" cy="896700"/>
          </a:xfrm>
        </p:grpSpPr>
        <p:sp>
          <p:nvSpPr>
            <p:cNvPr id="42" name="Isosceles Triangle 37">
              <a:extLst>
                <a:ext uri="{FF2B5EF4-FFF2-40B4-BE49-F238E27FC236}">
                  <a16:creationId xmlns:a16="http://schemas.microsoft.com/office/drawing/2014/main" id="{2F2A6FFA-B1E4-174D-9283-596FB5948575}"/>
                </a:ext>
              </a:extLst>
            </p:cNvPr>
            <p:cNvSpPr/>
            <p:nvPr/>
          </p:nvSpPr>
          <p:spPr>
            <a:xfrm>
              <a:off x="1206954" y="1354138"/>
              <a:ext cx="348343" cy="896700"/>
            </a:xfrm>
            <a:prstGeom prst="triangle">
              <a:avLst/>
            </a:prstGeom>
            <a:solidFill>
              <a:schemeClr val="accent1"/>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spAutoFit/>
            </a:bodyPr>
            <a:lstStyle/>
            <a:p>
              <a:pPr algn="ctr">
                <a:spcBef>
                  <a:spcPts val="600"/>
                </a:spcBef>
              </a:pPr>
              <a:endParaRPr lang="en-US" sz="1600" dirty="0" err="1">
                <a:solidFill>
                  <a:schemeClr val="tx1">
                    <a:lumMod val="85000"/>
                    <a:lumOff val="15000"/>
                  </a:schemeClr>
                </a:solidFill>
                <a:latin typeface="+mj-lt"/>
              </a:endParaRPr>
            </a:p>
          </p:txBody>
        </p:sp>
        <p:sp>
          <p:nvSpPr>
            <p:cNvPr id="44" name="TextBox 43">
              <a:extLst>
                <a:ext uri="{FF2B5EF4-FFF2-40B4-BE49-F238E27FC236}">
                  <a16:creationId xmlns:a16="http://schemas.microsoft.com/office/drawing/2014/main" id="{FD5D036C-43A4-8F43-B2E9-D856F190CCC3}"/>
                </a:ext>
              </a:extLst>
            </p:cNvPr>
            <p:cNvSpPr txBox="1">
              <a:spLocks noChangeArrowheads="1"/>
            </p:cNvSpPr>
            <p:nvPr/>
          </p:nvSpPr>
          <p:spPr bwMode="auto">
            <a:xfrm>
              <a:off x="1416947" y="1509461"/>
              <a:ext cx="568324" cy="3385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eaLnBrk="0" hangingPunct="0">
                <a:defRPr kumimoji="1" sz="1600">
                  <a:solidFill>
                    <a:srgbClr val="333333"/>
                  </a:solidFill>
                  <a:latin typeface="Arial" charset="0"/>
                  <a:ea typeface="ＭＳ Ｐゴシック" pitchFamily="34" charset="-128"/>
                </a:defRPr>
              </a:lvl1pPr>
              <a:lvl2pPr marL="742950" indent="-285750" eaLnBrk="0" hangingPunct="0">
                <a:defRPr kumimoji="1" sz="1600">
                  <a:solidFill>
                    <a:srgbClr val="333333"/>
                  </a:solidFill>
                  <a:latin typeface="Arial" charset="0"/>
                  <a:ea typeface="ＭＳ Ｐゴシック" pitchFamily="34" charset="-128"/>
                </a:defRPr>
              </a:lvl2pPr>
              <a:lvl3pPr marL="1143000" indent="-228600" eaLnBrk="0" hangingPunct="0">
                <a:defRPr kumimoji="1" sz="1600">
                  <a:solidFill>
                    <a:srgbClr val="333333"/>
                  </a:solidFill>
                  <a:latin typeface="Arial" charset="0"/>
                  <a:ea typeface="ＭＳ Ｐゴシック" pitchFamily="34" charset="-128"/>
                </a:defRPr>
              </a:lvl3pPr>
              <a:lvl4pPr marL="1600200" indent="-228600" eaLnBrk="0" hangingPunct="0">
                <a:defRPr kumimoji="1" sz="1600">
                  <a:solidFill>
                    <a:srgbClr val="333333"/>
                  </a:solidFill>
                  <a:latin typeface="Arial" charset="0"/>
                  <a:ea typeface="ＭＳ Ｐゴシック" pitchFamily="34" charset="-128"/>
                </a:defRPr>
              </a:lvl4pPr>
              <a:lvl5pPr marL="2057400" indent="-228600" eaLnBrk="0" hangingPunct="0">
                <a:defRPr kumimoji="1" sz="1600">
                  <a:solidFill>
                    <a:srgbClr val="333333"/>
                  </a:solidFill>
                  <a:latin typeface="Arial" charset="0"/>
                  <a:ea typeface="ＭＳ Ｐゴシック" pitchFamily="34" charset="-128"/>
                </a:defRPr>
              </a:lvl5pPr>
              <a:lvl6pPr marL="2514600" indent="-228600" eaLnBrk="0" fontAlgn="base" hangingPunct="0">
                <a:spcBef>
                  <a:spcPct val="20000"/>
                </a:spcBef>
                <a:spcAft>
                  <a:spcPct val="0"/>
                </a:spcAft>
                <a:buChar char="•"/>
                <a:defRPr kumimoji="1" sz="1600">
                  <a:solidFill>
                    <a:srgbClr val="333333"/>
                  </a:solidFill>
                  <a:latin typeface="Arial" charset="0"/>
                  <a:ea typeface="ＭＳ Ｐゴシック" pitchFamily="34" charset="-128"/>
                </a:defRPr>
              </a:lvl6pPr>
              <a:lvl7pPr marL="2971800" indent="-228600" eaLnBrk="0" fontAlgn="base" hangingPunct="0">
                <a:spcBef>
                  <a:spcPct val="20000"/>
                </a:spcBef>
                <a:spcAft>
                  <a:spcPct val="0"/>
                </a:spcAft>
                <a:buChar char="•"/>
                <a:defRPr kumimoji="1" sz="1600">
                  <a:solidFill>
                    <a:srgbClr val="333333"/>
                  </a:solidFill>
                  <a:latin typeface="Arial" charset="0"/>
                  <a:ea typeface="ＭＳ Ｐゴシック" pitchFamily="34" charset="-128"/>
                </a:defRPr>
              </a:lvl7pPr>
              <a:lvl8pPr marL="3429000" indent="-228600" eaLnBrk="0" fontAlgn="base" hangingPunct="0">
                <a:spcBef>
                  <a:spcPct val="20000"/>
                </a:spcBef>
                <a:spcAft>
                  <a:spcPct val="0"/>
                </a:spcAft>
                <a:buChar char="•"/>
                <a:defRPr kumimoji="1" sz="1600">
                  <a:solidFill>
                    <a:srgbClr val="333333"/>
                  </a:solidFill>
                  <a:latin typeface="Arial" charset="0"/>
                  <a:ea typeface="ＭＳ Ｐゴシック" pitchFamily="34" charset="-128"/>
                </a:defRPr>
              </a:lvl8pPr>
              <a:lvl9pPr marL="3886200" indent="-228600" eaLnBrk="0" fontAlgn="base" hangingPunct="0">
                <a:spcBef>
                  <a:spcPct val="20000"/>
                </a:spcBef>
                <a:spcAft>
                  <a:spcPct val="0"/>
                </a:spcAft>
                <a:buChar char="•"/>
                <a:defRPr kumimoji="1" sz="1600">
                  <a:solidFill>
                    <a:srgbClr val="333333"/>
                  </a:solidFill>
                  <a:latin typeface="Arial" charset="0"/>
                  <a:ea typeface="ＭＳ Ｐゴシック" pitchFamily="34" charset="-128"/>
                </a:defRPr>
              </a:lvl9pPr>
            </a:lstStyle>
            <a:p>
              <a:pPr eaLnBrk="1" hangingPunct="1">
                <a:buFontTx/>
                <a:buNone/>
              </a:pPr>
              <a:r>
                <a:rPr lang="en-US" sz="1050" b="1" dirty="0"/>
                <a:t>EVS</a:t>
              </a:r>
            </a:p>
          </p:txBody>
        </p:sp>
      </p:grpSp>
      <p:sp>
        <p:nvSpPr>
          <p:cNvPr id="49" name="Can 48">
            <a:extLst>
              <a:ext uri="{FF2B5EF4-FFF2-40B4-BE49-F238E27FC236}">
                <a16:creationId xmlns:a16="http://schemas.microsoft.com/office/drawing/2014/main" id="{E0199B67-0574-4D40-8E9F-383AE658560C}"/>
              </a:ext>
            </a:extLst>
          </p:cNvPr>
          <p:cNvSpPr/>
          <p:nvPr/>
        </p:nvSpPr>
        <p:spPr>
          <a:xfrm>
            <a:off x="693291" y="3038068"/>
            <a:ext cx="2141625" cy="486888"/>
          </a:xfrm>
          <a:prstGeom prst="ca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mj-lt"/>
              </a:rPr>
              <a:t>HDP Pool</a:t>
            </a:r>
          </a:p>
        </p:txBody>
      </p:sp>
    </p:spTree>
    <p:custDataLst>
      <p:tags r:id="rId1"/>
    </p:custDataLst>
    <p:extLst>
      <p:ext uri="{BB962C8B-B14F-4D97-AF65-F5344CB8AC3E}">
        <p14:creationId xmlns:p14="http://schemas.microsoft.com/office/powerpoint/2010/main" val="2910894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64998" y="88459"/>
            <a:ext cx="7638869" cy="732441"/>
          </a:xfrm>
        </p:spPr>
        <p:txBody>
          <a:bodyPr>
            <a:normAutofit/>
          </a:bodyPr>
          <a:lstStyle/>
          <a:p>
            <a:r>
              <a:rPr lang="en-US" dirty="0"/>
              <a:t>Sharing a Span across Nodes – Queue Splits</a:t>
            </a:r>
            <a:endParaRPr lang="en-US" sz="1400" dirty="0">
              <a:solidFill>
                <a:schemeClr val="bg1">
                  <a:lumMod val="75000"/>
                </a:schemeClr>
              </a:solidFill>
            </a:endParaRPr>
          </a:p>
        </p:txBody>
      </p:sp>
      <p:sp>
        <p:nvSpPr>
          <p:cNvPr id="5" name="Rounded Rectangle 4"/>
          <p:cNvSpPr/>
          <p:nvPr/>
        </p:nvSpPr>
        <p:spPr bwMode="auto">
          <a:xfrm>
            <a:off x="1106301" y="917623"/>
            <a:ext cx="1936750" cy="536050"/>
          </a:xfrm>
          <a:prstGeom prst="roundRect">
            <a:avLst/>
          </a:prstGeom>
          <a:ln>
            <a:headEnd type="none" w="med" len="med"/>
            <a:tailEnd type="none" w="med" len="med"/>
          </a:ln>
        </p:spPr>
        <p:style>
          <a:lnRef idx="1">
            <a:schemeClr val="accent4"/>
          </a:lnRef>
          <a:fillRef idx="2">
            <a:schemeClr val="accent4"/>
          </a:fillRef>
          <a:effectRef idx="1">
            <a:schemeClr val="accent4"/>
          </a:effectRef>
          <a:fontRef idx="minor">
            <a:schemeClr val="dk1"/>
          </a:fontRef>
        </p:style>
        <p:txBody>
          <a:bodyPr/>
          <a:lstStyle/>
          <a:p>
            <a:pPr marL="381000" indent="-381000">
              <a:tabLst>
                <a:tab pos="2246313" algn="l"/>
                <a:tab pos="2514600" algn="l"/>
              </a:tabLst>
            </a:pPr>
            <a:r>
              <a:rPr lang="en-US" dirty="0">
                <a:solidFill>
                  <a:srgbClr val="333333"/>
                </a:solidFill>
                <a:latin typeface="Arial" charset="0"/>
              </a:rPr>
              <a:t>N1</a:t>
            </a:r>
          </a:p>
        </p:txBody>
      </p:sp>
      <p:sp>
        <p:nvSpPr>
          <p:cNvPr id="6" name="Rounded Rectangle 5"/>
          <p:cNvSpPr/>
          <p:nvPr/>
        </p:nvSpPr>
        <p:spPr bwMode="auto">
          <a:xfrm>
            <a:off x="3304988" y="917624"/>
            <a:ext cx="1938338" cy="536049"/>
          </a:xfrm>
          <a:prstGeom prst="roundRect">
            <a:avLst/>
          </a:prstGeom>
          <a:ln>
            <a:headEnd type="none" w="med" len="med"/>
            <a:tailEnd type="none" w="med" len="med"/>
          </a:ln>
        </p:spPr>
        <p:style>
          <a:lnRef idx="1">
            <a:schemeClr val="accent4"/>
          </a:lnRef>
          <a:fillRef idx="2">
            <a:schemeClr val="accent4"/>
          </a:fillRef>
          <a:effectRef idx="1">
            <a:schemeClr val="accent4"/>
          </a:effectRef>
          <a:fontRef idx="minor">
            <a:schemeClr val="dk1"/>
          </a:fontRef>
        </p:style>
        <p:txBody>
          <a:bodyPr/>
          <a:lstStyle/>
          <a:p>
            <a:pPr marL="381000" indent="-381000">
              <a:tabLst>
                <a:tab pos="2246313" algn="l"/>
                <a:tab pos="2514600" algn="l"/>
              </a:tabLst>
            </a:pPr>
            <a:r>
              <a:rPr lang="en-US" dirty="0">
                <a:solidFill>
                  <a:srgbClr val="333333"/>
                </a:solidFill>
                <a:latin typeface="Arial" charset="0"/>
              </a:rPr>
              <a:t>N2</a:t>
            </a:r>
          </a:p>
        </p:txBody>
      </p:sp>
      <p:grpSp>
        <p:nvGrpSpPr>
          <p:cNvPr id="37" name="Group 36"/>
          <p:cNvGrpSpPr/>
          <p:nvPr/>
        </p:nvGrpSpPr>
        <p:grpSpPr>
          <a:xfrm>
            <a:off x="1819893" y="1057310"/>
            <a:ext cx="778317" cy="354529"/>
            <a:chOff x="1206954" y="1354138"/>
            <a:chExt cx="778317" cy="896700"/>
          </a:xfrm>
        </p:grpSpPr>
        <p:sp>
          <p:nvSpPr>
            <p:cNvPr id="38" name="Isosceles Triangle 37"/>
            <p:cNvSpPr/>
            <p:nvPr/>
          </p:nvSpPr>
          <p:spPr>
            <a:xfrm>
              <a:off x="1206954" y="1354138"/>
              <a:ext cx="348343" cy="896700"/>
            </a:xfrm>
            <a:prstGeom prst="triangle">
              <a:avLst/>
            </a:prstGeom>
            <a:solidFill>
              <a:schemeClr val="accent1"/>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spAutoFit/>
            </a:bodyPr>
            <a:lstStyle/>
            <a:p>
              <a:pPr algn="ctr">
                <a:spcBef>
                  <a:spcPts val="600"/>
                </a:spcBef>
              </a:pPr>
              <a:endParaRPr lang="en-US" sz="1600" dirty="0" err="1">
                <a:solidFill>
                  <a:schemeClr val="tx1">
                    <a:lumMod val="85000"/>
                    <a:lumOff val="15000"/>
                  </a:schemeClr>
                </a:solidFill>
                <a:latin typeface="+mj-lt"/>
              </a:endParaRPr>
            </a:p>
          </p:txBody>
        </p:sp>
        <p:sp>
          <p:nvSpPr>
            <p:cNvPr id="39" name="TextBox 38"/>
            <p:cNvSpPr txBox="1">
              <a:spLocks noChangeArrowheads="1"/>
            </p:cNvSpPr>
            <p:nvPr/>
          </p:nvSpPr>
          <p:spPr bwMode="auto">
            <a:xfrm>
              <a:off x="1416947" y="1509461"/>
              <a:ext cx="568324" cy="3385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eaLnBrk="0" hangingPunct="0">
                <a:defRPr kumimoji="1" sz="1600">
                  <a:solidFill>
                    <a:srgbClr val="333333"/>
                  </a:solidFill>
                  <a:latin typeface="Arial" charset="0"/>
                  <a:ea typeface="ＭＳ Ｐゴシック" pitchFamily="34" charset="-128"/>
                </a:defRPr>
              </a:lvl1pPr>
              <a:lvl2pPr marL="742950" indent="-285750" eaLnBrk="0" hangingPunct="0">
                <a:defRPr kumimoji="1" sz="1600">
                  <a:solidFill>
                    <a:srgbClr val="333333"/>
                  </a:solidFill>
                  <a:latin typeface="Arial" charset="0"/>
                  <a:ea typeface="ＭＳ Ｐゴシック" pitchFamily="34" charset="-128"/>
                </a:defRPr>
              </a:lvl2pPr>
              <a:lvl3pPr marL="1143000" indent="-228600" eaLnBrk="0" hangingPunct="0">
                <a:defRPr kumimoji="1" sz="1600">
                  <a:solidFill>
                    <a:srgbClr val="333333"/>
                  </a:solidFill>
                  <a:latin typeface="Arial" charset="0"/>
                  <a:ea typeface="ＭＳ Ｐゴシック" pitchFamily="34" charset="-128"/>
                </a:defRPr>
              </a:lvl3pPr>
              <a:lvl4pPr marL="1600200" indent="-228600" eaLnBrk="0" hangingPunct="0">
                <a:defRPr kumimoji="1" sz="1600">
                  <a:solidFill>
                    <a:srgbClr val="333333"/>
                  </a:solidFill>
                  <a:latin typeface="Arial" charset="0"/>
                  <a:ea typeface="ＭＳ Ｐゴシック" pitchFamily="34" charset="-128"/>
                </a:defRPr>
              </a:lvl4pPr>
              <a:lvl5pPr marL="2057400" indent="-228600" eaLnBrk="0" hangingPunct="0">
                <a:defRPr kumimoji="1" sz="1600">
                  <a:solidFill>
                    <a:srgbClr val="333333"/>
                  </a:solidFill>
                  <a:latin typeface="Arial" charset="0"/>
                  <a:ea typeface="ＭＳ Ｐゴシック" pitchFamily="34" charset="-128"/>
                </a:defRPr>
              </a:lvl5pPr>
              <a:lvl6pPr marL="2514600" indent="-228600" eaLnBrk="0" fontAlgn="base" hangingPunct="0">
                <a:spcBef>
                  <a:spcPct val="20000"/>
                </a:spcBef>
                <a:spcAft>
                  <a:spcPct val="0"/>
                </a:spcAft>
                <a:buChar char="•"/>
                <a:defRPr kumimoji="1" sz="1600">
                  <a:solidFill>
                    <a:srgbClr val="333333"/>
                  </a:solidFill>
                  <a:latin typeface="Arial" charset="0"/>
                  <a:ea typeface="ＭＳ Ｐゴシック" pitchFamily="34" charset="-128"/>
                </a:defRPr>
              </a:lvl6pPr>
              <a:lvl7pPr marL="2971800" indent="-228600" eaLnBrk="0" fontAlgn="base" hangingPunct="0">
                <a:spcBef>
                  <a:spcPct val="20000"/>
                </a:spcBef>
                <a:spcAft>
                  <a:spcPct val="0"/>
                </a:spcAft>
                <a:buChar char="•"/>
                <a:defRPr kumimoji="1" sz="1600">
                  <a:solidFill>
                    <a:srgbClr val="333333"/>
                  </a:solidFill>
                  <a:latin typeface="Arial" charset="0"/>
                  <a:ea typeface="ＭＳ Ｐゴシック" pitchFamily="34" charset="-128"/>
                </a:defRPr>
              </a:lvl7pPr>
              <a:lvl8pPr marL="3429000" indent="-228600" eaLnBrk="0" fontAlgn="base" hangingPunct="0">
                <a:spcBef>
                  <a:spcPct val="20000"/>
                </a:spcBef>
                <a:spcAft>
                  <a:spcPct val="0"/>
                </a:spcAft>
                <a:buChar char="•"/>
                <a:defRPr kumimoji="1" sz="1600">
                  <a:solidFill>
                    <a:srgbClr val="333333"/>
                  </a:solidFill>
                  <a:latin typeface="Arial" charset="0"/>
                  <a:ea typeface="ＭＳ Ｐゴシック" pitchFamily="34" charset="-128"/>
                </a:defRPr>
              </a:lvl8pPr>
              <a:lvl9pPr marL="3886200" indent="-228600" eaLnBrk="0" fontAlgn="base" hangingPunct="0">
                <a:spcBef>
                  <a:spcPct val="20000"/>
                </a:spcBef>
                <a:spcAft>
                  <a:spcPct val="0"/>
                </a:spcAft>
                <a:buChar char="•"/>
                <a:defRPr kumimoji="1" sz="1600">
                  <a:solidFill>
                    <a:srgbClr val="333333"/>
                  </a:solidFill>
                  <a:latin typeface="Arial" charset="0"/>
                  <a:ea typeface="ＭＳ Ｐゴシック" pitchFamily="34" charset="-128"/>
                </a:defRPr>
              </a:lvl9pPr>
            </a:lstStyle>
            <a:p>
              <a:pPr eaLnBrk="1" hangingPunct="1">
                <a:buFontTx/>
                <a:buNone/>
              </a:pPr>
              <a:r>
                <a:rPr lang="en-US" sz="1050" b="1" dirty="0"/>
                <a:t>EVS</a:t>
              </a:r>
            </a:p>
          </p:txBody>
        </p:sp>
      </p:grpSp>
      <p:pic>
        <p:nvPicPr>
          <p:cNvPr id="63" name="Picture 5" descr="storage_pool_2"/>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681543" y="1858957"/>
            <a:ext cx="2151571" cy="733127"/>
          </a:xfrm>
          <a:prstGeom prst="rect">
            <a:avLst/>
          </a:prstGeom>
          <a:noFill/>
          <a:ln w="9525">
            <a:noFill/>
            <a:miter lim="800000"/>
            <a:headEnd/>
            <a:tailEnd/>
          </a:ln>
        </p:spPr>
      </p:pic>
      <p:pic>
        <p:nvPicPr>
          <p:cNvPr id="64" name="Picture 6" descr="LSP_system_1"/>
          <p:cNvPicPr>
            <a:picLocks noChangeAspect="1" noChangeArrowheads="1"/>
          </p:cNvPicPr>
          <p:nvPr/>
        </p:nvPicPr>
        <p:blipFill>
          <a:blip r:embed="rId5" cstate="print"/>
          <a:srcRect/>
          <a:stretch>
            <a:fillRect/>
          </a:stretch>
        </p:blipFill>
        <p:spPr bwMode="auto">
          <a:xfrm>
            <a:off x="686305" y="1998456"/>
            <a:ext cx="340911" cy="530424"/>
          </a:xfrm>
          <a:prstGeom prst="rect">
            <a:avLst/>
          </a:prstGeom>
          <a:noFill/>
          <a:ln w="9525">
            <a:noFill/>
            <a:miter lim="800000"/>
            <a:headEnd/>
            <a:tailEnd/>
          </a:ln>
        </p:spPr>
      </p:pic>
      <p:cxnSp>
        <p:nvCxnSpPr>
          <p:cNvPr id="73" name="Straight Arrow Connector 72"/>
          <p:cNvCxnSpPr>
            <a:cxnSpLocks/>
            <a:stCxn id="64" idx="0"/>
          </p:cNvCxnSpPr>
          <p:nvPr/>
        </p:nvCxnSpPr>
        <p:spPr>
          <a:xfrm flipV="1">
            <a:off x="856761" y="1390690"/>
            <a:ext cx="907343" cy="607766"/>
          </a:xfrm>
          <a:prstGeom prst="straightConnector1">
            <a:avLst/>
          </a:prstGeom>
          <a:ln w="28575">
            <a:solidFill>
              <a:schemeClr val="tx1"/>
            </a:solidFill>
            <a:prstDash val="sysDot"/>
            <a:tailEnd type="arrow"/>
          </a:ln>
        </p:spPr>
        <p:style>
          <a:lnRef idx="1">
            <a:schemeClr val="accent1"/>
          </a:lnRef>
          <a:fillRef idx="0">
            <a:schemeClr val="accent1"/>
          </a:fillRef>
          <a:effectRef idx="0">
            <a:schemeClr val="accent1"/>
          </a:effectRef>
          <a:fontRef idx="minor">
            <a:schemeClr val="tx1"/>
          </a:fontRef>
        </p:style>
      </p:cxnSp>
      <p:cxnSp>
        <p:nvCxnSpPr>
          <p:cNvPr id="75" name="Straight Arrow Connector 74"/>
          <p:cNvCxnSpPr>
            <a:cxnSpLocks/>
            <a:endCxn id="42" idx="3"/>
          </p:cNvCxnSpPr>
          <p:nvPr/>
        </p:nvCxnSpPr>
        <p:spPr>
          <a:xfrm flipH="1" flipV="1">
            <a:off x="3948612" y="1341722"/>
            <a:ext cx="242020" cy="538384"/>
          </a:xfrm>
          <a:prstGeom prst="straightConnector1">
            <a:avLst/>
          </a:prstGeom>
          <a:ln w="28575">
            <a:solidFill>
              <a:schemeClr val="tx1"/>
            </a:solidFill>
            <a:prstDash val="sysDot"/>
            <a:tailEnd type="arrow"/>
          </a:ln>
        </p:spPr>
        <p:style>
          <a:lnRef idx="1">
            <a:schemeClr val="accent1"/>
          </a:lnRef>
          <a:fillRef idx="0">
            <a:schemeClr val="accent1"/>
          </a:fillRef>
          <a:effectRef idx="0">
            <a:schemeClr val="accent1"/>
          </a:effectRef>
          <a:fontRef idx="minor">
            <a:schemeClr val="tx1"/>
          </a:fontRef>
        </p:style>
      </p:cxnSp>
      <p:grpSp>
        <p:nvGrpSpPr>
          <p:cNvPr id="80" name="Group 34"/>
          <p:cNvGrpSpPr>
            <a:grpSpLocks/>
          </p:cNvGrpSpPr>
          <p:nvPr/>
        </p:nvGrpSpPr>
        <p:grpSpPr bwMode="auto">
          <a:xfrm>
            <a:off x="681541" y="2731446"/>
            <a:ext cx="2151572" cy="205382"/>
            <a:chOff x="1084" y="2454"/>
            <a:chExt cx="1850" cy="190"/>
          </a:xfrm>
        </p:grpSpPr>
        <p:sp>
          <p:nvSpPr>
            <p:cNvPr id="81" name="Rectangle 35"/>
            <p:cNvSpPr>
              <a:spLocks noChangeArrowheads="1"/>
            </p:cNvSpPr>
            <p:nvPr/>
          </p:nvSpPr>
          <p:spPr bwMode="auto">
            <a:xfrm>
              <a:off x="1084" y="2454"/>
              <a:ext cx="368" cy="190"/>
            </a:xfrm>
            <a:prstGeom prst="rect">
              <a:avLst/>
            </a:prstGeom>
            <a:solidFill>
              <a:srgbClr val="009999"/>
            </a:solidFill>
            <a:ln w="9525">
              <a:solidFill>
                <a:schemeClr val="tx1"/>
              </a:solidFill>
              <a:miter lim="800000"/>
              <a:headEnd/>
              <a:tailEnd/>
            </a:ln>
          </p:spPr>
          <p:txBody>
            <a:bodyPr wrap="none" anchor="ctr"/>
            <a:lstStyle/>
            <a:p>
              <a:pPr algn="ctr"/>
              <a:r>
                <a:rPr lang="en-US" sz="1200">
                  <a:cs typeface="Arial" pitchFamily="34" charset="0"/>
                </a:rPr>
                <a:t>SD</a:t>
              </a:r>
            </a:p>
          </p:txBody>
        </p:sp>
        <p:sp>
          <p:nvSpPr>
            <p:cNvPr id="82" name="Rectangle 36"/>
            <p:cNvSpPr>
              <a:spLocks noChangeArrowheads="1"/>
            </p:cNvSpPr>
            <p:nvPr/>
          </p:nvSpPr>
          <p:spPr bwMode="auto">
            <a:xfrm>
              <a:off x="1827" y="2454"/>
              <a:ext cx="368" cy="190"/>
            </a:xfrm>
            <a:prstGeom prst="rect">
              <a:avLst/>
            </a:prstGeom>
            <a:solidFill>
              <a:srgbClr val="009999"/>
            </a:solidFill>
            <a:ln w="9525">
              <a:solidFill>
                <a:schemeClr val="tx1"/>
              </a:solidFill>
              <a:miter lim="800000"/>
              <a:headEnd/>
              <a:tailEnd/>
            </a:ln>
          </p:spPr>
          <p:txBody>
            <a:bodyPr wrap="none" anchor="ctr"/>
            <a:lstStyle/>
            <a:p>
              <a:pPr algn="ctr"/>
              <a:r>
                <a:rPr lang="en-US" sz="1200">
                  <a:cs typeface="Arial" pitchFamily="34" charset="0"/>
                </a:rPr>
                <a:t>SD</a:t>
              </a:r>
            </a:p>
          </p:txBody>
        </p:sp>
        <p:sp>
          <p:nvSpPr>
            <p:cNvPr id="83" name="Rectangle 37"/>
            <p:cNvSpPr>
              <a:spLocks noChangeArrowheads="1"/>
            </p:cNvSpPr>
            <p:nvPr/>
          </p:nvSpPr>
          <p:spPr bwMode="auto">
            <a:xfrm>
              <a:off x="1456" y="2454"/>
              <a:ext cx="367" cy="190"/>
            </a:xfrm>
            <a:prstGeom prst="rect">
              <a:avLst/>
            </a:prstGeom>
            <a:solidFill>
              <a:srgbClr val="009999"/>
            </a:solidFill>
            <a:ln w="9525">
              <a:solidFill>
                <a:schemeClr val="tx1"/>
              </a:solidFill>
              <a:miter lim="800000"/>
              <a:headEnd/>
              <a:tailEnd/>
            </a:ln>
          </p:spPr>
          <p:txBody>
            <a:bodyPr wrap="none" anchor="ctr"/>
            <a:lstStyle/>
            <a:p>
              <a:pPr algn="ctr"/>
              <a:r>
                <a:rPr lang="en-US" sz="1200">
                  <a:cs typeface="Arial" pitchFamily="34" charset="0"/>
                </a:rPr>
                <a:t>SD</a:t>
              </a:r>
            </a:p>
          </p:txBody>
        </p:sp>
        <p:sp>
          <p:nvSpPr>
            <p:cNvPr id="84" name="Rectangle 38"/>
            <p:cNvSpPr>
              <a:spLocks noChangeArrowheads="1"/>
            </p:cNvSpPr>
            <p:nvPr/>
          </p:nvSpPr>
          <p:spPr bwMode="auto">
            <a:xfrm>
              <a:off x="2195" y="2454"/>
              <a:ext cx="368" cy="190"/>
            </a:xfrm>
            <a:prstGeom prst="rect">
              <a:avLst/>
            </a:prstGeom>
            <a:solidFill>
              <a:srgbClr val="009999"/>
            </a:solidFill>
            <a:ln w="9525">
              <a:solidFill>
                <a:schemeClr val="tx1"/>
              </a:solidFill>
              <a:miter lim="800000"/>
              <a:headEnd/>
              <a:tailEnd/>
            </a:ln>
          </p:spPr>
          <p:txBody>
            <a:bodyPr wrap="none" anchor="ctr"/>
            <a:lstStyle/>
            <a:p>
              <a:pPr algn="ctr"/>
              <a:r>
                <a:rPr lang="en-US" sz="1200" dirty="0">
                  <a:cs typeface="Arial" pitchFamily="34" charset="0"/>
                </a:rPr>
                <a:t>SD</a:t>
              </a:r>
            </a:p>
          </p:txBody>
        </p:sp>
        <p:sp>
          <p:nvSpPr>
            <p:cNvPr id="85" name="Rectangle 39"/>
            <p:cNvSpPr>
              <a:spLocks noChangeArrowheads="1"/>
            </p:cNvSpPr>
            <p:nvPr/>
          </p:nvSpPr>
          <p:spPr bwMode="auto">
            <a:xfrm>
              <a:off x="2566" y="2454"/>
              <a:ext cx="368" cy="190"/>
            </a:xfrm>
            <a:prstGeom prst="rect">
              <a:avLst/>
            </a:prstGeom>
            <a:solidFill>
              <a:srgbClr val="009999"/>
            </a:solidFill>
            <a:ln w="9525">
              <a:solidFill>
                <a:schemeClr val="tx1"/>
              </a:solidFill>
              <a:miter lim="800000"/>
              <a:headEnd/>
              <a:tailEnd/>
            </a:ln>
          </p:spPr>
          <p:txBody>
            <a:bodyPr wrap="none" anchor="ctr"/>
            <a:lstStyle/>
            <a:p>
              <a:pPr algn="ctr"/>
              <a:r>
                <a:rPr lang="en-US" sz="1200">
                  <a:cs typeface="Arial" pitchFamily="34" charset="0"/>
                </a:rPr>
                <a:t>SD</a:t>
              </a:r>
            </a:p>
          </p:txBody>
        </p:sp>
      </p:grpSp>
      <p:sp>
        <p:nvSpPr>
          <p:cNvPr id="94" name="TextBox 93"/>
          <p:cNvSpPr txBox="1"/>
          <p:nvPr/>
        </p:nvSpPr>
        <p:spPr>
          <a:xfrm>
            <a:off x="628826" y="2165564"/>
            <a:ext cx="444352" cy="261610"/>
          </a:xfrm>
          <a:prstGeom prst="rect">
            <a:avLst/>
          </a:prstGeom>
          <a:noFill/>
        </p:spPr>
        <p:txBody>
          <a:bodyPr wrap="none" rtlCol="0">
            <a:spAutoFit/>
          </a:bodyPr>
          <a:lstStyle/>
          <a:p>
            <a:r>
              <a:rPr lang="en-US" sz="1100" dirty="0"/>
              <a:t>FS1</a:t>
            </a:r>
          </a:p>
        </p:txBody>
      </p:sp>
      <p:sp>
        <p:nvSpPr>
          <p:cNvPr id="100" name="Rounded Rectangle 99"/>
          <p:cNvSpPr/>
          <p:nvPr/>
        </p:nvSpPr>
        <p:spPr>
          <a:xfrm>
            <a:off x="1433477" y="1927737"/>
            <a:ext cx="647700" cy="141437"/>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latin typeface="+mj-lt"/>
              </a:rPr>
              <a:t>SP1</a:t>
            </a:r>
          </a:p>
        </p:txBody>
      </p:sp>
      <p:sp>
        <p:nvSpPr>
          <p:cNvPr id="40" name="Content Placeholder 2"/>
          <p:cNvSpPr txBox="1">
            <a:spLocks/>
          </p:cNvSpPr>
          <p:nvPr/>
        </p:nvSpPr>
        <p:spPr>
          <a:xfrm>
            <a:off x="140461" y="3258913"/>
            <a:ext cx="8584006" cy="3598075"/>
          </a:xfrm>
          <a:prstGeom prst="rect">
            <a:avLst/>
          </a:prstGeom>
        </p:spPr>
        <p:txBody>
          <a:bodyPr vert="horz" wrap="square" lIns="91440" tIns="45720" rIns="91440" bIns="45720" rtlCol="0">
            <a:noAutofit/>
          </a:bodyPr>
          <a:lstStyle>
            <a:lvl1pPr marL="280988" indent="-280988">
              <a:lnSpc>
                <a:spcPct val="100000"/>
              </a:lnSpc>
              <a:spcBef>
                <a:spcPts val="1200"/>
              </a:spcBef>
              <a:spcAft>
                <a:spcPts val="600"/>
              </a:spcAft>
              <a:buClr>
                <a:schemeClr val="accent2"/>
              </a:buClr>
              <a:buFont typeface="Arial" panose="020B0604020202020204" pitchFamily="34" charset="0"/>
              <a:buChar char="•"/>
              <a:defRPr lang="en-US" sz="1400" dirty="0" smtClean="0"/>
            </a:lvl1pPr>
            <a:lvl2pPr marL="574675" lvl="1" indent="-293688">
              <a:lnSpc>
                <a:spcPct val="95000"/>
              </a:lnSpc>
              <a:spcBef>
                <a:spcPct val="20000"/>
              </a:spcBef>
              <a:spcAft>
                <a:spcPts val="800"/>
              </a:spcAft>
              <a:buFontTx/>
              <a:buChar char="‒"/>
              <a:defRPr lang="en-US" sz="1200" dirty="0" smtClean="0"/>
            </a:lvl2pPr>
            <a:lvl3pPr marL="855663" indent="-280988">
              <a:lnSpc>
                <a:spcPct val="95000"/>
              </a:lnSpc>
              <a:spcBef>
                <a:spcPts val="0"/>
              </a:spcBef>
              <a:spcAft>
                <a:spcPts val="800"/>
              </a:spcAft>
              <a:buFontTx/>
              <a:buChar char="‒"/>
              <a:defRPr lang="en-US" sz="1600" dirty="0" smtClean="0"/>
            </a:lvl3pPr>
            <a:lvl4pPr marL="1090613" indent="-234950">
              <a:lnSpc>
                <a:spcPct val="95000"/>
              </a:lnSpc>
              <a:spcBef>
                <a:spcPts val="0"/>
              </a:spcBef>
              <a:spcAft>
                <a:spcPts val="800"/>
              </a:spcAft>
              <a:buFontTx/>
              <a:buChar char="‒"/>
              <a:defRPr lang="en-US" sz="1400" dirty="0" smtClean="0"/>
            </a:lvl4pPr>
            <a:lvl5pPr marL="1312863" indent="-222250">
              <a:lnSpc>
                <a:spcPct val="95000"/>
              </a:lnSpc>
              <a:spcBef>
                <a:spcPts val="0"/>
              </a:spcBef>
              <a:spcAft>
                <a:spcPts val="800"/>
              </a:spcAft>
              <a:buFontTx/>
              <a:buChar char="‒"/>
              <a:defRPr lang="en-US" sz="1200"/>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endParaRPr lang="en-GB" dirty="0"/>
          </a:p>
        </p:txBody>
      </p:sp>
      <p:grpSp>
        <p:nvGrpSpPr>
          <p:cNvPr id="41" name="Group 40">
            <a:extLst>
              <a:ext uri="{FF2B5EF4-FFF2-40B4-BE49-F238E27FC236}">
                <a16:creationId xmlns:a16="http://schemas.microsoft.com/office/drawing/2014/main" id="{7E29D12C-0033-0F48-B5D0-2E87AA9AB1D8}"/>
              </a:ext>
            </a:extLst>
          </p:cNvPr>
          <p:cNvGrpSpPr/>
          <p:nvPr/>
        </p:nvGrpSpPr>
        <p:grpSpPr>
          <a:xfrm>
            <a:off x="3774440" y="987193"/>
            <a:ext cx="778317" cy="354529"/>
            <a:chOff x="1206954" y="1354138"/>
            <a:chExt cx="778317" cy="896700"/>
          </a:xfrm>
        </p:grpSpPr>
        <p:sp>
          <p:nvSpPr>
            <p:cNvPr id="42" name="Isosceles Triangle 37">
              <a:extLst>
                <a:ext uri="{FF2B5EF4-FFF2-40B4-BE49-F238E27FC236}">
                  <a16:creationId xmlns:a16="http://schemas.microsoft.com/office/drawing/2014/main" id="{2F2A6FFA-B1E4-174D-9283-596FB5948575}"/>
                </a:ext>
              </a:extLst>
            </p:cNvPr>
            <p:cNvSpPr/>
            <p:nvPr/>
          </p:nvSpPr>
          <p:spPr>
            <a:xfrm>
              <a:off x="1206954" y="1354138"/>
              <a:ext cx="348343" cy="896700"/>
            </a:xfrm>
            <a:prstGeom prst="triangle">
              <a:avLst/>
            </a:prstGeom>
            <a:solidFill>
              <a:schemeClr val="accent1"/>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spAutoFit/>
            </a:bodyPr>
            <a:lstStyle/>
            <a:p>
              <a:pPr algn="ctr">
                <a:spcBef>
                  <a:spcPts val="600"/>
                </a:spcBef>
              </a:pPr>
              <a:endParaRPr lang="en-US" sz="1600" dirty="0" err="1">
                <a:solidFill>
                  <a:schemeClr val="tx1">
                    <a:lumMod val="85000"/>
                    <a:lumOff val="15000"/>
                  </a:schemeClr>
                </a:solidFill>
                <a:latin typeface="+mj-lt"/>
              </a:endParaRPr>
            </a:p>
          </p:txBody>
        </p:sp>
        <p:sp>
          <p:nvSpPr>
            <p:cNvPr id="44" name="TextBox 43">
              <a:extLst>
                <a:ext uri="{FF2B5EF4-FFF2-40B4-BE49-F238E27FC236}">
                  <a16:creationId xmlns:a16="http://schemas.microsoft.com/office/drawing/2014/main" id="{FD5D036C-43A4-8F43-B2E9-D856F190CCC3}"/>
                </a:ext>
              </a:extLst>
            </p:cNvPr>
            <p:cNvSpPr txBox="1">
              <a:spLocks noChangeArrowheads="1"/>
            </p:cNvSpPr>
            <p:nvPr/>
          </p:nvSpPr>
          <p:spPr bwMode="auto">
            <a:xfrm>
              <a:off x="1416947" y="1509461"/>
              <a:ext cx="568324" cy="3385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eaLnBrk="0" hangingPunct="0">
                <a:defRPr kumimoji="1" sz="1600">
                  <a:solidFill>
                    <a:srgbClr val="333333"/>
                  </a:solidFill>
                  <a:latin typeface="Arial" charset="0"/>
                  <a:ea typeface="ＭＳ Ｐゴシック" pitchFamily="34" charset="-128"/>
                </a:defRPr>
              </a:lvl1pPr>
              <a:lvl2pPr marL="742950" indent="-285750" eaLnBrk="0" hangingPunct="0">
                <a:defRPr kumimoji="1" sz="1600">
                  <a:solidFill>
                    <a:srgbClr val="333333"/>
                  </a:solidFill>
                  <a:latin typeface="Arial" charset="0"/>
                  <a:ea typeface="ＭＳ Ｐゴシック" pitchFamily="34" charset="-128"/>
                </a:defRPr>
              </a:lvl2pPr>
              <a:lvl3pPr marL="1143000" indent="-228600" eaLnBrk="0" hangingPunct="0">
                <a:defRPr kumimoji="1" sz="1600">
                  <a:solidFill>
                    <a:srgbClr val="333333"/>
                  </a:solidFill>
                  <a:latin typeface="Arial" charset="0"/>
                  <a:ea typeface="ＭＳ Ｐゴシック" pitchFamily="34" charset="-128"/>
                </a:defRPr>
              </a:lvl3pPr>
              <a:lvl4pPr marL="1600200" indent="-228600" eaLnBrk="0" hangingPunct="0">
                <a:defRPr kumimoji="1" sz="1600">
                  <a:solidFill>
                    <a:srgbClr val="333333"/>
                  </a:solidFill>
                  <a:latin typeface="Arial" charset="0"/>
                  <a:ea typeface="ＭＳ Ｐゴシック" pitchFamily="34" charset="-128"/>
                </a:defRPr>
              </a:lvl4pPr>
              <a:lvl5pPr marL="2057400" indent="-228600" eaLnBrk="0" hangingPunct="0">
                <a:defRPr kumimoji="1" sz="1600">
                  <a:solidFill>
                    <a:srgbClr val="333333"/>
                  </a:solidFill>
                  <a:latin typeface="Arial" charset="0"/>
                  <a:ea typeface="ＭＳ Ｐゴシック" pitchFamily="34" charset="-128"/>
                </a:defRPr>
              </a:lvl5pPr>
              <a:lvl6pPr marL="2514600" indent="-228600" eaLnBrk="0" fontAlgn="base" hangingPunct="0">
                <a:spcBef>
                  <a:spcPct val="20000"/>
                </a:spcBef>
                <a:spcAft>
                  <a:spcPct val="0"/>
                </a:spcAft>
                <a:buChar char="•"/>
                <a:defRPr kumimoji="1" sz="1600">
                  <a:solidFill>
                    <a:srgbClr val="333333"/>
                  </a:solidFill>
                  <a:latin typeface="Arial" charset="0"/>
                  <a:ea typeface="ＭＳ Ｐゴシック" pitchFamily="34" charset="-128"/>
                </a:defRPr>
              </a:lvl6pPr>
              <a:lvl7pPr marL="2971800" indent="-228600" eaLnBrk="0" fontAlgn="base" hangingPunct="0">
                <a:spcBef>
                  <a:spcPct val="20000"/>
                </a:spcBef>
                <a:spcAft>
                  <a:spcPct val="0"/>
                </a:spcAft>
                <a:buChar char="•"/>
                <a:defRPr kumimoji="1" sz="1600">
                  <a:solidFill>
                    <a:srgbClr val="333333"/>
                  </a:solidFill>
                  <a:latin typeface="Arial" charset="0"/>
                  <a:ea typeface="ＭＳ Ｐゴシック" pitchFamily="34" charset="-128"/>
                </a:defRPr>
              </a:lvl7pPr>
              <a:lvl8pPr marL="3429000" indent="-228600" eaLnBrk="0" fontAlgn="base" hangingPunct="0">
                <a:spcBef>
                  <a:spcPct val="20000"/>
                </a:spcBef>
                <a:spcAft>
                  <a:spcPct val="0"/>
                </a:spcAft>
                <a:buChar char="•"/>
                <a:defRPr kumimoji="1" sz="1600">
                  <a:solidFill>
                    <a:srgbClr val="333333"/>
                  </a:solidFill>
                  <a:latin typeface="Arial" charset="0"/>
                  <a:ea typeface="ＭＳ Ｐゴシック" pitchFamily="34" charset="-128"/>
                </a:defRPr>
              </a:lvl8pPr>
              <a:lvl9pPr marL="3886200" indent="-228600" eaLnBrk="0" fontAlgn="base" hangingPunct="0">
                <a:spcBef>
                  <a:spcPct val="20000"/>
                </a:spcBef>
                <a:spcAft>
                  <a:spcPct val="0"/>
                </a:spcAft>
                <a:buChar char="•"/>
                <a:defRPr kumimoji="1" sz="1600">
                  <a:solidFill>
                    <a:srgbClr val="333333"/>
                  </a:solidFill>
                  <a:latin typeface="Arial" charset="0"/>
                  <a:ea typeface="ＭＳ Ｐゴシック" pitchFamily="34" charset="-128"/>
                </a:defRPr>
              </a:lvl9pPr>
            </a:lstStyle>
            <a:p>
              <a:pPr eaLnBrk="1" hangingPunct="1">
                <a:buFontTx/>
                <a:buNone/>
              </a:pPr>
              <a:r>
                <a:rPr lang="en-US" sz="1050" b="1" dirty="0"/>
                <a:t>EVS</a:t>
              </a:r>
            </a:p>
          </p:txBody>
        </p:sp>
      </p:grpSp>
      <p:pic>
        <p:nvPicPr>
          <p:cNvPr id="26" name="Picture 5" descr="storage_pool_2">
            <a:extLst>
              <a:ext uri="{FF2B5EF4-FFF2-40B4-BE49-F238E27FC236}">
                <a16:creationId xmlns:a16="http://schemas.microsoft.com/office/drawing/2014/main" id="{8EE553E1-0FFE-5F4E-94B7-36E5FC2D29A1}"/>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3331168" y="1851484"/>
            <a:ext cx="2151571" cy="733127"/>
          </a:xfrm>
          <a:prstGeom prst="rect">
            <a:avLst/>
          </a:prstGeom>
          <a:noFill/>
          <a:ln w="9525">
            <a:noFill/>
            <a:miter lim="800000"/>
            <a:headEnd/>
            <a:tailEnd/>
          </a:ln>
        </p:spPr>
      </p:pic>
      <p:pic>
        <p:nvPicPr>
          <p:cNvPr id="28" name="Picture 7" descr="LSP_system_2">
            <a:extLst>
              <a:ext uri="{FF2B5EF4-FFF2-40B4-BE49-F238E27FC236}">
                <a16:creationId xmlns:a16="http://schemas.microsoft.com/office/drawing/2014/main" id="{17BFCAA4-CDAF-EB47-A534-F175AEA0F279}"/>
              </a:ext>
            </a:extLst>
          </p:cNvPr>
          <p:cNvPicPr>
            <a:picLocks noChangeAspect="1" noChangeArrowheads="1"/>
          </p:cNvPicPr>
          <p:nvPr/>
        </p:nvPicPr>
        <p:blipFill>
          <a:blip r:embed="rId6" cstate="screen">
            <a:extLst>
              <a:ext uri="{28A0092B-C50C-407E-A947-70E740481C1C}">
                <a14:useLocalDpi xmlns:a14="http://schemas.microsoft.com/office/drawing/2010/main"/>
              </a:ext>
            </a:extLst>
          </a:blip>
          <a:srcRect/>
          <a:stretch>
            <a:fillRect/>
          </a:stretch>
        </p:blipFill>
        <p:spPr bwMode="auto">
          <a:xfrm>
            <a:off x="3645430" y="2075173"/>
            <a:ext cx="399758" cy="506573"/>
          </a:xfrm>
          <a:prstGeom prst="rect">
            <a:avLst/>
          </a:prstGeom>
          <a:noFill/>
          <a:ln w="9525">
            <a:noFill/>
            <a:miter lim="800000"/>
            <a:headEnd/>
            <a:tailEnd/>
          </a:ln>
        </p:spPr>
      </p:pic>
      <p:grpSp>
        <p:nvGrpSpPr>
          <p:cNvPr id="29" name="Group 34">
            <a:extLst>
              <a:ext uri="{FF2B5EF4-FFF2-40B4-BE49-F238E27FC236}">
                <a16:creationId xmlns:a16="http://schemas.microsoft.com/office/drawing/2014/main" id="{3648EDFE-E450-384A-BE7C-7C79ED5F5722}"/>
              </a:ext>
            </a:extLst>
          </p:cNvPr>
          <p:cNvGrpSpPr>
            <a:grpSpLocks/>
          </p:cNvGrpSpPr>
          <p:nvPr/>
        </p:nvGrpSpPr>
        <p:grpSpPr bwMode="auto">
          <a:xfrm>
            <a:off x="3331166" y="2723973"/>
            <a:ext cx="2151572" cy="205382"/>
            <a:chOff x="1084" y="2454"/>
            <a:chExt cx="1850" cy="190"/>
          </a:xfrm>
        </p:grpSpPr>
        <p:sp>
          <p:nvSpPr>
            <p:cNvPr id="30" name="Rectangle 35">
              <a:extLst>
                <a:ext uri="{FF2B5EF4-FFF2-40B4-BE49-F238E27FC236}">
                  <a16:creationId xmlns:a16="http://schemas.microsoft.com/office/drawing/2014/main" id="{2386B9C9-7780-D647-AD5D-91942F1246B9}"/>
                </a:ext>
              </a:extLst>
            </p:cNvPr>
            <p:cNvSpPr>
              <a:spLocks noChangeArrowheads="1"/>
            </p:cNvSpPr>
            <p:nvPr/>
          </p:nvSpPr>
          <p:spPr bwMode="auto">
            <a:xfrm>
              <a:off x="1084" y="2454"/>
              <a:ext cx="368" cy="190"/>
            </a:xfrm>
            <a:prstGeom prst="rect">
              <a:avLst/>
            </a:prstGeom>
            <a:solidFill>
              <a:srgbClr val="009999"/>
            </a:solidFill>
            <a:ln w="9525">
              <a:solidFill>
                <a:schemeClr val="tx1"/>
              </a:solidFill>
              <a:miter lim="800000"/>
              <a:headEnd/>
              <a:tailEnd/>
            </a:ln>
          </p:spPr>
          <p:txBody>
            <a:bodyPr wrap="none" anchor="ctr"/>
            <a:lstStyle/>
            <a:p>
              <a:pPr algn="ctr"/>
              <a:r>
                <a:rPr lang="en-US" sz="1200">
                  <a:cs typeface="Arial" pitchFamily="34" charset="0"/>
                </a:rPr>
                <a:t>SD</a:t>
              </a:r>
            </a:p>
          </p:txBody>
        </p:sp>
        <p:sp>
          <p:nvSpPr>
            <p:cNvPr id="31" name="Rectangle 36">
              <a:extLst>
                <a:ext uri="{FF2B5EF4-FFF2-40B4-BE49-F238E27FC236}">
                  <a16:creationId xmlns:a16="http://schemas.microsoft.com/office/drawing/2014/main" id="{4F56E655-AFC1-8947-94A7-86B05816E3CA}"/>
                </a:ext>
              </a:extLst>
            </p:cNvPr>
            <p:cNvSpPr>
              <a:spLocks noChangeArrowheads="1"/>
            </p:cNvSpPr>
            <p:nvPr/>
          </p:nvSpPr>
          <p:spPr bwMode="auto">
            <a:xfrm>
              <a:off x="1827" y="2454"/>
              <a:ext cx="368" cy="190"/>
            </a:xfrm>
            <a:prstGeom prst="rect">
              <a:avLst/>
            </a:prstGeom>
            <a:solidFill>
              <a:srgbClr val="009999"/>
            </a:solidFill>
            <a:ln w="9525">
              <a:solidFill>
                <a:schemeClr val="tx1"/>
              </a:solidFill>
              <a:miter lim="800000"/>
              <a:headEnd/>
              <a:tailEnd/>
            </a:ln>
          </p:spPr>
          <p:txBody>
            <a:bodyPr wrap="none" anchor="ctr"/>
            <a:lstStyle/>
            <a:p>
              <a:pPr algn="ctr"/>
              <a:r>
                <a:rPr lang="en-US" sz="1200">
                  <a:cs typeface="Arial" pitchFamily="34" charset="0"/>
                </a:rPr>
                <a:t>SD</a:t>
              </a:r>
            </a:p>
          </p:txBody>
        </p:sp>
        <p:sp>
          <p:nvSpPr>
            <p:cNvPr id="32" name="Rectangle 37">
              <a:extLst>
                <a:ext uri="{FF2B5EF4-FFF2-40B4-BE49-F238E27FC236}">
                  <a16:creationId xmlns:a16="http://schemas.microsoft.com/office/drawing/2014/main" id="{FC2E177C-63F0-9E45-99A3-0CDFA462719C}"/>
                </a:ext>
              </a:extLst>
            </p:cNvPr>
            <p:cNvSpPr>
              <a:spLocks noChangeArrowheads="1"/>
            </p:cNvSpPr>
            <p:nvPr/>
          </p:nvSpPr>
          <p:spPr bwMode="auto">
            <a:xfrm>
              <a:off x="1456" y="2454"/>
              <a:ext cx="367" cy="190"/>
            </a:xfrm>
            <a:prstGeom prst="rect">
              <a:avLst/>
            </a:prstGeom>
            <a:solidFill>
              <a:srgbClr val="009999"/>
            </a:solidFill>
            <a:ln w="9525">
              <a:solidFill>
                <a:schemeClr val="tx1"/>
              </a:solidFill>
              <a:miter lim="800000"/>
              <a:headEnd/>
              <a:tailEnd/>
            </a:ln>
          </p:spPr>
          <p:txBody>
            <a:bodyPr wrap="none" anchor="ctr"/>
            <a:lstStyle/>
            <a:p>
              <a:pPr algn="ctr"/>
              <a:r>
                <a:rPr lang="en-US" sz="1200">
                  <a:cs typeface="Arial" pitchFamily="34" charset="0"/>
                </a:rPr>
                <a:t>SD</a:t>
              </a:r>
            </a:p>
          </p:txBody>
        </p:sp>
        <p:sp>
          <p:nvSpPr>
            <p:cNvPr id="33" name="Rectangle 38">
              <a:extLst>
                <a:ext uri="{FF2B5EF4-FFF2-40B4-BE49-F238E27FC236}">
                  <a16:creationId xmlns:a16="http://schemas.microsoft.com/office/drawing/2014/main" id="{BFE6C86E-069C-F94D-B09E-22D220FC05E0}"/>
                </a:ext>
              </a:extLst>
            </p:cNvPr>
            <p:cNvSpPr>
              <a:spLocks noChangeArrowheads="1"/>
            </p:cNvSpPr>
            <p:nvPr/>
          </p:nvSpPr>
          <p:spPr bwMode="auto">
            <a:xfrm>
              <a:off x="2195" y="2454"/>
              <a:ext cx="368" cy="190"/>
            </a:xfrm>
            <a:prstGeom prst="rect">
              <a:avLst/>
            </a:prstGeom>
            <a:solidFill>
              <a:srgbClr val="009999"/>
            </a:solidFill>
            <a:ln w="9525">
              <a:solidFill>
                <a:schemeClr val="tx1"/>
              </a:solidFill>
              <a:miter lim="800000"/>
              <a:headEnd/>
              <a:tailEnd/>
            </a:ln>
          </p:spPr>
          <p:txBody>
            <a:bodyPr wrap="none" anchor="ctr"/>
            <a:lstStyle/>
            <a:p>
              <a:pPr algn="ctr"/>
              <a:r>
                <a:rPr lang="en-US" sz="1200" dirty="0">
                  <a:cs typeface="Arial" pitchFamily="34" charset="0"/>
                </a:rPr>
                <a:t>SD</a:t>
              </a:r>
            </a:p>
          </p:txBody>
        </p:sp>
        <p:sp>
          <p:nvSpPr>
            <p:cNvPr id="34" name="Rectangle 39">
              <a:extLst>
                <a:ext uri="{FF2B5EF4-FFF2-40B4-BE49-F238E27FC236}">
                  <a16:creationId xmlns:a16="http://schemas.microsoft.com/office/drawing/2014/main" id="{7B98A8E4-98F6-8045-92BE-66E54C994A2B}"/>
                </a:ext>
              </a:extLst>
            </p:cNvPr>
            <p:cNvSpPr>
              <a:spLocks noChangeArrowheads="1"/>
            </p:cNvSpPr>
            <p:nvPr/>
          </p:nvSpPr>
          <p:spPr bwMode="auto">
            <a:xfrm>
              <a:off x="2566" y="2454"/>
              <a:ext cx="368" cy="190"/>
            </a:xfrm>
            <a:prstGeom prst="rect">
              <a:avLst/>
            </a:prstGeom>
            <a:solidFill>
              <a:srgbClr val="009999"/>
            </a:solidFill>
            <a:ln w="9525">
              <a:solidFill>
                <a:schemeClr val="tx1"/>
              </a:solidFill>
              <a:miter lim="800000"/>
              <a:headEnd/>
              <a:tailEnd/>
            </a:ln>
          </p:spPr>
          <p:txBody>
            <a:bodyPr wrap="none" anchor="ctr"/>
            <a:lstStyle/>
            <a:p>
              <a:pPr algn="ctr"/>
              <a:r>
                <a:rPr lang="en-US" sz="1200">
                  <a:cs typeface="Arial" pitchFamily="34" charset="0"/>
                </a:rPr>
                <a:t>SD</a:t>
              </a:r>
            </a:p>
          </p:txBody>
        </p:sp>
      </p:grpSp>
      <p:sp>
        <p:nvSpPr>
          <p:cNvPr id="36" name="TextBox 35">
            <a:extLst>
              <a:ext uri="{FF2B5EF4-FFF2-40B4-BE49-F238E27FC236}">
                <a16:creationId xmlns:a16="http://schemas.microsoft.com/office/drawing/2014/main" id="{A9644AE6-AD66-B743-8824-40A42DCAFD24}"/>
              </a:ext>
            </a:extLst>
          </p:cNvPr>
          <p:cNvSpPr txBox="1"/>
          <p:nvPr/>
        </p:nvSpPr>
        <p:spPr>
          <a:xfrm>
            <a:off x="3623133" y="2158091"/>
            <a:ext cx="444352" cy="261610"/>
          </a:xfrm>
          <a:prstGeom prst="rect">
            <a:avLst/>
          </a:prstGeom>
          <a:noFill/>
        </p:spPr>
        <p:txBody>
          <a:bodyPr wrap="none" rtlCol="0">
            <a:spAutoFit/>
          </a:bodyPr>
          <a:lstStyle/>
          <a:p>
            <a:r>
              <a:rPr lang="en-US" sz="1100" dirty="0"/>
              <a:t>FS2</a:t>
            </a:r>
          </a:p>
        </p:txBody>
      </p:sp>
      <p:sp>
        <p:nvSpPr>
          <p:cNvPr id="43" name="Rounded Rectangle 42">
            <a:extLst>
              <a:ext uri="{FF2B5EF4-FFF2-40B4-BE49-F238E27FC236}">
                <a16:creationId xmlns:a16="http://schemas.microsoft.com/office/drawing/2014/main" id="{2CF07E5E-918F-0445-9E4D-CD4B456E4125}"/>
              </a:ext>
            </a:extLst>
          </p:cNvPr>
          <p:cNvSpPr/>
          <p:nvPr/>
        </p:nvSpPr>
        <p:spPr>
          <a:xfrm>
            <a:off x="4083102" y="1920264"/>
            <a:ext cx="647700" cy="141437"/>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latin typeface="+mj-lt"/>
              </a:rPr>
              <a:t>SP2</a:t>
            </a:r>
          </a:p>
        </p:txBody>
      </p:sp>
      <p:sp>
        <p:nvSpPr>
          <p:cNvPr id="9" name="Can 8">
            <a:extLst>
              <a:ext uri="{FF2B5EF4-FFF2-40B4-BE49-F238E27FC236}">
                <a16:creationId xmlns:a16="http://schemas.microsoft.com/office/drawing/2014/main" id="{8DBFB83C-B5CE-5A41-844A-9FF1669BA24C}"/>
              </a:ext>
            </a:extLst>
          </p:cNvPr>
          <p:cNvSpPr/>
          <p:nvPr/>
        </p:nvSpPr>
        <p:spPr>
          <a:xfrm>
            <a:off x="691488" y="3109296"/>
            <a:ext cx="4791250" cy="486888"/>
          </a:xfrm>
          <a:prstGeom prst="ca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mj-lt"/>
              </a:rPr>
              <a:t>HDP Pool</a:t>
            </a:r>
          </a:p>
        </p:txBody>
      </p:sp>
      <p:sp>
        <p:nvSpPr>
          <p:cNvPr id="45" name="Content Placeholder 2">
            <a:extLst>
              <a:ext uri="{FF2B5EF4-FFF2-40B4-BE49-F238E27FC236}">
                <a16:creationId xmlns:a16="http://schemas.microsoft.com/office/drawing/2014/main" id="{EB5028B6-290C-B748-8EBD-40802CA31D76}"/>
              </a:ext>
            </a:extLst>
          </p:cNvPr>
          <p:cNvSpPr txBox="1">
            <a:spLocks/>
          </p:cNvSpPr>
          <p:nvPr/>
        </p:nvSpPr>
        <p:spPr>
          <a:xfrm>
            <a:off x="441377" y="3813678"/>
            <a:ext cx="8363789" cy="1025077"/>
          </a:xfrm>
          <a:prstGeom prst="rect">
            <a:avLst/>
          </a:prstGeom>
        </p:spPr>
        <p:txBody>
          <a:bodyPr vert="horz" wrap="square" lIns="91440" tIns="45720" rIns="91440" bIns="45720" rtlCol="0">
            <a:noAutofit/>
          </a:bodyPr>
          <a:lstStyle>
            <a:lvl1pPr marL="280988" indent="-280988">
              <a:lnSpc>
                <a:spcPct val="100000"/>
              </a:lnSpc>
              <a:spcBef>
                <a:spcPts val="1200"/>
              </a:spcBef>
              <a:spcAft>
                <a:spcPts val="600"/>
              </a:spcAft>
              <a:buClr>
                <a:schemeClr val="accent2"/>
              </a:buClr>
              <a:buFont typeface="Arial" panose="020B0604020202020204" pitchFamily="34" charset="0"/>
              <a:buChar char="•"/>
              <a:defRPr lang="en-US" sz="1400" dirty="0" smtClean="0"/>
            </a:lvl1pPr>
            <a:lvl2pPr marL="574675" lvl="1" indent="-293688">
              <a:lnSpc>
                <a:spcPct val="95000"/>
              </a:lnSpc>
              <a:spcBef>
                <a:spcPct val="20000"/>
              </a:spcBef>
              <a:spcAft>
                <a:spcPts val="800"/>
              </a:spcAft>
              <a:buFontTx/>
              <a:buChar char="‒"/>
              <a:defRPr lang="en-US" sz="1200" dirty="0" smtClean="0"/>
            </a:lvl2pPr>
            <a:lvl3pPr marL="855663" indent="-280988">
              <a:lnSpc>
                <a:spcPct val="95000"/>
              </a:lnSpc>
              <a:spcBef>
                <a:spcPts val="0"/>
              </a:spcBef>
              <a:spcAft>
                <a:spcPts val="800"/>
              </a:spcAft>
              <a:buFontTx/>
              <a:buChar char="‒"/>
              <a:defRPr lang="en-US" sz="1600" dirty="0" smtClean="0"/>
            </a:lvl3pPr>
            <a:lvl4pPr marL="1090613" indent="-234950">
              <a:lnSpc>
                <a:spcPct val="95000"/>
              </a:lnSpc>
              <a:spcBef>
                <a:spcPts val="0"/>
              </a:spcBef>
              <a:spcAft>
                <a:spcPts val="800"/>
              </a:spcAft>
              <a:buFontTx/>
              <a:buChar char="‒"/>
              <a:defRPr lang="en-US" sz="1400" dirty="0" smtClean="0"/>
            </a:lvl4pPr>
            <a:lvl5pPr marL="1312863" indent="-222250">
              <a:lnSpc>
                <a:spcPct val="95000"/>
              </a:lnSpc>
              <a:spcBef>
                <a:spcPts val="0"/>
              </a:spcBef>
              <a:spcAft>
                <a:spcPts val="800"/>
              </a:spcAft>
              <a:buFontTx/>
              <a:buChar char="‒"/>
              <a:defRPr lang="en-US" sz="1200"/>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r>
              <a:rPr lang="en-GB" dirty="0"/>
              <a:t>If Multiple Spans are created from the same HDP Pool, the Queue Split can be avoided</a:t>
            </a:r>
          </a:p>
          <a:p>
            <a:r>
              <a:rPr lang="en-GB" dirty="0"/>
              <a:t>But you still have to consider the load on the HDP Pool as a whole from &gt;1 span. If the HDP Pool had only a small number of HDDs, creating another Span from it could push it too hard.</a:t>
            </a:r>
          </a:p>
        </p:txBody>
      </p:sp>
    </p:spTree>
    <p:custDataLst>
      <p:tags r:id="rId1"/>
    </p:custDataLst>
    <p:extLst>
      <p:ext uri="{BB962C8B-B14F-4D97-AF65-F5344CB8AC3E}">
        <p14:creationId xmlns:p14="http://schemas.microsoft.com/office/powerpoint/2010/main" val="37805044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F049370-06CC-7641-A719-8A547AE3D3F0}"/>
              </a:ext>
            </a:extLst>
          </p:cNvPr>
          <p:cNvSpPr>
            <a:spLocks noGrp="1"/>
          </p:cNvSpPr>
          <p:nvPr>
            <p:ph idx="1"/>
          </p:nvPr>
        </p:nvSpPr>
        <p:spPr>
          <a:xfrm>
            <a:off x="264160" y="712983"/>
            <a:ext cx="8584006" cy="5190139"/>
          </a:xfrm>
        </p:spPr>
        <p:txBody>
          <a:bodyPr/>
          <a:lstStyle/>
          <a:p>
            <a:r>
              <a:rPr lang="en-US" sz="1400" dirty="0"/>
              <a:t>Queue Split Performance Impact can vary</a:t>
            </a:r>
          </a:p>
          <a:p>
            <a:pPr lvl="1"/>
            <a:r>
              <a:rPr lang="en-US" sz="1200" dirty="0"/>
              <a:t>More impactful when one node is much busier than the other sharing the system drives</a:t>
            </a:r>
          </a:p>
          <a:p>
            <a:pPr lvl="1"/>
            <a:r>
              <a:rPr lang="en-US" sz="1200" dirty="0"/>
              <a:t>More impactful with slower disk (NL-SAS), less impactful with SSD/FMD</a:t>
            </a:r>
          </a:p>
          <a:p>
            <a:pPr lvl="1"/>
            <a:r>
              <a:rPr lang="en-US" sz="1200" dirty="0"/>
              <a:t>The more the queues are split (&gt;2 nodes), the more potential for performance impact</a:t>
            </a:r>
          </a:p>
          <a:p>
            <a:r>
              <a:rPr lang="en-US" sz="1400" dirty="0"/>
              <a:t>Creating more Spans per HDP pool just to avoid a queue split is not always the best answer</a:t>
            </a:r>
          </a:p>
          <a:p>
            <a:r>
              <a:rPr lang="en-US" sz="1400" dirty="0"/>
              <a:t>Example: A 4 PG NL-SAS HDP Pool should not be split into 2 spans</a:t>
            </a:r>
          </a:p>
          <a:p>
            <a:pPr lvl="1"/>
            <a:r>
              <a:rPr lang="en-US" sz="1200" dirty="0"/>
              <a:t>Create a single Span and run the cluster active/passive (if &gt;1 EVS is required, place both on the same node)</a:t>
            </a:r>
          </a:p>
          <a:p>
            <a:pPr lvl="1"/>
            <a:r>
              <a:rPr lang="en-US" sz="1200" dirty="0"/>
              <a:t>The NL-SAS drives will be the performance bottleneck anyway</a:t>
            </a:r>
          </a:p>
          <a:p>
            <a:r>
              <a:rPr lang="en-US" sz="1400" dirty="0"/>
              <a:t>Example: A single small PG of Flash should not be split into 2 spans to service only 2 nodes</a:t>
            </a:r>
          </a:p>
          <a:p>
            <a:pPr lvl="1"/>
            <a:r>
              <a:rPr lang="en-US" sz="1200" dirty="0"/>
              <a:t>Unlikely to reap many benefits by creating 2 spans unless &gt;32 file systems are required</a:t>
            </a:r>
          </a:p>
          <a:p>
            <a:pPr lvl="1"/>
            <a:r>
              <a:rPr lang="en-US" sz="1200" dirty="0"/>
              <a:t>Simpler just to create a single span and share it across 2 nodes. Increase the Q Depth per SD if required.</a:t>
            </a:r>
          </a:p>
          <a:p>
            <a:r>
              <a:rPr lang="en-US" sz="1400" dirty="0"/>
              <a:t>Apply some thought.. Keep it simple</a:t>
            </a:r>
          </a:p>
          <a:p>
            <a:endParaRPr lang="en-US" sz="1400" dirty="0"/>
          </a:p>
          <a:p>
            <a:endParaRPr lang="en-US" sz="1400" dirty="0"/>
          </a:p>
        </p:txBody>
      </p:sp>
      <p:sp>
        <p:nvSpPr>
          <p:cNvPr id="3" name="Title 2">
            <a:extLst>
              <a:ext uri="{FF2B5EF4-FFF2-40B4-BE49-F238E27FC236}">
                <a16:creationId xmlns:a16="http://schemas.microsoft.com/office/drawing/2014/main" id="{35125925-AFEE-FE4D-B5AA-85714BE32D96}"/>
              </a:ext>
            </a:extLst>
          </p:cNvPr>
          <p:cNvSpPr>
            <a:spLocks noGrp="1"/>
          </p:cNvSpPr>
          <p:nvPr>
            <p:ph type="title"/>
          </p:nvPr>
        </p:nvSpPr>
        <p:spPr/>
        <p:txBody>
          <a:bodyPr/>
          <a:lstStyle/>
          <a:p>
            <a:r>
              <a:rPr lang="en-US" dirty="0"/>
              <a:t>Queue Splits are generally discouraged, but..</a:t>
            </a:r>
          </a:p>
        </p:txBody>
      </p:sp>
    </p:spTree>
    <p:extLst>
      <p:ext uri="{BB962C8B-B14F-4D97-AF65-F5344CB8AC3E}">
        <p14:creationId xmlns:p14="http://schemas.microsoft.com/office/powerpoint/2010/main" val="38261202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a:t>1TB size-limit on allocations on HDP</a:t>
            </a:r>
          </a:p>
        </p:txBody>
      </p:sp>
      <p:sp>
        <p:nvSpPr>
          <p:cNvPr id="3" name="Content Placeholder 2"/>
          <p:cNvSpPr>
            <a:spLocks noGrp="1"/>
          </p:cNvSpPr>
          <p:nvPr>
            <p:ph idx="1"/>
          </p:nvPr>
        </p:nvSpPr>
        <p:spPr/>
        <p:txBody>
          <a:bodyPr>
            <a:noAutofit/>
          </a:bodyPr>
          <a:lstStyle/>
          <a:p>
            <a:r>
              <a:rPr lang="en-GB" sz="1400" dirty="0"/>
              <a:t>Span Manager must always know how much free space is on a DP pool, and so it writes to each HDP page in every newly allocated chunk</a:t>
            </a:r>
          </a:p>
          <a:p>
            <a:r>
              <a:rPr lang="en-GB" sz="1400" dirty="0"/>
              <a:t>This takes time, and so</a:t>
            </a:r>
          </a:p>
          <a:p>
            <a:pPr lvl="1"/>
            <a:r>
              <a:rPr lang="en-GB" sz="1400" dirty="0"/>
              <a:t>A new File System on a DP pool can’t exceed 1TiB</a:t>
            </a:r>
          </a:p>
          <a:p>
            <a:pPr lvl="1"/>
            <a:r>
              <a:rPr lang="en-GB" sz="1400" dirty="0"/>
              <a:t>A manual fs-expansion on a DP pool can’t exceed 1TiB</a:t>
            </a:r>
          </a:p>
          <a:p>
            <a:pPr lvl="1"/>
            <a:r>
              <a:rPr lang="en-GB" sz="1400" dirty="0"/>
              <a:t>You can still use multiple expansions to get to 1PiB, or (even better) create a small file system and let it auto-expand</a:t>
            </a:r>
          </a:p>
          <a:p>
            <a:r>
              <a:rPr lang="en-GB" sz="1400" dirty="0"/>
              <a:t>CLI filesystem-expand has the ability to performed looped 1TB expansions, but should be used cautiously</a:t>
            </a:r>
          </a:p>
          <a:p>
            <a:r>
              <a:rPr lang="en-GB" sz="1400" dirty="0"/>
              <a:t>Better to use filesystem-thin and filesystem/span confine if concerned about client perception of capacity. Let auto-expansion do it’s job.</a:t>
            </a:r>
          </a:p>
        </p:txBody>
      </p:sp>
    </p:spTree>
    <p:extLst>
      <p:ext uri="{BB962C8B-B14F-4D97-AF65-F5344CB8AC3E}">
        <p14:creationId xmlns:p14="http://schemas.microsoft.com/office/powerpoint/2010/main" val="13458308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F4AB36B-F27D-4E42-BA80-A473B87B2CA4}"/>
              </a:ext>
            </a:extLst>
          </p:cNvPr>
          <p:cNvSpPr>
            <a:spLocks noGrp="1"/>
          </p:cNvSpPr>
          <p:nvPr>
            <p:ph idx="1"/>
          </p:nvPr>
        </p:nvSpPr>
        <p:spPr>
          <a:xfrm>
            <a:off x="264160" y="863370"/>
            <a:ext cx="8584006" cy="3906198"/>
          </a:xfrm>
        </p:spPr>
        <p:txBody>
          <a:bodyPr/>
          <a:lstStyle/>
          <a:p>
            <a:r>
              <a:rPr lang="en-US" sz="1600" dirty="0"/>
              <a:t>HNAS Supports 2 block sizes – 4kb or 32kb</a:t>
            </a:r>
          </a:p>
          <a:p>
            <a:pPr lvl="1"/>
            <a:r>
              <a:rPr lang="en-US" sz="1400" dirty="0"/>
              <a:t>4kb is more capacity efficient when storing many small files</a:t>
            </a:r>
          </a:p>
          <a:p>
            <a:pPr lvl="1"/>
            <a:r>
              <a:rPr lang="en-US" sz="1400" dirty="0"/>
              <a:t>32kb provides best performance for most scenarios – especially large block or streaming workloads where throughput is most important</a:t>
            </a:r>
          </a:p>
          <a:p>
            <a:r>
              <a:rPr lang="en-US" sz="1600" dirty="0"/>
              <a:t>4kb block size tends to place heavier requirement on back-end – more IOPS requires to read/write a given amount of data. Avoid using 4kb on NL-SAS configuration even when storing smaller files.</a:t>
            </a:r>
          </a:p>
          <a:p>
            <a:r>
              <a:rPr lang="en-US" sz="1600" dirty="0"/>
              <a:t>32kb is and should be the default choice – in most cases it provides the best performance. Most customers say performance isn’t important until it is. If in doubt, use 32kb – especially with NL-SAS drives.</a:t>
            </a:r>
          </a:p>
          <a:p>
            <a:r>
              <a:rPr lang="en-US" sz="1600" dirty="0"/>
              <a:t>The one exception where 4kb provides better performance is where applications perform small block random write IO into 32kb FS resulting in RMW (Read/Modify/Write) </a:t>
            </a:r>
          </a:p>
        </p:txBody>
      </p:sp>
      <p:sp>
        <p:nvSpPr>
          <p:cNvPr id="3" name="Title 2">
            <a:extLst>
              <a:ext uri="{FF2B5EF4-FFF2-40B4-BE49-F238E27FC236}">
                <a16:creationId xmlns:a16="http://schemas.microsoft.com/office/drawing/2014/main" id="{DAAD8493-675A-5D4A-8C8C-34C9165F615C}"/>
              </a:ext>
            </a:extLst>
          </p:cNvPr>
          <p:cNvSpPr>
            <a:spLocks noGrp="1"/>
          </p:cNvSpPr>
          <p:nvPr>
            <p:ph type="title"/>
          </p:nvPr>
        </p:nvSpPr>
        <p:spPr/>
        <p:txBody>
          <a:bodyPr/>
          <a:lstStyle/>
          <a:p>
            <a:r>
              <a:rPr lang="en-US" dirty="0"/>
              <a:t>File System Block Size</a:t>
            </a:r>
          </a:p>
        </p:txBody>
      </p:sp>
    </p:spTree>
    <p:extLst>
      <p:ext uri="{BB962C8B-B14F-4D97-AF65-F5344CB8AC3E}">
        <p14:creationId xmlns:p14="http://schemas.microsoft.com/office/powerpoint/2010/main" val="18655049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64160" y="885801"/>
            <a:ext cx="8584006" cy="3644075"/>
          </a:xfrm>
        </p:spPr>
        <p:txBody>
          <a:bodyPr vert="horz" wrap="square" lIns="91440" tIns="45720" rIns="91440" bIns="45720" rtlCol="0">
            <a:spAutoFit/>
          </a:bodyPr>
          <a:lstStyle/>
          <a:p>
            <a:pPr>
              <a:spcBef>
                <a:spcPts val="1200"/>
              </a:spcBef>
            </a:pPr>
            <a:r>
              <a:rPr lang="en-GB" sz="1800" dirty="0"/>
              <a:t>When a new file is created then the new data is written to new space</a:t>
            </a:r>
          </a:p>
          <a:p>
            <a:pPr>
              <a:spcBef>
                <a:spcPts val="1200"/>
              </a:spcBef>
            </a:pPr>
            <a:r>
              <a:rPr lang="en-GB" sz="1800" dirty="0"/>
              <a:t>When an existing file is extended then the new data is written to new space</a:t>
            </a:r>
          </a:p>
          <a:p>
            <a:pPr>
              <a:spcBef>
                <a:spcPts val="1200"/>
              </a:spcBef>
            </a:pPr>
            <a:r>
              <a:rPr lang="en-GB" sz="1800" dirty="0"/>
              <a:t>However, when an existing file is modified then there are two choices</a:t>
            </a:r>
          </a:p>
          <a:p>
            <a:pPr lvl="1">
              <a:spcBef>
                <a:spcPct val="20000"/>
              </a:spcBef>
              <a:spcAft>
                <a:spcPts val="800"/>
              </a:spcAft>
            </a:pPr>
            <a:r>
              <a:rPr lang="en-GB" sz="1600" dirty="0"/>
              <a:t>write the new data over the top of the existing data (“write in place”)</a:t>
            </a:r>
          </a:p>
          <a:p>
            <a:pPr lvl="1">
              <a:spcBef>
                <a:spcPct val="20000"/>
              </a:spcBef>
              <a:spcAft>
                <a:spcPts val="800"/>
              </a:spcAft>
            </a:pPr>
            <a:r>
              <a:rPr lang="en-GB" sz="1600" dirty="0"/>
              <a:t>write the new data to new space (“write new”)</a:t>
            </a:r>
          </a:p>
          <a:p>
            <a:pPr>
              <a:spcBef>
                <a:spcPts val="1200"/>
              </a:spcBef>
            </a:pPr>
            <a:r>
              <a:rPr lang="en-GB" sz="1800" dirty="0"/>
              <a:t>HNAS normally adopts the “write new” policy</a:t>
            </a:r>
          </a:p>
          <a:p>
            <a:pPr lvl="1">
              <a:spcBef>
                <a:spcPct val="20000"/>
              </a:spcBef>
              <a:spcAft>
                <a:spcPts val="800"/>
              </a:spcAft>
            </a:pPr>
            <a:r>
              <a:rPr lang="en-GB" sz="1600" dirty="0"/>
              <a:t>this is typically more efficient for the backend storage</a:t>
            </a:r>
          </a:p>
          <a:p>
            <a:pPr lvl="1">
              <a:spcBef>
                <a:spcPct val="20000"/>
              </a:spcBef>
              <a:spcAft>
                <a:spcPts val="800"/>
              </a:spcAft>
            </a:pPr>
            <a:r>
              <a:rPr lang="en-GB" sz="1600" dirty="0"/>
              <a:t>this ensures the old data is preserved (when necessary) for features such as snapshots, clones, dedupe, etc.</a:t>
            </a:r>
          </a:p>
        </p:txBody>
      </p:sp>
      <p:sp>
        <p:nvSpPr>
          <p:cNvPr id="2" name="Title 1"/>
          <p:cNvSpPr>
            <a:spLocks noGrp="1"/>
          </p:cNvSpPr>
          <p:nvPr>
            <p:ph type="title"/>
          </p:nvPr>
        </p:nvSpPr>
        <p:spPr/>
        <p:txBody>
          <a:bodyPr/>
          <a:lstStyle/>
          <a:p>
            <a:r>
              <a:rPr lang="en-US" dirty="0"/>
              <a:t>Filesystem level read/modify/write</a:t>
            </a:r>
            <a:endParaRPr lang="en-GB" dirty="0"/>
          </a:p>
        </p:txBody>
      </p:sp>
    </p:spTree>
    <p:extLst>
      <p:ext uri="{BB962C8B-B14F-4D97-AF65-F5344CB8AC3E}">
        <p14:creationId xmlns:p14="http://schemas.microsoft.com/office/powerpoint/2010/main" val="353300224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6688" y="1004089"/>
            <a:ext cx="6278224" cy="1523494"/>
          </a:xfrm>
        </p:spPr>
        <p:txBody>
          <a:bodyPr/>
          <a:lstStyle/>
          <a:p>
            <a:r>
              <a:rPr lang="en-GB" sz="1200" dirty="0"/>
              <a:t>“Write new” policy writes out new data into free space</a:t>
            </a:r>
          </a:p>
          <a:p>
            <a:endParaRPr lang="en-GB" sz="1200" dirty="0"/>
          </a:p>
          <a:p>
            <a:endParaRPr lang="en-GB" sz="1200" dirty="0"/>
          </a:p>
          <a:p>
            <a:r>
              <a:rPr lang="en-GB" sz="1200" dirty="0"/>
              <a:t>New data is written to new space</a:t>
            </a:r>
            <a:endParaRPr lang="en-GB" sz="1100" dirty="0"/>
          </a:p>
        </p:txBody>
      </p:sp>
      <p:sp>
        <p:nvSpPr>
          <p:cNvPr id="2" name="Title 1"/>
          <p:cNvSpPr>
            <a:spLocks noGrp="1"/>
          </p:cNvSpPr>
          <p:nvPr>
            <p:ph type="title"/>
          </p:nvPr>
        </p:nvSpPr>
        <p:spPr/>
        <p:txBody>
          <a:bodyPr/>
          <a:lstStyle/>
          <a:p>
            <a:r>
              <a:rPr lang="en-US" dirty="0"/>
              <a:t>Filesystem level read/modify/write</a:t>
            </a:r>
            <a:endParaRPr lang="en-GB" dirty="0"/>
          </a:p>
        </p:txBody>
      </p:sp>
      <p:sp>
        <p:nvSpPr>
          <p:cNvPr id="78" name="Rectangle 77"/>
          <p:cNvSpPr/>
          <p:nvPr/>
        </p:nvSpPr>
        <p:spPr>
          <a:xfrm>
            <a:off x="1030176" y="1495771"/>
            <a:ext cx="279588" cy="228600"/>
          </a:xfrm>
          <a:prstGeom prst="rect">
            <a:avLst/>
          </a:prstGeom>
          <a:solidFill>
            <a:srgbClr val="FFFF0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latin typeface="+mj-lt"/>
            </a:endParaRPr>
          </a:p>
        </p:txBody>
      </p:sp>
      <p:cxnSp>
        <p:nvCxnSpPr>
          <p:cNvPr id="79" name="Straight Arrow Connector 78"/>
          <p:cNvCxnSpPr>
            <a:cxnSpLocks/>
          </p:cNvCxnSpPr>
          <p:nvPr/>
        </p:nvCxnSpPr>
        <p:spPr>
          <a:xfrm>
            <a:off x="1186968" y="1731891"/>
            <a:ext cx="0" cy="22860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80" name="TextBox 79"/>
          <p:cNvSpPr txBox="1"/>
          <p:nvPr/>
        </p:nvSpPr>
        <p:spPr>
          <a:xfrm>
            <a:off x="1324467" y="1470455"/>
            <a:ext cx="1901333" cy="253916"/>
          </a:xfrm>
          <a:prstGeom prst="rect">
            <a:avLst/>
          </a:prstGeom>
          <a:noFill/>
        </p:spPr>
        <p:txBody>
          <a:bodyPr wrap="square" rtlCol="0">
            <a:spAutoFit/>
          </a:bodyPr>
          <a:lstStyle/>
          <a:p>
            <a:r>
              <a:rPr lang="en-GB" sz="1050" dirty="0"/>
              <a:t>New data for this position</a:t>
            </a:r>
          </a:p>
        </p:txBody>
      </p:sp>
      <p:sp>
        <p:nvSpPr>
          <p:cNvPr id="94" name="TextBox 93"/>
          <p:cNvSpPr txBox="1"/>
          <p:nvPr/>
        </p:nvSpPr>
        <p:spPr>
          <a:xfrm>
            <a:off x="183395" y="3471133"/>
            <a:ext cx="3985789" cy="253916"/>
          </a:xfrm>
          <a:prstGeom prst="rect">
            <a:avLst/>
          </a:prstGeom>
          <a:noFill/>
        </p:spPr>
        <p:txBody>
          <a:bodyPr wrap="square" rtlCol="0">
            <a:spAutoFit/>
          </a:bodyPr>
          <a:lstStyle/>
          <a:p>
            <a:r>
              <a:rPr lang="en-GB" sz="1050" dirty="0"/>
              <a:t>Old data block is freed (unless required for snapshot etc.)</a:t>
            </a:r>
          </a:p>
        </p:txBody>
      </p:sp>
      <p:sp>
        <p:nvSpPr>
          <p:cNvPr id="31" name="Rectangle 30">
            <a:extLst>
              <a:ext uri="{FF2B5EF4-FFF2-40B4-BE49-F238E27FC236}">
                <a16:creationId xmlns:a16="http://schemas.microsoft.com/office/drawing/2014/main" id="{8DB04729-5F19-0045-AABC-466BC3ACB53A}"/>
              </a:ext>
            </a:extLst>
          </p:cNvPr>
          <p:cNvSpPr/>
          <p:nvPr/>
        </p:nvSpPr>
        <p:spPr>
          <a:xfrm>
            <a:off x="778350" y="1960491"/>
            <a:ext cx="279588" cy="228600"/>
          </a:xfrm>
          <a:prstGeom prst="rect">
            <a:avLst/>
          </a:prstGeom>
          <a:solidFill>
            <a:schemeClr val="accent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latin typeface="+mj-lt"/>
            </a:endParaRPr>
          </a:p>
        </p:txBody>
      </p:sp>
      <p:sp>
        <p:nvSpPr>
          <p:cNvPr id="32" name="Rectangle 31">
            <a:extLst>
              <a:ext uri="{FF2B5EF4-FFF2-40B4-BE49-F238E27FC236}">
                <a16:creationId xmlns:a16="http://schemas.microsoft.com/office/drawing/2014/main" id="{E5B5646B-2A5D-AF44-BF16-629B8523655E}"/>
              </a:ext>
            </a:extLst>
          </p:cNvPr>
          <p:cNvSpPr/>
          <p:nvPr/>
        </p:nvSpPr>
        <p:spPr>
          <a:xfrm>
            <a:off x="1057938" y="1960491"/>
            <a:ext cx="279588" cy="228600"/>
          </a:xfrm>
          <a:prstGeom prst="rect">
            <a:avLst/>
          </a:prstGeom>
          <a:solidFill>
            <a:schemeClr val="accent4"/>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latin typeface="+mj-lt"/>
            </a:endParaRPr>
          </a:p>
        </p:txBody>
      </p:sp>
      <p:sp>
        <p:nvSpPr>
          <p:cNvPr id="33" name="Rectangle 32">
            <a:extLst>
              <a:ext uri="{FF2B5EF4-FFF2-40B4-BE49-F238E27FC236}">
                <a16:creationId xmlns:a16="http://schemas.microsoft.com/office/drawing/2014/main" id="{82CEE581-88DC-F749-A28C-6ACFBC557E77}"/>
              </a:ext>
            </a:extLst>
          </p:cNvPr>
          <p:cNvSpPr/>
          <p:nvPr/>
        </p:nvSpPr>
        <p:spPr>
          <a:xfrm>
            <a:off x="1337526" y="1960491"/>
            <a:ext cx="279588" cy="228600"/>
          </a:xfrm>
          <a:prstGeom prst="rect">
            <a:avLst/>
          </a:prstGeom>
          <a:solidFill>
            <a:schemeClr val="accent5"/>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latin typeface="+mj-lt"/>
            </a:endParaRPr>
          </a:p>
        </p:txBody>
      </p:sp>
      <p:sp>
        <p:nvSpPr>
          <p:cNvPr id="34" name="Rectangle 33">
            <a:extLst>
              <a:ext uri="{FF2B5EF4-FFF2-40B4-BE49-F238E27FC236}">
                <a16:creationId xmlns:a16="http://schemas.microsoft.com/office/drawing/2014/main" id="{F07132DD-A1AF-C246-8329-6432B67275A7}"/>
              </a:ext>
            </a:extLst>
          </p:cNvPr>
          <p:cNvSpPr/>
          <p:nvPr/>
        </p:nvSpPr>
        <p:spPr>
          <a:xfrm>
            <a:off x="1617114" y="1960491"/>
            <a:ext cx="279588" cy="228600"/>
          </a:xfrm>
          <a:prstGeom prst="rect">
            <a:avLst/>
          </a:prstGeom>
          <a:solidFill>
            <a:schemeClr val="tx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latin typeface="+mj-lt"/>
            </a:endParaRPr>
          </a:p>
        </p:txBody>
      </p:sp>
      <p:sp>
        <p:nvSpPr>
          <p:cNvPr id="35" name="Rectangle 34">
            <a:extLst>
              <a:ext uri="{FF2B5EF4-FFF2-40B4-BE49-F238E27FC236}">
                <a16:creationId xmlns:a16="http://schemas.microsoft.com/office/drawing/2014/main" id="{6937A5EE-20DF-AF48-8223-B399F1835798}"/>
              </a:ext>
            </a:extLst>
          </p:cNvPr>
          <p:cNvSpPr/>
          <p:nvPr/>
        </p:nvSpPr>
        <p:spPr>
          <a:xfrm>
            <a:off x="1896702" y="1960491"/>
            <a:ext cx="279588" cy="228600"/>
          </a:xfrm>
          <a:prstGeom prst="rect">
            <a:avLst/>
          </a:prstGeom>
          <a:solidFill>
            <a:schemeClr val="tx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latin typeface="+mj-lt"/>
            </a:endParaRPr>
          </a:p>
        </p:txBody>
      </p:sp>
      <p:sp>
        <p:nvSpPr>
          <p:cNvPr id="36" name="Rectangle 35">
            <a:extLst>
              <a:ext uri="{FF2B5EF4-FFF2-40B4-BE49-F238E27FC236}">
                <a16:creationId xmlns:a16="http://schemas.microsoft.com/office/drawing/2014/main" id="{A197F3A7-2131-914A-9736-1F7A11559757}"/>
              </a:ext>
            </a:extLst>
          </p:cNvPr>
          <p:cNvSpPr/>
          <p:nvPr/>
        </p:nvSpPr>
        <p:spPr>
          <a:xfrm>
            <a:off x="2176290" y="1960491"/>
            <a:ext cx="279588" cy="228600"/>
          </a:xfrm>
          <a:prstGeom prst="rect">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latin typeface="+mj-lt"/>
            </a:endParaRPr>
          </a:p>
        </p:txBody>
      </p:sp>
      <p:cxnSp>
        <p:nvCxnSpPr>
          <p:cNvPr id="38" name="Straight Arrow Connector 37">
            <a:extLst>
              <a:ext uri="{FF2B5EF4-FFF2-40B4-BE49-F238E27FC236}">
                <a16:creationId xmlns:a16="http://schemas.microsoft.com/office/drawing/2014/main" id="{33B77E44-90A8-6740-ABF1-EF1987139FEA}"/>
              </a:ext>
            </a:extLst>
          </p:cNvPr>
          <p:cNvCxnSpPr>
            <a:cxnSpLocks/>
          </p:cNvCxnSpPr>
          <p:nvPr/>
        </p:nvCxnSpPr>
        <p:spPr>
          <a:xfrm>
            <a:off x="2595672" y="2642643"/>
            <a:ext cx="0" cy="22860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9" name="Rectangle 38">
            <a:extLst>
              <a:ext uri="{FF2B5EF4-FFF2-40B4-BE49-F238E27FC236}">
                <a16:creationId xmlns:a16="http://schemas.microsoft.com/office/drawing/2014/main" id="{831B5B64-E98E-D340-9B62-1114C8DB5A61}"/>
              </a:ext>
            </a:extLst>
          </p:cNvPr>
          <p:cNvSpPr/>
          <p:nvPr/>
        </p:nvSpPr>
        <p:spPr>
          <a:xfrm>
            <a:off x="778350" y="2873757"/>
            <a:ext cx="279588" cy="228600"/>
          </a:xfrm>
          <a:prstGeom prst="rect">
            <a:avLst/>
          </a:prstGeom>
          <a:solidFill>
            <a:schemeClr val="accent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latin typeface="+mj-lt"/>
            </a:endParaRPr>
          </a:p>
        </p:txBody>
      </p:sp>
      <p:sp>
        <p:nvSpPr>
          <p:cNvPr id="40" name="Rectangle 39">
            <a:extLst>
              <a:ext uri="{FF2B5EF4-FFF2-40B4-BE49-F238E27FC236}">
                <a16:creationId xmlns:a16="http://schemas.microsoft.com/office/drawing/2014/main" id="{33693510-8ACE-4640-8C1D-269A68285C7E}"/>
              </a:ext>
            </a:extLst>
          </p:cNvPr>
          <p:cNvSpPr/>
          <p:nvPr/>
        </p:nvSpPr>
        <p:spPr>
          <a:xfrm>
            <a:off x="1057938" y="2873757"/>
            <a:ext cx="279588" cy="228600"/>
          </a:xfrm>
          <a:prstGeom prst="rect">
            <a:avLst/>
          </a:prstGeom>
          <a:solidFill>
            <a:schemeClr val="accent4"/>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latin typeface="+mj-lt"/>
            </a:endParaRPr>
          </a:p>
        </p:txBody>
      </p:sp>
      <p:sp>
        <p:nvSpPr>
          <p:cNvPr id="41" name="Rectangle 40">
            <a:extLst>
              <a:ext uri="{FF2B5EF4-FFF2-40B4-BE49-F238E27FC236}">
                <a16:creationId xmlns:a16="http://schemas.microsoft.com/office/drawing/2014/main" id="{EB4AA9CA-2AF3-8F49-AEE0-5403684776CC}"/>
              </a:ext>
            </a:extLst>
          </p:cNvPr>
          <p:cNvSpPr/>
          <p:nvPr/>
        </p:nvSpPr>
        <p:spPr>
          <a:xfrm>
            <a:off x="1337526" y="2873757"/>
            <a:ext cx="279588" cy="228600"/>
          </a:xfrm>
          <a:prstGeom prst="rect">
            <a:avLst/>
          </a:prstGeom>
          <a:solidFill>
            <a:schemeClr val="accent5"/>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latin typeface="+mj-lt"/>
            </a:endParaRPr>
          </a:p>
        </p:txBody>
      </p:sp>
      <p:sp>
        <p:nvSpPr>
          <p:cNvPr id="42" name="Rectangle 41">
            <a:extLst>
              <a:ext uri="{FF2B5EF4-FFF2-40B4-BE49-F238E27FC236}">
                <a16:creationId xmlns:a16="http://schemas.microsoft.com/office/drawing/2014/main" id="{20DAC1C7-6416-164F-9917-D2299375B0F5}"/>
              </a:ext>
            </a:extLst>
          </p:cNvPr>
          <p:cNvSpPr/>
          <p:nvPr/>
        </p:nvSpPr>
        <p:spPr>
          <a:xfrm>
            <a:off x="1617114" y="2873757"/>
            <a:ext cx="279588" cy="228600"/>
          </a:xfrm>
          <a:prstGeom prst="rect">
            <a:avLst/>
          </a:prstGeom>
          <a:solidFill>
            <a:schemeClr val="tx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latin typeface="+mj-lt"/>
            </a:endParaRPr>
          </a:p>
        </p:txBody>
      </p:sp>
      <p:sp>
        <p:nvSpPr>
          <p:cNvPr id="43" name="Rectangle 42">
            <a:extLst>
              <a:ext uri="{FF2B5EF4-FFF2-40B4-BE49-F238E27FC236}">
                <a16:creationId xmlns:a16="http://schemas.microsoft.com/office/drawing/2014/main" id="{32AFF4A4-8426-0C4D-96B1-930182F93CAC}"/>
              </a:ext>
            </a:extLst>
          </p:cNvPr>
          <p:cNvSpPr/>
          <p:nvPr/>
        </p:nvSpPr>
        <p:spPr>
          <a:xfrm>
            <a:off x="1896702" y="2873757"/>
            <a:ext cx="279588" cy="228600"/>
          </a:xfrm>
          <a:prstGeom prst="rect">
            <a:avLst/>
          </a:prstGeom>
          <a:solidFill>
            <a:schemeClr val="tx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latin typeface="+mj-lt"/>
            </a:endParaRPr>
          </a:p>
        </p:txBody>
      </p:sp>
      <p:sp>
        <p:nvSpPr>
          <p:cNvPr id="44" name="Rectangle 43">
            <a:extLst>
              <a:ext uri="{FF2B5EF4-FFF2-40B4-BE49-F238E27FC236}">
                <a16:creationId xmlns:a16="http://schemas.microsoft.com/office/drawing/2014/main" id="{8105F585-7980-9A41-B74B-1C8553E9FA46}"/>
              </a:ext>
            </a:extLst>
          </p:cNvPr>
          <p:cNvSpPr/>
          <p:nvPr/>
        </p:nvSpPr>
        <p:spPr>
          <a:xfrm>
            <a:off x="2176290" y="2873757"/>
            <a:ext cx="279588" cy="228600"/>
          </a:xfrm>
          <a:prstGeom prst="rect">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latin typeface="+mj-lt"/>
            </a:endParaRPr>
          </a:p>
        </p:txBody>
      </p:sp>
      <p:sp>
        <p:nvSpPr>
          <p:cNvPr id="45" name="Rectangle 44">
            <a:extLst>
              <a:ext uri="{FF2B5EF4-FFF2-40B4-BE49-F238E27FC236}">
                <a16:creationId xmlns:a16="http://schemas.microsoft.com/office/drawing/2014/main" id="{BF569915-C7E1-CA4E-BC10-78FBB09EF4EE}"/>
              </a:ext>
            </a:extLst>
          </p:cNvPr>
          <p:cNvSpPr/>
          <p:nvPr/>
        </p:nvSpPr>
        <p:spPr>
          <a:xfrm>
            <a:off x="2455878" y="2871243"/>
            <a:ext cx="279588" cy="228600"/>
          </a:xfrm>
          <a:prstGeom prst="rect">
            <a:avLst/>
          </a:prstGeom>
          <a:solidFill>
            <a:srgbClr val="FFFF0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latin typeface="+mj-lt"/>
            </a:endParaRPr>
          </a:p>
        </p:txBody>
      </p:sp>
      <p:cxnSp>
        <p:nvCxnSpPr>
          <p:cNvPr id="47" name="Straight Arrow Connector 46">
            <a:extLst>
              <a:ext uri="{FF2B5EF4-FFF2-40B4-BE49-F238E27FC236}">
                <a16:creationId xmlns:a16="http://schemas.microsoft.com/office/drawing/2014/main" id="{38E35788-F9BC-9942-9755-9D4F43E1EF8D}"/>
              </a:ext>
            </a:extLst>
          </p:cNvPr>
          <p:cNvCxnSpPr>
            <a:cxnSpLocks/>
          </p:cNvCxnSpPr>
          <p:nvPr/>
        </p:nvCxnSpPr>
        <p:spPr>
          <a:xfrm flipH="1" flipV="1">
            <a:off x="1179794" y="3096820"/>
            <a:ext cx="7174" cy="278208"/>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50" name="Rectangle 49">
            <a:extLst>
              <a:ext uri="{FF2B5EF4-FFF2-40B4-BE49-F238E27FC236}">
                <a16:creationId xmlns:a16="http://schemas.microsoft.com/office/drawing/2014/main" id="{F5EB72D3-8D23-5840-B3BD-9D0A641918F6}"/>
              </a:ext>
            </a:extLst>
          </p:cNvPr>
          <p:cNvSpPr/>
          <p:nvPr/>
        </p:nvSpPr>
        <p:spPr>
          <a:xfrm>
            <a:off x="5367680" y="1477975"/>
            <a:ext cx="139793" cy="228600"/>
          </a:xfrm>
          <a:prstGeom prst="rect">
            <a:avLst/>
          </a:prstGeom>
          <a:solidFill>
            <a:srgbClr val="FFFF0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latin typeface="+mj-lt"/>
            </a:endParaRPr>
          </a:p>
        </p:txBody>
      </p:sp>
      <p:cxnSp>
        <p:nvCxnSpPr>
          <p:cNvPr id="51" name="Straight Arrow Connector 50">
            <a:extLst>
              <a:ext uri="{FF2B5EF4-FFF2-40B4-BE49-F238E27FC236}">
                <a16:creationId xmlns:a16="http://schemas.microsoft.com/office/drawing/2014/main" id="{EA3D8698-A69D-C044-A3E5-911C834CBE09}"/>
              </a:ext>
            </a:extLst>
          </p:cNvPr>
          <p:cNvCxnSpPr>
            <a:cxnSpLocks/>
          </p:cNvCxnSpPr>
          <p:nvPr/>
        </p:nvCxnSpPr>
        <p:spPr>
          <a:xfrm>
            <a:off x="5426813" y="1742240"/>
            <a:ext cx="0" cy="22860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52" name="TextBox 51">
            <a:extLst>
              <a:ext uri="{FF2B5EF4-FFF2-40B4-BE49-F238E27FC236}">
                <a16:creationId xmlns:a16="http://schemas.microsoft.com/office/drawing/2014/main" id="{C80D01DA-833D-604C-B845-D02198A7ECC9}"/>
              </a:ext>
            </a:extLst>
          </p:cNvPr>
          <p:cNvSpPr txBox="1"/>
          <p:nvPr/>
        </p:nvSpPr>
        <p:spPr>
          <a:xfrm>
            <a:off x="5507473" y="1477975"/>
            <a:ext cx="2015992" cy="253916"/>
          </a:xfrm>
          <a:prstGeom prst="rect">
            <a:avLst/>
          </a:prstGeom>
          <a:noFill/>
        </p:spPr>
        <p:txBody>
          <a:bodyPr wrap="square" rtlCol="0">
            <a:spAutoFit/>
          </a:bodyPr>
          <a:lstStyle/>
          <a:p>
            <a:r>
              <a:rPr lang="en-GB" sz="1050" dirty="0"/>
              <a:t>Updated data for this position</a:t>
            </a:r>
          </a:p>
        </p:txBody>
      </p:sp>
      <p:sp>
        <p:nvSpPr>
          <p:cNvPr id="53" name="Rectangle 52">
            <a:extLst>
              <a:ext uri="{FF2B5EF4-FFF2-40B4-BE49-F238E27FC236}">
                <a16:creationId xmlns:a16="http://schemas.microsoft.com/office/drawing/2014/main" id="{EC13BFF6-56AD-194E-A029-6042FAE75512}"/>
              </a:ext>
            </a:extLst>
          </p:cNvPr>
          <p:cNvSpPr/>
          <p:nvPr/>
        </p:nvSpPr>
        <p:spPr>
          <a:xfrm>
            <a:off x="5018195" y="1970840"/>
            <a:ext cx="279588" cy="228600"/>
          </a:xfrm>
          <a:prstGeom prst="rect">
            <a:avLst/>
          </a:prstGeom>
          <a:solidFill>
            <a:schemeClr val="accent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latin typeface="+mj-lt"/>
            </a:endParaRPr>
          </a:p>
        </p:txBody>
      </p:sp>
      <p:sp>
        <p:nvSpPr>
          <p:cNvPr id="54" name="Rectangle 53">
            <a:extLst>
              <a:ext uri="{FF2B5EF4-FFF2-40B4-BE49-F238E27FC236}">
                <a16:creationId xmlns:a16="http://schemas.microsoft.com/office/drawing/2014/main" id="{062AADE7-7F60-BB4C-8E9A-705DF7F4969D}"/>
              </a:ext>
            </a:extLst>
          </p:cNvPr>
          <p:cNvSpPr/>
          <p:nvPr/>
        </p:nvSpPr>
        <p:spPr>
          <a:xfrm>
            <a:off x="5297783" y="1970840"/>
            <a:ext cx="279588" cy="228600"/>
          </a:xfrm>
          <a:prstGeom prst="rect">
            <a:avLst/>
          </a:prstGeom>
          <a:solidFill>
            <a:schemeClr val="accent4"/>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latin typeface="+mj-lt"/>
            </a:endParaRPr>
          </a:p>
        </p:txBody>
      </p:sp>
      <p:sp>
        <p:nvSpPr>
          <p:cNvPr id="55" name="Rectangle 54">
            <a:extLst>
              <a:ext uri="{FF2B5EF4-FFF2-40B4-BE49-F238E27FC236}">
                <a16:creationId xmlns:a16="http://schemas.microsoft.com/office/drawing/2014/main" id="{8EA50756-91C1-804D-92EE-8F5D7D07366A}"/>
              </a:ext>
            </a:extLst>
          </p:cNvPr>
          <p:cNvSpPr/>
          <p:nvPr/>
        </p:nvSpPr>
        <p:spPr>
          <a:xfrm>
            <a:off x="5577371" y="1970840"/>
            <a:ext cx="279588" cy="228600"/>
          </a:xfrm>
          <a:prstGeom prst="rect">
            <a:avLst/>
          </a:prstGeom>
          <a:solidFill>
            <a:schemeClr val="accent5"/>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latin typeface="+mj-lt"/>
            </a:endParaRPr>
          </a:p>
        </p:txBody>
      </p:sp>
      <p:sp>
        <p:nvSpPr>
          <p:cNvPr id="56" name="Rectangle 55">
            <a:extLst>
              <a:ext uri="{FF2B5EF4-FFF2-40B4-BE49-F238E27FC236}">
                <a16:creationId xmlns:a16="http://schemas.microsoft.com/office/drawing/2014/main" id="{3BFA676B-1FFE-954F-AD91-6BCCE8E0F40B}"/>
              </a:ext>
            </a:extLst>
          </p:cNvPr>
          <p:cNvSpPr/>
          <p:nvPr/>
        </p:nvSpPr>
        <p:spPr>
          <a:xfrm>
            <a:off x="5856959" y="1970840"/>
            <a:ext cx="279588" cy="228600"/>
          </a:xfrm>
          <a:prstGeom prst="rect">
            <a:avLst/>
          </a:prstGeom>
          <a:solidFill>
            <a:schemeClr val="tx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latin typeface="+mj-lt"/>
            </a:endParaRPr>
          </a:p>
        </p:txBody>
      </p:sp>
      <p:sp>
        <p:nvSpPr>
          <p:cNvPr id="57" name="Rectangle 56">
            <a:extLst>
              <a:ext uri="{FF2B5EF4-FFF2-40B4-BE49-F238E27FC236}">
                <a16:creationId xmlns:a16="http://schemas.microsoft.com/office/drawing/2014/main" id="{D7D5557B-50CD-3E42-AF65-642490C70702}"/>
              </a:ext>
            </a:extLst>
          </p:cNvPr>
          <p:cNvSpPr/>
          <p:nvPr/>
        </p:nvSpPr>
        <p:spPr>
          <a:xfrm>
            <a:off x="6136547" y="1970840"/>
            <a:ext cx="279588" cy="228600"/>
          </a:xfrm>
          <a:prstGeom prst="rect">
            <a:avLst/>
          </a:prstGeom>
          <a:solidFill>
            <a:schemeClr val="tx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latin typeface="+mj-lt"/>
            </a:endParaRPr>
          </a:p>
        </p:txBody>
      </p:sp>
      <p:sp>
        <p:nvSpPr>
          <p:cNvPr id="58" name="Rectangle 57">
            <a:extLst>
              <a:ext uri="{FF2B5EF4-FFF2-40B4-BE49-F238E27FC236}">
                <a16:creationId xmlns:a16="http://schemas.microsoft.com/office/drawing/2014/main" id="{68C145D7-1D82-BC43-A131-01F3DF600ADF}"/>
              </a:ext>
            </a:extLst>
          </p:cNvPr>
          <p:cNvSpPr/>
          <p:nvPr/>
        </p:nvSpPr>
        <p:spPr>
          <a:xfrm>
            <a:off x="6416135" y="1970840"/>
            <a:ext cx="279588" cy="228600"/>
          </a:xfrm>
          <a:prstGeom prst="rect">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latin typeface="+mj-lt"/>
            </a:endParaRPr>
          </a:p>
        </p:txBody>
      </p:sp>
      <p:sp>
        <p:nvSpPr>
          <p:cNvPr id="60" name="Content Placeholder 2">
            <a:extLst>
              <a:ext uri="{FF2B5EF4-FFF2-40B4-BE49-F238E27FC236}">
                <a16:creationId xmlns:a16="http://schemas.microsoft.com/office/drawing/2014/main" id="{60A053F0-D9D8-E544-9882-BF93FC45722D}"/>
              </a:ext>
            </a:extLst>
          </p:cNvPr>
          <p:cNvSpPr txBox="1">
            <a:spLocks/>
          </p:cNvSpPr>
          <p:nvPr/>
        </p:nvSpPr>
        <p:spPr>
          <a:xfrm>
            <a:off x="4572000" y="1004089"/>
            <a:ext cx="4485305" cy="1477328"/>
          </a:xfrm>
          <a:prstGeom prst="rect">
            <a:avLst/>
          </a:prstGeom>
        </p:spPr>
        <p:txBody>
          <a:bodyPr vert="horz" wrap="square" lIns="91440" tIns="45720" rIns="91440" bIns="45720" rtlCol="0">
            <a:spAutoFit/>
          </a:bodyPr>
          <a:lstStyle>
            <a:lvl1pPr marL="280988" indent="-280988" algn="l" defTabSz="914400" rtl="0" eaLnBrk="1" latinLnBrk="0" hangingPunct="1">
              <a:lnSpc>
                <a:spcPct val="100000"/>
              </a:lnSpc>
              <a:spcBef>
                <a:spcPts val="1200"/>
              </a:spcBef>
              <a:spcAft>
                <a:spcPts val="600"/>
              </a:spcAft>
              <a:buClr>
                <a:schemeClr val="accent2"/>
              </a:buClr>
              <a:buFont typeface="Arial" panose="020B0604020202020204" pitchFamily="34" charset="0"/>
              <a:buChar char="•"/>
              <a:defRPr lang="en-US" sz="2000" kern="1200" dirty="0" smtClean="0">
                <a:solidFill>
                  <a:schemeClr val="tx1"/>
                </a:solidFill>
                <a:latin typeface="+mn-lt"/>
                <a:ea typeface="+mn-ea"/>
                <a:cs typeface="+mn-cs"/>
              </a:defRPr>
            </a:lvl1pPr>
            <a:lvl2pPr marL="574675" indent="-293688" algn="l" defTabSz="914400" rtl="0" eaLnBrk="1" latinLnBrk="0" hangingPunct="1">
              <a:lnSpc>
                <a:spcPct val="95000"/>
              </a:lnSpc>
              <a:spcBef>
                <a:spcPct val="20000"/>
              </a:spcBef>
              <a:spcAft>
                <a:spcPts val="800"/>
              </a:spcAft>
              <a:buFontTx/>
              <a:buChar char="‒"/>
              <a:defRPr lang="en-US" sz="1800" kern="1200" dirty="0" smtClean="0">
                <a:solidFill>
                  <a:schemeClr val="tx1"/>
                </a:solidFill>
                <a:latin typeface="+mn-lt"/>
                <a:ea typeface="+mn-ea"/>
                <a:cs typeface="+mn-cs"/>
              </a:defRPr>
            </a:lvl2pPr>
            <a:lvl3pPr marL="855663" indent="-280988" algn="l" defTabSz="914400" rtl="0" eaLnBrk="1" latinLnBrk="0" hangingPunct="1">
              <a:lnSpc>
                <a:spcPct val="95000"/>
              </a:lnSpc>
              <a:spcBef>
                <a:spcPts val="0"/>
              </a:spcBef>
              <a:spcAft>
                <a:spcPts val="800"/>
              </a:spcAft>
              <a:buFontTx/>
              <a:buChar char="‒"/>
              <a:defRPr lang="en-US" sz="1600" kern="1200" dirty="0" smtClean="0">
                <a:solidFill>
                  <a:schemeClr val="tx1"/>
                </a:solidFill>
                <a:latin typeface="+mn-lt"/>
                <a:ea typeface="+mn-ea"/>
                <a:cs typeface="+mn-cs"/>
              </a:defRPr>
            </a:lvl3pPr>
            <a:lvl4pPr marL="1090613" indent="-234950" algn="l" defTabSz="914400" rtl="0" eaLnBrk="1" latinLnBrk="0" hangingPunct="1">
              <a:lnSpc>
                <a:spcPct val="95000"/>
              </a:lnSpc>
              <a:spcBef>
                <a:spcPts val="0"/>
              </a:spcBef>
              <a:spcAft>
                <a:spcPts val="800"/>
              </a:spcAft>
              <a:buFontTx/>
              <a:buChar char="‒"/>
              <a:defRPr lang="en-US" sz="1400" kern="1200" dirty="0" smtClean="0">
                <a:solidFill>
                  <a:schemeClr val="tx1"/>
                </a:solidFill>
                <a:latin typeface="+mn-lt"/>
                <a:ea typeface="+mn-ea"/>
                <a:cs typeface="+mn-cs"/>
              </a:defRPr>
            </a:lvl4pPr>
            <a:lvl5pPr marL="1312863" indent="-222250" algn="l" defTabSz="914400" rtl="0" eaLnBrk="1" latinLnBrk="0" hangingPunct="1">
              <a:lnSpc>
                <a:spcPct val="95000"/>
              </a:lnSpc>
              <a:spcBef>
                <a:spcPts val="0"/>
              </a:spcBef>
              <a:spcAft>
                <a:spcPts val="800"/>
              </a:spcAft>
              <a:buFontTx/>
              <a:buChar char="‒"/>
              <a:defRPr lang="en-US" sz="12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GB" sz="1200" dirty="0"/>
              <a:t>When the data doesn’t cover an entire block, a read is required before updated block can be written</a:t>
            </a:r>
          </a:p>
          <a:p>
            <a:pPr marL="0" indent="0">
              <a:buNone/>
            </a:pPr>
            <a:br>
              <a:rPr lang="en-GB" sz="1200" dirty="0"/>
            </a:br>
            <a:endParaRPr lang="en-GB" sz="1200" dirty="0"/>
          </a:p>
          <a:p>
            <a:r>
              <a:rPr lang="en-GB" sz="1200" dirty="0"/>
              <a:t>Old data must be read before the block is re-written</a:t>
            </a:r>
            <a:endParaRPr lang="en-GB" sz="1100" dirty="0"/>
          </a:p>
        </p:txBody>
      </p:sp>
      <p:sp>
        <p:nvSpPr>
          <p:cNvPr id="61" name="TextBox 60">
            <a:extLst>
              <a:ext uri="{FF2B5EF4-FFF2-40B4-BE49-F238E27FC236}">
                <a16:creationId xmlns:a16="http://schemas.microsoft.com/office/drawing/2014/main" id="{E6D0C44D-0E17-9C49-B146-C15D3A7509FB}"/>
              </a:ext>
            </a:extLst>
          </p:cNvPr>
          <p:cNvSpPr txBox="1"/>
          <p:nvPr/>
        </p:nvSpPr>
        <p:spPr>
          <a:xfrm>
            <a:off x="4372017" y="3468619"/>
            <a:ext cx="3985789" cy="415498"/>
          </a:xfrm>
          <a:prstGeom prst="rect">
            <a:avLst/>
          </a:prstGeom>
          <a:noFill/>
        </p:spPr>
        <p:txBody>
          <a:bodyPr wrap="square" rtlCol="0">
            <a:spAutoFit/>
          </a:bodyPr>
          <a:lstStyle/>
          <a:p>
            <a:r>
              <a:rPr lang="en-GB" sz="1050" dirty="0"/>
              <a:t>Old data block can then be freed (unless required for snapshot etc.)</a:t>
            </a:r>
          </a:p>
        </p:txBody>
      </p:sp>
      <p:sp>
        <p:nvSpPr>
          <p:cNvPr id="63" name="Rectangle 62">
            <a:extLst>
              <a:ext uri="{FF2B5EF4-FFF2-40B4-BE49-F238E27FC236}">
                <a16:creationId xmlns:a16="http://schemas.microsoft.com/office/drawing/2014/main" id="{C733716E-8250-8840-9244-2DAC6DCEF5C3}"/>
              </a:ext>
            </a:extLst>
          </p:cNvPr>
          <p:cNvSpPr/>
          <p:nvPr/>
        </p:nvSpPr>
        <p:spPr>
          <a:xfrm>
            <a:off x="4966972" y="2871243"/>
            <a:ext cx="279588" cy="228600"/>
          </a:xfrm>
          <a:prstGeom prst="rect">
            <a:avLst/>
          </a:prstGeom>
          <a:solidFill>
            <a:schemeClr val="accent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latin typeface="+mj-lt"/>
            </a:endParaRPr>
          </a:p>
        </p:txBody>
      </p:sp>
      <p:sp>
        <p:nvSpPr>
          <p:cNvPr id="64" name="Rectangle 63">
            <a:extLst>
              <a:ext uri="{FF2B5EF4-FFF2-40B4-BE49-F238E27FC236}">
                <a16:creationId xmlns:a16="http://schemas.microsoft.com/office/drawing/2014/main" id="{24D767FA-7FDD-2E43-B611-D54E113991A0}"/>
              </a:ext>
            </a:extLst>
          </p:cNvPr>
          <p:cNvSpPr/>
          <p:nvPr/>
        </p:nvSpPr>
        <p:spPr>
          <a:xfrm>
            <a:off x="5246560" y="2871243"/>
            <a:ext cx="279588" cy="228600"/>
          </a:xfrm>
          <a:prstGeom prst="rect">
            <a:avLst/>
          </a:prstGeom>
          <a:solidFill>
            <a:schemeClr val="accent4"/>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latin typeface="+mj-lt"/>
            </a:endParaRPr>
          </a:p>
        </p:txBody>
      </p:sp>
      <p:sp>
        <p:nvSpPr>
          <p:cNvPr id="65" name="Rectangle 64">
            <a:extLst>
              <a:ext uri="{FF2B5EF4-FFF2-40B4-BE49-F238E27FC236}">
                <a16:creationId xmlns:a16="http://schemas.microsoft.com/office/drawing/2014/main" id="{244930EF-C2D9-A84F-895E-FA2EC3AF2229}"/>
              </a:ext>
            </a:extLst>
          </p:cNvPr>
          <p:cNvSpPr/>
          <p:nvPr/>
        </p:nvSpPr>
        <p:spPr>
          <a:xfrm>
            <a:off x="5526148" y="2871243"/>
            <a:ext cx="279588" cy="228600"/>
          </a:xfrm>
          <a:prstGeom prst="rect">
            <a:avLst/>
          </a:prstGeom>
          <a:solidFill>
            <a:schemeClr val="accent5"/>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latin typeface="+mj-lt"/>
            </a:endParaRPr>
          </a:p>
        </p:txBody>
      </p:sp>
      <p:sp>
        <p:nvSpPr>
          <p:cNvPr id="66" name="Rectangle 65">
            <a:extLst>
              <a:ext uri="{FF2B5EF4-FFF2-40B4-BE49-F238E27FC236}">
                <a16:creationId xmlns:a16="http://schemas.microsoft.com/office/drawing/2014/main" id="{7E03939D-9FB3-E04A-8348-54C695A357CA}"/>
              </a:ext>
            </a:extLst>
          </p:cNvPr>
          <p:cNvSpPr/>
          <p:nvPr/>
        </p:nvSpPr>
        <p:spPr>
          <a:xfrm>
            <a:off x="5805736" y="2871243"/>
            <a:ext cx="279588" cy="228600"/>
          </a:xfrm>
          <a:prstGeom prst="rect">
            <a:avLst/>
          </a:prstGeom>
          <a:solidFill>
            <a:schemeClr val="tx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latin typeface="+mj-lt"/>
            </a:endParaRPr>
          </a:p>
        </p:txBody>
      </p:sp>
      <p:sp>
        <p:nvSpPr>
          <p:cNvPr id="89" name="Rectangle 88">
            <a:extLst>
              <a:ext uri="{FF2B5EF4-FFF2-40B4-BE49-F238E27FC236}">
                <a16:creationId xmlns:a16="http://schemas.microsoft.com/office/drawing/2014/main" id="{F7E45A65-3F2F-D443-B340-FBAC1065807C}"/>
              </a:ext>
            </a:extLst>
          </p:cNvPr>
          <p:cNvSpPr/>
          <p:nvPr/>
        </p:nvSpPr>
        <p:spPr>
          <a:xfrm>
            <a:off x="6085324" y="2871243"/>
            <a:ext cx="279588" cy="228600"/>
          </a:xfrm>
          <a:prstGeom prst="rect">
            <a:avLst/>
          </a:prstGeom>
          <a:solidFill>
            <a:schemeClr val="tx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latin typeface="+mj-lt"/>
            </a:endParaRPr>
          </a:p>
        </p:txBody>
      </p:sp>
      <p:sp>
        <p:nvSpPr>
          <p:cNvPr id="95" name="Rectangle 94">
            <a:extLst>
              <a:ext uri="{FF2B5EF4-FFF2-40B4-BE49-F238E27FC236}">
                <a16:creationId xmlns:a16="http://schemas.microsoft.com/office/drawing/2014/main" id="{5227EE8C-A19B-7F4B-9D0E-91CA0C84F94A}"/>
              </a:ext>
            </a:extLst>
          </p:cNvPr>
          <p:cNvSpPr/>
          <p:nvPr/>
        </p:nvSpPr>
        <p:spPr>
          <a:xfrm>
            <a:off x="6364912" y="2871243"/>
            <a:ext cx="279588" cy="228600"/>
          </a:xfrm>
          <a:prstGeom prst="rect">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latin typeface="+mj-lt"/>
            </a:endParaRPr>
          </a:p>
        </p:txBody>
      </p:sp>
      <p:sp>
        <p:nvSpPr>
          <p:cNvPr id="96" name="Rectangle 95">
            <a:extLst>
              <a:ext uri="{FF2B5EF4-FFF2-40B4-BE49-F238E27FC236}">
                <a16:creationId xmlns:a16="http://schemas.microsoft.com/office/drawing/2014/main" id="{3BA6903D-997C-1942-8F0F-64C0D1A77149}"/>
              </a:ext>
            </a:extLst>
          </p:cNvPr>
          <p:cNvSpPr/>
          <p:nvPr/>
        </p:nvSpPr>
        <p:spPr>
          <a:xfrm>
            <a:off x="6644500" y="2868729"/>
            <a:ext cx="279588" cy="228600"/>
          </a:xfrm>
          <a:prstGeom prst="rect">
            <a:avLst/>
          </a:prstGeom>
          <a:solidFill>
            <a:srgbClr val="FFFF0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latin typeface="+mj-lt"/>
            </a:endParaRPr>
          </a:p>
        </p:txBody>
      </p:sp>
      <p:cxnSp>
        <p:nvCxnSpPr>
          <p:cNvPr id="97" name="Straight Arrow Connector 96">
            <a:extLst>
              <a:ext uri="{FF2B5EF4-FFF2-40B4-BE49-F238E27FC236}">
                <a16:creationId xmlns:a16="http://schemas.microsoft.com/office/drawing/2014/main" id="{C7F22E6E-AD9D-4643-B2F2-E4BAAD5008C3}"/>
              </a:ext>
            </a:extLst>
          </p:cNvPr>
          <p:cNvCxnSpPr>
            <a:cxnSpLocks/>
          </p:cNvCxnSpPr>
          <p:nvPr/>
        </p:nvCxnSpPr>
        <p:spPr>
          <a:xfrm flipH="1" flipV="1">
            <a:off x="5368416" y="3094306"/>
            <a:ext cx="7174" cy="278208"/>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9" name="U-Turn Arrow 8">
            <a:extLst>
              <a:ext uri="{FF2B5EF4-FFF2-40B4-BE49-F238E27FC236}">
                <a16:creationId xmlns:a16="http://schemas.microsoft.com/office/drawing/2014/main" id="{918667A2-AA7F-5440-BAB2-73151BF9EC0D}"/>
              </a:ext>
            </a:extLst>
          </p:cNvPr>
          <p:cNvSpPr/>
          <p:nvPr/>
        </p:nvSpPr>
        <p:spPr>
          <a:xfrm>
            <a:off x="5367680" y="2535969"/>
            <a:ext cx="1477900" cy="308088"/>
          </a:xfrm>
          <a:prstGeom prst="uturn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j-lt"/>
            </a:endParaRPr>
          </a:p>
        </p:txBody>
      </p:sp>
      <p:sp>
        <p:nvSpPr>
          <p:cNvPr id="98" name="Rectangle 97">
            <a:extLst>
              <a:ext uri="{FF2B5EF4-FFF2-40B4-BE49-F238E27FC236}">
                <a16:creationId xmlns:a16="http://schemas.microsoft.com/office/drawing/2014/main" id="{0D24AB8E-B87D-E14A-B475-6315D0256E14}"/>
              </a:ext>
            </a:extLst>
          </p:cNvPr>
          <p:cNvSpPr/>
          <p:nvPr/>
        </p:nvSpPr>
        <p:spPr>
          <a:xfrm>
            <a:off x="6644500" y="2871644"/>
            <a:ext cx="139792" cy="228600"/>
          </a:xfrm>
          <a:prstGeom prst="rect">
            <a:avLst/>
          </a:prstGeom>
          <a:solidFill>
            <a:schemeClr val="accent4"/>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latin typeface="+mj-lt"/>
            </a:endParaRPr>
          </a:p>
        </p:txBody>
      </p:sp>
      <p:sp>
        <p:nvSpPr>
          <p:cNvPr id="99" name="Content Placeholder 2">
            <a:extLst>
              <a:ext uri="{FF2B5EF4-FFF2-40B4-BE49-F238E27FC236}">
                <a16:creationId xmlns:a16="http://schemas.microsoft.com/office/drawing/2014/main" id="{2F794A52-735E-BE4B-A778-5FDDBBF1E621}"/>
              </a:ext>
            </a:extLst>
          </p:cNvPr>
          <p:cNvSpPr txBox="1">
            <a:spLocks/>
          </p:cNvSpPr>
          <p:nvPr/>
        </p:nvSpPr>
        <p:spPr>
          <a:xfrm>
            <a:off x="183395" y="4093825"/>
            <a:ext cx="8584006" cy="1043363"/>
          </a:xfrm>
          <a:prstGeom prst="rect">
            <a:avLst/>
          </a:prstGeom>
        </p:spPr>
        <p:txBody>
          <a:bodyPr vert="horz" wrap="square" lIns="91440" tIns="45720" rIns="91440" bIns="45720" rtlCol="0">
            <a:spAutoFit/>
          </a:bodyPr>
          <a:lstStyle>
            <a:lvl1pPr marL="280988" indent="-280988" algn="l" defTabSz="914400" rtl="0" eaLnBrk="1" latinLnBrk="0" hangingPunct="1">
              <a:lnSpc>
                <a:spcPct val="100000"/>
              </a:lnSpc>
              <a:spcBef>
                <a:spcPts val="1200"/>
              </a:spcBef>
              <a:spcAft>
                <a:spcPts val="600"/>
              </a:spcAft>
              <a:buClr>
                <a:schemeClr val="accent2"/>
              </a:buClr>
              <a:buFont typeface="Arial" panose="020B0604020202020204" pitchFamily="34" charset="0"/>
              <a:buChar char="•"/>
              <a:defRPr lang="en-US" sz="2000" kern="1200" dirty="0" smtClean="0">
                <a:solidFill>
                  <a:schemeClr val="tx1"/>
                </a:solidFill>
                <a:latin typeface="+mn-lt"/>
                <a:ea typeface="+mn-ea"/>
                <a:cs typeface="+mn-cs"/>
              </a:defRPr>
            </a:lvl1pPr>
            <a:lvl2pPr marL="574675" indent="-293688" algn="l" defTabSz="914400" rtl="0" eaLnBrk="1" latinLnBrk="0" hangingPunct="1">
              <a:lnSpc>
                <a:spcPct val="95000"/>
              </a:lnSpc>
              <a:spcBef>
                <a:spcPct val="20000"/>
              </a:spcBef>
              <a:spcAft>
                <a:spcPts val="800"/>
              </a:spcAft>
              <a:buFontTx/>
              <a:buChar char="‒"/>
              <a:defRPr lang="en-US" sz="1800" kern="1200" dirty="0" smtClean="0">
                <a:solidFill>
                  <a:schemeClr val="tx1"/>
                </a:solidFill>
                <a:latin typeface="+mn-lt"/>
                <a:ea typeface="+mn-ea"/>
                <a:cs typeface="+mn-cs"/>
              </a:defRPr>
            </a:lvl2pPr>
            <a:lvl3pPr marL="855663" indent="-280988" algn="l" defTabSz="914400" rtl="0" eaLnBrk="1" latinLnBrk="0" hangingPunct="1">
              <a:lnSpc>
                <a:spcPct val="95000"/>
              </a:lnSpc>
              <a:spcBef>
                <a:spcPts val="0"/>
              </a:spcBef>
              <a:spcAft>
                <a:spcPts val="800"/>
              </a:spcAft>
              <a:buFontTx/>
              <a:buChar char="‒"/>
              <a:defRPr lang="en-US" sz="1600" kern="1200" dirty="0" smtClean="0">
                <a:solidFill>
                  <a:schemeClr val="tx1"/>
                </a:solidFill>
                <a:latin typeface="+mn-lt"/>
                <a:ea typeface="+mn-ea"/>
                <a:cs typeface="+mn-cs"/>
              </a:defRPr>
            </a:lvl3pPr>
            <a:lvl4pPr marL="1090613" indent="-234950" algn="l" defTabSz="914400" rtl="0" eaLnBrk="1" latinLnBrk="0" hangingPunct="1">
              <a:lnSpc>
                <a:spcPct val="95000"/>
              </a:lnSpc>
              <a:spcBef>
                <a:spcPts val="0"/>
              </a:spcBef>
              <a:spcAft>
                <a:spcPts val="800"/>
              </a:spcAft>
              <a:buFontTx/>
              <a:buChar char="‒"/>
              <a:defRPr lang="en-US" sz="1400" kern="1200" dirty="0" smtClean="0">
                <a:solidFill>
                  <a:schemeClr val="tx1"/>
                </a:solidFill>
                <a:latin typeface="+mn-lt"/>
                <a:ea typeface="+mn-ea"/>
                <a:cs typeface="+mn-cs"/>
              </a:defRPr>
            </a:lvl4pPr>
            <a:lvl5pPr marL="1312863" indent="-222250" algn="l" defTabSz="914400" rtl="0" eaLnBrk="1" latinLnBrk="0" hangingPunct="1">
              <a:lnSpc>
                <a:spcPct val="95000"/>
              </a:lnSpc>
              <a:spcBef>
                <a:spcPts val="0"/>
              </a:spcBef>
              <a:spcAft>
                <a:spcPts val="800"/>
              </a:spcAft>
              <a:buFontTx/>
              <a:buChar char="‒"/>
              <a:defRPr lang="en-US" sz="12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GB" sz="1400" dirty="0"/>
              <a:t>This read/modify/write can have a </a:t>
            </a:r>
            <a:r>
              <a:rPr lang="en-GB" sz="1400" b="1" dirty="0">
                <a:solidFill>
                  <a:srgbClr val="FF0000"/>
                </a:solidFill>
              </a:rPr>
              <a:t>dramatic</a:t>
            </a:r>
            <a:r>
              <a:rPr lang="en-GB" sz="1400" dirty="0"/>
              <a:t> negative impact on performance</a:t>
            </a:r>
          </a:p>
          <a:p>
            <a:r>
              <a:rPr lang="en-GB" sz="1400" dirty="0"/>
              <a:t>This is because it has a huge impact on response time</a:t>
            </a:r>
            <a:endParaRPr lang="en-GB" sz="1050" dirty="0"/>
          </a:p>
          <a:p>
            <a:pPr lvl="1"/>
            <a:endParaRPr lang="en-GB" sz="1200" dirty="0"/>
          </a:p>
        </p:txBody>
      </p:sp>
    </p:spTree>
    <p:extLst>
      <p:ext uri="{BB962C8B-B14F-4D97-AF65-F5344CB8AC3E}">
        <p14:creationId xmlns:p14="http://schemas.microsoft.com/office/powerpoint/2010/main" val="340652414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64160" y="885801"/>
            <a:ext cx="8584006" cy="2739211"/>
          </a:xfrm>
        </p:spPr>
        <p:txBody>
          <a:bodyPr/>
          <a:lstStyle/>
          <a:p>
            <a:r>
              <a:rPr lang="en-GB" sz="1600" dirty="0"/>
              <a:t>For this reason it is essential to try and avoid the read/modify/write penalty</a:t>
            </a:r>
          </a:p>
          <a:p>
            <a:r>
              <a:rPr lang="en-GB" sz="1600" dirty="0"/>
              <a:t>This can only be done when host/client writes “cover” entire filesystem blocks</a:t>
            </a:r>
          </a:p>
          <a:p>
            <a:r>
              <a:rPr lang="en-GB" sz="1600" dirty="0"/>
              <a:t>This is much more likely with small (4K) blocks than with large (32K) blocks</a:t>
            </a:r>
          </a:p>
          <a:p>
            <a:r>
              <a:rPr lang="en-GB" sz="1600" dirty="0"/>
              <a:t>This is especially true with applications such as VMware which always write in 4K units or Oracle which tends to write in 8k units</a:t>
            </a:r>
          </a:p>
          <a:p>
            <a:r>
              <a:rPr lang="en-GB" sz="1600" dirty="0"/>
              <a:t>Therefore while 32kb is generally the best performing/best choice, one exception is applications that perform small block random writes.</a:t>
            </a:r>
          </a:p>
        </p:txBody>
      </p:sp>
      <p:sp>
        <p:nvSpPr>
          <p:cNvPr id="2" name="Title 1"/>
          <p:cNvSpPr>
            <a:spLocks noGrp="1"/>
          </p:cNvSpPr>
          <p:nvPr>
            <p:ph type="title"/>
          </p:nvPr>
        </p:nvSpPr>
        <p:spPr/>
        <p:txBody>
          <a:bodyPr/>
          <a:lstStyle/>
          <a:p>
            <a:r>
              <a:rPr lang="en-US" dirty="0"/>
              <a:t>Filesystem level read/modify/write</a:t>
            </a:r>
            <a:endParaRPr lang="en-GB" dirty="0"/>
          </a:p>
        </p:txBody>
      </p:sp>
    </p:spTree>
    <p:extLst>
      <p:ext uri="{BB962C8B-B14F-4D97-AF65-F5344CB8AC3E}">
        <p14:creationId xmlns:p14="http://schemas.microsoft.com/office/powerpoint/2010/main" val="222965920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ctrTitle"/>
          </p:nvPr>
        </p:nvSpPr>
        <p:spPr/>
        <p:txBody>
          <a:bodyPr/>
          <a:lstStyle/>
          <a:p>
            <a:r>
              <a:rPr lang="en-US" dirty="0"/>
              <a:t>Implementation Approach</a:t>
            </a:r>
          </a:p>
        </p:txBody>
      </p:sp>
    </p:spTree>
    <p:extLst>
      <p:ext uri="{BB962C8B-B14F-4D97-AF65-F5344CB8AC3E}">
        <p14:creationId xmlns:p14="http://schemas.microsoft.com/office/powerpoint/2010/main" val="42882843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C2242133-7FE4-8F42-824C-B2199D9FD0B9}"/>
              </a:ext>
            </a:extLst>
          </p:cNvPr>
          <p:cNvSpPr>
            <a:spLocks noGrp="1"/>
          </p:cNvSpPr>
          <p:nvPr>
            <p:ph idx="1"/>
          </p:nvPr>
        </p:nvSpPr>
        <p:spPr>
          <a:xfrm>
            <a:off x="279997" y="704453"/>
            <a:ext cx="8584006" cy="4156010"/>
          </a:xfrm>
        </p:spPr>
        <p:txBody>
          <a:bodyPr/>
          <a:lstStyle/>
          <a:p>
            <a:r>
              <a:rPr lang="en-US" sz="1600" dirty="0"/>
              <a:t>Put some thought into sizing…Avoid the mischaracterization of NAS as a “low I/O workload”. </a:t>
            </a:r>
          </a:p>
          <a:p>
            <a:r>
              <a:rPr lang="en-US" sz="1600" dirty="0"/>
              <a:t>Even if the front-end load is low, the house keeping tasks (snapshots, replication, deduplication, tiering, etc.. All perform IO) </a:t>
            </a:r>
          </a:p>
          <a:p>
            <a:r>
              <a:rPr lang="en-US" sz="1600" dirty="0"/>
              <a:t>We do not have an HNAS sizing tool</a:t>
            </a:r>
            <a:r>
              <a:rPr lang="en-US" sz="1600" dirty="0">
                <a:sym typeface="Wingdings" pitchFamily="2" charset="2"/>
              </a:rPr>
              <a:t>, but you might be able to model using tools like CPK </a:t>
            </a:r>
          </a:p>
          <a:p>
            <a:pPr lvl="1"/>
            <a:r>
              <a:rPr lang="en-US" sz="1600" dirty="0">
                <a:sym typeface="Wingdings" pitchFamily="2" charset="2"/>
              </a:rPr>
              <a:t>SMB/NFS ops DO not equal IOPS </a:t>
            </a:r>
          </a:p>
          <a:p>
            <a:pPr lvl="1"/>
            <a:r>
              <a:rPr lang="en-US" sz="1600" dirty="0">
                <a:sym typeface="Wingdings" pitchFamily="2" charset="2"/>
              </a:rPr>
              <a:t>Write workload is often amplified by file system metadata transactions</a:t>
            </a:r>
          </a:p>
          <a:p>
            <a:pPr lvl="1"/>
            <a:r>
              <a:rPr lang="en-US" sz="1600" dirty="0">
                <a:sym typeface="Wingdings" pitchFamily="2" charset="2"/>
              </a:rPr>
              <a:t>Writes are more expensive than reads</a:t>
            </a:r>
          </a:p>
          <a:p>
            <a:pPr lvl="1"/>
            <a:r>
              <a:rPr lang="en-US" sz="1600" dirty="0">
                <a:sym typeface="Wingdings" pitchFamily="2" charset="2"/>
              </a:rPr>
              <a:t>HNAS attempts to “sequentialize” write IO (</a:t>
            </a:r>
            <a:r>
              <a:rPr lang="en-US" sz="1600" dirty="0" err="1">
                <a:sym typeface="Wingdings" pitchFamily="2" charset="2"/>
              </a:rPr>
              <a:t>Superflush</a:t>
            </a:r>
            <a:r>
              <a:rPr lang="en-US" sz="1600" dirty="0">
                <a:sym typeface="Wingdings" pitchFamily="2" charset="2"/>
              </a:rPr>
              <a:t>), but </a:t>
            </a:r>
            <a:r>
              <a:rPr lang="en-US" sz="1600" dirty="0" err="1">
                <a:sym typeface="Wingdings" pitchFamily="2" charset="2"/>
              </a:rPr>
              <a:t>Superflush</a:t>
            </a:r>
            <a:r>
              <a:rPr lang="en-US" sz="1600" dirty="0">
                <a:sym typeface="Wingdings" pitchFamily="2" charset="2"/>
              </a:rPr>
              <a:t> efficiency will degrade over time</a:t>
            </a:r>
          </a:p>
          <a:p>
            <a:pPr lvl="1"/>
            <a:r>
              <a:rPr lang="en-US" sz="1600" dirty="0">
                <a:sym typeface="Wingdings" pitchFamily="2" charset="2"/>
              </a:rPr>
              <a:t>32kb FS are generally more I/O efficient (less IOs required to read/write a given dataset)</a:t>
            </a:r>
            <a:endParaRPr lang="en-US" dirty="0"/>
          </a:p>
        </p:txBody>
      </p:sp>
      <p:sp>
        <p:nvSpPr>
          <p:cNvPr id="3" name="Title 2">
            <a:extLst>
              <a:ext uri="{FF2B5EF4-FFF2-40B4-BE49-F238E27FC236}">
                <a16:creationId xmlns:a16="http://schemas.microsoft.com/office/drawing/2014/main" id="{E8EC0DB0-95C6-BA42-9D0D-6835A26C6812}"/>
              </a:ext>
            </a:extLst>
          </p:cNvPr>
          <p:cNvSpPr>
            <a:spLocks noGrp="1"/>
          </p:cNvSpPr>
          <p:nvPr>
            <p:ph type="title"/>
          </p:nvPr>
        </p:nvSpPr>
        <p:spPr/>
        <p:txBody>
          <a:bodyPr/>
          <a:lstStyle/>
          <a:p>
            <a:r>
              <a:rPr lang="en-US" dirty="0"/>
              <a:t>Size the Pool appropriately</a:t>
            </a:r>
          </a:p>
        </p:txBody>
      </p:sp>
    </p:spTree>
    <p:extLst>
      <p:ext uri="{BB962C8B-B14F-4D97-AF65-F5344CB8AC3E}">
        <p14:creationId xmlns:p14="http://schemas.microsoft.com/office/powerpoint/2010/main" val="21942840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General Recommendations</a:t>
            </a:r>
          </a:p>
        </p:txBody>
      </p:sp>
      <p:sp>
        <p:nvSpPr>
          <p:cNvPr id="3" name="Content Placeholder 2"/>
          <p:cNvSpPr>
            <a:spLocks noGrp="1"/>
          </p:cNvSpPr>
          <p:nvPr>
            <p:ph idx="1"/>
          </p:nvPr>
        </p:nvSpPr>
        <p:spPr>
          <a:xfrm>
            <a:off x="264160" y="900167"/>
            <a:ext cx="8584006" cy="3990615"/>
          </a:xfrm>
        </p:spPr>
        <p:txBody>
          <a:bodyPr vert="horz" wrap="square" lIns="91440" tIns="45720" rIns="91440" bIns="45720" rtlCol="0">
            <a:normAutofit fontScale="92500" lnSpcReduction="20000"/>
          </a:bodyPr>
          <a:lstStyle/>
          <a:p>
            <a:r>
              <a:rPr lang="en-GB" sz="1800" dirty="0"/>
              <a:t>Use THIN PROVISIONED Spans – 2-3X is strongly encouraged</a:t>
            </a:r>
          </a:p>
          <a:p>
            <a:r>
              <a:rPr lang="en-GB" sz="1800" dirty="0"/>
              <a:t>One Span per HDP pool, although Multiple Spans per HDP Pool should be considered in many cases.</a:t>
            </a:r>
          </a:p>
          <a:p>
            <a:r>
              <a:rPr lang="en-GB" sz="1800" dirty="0"/>
              <a:t>Tiered File System almost always require two (separate) HDP Pools, but can use HDT (pinning)</a:t>
            </a:r>
          </a:p>
          <a:p>
            <a:r>
              <a:rPr lang="en-GB" sz="1800" dirty="0"/>
              <a:t>Avoid sharing an HDP pool between two or more clusters</a:t>
            </a:r>
          </a:p>
          <a:p>
            <a:r>
              <a:rPr lang="en-GB" sz="1800" dirty="0"/>
              <a:t>Sharing a pool between HNAS and foreign servers is supported but not recommended. HNAS is thin friendly, foreign servers are often not</a:t>
            </a:r>
          </a:p>
          <a:p>
            <a:r>
              <a:rPr lang="en-GB" sz="1800" dirty="0"/>
              <a:t>Avoid Splitting Queues, but be pragmatic</a:t>
            </a:r>
          </a:p>
          <a:p>
            <a:r>
              <a:rPr lang="en-GB" sz="1800" dirty="0"/>
              <a:t>But… many of these rules aren’t set in stone and should be adapted to configuration and circumstances</a:t>
            </a:r>
          </a:p>
        </p:txBody>
      </p:sp>
    </p:spTree>
    <p:extLst>
      <p:ext uri="{BB962C8B-B14F-4D97-AF65-F5344CB8AC3E}">
        <p14:creationId xmlns:p14="http://schemas.microsoft.com/office/powerpoint/2010/main" val="4118903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B14F617-6689-3C43-A1CC-41B3A14D8E91}"/>
              </a:ext>
            </a:extLst>
          </p:cNvPr>
          <p:cNvSpPr>
            <a:spLocks noGrp="1"/>
          </p:cNvSpPr>
          <p:nvPr>
            <p:ph idx="1"/>
          </p:nvPr>
        </p:nvSpPr>
        <p:spPr>
          <a:xfrm>
            <a:off x="96882" y="801851"/>
            <a:ext cx="8950235" cy="4184735"/>
          </a:xfrm>
        </p:spPr>
        <p:txBody>
          <a:bodyPr/>
          <a:lstStyle/>
          <a:p>
            <a:r>
              <a:rPr lang="en-US" sz="1800" dirty="0"/>
              <a:t>How many and what size?</a:t>
            </a:r>
          </a:p>
          <a:p>
            <a:r>
              <a:rPr lang="en-US" sz="1800" dirty="0"/>
              <a:t>Don’t get too caught up in the minutiae</a:t>
            </a:r>
          </a:p>
          <a:p>
            <a:r>
              <a:rPr lang="en-US" sz="1800" dirty="0"/>
              <a:t>For HDDs based pools</a:t>
            </a:r>
          </a:p>
          <a:p>
            <a:pPr lvl="1"/>
            <a:r>
              <a:rPr lang="en-US" sz="1600" dirty="0"/>
              <a:t>1 or 2 DP Volumes per PG (8 HDDs)</a:t>
            </a:r>
          </a:p>
          <a:p>
            <a:pPr lvl="1"/>
            <a:r>
              <a:rPr lang="en-US" sz="1600" dirty="0"/>
              <a:t>Size of the volumes should be based on the oversubscription ratio vs physical capacity</a:t>
            </a:r>
          </a:p>
          <a:p>
            <a:r>
              <a:rPr lang="en-US" sz="1800" dirty="0"/>
              <a:t>You must queue IO to drive the storage</a:t>
            </a:r>
          </a:p>
          <a:p>
            <a:pPr lvl="1"/>
            <a:r>
              <a:rPr lang="en-US" sz="1600" dirty="0"/>
              <a:t>Too much queued IO increases storage latency, which can hurt performance</a:t>
            </a:r>
          </a:p>
          <a:p>
            <a:pPr lvl="1"/>
            <a:r>
              <a:rPr lang="en-US" sz="1600" dirty="0"/>
              <a:t>Too little queued IO decreases storage latency but can increase client latency / reduce ops</a:t>
            </a:r>
          </a:p>
          <a:p>
            <a:pPr lvl="1"/>
            <a:r>
              <a:rPr lang="en-US" sz="1600" dirty="0"/>
              <a:t>Default per SD queue depth is 32, but can be changed dynamically through the CLI</a:t>
            </a:r>
          </a:p>
          <a:p>
            <a:pPr lvl="1"/>
            <a:r>
              <a:rPr lang="en-US" sz="1600" dirty="0">
                <a:latin typeface="Courier New" panose="02070309020205020404" pitchFamily="49" charset="0"/>
                <a:cs typeface="Courier New" panose="02070309020205020404" pitchFamily="49" charset="0"/>
              </a:rPr>
              <a:t>Sd-set -q</a:t>
            </a:r>
          </a:p>
        </p:txBody>
      </p:sp>
      <p:sp>
        <p:nvSpPr>
          <p:cNvPr id="3" name="Title 2">
            <a:extLst>
              <a:ext uri="{FF2B5EF4-FFF2-40B4-BE49-F238E27FC236}">
                <a16:creationId xmlns:a16="http://schemas.microsoft.com/office/drawing/2014/main" id="{1045C821-43CE-FB4D-B529-CE4A50A1BB4D}"/>
              </a:ext>
            </a:extLst>
          </p:cNvPr>
          <p:cNvSpPr>
            <a:spLocks noGrp="1"/>
          </p:cNvSpPr>
          <p:nvPr>
            <p:ph type="title"/>
          </p:nvPr>
        </p:nvSpPr>
        <p:spPr/>
        <p:txBody>
          <a:bodyPr/>
          <a:lstStyle/>
          <a:p>
            <a:r>
              <a:rPr lang="en-US" dirty="0"/>
              <a:t>Creating the DP Volumes for the Span</a:t>
            </a:r>
          </a:p>
        </p:txBody>
      </p:sp>
    </p:spTree>
    <p:extLst>
      <p:ext uri="{BB962C8B-B14F-4D97-AF65-F5344CB8AC3E}">
        <p14:creationId xmlns:p14="http://schemas.microsoft.com/office/powerpoint/2010/main" val="40026832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55F8E96-B776-0A46-9F49-68743345848A}"/>
              </a:ext>
            </a:extLst>
          </p:cNvPr>
          <p:cNvSpPr>
            <a:spLocks noGrp="1"/>
          </p:cNvSpPr>
          <p:nvPr>
            <p:ph idx="1"/>
          </p:nvPr>
        </p:nvSpPr>
        <p:spPr>
          <a:xfrm>
            <a:off x="264160" y="785554"/>
            <a:ext cx="8584006" cy="5558445"/>
          </a:xfrm>
        </p:spPr>
        <p:txBody>
          <a:bodyPr/>
          <a:lstStyle/>
          <a:p>
            <a:r>
              <a:rPr lang="en-US" sz="1800" dirty="0"/>
              <a:t>100TB of capacity on a VSP400 Unified</a:t>
            </a:r>
          </a:p>
          <a:p>
            <a:pPr lvl="1"/>
            <a:r>
              <a:rPr lang="en-US" sz="1600" dirty="0"/>
              <a:t>100TB of 2.4TB 10k drives = 64 drives or 8 PGs @6+2 R6</a:t>
            </a:r>
          </a:p>
          <a:p>
            <a:pPr lvl="1"/>
            <a:r>
              <a:rPr lang="en-US" sz="1600" dirty="0"/>
              <a:t>Customer estimates minimal growth, but not sure what will grow</a:t>
            </a:r>
          </a:p>
          <a:p>
            <a:pPr lvl="1"/>
            <a:r>
              <a:rPr lang="en-US" sz="1600" dirty="0"/>
              <a:t>Customer has requirement for Multi-Tenancy (a few small EVS), only 1 EVS is likely to have a heavier IO load</a:t>
            </a:r>
          </a:p>
          <a:p>
            <a:pPr lvl="1"/>
            <a:r>
              <a:rPr lang="en-US" sz="1600" dirty="0"/>
              <a:t>Most of the workload is general user shares and some image repositories for apps.</a:t>
            </a:r>
          </a:p>
          <a:p>
            <a:r>
              <a:rPr lang="en-US" sz="1800" dirty="0"/>
              <a:t>Considerations</a:t>
            </a:r>
          </a:p>
          <a:p>
            <a:pPr lvl="1"/>
            <a:r>
              <a:rPr lang="en-US" sz="1600" dirty="0"/>
              <a:t>Creating 2 Spans on the HDP Pool would provide Active EVS on each of the 2 nodes without splitting queues</a:t>
            </a:r>
          </a:p>
          <a:p>
            <a:pPr lvl="1"/>
            <a:r>
              <a:rPr lang="en-US" sz="1600" dirty="0"/>
              <a:t>Both Spans can get capacity from a single HDP pool, but the 1 busy EVS has full access to all 64 HDDs for performance</a:t>
            </a:r>
          </a:p>
          <a:p>
            <a:pPr lvl="1"/>
            <a:r>
              <a:rPr lang="en-US" sz="1600" dirty="0"/>
              <a:t>Minimal growth so 2:1 oversubscription should be sufficient (2 x 100TB Spans)</a:t>
            </a:r>
          </a:p>
          <a:p>
            <a:pPr lvl="1"/>
            <a:endParaRPr lang="en-US" sz="1600" dirty="0"/>
          </a:p>
          <a:p>
            <a:pPr lvl="1"/>
            <a:endParaRPr lang="en-US" sz="1600" dirty="0"/>
          </a:p>
          <a:p>
            <a:endParaRPr lang="en-US" sz="1800" dirty="0"/>
          </a:p>
        </p:txBody>
      </p:sp>
      <p:sp>
        <p:nvSpPr>
          <p:cNvPr id="3" name="Title 2">
            <a:extLst>
              <a:ext uri="{FF2B5EF4-FFF2-40B4-BE49-F238E27FC236}">
                <a16:creationId xmlns:a16="http://schemas.microsoft.com/office/drawing/2014/main" id="{35CE8BC6-CD10-5345-8F2C-8ACE6D82550D}"/>
              </a:ext>
            </a:extLst>
          </p:cNvPr>
          <p:cNvSpPr>
            <a:spLocks noGrp="1"/>
          </p:cNvSpPr>
          <p:nvPr>
            <p:ph type="title"/>
          </p:nvPr>
        </p:nvSpPr>
        <p:spPr/>
        <p:txBody>
          <a:bodyPr/>
          <a:lstStyle/>
          <a:p>
            <a:r>
              <a:rPr lang="en-US" dirty="0"/>
              <a:t>Quick Example 1</a:t>
            </a:r>
          </a:p>
        </p:txBody>
      </p:sp>
    </p:spTree>
    <p:extLst>
      <p:ext uri="{BB962C8B-B14F-4D97-AF65-F5344CB8AC3E}">
        <p14:creationId xmlns:p14="http://schemas.microsoft.com/office/powerpoint/2010/main" val="8044712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55FF285-A9A1-4140-8FC0-FCA9B9E8BE31}"/>
              </a:ext>
            </a:extLst>
          </p:cNvPr>
          <p:cNvSpPr>
            <a:spLocks noGrp="1"/>
          </p:cNvSpPr>
          <p:nvPr>
            <p:ph idx="1"/>
          </p:nvPr>
        </p:nvSpPr>
        <p:spPr>
          <a:xfrm>
            <a:off x="264160" y="885801"/>
            <a:ext cx="8584006" cy="3706143"/>
          </a:xfrm>
        </p:spPr>
        <p:txBody>
          <a:bodyPr/>
          <a:lstStyle/>
          <a:p>
            <a:r>
              <a:rPr lang="en-US" sz="1800" dirty="0"/>
              <a:t>Single HDP Pool with 16 DP Volumes @12.5TB (200TB THIN)</a:t>
            </a:r>
          </a:p>
          <a:p>
            <a:pPr lvl="1"/>
            <a:r>
              <a:rPr lang="en-US" sz="1600" dirty="0"/>
              <a:t>Span 1 – 8 SD@12.5TB</a:t>
            </a:r>
          </a:p>
          <a:p>
            <a:pPr lvl="1"/>
            <a:r>
              <a:rPr lang="en-US" sz="1600" dirty="0"/>
              <a:t>Span 2 – 8 SD@12.5TB</a:t>
            </a:r>
          </a:p>
          <a:p>
            <a:r>
              <a:rPr lang="en-US" sz="1800" dirty="0"/>
              <a:t>If we find Span 1 hosts the more demanding EVS, we could consider raising the Q Depth on the SDs</a:t>
            </a:r>
          </a:p>
          <a:p>
            <a:r>
              <a:rPr lang="en-US" sz="1800" dirty="0"/>
              <a:t>As we add more PGs (for capacity), we could also consider raising the Q Depth on the SDs</a:t>
            </a:r>
          </a:p>
          <a:p>
            <a:r>
              <a:rPr lang="en-US" sz="1800" dirty="0"/>
              <a:t>Use 32kb FS block size for the file systems</a:t>
            </a:r>
          </a:p>
          <a:p>
            <a:pPr lvl="1"/>
            <a:endParaRPr lang="en-US" sz="1600" dirty="0"/>
          </a:p>
        </p:txBody>
      </p:sp>
      <p:sp>
        <p:nvSpPr>
          <p:cNvPr id="3" name="Title 2">
            <a:extLst>
              <a:ext uri="{FF2B5EF4-FFF2-40B4-BE49-F238E27FC236}">
                <a16:creationId xmlns:a16="http://schemas.microsoft.com/office/drawing/2014/main" id="{7E24C179-682F-0546-90F8-0BE1D701CB7C}"/>
              </a:ext>
            </a:extLst>
          </p:cNvPr>
          <p:cNvSpPr>
            <a:spLocks noGrp="1"/>
          </p:cNvSpPr>
          <p:nvPr>
            <p:ph type="title"/>
          </p:nvPr>
        </p:nvSpPr>
        <p:spPr/>
        <p:txBody>
          <a:bodyPr/>
          <a:lstStyle/>
          <a:p>
            <a:r>
              <a:rPr lang="en-US" dirty="0"/>
              <a:t>Quick Example 1: Solution</a:t>
            </a:r>
          </a:p>
        </p:txBody>
      </p:sp>
    </p:spTree>
    <p:extLst>
      <p:ext uri="{BB962C8B-B14F-4D97-AF65-F5344CB8AC3E}">
        <p14:creationId xmlns:p14="http://schemas.microsoft.com/office/powerpoint/2010/main" val="19841783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7FAD10F-8A30-E24C-9EF1-E12EF77D73AB}"/>
              </a:ext>
            </a:extLst>
          </p:cNvPr>
          <p:cNvSpPr>
            <a:spLocks noGrp="1"/>
          </p:cNvSpPr>
          <p:nvPr>
            <p:ph idx="1"/>
          </p:nvPr>
        </p:nvSpPr>
        <p:spPr>
          <a:xfrm>
            <a:off x="279997" y="785554"/>
            <a:ext cx="8584006" cy="5731313"/>
          </a:xfrm>
        </p:spPr>
        <p:txBody>
          <a:bodyPr/>
          <a:lstStyle/>
          <a:p>
            <a:r>
              <a:rPr lang="en-US" sz="1800" dirty="0"/>
              <a:t>400TB capacity requirement </a:t>
            </a:r>
          </a:p>
          <a:p>
            <a:pPr lvl="1"/>
            <a:r>
              <a:rPr lang="en-US" sz="1600" dirty="0"/>
              <a:t>Not a requirement for multi-tenancy but needs high read performance (up to 14 GB/sec read)</a:t>
            </a:r>
          </a:p>
          <a:p>
            <a:pPr lvl="1"/>
            <a:r>
              <a:rPr lang="en-US" sz="1600" dirty="0"/>
              <a:t>Offload older data to Cloud, active data growth expected to be minimal, but not predictable</a:t>
            </a:r>
          </a:p>
          <a:p>
            <a:r>
              <a:rPr lang="en-US" sz="1800" dirty="0"/>
              <a:t>Account team settles on 4 node HNAS5300 using E990 w/400TB NVME/SSD</a:t>
            </a:r>
          </a:p>
          <a:p>
            <a:pPr lvl="1"/>
            <a:r>
              <a:rPr lang="en-US" sz="1600" dirty="0"/>
              <a:t>10 x 6+2R6 7.6TB NVME/SSD</a:t>
            </a:r>
          </a:p>
          <a:p>
            <a:r>
              <a:rPr lang="en-US" sz="1800" dirty="0"/>
              <a:t>Considerations</a:t>
            </a:r>
          </a:p>
          <a:p>
            <a:pPr lvl="1"/>
            <a:r>
              <a:rPr lang="en-US" sz="1600" dirty="0"/>
              <a:t>Single EVS per node required to harness all 4 nodes, may includes namespace/read cache</a:t>
            </a:r>
          </a:p>
          <a:p>
            <a:pPr lvl="1"/>
            <a:r>
              <a:rPr lang="en-US" sz="1600" dirty="0"/>
              <a:t>Carving up the SSDs into a single Span per node on a single HDP pool will provide some flexibility on how capacity can be allocated.</a:t>
            </a:r>
          </a:p>
          <a:p>
            <a:endParaRPr lang="en-US" sz="1800" dirty="0"/>
          </a:p>
          <a:p>
            <a:endParaRPr lang="en-US" sz="1800" dirty="0"/>
          </a:p>
          <a:p>
            <a:endParaRPr lang="en-US" sz="1800" dirty="0"/>
          </a:p>
        </p:txBody>
      </p:sp>
      <p:sp>
        <p:nvSpPr>
          <p:cNvPr id="3" name="Title 2">
            <a:extLst>
              <a:ext uri="{FF2B5EF4-FFF2-40B4-BE49-F238E27FC236}">
                <a16:creationId xmlns:a16="http://schemas.microsoft.com/office/drawing/2014/main" id="{846DFCD0-D75E-5543-B8F3-C80B7A4B7BDE}"/>
              </a:ext>
            </a:extLst>
          </p:cNvPr>
          <p:cNvSpPr>
            <a:spLocks noGrp="1"/>
          </p:cNvSpPr>
          <p:nvPr>
            <p:ph type="title"/>
          </p:nvPr>
        </p:nvSpPr>
        <p:spPr/>
        <p:txBody>
          <a:bodyPr/>
          <a:lstStyle/>
          <a:p>
            <a:r>
              <a:rPr lang="en-US" dirty="0"/>
              <a:t>Quick Example 2</a:t>
            </a:r>
          </a:p>
        </p:txBody>
      </p:sp>
    </p:spTree>
    <p:extLst>
      <p:ext uri="{BB962C8B-B14F-4D97-AF65-F5344CB8AC3E}">
        <p14:creationId xmlns:p14="http://schemas.microsoft.com/office/powerpoint/2010/main" val="12895184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65C90C7-FEDC-C245-BC99-E1B90A447507}"/>
              </a:ext>
            </a:extLst>
          </p:cNvPr>
          <p:cNvSpPr>
            <a:spLocks noGrp="1"/>
          </p:cNvSpPr>
          <p:nvPr>
            <p:ph idx="1"/>
          </p:nvPr>
        </p:nvSpPr>
        <p:spPr>
          <a:xfrm>
            <a:off x="264160" y="934128"/>
            <a:ext cx="8584006" cy="3960058"/>
          </a:xfrm>
        </p:spPr>
        <p:txBody>
          <a:bodyPr/>
          <a:lstStyle/>
          <a:p>
            <a:r>
              <a:rPr lang="en-US" sz="1800" dirty="0"/>
              <a:t>Oversubscribe @2:1, but need adequate volumes to drive the SSD, but also provide capacity where needed. </a:t>
            </a:r>
          </a:p>
          <a:p>
            <a:r>
              <a:rPr lang="en-US" sz="1800" dirty="0"/>
              <a:t>16 volumes across 4 Spans = 64 DP Volumes</a:t>
            </a:r>
          </a:p>
          <a:p>
            <a:r>
              <a:rPr lang="en-US" sz="1800" dirty="0"/>
              <a:t>400 x 2 = 800 DP Pool / 64 Volumes = 12.5TB Volumes</a:t>
            </a:r>
          </a:p>
          <a:p>
            <a:pPr lvl="1"/>
            <a:r>
              <a:rPr lang="en-US" sz="1600" dirty="0"/>
              <a:t>4 Spans 16 SDs x 12.5TB Volumes with 1 EVS per node</a:t>
            </a:r>
          </a:p>
          <a:p>
            <a:r>
              <a:rPr lang="en-US" sz="1800" dirty="0"/>
              <a:t>32kb File System to provide best throughput</a:t>
            </a:r>
          </a:p>
          <a:p>
            <a:pPr lvl="1"/>
            <a:r>
              <a:rPr lang="en-US" sz="1600" dirty="0"/>
              <a:t>CNS/CRC might enhance throughput for NFSv3 read intensive operations of individual files</a:t>
            </a:r>
          </a:p>
          <a:p>
            <a:r>
              <a:rPr lang="en-US" sz="1800" dirty="0"/>
              <a:t>4 Nodes provides a max. of 18GB/sec but can still provide 13.5GB/sec if a node fails</a:t>
            </a:r>
          </a:p>
        </p:txBody>
      </p:sp>
      <p:sp>
        <p:nvSpPr>
          <p:cNvPr id="3" name="Title 2">
            <a:extLst>
              <a:ext uri="{FF2B5EF4-FFF2-40B4-BE49-F238E27FC236}">
                <a16:creationId xmlns:a16="http://schemas.microsoft.com/office/drawing/2014/main" id="{14ED406C-2005-B74F-A145-3A3918671892}"/>
              </a:ext>
            </a:extLst>
          </p:cNvPr>
          <p:cNvSpPr>
            <a:spLocks noGrp="1"/>
          </p:cNvSpPr>
          <p:nvPr>
            <p:ph type="title"/>
          </p:nvPr>
        </p:nvSpPr>
        <p:spPr/>
        <p:txBody>
          <a:bodyPr/>
          <a:lstStyle/>
          <a:p>
            <a:r>
              <a:rPr lang="en-US" dirty="0"/>
              <a:t>Quick Example 2: Solution</a:t>
            </a:r>
          </a:p>
        </p:txBody>
      </p:sp>
    </p:spTree>
    <p:extLst>
      <p:ext uri="{BB962C8B-B14F-4D97-AF65-F5344CB8AC3E}">
        <p14:creationId xmlns:p14="http://schemas.microsoft.com/office/powerpoint/2010/main" val="7173658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en-US" dirty="0"/>
              <a:t>UVM</a:t>
            </a:r>
          </a:p>
        </p:txBody>
      </p:sp>
    </p:spTree>
    <p:extLst>
      <p:ext uri="{BB962C8B-B14F-4D97-AF65-F5344CB8AC3E}">
        <p14:creationId xmlns:p14="http://schemas.microsoft.com/office/powerpoint/2010/main" val="13408958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a:xfrm>
            <a:off x="264160" y="885801"/>
            <a:ext cx="8584006" cy="4192943"/>
          </a:xfrm>
        </p:spPr>
        <p:txBody>
          <a:bodyPr/>
          <a:lstStyle/>
          <a:p>
            <a:r>
              <a:rPr lang="en-US" dirty="0"/>
              <a:t>UVM (Virtualization) is supported with Hitachi NAS, but is generally not considered to be a high performance solution</a:t>
            </a:r>
          </a:p>
          <a:p>
            <a:r>
              <a:rPr lang="en-US" dirty="0"/>
              <a:t>UVM Storage can be utilized in two ways:</a:t>
            </a:r>
          </a:p>
          <a:p>
            <a:r>
              <a:rPr lang="en-US" dirty="0"/>
              <a:t>Pass-through</a:t>
            </a:r>
          </a:p>
          <a:p>
            <a:pPr lvl="1"/>
            <a:r>
              <a:rPr lang="en-US" dirty="0"/>
              <a:t>External LUNs are presented by other storage systems; the local array virtualizes the external LUNs and presents them to the server as internal LUNs</a:t>
            </a:r>
          </a:p>
          <a:p>
            <a:r>
              <a:rPr lang="en-US" dirty="0"/>
              <a:t>HDP </a:t>
            </a:r>
          </a:p>
          <a:p>
            <a:pPr lvl="1"/>
            <a:r>
              <a:rPr lang="en-US" dirty="0"/>
              <a:t>External LUNs are presented by other storage systems; the local array virtualizes the external LUNs and uses them as HDP Pool Volumes. The local array presents DP Volumes to the HNAS from this HDP Pool.</a:t>
            </a:r>
          </a:p>
        </p:txBody>
      </p:sp>
      <p:sp>
        <p:nvSpPr>
          <p:cNvPr id="3" name="Title 2"/>
          <p:cNvSpPr>
            <a:spLocks noGrp="1"/>
          </p:cNvSpPr>
          <p:nvPr>
            <p:ph type="title"/>
          </p:nvPr>
        </p:nvSpPr>
        <p:spPr/>
        <p:txBody>
          <a:bodyPr/>
          <a:lstStyle/>
          <a:p>
            <a:r>
              <a:rPr lang="en-US" dirty="0"/>
              <a:t>Universal Volume Manager and Hitachi NAS</a:t>
            </a:r>
          </a:p>
        </p:txBody>
      </p:sp>
    </p:spTree>
    <p:extLst>
      <p:ext uri="{BB962C8B-B14F-4D97-AF65-F5344CB8AC3E}">
        <p14:creationId xmlns:p14="http://schemas.microsoft.com/office/powerpoint/2010/main" val="24739489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64160" y="885801"/>
            <a:ext cx="8584006" cy="3247043"/>
          </a:xfrm>
        </p:spPr>
        <p:txBody>
          <a:bodyPr/>
          <a:lstStyle/>
          <a:p>
            <a:r>
              <a:rPr lang="en-US" dirty="0"/>
              <a:t>With UVM pass-through, the server has no way to determine whether the external LUs are thinly provisioned (even if they come from an HDP Pool on the external array). </a:t>
            </a:r>
          </a:p>
          <a:p>
            <a:r>
              <a:rPr lang="en-US" dirty="0"/>
              <a:t>It therefore does not know how much free disk space is left </a:t>
            </a:r>
          </a:p>
          <a:p>
            <a:r>
              <a:rPr lang="en-US" dirty="0"/>
              <a:t>The HNAS  server is therefore unable to guard against running out of disk space as effectively as it can with a local HDP pool. </a:t>
            </a:r>
          </a:p>
          <a:p>
            <a:r>
              <a:rPr lang="en-US" dirty="0"/>
              <a:t>It is therefore the administrator's job to ensure that no external HDP pool ever runs out of space.</a:t>
            </a:r>
          </a:p>
        </p:txBody>
      </p:sp>
      <p:sp>
        <p:nvSpPr>
          <p:cNvPr id="3" name="Title 2"/>
          <p:cNvSpPr>
            <a:spLocks noGrp="1"/>
          </p:cNvSpPr>
          <p:nvPr>
            <p:ph type="title"/>
          </p:nvPr>
        </p:nvSpPr>
        <p:spPr/>
        <p:txBody>
          <a:bodyPr/>
          <a:lstStyle/>
          <a:p>
            <a:r>
              <a:rPr lang="en-US" dirty="0"/>
              <a:t>Pass-through</a:t>
            </a:r>
          </a:p>
        </p:txBody>
      </p:sp>
    </p:spTree>
    <p:extLst>
      <p:ext uri="{BB962C8B-B14F-4D97-AF65-F5344CB8AC3E}">
        <p14:creationId xmlns:p14="http://schemas.microsoft.com/office/powerpoint/2010/main" val="9822223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64160" y="885801"/>
            <a:ext cx="8584006" cy="4278094"/>
          </a:xfrm>
        </p:spPr>
        <p:txBody>
          <a:bodyPr/>
          <a:lstStyle/>
          <a:p>
            <a:r>
              <a:rPr lang="en-US" dirty="0"/>
              <a:t>When working with UVM based storage, the server will treat the storage a bit differently:</a:t>
            </a:r>
          </a:p>
          <a:p>
            <a:pPr lvl="1"/>
            <a:r>
              <a:rPr lang="en-US" dirty="0"/>
              <a:t>Span-list will show UVM in place of “Con”. Will not show HDP free space.</a:t>
            </a:r>
          </a:p>
          <a:p>
            <a:pPr lvl="1"/>
            <a:r>
              <a:rPr lang="en-US" dirty="0"/>
              <a:t>Auto-expansion is disabled. Administrator responsible for ensuring capacity is available</a:t>
            </a:r>
          </a:p>
          <a:p>
            <a:pPr lvl="1"/>
            <a:r>
              <a:rPr lang="en-US" dirty="0"/>
              <a:t>Vacated chunks list is still maintained, but you cannot </a:t>
            </a:r>
            <a:r>
              <a:rPr lang="en-US" dirty="0" err="1"/>
              <a:t>unmap</a:t>
            </a:r>
            <a:r>
              <a:rPr lang="en-US" dirty="0"/>
              <a:t> (span-</a:t>
            </a:r>
            <a:r>
              <a:rPr lang="en-US" dirty="0" err="1"/>
              <a:t>unmap</a:t>
            </a:r>
            <a:r>
              <a:rPr lang="en-US" dirty="0"/>
              <a:t>-vacated-chunks is not available)</a:t>
            </a:r>
          </a:p>
          <a:p>
            <a:r>
              <a:rPr lang="en-US" dirty="0"/>
              <a:t>It is possible to migrate a UVM based pool to a local HDP Pool using HTSM</a:t>
            </a:r>
          </a:p>
          <a:p>
            <a:pPr lvl="1"/>
            <a:r>
              <a:rPr lang="en-US" dirty="0"/>
              <a:t>Be aware that the target pool will be THICK</a:t>
            </a:r>
          </a:p>
          <a:p>
            <a:pPr lvl="1"/>
            <a:endParaRPr lang="en-US" dirty="0"/>
          </a:p>
        </p:txBody>
      </p:sp>
      <p:sp>
        <p:nvSpPr>
          <p:cNvPr id="3" name="Title 2"/>
          <p:cNvSpPr>
            <a:spLocks noGrp="1"/>
          </p:cNvSpPr>
          <p:nvPr>
            <p:ph type="title"/>
          </p:nvPr>
        </p:nvSpPr>
        <p:spPr/>
        <p:txBody>
          <a:bodyPr/>
          <a:lstStyle/>
          <a:p>
            <a:r>
              <a:rPr lang="en-US" dirty="0"/>
              <a:t>UVM Pass-through - Differences</a:t>
            </a:r>
          </a:p>
        </p:txBody>
      </p:sp>
    </p:spTree>
    <p:extLst>
      <p:ext uri="{BB962C8B-B14F-4D97-AF65-F5344CB8AC3E}">
        <p14:creationId xmlns:p14="http://schemas.microsoft.com/office/powerpoint/2010/main" val="34017895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64160" y="885801"/>
            <a:ext cx="8584006" cy="3751796"/>
          </a:xfrm>
        </p:spPr>
        <p:txBody>
          <a:bodyPr/>
          <a:lstStyle/>
          <a:p>
            <a:r>
              <a:rPr lang="en-US" dirty="0"/>
              <a:t>If you elect to build a local HDP Pool based on Pool Volumes from an external array, the Hitachi NAS treats the storage as a local HDP Pool,</a:t>
            </a:r>
          </a:p>
          <a:p>
            <a:pPr lvl="1"/>
            <a:r>
              <a:rPr lang="en-US" dirty="0"/>
              <a:t>Span-list shows HDP available capacity</a:t>
            </a:r>
          </a:p>
          <a:p>
            <a:pPr lvl="1"/>
            <a:r>
              <a:rPr lang="en-US" dirty="0"/>
              <a:t>Auto-expansion is available</a:t>
            </a:r>
          </a:p>
          <a:p>
            <a:pPr lvl="1"/>
            <a:r>
              <a:rPr lang="en-US" dirty="0" err="1"/>
              <a:t>Unmap</a:t>
            </a:r>
            <a:r>
              <a:rPr lang="en-US" dirty="0"/>
              <a:t> (span-</a:t>
            </a:r>
            <a:r>
              <a:rPr lang="en-US" dirty="0" err="1"/>
              <a:t>unmap</a:t>
            </a:r>
            <a:r>
              <a:rPr lang="en-US" dirty="0"/>
              <a:t>-vacated-chunks) is still available</a:t>
            </a:r>
          </a:p>
          <a:p>
            <a:r>
              <a:rPr lang="en-US" dirty="0"/>
              <a:t>HTSM could still be used to migrate external pool volumes to internal pool volumes</a:t>
            </a:r>
          </a:p>
          <a:p>
            <a:pPr lvl="1"/>
            <a:r>
              <a:rPr lang="en-US" dirty="0"/>
              <a:t>The HDP pool would remain THIN</a:t>
            </a:r>
          </a:p>
          <a:p>
            <a:pPr lvl="1"/>
            <a:endParaRPr lang="en-US" dirty="0"/>
          </a:p>
        </p:txBody>
      </p:sp>
      <p:sp>
        <p:nvSpPr>
          <p:cNvPr id="3" name="Title 2"/>
          <p:cNvSpPr>
            <a:spLocks noGrp="1"/>
          </p:cNvSpPr>
          <p:nvPr>
            <p:ph type="title"/>
          </p:nvPr>
        </p:nvSpPr>
        <p:spPr/>
        <p:txBody>
          <a:bodyPr/>
          <a:lstStyle/>
          <a:p>
            <a:r>
              <a:rPr lang="en-US" dirty="0"/>
              <a:t>UVM HDP Pool</a:t>
            </a:r>
          </a:p>
        </p:txBody>
      </p:sp>
    </p:spTree>
    <p:extLst>
      <p:ext uri="{BB962C8B-B14F-4D97-AF65-F5344CB8AC3E}">
        <p14:creationId xmlns:p14="http://schemas.microsoft.com/office/powerpoint/2010/main" val="17253613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2EEF62C-440E-6445-BE36-5E94DF0805EB}"/>
              </a:ext>
            </a:extLst>
          </p:cNvPr>
          <p:cNvSpPr>
            <a:spLocks noGrp="1"/>
          </p:cNvSpPr>
          <p:nvPr>
            <p:ph type="ctrTitle"/>
          </p:nvPr>
        </p:nvSpPr>
        <p:spPr/>
        <p:txBody>
          <a:bodyPr/>
          <a:lstStyle/>
          <a:p>
            <a:r>
              <a:rPr lang="en-US" dirty="0"/>
              <a:t>ADR</a:t>
            </a:r>
          </a:p>
        </p:txBody>
      </p:sp>
    </p:spTree>
    <p:extLst>
      <p:ext uri="{BB962C8B-B14F-4D97-AF65-F5344CB8AC3E}">
        <p14:creationId xmlns:p14="http://schemas.microsoft.com/office/powerpoint/2010/main" val="36781059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8316B2C7-D8ED-584D-826F-6521CB297A46}"/>
              </a:ext>
            </a:extLst>
          </p:cNvPr>
          <p:cNvSpPr>
            <a:spLocks noGrp="1"/>
          </p:cNvSpPr>
          <p:nvPr>
            <p:ph idx="1"/>
          </p:nvPr>
        </p:nvSpPr>
        <p:spPr>
          <a:xfrm>
            <a:off x="264160" y="885801"/>
            <a:ext cx="8584006" cy="4016484"/>
          </a:xfrm>
        </p:spPr>
        <p:txBody>
          <a:bodyPr vert="horz" wrap="square" lIns="91440" tIns="45720" rIns="91440" bIns="45720" rtlCol="0">
            <a:spAutoFit/>
          </a:bodyPr>
          <a:lstStyle/>
          <a:p>
            <a:r>
              <a:rPr lang="en-US" sz="1600" dirty="0"/>
              <a:t>Thin Provisioned HDP Pools has been a “best practice” since release 12.1. </a:t>
            </a:r>
          </a:p>
          <a:p>
            <a:r>
              <a:rPr lang="en-US" sz="1600" dirty="0"/>
              <a:t>HNAS spans are typically deployed on overprovisioned HDP Pools</a:t>
            </a:r>
          </a:p>
          <a:p>
            <a:r>
              <a:rPr lang="en-US" sz="1600" dirty="0"/>
              <a:t>This mechanism allows customers to easily scale NAS capacity incrementally with zero disruption and automatic load-levelling.</a:t>
            </a:r>
          </a:p>
          <a:p>
            <a:r>
              <a:rPr lang="en-US" sz="1600" dirty="0"/>
              <a:t>HNAS uses SCSI commands to obtain available physical free space from the storage system to avoid prematurely exhausting physical capacity</a:t>
            </a:r>
          </a:p>
          <a:p>
            <a:r>
              <a:rPr lang="en-US" sz="1600" dirty="0"/>
              <a:t>A similar </a:t>
            </a:r>
            <a:r>
              <a:rPr lang="en-US" sz="1600" dirty="0" err="1"/>
              <a:t>inband</a:t>
            </a:r>
            <a:r>
              <a:rPr lang="en-US" sz="1600" dirty="0"/>
              <a:t> approach is used with Hitachi Accelerated Flash module drives (FMDs) when deployed on VSP Unified Platform</a:t>
            </a:r>
          </a:p>
          <a:p>
            <a:r>
              <a:rPr lang="en-US" sz="1600" dirty="0"/>
              <a:t>ADR does not provide HNAS with a similar in band SCSI interface to allow it to query physical capacity</a:t>
            </a:r>
          </a:p>
        </p:txBody>
      </p:sp>
      <p:sp>
        <p:nvSpPr>
          <p:cNvPr id="3" name="Title 2">
            <a:extLst>
              <a:ext uri="{FF2B5EF4-FFF2-40B4-BE49-F238E27FC236}">
                <a16:creationId xmlns:a16="http://schemas.microsoft.com/office/drawing/2014/main" id="{BBAD5EBD-2E85-6D4B-A676-5185AEF3C27A}"/>
              </a:ext>
            </a:extLst>
          </p:cNvPr>
          <p:cNvSpPr>
            <a:spLocks noGrp="1"/>
          </p:cNvSpPr>
          <p:nvPr>
            <p:ph type="title"/>
          </p:nvPr>
        </p:nvSpPr>
        <p:spPr/>
        <p:txBody>
          <a:bodyPr/>
          <a:lstStyle/>
          <a:p>
            <a:r>
              <a:rPr lang="en-US" dirty="0"/>
              <a:t>HDP Thin Provisioning</a:t>
            </a:r>
          </a:p>
        </p:txBody>
      </p:sp>
    </p:spTree>
    <p:extLst>
      <p:ext uri="{BB962C8B-B14F-4D97-AF65-F5344CB8AC3E}">
        <p14:creationId xmlns:p14="http://schemas.microsoft.com/office/powerpoint/2010/main" val="23991132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8316B2C7-D8ED-584D-826F-6521CB297A46}"/>
              </a:ext>
            </a:extLst>
          </p:cNvPr>
          <p:cNvSpPr>
            <a:spLocks noGrp="1"/>
          </p:cNvSpPr>
          <p:nvPr>
            <p:ph idx="1"/>
          </p:nvPr>
        </p:nvSpPr>
        <p:spPr>
          <a:xfrm>
            <a:off x="264160" y="885801"/>
            <a:ext cx="8584006" cy="4293996"/>
          </a:xfrm>
        </p:spPr>
        <p:txBody>
          <a:bodyPr/>
          <a:lstStyle/>
          <a:p>
            <a:r>
              <a:rPr lang="en-US" sz="1600" dirty="0"/>
              <a:t>SVOS RF based data reduction does not currently report in-band data reduction level or physical pool utilization</a:t>
            </a:r>
          </a:p>
          <a:p>
            <a:r>
              <a:rPr lang="en-US" sz="1600" dirty="0"/>
              <a:t>As such an HNAS system cannot accurately measure the physical free space available to HNAS file systems </a:t>
            </a:r>
          </a:p>
          <a:p>
            <a:pPr lvl="1"/>
            <a:r>
              <a:rPr lang="en-US" sz="1400" dirty="0"/>
              <a:t>This is in stark contrast to the typical thin provisioned pool deployment</a:t>
            </a:r>
          </a:p>
          <a:p>
            <a:r>
              <a:rPr lang="en-US" sz="1600" dirty="0"/>
              <a:t>Since the HNAS is unable to measure physical free space in this configuration, it cannot prevent a catastrophic capacity exhaustion event</a:t>
            </a:r>
          </a:p>
          <a:p>
            <a:pPr lvl="1"/>
            <a:r>
              <a:rPr lang="en-US" sz="1400" dirty="0"/>
              <a:t>Should that occur, all file systems of the host pool would be forced offline until more capacity is added to the pool</a:t>
            </a:r>
          </a:p>
          <a:p>
            <a:r>
              <a:rPr lang="en-US" sz="1600" dirty="0"/>
              <a:t>While ADR is supported with HNAS, it is not recommended for these reasons</a:t>
            </a:r>
          </a:p>
          <a:p>
            <a:r>
              <a:rPr lang="en-US" sz="1600" dirty="0"/>
              <a:t>Customers who choose to deploy it must vigilantly manage free space at the storage subsystem level (since the HNAS is not provided the capability to do so)</a:t>
            </a:r>
          </a:p>
        </p:txBody>
      </p:sp>
      <p:sp>
        <p:nvSpPr>
          <p:cNvPr id="3" name="Title 2">
            <a:extLst>
              <a:ext uri="{FF2B5EF4-FFF2-40B4-BE49-F238E27FC236}">
                <a16:creationId xmlns:a16="http://schemas.microsoft.com/office/drawing/2014/main" id="{BBAD5EBD-2E85-6D4B-A676-5185AEF3C27A}"/>
              </a:ext>
            </a:extLst>
          </p:cNvPr>
          <p:cNvSpPr>
            <a:spLocks noGrp="1"/>
          </p:cNvSpPr>
          <p:nvPr>
            <p:ph type="title"/>
          </p:nvPr>
        </p:nvSpPr>
        <p:spPr/>
        <p:txBody>
          <a:bodyPr/>
          <a:lstStyle/>
          <a:p>
            <a:r>
              <a:rPr lang="en-US" dirty="0"/>
              <a:t>SVOS RF ADR and Hitachi NAS</a:t>
            </a:r>
          </a:p>
        </p:txBody>
      </p:sp>
    </p:spTree>
    <p:extLst>
      <p:ext uri="{BB962C8B-B14F-4D97-AF65-F5344CB8AC3E}">
        <p14:creationId xmlns:p14="http://schemas.microsoft.com/office/powerpoint/2010/main" val="36477104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32017EE-F365-7C41-816E-B6B27CDAEB61}"/>
              </a:ext>
            </a:extLst>
          </p:cNvPr>
          <p:cNvSpPr>
            <a:spLocks noGrp="1"/>
          </p:cNvSpPr>
          <p:nvPr>
            <p:ph idx="1"/>
          </p:nvPr>
        </p:nvSpPr>
        <p:spPr>
          <a:xfrm>
            <a:off x="264160" y="707671"/>
            <a:ext cx="8584006" cy="4109843"/>
          </a:xfrm>
        </p:spPr>
        <p:txBody>
          <a:bodyPr vert="horz" wrap="square" lIns="91440" tIns="45720" rIns="91440" bIns="45720" rtlCol="0">
            <a:spAutoFit/>
          </a:bodyPr>
          <a:lstStyle/>
          <a:p>
            <a:r>
              <a:rPr lang="en-US" sz="1600" dirty="0"/>
              <a:t>Hitachi NAS provides its own HW Assisted De-Duplication</a:t>
            </a:r>
          </a:p>
          <a:p>
            <a:r>
              <a:rPr lang="en-US" sz="1600" dirty="0"/>
              <a:t>The FPGA Accelerated De-Duplication within HNAS is a post process implementation</a:t>
            </a:r>
          </a:p>
          <a:p>
            <a:pPr lvl="1"/>
            <a:r>
              <a:rPr lang="en-US" sz="1400" dirty="0"/>
              <a:t>The system regularly reclaims redundant blocks within file system that are formatted with deduplication support</a:t>
            </a:r>
          </a:p>
          <a:p>
            <a:pPr lvl="1"/>
            <a:r>
              <a:rPr lang="en-US" sz="1400" dirty="0"/>
              <a:t>The rate at which data is processed can be increased by licensing premium deduplication (200MB/sec -&gt; 550MB/sec)</a:t>
            </a:r>
          </a:p>
          <a:p>
            <a:r>
              <a:rPr lang="en-US" sz="1600" dirty="0"/>
              <a:t>The Hitachi NAS System file system is fully integrated into the deduplication engine</a:t>
            </a:r>
          </a:p>
          <a:p>
            <a:pPr lvl="1"/>
            <a:r>
              <a:rPr lang="en-US" sz="1400" dirty="0"/>
              <a:t>The capacity savings are instantly realized and are fully visible to end user/applications</a:t>
            </a:r>
          </a:p>
          <a:p>
            <a:r>
              <a:rPr lang="en-US" sz="1600" dirty="0"/>
              <a:t>Minimal performance impact</a:t>
            </a:r>
          </a:p>
          <a:p>
            <a:pPr lvl="1"/>
            <a:r>
              <a:rPr lang="en-US" sz="1400" dirty="0"/>
              <a:t>While deduplication is a post process implementation, the “heavy lifting” of hash generation is offload to the FPGA engine to limit performance impact. </a:t>
            </a:r>
          </a:p>
          <a:p>
            <a:pPr lvl="1"/>
            <a:r>
              <a:rPr lang="en-US" sz="1400" dirty="0"/>
              <a:t>DeDupe essentially runs as required, although it can be configured to operate within windows</a:t>
            </a:r>
          </a:p>
        </p:txBody>
      </p:sp>
      <p:sp>
        <p:nvSpPr>
          <p:cNvPr id="3" name="Title 2">
            <a:extLst>
              <a:ext uri="{FF2B5EF4-FFF2-40B4-BE49-F238E27FC236}">
                <a16:creationId xmlns:a16="http://schemas.microsoft.com/office/drawing/2014/main" id="{06654C04-3BCF-934A-9094-8F700661AB4E}"/>
              </a:ext>
            </a:extLst>
          </p:cNvPr>
          <p:cNvSpPr>
            <a:spLocks noGrp="1"/>
          </p:cNvSpPr>
          <p:nvPr>
            <p:ph type="title"/>
          </p:nvPr>
        </p:nvSpPr>
        <p:spPr/>
        <p:txBody>
          <a:bodyPr/>
          <a:lstStyle/>
          <a:p>
            <a:r>
              <a:rPr lang="en-US" dirty="0"/>
              <a:t>Hitachi NAS De-Duplication</a:t>
            </a:r>
          </a:p>
        </p:txBody>
      </p:sp>
    </p:spTree>
    <p:extLst>
      <p:ext uri="{BB962C8B-B14F-4D97-AF65-F5344CB8AC3E}">
        <p14:creationId xmlns:p14="http://schemas.microsoft.com/office/powerpoint/2010/main" val="37328138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Thank You</a:t>
            </a:r>
          </a:p>
        </p:txBody>
      </p:sp>
    </p:spTree>
    <p:extLst>
      <p:ext uri="{BB962C8B-B14F-4D97-AF65-F5344CB8AC3E}">
        <p14:creationId xmlns:p14="http://schemas.microsoft.com/office/powerpoint/2010/main" val="28316609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5673122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9"/>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pZ2wQvCHjREiJSwOZSVBGSA"/>
</p:tagLst>
</file>

<file path=ppt/tags/tag3.xml><?xml version="1.0" encoding="utf-8"?>
<p:tagLst xmlns:a="http://schemas.openxmlformats.org/drawingml/2006/main" xmlns:r="http://schemas.openxmlformats.org/officeDocument/2006/relationships" xmlns:p="http://schemas.openxmlformats.org/presentationml/2006/main">
  <p:tag name="OFFISYNC_SLIDE_GUID" val="9dea429e-3c71-4abf-bde5-37eaf8f5cdba"/>
</p:tagLst>
</file>

<file path=ppt/tags/tag4.xml><?xml version="1.0" encoding="utf-8"?>
<p:tagLst xmlns:a="http://schemas.openxmlformats.org/drawingml/2006/main" xmlns:r="http://schemas.openxmlformats.org/officeDocument/2006/relationships" xmlns:p="http://schemas.openxmlformats.org/presentationml/2006/main">
  <p:tag name="OFFISYNC_SLIDE_GUID" val="9dea429e-3c71-4abf-bde5-37eaf8f5cdba"/>
</p:tagLst>
</file>

<file path=ppt/theme/theme1.xml><?xml version="1.0" encoding="utf-8"?>
<a:theme xmlns:a="http://schemas.openxmlformats.org/drawingml/2006/main" name="HV2019">
  <a:themeElements>
    <a:clrScheme name="2020">
      <a:dk1>
        <a:srgbClr val="414141"/>
      </a:dk1>
      <a:lt1>
        <a:srgbClr val="FFFFFF"/>
      </a:lt1>
      <a:dk2>
        <a:srgbClr val="000000"/>
      </a:dk2>
      <a:lt2>
        <a:srgbClr val="D8D9D8"/>
      </a:lt2>
      <a:accent1>
        <a:srgbClr val="650000"/>
      </a:accent1>
      <a:accent2>
        <a:srgbClr val="CC0000"/>
      </a:accent2>
      <a:accent3>
        <a:srgbClr val="051C2C"/>
      </a:accent3>
      <a:accent4>
        <a:srgbClr val="6FCACE"/>
      </a:accent4>
      <a:accent5>
        <a:srgbClr val="FA6800"/>
      </a:accent5>
      <a:accent6>
        <a:srgbClr val="FEC22B"/>
      </a:accent6>
      <a:hlink>
        <a:srgbClr val="CC0000"/>
      </a:hlink>
      <a:folHlink>
        <a:srgbClr val="525252"/>
      </a:folHlink>
    </a:clrScheme>
    <a:fontScheme name="HDS 2011">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noFill/>
        </a:ln>
      </a:spPr>
      <a:bodyPr rtlCol="0" anchor="ctr"/>
      <a:lstStyle>
        <a:defPPr algn="ctr">
          <a:defRPr dirty="0" smtClean="0">
            <a:latin typeface="+mj-lt"/>
          </a:defRPr>
        </a:defPPr>
      </a:lstStyle>
      <a:style>
        <a:lnRef idx="2">
          <a:schemeClr val="accent1">
            <a:shade val="50000"/>
          </a:schemeClr>
        </a:lnRef>
        <a:fillRef idx="1">
          <a:schemeClr val="accent1"/>
        </a:fillRef>
        <a:effectRef idx="0">
          <a:schemeClr val="accent1"/>
        </a:effectRef>
        <a:fontRef idx="minor">
          <a:schemeClr val="lt1"/>
        </a:fontRef>
      </a:style>
    </a:spDef>
    <a:lnDef>
      <a:spPr>
        <a:ln w="28575">
          <a:solidFill>
            <a:schemeClr val="bg1">
              <a:lumMod val="65000"/>
            </a:schemeClr>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2020_Hitachi_PowerPoint_Template_FINAL-V3[2]  -  Read-Only" id="{55CB1267-0009-F14C-B231-BAF312260D87}" vid="{160501E0-3241-7E4E-8959-859240CDECD6}"/>
    </a:ext>
  </a:extLst>
</a:theme>
</file>

<file path=ppt/theme/theme2.xml><?xml version="1.0" encoding="utf-8"?>
<a:theme xmlns:a="http://schemas.openxmlformats.org/drawingml/2006/main" name="Office Theme">
  <a:themeElements>
    <a:clrScheme name="HDS 2011">
      <a:dk1>
        <a:sysClr val="windowText" lastClr="000000"/>
      </a:dk1>
      <a:lt1>
        <a:sysClr val="window" lastClr="FFFFFF"/>
      </a:lt1>
      <a:dk2>
        <a:srgbClr val="14AF9F"/>
      </a:dk2>
      <a:lt2>
        <a:srgbClr val="6D6E71"/>
      </a:lt2>
      <a:accent1>
        <a:srgbClr val="FD0014"/>
      </a:accent1>
      <a:accent2>
        <a:srgbClr val="C20014"/>
      </a:accent2>
      <a:accent3>
        <a:srgbClr val="009933"/>
      </a:accent3>
      <a:accent4>
        <a:srgbClr val="0073B2"/>
      </a:accent4>
      <a:accent5>
        <a:srgbClr val="DEB408"/>
      </a:accent5>
      <a:accent6>
        <a:srgbClr val="DC7400"/>
      </a:accent6>
      <a:hlink>
        <a:srgbClr val="FD0014"/>
      </a:hlink>
      <a:folHlink>
        <a:srgbClr val="C20014"/>
      </a:folHlink>
    </a:clrScheme>
    <a:fontScheme name="HDS 2011">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HDS 2011">
      <a:dk1>
        <a:sysClr val="windowText" lastClr="000000"/>
      </a:dk1>
      <a:lt1>
        <a:sysClr val="window" lastClr="FFFFFF"/>
      </a:lt1>
      <a:dk2>
        <a:srgbClr val="14AF9F"/>
      </a:dk2>
      <a:lt2>
        <a:srgbClr val="6D6E71"/>
      </a:lt2>
      <a:accent1>
        <a:srgbClr val="FD0014"/>
      </a:accent1>
      <a:accent2>
        <a:srgbClr val="C20014"/>
      </a:accent2>
      <a:accent3>
        <a:srgbClr val="009933"/>
      </a:accent3>
      <a:accent4>
        <a:srgbClr val="0073B2"/>
      </a:accent4>
      <a:accent5>
        <a:srgbClr val="DEB408"/>
      </a:accent5>
      <a:accent6>
        <a:srgbClr val="DC7400"/>
      </a:accent6>
      <a:hlink>
        <a:srgbClr val="FD0014"/>
      </a:hlink>
      <a:folHlink>
        <a:srgbClr val="C20014"/>
      </a:folHlink>
    </a:clrScheme>
    <a:fontScheme name="HDS 2011">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22AE97A894B9C4EB5B31F31BCF7743A" ma:contentTypeVersion="13" ma:contentTypeDescription="Create a new document." ma:contentTypeScope="" ma:versionID="21d6ee15f25733cee0748d60d2aa1a89">
  <xsd:schema xmlns:xsd="http://www.w3.org/2001/XMLSchema" xmlns:xs="http://www.w3.org/2001/XMLSchema" xmlns:p="http://schemas.microsoft.com/office/2006/metadata/properties" xmlns:ns2="03d259db-b4df-451b-b31e-4792038c64e6" xmlns:ns3="92b237f1-419c-4108-bc0b-00f104239a54" targetNamespace="http://schemas.microsoft.com/office/2006/metadata/properties" ma:root="true" ma:fieldsID="d287e81b7681dc5fa1a14cabc0c1eafb" ns2:_="" ns3:_="">
    <xsd:import namespace="03d259db-b4df-451b-b31e-4792038c64e6"/>
    <xsd:import namespace="92b237f1-419c-4108-bc0b-00f104239a54"/>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KeyPoints" minOccurs="0"/>
                <xsd:element ref="ns2:MediaServiceKeyPoints" minOccurs="0"/>
                <xsd:element ref="ns2:MediaServiceAutoTags" minOccurs="0"/>
                <xsd:element ref="ns2:MediaServiceOCR" minOccurs="0"/>
                <xsd:element ref="ns2:MediaServiceGenerationTime" minOccurs="0"/>
                <xsd:element ref="ns2:MediaServiceEventHashCode" minOccurs="0"/>
                <xsd:element ref="ns3:SharedWithUsers" minOccurs="0"/>
                <xsd:element ref="ns3:SharedWithDetails" minOccurs="0"/>
                <xsd:element ref="ns2:MediaLengthInSecond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3d259db-b4df-451b-b31e-4792038c64e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KeyPoints" ma:index="11" nillable="true" ma:displayName="MediaServiceAutoKeyPoints" ma:hidden="true" ma:internalName="MediaServiceAutoKeyPoints" ma:readOnly="true">
      <xsd:simpleType>
        <xsd:restriction base="dms:Note"/>
      </xsd:simpleType>
    </xsd:element>
    <xsd:element name="MediaServiceKeyPoints" ma:index="12" nillable="true" ma:displayName="KeyPoints" ma:internalName="MediaServiceKeyPoints" ma:readOnly="true">
      <xsd:simpleType>
        <xsd:restriction base="dms:Note">
          <xsd:maxLength value="255"/>
        </xsd:restriction>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MediaServiceObjectDetectorVersions" ma:index="20"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2b237f1-419c-4108-bc0b-00f104239a54"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4485985E-A6F2-4735-AA9D-F1A4E9E0D787}"/>
</file>

<file path=customXml/itemProps2.xml><?xml version="1.0" encoding="utf-8"?>
<ds:datastoreItem xmlns:ds="http://schemas.openxmlformats.org/officeDocument/2006/customXml" ds:itemID="{0E2C08D3-610E-4BC9-AD61-76E9ECAADE91}"/>
</file>

<file path=customXml/itemProps3.xml><?xml version="1.0" encoding="utf-8"?>
<ds:datastoreItem xmlns:ds="http://schemas.openxmlformats.org/officeDocument/2006/customXml" ds:itemID="{55C4B0DA-ACFC-43D6-A373-8C3F9B1033E6}"/>
</file>

<file path=docProps/app.xml><?xml version="1.0" encoding="utf-8"?>
<Properties xmlns="http://schemas.openxmlformats.org/officeDocument/2006/extended-properties" xmlns:vt="http://schemas.openxmlformats.org/officeDocument/2006/docPropsVTypes">
  <Template>HV2019</Template>
  <TotalTime>6037</TotalTime>
  <Words>12574</Words>
  <Application>Microsoft Office PowerPoint</Application>
  <PresentationFormat>On-screen Show (16:9)</PresentationFormat>
  <Paragraphs>1119</Paragraphs>
  <Slides>61</Slides>
  <Notes>54</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61</vt:i4>
      </vt:variant>
    </vt:vector>
  </HeadingPairs>
  <TitlesOfParts>
    <vt:vector size="70" baseType="lpstr">
      <vt:lpstr>Apple Symbols</vt:lpstr>
      <vt:lpstr>Arial</vt:lpstr>
      <vt:lpstr>Calibri</vt:lpstr>
      <vt:lpstr>Courier New</vt:lpstr>
      <vt:lpstr>Helvetica</vt:lpstr>
      <vt:lpstr>HelveticaNeueLT Std</vt:lpstr>
      <vt:lpstr>Myriad Pro</vt:lpstr>
      <vt:lpstr>Wingdings</vt:lpstr>
      <vt:lpstr>HV2019</vt:lpstr>
      <vt:lpstr>Hitachi NAS5000</vt:lpstr>
      <vt:lpstr>Storage Framework</vt:lpstr>
      <vt:lpstr>Physical FC Layer</vt:lpstr>
      <vt:lpstr>Fibre Channel Configuration</vt:lpstr>
      <vt:lpstr>FC Wiring</vt:lpstr>
      <vt:lpstr>FC Wiring Examples</vt:lpstr>
      <vt:lpstr>Load Balancing</vt:lpstr>
      <vt:lpstr>Example</vt:lpstr>
      <vt:lpstr>Storage Controller</vt:lpstr>
      <vt:lpstr>Storage Array Specifics</vt:lpstr>
      <vt:lpstr>HDP</vt:lpstr>
      <vt:lpstr>Storage Pool Layer</vt:lpstr>
      <vt:lpstr>Span (Storage Pools) and System Drives</vt:lpstr>
      <vt:lpstr>Spans, Stripe Sets and DWB</vt:lpstr>
      <vt:lpstr>The Span Chunk Allocator</vt:lpstr>
      <vt:lpstr>Tiered File System (TFS)</vt:lpstr>
      <vt:lpstr>Tiered File System (TFS)</vt:lpstr>
      <vt:lpstr>HDP  Hitachi Dynamic Provisioning</vt:lpstr>
      <vt:lpstr>Hitachi Dynamic Provisioning</vt:lpstr>
      <vt:lpstr>What is HDP?</vt:lpstr>
      <vt:lpstr>What is “Thin Provisioning”?</vt:lpstr>
      <vt:lpstr>HDP Thin Provisioning with NAS</vt:lpstr>
      <vt:lpstr>Why Thin Provision?</vt:lpstr>
      <vt:lpstr>Hitachi NAS is Thin Friendly</vt:lpstr>
      <vt:lpstr>Leveraging Thin Provisioning</vt:lpstr>
      <vt:lpstr>Pool Growth: Example</vt:lpstr>
      <vt:lpstr>How do I expand the Span when it reaches 1:1?</vt:lpstr>
      <vt:lpstr>Span Expansion: Example</vt:lpstr>
      <vt:lpstr> Best Practices &amp; Architectural Guidelines</vt:lpstr>
      <vt:lpstr>Guidelines and Best Practices</vt:lpstr>
      <vt:lpstr>The Minimum HDP Pool Requirements</vt:lpstr>
      <vt:lpstr>Rules of Span Configuration/Expansion</vt:lpstr>
      <vt:lpstr>Multiple Spans on a single HDP Pool</vt:lpstr>
      <vt:lpstr>When not to deploy multiple Spans per HDP Pool</vt:lpstr>
      <vt:lpstr>Sharing a Span across Nodes – Queue Splits</vt:lpstr>
      <vt:lpstr>Sharing a Span across Nodes – Queue Splits</vt:lpstr>
      <vt:lpstr>Queue Splits are generally discouraged, but..</vt:lpstr>
      <vt:lpstr>1TB size-limit on allocations on HDP</vt:lpstr>
      <vt:lpstr>File System Block Size</vt:lpstr>
      <vt:lpstr>Filesystem level read/modify/write</vt:lpstr>
      <vt:lpstr>Filesystem level read/modify/write</vt:lpstr>
      <vt:lpstr>Filesystem level read/modify/write</vt:lpstr>
      <vt:lpstr>Implementation Approach</vt:lpstr>
      <vt:lpstr>Size the Pool appropriately</vt:lpstr>
      <vt:lpstr>General Recommendations</vt:lpstr>
      <vt:lpstr>Creating the DP Volumes for the Span</vt:lpstr>
      <vt:lpstr>Quick Example 1</vt:lpstr>
      <vt:lpstr>Quick Example 1: Solution</vt:lpstr>
      <vt:lpstr>Quick Example 2</vt:lpstr>
      <vt:lpstr>Quick Example 2: Solution</vt:lpstr>
      <vt:lpstr>UVM</vt:lpstr>
      <vt:lpstr>Universal Volume Manager and Hitachi NAS</vt:lpstr>
      <vt:lpstr>Pass-through</vt:lpstr>
      <vt:lpstr>UVM Pass-through - Differences</vt:lpstr>
      <vt:lpstr>UVM HDP Pool</vt:lpstr>
      <vt:lpstr>ADR</vt:lpstr>
      <vt:lpstr>HDP Thin Provisioning</vt:lpstr>
      <vt:lpstr>SVOS RF ADR and Hitachi NAS</vt:lpstr>
      <vt:lpstr>Hitachi NAS De-Duplication</vt:lpstr>
      <vt:lpstr>Thank You</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Hitachi NAS5000</dc:title>
  <dc:creator>Nathan King</dc:creator>
  <cp:lastModifiedBy>Nathan King</cp:lastModifiedBy>
  <cp:revision>39</cp:revision>
  <dcterms:created xsi:type="dcterms:W3CDTF">2021-01-29T17:35:53Z</dcterms:created>
  <dcterms:modified xsi:type="dcterms:W3CDTF">2021-05-24T19:44:07Z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0x010100722AE97A894B9C4EB5B31F31BCF7743A</vt:lpwstr>
  </property>
</Properties>
</file>